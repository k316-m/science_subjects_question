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310" r:id="rId3"/>
    <p:sldId id="282" r:id="rId4"/>
    <p:sldId id="283" r:id="rId5"/>
    <p:sldId id="284" r:id="rId6"/>
    <p:sldId id="285" r:id="rId7"/>
    <p:sldId id="286" r:id="rId8"/>
    <p:sldId id="311" r:id="rId9"/>
    <p:sldId id="312" r:id="rId10"/>
    <p:sldId id="313" r:id="rId11"/>
    <p:sldId id="257" r:id="rId12"/>
    <p:sldId id="314" r:id="rId13"/>
    <p:sldId id="258" r:id="rId14"/>
    <p:sldId id="315" r:id="rId15"/>
    <p:sldId id="265" r:id="rId16"/>
    <p:sldId id="316" r:id="rId17"/>
    <p:sldId id="317" r:id="rId18"/>
    <p:sldId id="318" r:id="rId19"/>
    <p:sldId id="280" r:id="rId20"/>
    <p:sldId id="319" r:id="rId21"/>
    <p:sldId id="320" r:id="rId22"/>
    <p:sldId id="321" r:id="rId23"/>
    <p:sldId id="259" r:id="rId24"/>
    <p:sldId id="290" r:id="rId25"/>
    <p:sldId id="322" r:id="rId26"/>
    <p:sldId id="266" r:id="rId27"/>
    <p:sldId id="323" r:id="rId28"/>
    <p:sldId id="260" r:id="rId29"/>
    <p:sldId id="324" r:id="rId30"/>
    <p:sldId id="325" r:id="rId31"/>
    <p:sldId id="326" r:id="rId32"/>
    <p:sldId id="327" r:id="rId33"/>
    <p:sldId id="329" r:id="rId34"/>
    <p:sldId id="328" r:id="rId35"/>
    <p:sldId id="330" r:id="rId36"/>
    <p:sldId id="331" r:id="rId37"/>
    <p:sldId id="332" r:id="rId38"/>
    <p:sldId id="333" r:id="rId39"/>
    <p:sldId id="334" r:id="rId40"/>
    <p:sldId id="335" r:id="rId41"/>
    <p:sldId id="336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521" autoAdjust="0"/>
    <p:restoredTop sz="94671" autoAdjust="0"/>
  </p:normalViewPr>
  <p:slideViewPr>
    <p:cSldViewPr>
      <p:cViewPr varScale="1">
        <p:scale>
          <a:sx n="73" d="100"/>
          <a:sy n="73" d="100"/>
        </p:scale>
        <p:origin x="-52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BB973-1AA4-42BA-AB06-E7219F3F842E}" type="datetimeFigureOut">
              <a:rPr lang="en-US" smtClean="0"/>
              <a:pPr/>
              <a:t>4/26/2007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4A3E7-5333-4646-AB52-4AECA151F22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A9F6-3C5B-41CE-86DE-477F077774F2}" type="datetimeFigureOut">
              <a:rPr lang="en-MY" smtClean="0"/>
              <a:pPr/>
              <a:t>26/4/2007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E17C-F9AE-481C-917D-66EF24D75059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="" xmlns:p14="http://schemas.microsoft.com/office/powerpoint/2010/main" val="2460243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A9F6-3C5B-41CE-86DE-477F077774F2}" type="datetimeFigureOut">
              <a:rPr lang="en-MY" smtClean="0"/>
              <a:pPr/>
              <a:t>26/4/2007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E17C-F9AE-481C-917D-66EF24D75059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="" xmlns:p14="http://schemas.microsoft.com/office/powerpoint/2010/main" val="2499133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A9F6-3C5B-41CE-86DE-477F077774F2}" type="datetimeFigureOut">
              <a:rPr lang="en-MY" smtClean="0"/>
              <a:pPr/>
              <a:t>26/4/2007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E17C-F9AE-481C-917D-66EF24D75059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="" xmlns:p14="http://schemas.microsoft.com/office/powerpoint/2010/main" val="971532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A9F6-3C5B-41CE-86DE-477F077774F2}" type="datetimeFigureOut">
              <a:rPr lang="en-MY" smtClean="0"/>
              <a:pPr/>
              <a:t>26/4/2007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E17C-F9AE-481C-917D-66EF24D75059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="" xmlns:p14="http://schemas.microsoft.com/office/powerpoint/2010/main" val="1504280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A9F6-3C5B-41CE-86DE-477F077774F2}" type="datetimeFigureOut">
              <a:rPr lang="en-MY" smtClean="0"/>
              <a:pPr/>
              <a:t>26/4/2007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E17C-F9AE-481C-917D-66EF24D75059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="" xmlns:p14="http://schemas.microsoft.com/office/powerpoint/2010/main" val="64836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A9F6-3C5B-41CE-86DE-477F077774F2}" type="datetimeFigureOut">
              <a:rPr lang="en-MY" smtClean="0"/>
              <a:pPr/>
              <a:t>26/4/2007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E17C-F9AE-481C-917D-66EF24D75059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="" xmlns:p14="http://schemas.microsoft.com/office/powerpoint/2010/main" val="3528660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A9F6-3C5B-41CE-86DE-477F077774F2}" type="datetimeFigureOut">
              <a:rPr lang="en-MY" smtClean="0"/>
              <a:pPr/>
              <a:t>26/4/2007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E17C-F9AE-481C-917D-66EF24D75059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="" xmlns:p14="http://schemas.microsoft.com/office/powerpoint/2010/main" val="1499480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A9F6-3C5B-41CE-86DE-477F077774F2}" type="datetimeFigureOut">
              <a:rPr lang="en-MY" smtClean="0"/>
              <a:pPr/>
              <a:t>26/4/2007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E17C-F9AE-481C-917D-66EF24D75059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="" xmlns:p14="http://schemas.microsoft.com/office/powerpoint/2010/main" val="2688326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A9F6-3C5B-41CE-86DE-477F077774F2}" type="datetimeFigureOut">
              <a:rPr lang="en-MY" smtClean="0"/>
              <a:pPr/>
              <a:t>26/4/2007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E17C-F9AE-481C-917D-66EF24D75059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="" xmlns:p14="http://schemas.microsoft.com/office/powerpoint/2010/main" val="2714962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A9F6-3C5B-41CE-86DE-477F077774F2}" type="datetimeFigureOut">
              <a:rPr lang="en-MY" smtClean="0"/>
              <a:pPr/>
              <a:t>26/4/2007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E17C-F9AE-481C-917D-66EF24D75059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="" xmlns:p14="http://schemas.microsoft.com/office/powerpoint/2010/main" val="293351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A9F6-3C5B-41CE-86DE-477F077774F2}" type="datetimeFigureOut">
              <a:rPr lang="en-MY" smtClean="0"/>
              <a:pPr/>
              <a:t>26/4/2007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E17C-F9AE-481C-917D-66EF24D75059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="" xmlns:p14="http://schemas.microsoft.com/office/powerpoint/2010/main" val="2304367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6A9F6-3C5B-41CE-86DE-477F077774F2}" type="datetimeFigureOut">
              <a:rPr lang="en-MY" smtClean="0"/>
              <a:pPr/>
              <a:t>26/4/2007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5E17C-F9AE-481C-917D-66EF24D75059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="" xmlns:p14="http://schemas.microsoft.com/office/powerpoint/2010/main" val="2338627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87437"/>
            <a:ext cx="4788025" cy="3346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="" xmlns:a14="http://schemas.microsoft.com/office/drawing/2010/main">
                  <a14:imgLayer r:embed="rId7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5" y="3577207"/>
            <a:ext cx="4355975" cy="3346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9712" y="762000"/>
            <a:ext cx="6192688" cy="2895600"/>
          </a:xfrm>
        </p:spPr>
        <p:txBody>
          <a:bodyPr>
            <a:normAutofit/>
          </a:bodyPr>
          <a:lstStyle/>
          <a:p>
            <a:r>
              <a:rPr lang="zh-CN" altLang="en-US" sz="60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lang="en-US" altLang="zh-CN" sz="60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9</a:t>
            </a:r>
            <a:r>
              <a:rPr lang="zh-CN" altLang="en-US" sz="60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章</a:t>
            </a:r>
            <a:r>
              <a:rPr lang="en-US" altLang="zh-CN" sz="60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en-US" altLang="zh-CN" sz="60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60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IA</a:t>
            </a:r>
            <a:r>
              <a:rPr lang="zh-CN" altLang="en-US" sz="60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族元素</a:t>
            </a:r>
            <a:r>
              <a:rPr lang="en-US" altLang="zh-CN" sz="60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en-US" altLang="zh-CN" sz="60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</a:br>
            <a:r>
              <a:rPr lang="zh-CN" altLang="en-US" sz="60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钠和钾</a:t>
            </a:r>
            <a:endParaRPr lang="en-MY" sz="6000" b="1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3" name="Subtitle 1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6362539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pPr algn="l"/>
            <a:r>
              <a:rPr lang="en-US" altLang="zh-CN" b="1" dirty="0" smtClean="0">
                <a:latin typeface="楷体" pitchFamily="49" charset="-122"/>
                <a:ea typeface="楷体" pitchFamily="49" charset="-122"/>
              </a:rPr>
              <a:t>9.1 </a:t>
            </a:r>
            <a:r>
              <a:rPr lang="zh-CN" altLang="en-US" b="1" dirty="0" smtClean="0">
                <a:latin typeface="楷体" pitchFamily="49" charset="-122"/>
                <a:ea typeface="楷体" pitchFamily="49" charset="-122"/>
              </a:rPr>
              <a:t>钠和钾的性质</a:t>
            </a:r>
            <a:endParaRPr lang="zh-CN" altLang="en-US" sz="3200" b="1" dirty="0">
              <a:solidFill>
                <a:schemeClr val="accent5">
                  <a:lumMod val="75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Char char="Ø"/>
            </a:pPr>
            <a:r>
              <a:rPr lang="en-US" altLang="zh-CN" sz="3600" b="1" dirty="0" smtClean="0"/>
              <a:t>IA</a:t>
            </a:r>
            <a:r>
              <a:rPr lang="zh-CN" altLang="en-US" sz="3600" b="1" dirty="0" smtClean="0"/>
              <a:t>族的金属元素</a:t>
            </a:r>
            <a:endParaRPr lang="en-US" altLang="zh-CN" sz="3600" b="1" dirty="0" smtClean="0"/>
          </a:p>
          <a:p>
            <a:pPr marL="400050" lvl="1" indent="0">
              <a:buNone/>
            </a:pPr>
            <a:r>
              <a:rPr lang="zh-CN" altLang="en-US" b="1" dirty="0" smtClean="0"/>
              <a:t>锂</a:t>
            </a:r>
            <a:r>
              <a:rPr lang="en-US" altLang="zh-CN" b="1" dirty="0" smtClean="0"/>
              <a:t>Li</a:t>
            </a:r>
            <a:r>
              <a:rPr lang="zh-CN" altLang="en-US" b="1" dirty="0" smtClean="0"/>
              <a:t>、钠</a:t>
            </a:r>
            <a:r>
              <a:rPr lang="en-US" altLang="zh-CN" b="1" dirty="0" smtClean="0"/>
              <a:t>Na</a:t>
            </a:r>
            <a:r>
              <a:rPr lang="zh-CN" altLang="en-US" b="1" dirty="0" smtClean="0"/>
              <a:t>、钾</a:t>
            </a:r>
            <a:r>
              <a:rPr lang="en-US" altLang="zh-CN" b="1" dirty="0" smtClean="0"/>
              <a:t>K</a:t>
            </a:r>
            <a:r>
              <a:rPr lang="zh-CN" altLang="en-US" b="1" dirty="0" smtClean="0"/>
              <a:t>、铷</a:t>
            </a:r>
            <a:r>
              <a:rPr lang="en-US" altLang="zh-CN" b="1" dirty="0" err="1" smtClean="0"/>
              <a:t>Rb</a:t>
            </a:r>
            <a:r>
              <a:rPr lang="zh-CN" altLang="en-US" b="1" dirty="0" smtClean="0"/>
              <a:t>、铯</a:t>
            </a:r>
            <a:r>
              <a:rPr lang="en-US" altLang="zh-CN" b="1" dirty="0" smtClean="0"/>
              <a:t>Cs</a:t>
            </a:r>
            <a:r>
              <a:rPr lang="zh-CN" altLang="en-US" b="1" dirty="0" smtClean="0"/>
              <a:t>、钫</a:t>
            </a:r>
            <a:r>
              <a:rPr lang="en-US" altLang="zh-CN" b="1" dirty="0" smtClean="0"/>
              <a:t>Fr</a:t>
            </a:r>
          </a:p>
          <a:p>
            <a:pPr marL="0" indent="0">
              <a:buFont typeface="Wingdings" pitchFamily="2" charset="2"/>
              <a:buChar char="Ø"/>
            </a:pPr>
            <a:r>
              <a:rPr lang="zh-CN" altLang="en-US" sz="3600" b="1" dirty="0" smtClean="0"/>
              <a:t>价电子：</a:t>
            </a:r>
            <a:r>
              <a:rPr lang="en-US" altLang="zh-CN" sz="3600" b="1" dirty="0" smtClean="0"/>
              <a:t>1</a:t>
            </a:r>
            <a:r>
              <a:rPr lang="zh-CN" altLang="en-US" sz="3600" b="1" dirty="0" smtClean="0"/>
              <a:t>个</a:t>
            </a:r>
            <a:endParaRPr lang="en-US" altLang="zh-CN" sz="3600" b="1" dirty="0" smtClean="0"/>
          </a:p>
          <a:p>
            <a:pPr marL="0" indent="0">
              <a:buFont typeface="Wingdings" pitchFamily="2" charset="2"/>
              <a:buChar char="Ø"/>
            </a:pPr>
            <a:r>
              <a:rPr lang="zh-CN" altLang="en-US" sz="3600" b="1" dirty="0" smtClean="0"/>
              <a:t>碱金属：与水反应生成碱性溶液</a:t>
            </a:r>
            <a:endParaRPr lang="en-US" altLang="zh-CN" sz="3600" b="1" dirty="0" smtClean="0"/>
          </a:p>
          <a:p>
            <a:pPr marL="0" indent="0">
              <a:buFont typeface="Wingdings" pitchFamily="2" charset="2"/>
              <a:buChar char="Ø"/>
            </a:pPr>
            <a:r>
              <a:rPr lang="zh-CN" altLang="en-US" sz="3600" b="1" dirty="0" smtClean="0"/>
              <a:t>在自然界中以</a:t>
            </a:r>
            <a:r>
              <a:rPr lang="zh-CN" altLang="en-US" sz="3600" b="1" dirty="0" smtClean="0">
                <a:solidFill>
                  <a:srgbClr val="002060"/>
                </a:solidFill>
              </a:rPr>
              <a:t>化合物</a:t>
            </a:r>
            <a:r>
              <a:rPr lang="zh-CN" altLang="en-US" sz="3600" b="1" dirty="0" smtClean="0"/>
              <a:t>存在，无单质。</a:t>
            </a:r>
            <a:endParaRPr lang="en-US" altLang="zh-CN" sz="3600" b="1" dirty="0" smtClean="0"/>
          </a:p>
          <a:p>
            <a:pPr marL="0" indent="0">
              <a:buFont typeface="Wingdings" pitchFamily="2" charset="2"/>
              <a:buChar char="Ø"/>
            </a:pPr>
            <a:r>
              <a:rPr lang="zh-CN" altLang="en-US" sz="3600" b="1" dirty="0" smtClean="0"/>
              <a:t>金属性递增，强还原性</a:t>
            </a:r>
            <a:endParaRPr lang="en-US" altLang="zh-CN" sz="3600" b="1" dirty="0" smtClean="0"/>
          </a:p>
        </p:txBody>
      </p:sp>
    </p:spTree>
    <p:extLst>
      <p:ext uri="{BB962C8B-B14F-4D97-AF65-F5344CB8AC3E}">
        <p14:creationId xmlns:p14="http://schemas.microsoft.com/office/powerpoint/2010/main" xmlns="" val="4171749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08037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zh-CN" altLang="en-US" sz="3600" b="1" dirty="0"/>
              <a:t>自然界</a:t>
            </a:r>
            <a:r>
              <a:rPr lang="zh-CN" altLang="en-US" sz="3600" b="1" dirty="0" smtClean="0"/>
              <a:t>中常见的钠化合物与钾化合物</a:t>
            </a:r>
            <a:endParaRPr lang="en-US" altLang="zh-CN" sz="3600" b="1" dirty="0" smtClean="0"/>
          </a:p>
          <a:p>
            <a:pPr marL="0" indent="0">
              <a:buNone/>
            </a:pPr>
            <a:endParaRPr lang="en-US" altLang="zh-CN" b="1" dirty="0" smtClean="0"/>
          </a:p>
          <a:p>
            <a:pPr marL="0" indent="0">
              <a:buNone/>
            </a:pPr>
            <a:r>
              <a:rPr lang="zh-CN" altLang="en-US" b="1" dirty="0"/>
              <a:t>氯化</a:t>
            </a:r>
            <a:r>
              <a:rPr lang="zh-CN" altLang="en-US" b="1" dirty="0" smtClean="0"/>
              <a:t>钠</a:t>
            </a:r>
            <a:r>
              <a:rPr lang="en-US" altLang="zh-CN" b="1" dirty="0" smtClean="0"/>
              <a:t>	</a:t>
            </a:r>
            <a:r>
              <a:rPr lang="en-US" altLang="zh-CN" b="1" dirty="0" err="1" smtClean="0"/>
              <a:t>NaCl</a:t>
            </a:r>
            <a:r>
              <a:rPr lang="en-US" altLang="zh-CN" b="1" dirty="0" smtClean="0"/>
              <a:t> (</a:t>
            </a:r>
            <a:r>
              <a:rPr lang="zh-CN" altLang="en-US" b="1" dirty="0" smtClean="0"/>
              <a:t>自然界中最多</a:t>
            </a:r>
            <a:r>
              <a:rPr lang="en-US" altLang="zh-CN" b="1" dirty="0" smtClean="0"/>
              <a:t>)</a:t>
            </a:r>
          </a:p>
          <a:p>
            <a:pPr marL="0" indent="0">
              <a:buNone/>
            </a:pPr>
            <a:r>
              <a:rPr lang="zh-CN" altLang="en-US" b="1" dirty="0"/>
              <a:t>硼</a:t>
            </a:r>
            <a:r>
              <a:rPr lang="zh-CN" altLang="en-US" b="1" dirty="0" smtClean="0"/>
              <a:t>砂 </a:t>
            </a:r>
            <a:r>
              <a:rPr lang="en-US" altLang="zh-CN" b="1" dirty="0" smtClean="0"/>
              <a:t>		Na</a:t>
            </a:r>
            <a:r>
              <a:rPr lang="en-US" altLang="zh-CN" sz="1800" b="1" dirty="0" smtClean="0"/>
              <a:t>2</a:t>
            </a:r>
            <a:r>
              <a:rPr lang="en-US" altLang="zh-CN" b="1" dirty="0" smtClean="0"/>
              <a:t>B</a:t>
            </a:r>
            <a:r>
              <a:rPr lang="en-US" altLang="zh-CN" sz="1800" b="1" dirty="0" smtClean="0"/>
              <a:t>4</a:t>
            </a:r>
            <a:r>
              <a:rPr lang="en-US" altLang="zh-CN" b="1" dirty="0" smtClean="0"/>
              <a:t>O</a:t>
            </a:r>
            <a:r>
              <a:rPr lang="en-US" altLang="zh-CN" sz="1800" b="1" dirty="0" smtClean="0"/>
              <a:t>7</a:t>
            </a:r>
            <a:r>
              <a:rPr lang="en-US" altLang="zh-CN" b="1" dirty="0" smtClean="0"/>
              <a:t>•10H</a:t>
            </a:r>
            <a:r>
              <a:rPr lang="en-US" altLang="zh-CN" sz="1800" b="1" dirty="0" smtClean="0"/>
              <a:t>2</a:t>
            </a:r>
            <a:r>
              <a:rPr lang="en-US" altLang="zh-CN" b="1" dirty="0" smtClean="0"/>
              <a:t>O</a:t>
            </a:r>
          </a:p>
          <a:p>
            <a:pPr marL="0" indent="0">
              <a:buNone/>
            </a:pPr>
            <a:r>
              <a:rPr lang="zh-CN" altLang="en-US" b="1" dirty="0"/>
              <a:t>长石</a:t>
            </a:r>
            <a:r>
              <a:rPr lang="zh-CN" altLang="en-US" b="1" dirty="0" smtClean="0"/>
              <a:t> </a:t>
            </a:r>
            <a:r>
              <a:rPr lang="en-US" altLang="zh-CN" b="1" dirty="0" smtClean="0"/>
              <a:t>		KAlSi</a:t>
            </a:r>
            <a:r>
              <a:rPr lang="en-US" altLang="zh-CN" sz="1800" b="1" dirty="0" smtClean="0"/>
              <a:t>3</a:t>
            </a:r>
            <a:r>
              <a:rPr lang="en-US" altLang="zh-CN" b="1" dirty="0" smtClean="0"/>
              <a:t>O</a:t>
            </a:r>
            <a:r>
              <a:rPr lang="en-US" altLang="zh-CN" sz="1800" b="1" dirty="0" smtClean="0"/>
              <a:t>8</a:t>
            </a:r>
          </a:p>
          <a:p>
            <a:pPr marL="0" indent="0">
              <a:buNone/>
            </a:pPr>
            <a:r>
              <a:rPr lang="zh-CN" altLang="en-US" b="1" dirty="0"/>
              <a:t>云</a:t>
            </a:r>
            <a:r>
              <a:rPr lang="zh-CN" altLang="en-US" b="1" dirty="0" smtClean="0"/>
              <a:t>母 </a:t>
            </a:r>
            <a:r>
              <a:rPr lang="en-US" altLang="zh-CN" b="1" dirty="0" smtClean="0"/>
              <a:t>		KAl</a:t>
            </a:r>
            <a:r>
              <a:rPr lang="en-US" altLang="zh-CN" sz="1800" b="1" dirty="0" smtClean="0"/>
              <a:t>2</a:t>
            </a:r>
            <a:r>
              <a:rPr lang="en-US" altLang="zh-CN" b="1" dirty="0" smtClean="0"/>
              <a:t>(AlSi</a:t>
            </a:r>
            <a:r>
              <a:rPr lang="en-US" altLang="zh-CN" sz="1800" b="1" dirty="0" smtClean="0"/>
              <a:t>7</a:t>
            </a:r>
            <a:r>
              <a:rPr lang="en-US" altLang="zh-CN" b="1" dirty="0" smtClean="0"/>
              <a:t>O</a:t>
            </a:r>
            <a:r>
              <a:rPr lang="en-US" altLang="zh-CN" sz="1800" b="1" dirty="0" smtClean="0"/>
              <a:t>10</a:t>
            </a:r>
            <a:r>
              <a:rPr lang="en-US" altLang="zh-CN" b="1" dirty="0" smtClean="0"/>
              <a:t>)(OH)</a:t>
            </a:r>
            <a:r>
              <a:rPr lang="en-US" altLang="zh-CN" sz="1800" b="1" dirty="0" smtClean="0"/>
              <a:t>2</a:t>
            </a:r>
          </a:p>
          <a:p>
            <a:pPr marL="0" indent="0">
              <a:buNone/>
            </a:pPr>
            <a:r>
              <a:rPr lang="zh-CN" altLang="en-US" b="1" dirty="0"/>
              <a:t>光卤</a:t>
            </a:r>
            <a:r>
              <a:rPr lang="zh-CN" altLang="en-US" b="1" dirty="0" smtClean="0"/>
              <a:t>石</a:t>
            </a:r>
            <a:r>
              <a:rPr lang="en-US" altLang="zh-CN" b="1" dirty="0" smtClean="0"/>
              <a:t>	KCl•MgCl</a:t>
            </a:r>
            <a:r>
              <a:rPr lang="en-US" altLang="zh-CN" sz="1800" b="1" dirty="0" smtClean="0"/>
              <a:t>2</a:t>
            </a:r>
            <a:r>
              <a:rPr lang="en-US" altLang="zh-CN" b="1" dirty="0" smtClean="0"/>
              <a:t>•</a:t>
            </a:r>
            <a:r>
              <a:rPr lang="en-US" altLang="zh-CN" sz="1800" b="1" dirty="0" smtClean="0"/>
              <a:t>6</a:t>
            </a:r>
            <a:r>
              <a:rPr lang="en-US" altLang="zh-CN" b="1" dirty="0" smtClean="0"/>
              <a:t>H</a:t>
            </a:r>
            <a:r>
              <a:rPr lang="en-US" altLang="zh-CN" sz="1800" b="1" dirty="0" smtClean="0"/>
              <a:t>2</a:t>
            </a:r>
            <a:r>
              <a:rPr lang="en-US" altLang="zh-CN" b="1" dirty="0" smtClean="0"/>
              <a:t>O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xmlns="" val="4171749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 rot="20153183">
            <a:off x="128021" y="585128"/>
            <a:ext cx="188224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氯化钠</a:t>
            </a:r>
            <a:endParaRPr lang="en-US" altLang="zh-CN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0025292">
            <a:off x="417614" y="1248103"/>
            <a:ext cx="3088148" cy="275256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 rot="19977634">
            <a:off x="4120865" y="997856"/>
            <a:ext cx="15760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硼砂</a:t>
            </a:r>
            <a:endParaRPr lang="en-US" altLang="zh-CN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19899991">
            <a:off x="4833380" y="1290650"/>
            <a:ext cx="3429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0573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22629" y="1110400"/>
            <a:ext cx="2037737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7200" b="1" cap="none" spc="0" dirty="0" smtClean="0">
                <a:ln/>
                <a:solidFill>
                  <a:schemeClr val="accent4"/>
                </a:solidFill>
                <a:effectLst/>
              </a:rPr>
              <a:t>长石</a:t>
            </a:r>
            <a:endParaRPr lang="en-US" altLang="zh-CN" sz="72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6933" y="3429306"/>
            <a:ext cx="3119696" cy="29853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988840" y="3895814"/>
            <a:ext cx="2730094" cy="26917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608363" y="1"/>
            <a:ext cx="3629465" cy="362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74310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489982" y="266338"/>
            <a:ext cx="3323492" cy="127727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77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云母</a:t>
            </a:r>
            <a:endParaRPr lang="en-US" altLang="zh-CN" sz="77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56358" y="1780250"/>
            <a:ext cx="3094672" cy="36593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83937" y="1780250"/>
            <a:ext cx="3744663" cy="365931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66909" y="1738047"/>
            <a:ext cx="3094672" cy="365931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94488" y="1738047"/>
            <a:ext cx="3744663" cy="365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85549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20150" y="1"/>
            <a:ext cx="3276859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80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光卤石</a:t>
            </a:r>
            <a:endParaRPr lang="en-US" altLang="zh-CN" sz="8000" b="1" cap="none" spc="0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91295" y="4409148"/>
            <a:ext cx="1859573" cy="185281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47689" y="1323439"/>
            <a:ext cx="2552700" cy="2222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593414" y="1323439"/>
            <a:ext cx="5266499" cy="467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59834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8032" y="-27384"/>
            <a:ext cx="7772400" cy="1470025"/>
          </a:xfrm>
        </p:spPr>
        <p:txBody>
          <a:bodyPr>
            <a:normAutofit/>
          </a:bodyPr>
          <a:lstStyle/>
          <a:p>
            <a:r>
              <a:rPr lang="zh-CN" altLang="en-US" sz="6600" b="1" dirty="0" smtClean="0">
                <a:latin typeface="楷体" pitchFamily="49" charset="-122"/>
                <a:ea typeface="楷体" pitchFamily="49" charset="-122"/>
              </a:rPr>
              <a:t>观察思考</a:t>
            </a:r>
            <a:endParaRPr lang="en-MY" sz="66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1116360"/>
            <a:ext cx="8062664" cy="4370040"/>
          </a:xfrm>
        </p:spPr>
        <p:txBody>
          <a:bodyPr>
            <a:noAutofit/>
          </a:bodyPr>
          <a:lstStyle/>
          <a:p>
            <a:pPr marL="342900" indent="-342900" algn="l"/>
            <a:r>
              <a:rPr lang="zh-CN" altLang="en-US" sz="3000" b="1" dirty="0" smtClean="0">
                <a:solidFill>
                  <a:srgbClr val="002060"/>
                </a:solidFill>
                <a:latin typeface="+mn-ea"/>
              </a:rPr>
              <a:t>活动</a:t>
            </a:r>
            <a:r>
              <a:rPr lang="en-US" altLang="zh-CN" sz="3000" b="1" dirty="0" smtClean="0">
                <a:solidFill>
                  <a:srgbClr val="002060"/>
                </a:solidFill>
                <a:latin typeface="+mn-ea"/>
              </a:rPr>
              <a:t>1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钠很活泼易与氧气和水发生反应，而氧气和水不溶于煤油，且钠的密度大于煤油能沉在底部，隔绝了空气和水。</a:t>
            </a:r>
            <a:endParaRPr lang="en-US" altLang="zh-CN" sz="3000" b="1" dirty="0" smtClean="0">
              <a:solidFill>
                <a:schemeClr val="tx1"/>
              </a:solidFill>
              <a:latin typeface="+mn-ea"/>
            </a:endParaRPr>
          </a:p>
          <a:p>
            <a:pPr marL="342900" indent="-342900" algn="l"/>
            <a:r>
              <a:rPr lang="zh-CN" altLang="en-US" sz="3000" b="1" dirty="0" smtClean="0">
                <a:solidFill>
                  <a:srgbClr val="002060"/>
                </a:solidFill>
                <a:latin typeface="+mn-ea"/>
              </a:rPr>
              <a:t>活动</a:t>
            </a:r>
            <a:r>
              <a:rPr lang="en-US" altLang="zh-CN" sz="3000" b="1" dirty="0" smtClean="0">
                <a:solidFill>
                  <a:srgbClr val="002060"/>
                </a:solidFill>
                <a:latin typeface="+mn-ea"/>
              </a:rPr>
              <a:t>2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产生黄色粉末。因为钠与氧气在加热的情况下反应生成过氧化钠。</a:t>
            </a:r>
            <a:endParaRPr lang="en-US" altLang="zh-CN" sz="3000" b="1" dirty="0" smtClean="0">
              <a:solidFill>
                <a:schemeClr val="tx1"/>
              </a:solidFill>
              <a:latin typeface="+mn-ea"/>
            </a:endParaRPr>
          </a:p>
          <a:p>
            <a:pPr marL="342900" indent="-342900" algn="l"/>
            <a:r>
              <a:rPr lang="en-US" altLang="zh-CN" sz="3000" b="1" dirty="0" smtClean="0">
                <a:solidFill>
                  <a:schemeClr val="tx1"/>
                </a:solidFill>
                <a:latin typeface="+mn-ea"/>
              </a:rPr>
              <a:t>	2Na + O</a:t>
            </a:r>
            <a:r>
              <a:rPr lang="en-US" altLang="zh-CN" sz="30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3000" b="1" dirty="0" smtClean="0">
                <a:solidFill>
                  <a:schemeClr val="tx1"/>
                </a:solidFill>
                <a:latin typeface="+mn-ea"/>
              </a:rPr>
              <a:t>		  </a:t>
            </a:r>
            <a:r>
              <a:rPr lang="en-US" altLang="zh-CN" sz="30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Na</a:t>
            </a:r>
            <a:r>
              <a:rPr lang="en-US" altLang="zh-CN" sz="30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30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O</a:t>
            </a:r>
            <a:r>
              <a:rPr lang="en-US" altLang="zh-CN" sz="30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endParaRPr lang="en-US" altLang="zh-CN" sz="3000" b="1" dirty="0" smtClean="0">
              <a:solidFill>
                <a:schemeClr val="tx1"/>
              </a:solidFill>
              <a:latin typeface="+mn-ea"/>
            </a:endParaRPr>
          </a:p>
          <a:p>
            <a:pPr marL="342900" indent="-342900" algn="l"/>
            <a:r>
              <a:rPr lang="zh-CN" altLang="en-US" sz="3000" b="1" dirty="0" smtClean="0">
                <a:solidFill>
                  <a:srgbClr val="002060"/>
                </a:solidFill>
                <a:latin typeface="+mn-ea"/>
              </a:rPr>
              <a:t>活动</a:t>
            </a:r>
            <a:r>
              <a:rPr lang="en-US" altLang="zh-CN" sz="3000" b="1" dirty="0" smtClean="0">
                <a:solidFill>
                  <a:srgbClr val="002060"/>
                </a:solidFill>
                <a:latin typeface="+mn-ea"/>
              </a:rPr>
              <a:t>3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会发生爆炸，很危险。</a:t>
            </a:r>
            <a:endParaRPr lang="en-US" altLang="zh-CN" sz="3000" b="1" dirty="0" smtClean="0">
              <a:solidFill>
                <a:schemeClr val="tx1"/>
              </a:solidFill>
              <a:latin typeface="+mn-ea"/>
            </a:endParaRPr>
          </a:p>
          <a:p>
            <a:pPr marL="342900" indent="-342900" algn="l"/>
            <a:endParaRPr lang="en-US" altLang="zh-CN" sz="3000" b="1" dirty="0" smtClean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" name="Straight Arrow Connector 6"/>
          <p:cNvCxnSpPr/>
          <p:nvPr/>
        </p:nvCxnSpPr>
        <p:spPr bwMode="auto">
          <a:xfrm>
            <a:off x="2667000" y="5027612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 bwMode="auto">
          <a:xfrm>
            <a:off x="2971800" y="4875212"/>
            <a:ext cx="228600" cy="1524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2674264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8032" y="-27384"/>
            <a:ext cx="7772400" cy="1470025"/>
          </a:xfrm>
        </p:spPr>
        <p:txBody>
          <a:bodyPr>
            <a:normAutofit/>
          </a:bodyPr>
          <a:lstStyle/>
          <a:p>
            <a:r>
              <a:rPr lang="zh-CN" altLang="en-US" sz="6600" b="1" dirty="0" smtClean="0">
                <a:latin typeface="楷体" pitchFamily="49" charset="-122"/>
                <a:ea typeface="楷体" pitchFamily="49" charset="-122"/>
              </a:rPr>
              <a:t>观察思考（表</a:t>
            </a:r>
            <a:r>
              <a:rPr lang="en-US" altLang="zh-CN" sz="6600" b="1" dirty="0" smtClean="0">
                <a:latin typeface="楷体" pitchFamily="49" charset="-122"/>
                <a:ea typeface="楷体" pitchFamily="49" charset="-122"/>
              </a:rPr>
              <a:t>9-1</a:t>
            </a:r>
            <a:r>
              <a:rPr lang="zh-CN" altLang="en-US" sz="6600" b="1" dirty="0" smtClean="0">
                <a:latin typeface="楷体" pitchFamily="49" charset="-122"/>
                <a:ea typeface="楷体" pitchFamily="49" charset="-122"/>
              </a:rPr>
              <a:t>）</a:t>
            </a:r>
            <a:endParaRPr lang="en-MY" sz="66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1484784"/>
            <a:ext cx="8062664" cy="5220816"/>
          </a:xfrm>
        </p:spPr>
        <p:txBody>
          <a:bodyPr>
            <a:noAutofit/>
          </a:bodyPr>
          <a:lstStyle/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活动</a:t>
            </a:r>
            <a:r>
              <a:rPr lang="en-US" altLang="zh-CN" sz="3000" b="1" dirty="0" smtClean="0">
                <a:solidFill>
                  <a:schemeClr val="tx1"/>
                </a:solidFill>
                <a:latin typeface="+mn-ea"/>
              </a:rPr>
              <a:t>1&amp;4</a:t>
            </a:r>
          </a:p>
          <a:p>
            <a:pPr marL="342900" indent="-342900" algn="l"/>
            <a:r>
              <a:rPr lang="en-US" altLang="zh-CN" sz="3000" b="1" dirty="0" smtClean="0">
                <a:solidFill>
                  <a:schemeClr val="tx1"/>
                </a:solidFill>
                <a:latin typeface="+mn-ea"/>
              </a:rPr>
              <a:t>	</a:t>
            </a:r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钠与钾刚切开时，切口表面呈银白色，有金属光泽；片刻后，切口表面变暗，被氧化。</a:t>
            </a:r>
            <a:endParaRPr lang="en-US" altLang="zh-CN" sz="3000" b="1" dirty="0" smtClean="0">
              <a:solidFill>
                <a:schemeClr val="tx1"/>
              </a:solidFill>
              <a:latin typeface="+mn-ea"/>
            </a:endParaRPr>
          </a:p>
          <a:p>
            <a:pPr marL="342900" indent="-342900" algn="l"/>
            <a:r>
              <a:rPr lang="en-US" altLang="zh-CN" sz="3000" b="1" dirty="0" smtClean="0">
                <a:solidFill>
                  <a:schemeClr val="tx1"/>
                </a:solidFill>
                <a:latin typeface="+mn-ea"/>
              </a:rPr>
              <a:t>	4Na + O</a:t>
            </a:r>
            <a:r>
              <a:rPr lang="en-US" altLang="zh-CN" sz="30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30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30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 2Na</a:t>
            </a:r>
            <a:r>
              <a:rPr lang="en-US" altLang="zh-CN" sz="30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30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O		</a:t>
            </a:r>
            <a:r>
              <a:rPr lang="en-US" altLang="zh-CN" sz="3000" b="1" dirty="0" smtClean="0">
                <a:solidFill>
                  <a:schemeClr val="tx1"/>
                </a:solidFill>
                <a:latin typeface="+mn-ea"/>
              </a:rPr>
              <a:t> 4K+ O</a:t>
            </a:r>
            <a:r>
              <a:rPr lang="en-US" altLang="zh-CN" sz="30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30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30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 2K</a:t>
            </a:r>
            <a:r>
              <a:rPr lang="en-US" altLang="zh-CN" sz="30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30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O</a:t>
            </a:r>
            <a:endParaRPr lang="en-US" altLang="zh-CN" sz="3000" b="1" dirty="0" smtClean="0">
              <a:solidFill>
                <a:schemeClr val="tx1"/>
              </a:solidFill>
              <a:latin typeface="+mn-ea"/>
            </a:endParaRPr>
          </a:p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活动</a:t>
            </a:r>
            <a:r>
              <a:rPr lang="en-US" altLang="zh-CN" sz="3000" b="1" dirty="0" smtClean="0">
                <a:solidFill>
                  <a:schemeClr val="tx1"/>
                </a:solidFill>
                <a:latin typeface="+mn-ea"/>
              </a:rPr>
              <a:t>3&amp;5</a:t>
            </a:r>
          </a:p>
          <a:p>
            <a:pPr marL="342900" indent="-342900" algn="l"/>
            <a:r>
              <a:rPr lang="en-US" altLang="zh-CN" sz="3000" b="1" dirty="0" smtClean="0">
                <a:solidFill>
                  <a:schemeClr val="tx1"/>
                </a:solidFill>
                <a:latin typeface="+mn-ea"/>
              </a:rPr>
              <a:t>	</a:t>
            </a:r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钠和钾浮在水面上；迅速游动并发出嘶嘶声；熔成小球；酚酞溶液变红；生成的气体可点燃，有爆鸣声。</a:t>
            </a:r>
            <a:endParaRPr lang="en-US" altLang="zh-CN" sz="3000" b="1" dirty="0" smtClean="0">
              <a:solidFill>
                <a:schemeClr val="tx1"/>
              </a:solidFill>
              <a:latin typeface="+mn-ea"/>
            </a:endParaRPr>
          </a:p>
          <a:p>
            <a:pPr marL="342900" indent="-342900" algn="l"/>
            <a:r>
              <a:rPr lang="en-US" altLang="zh-CN" sz="3000" b="1" dirty="0" smtClean="0">
                <a:solidFill>
                  <a:schemeClr val="tx1"/>
                </a:solidFill>
                <a:latin typeface="+mn-ea"/>
              </a:rPr>
              <a:t>	2Na + 2H</a:t>
            </a:r>
            <a:r>
              <a:rPr lang="en-US" altLang="zh-CN" sz="30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3000" b="1" dirty="0" smtClean="0">
                <a:solidFill>
                  <a:schemeClr val="tx1"/>
                </a:solidFill>
                <a:latin typeface="+mn-ea"/>
              </a:rPr>
              <a:t>O </a:t>
            </a:r>
            <a:r>
              <a:rPr lang="en-US" altLang="zh-CN" sz="30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 2NaOH + H</a:t>
            </a:r>
            <a:r>
              <a:rPr lang="en-US" altLang="zh-CN" sz="30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</a:p>
          <a:p>
            <a:pPr marL="342900" indent="-342900" algn="l"/>
            <a:r>
              <a:rPr lang="en-US" altLang="zh-CN" sz="30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	</a:t>
            </a:r>
            <a:r>
              <a:rPr lang="en-US" altLang="zh-CN" sz="3000" b="1" dirty="0" smtClean="0">
                <a:solidFill>
                  <a:schemeClr val="tx1"/>
                </a:solidFill>
                <a:latin typeface="+mn-ea"/>
              </a:rPr>
              <a:t>2K + 2H</a:t>
            </a:r>
            <a:r>
              <a:rPr lang="en-US" altLang="zh-CN" sz="30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3000" b="1" dirty="0" smtClean="0">
                <a:solidFill>
                  <a:schemeClr val="tx1"/>
                </a:solidFill>
                <a:latin typeface="+mn-ea"/>
              </a:rPr>
              <a:t>O </a:t>
            </a:r>
            <a:r>
              <a:rPr lang="en-US" altLang="zh-CN" sz="30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 2KOH + H</a:t>
            </a:r>
            <a:r>
              <a:rPr lang="en-US" altLang="zh-CN" sz="30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endParaRPr lang="en-US" altLang="zh-CN" sz="3000" b="1" dirty="0" smtClean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2674264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8032" y="-27384"/>
            <a:ext cx="7772400" cy="1470025"/>
          </a:xfrm>
        </p:spPr>
        <p:txBody>
          <a:bodyPr>
            <a:normAutofit/>
          </a:bodyPr>
          <a:lstStyle/>
          <a:p>
            <a:r>
              <a:rPr lang="zh-CN" altLang="en-US" sz="6600" b="1" dirty="0" smtClean="0">
                <a:latin typeface="楷体" pitchFamily="49" charset="-122"/>
                <a:ea typeface="楷体" pitchFamily="49" charset="-122"/>
              </a:rPr>
              <a:t>问题解决</a:t>
            </a:r>
            <a:endParaRPr lang="en-MY" sz="66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484784"/>
            <a:ext cx="8062664" cy="5220816"/>
          </a:xfrm>
        </p:spPr>
        <p:txBody>
          <a:bodyPr>
            <a:noAutofit/>
          </a:bodyPr>
          <a:lstStyle/>
          <a:p>
            <a:pPr marL="342900" indent="-342900" algn="l">
              <a:buFont typeface="Wingdings" pitchFamily="2" charset="2"/>
              <a:buChar char="Ø"/>
            </a:pP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	2Rb + 2H</a:t>
            </a:r>
            <a:r>
              <a:rPr lang="en-US" altLang="zh-CN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O 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 2RbOH + H</a:t>
            </a:r>
            <a:r>
              <a:rPr lang="en-US" altLang="zh-CN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   2Cs + 2H</a:t>
            </a:r>
            <a:r>
              <a:rPr lang="en-US" altLang="zh-CN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O 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 2CsOH + H</a:t>
            </a:r>
            <a:r>
              <a:rPr lang="en-US" altLang="zh-CN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endParaRPr lang="en-US" altLang="zh-CN" b="1" dirty="0" smtClean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2674264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8032" y="-27384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zh-CN" sz="5400" b="1" dirty="0" smtClean="0">
                <a:latin typeface="楷体" pitchFamily="49" charset="-122"/>
                <a:ea typeface="楷体" pitchFamily="49" charset="-122"/>
              </a:rPr>
              <a:t>9.1.1 </a:t>
            </a:r>
            <a:r>
              <a:rPr lang="zh-CN" altLang="en-US" sz="5400" b="1" dirty="0" smtClean="0">
                <a:latin typeface="楷体" pitchFamily="49" charset="-122"/>
                <a:ea typeface="楷体" pitchFamily="49" charset="-122"/>
              </a:rPr>
              <a:t>钠和钾的物理性质</a:t>
            </a:r>
            <a:endParaRPr lang="en-MY" sz="54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1484784"/>
            <a:ext cx="6984776" cy="4370040"/>
          </a:xfrm>
        </p:spPr>
        <p:txBody>
          <a:bodyPr>
            <a:noAutofit/>
          </a:bodyPr>
          <a:lstStyle/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3600" b="1" dirty="0" smtClean="0">
                <a:solidFill>
                  <a:schemeClr val="tx1"/>
                </a:solidFill>
                <a:latin typeface="+mn-ea"/>
              </a:rPr>
              <a:t>银白色金属</a:t>
            </a:r>
            <a:endParaRPr lang="en-US" altLang="zh-CN" sz="3600" b="1" dirty="0" smtClean="0">
              <a:solidFill>
                <a:schemeClr val="tx1"/>
              </a:solidFill>
              <a:latin typeface="+mn-ea"/>
            </a:endParaRPr>
          </a:p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3600" b="1" dirty="0" smtClean="0">
                <a:solidFill>
                  <a:schemeClr val="tx1"/>
                </a:solidFill>
                <a:latin typeface="+mn-ea"/>
              </a:rPr>
              <a:t>有良好的导电、导热性</a:t>
            </a:r>
            <a:endParaRPr lang="en-US" altLang="zh-CN" sz="3600" b="1" dirty="0" smtClean="0">
              <a:solidFill>
                <a:schemeClr val="tx1"/>
              </a:solidFill>
              <a:latin typeface="+mn-ea"/>
            </a:endParaRPr>
          </a:p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3600" b="1" dirty="0" smtClean="0">
                <a:solidFill>
                  <a:schemeClr val="tx1"/>
                </a:solidFill>
                <a:latin typeface="+mn-ea"/>
              </a:rPr>
              <a:t>有延展性</a:t>
            </a:r>
            <a:endParaRPr lang="en-US" altLang="zh-CN" sz="3600" b="1" dirty="0" smtClean="0">
              <a:solidFill>
                <a:schemeClr val="tx1"/>
              </a:solidFill>
              <a:latin typeface="+mn-ea"/>
            </a:endParaRPr>
          </a:p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3600" b="1" dirty="0" smtClean="0">
                <a:solidFill>
                  <a:schemeClr val="tx1"/>
                </a:solidFill>
                <a:latin typeface="+mn-ea"/>
              </a:rPr>
              <a:t>质软，可用小刀</a:t>
            </a:r>
            <a:r>
              <a:rPr lang="zh-CN" altLang="en-US" sz="3600" b="1" dirty="0">
                <a:solidFill>
                  <a:schemeClr val="tx1"/>
                </a:solidFill>
                <a:latin typeface="+mn-ea"/>
              </a:rPr>
              <a:t>切</a:t>
            </a:r>
            <a:r>
              <a:rPr lang="zh-CN" altLang="en-US" sz="3600" b="1" dirty="0" smtClean="0">
                <a:solidFill>
                  <a:schemeClr val="tx1"/>
                </a:solidFill>
                <a:latin typeface="+mn-ea"/>
              </a:rPr>
              <a:t>割</a:t>
            </a:r>
            <a:endParaRPr lang="en-US" altLang="zh-CN" sz="3600" b="1" dirty="0" smtClean="0">
              <a:solidFill>
                <a:schemeClr val="tx1"/>
              </a:solidFill>
              <a:latin typeface="+mn-ea"/>
            </a:endParaRPr>
          </a:p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3600" b="1" dirty="0" smtClean="0">
                <a:solidFill>
                  <a:schemeClr val="tx1"/>
                </a:solidFill>
                <a:latin typeface="+mn-ea"/>
              </a:rPr>
              <a:t>熔点较低</a:t>
            </a:r>
            <a:endParaRPr lang="en-US" altLang="zh-CN" sz="3600" b="1" dirty="0" smtClean="0">
              <a:solidFill>
                <a:schemeClr val="tx1"/>
              </a:solidFill>
              <a:latin typeface="+mn-ea"/>
            </a:endParaRPr>
          </a:p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密度小于水大于煤油</a:t>
            </a:r>
            <a:endParaRPr lang="en-US" altLang="zh-CN" sz="36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164012"/>
            <a:ext cx="2958602" cy="293198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02674264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8032" y="-27384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zh-CN" sz="5400" b="1" dirty="0" smtClean="0">
                <a:latin typeface="楷体" pitchFamily="49" charset="-122"/>
                <a:ea typeface="楷体" pitchFamily="49" charset="-122"/>
              </a:rPr>
              <a:t>9.1.2 </a:t>
            </a:r>
            <a:r>
              <a:rPr lang="zh-CN" altLang="en-US" sz="5400" b="1" dirty="0" smtClean="0">
                <a:latin typeface="楷体" pitchFamily="49" charset="-122"/>
                <a:ea typeface="楷体" pitchFamily="49" charset="-122"/>
              </a:rPr>
              <a:t>钠和钾的化学性质</a:t>
            </a:r>
            <a:endParaRPr lang="en-MY" sz="54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1484784"/>
            <a:ext cx="6984776" cy="4370040"/>
          </a:xfrm>
        </p:spPr>
        <p:txBody>
          <a:bodyPr>
            <a:noAutofit/>
          </a:bodyPr>
          <a:lstStyle/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3600" b="1" dirty="0" smtClean="0">
                <a:solidFill>
                  <a:schemeClr val="tx1"/>
                </a:solidFill>
                <a:latin typeface="+mn-ea"/>
              </a:rPr>
              <a:t>强还原剂</a:t>
            </a:r>
            <a:endParaRPr lang="en-US" altLang="zh-CN" sz="3600" b="1" dirty="0" smtClean="0">
              <a:solidFill>
                <a:schemeClr val="tx1"/>
              </a:solidFill>
              <a:latin typeface="+mn-ea"/>
            </a:endParaRPr>
          </a:p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3600" b="1" dirty="0" smtClean="0">
                <a:solidFill>
                  <a:schemeClr val="tx1"/>
                </a:solidFill>
                <a:latin typeface="+mn-ea"/>
              </a:rPr>
              <a:t>金属性强</a:t>
            </a:r>
            <a:endParaRPr lang="en-US" altLang="zh-CN" sz="3600" b="1" dirty="0" smtClean="0">
              <a:solidFill>
                <a:schemeClr val="tx1"/>
              </a:solidFill>
              <a:latin typeface="+mn-ea"/>
            </a:endParaRPr>
          </a:p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3600" b="1" dirty="0" smtClean="0">
                <a:solidFill>
                  <a:schemeClr val="tx1"/>
                </a:solidFill>
                <a:latin typeface="+mn-ea"/>
              </a:rPr>
              <a:t>容易失去</a:t>
            </a:r>
            <a:r>
              <a:rPr lang="en-US" altLang="zh-CN" sz="3600" b="1" dirty="0" smtClean="0">
                <a:solidFill>
                  <a:schemeClr val="tx1"/>
                </a:solidFill>
                <a:latin typeface="+mn-ea"/>
              </a:rPr>
              <a:t>1</a:t>
            </a:r>
            <a:r>
              <a:rPr lang="zh-CN" altLang="en-US" sz="3600" b="1" dirty="0" smtClean="0">
                <a:solidFill>
                  <a:schemeClr val="tx1"/>
                </a:solidFill>
                <a:latin typeface="+mn-ea"/>
              </a:rPr>
              <a:t>个电子</a:t>
            </a:r>
            <a:endParaRPr lang="en-US" altLang="zh-CN" sz="3600" b="1" dirty="0" smtClean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636312"/>
            <a:ext cx="3089920" cy="3089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636312"/>
            <a:ext cx="3145488" cy="3145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02674264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8032" y="-171400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zh-CN" sz="5400" b="1" dirty="0" smtClean="0">
                <a:latin typeface="楷体" pitchFamily="49" charset="-122"/>
                <a:ea typeface="楷体" pitchFamily="49" charset="-122"/>
              </a:rPr>
              <a:t>9.1.2 </a:t>
            </a:r>
            <a:r>
              <a:rPr lang="zh-CN" altLang="en-US" sz="5400" b="1" dirty="0" smtClean="0">
                <a:latin typeface="楷体" pitchFamily="49" charset="-122"/>
                <a:ea typeface="楷体" pitchFamily="49" charset="-122"/>
              </a:rPr>
              <a:t>钠和钾的化学性质</a:t>
            </a:r>
            <a:endParaRPr lang="en-MY" sz="54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1052736"/>
            <a:ext cx="8892480" cy="5271864"/>
          </a:xfrm>
        </p:spPr>
        <p:txBody>
          <a:bodyPr>
            <a:noAutofit/>
          </a:bodyPr>
          <a:lstStyle/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在空气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中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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氧化物</a:t>
            </a:r>
            <a:endParaRPr lang="en-US" altLang="zh-CN" sz="2800" b="1" dirty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4  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Na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+ O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  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2 Na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O</a:t>
            </a:r>
          </a:p>
          <a:p>
            <a:pPr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4  K  + O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 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→ 2 K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O</a:t>
            </a:r>
          </a:p>
          <a:p>
            <a:pPr algn="l"/>
            <a:endParaRPr lang="en-US" altLang="zh-CN" sz="2800" b="1" dirty="0">
              <a:solidFill>
                <a:schemeClr val="tx1"/>
              </a:solidFill>
              <a:latin typeface="+mn-ea"/>
            </a:endParaRPr>
          </a:p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加热燃烧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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过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氧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化物。</a:t>
            </a:r>
            <a:endParaRPr lang="en-US" altLang="zh-CN" sz="2800" b="1" dirty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2  Na+ O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  </a:t>
            </a:r>
            <a:r>
              <a:rPr lang="zh-CN" altLang="en-US" sz="2800" b="1" baseline="30000" dirty="0" smtClean="0">
                <a:solidFill>
                  <a:schemeClr val="tx1"/>
                </a:solidFill>
                <a:latin typeface="+mn-ea"/>
              </a:rPr>
              <a:t>点燃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 Na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O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</a:p>
          <a:p>
            <a:pPr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2  K + O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  </a:t>
            </a:r>
            <a:r>
              <a:rPr lang="zh-CN" altLang="en-US" sz="2800" b="1" baseline="30000" dirty="0" smtClean="0">
                <a:solidFill>
                  <a:schemeClr val="tx1"/>
                </a:solidFill>
                <a:latin typeface="+mn-ea"/>
              </a:rPr>
              <a:t>点燃 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K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O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</a:p>
          <a:p>
            <a:pPr algn="l"/>
            <a:endParaRPr lang="en-US" sz="2800" b="1" baseline="-25000" dirty="0" smtClean="0">
              <a:solidFill>
                <a:schemeClr val="tx1"/>
              </a:solidFill>
              <a:latin typeface="+mn-ea"/>
            </a:endParaRPr>
          </a:p>
          <a:p>
            <a:pPr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钾在纯氧中燃烧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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超氧化钾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   K + O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  </a:t>
            </a:r>
            <a:r>
              <a:rPr lang="zh-CN" altLang="en-US" sz="2800" b="1" baseline="30000" dirty="0" smtClean="0">
                <a:solidFill>
                  <a:schemeClr val="tx1"/>
                </a:solidFill>
                <a:latin typeface="+mn-ea"/>
              </a:rPr>
              <a:t>点燃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 KO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    </a:t>
            </a:r>
            <a:endParaRPr lang="en-US" altLang="zh-CN" sz="2000" b="1" dirty="0" smtClean="0">
              <a:solidFill>
                <a:schemeClr val="tx1"/>
              </a:solidFill>
              <a:latin typeface="+mn-ea"/>
            </a:endParaRPr>
          </a:p>
          <a:p>
            <a:pPr algn="l"/>
            <a:endParaRPr lang="en-US" altLang="zh-CN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219200"/>
            <a:ext cx="3886200" cy="2550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3184" y="3909060"/>
            <a:ext cx="3826016" cy="2644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Straight Arrow Connector 8"/>
          <p:cNvCxnSpPr/>
          <p:nvPr/>
        </p:nvCxnSpPr>
        <p:spPr bwMode="auto">
          <a:xfrm>
            <a:off x="2133600" y="3962400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 bwMode="auto">
          <a:xfrm>
            <a:off x="2133600" y="4419600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 bwMode="auto">
          <a:xfrm>
            <a:off x="2133600" y="5865812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93350914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8032" y="-171400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zh-CN" sz="5400" b="1" dirty="0" smtClean="0">
                <a:latin typeface="楷体" pitchFamily="49" charset="-122"/>
                <a:ea typeface="楷体" pitchFamily="49" charset="-122"/>
              </a:rPr>
              <a:t>9.1.2 </a:t>
            </a:r>
            <a:r>
              <a:rPr lang="zh-CN" altLang="en-US" sz="5400" b="1" dirty="0" smtClean="0">
                <a:latin typeface="楷体" pitchFamily="49" charset="-122"/>
                <a:ea typeface="楷体" pitchFamily="49" charset="-122"/>
              </a:rPr>
              <a:t>钠和钾的化学性质</a:t>
            </a:r>
            <a:endParaRPr lang="en-MY" sz="54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1052736"/>
            <a:ext cx="8892480" cy="4890864"/>
          </a:xfrm>
        </p:spPr>
        <p:txBody>
          <a:bodyPr>
            <a:noAutofit/>
          </a:bodyPr>
          <a:lstStyle/>
          <a:p>
            <a:pPr algn="l"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schemeClr val="tx1"/>
                </a:solidFill>
                <a:latin typeface="+mn-ea"/>
              </a:rPr>
              <a:t>能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与卤素直接化合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 </a:t>
            </a:r>
            <a:endParaRPr lang="en-US" altLang="zh-CN" b="1" dirty="0" smtClean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	2  K  +  Cl</a:t>
            </a:r>
            <a:r>
              <a:rPr lang="en-US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→  2  </a:t>
            </a:r>
            <a:r>
              <a:rPr lang="en-US" altLang="zh-CN" b="1" dirty="0" err="1" smtClean="0">
                <a:solidFill>
                  <a:schemeClr val="tx1"/>
                </a:solidFill>
                <a:latin typeface="+mn-ea"/>
              </a:rPr>
              <a:t>KCl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</a:rPr>
              <a:t>（剧烈燃烧）</a:t>
            </a:r>
            <a:endParaRPr lang="en-US" altLang="zh-CN" sz="2400" b="1" dirty="0" smtClean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     2  K  +  Br</a:t>
            </a:r>
            <a:r>
              <a:rPr lang="en-US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→  2  </a:t>
            </a:r>
            <a:r>
              <a:rPr lang="en-US" altLang="zh-CN" b="1" dirty="0" err="1" smtClean="0">
                <a:solidFill>
                  <a:schemeClr val="tx1"/>
                </a:solidFill>
                <a:latin typeface="+mn-ea"/>
              </a:rPr>
              <a:t>KBr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</a:rPr>
              <a:t>（引起爆炸）</a:t>
            </a:r>
            <a:endParaRPr lang="en-US" altLang="zh-CN" sz="2400" b="1" dirty="0" smtClean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     2  K  +   I</a:t>
            </a:r>
            <a:r>
              <a:rPr lang="en-US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→  2  KI    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</a:rPr>
              <a:t>（导致燃烧）</a:t>
            </a:r>
            <a:endParaRPr lang="en-US" altLang="zh-CN" sz="24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endParaRPr lang="en-US" altLang="zh-CN" b="1" dirty="0" smtClean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     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2  Na  +  Cl</a:t>
            </a:r>
            <a:r>
              <a:rPr lang="en-US" b="1" baseline="-25000" dirty="0">
                <a:solidFill>
                  <a:schemeClr val="tx1"/>
                </a:solidFill>
                <a:latin typeface="+mn-ea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→  2 </a:t>
            </a:r>
            <a:r>
              <a:rPr lang="en-US" altLang="zh-CN" b="1" dirty="0" err="1" smtClean="0">
                <a:solidFill>
                  <a:schemeClr val="tx1"/>
                </a:solidFill>
                <a:latin typeface="+mn-ea"/>
              </a:rPr>
              <a:t>NaCl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</a:rPr>
              <a:t>（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</a:rPr>
              <a:t>剧烈燃烧）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     2  Na  +  Br</a:t>
            </a:r>
            <a:r>
              <a:rPr lang="en-US" b="1" baseline="-25000" dirty="0">
                <a:solidFill>
                  <a:schemeClr val="tx1"/>
                </a:solidFill>
                <a:latin typeface="+mn-ea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→  2 </a:t>
            </a:r>
            <a:r>
              <a:rPr lang="en-US" altLang="zh-CN" b="1" dirty="0" err="1" smtClean="0">
                <a:solidFill>
                  <a:schemeClr val="tx1"/>
                </a:solidFill>
                <a:latin typeface="+mn-ea"/>
              </a:rPr>
              <a:t>NaBr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</a:rPr>
              <a:t>（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</a:rPr>
              <a:t>反应在表面进行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</a:rPr>
              <a:t>）</a:t>
            </a:r>
            <a:endParaRPr lang="en-US" altLang="zh-CN" sz="2400" b="1" dirty="0" smtClean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+mn-ea"/>
              </a:rPr>
              <a:t>  </a:t>
            </a:r>
          </a:p>
          <a:p>
            <a:pPr algn="l"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schemeClr val="tx1"/>
                </a:solidFill>
                <a:latin typeface="+mn-ea"/>
              </a:rPr>
              <a:t>钾比钠活泼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3350914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8032" y="-99392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zh-CN" sz="5400" b="1" dirty="0" smtClean="0">
                <a:latin typeface="楷体" pitchFamily="49" charset="-122"/>
                <a:ea typeface="楷体" pitchFamily="49" charset="-122"/>
              </a:rPr>
              <a:t>9.1.2 </a:t>
            </a:r>
            <a:r>
              <a:rPr lang="zh-CN" altLang="en-US" sz="5400" b="1" dirty="0" smtClean="0">
                <a:latin typeface="楷体" pitchFamily="49" charset="-122"/>
                <a:ea typeface="楷体" pitchFamily="49" charset="-122"/>
              </a:rPr>
              <a:t>钠和钾的化学性质</a:t>
            </a:r>
            <a:endParaRPr lang="en-MY" sz="54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1124744"/>
            <a:ext cx="7920880" cy="3096344"/>
          </a:xfrm>
        </p:spPr>
        <p:txBody>
          <a:bodyPr>
            <a:noAutofit/>
          </a:bodyPr>
          <a:lstStyle/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钠和钾极易与水反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应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，生成碱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+ 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。</a:t>
            </a:r>
            <a:endParaRPr lang="en-US" altLang="zh-CN" sz="2800" b="1" dirty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      2  Na  +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2 H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O →  2 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NaOH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+ H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</a:p>
          <a:p>
            <a:pPr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 2  K  +  2 H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O →  2 KOH  + H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</a:p>
          <a:p>
            <a:pPr algn="l">
              <a:buFont typeface="Wingdings" pitchFamily="2" charset="2"/>
              <a:buChar char="v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钾在冰上也能着火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52400" y="3200400"/>
            <a:ext cx="3840426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888" y="3200400"/>
            <a:ext cx="3817512" cy="2870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94518439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8032" y="-99392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zh-CN" sz="5400" b="1" dirty="0" smtClean="0">
                <a:latin typeface="楷体" pitchFamily="49" charset="-122"/>
                <a:ea typeface="楷体" pitchFamily="49" charset="-122"/>
              </a:rPr>
              <a:t>9.1.2 </a:t>
            </a:r>
            <a:r>
              <a:rPr lang="zh-CN" altLang="en-US" sz="5400" b="1" dirty="0" smtClean="0">
                <a:latin typeface="楷体" pitchFamily="49" charset="-122"/>
                <a:ea typeface="楷体" pitchFamily="49" charset="-122"/>
              </a:rPr>
              <a:t>钠和钾的化学性质</a:t>
            </a:r>
            <a:endParaRPr lang="en-MY" sz="54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1124744"/>
            <a:ext cx="7920880" cy="3096344"/>
          </a:xfrm>
        </p:spPr>
        <p:txBody>
          <a:bodyPr>
            <a:noAutofit/>
          </a:bodyPr>
          <a:lstStyle/>
          <a:p>
            <a:pPr marL="457200" indent="-4572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与酸的反应</a:t>
            </a:r>
            <a:r>
              <a:rPr lang="zh-CN" altLang="en-US" sz="2800" b="1" dirty="0" smtClean="0">
                <a:solidFill>
                  <a:srgbClr val="002060"/>
                </a:solidFill>
                <a:latin typeface="+mn-ea"/>
              </a:rPr>
              <a:t>非常剧烈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，几乎可达到</a:t>
            </a:r>
            <a:r>
              <a:rPr lang="zh-CN" altLang="en-US" sz="2800" b="1" dirty="0" smtClean="0">
                <a:solidFill>
                  <a:srgbClr val="002060"/>
                </a:solidFill>
                <a:latin typeface="+mn-ea"/>
              </a:rPr>
              <a:t>爆炸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的强度，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金属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+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酸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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盐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+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氢气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     </a:t>
            </a:r>
          </a:p>
          <a:p>
            <a:pPr algn="l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    2  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Na  + 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2  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HCl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 →  2  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NaCl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 +  H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</a:p>
          <a:p>
            <a:pPr algn="l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2  K  +  2  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HCl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 →  2  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KCl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 +  H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endParaRPr lang="en-US" altLang="zh-CN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4518439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8032" y="-99392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zh-CN" sz="5400" b="1" dirty="0" smtClean="0">
                <a:latin typeface="楷体" pitchFamily="49" charset="-122"/>
                <a:ea typeface="楷体" pitchFamily="49" charset="-122"/>
              </a:rPr>
              <a:t>9.1.2 </a:t>
            </a:r>
            <a:r>
              <a:rPr lang="zh-CN" altLang="en-US" sz="5400" b="1" dirty="0" smtClean="0">
                <a:latin typeface="楷体" pitchFamily="49" charset="-122"/>
                <a:ea typeface="楷体" pitchFamily="49" charset="-122"/>
              </a:rPr>
              <a:t>钠和钾的化学性质</a:t>
            </a:r>
            <a:endParaRPr lang="en-MY" sz="54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143000"/>
            <a:ext cx="7920880" cy="5029200"/>
          </a:xfrm>
        </p:spPr>
        <p:txBody>
          <a:bodyPr>
            <a:noAutofit/>
          </a:bodyPr>
          <a:lstStyle/>
          <a:p>
            <a:pPr marL="457200" indent="-457200" algn="l">
              <a:lnSpc>
                <a:spcPct val="150000"/>
              </a:lnSpc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工业上制取钠和钾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电解熔融状态的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NaCl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制取金属钠。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2 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NaCl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aq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)  </a:t>
            </a:r>
            <a:r>
              <a:rPr lang="zh-CN" altLang="en-US" sz="2800" b="1" baseline="30000" dirty="0" smtClean="0">
                <a:solidFill>
                  <a:schemeClr val="tx1"/>
                </a:solidFill>
                <a:latin typeface="+mn-ea"/>
              </a:rPr>
              <a:t>电解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2Na(s)+ Cl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(g)</a:t>
            </a: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热还原法制取金属钾。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KCl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(l)+ Na(l)</a:t>
            </a:r>
            <a:r>
              <a:rPr lang="en-US" altLang="zh-CN" sz="2800" b="1" baseline="300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zh-CN" altLang="en-US" sz="2800" b="1" baseline="30000" dirty="0" smtClean="0">
                <a:solidFill>
                  <a:schemeClr val="tx1"/>
                </a:solidFill>
                <a:latin typeface="+mn-ea"/>
              </a:rPr>
              <a:t>高温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   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NaCl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(l) + K(g)</a:t>
            </a:r>
          </a:p>
          <a:p>
            <a:pPr marL="457200" indent="-457200" algn="l"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/>
                </a:solidFill>
                <a:latin typeface="+mn-ea"/>
              </a:rPr>
              <a:t>钾沸点较低，不断将钾蒸气分离出去，使反应持续进行。</a:t>
            </a:r>
            <a:endParaRPr lang="en-US" altLang="zh-CN" sz="2400" b="1" dirty="0" smtClean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3200400" y="3046412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 bwMode="auto">
          <a:xfrm>
            <a:off x="3733800" y="4495800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94518439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8032" y="-99392"/>
            <a:ext cx="7772400" cy="1470025"/>
          </a:xfrm>
        </p:spPr>
        <p:txBody>
          <a:bodyPr>
            <a:normAutofit/>
          </a:bodyPr>
          <a:lstStyle/>
          <a:p>
            <a:r>
              <a:rPr lang="zh-CN" altLang="en-US" sz="5400" b="1" dirty="0" smtClean="0">
                <a:latin typeface="楷体" pitchFamily="49" charset="-122"/>
                <a:ea typeface="楷体" pitchFamily="49" charset="-122"/>
              </a:rPr>
              <a:t>思考题</a:t>
            </a:r>
            <a:r>
              <a:rPr lang="en-US" altLang="zh-CN" sz="5400" b="1" dirty="0" smtClean="0">
                <a:latin typeface="楷体" pitchFamily="49" charset="-122"/>
                <a:ea typeface="楷体" pitchFamily="49" charset="-122"/>
              </a:rPr>
              <a:t>9a</a:t>
            </a:r>
            <a:endParaRPr lang="en-MY" sz="54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143000"/>
            <a:ext cx="7920880" cy="5029200"/>
          </a:xfrm>
        </p:spPr>
        <p:txBody>
          <a:bodyPr>
            <a:noAutofit/>
          </a:bodyPr>
          <a:lstStyle/>
          <a:p>
            <a:pPr marL="514350" indent="-514350" algn="l">
              <a:buFont typeface="+mj-lt"/>
              <a:buAutoNum type="arabicPeriod"/>
            </a:pP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A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自然界中</a:t>
            </a:r>
            <a:r>
              <a:rPr lang="zh-CN" altLang="en-US" sz="2800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没有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单质钠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B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钠在空气中燃烧生成</a:t>
            </a:r>
            <a:r>
              <a:rPr lang="zh-CN" altLang="en-US" sz="2800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过氧化钠</a:t>
            </a:r>
            <a:endParaRPr lang="en-US" altLang="zh-CN" sz="2800" b="1" u="sng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	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D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钾与水反应时</a:t>
            </a:r>
            <a:r>
              <a:rPr lang="zh-CN" altLang="en-US" sz="2800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浮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在水面上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Ans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：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C</a:t>
            </a: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2.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钠应保存在煤油中，以避免它和空气或水发生反应而变质。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3. 	4 Na + O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   </a:t>
            </a:r>
            <a:r>
              <a:rPr lang="en-US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</a:t>
            </a:r>
            <a:r>
              <a:rPr 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2 Na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O</a:t>
            </a: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	Na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O + 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O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 2NaOH</a:t>
            </a: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		2NaOH + CO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 Na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CO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3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+ 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O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4518439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zh-CN" sz="6000" b="1" dirty="0" smtClean="0">
                <a:latin typeface="楷体" pitchFamily="49" charset="-122"/>
                <a:ea typeface="楷体" pitchFamily="49" charset="-122"/>
              </a:rPr>
              <a:t>9.2</a:t>
            </a:r>
            <a:r>
              <a:rPr lang="zh-CN" altLang="en-US" sz="6000" b="1" dirty="0" smtClean="0">
                <a:latin typeface="楷体" pitchFamily="49" charset="-122"/>
                <a:ea typeface="楷体" pitchFamily="49" charset="-122"/>
              </a:rPr>
              <a:t>焰色试验</a:t>
            </a:r>
            <a:endParaRPr lang="en-MY" sz="60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1757" y="1484783"/>
            <a:ext cx="774776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/>
            <a:r>
              <a:rPr lang="zh-CN" altLang="en-US" sz="2800" b="1" dirty="0" smtClean="0">
                <a:latin typeface="宋体" pitchFamily="2" charset="-122"/>
                <a:ea typeface="宋体" pitchFamily="2" charset="-122"/>
              </a:rPr>
              <a:t>感知生活</a:t>
            </a:r>
            <a:endParaRPr lang="en-US" altLang="zh-CN" sz="2800" b="1" dirty="0" smtClean="0">
              <a:latin typeface="宋体" pitchFamily="2" charset="-122"/>
              <a:ea typeface="宋体" pitchFamily="2" charset="-122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zh-CN" altLang="en-US" sz="2800" b="1" dirty="0" smtClean="0">
                <a:latin typeface="宋体" pitchFamily="2" charset="-122"/>
                <a:ea typeface="宋体" pitchFamily="2" charset="-122"/>
              </a:rPr>
              <a:t>烟花五彩缤纷是不同的金属元素在焰色试验中的特征焰色。</a:t>
            </a:r>
            <a:endParaRPr lang="en-US" altLang="zh-CN" sz="2800" b="1" dirty="0" smtClean="0">
              <a:latin typeface="宋体" pitchFamily="2" charset="-122"/>
              <a:ea typeface="宋体" pitchFamily="2" charset="-122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US" altLang="zh-CN" sz="2800" b="1" dirty="0" smtClean="0">
              <a:latin typeface="宋体" pitchFamily="2" charset="-122"/>
              <a:ea typeface="宋体" pitchFamily="2" charset="-122"/>
            </a:endParaRPr>
          </a:p>
          <a:p>
            <a:pPr marL="285750" indent="-285750"/>
            <a:r>
              <a:rPr lang="zh-CN" altLang="en-US" sz="2800" b="1" dirty="0" smtClean="0">
                <a:latin typeface="宋体" pitchFamily="2" charset="-122"/>
                <a:ea typeface="宋体" pitchFamily="2" charset="-122"/>
              </a:rPr>
              <a:t>活动探究</a:t>
            </a:r>
            <a:endParaRPr lang="en-US" altLang="zh-CN" sz="2800" b="1" dirty="0" smtClean="0">
              <a:latin typeface="宋体" pitchFamily="2" charset="-122"/>
              <a:ea typeface="宋体" pitchFamily="2" charset="-122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zh-CN" altLang="en-US" sz="2800" b="1" dirty="0" smtClean="0">
                <a:latin typeface="宋体" pitchFamily="2" charset="-122"/>
                <a:ea typeface="宋体" pitchFamily="2" charset="-122"/>
              </a:rPr>
              <a:t>钠元素的焰色 </a:t>
            </a:r>
            <a:r>
              <a:rPr lang="en-US" altLang="zh-CN" sz="2800" b="1" dirty="0" smtClean="0">
                <a:latin typeface="宋体" pitchFamily="2" charset="-122"/>
                <a:ea typeface="宋体" pitchFamily="2" charset="-122"/>
              </a:rPr>
              <a:t>-- </a:t>
            </a:r>
            <a:r>
              <a:rPr lang="zh-CN" altLang="en-US" sz="2800" b="1" dirty="0" smtClean="0">
                <a:latin typeface="宋体" pitchFamily="2" charset="-122"/>
                <a:ea typeface="宋体" pitchFamily="2" charset="-122"/>
              </a:rPr>
              <a:t>黄色</a:t>
            </a:r>
            <a:endParaRPr lang="en-US" altLang="zh-CN" sz="2800" b="1" dirty="0" smtClean="0">
              <a:latin typeface="宋体" pitchFamily="2" charset="-122"/>
              <a:ea typeface="宋体" pitchFamily="2" charset="-122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zh-CN" altLang="en-US" sz="2800" b="1" dirty="0" smtClean="0">
                <a:latin typeface="宋体" pitchFamily="2" charset="-122"/>
                <a:ea typeface="宋体" pitchFamily="2" charset="-122"/>
              </a:rPr>
              <a:t>钾元素的焰色 </a:t>
            </a:r>
            <a:r>
              <a:rPr lang="en-US" altLang="zh-CN" sz="2800" b="1" dirty="0" smtClean="0">
                <a:latin typeface="宋体" pitchFamily="2" charset="-122"/>
                <a:ea typeface="宋体" pitchFamily="2" charset="-122"/>
              </a:rPr>
              <a:t>– </a:t>
            </a:r>
            <a:r>
              <a:rPr lang="zh-CN" altLang="en-US" sz="2800" b="1" dirty="0" smtClean="0">
                <a:latin typeface="宋体" pitchFamily="2" charset="-122"/>
                <a:ea typeface="宋体" pitchFamily="2" charset="-122"/>
              </a:rPr>
              <a:t>淡紫色</a:t>
            </a:r>
            <a:endParaRPr lang="en-US" altLang="zh-CN" sz="2800" b="1" dirty="0" smtClean="0"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2270004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zh-CN" sz="6000" b="1" dirty="0" smtClean="0">
                <a:latin typeface="楷体" pitchFamily="49" charset="-122"/>
                <a:ea typeface="楷体" pitchFamily="49" charset="-122"/>
              </a:rPr>
              <a:t>9.2</a:t>
            </a:r>
            <a:r>
              <a:rPr lang="zh-CN" altLang="en-US" sz="6000" b="1" dirty="0" smtClean="0">
                <a:latin typeface="楷体" pitchFamily="49" charset="-122"/>
                <a:ea typeface="楷体" pitchFamily="49" charset="-122"/>
              </a:rPr>
              <a:t>焰色试验</a:t>
            </a:r>
            <a:endParaRPr lang="en-MY" sz="6000" b="1" dirty="0">
              <a:latin typeface="楷体" pitchFamily="49" charset="-122"/>
              <a:ea typeface="楷体" pitchFamily="49" charset="-122"/>
            </a:endParaRPr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16" y="3311277"/>
            <a:ext cx="8438251" cy="3165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91757" y="1484783"/>
            <a:ext cx="774776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zh-CN" altLang="en-US" sz="2800" b="1" dirty="0" smtClean="0">
                <a:latin typeface="宋体" pitchFamily="2" charset="-122"/>
                <a:ea typeface="宋体" pitchFamily="2" charset="-122"/>
              </a:rPr>
              <a:t>用洁净的铂丝蘸取金属盐溶液，在无色火焰上燃烧，可检验</a:t>
            </a:r>
            <a:r>
              <a:rPr lang="zh-CN" altLang="en-US" sz="2800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部分金属</a:t>
            </a:r>
            <a:r>
              <a:rPr lang="zh-CN" altLang="en-US" sz="2800" b="1" dirty="0" smtClean="0">
                <a:latin typeface="宋体" pitchFamily="2" charset="-122"/>
                <a:ea typeface="宋体" pitchFamily="2" charset="-122"/>
              </a:rPr>
              <a:t>。</a:t>
            </a:r>
            <a:endParaRPr lang="en-US" altLang="zh-CN" sz="2800" b="1" dirty="0" smtClean="0">
              <a:latin typeface="宋体" pitchFamily="2" charset="-122"/>
              <a:ea typeface="宋体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 smtClean="0">
                <a:latin typeface="宋体" pitchFamily="2" charset="-122"/>
                <a:ea typeface="宋体" pitchFamily="2" charset="-122"/>
              </a:rPr>
              <a:t>检验钠和钾离子的最简单方法。</a:t>
            </a:r>
            <a:endParaRPr lang="en-MY" sz="2800" b="1" dirty="0"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2270004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8032" y="-99392"/>
            <a:ext cx="7772400" cy="1470025"/>
          </a:xfrm>
        </p:spPr>
        <p:txBody>
          <a:bodyPr>
            <a:normAutofit/>
          </a:bodyPr>
          <a:lstStyle/>
          <a:p>
            <a:r>
              <a:rPr lang="zh-CN" altLang="en-US" sz="5400" b="1" dirty="0" smtClean="0">
                <a:latin typeface="楷体" pitchFamily="49" charset="-122"/>
                <a:ea typeface="楷体" pitchFamily="49" charset="-122"/>
              </a:rPr>
              <a:t>思考题</a:t>
            </a:r>
            <a:r>
              <a:rPr lang="en-US" altLang="zh-CN" sz="5400" b="1" dirty="0" smtClean="0">
                <a:latin typeface="楷体" pitchFamily="49" charset="-122"/>
                <a:ea typeface="楷体" pitchFamily="49" charset="-122"/>
              </a:rPr>
              <a:t>9a</a:t>
            </a:r>
            <a:endParaRPr lang="en-MY" sz="54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143000"/>
            <a:ext cx="7920880" cy="5029200"/>
          </a:xfrm>
        </p:spPr>
        <p:txBody>
          <a:bodyPr>
            <a:noAutofit/>
          </a:bodyPr>
          <a:lstStyle/>
          <a:p>
            <a:pPr marL="514350" indent="-514350" algn="l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IA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族；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1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个价电子；易失去电子；阳离子；还原性。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金属性、还原性、原子半径：钾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&gt;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钠 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Ans:C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3.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不能。因为玻璃中含有钠元素，其焰色是黄色，所以不能说明气体火焰为黄色。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4518439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86767"/>
            <a:ext cx="8079432" cy="1470025"/>
          </a:xfrm>
        </p:spPr>
        <p:txBody>
          <a:bodyPr>
            <a:normAutofit fontScale="90000"/>
          </a:bodyPr>
          <a:lstStyle/>
          <a:p>
            <a:r>
              <a:rPr lang="en-US" altLang="zh-CN" sz="6000" b="1" dirty="0" smtClean="0">
                <a:latin typeface="楷体" pitchFamily="49" charset="-122"/>
                <a:ea typeface="楷体" pitchFamily="49" charset="-122"/>
              </a:rPr>
              <a:t>9.3 </a:t>
            </a:r>
            <a:r>
              <a:rPr lang="zh-CN" altLang="en-US" sz="6000" b="1" dirty="0" smtClean="0">
                <a:latin typeface="楷体" pitchFamily="49" charset="-122"/>
                <a:ea typeface="楷体" pitchFamily="49" charset="-122"/>
              </a:rPr>
              <a:t>钠和钾的重要化合物</a:t>
            </a:r>
            <a:endParaRPr lang="en-MY" sz="60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470294"/>
            <a:ext cx="9144000" cy="4625706"/>
          </a:xfrm>
        </p:spPr>
        <p:txBody>
          <a:bodyPr>
            <a:noAutofit/>
          </a:bodyPr>
          <a:lstStyle/>
          <a:p>
            <a:pPr marL="457200" indent="-457200" algn="l"/>
            <a:r>
              <a:rPr lang="zh-CN" altLang="en-US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感知生活</a:t>
            </a:r>
            <a:endParaRPr lang="en-US" altLang="zh-CN" sz="2800" b="1" u="sng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蒸发结晶的方法</a:t>
            </a:r>
            <a:endParaRPr lang="en-US" altLang="zh-CN" sz="2800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阳光充足、气温较高、有一定的自然风和较低的湿度</a:t>
            </a:r>
            <a:endParaRPr lang="en-US" altLang="zh-CN" sz="2800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3163575"/>
            <a:ext cx="6457950" cy="34944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="" xmlns:p14="http://schemas.microsoft.com/office/powerpoint/2010/main" val="422118893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86767"/>
            <a:ext cx="8079432" cy="1470025"/>
          </a:xfrm>
        </p:spPr>
        <p:txBody>
          <a:bodyPr>
            <a:normAutofit fontScale="90000"/>
          </a:bodyPr>
          <a:lstStyle/>
          <a:p>
            <a:r>
              <a:rPr lang="en-US" altLang="zh-CN" sz="6000" b="1" dirty="0" smtClean="0">
                <a:latin typeface="楷体" pitchFamily="49" charset="-122"/>
                <a:ea typeface="楷体" pitchFamily="49" charset="-122"/>
              </a:rPr>
              <a:t>9.3 </a:t>
            </a:r>
            <a:r>
              <a:rPr lang="zh-CN" altLang="en-US" sz="6000" b="1" dirty="0" smtClean="0">
                <a:latin typeface="楷体" pitchFamily="49" charset="-122"/>
                <a:ea typeface="楷体" pitchFamily="49" charset="-122"/>
              </a:rPr>
              <a:t>钠和钾的重要化合物</a:t>
            </a:r>
            <a:endParaRPr lang="en-MY" sz="60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467590"/>
            <a:ext cx="9144000" cy="4625706"/>
          </a:xfrm>
        </p:spPr>
        <p:txBody>
          <a:bodyPr>
            <a:noAutofit/>
          </a:bodyPr>
          <a:lstStyle/>
          <a:p>
            <a:pPr marL="457200" indent="-457200" algn="l">
              <a:lnSpc>
                <a:spcPct val="150000"/>
              </a:lnSpc>
              <a:spcBef>
                <a:spcPts val="0"/>
              </a:spcBef>
            </a:pPr>
            <a:r>
              <a:rPr lang="en-US" altLang="zh-CN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	</a:t>
            </a:r>
            <a:r>
              <a:rPr lang="zh-CN" altLang="en-US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氯化钠</a:t>
            </a:r>
            <a:endParaRPr lang="en-US" altLang="zh-CN" sz="2800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无色透明的晶体</a:t>
            </a:r>
            <a:endParaRPr lang="en-US" altLang="zh-CN" sz="2800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熔点</a:t>
            </a:r>
            <a:r>
              <a:rPr lang="en-US" altLang="zh-CN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801</a:t>
            </a:r>
            <a:r>
              <a:rPr lang="en-US" altLang="zh-CN" sz="2800" b="1" baseline="30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o</a:t>
            </a:r>
            <a:r>
              <a:rPr lang="en-US" altLang="zh-CN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C </a:t>
            </a:r>
            <a:r>
              <a:rPr lang="zh-CN" altLang="en-US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、沸点</a:t>
            </a:r>
            <a:r>
              <a:rPr lang="en-US" altLang="zh-CN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1413</a:t>
            </a:r>
            <a:r>
              <a:rPr lang="en-US" altLang="zh-CN" sz="2800" b="1" baseline="30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o</a:t>
            </a:r>
            <a:r>
              <a:rPr lang="en-US" altLang="zh-CN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C</a:t>
            </a: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易溶于水</a:t>
            </a:r>
            <a:endParaRPr lang="en-US" altLang="zh-CN" sz="2800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用途：调味、医用、化工原料</a:t>
            </a:r>
            <a:endParaRPr lang="en-US" altLang="zh-CN" sz="2800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氯碱工业：</a:t>
            </a:r>
            <a:endParaRPr lang="en-US" altLang="zh-CN" sz="2800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</a:pPr>
            <a:r>
              <a:rPr lang="en-US" altLang="zh-CN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	2NaCl + 2H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O </a:t>
            </a:r>
            <a:r>
              <a:rPr lang="en-US" altLang="zh-CN" sz="2800" b="1" baseline="30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lang="zh-CN" altLang="en-US" sz="2800" b="1" baseline="30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电解 </a:t>
            </a:r>
            <a:r>
              <a:rPr lang="zh-CN" altLang="en-US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2NaOH + Cl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+ 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</a:t>
            </a: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</a:pPr>
            <a:endParaRPr lang="en-US" altLang="zh-CN" sz="2800" b="1" u="sng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</a:pPr>
            <a:endParaRPr lang="en-US" altLang="zh-CN" sz="2800" u="sng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7253" y="1676401"/>
            <a:ext cx="3011422" cy="1981199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 bwMode="auto">
          <a:xfrm>
            <a:off x="2743200" y="5791200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22118893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 smtClean="0">
                <a:latin typeface="宋体" pitchFamily="2" charset="-122"/>
                <a:ea typeface="宋体" pitchFamily="2" charset="-122"/>
              </a:rPr>
              <a:t>氯化钠是人体必需的一种养分</a:t>
            </a:r>
            <a:endParaRPr lang="en-US" altLang="zh-CN" sz="2800" b="1" dirty="0" smtClean="0">
              <a:latin typeface="宋体" pitchFamily="2" charset="-122"/>
              <a:ea typeface="宋体" pitchFamily="2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 smtClean="0">
                <a:latin typeface="宋体" pitchFamily="2" charset="-122"/>
                <a:ea typeface="宋体" pitchFamily="2" charset="-122"/>
              </a:rPr>
              <a:t>缺乏食盐时，会发生血液变浓、尿少、皮肤变黄、身体疲倦无力、呕吐、抽搐等，甚至休克死亡</a:t>
            </a:r>
            <a:endParaRPr lang="en-US" altLang="zh-CN" sz="2800" b="1" dirty="0" smtClean="0">
              <a:latin typeface="宋体" pitchFamily="2" charset="-122"/>
              <a:ea typeface="宋体" pitchFamily="2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 smtClean="0">
                <a:latin typeface="宋体" pitchFamily="2" charset="-122"/>
                <a:ea typeface="宋体" pitchFamily="2" charset="-122"/>
              </a:rPr>
              <a:t>摄取过量食盐，会增加肾脏的负荷，造成高血压等病症</a:t>
            </a:r>
            <a:endParaRPr lang="en-US" altLang="zh-CN" sz="28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4362075"/>
            <a:ext cx="2449512" cy="21911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683568" y="86767"/>
            <a:ext cx="8079432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9.3 </a:t>
            </a:r>
            <a:r>
              <a:rPr kumimoji="0" lang="zh-CN" altLang="en-US" sz="6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钠和钾的重要化合物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86767"/>
            <a:ext cx="8079432" cy="1470025"/>
          </a:xfrm>
        </p:spPr>
        <p:txBody>
          <a:bodyPr>
            <a:normAutofit fontScale="90000"/>
          </a:bodyPr>
          <a:lstStyle/>
          <a:p>
            <a:r>
              <a:rPr lang="en-US" altLang="zh-CN" sz="6000" b="1" dirty="0" smtClean="0">
                <a:latin typeface="楷体" pitchFamily="49" charset="-122"/>
                <a:ea typeface="楷体" pitchFamily="49" charset="-122"/>
              </a:rPr>
              <a:t>9.3 </a:t>
            </a:r>
            <a:r>
              <a:rPr lang="zh-CN" altLang="en-US" sz="6000" b="1" dirty="0" smtClean="0">
                <a:latin typeface="楷体" pitchFamily="49" charset="-122"/>
                <a:ea typeface="楷体" pitchFamily="49" charset="-122"/>
              </a:rPr>
              <a:t>钠和钾的重要化合物</a:t>
            </a:r>
            <a:endParaRPr lang="en-MY" sz="60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467590"/>
            <a:ext cx="9144000" cy="4625706"/>
          </a:xfrm>
        </p:spPr>
        <p:txBody>
          <a:bodyPr>
            <a:noAutofit/>
          </a:bodyPr>
          <a:lstStyle/>
          <a:p>
            <a:pPr marL="457200" indent="-457200" algn="l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	</a:t>
            </a:r>
            <a:r>
              <a:rPr lang="zh-CN" altLang="en-US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氯化钾</a:t>
            </a:r>
            <a:endParaRPr lang="en-US" altLang="zh-CN" sz="2800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白色晶体</a:t>
            </a:r>
            <a:endParaRPr lang="en-US" altLang="zh-CN" sz="2800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熔点</a:t>
            </a:r>
            <a:r>
              <a:rPr lang="en-US" altLang="zh-CN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770</a:t>
            </a:r>
            <a:r>
              <a:rPr lang="en-US" altLang="zh-CN" sz="2800" b="1" baseline="30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o</a:t>
            </a:r>
            <a:r>
              <a:rPr lang="en-US" altLang="zh-CN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C </a:t>
            </a: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易溶于水，有咸味</a:t>
            </a:r>
            <a:endParaRPr lang="en-US" altLang="zh-CN" sz="2800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用途：电解质平衡调节药，钾肥</a:t>
            </a:r>
            <a:r>
              <a:rPr lang="en-US" altLang="zh-CN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</a:t>
            </a:r>
          </a:p>
          <a:p>
            <a:pPr marL="457200" indent="-457200" algn="l">
              <a:lnSpc>
                <a:spcPct val="150000"/>
              </a:lnSpc>
            </a:pPr>
            <a:endParaRPr lang="en-US" altLang="zh-CN" sz="2800" b="1" u="sng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457200" indent="-457200" algn="l">
              <a:lnSpc>
                <a:spcPct val="150000"/>
              </a:lnSpc>
              <a:buFont typeface="Arial" pitchFamily="34" charset="0"/>
              <a:buChar char="•"/>
            </a:pPr>
            <a:endParaRPr lang="en-US" altLang="zh-CN" sz="2800" u="sng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2118893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" y="1371600"/>
            <a:ext cx="8382000" cy="4751040"/>
          </a:xfrm>
        </p:spPr>
        <p:txBody>
          <a:bodyPr>
            <a:noAutofit/>
          </a:bodyPr>
          <a:lstStyle/>
          <a:p>
            <a:pPr marL="457200" indent="-45720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氢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氧化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钠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白色固体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溶于水时放出大量的热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有潮解性：易吸取空气中的水蒸气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易变质：与空气中的二氧化碳反应</a:t>
            </a:r>
          </a:p>
          <a:p>
            <a:pPr marL="457200" indent="-45720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2NaOH + CO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 Na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CO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3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+ 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O 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/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问题解决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加盐酸，若产生气泡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(CO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)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则已变质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加石灰水，若产生沉淀（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CaCO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3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)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则已变质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加氯化钡溶液，若产生沉淀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(BaCO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3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)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则已变质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295400"/>
            <a:ext cx="2808308" cy="2228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683568" y="86767"/>
            <a:ext cx="8079432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9.3 </a:t>
            </a:r>
            <a:r>
              <a:rPr kumimoji="0" lang="zh-CN" altLang="en-US" sz="6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钠和钾的重要化合物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148115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" y="1371600"/>
            <a:ext cx="8382000" cy="4751040"/>
          </a:xfrm>
        </p:spPr>
        <p:txBody>
          <a:bodyPr>
            <a:noAutofit/>
          </a:bodyPr>
          <a:lstStyle/>
          <a:p>
            <a:pPr marL="457200" indent="-457200" algn="l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氢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氧化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钠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具有强腐蚀性的强碱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俗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称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烧碱、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火碱、苛性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钠。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与某些单质及氧化物反应</a:t>
            </a:r>
            <a:endParaRPr lang="en-MY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/>
            <a:r>
              <a:rPr lang="en-MY" altLang="zh-CN" sz="2800" b="1" dirty="0" smtClean="0">
                <a:solidFill>
                  <a:schemeClr val="tx1"/>
                </a:solidFill>
                <a:latin typeface="+mn-ea"/>
              </a:rPr>
              <a:t>	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2Al + 2 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NaOH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+ 2 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O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 2 NaAlO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+ 3 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</a:p>
          <a:p>
            <a:pPr marL="457200" indent="-45720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 SiO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+ 2NaOH  Na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SiO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3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+ 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O 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用途：造纸、肥皂、染料、石油精制、食品加工、木材加工、机械工业等。</a:t>
            </a:r>
            <a:endParaRPr lang="en-US" altLang="zh-CN" sz="2800" b="1" baseline="-25000" dirty="0" smtClean="0">
              <a:solidFill>
                <a:schemeClr val="tx1"/>
              </a:solidFill>
              <a:latin typeface="+mn-ea"/>
              <a:sym typeface="Wingdings" pitchFamily="2" charset="2"/>
            </a:endParaRPr>
          </a:p>
          <a:p>
            <a:pPr marL="457200" indent="-457200" algn="l">
              <a:lnSpc>
                <a:spcPct val="150000"/>
              </a:lnSpc>
            </a:pPr>
            <a:endParaRPr lang="en-US" altLang="zh-CN" b="1" dirty="0" smtClean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295400"/>
            <a:ext cx="2808308" cy="2228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683568" y="86767"/>
            <a:ext cx="8079432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9.3 </a:t>
            </a:r>
            <a:r>
              <a:rPr kumimoji="0" lang="zh-CN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钠和钾的重要化合物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148115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143000"/>
            <a:ext cx="8534400" cy="5112568"/>
          </a:xfrm>
        </p:spPr>
        <p:txBody>
          <a:bodyPr>
            <a:noAutofit/>
          </a:bodyPr>
          <a:lstStyle/>
          <a:p>
            <a:pPr marL="457200" indent="-457200" algn="l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 smtClean="0">
                <a:solidFill>
                  <a:schemeClr val="tx1"/>
                </a:solidFill>
              </a:rPr>
              <a:t>碳酸钠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</a:rPr>
              <a:t>白色晶体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</a:rPr>
              <a:t>俗称苏打或纯碱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</a:rPr>
              <a:t>易溶于水，形成碱性溶液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</a:rPr>
              <a:t>稳定，受热不分解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</a:rPr>
              <a:t>用途：制</a:t>
            </a:r>
            <a:r>
              <a:rPr lang="zh-CN" altLang="en-US" sz="2800" b="1" dirty="0">
                <a:solidFill>
                  <a:schemeClr val="tx1"/>
                </a:solidFill>
              </a:rPr>
              <a:t>造玻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璃、肥皂，炼钢，造纸。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制取方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法：氨碱法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p280</a:t>
            </a: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</a:rPr>
              <a:t>碳酸盐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+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酸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</a:t>
            </a:r>
            <a:r>
              <a:rPr lang="zh-CN" altLang="en-US" sz="2800" b="1" dirty="0" smtClean="0">
                <a:solidFill>
                  <a:schemeClr val="tx1"/>
                </a:solidFill>
                <a:sym typeface="Wingdings" pitchFamily="2" charset="2"/>
              </a:rPr>
              <a:t>盐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+ </a:t>
            </a:r>
            <a:r>
              <a:rPr lang="zh-CN" altLang="en-US" sz="2800" b="1" dirty="0" smtClean="0">
                <a:solidFill>
                  <a:schemeClr val="tx1"/>
                </a:solidFill>
                <a:sym typeface="Wingdings" pitchFamily="2" charset="2"/>
              </a:rPr>
              <a:t>水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+CO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2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endParaRPr lang="en-US" altLang="zh-CN" sz="2800" b="1" dirty="0" smtClean="0">
              <a:solidFill>
                <a:schemeClr val="tx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371600"/>
            <a:ext cx="3628326" cy="2789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683568" y="86767"/>
            <a:ext cx="8079432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9.3 </a:t>
            </a:r>
            <a:r>
              <a:rPr kumimoji="0" lang="zh-CN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钠和钾的重要化合物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23943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143000"/>
            <a:ext cx="8534400" cy="5112568"/>
          </a:xfrm>
        </p:spPr>
        <p:txBody>
          <a:bodyPr>
            <a:noAutofit/>
          </a:bodyPr>
          <a:lstStyle/>
          <a:p>
            <a:pPr marL="457200" indent="-457200" algn="l">
              <a:lnSpc>
                <a:spcPct val="150000"/>
              </a:lnSpc>
            </a:pPr>
            <a:r>
              <a:rPr lang="zh-CN" altLang="en-US" sz="2800" b="1" dirty="0" smtClean="0">
                <a:solidFill>
                  <a:schemeClr val="tx1"/>
                </a:solidFill>
              </a:rPr>
              <a:t>活动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8</a:t>
            </a: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</a:rPr>
              <a:t>两只试管均出现白色沉淀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tx1"/>
                </a:solidFill>
              </a:rPr>
              <a:t>	Na</a:t>
            </a:r>
            <a:r>
              <a:rPr lang="en-US" altLang="zh-CN" sz="2800" b="1" baseline="-25000" dirty="0" smtClean="0">
                <a:solidFill>
                  <a:schemeClr val="tx1"/>
                </a:solidFill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CO</a:t>
            </a:r>
            <a:r>
              <a:rPr lang="en-US" altLang="zh-CN" sz="2800" b="1" baseline="-25000" dirty="0" smtClean="0">
                <a:solidFill>
                  <a:schemeClr val="tx1"/>
                </a:solidFill>
              </a:rPr>
              <a:t>3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 + Ca(OH)</a:t>
            </a:r>
            <a:r>
              <a:rPr lang="en-US" altLang="zh-CN" sz="2800" b="1" baseline="-25000" dirty="0" smtClean="0">
                <a:solidFill>
                  <a:schemeClr val="tx1"/>
                </a:solidFill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 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 CaCO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3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 + 2NaOH</a:t>
            </a:r>
          </a:p>
          <a:p>
            <a:pPr marL="457200" indent="-457200" algn="l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	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Na</a:t>
            </a:r>
            <a:r>
              <a:rPr lang="en-US" altLang="zh-CN" sz="2800" b="1" baseline="-25000" dirty="0" smtClean="0">
                <a:solidFill>
                  <a:schemeClr val="tx1"/>
                </a:solidFill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CO</a:t>
            </a:r>
            <a:r>
              <a:rPr lang="en-US" altLang="zh-CN" sz="2800" b="1" baseline="-25000" dirty="0" smtClean="0">
                <a:solidFill>
                  <a:schemeClr val="tx1"/>
                </a:solidFill>
              </a:rPr>
              <a:t>3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 + CaCl</a:t>
            </a:r>
            <a:r>
              <a:rPr lang="en-US" altLang="zh-CN" sz="2800" b="1" baseline="-25000" dirty="0" smtClean="0">
                <a:solidFill>
                  <a:schemeClr val="tx1"/>
                </a:solidFill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 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 CaCO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3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 + 2NaCl</a:t>
            </a:r>
          </a:p>
          <a:p>
            <a:pPr marL="457200" indent="-457200" algn="l">
              <a:lnSpc>
                <a:spcPct val="150000"/>
              </a:lnSpc>
            </a:pPr>
            <a:r>
              <a:rPr lang="zh-CN" altLang="en-US" sz="2800" b="1" dirty="0" smtClean="0">
                <a:solidFill>
                  <a:schemeClr val="tx1"/>
                </a:solidFill>
                <a:sym typeface="Wingdings" pitchFamily="2" charset="2"/>
              </a:rPr>
              <a:t>活动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9</a:t>
            </a: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sym typeface="Wingdings" pitchFamily="2" charset="2"/>
              </a:rPr>
              <a:t>碱性</a:t>
            </a:r>
            <a:endParaRPr lang="en-US" altLang="zh-CN" sz="2800" b="1" dirty="0" smtClean="0">
              <a:solidFill>
                <a:schemeClr val="tx1"/>
              </a:solidFill>
              <a:sym typeface="Wingdings" pitchFamily="2" charset="2"/>
            </a:endParaRP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sym typeface="Wingdings" pitchFamily="2" charset="2"/>
              </a:rPr>
              <a:t>热的纯碱溶液可去除物品表面的油污。</a:t>
            </a:r>
            <a:endParaRPr lang="en-US" altLang="zh-CN" sz="2800" b="1" dirty="0" smtClean="0">
              <a:solidFill>
                <a:schemeClr val="tx1"/>
              </a:solidFill>
              <a:sym typeface="Wingdings" pitchFamily="2" charset="2"/>
            </a:endParaRP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800" b="1" dirty="0" smtClean="0">
              <a:solidFill>
                <a:schemeClr val="tx1"/>
              </a:solidFill>
              <a:sym typeface="Wingdings" pitchFamily="2" charset="2"/>
            </a:endParaRPr>
          </a:p>
          <a:p>
            <a:pPr marL="457200" indent="-457200" algn="l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	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</a:pPr>
            <a:endParaRPr lang="en-US" altLang="zh-CN" sz="2800" b="1" dirty="0" smtClean="0">
              <a:solidFill>
                <a:schemeClr val="tx1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83568" y="86767"/>
            <a:ext cx="8079432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9.3 </a:t>
            </a:r>
            <a:r>
              <a:rPr kumimoji="0" lang="zh-CN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钠和钾的重要化合物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23943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143000"/>
            <a:ext cx="8534400" cy="5112568"/>
          </a:xfrm>
        </p:spPr>
        <p:txBody>
          <a:bodyPr>
            <a:noAutofit/>
          </a:bodyPr>
          <a:lstStyle/>
          <a:p>
            <a:pPr marL="457200" indent="-457200" algn="l">
              <a:lnSpc>
                <a:spcPct val="150000"/>
              </a:lnSpc>
            </a:pPr>
            <a:r>
              <a:rPr lang="zh-CN" altLang="en-US" sz="2800" b="1" dirty="0" smtClean="0">
                <a:solidFill>
                  <a:schemeClr val="tx1"/>
                </a:solidFill>
              </a:rPr>
              <a:t>活动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10</a:t>
            </a:r>
          </a:p>
          <a:p>
            <a:pPr marL="457200" indent="-457200" algn="l">
              <a:lnSpc>
                <a:spcPct val="150000"/>
              </a:lnSpc>
            </a:pPr>
            <a:endParaRPr lang="en-US" altLang="zh-CN" sz="2800" b="1" dirty="0" smtClean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</a:pPr>
            <a:endParaRPr lang="en-US" altLang="zh-CN" sz="2800" b="1" dirty="0" smtClean="0">
              <a:solidFill>
                <a:schemeClr val="tx1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83568" y="86767"/>
            <a:ext cx="8079432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9.3 </a:t>
            </a:r>
            <a:r>
              <a:rPr kumimoji="0" lang="zh-CN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钠和钾的重要化合物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0" y="1798320"/>
          <a:ext cx="66294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2844800"/>
                <a:gridCol w="2565400"/>
              </a:tblGrid>
              <a:tr h="0">
                <a:tc>
                  <a:txBody>
                    <a:bodyPr/>
                    <a:lstStyle/>
                    <a:p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 smtClean="0"/>
                        <a:t>Na</a:t>
                      </a:r>
                      <a:r>
                        <a:rPr lang="en-US" altLang="zh-CN" sz="2800" b="1" baseline="-25000" dirty="0" smtClean="0"/>
                        <a:t>2</a:t>
                      </a:r>
                      <a:r>
                        <a:rPr lang="en-US" altLang="zh-CN" sz="2800" b="1" baseline="0" dirty="0" smtClean="0"/>
                        <a:t>CO</a:t>
                      </a:r>
                      <a:r>
                        <a:rPr lang="en-US" altLang="zh-CN" sz="2800" b="1" baseline="-25000" dirty="0" smtClean="0"/>
                        <a:t>3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 smtClean="0"/>
                        <a:t>NaHCO</a:t>
                      </a:r>
                      <a:r>
                        <a:rPr lang="en-US" altLang="zh-CN" sz="2800" b="1" baseline="-25000" dirty="0" smtClean="0"/>
                        <a:t>3</a:t>
                      </a:r>
                      <a:endParaRPr lang="en-US" sz="28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 dirty="0" smtClean="0"/>
                        <a:t>1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b="1" dirty="0" smtClean="0"/>
                        <a:t>发热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 smtClean="0"/>
                        <a:t>--</a:t>
                      </a:r>
                      <a:endParaRPr lang="en-US" sz="28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 dirty="0" smtClean="0"/>
                        <a:t>2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b="1" dirty="0" smtClean="0"/>
                        <a:t>全部溶解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b="1" dirty="0" smtClean="0"/>
                        <a:t>微溶</a:t>
                      </a:r>
                      <a:endParaRPr lang="en-US" sz="28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 dirty="0" smtClean="0"/>
                        <a:t>3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b="1" dirty="0" smtClean="0"/>
                        <a:t>溶液变红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dirty="0" smtClean="0"/>
                        <a:t>溶液变红</a:t>
                      </a:r>
                      <a:endParaRPr lang="en-US" sz="2800" b="1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800" b="1" dirty="0" smtClean="0"/>
                        <a:t>初步结论</a:t>
                      </a:r>
                      <a:endParaRPr lang="en-US" sz="28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zh-CN" altLang="en-US" sz="2800" b="1" dirty="0" smtClean="0"/>
                        <a:t>碳酸钠的溶解性大于碳酸氢钠；</a:t>
                      </a:r>
                      <a:endParaRPr lang="en-US" altLang="zh-CN" sz="2800" b="1" dirty="0" smtClean="0"/>
                    </a:p>
                    <a:p>
                      <a:r>
                        <a:rPr lang="zh-CN" altLang="en-US" sz="2800" b="1" dirty="0" smtClean="0"/>
                        <a:t>两者的溶液皆为碱性</a:t>
                      </a:r>
                      <a:endParaRPr lang="en-US" sz="28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2743200" y="2819400"/>
            <a:ext cx="20574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743200" y="2286000"/>
            <a:ext cx="2057400" cy="533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2743200" y="3352800"/>
            <a:ext cx="1905000" cy="457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2819400" y="3962400"/>
            <a:ext cx="4876800" cy="381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5638800" y="2286000"/>
            <a:ext cx="1905000" cy="457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5638800" y="2819400"/>
            <a:ext cx="1905000" cy="4572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5638800" y="3352800"/>
            <a:ext cx="1905000" cy="457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2819400" y="4343400"/>
            <a:ext cx="4876800" cy="381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823943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143000"/>
            <a:ext cx="8534400" cy="5112568"/>
          </a:xfrm>
        </p:spPr>
        <p:txBody>
          <a:bodyPr>
            <a:noAutofit/>
          </a:bodyPr>
          <a:lstStyle/>
          <a:p>
            <a:pPr marL="457200" indent="-457200" algn="l"/>
            <a:r>
              <a:rPr lang="zh-CN" altLang="en-US" sz="2800" b="1" dirty="0" smtClean="0">
                <a:solidFill>
                  <a:schemeClr val="tx1"/>
                </a:solidFill>
              </a:rPr>
              <a:t>活动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11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</a:rPr>
              <a:t>现象：试管口有水珠，澄清石灰水变浑浊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</a:rPr>
              <a:t>反应式：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2 NaHCO</a:t>
            </a:r>
            <a:r>
              <a:rPr lang="en-US" altLang="zh-CN" sz="2800" b="1" baseline="-25000" dirty="0" smtClean="0">
                <a:solidFill>
                  <a:schemeClr val="tx1"/>
                </a:solidFill>
              </a:rPr>
              <a:t>3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    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         Na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CO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3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 + H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O + CO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2</a:t>
            </a:r>
            <a:endParaRPr lang="en-US" altLang="zh-CN" sz="2800" b="1" dirty="0" smtClean="0">
              <a:solidFill>
                <a:schemeClr val="tx1"/>
              </a:solidFill>
              <a:sym typeface="Wingdings" pitchFamily="2" charset="2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sym typeface="Wingdings" pitchFamily="2" charset="2"/>
              </a:rPr>
              <a:t>结论：碳酸氢钠受热易分解</a:t>
            </a:r>
            <a:endParaRPr lang="en-US" altLang="zh-CN" sz="2800" b="1" dirty="0" smtClean="0">
              <a:solidFill>
                <a:schemeClr val="tx1"/>
              </a:solidFill>
              <a:sym typeface="Wingdings" pitchFamily="2" charset="2"/>
            </a:endParaRPr>
          </a:p>
          <a:p>
            <a:pPr marL="457200" indent="-457200" algn="l">
              <a:buFont typeface="Wingdings" pitchFamily="2" charset="2"/>
              <a:buChar char="Ø"/>
            </a:pPr>
            <a:endParaRPr lang="en-US" altLang="zh-CN" sz="2800" b="1" dirty="0" smtClean="0">
              <a:solidFill>
                <a:schemeClr val="tx1"/>
              </a:solidFill>
              <a:sym typeface="Wingdings" pitchFamily="2" charset="2"/>
            </a:endParaRPr>
          </a:p>
          <a:p>
            <a:pPr marL="457200" indent="-457200" algn="l"/>
            <a:r>
              <a:rPr lang="zh-CN" altLang="en-US" sz="2800" b="1" dirty="0" smtClean="0">
                <a:solidFill>
                  <a:schemeClr val="tx1"/>
                </a:solidFill>
                <a:sym typeface="Wingdings" pitchFamily="2" charset="2"/>
              </a:rPr>
              <a:t>活动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12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sym typeface="Wingdings" pitchFamily="2" charset="2"/>
              </a:rPr>
              <a:t>碳酸氢钠与盐酸反应较剧烈，因碳酸氢根需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1</a:t>
            </a:r>
            <a:r>
              <a:rPr lang="zh-CN" altLang="en-US" sz="2800" b="1" dirty="0" smtClean="0">
                <a:solidFill>
                  <a:schemeClr val="tx1"/>
                </a:solidFill>
                <a:sym typeface="Wingdings" pitchFamily="2" charset="2"/>
              </a:rPr>
              <a:t>份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H</a:t>
            </a:r>
            <a:r>
              <a:rPr lang="en-US" altLang="zh-CN" sz="2800" b="1" baseline="30000" dirty="0" smtClean="0">
                <a:solidFill>
                  <a:schemeClr val="tx1"/>
                </a:solidFill>
                <a:sym typeface="Wingdings" pitchFamily="2" charset="2"/>
              </a:rPr>
              <a:t>+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  <a:sym typeface="Wingdings" pitchFamily="2" charset="2"/>
              </a:rPr>
              <a:t>便能生成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CO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  <a:sym typeface="Wingdings" pitchFamily="2" charset="2"/>
              </a:rPr>
              <a:t>，而碳酸根需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2</a:t>
            </a:r>
            <a:r>
              <a:rPr lang="zh-CN" altLang="en-US" sz="2800" b="1" dirty="0" smtClean="0">
                <a:solidFill>
                  <a:schemeClr val="tx1"/>
                </a:solidFill>
                <a:sym typeface="Wingdings" pitchFamily="2" charset="2"/>
              </a:rPr>
              <a:t>份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H</a:t>
            </a:r>
            <a:r>
              <a:rPr lang="en-US" altLang="zh-CN" sz="2800" b="1" baseline="30000" dirty="0" smtClean="0">
                <a:solidFill>
                  <a:schemeClr val="tx1"/>
                </a:solidFill>
                <a:sym typeface="Wingdings" pitchFamily="2" charset="2"/>
              </a:rPr>
              <a:t>+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  <a:sym typeface="Wingdings" pitchFamily="2" charset="2"/>
              </a:rPr>
              <a:t>才能生成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CO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  <a:sym typeface="Wingdings" pitchFamily="2" charset="2"/>
              </a:rPr>
              <a:t>。</a:t>
            </a:r>
            <a:endParaRPr lang="en-US" altLang="zh-CN" sz="2800" b="1" dirty="0" smtClean="0">
              <a:solidFill>
                <a:schemeClr val="tx1"/>
              </a:solidFill>
              <a:sym typeface="Wingdings" pitchFamily="2" charset="2"/>
            </a:endParaRPr>
          </a:p>
          <a:p>
            <a:pPr marL="457200" indent="-457200" algn="l"/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	NaHCO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3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 + </a:t>
            </a:r>
            <a:r>
              <a:rPr lang="en-US" altLang="zh-CN" sz="2800" b="1" dirty="0" err="1" smtClean="0">
                <a:solidFill>
                  <a:schemeClr val="tx1"/>
                </a:solidFill>
                <a:sym typeface="Wingdings" pitchFamily="2" charset="2"/>
              </a:rPr>
              <a:t>HCl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  </a:t>
            </a:r>
            <a:r>
              <a:rPr lang="en-US" altLang="zh-CN" sz="2800" b="1" dirty="0" err="1" smtClean="0">
                <a:solidFill>
                  <a:schemeClr val="tx1"/>
                </a:solidFill>
                <a:sym typeface="Wingdings" pitchFamily="2" charset="2"/>
              </a:rPr>
              <a:t>NaCl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 + H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O + CO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 </a:t>
            </a:r>
          </a:p>
          <a:p>
            <a:pPr marL="457200" indent="-457200" algn="l"/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	Na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CO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3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 + 2HCl  2NaCl + H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O + CO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2</a:t>
            </a:r>
            <a:endParaRPr lang="en-US" altLang="zh-CN" sz="2800" b="1" dirty="0" smtClean="0">
              <a:solidFill>
                <a:schemeClr val="tx1"/>
              </a:solidFill>
              <a:sym typeface="Wingdings" pitchFamily="2" charset="2"/>
            </a:endParaRPr>
          </a:p>
          <a:p>
            <a:pPr marL="457200" indent="-457200" algn="l"/>
            <a:endParaRPr lang="en-US" altLang="zh-CN" sz="2800" b="1" dirty="0" smtClean="0">
              <a:solidFill>
                <a:schemeClr val="tx1"/>
              </a:solidFill>
              <a:sym typeface="Wingdings" pitchFamily="2" charset="2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83568" y="86767"/>
            <a:ext cx="8079432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9.3 </a:t>
            </a:r>
            <a:r>
              <a:rPr kumimoji="0" lang="zh-CN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钠和钾的重要化合物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3810000" y="2436812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 bwMode="auto">
          <a:xfrm>
            <a:off x="4114800" y="2284412"/>
            <a:ext cx="228600" cy="1524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23943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143000"/>
            <a:ext cx="8534400" cy="5112568"/>
          </a:xfrm>
        </p:spPr>
        <p:txBody>
          <a:bodyPr>
            <a:noAutofit/>
          </a:bodyPr>
          <a:lstStyle/>
          <a:p>
            <a:pPr marL="457200" indent="-457200" algn="l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 smtClean="0">
                <a:solidFill>
                  <a:schemeClr val="tx1"/>
                </a:solidFill>
              </a:rPr>
              <a:t>碳酸氢钠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</a:rPr>
              <a:t>白色粉末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</a:rPr>
              <a:t>俗称小苏打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</a:rPr>
              <a:t>微溶于水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sym typeface="Wingdings" pitchFamily="2" charset="2"/>
              </a:rPr>
              <a:t>碳酸盐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+ </a:t>
            </a:r>
            <a:r>
              <a:rPr lang="zh-CN" altLang="en-US" sz="2800" b="1" dirty="0" smtClean="0">
                <a:solidFill>
                  <a:schemeClr val="tx1"/>
                </a:solidFill>
                <a:sym typeface="Wingdings" pitchFamily="2" charset="2"/>
              </a:rPr>
              <a:t>水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+CO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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碳酸氢盐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</a:rPr>
              <a:t>碳酸氢盐受热分解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</a:t>
            </a:r>
            <a:r>
              <a:rPr lang="zh-CN" altLang="en-US" sz="2800" b="1" dirty="0" smtClean="0">
                <a:solidFill>
                  <a:schemeClr val="tx1"/>
                </a:solidFill>
                <a:sym typeface="Wingdings" pitchFamily="2" charset="2"/>
              </a:rPr>
              <a:t>碳酸盐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+ </a:t>
            </a:r>
            <a:r>
              <a:rPr lang="zh-CN" altLang="en-US" sz="2800" b="1" dirty="0" smtClean="0">
                <a:solidFill>
                  <a:schemeClr val="tx1"/>
                </a:solidFill>
                <a:sym typeface="Wingdings" pitchFamily="2" charset="2"/>
              </a:rPr>
              <a:t>水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+CO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2 </a:t>
            </a:r>
            <a:r>
              <a:rPr lang="zh-CN" altLang="en-US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  <a:sym typeface="Wingdings" pitchFamily="2" charset="2"/>
              </a:rPr>
              <a:t> </a:t>
            </a:r>
            <a:endParaRPr lang="en-US" altLang="zh-CN" sz="2800" b="1" dirty="0" smtClean="0">
              <a:solidFill>
                <a:schemeClr val="tx1"/>
              </a:solidFill>
              <a:sym typeface="Wingdings" pitchFamily="2" charset="2"/>
            </a:endParaRPr>
          </a:p>
          <a:p>
            <a:pPr marL="914400" lvl="1" indent="-4572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400" b="1" dirty="0" smtClean="0">
                <a:solidFill>
                  <a:schemeClr val="tx1"/>
                </a:solidFill>
                <a:sym typeface="Wingdings" pitchFamily="2" charset="2"/>
              </a:rPr>
              <a:t>烘培面包、鉴别碳酸钠与碳酸氢钠</a:t>
            </a:r>
            <a:endParaRPr lang="en-US" altLang="zh-CN" sz="2400" b="1" dirty="0" smtClean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</a:rPr>
              <a:t>碳酸盐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\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碳酸氢盐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+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酸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</a:t>
            </a:r>
            <a:r>
              <a:rPr lang="zh-CN" altLang="en-US" sz="2800" b="1" dirty="0" smtClean="0">
                <a:solidFill>
                  <a:schemeClr val="tx1"/>
                </a:solidFill>
                <a:sym typeface="Wingdings" pitchFamily="2" charset="2"/>
              </a:rPr>
              <a:t>盐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+ </a:t>
            </a:r>
            <a:r>
              <a:rPr lang="zh-CN" altLang="en-US" sz="2800" b="1" dirty="0" smtClean="0">
                <a:solidFill>
                  <a:schemeClr val="tx1"/>
                </a:solidFill>
                <a:sym typeface="Wingdings" pitchFamily="2" charset="2"/>
              </a:rPr>
              <a:t>水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+CO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2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endParaRPr lang="en-US" altLang="zh-CN" sz="2800" b="1" dirty="0" smtClean="0">
              <a:solidFill>
                <a:schemeClr val="tx1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83568" y="86767"/>
            <a:ext cx="8079432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9.3 </a:t>
            </a:r>
            <a:r>
              <a:rPr kumimoji="0" lang="zh-CN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钠和钾的重要化合物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23943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143000"/>
            <a:ext cx="8534400" cy="5112568"/>
          </a:xfrm>
        </p:spPr>
        <p:txBody>
          <a:bodyPr>
            <a:noAutofit/>
          </a:bodyPr>
          <a:lstStyle/>
          <a:p>
            <a:pPr marL="457200" indent="-457200" algn="l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 smtClean="0">
                <a:solidFill>
                  <a:schemeClr val="tx1"/>
                </a:solidFill>
              </a:rPr>
              <a:t>硝酸钾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</a:rPr>
              <a:t>白色粉末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</a:rPr>
              <a:t>易溶于水，溶于水时吸热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</a:rPr>
              <a:t>受热分解产生氧气，因此有强氧化性。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</a:pPr>
            <a:r>
              <a:rPr lang="en-US" altLang="zh-CN" sz="2800" b="1" dirty="0" smtClean="0">
                <a:solidFill>
                  <a:schemeClr val="tx1"/>
                </a:solidFill>
              </a:rPr>
              <a:t>	2 KNO</a:t>
            </a:r>
            <a:r>
              <a:rPr lang="en-US" altLang="zh-CN" sz="2800" b="1" baseline="-25000" dirty="0" smtClean="0">
                <a:solidFill>
                  <a:schemeClr val="tx1"/>
                </a:solidFill>
              </a:rPr>
              <a:t>3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 		2KNO</a:t>
            </a:r>
            <a:r>
              <a:rPr lang="en-US" altLang="zh-CN" sz="2800" b="1" baseline="-25000" dirty="0" smtClean="0">
                <a:solidFill>
                  <a:schemeClr val="tx1"/>
                </a:solidFill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 + 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O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2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</a:rPr>
              <a:t>用途：制造火药、化肥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endParaRPr lang="en-US" altLang="zh-CN" sz="2800" b="1" dirty="0" smtClean="0">
              <a:solidFill>
                <a:schemeClr val="tx1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83568" y="86767"/>
            <a:ext cx="8079432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9.3 </a:t>
            </a:r>
            <a:r>
              <a:rPr kumimoji="0" lang="zh-CN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钠和钾的重要化合物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2057400" y="4114800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 bwMode="auto">
          <a:xfrm>
            <a:off x="2362200" y="3962400"/>
            <a:ext cx="228600" cy="1524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23943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8032" y="-99392"/>
            <a:ext cx="7772400" cy="1470025"/>
          </a:xfrm>
        </p:spPr>
        <p:txBody>
          <a:bodyPr>
            <a:normAutofit/>
          </a:bodyPr>
          <a:lstStyle/>
          <a:p>
            <a:r>
              <a:rPr lang="zh-CN" altLang="en-US" sz="5400" b="1" dirty="0" smtClean="0">
                <a:latin typeface="楷体" pitchFamily="49" charset="-122"/>
                <a:ea typeface="楷体" pitchFamily="49" charset="-122"/>
              </a:rPr>
              <a:t>思考题</a:t>
            </a:r>
            <a:r>
              <a:rPr lang="en-US" altLang="zh-CN" sz="5400" b="1" dirty="0" smtClean="0">
                <a:latin typeface="楷体" pitchFamily="49" charset="-122"/>
                <a:ea typeface="楷体" pitchFamily="49" charset="-122"/>
              </a:rPr>
              <a:t>9c</a:t>
            </a:r>
            <a:endParaRPr lang="en-MY" sz="54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990600"/>
            <a:ext cx="7920880" cy="5638800"/>
          </a:xfrm>
        </p:spPr>
        <p:txBody>
          <a:bodyPr>
            <a:noAutofit/>
          </a:bodyPr>
          <a:lstStyle/>
          <a:p>
            <a:pPr marL="514350" indent="-514350" algn="l">
              <a:buFont typeface="+mj-lt"/>
              <a:buAutoNum type="arabicPeriod"/>
            </a:pP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D </a:t>
            </a: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A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B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C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皆为钾单质的性质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2.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即如何将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NaHCO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3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 Na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CO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3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	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将混合物持续</a:t>
            </a:r>
            <a:r>
              <a:rPr lang="zh-CN" altLang="en-US" sz="2800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Wingdings" pitchFamily="2" charset="2"/>
              </a:rPr>
              <a:t>加热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，直到不再产生气体为止。</a:t>
            </a:r>
            <a:endParaRPr lang="en-US" altLang="zh-CN" sz="2800" b="1" dirty="0" smtClean="0">
              <a:solidFill>
                <a:schemeClr val="tx1"/>
              </a:solidFill>
              <a:latin typeface="+mn-ea"/>
              <a:sym typeface="Wingdings" pitchFamily="2" charset="2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</a:rPr>
              <a:t>	2 NaHCO</a:t>
            </a:r>
            <a:r>
              <a:rPr lang="en-US" altLang="zh-CN" sz="2800" b="1" baseline="-25000" dirty="0" smtClean="0">
                <a:solidFill>
                  <a:schemeClr val="tx1"/>
                </a:solidFill>
              </a:rPr>
              <a:t>3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    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         Na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CO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3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 + H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O + CO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2 </a:t>
            </a:r>
          </a:p>
          <a:p>
            <a:pPr marL="514350" indent="-514350" algn="l"/>
            <a:endParaRPr lang="en-US" altLang="zh-CN" sz="2800" b="1" baseline="-25000" dirty="0" smtClean="0">
              <a:solidFill>
                <a:schemeClr val="tx1"/>
              </a:solidFill>
              <a:latin typeface="+mn-ea"/>
              <a:sym typeface="Wingdings" pitchFamily="2" charset="2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3.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分别将这三种物质进行焰色试验，火焰呈黄色的是碳酸钠，火焰呈淡紫色的是钾盐。分别将两种钾盐加水配成溶液，然后分别加入稀盐酸，产生气泡的是碳酸钾，没明显现象的是硫酸钾。</a:t>
            </a:r>
            <a:endParaRPr lang="en-US" altLang="zh-CN" sz="2800" b="1" dirty="0" smtClean="0">
              <a:solidFill>
                <a:schemeClr val="tx1"/>
              </a:solidFill>
              <a:latin typeface="+mn-ea"/>
              <a:sym typeface="Wingdings" pitchFamily="2" charset="2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	K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CO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3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 + 2HCl  2KCl + H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O + CO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2</a:t>
            </a:r>
            <a:endParaRPr lang="en-US" altLang="zh-CN" sz="2800" b="1" dirty="0" smtClean="0">
              <a:solidFill>
                <a:schemeClr val="tx1"/>
              </a:solidFill>
              <a:sym typeface="Wingdings" pitchFamily="2" charset="2"/>
            </a:endParaRPr>
          </a:p>
          <a:p>
            <a:pPr marL="514350" indent="-514350" algn="l"/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" name="Straight Arrow Connector 8"/>
          <p:cNvCxnSpPr/>
          <p:nvPr/>
        </p:nvCxnSpPr>
        <p:spPr bwMode="auto">
          <a:xfrm>
            <a:off x="2743200" y="3810000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 bwMode="auto">
          <a:xfrm>
            <a:off x="3048000" y="3657600"/>
            <a:ext cx="228600" cy="1524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4518439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zh-CN" altLang="en-US" b="1" dirty="0" smtClean="0">
                <a:latin typeface="楷体" pitchFamily="49" charset="-122"/>
                <a:ea typeface="楷体" pitchFamily="49" charset="-122"/>
              </a:rPr>
              <a:t>选</a:t>
            </a:r>
            <a:r>
              <a:rPr lang="zh-CN" altLang="en-US" b="1" dirty="0" smtClean="0">
                <a:latin typeface="楷体" pitchFamily="49" charset="-122"/>
                <a:ea typeface="楷体" pitchFamily="49" charset="-122"/>
              </a:rPr>
              <a:t>择题</a:t>
            </a:r>
            <a:endParaRPr lang="en-US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500726"/>
          </a:xfrm>
        </p:spPr>
        <p:txBody>
          <a:bodyPr>
            <a:normAutofit/>
          </a:bodyPr>
          <a:lstStyle/>
          <a:p>
            <a:pPr marL="742950" indent="-742950">
              <a:buAutoNum type="arabicPeriod"/>
            </a:pPr>
            <a:r>
              <a:rPr lang="en-US" altLang="zh-CN" sz="3600" b="1" dirty="0" smtClean="0"/>
              <a:t>A </a:t>
            </a:r>
          </a:p>
          <a:p>
            <a:pPr marL="742950" indent="-742950">
              <a:buAutoNum type="arabicPeriod"/>
            </a:pPr>
            <a:r>
              <a:rPr lang="en-US" sz="3600" b="1" dirty="0" smtClean="0"/>
              <a:t>B 52.35%</a:t>
            </a:r>
          </a:p>
          <a:p>
            <a:pPr marL="742950" indent="-742950">
              <a:buNone/>
            </a:pPr>
            <a:r>
              <a:rPr lang="en-US" sz="3600" b="1" dirty="0" smtClean="0"/>
              <a:t>	C 56.52%</a:t>
            </a:r>
          </a:p>
          <a:p>
            <a:pPr marL="742950" indent="-742950">
              <a:buNone/>
            </a:pPr>
            <a:r>
              <a:rPr lang="en-US" sz="3600" b="1" dirty="0" smtClean="0"/>
              <a:t>	</a:t>
            </a:r>
            <a:r>
              <a:rPr lang="en-US" sz="3600" b="1" dirty="0" err="1" smtClean="0"/>
              <a:t>Ans</a:t>
            </a:r>
            <a:r>
              <a:rPr lang="en-US" sz="3600" b="1" dirty="0" smtClean="0"/>
              <a:t> C</a:t>
            </a:r>
          </a:p>
          <a:p>
            <a:pPr marL="742950" indent="-742950">
              <a:buAutoNum type="arabicPeriod" startAt="3"/>
            </a:pPr>
            <a:r>
              <a:rPr lang="en-US" sz="3600" b="1" dirty="0" smtClean="0"/>
              <a:t>D</a:t>
            </a:r>
          </a:p>
          <a:p>
            <a:pPr marL="742950" indent="-742950">
              <a:buAutoNum type="arabicPeriod" startAt="3"/>
            </a:pPr>
            <a:r>
              <a:rPr lang="en-US" sz="3600" b="1" dirty="0" smtClean="0"/>
              <a:t>B  Na</a:t>
            </a:r>
            <a:r>
              <a:rPr lang="zh-CN" altLang="en-US" sz="3600" b="1" dirty="0" smtClean="0"/>
              <a:t>具有还原性，</a:t>
            </a:r>
            <a:r>
              <a:rPr lang="en-US" altLang="zh-CN" sz="3600" b="1" dirty="0" smtClean="0"/>
              <a:t>Na</a:t>
            </a:r>
            <a:r>
              <a:rPr lang="en-US" altLang="zh-CN" sz="3600" b="1" baseline="30000" dirty="0" smtClean="0"/>
              <a:t>+</a:t>
            </a:r>
            <a:r>
              <a:rPr lang="zh-CN" altLang="en-US" sz="3600" b="1" dirty="0" smtClean="0"/>
              <a:t>具有氧化性</a:t>
            </a:r>
            <a:endParaRPr lang="en-US" altLang="zh-CN" sz="3600" b="1" dirty="0" smtClean="0"/>
          </a:p>
          <a:p>
            <a:pPr marL="742950" indent="-742950">
              <a:buAutoNum type="arabicPeriod" startAt="3"/>
            </a:pPr>
            <a:r>
              <a:rPr lang="en-US" altLang="zh-CN" sz="3600" b="1" dirty="0" smtClean="0"/>
              <a:t>D</a:t>
            </a:r>
          </a:p>
          <a:p>
            <a:pPr marL="742950" indent="-742950">
              <a:buAutoNum type="arabicPeriod" startAt="3"/>
            </a:pPr>
            <a:r>
              <a:rPr lang="en-US" altLang="zh-CN" sz="3600" b="1" dirty="0" smtClean="0"/>
              <a:t>C</a:t>
            </a:r>
            <a:endParaRPr lang="en-US" sz="36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89041"/>
            <a:ext cx="8229600" cy="5697559"/>
          </a:xfrm>
        </p:spPr>
        <p:txBody>
          <a:bodyPr>
            <a:normAutofit/>
          </a:bodyPr>
          <a:lstStyle/>
          <a:p>
            <a:pPr marL="742950" indent="-742950">
              <a:buAutoNum type="arabicPeriod" startAt="7"/>
            </a:pPr>
            <a:r>
              <a:rPr lang="en-US" sz="3600" b="1" dirty="0" smtClean="0">
                <a:latin typeface="楷体" pitchFamily="49" charset="-122"/>
                <a:ea typeface="楷体" pitchFamily="49" charset="-122"/>
              </a:rPr>
              <a:t>A</a:t>
            </a:r>
          </a:p>
          <a:p>
            <a:pPr marL="742950" indent="-742950">
              <a:buAutoNum type="arabicPeriod" startAt="7"/>
            </a:pPr>
            <a:r>
              <a:rPr lang="en-US" sz="3600" b="1" dirty="0" smtClean="0">
                <a:latin typeface="楷体" pitchFamily="49" charset="-122"/>
                <a:ea typeface="楷体" pitchFamily="49" charset="-122"/>
              </a:rPr>
              <a:t>C </a:t>
            </a:r>
            <a:r>
              <a:rPr lang="zh-CN" altLang="en-US" sz="3600" b="1" dirty="0" smtClean="0">
                <a:latin typeface="楷体" pitchFamily="49" charset="-122"/>
                <a:ea typeface="楷体" pitchFamily="49" charset="-122"/>
              </a:rPr>
              <a:t>自然界中无单质存在</a:t>
            </a:r>
            <a:endParaRPr lang="en-US" altLang="zh-CN" sz="3600" b="1" dirty="0" smtClean="0">
              <a:latin typeface="楷体" pitchFamily="49" charset="-122"/>
              <a:ea typeface="楷体" pitchFamily="49" charset="-122"/>
            </a:endParaRPr>
          </a:p>
          <a:p>
            <a:pPr marL="742950" indent="-742950">
              <a:buAutoNum type="arabicPeriod" startAt="7"/>
            </a:pPr>
            <a:r>
              <a:rPr lang="en-US" altLang="zh-CN" sz="3600" b="1" dirty="0" smtClean="0">
                <a:latin typeface="楷体" pitchFamily="49" charset="-122"/>
                <a:ea typeface="楷体" pitchFamily="49" charset="-122"/>
              </a:rPr>
              <a:t>D</a:t>
            </a:r>
          </a:p>
          <a:p>
            <a:pPr>
              <a:buNone/>
            </a:pPr>
            <a:r>
              <a:rPr lang="en-US" altLang="zh-CN" sz="3600" b="1" dirty="0" smtClean="0">
                <a:latin typeface="楷体" pitchFamily="49" charset="-122"/>
                <a:ea typeface="楷体" pitchFamily="49" charset="-122"/>
              </a:rPr>
              <a:t>10.B </a:t>
            </a:r>
            <a:r>
              <a:rPr lang="zh-CN" altLang="en-US" sz="3600" b="1" dirty="0" smtClean="0">
                <a:latin typeface="楷体" pitchFamily="49" charset="-122"/>
                <a:ea typeface="楷体" pitchFamily="49" charset="-122"/>
              </a:rPr>
              <a:t>在空气中燃烧生成</a:t>
            </a:r>
            <a:r>
              <a:rPr lang="zh-CN" altLang="en-US" sz="3600" b="1" u="sng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过氧化物</a:t>
            </a:r>
            <a:endParaRPr lang="en-US" altLang="zh-CN" sz="3600" b="1" u="sng" dirty="0" smtClean="0">
              <a:solidFill>
                <a:srgbClr val="002060"/>
              </a:solidFill>
              <a:latin typeface="楷体" pitchFamily="49" charset="-122"/>
              <a:ea typeface="楷体" pitchFamily="49" charset="-122"/>
            </a:endParaRPr>
          </a:p>
          <a:p>
            <a:pPr>
              <a:buNone/>
            </a:pPr>
            <a:endParaRPr lang="en-US" sz="3600" b="1" dirty="0" smtClean="0"/>
          </a:p>
          <a:p>
            <a:pPr marL="742950" indent="-742950">
              <a:buAutoNum type="arabicPeriod" startAt="7"/>
            </a:pPr>
            <a:endParaRPr lang="en-US" sz="36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zh-CN" altLang="en-US" b="1" dirty="0" smtClean="0">
                <a:latin typeface="楷体" pitchFamily="49" charset="-122"/>
                <a:ea typeface="楷体" pitchFamily="49" charset="-122"/>
              </a:rPr>
              <a:t>选</a:t>
            </a:r>
            <a:r>
              <a:rPr lang="zh-CN" altLang="en-US" b="1" dirty="0" smtClean="0">
                <a:latin typeface="楷体" pitchFamily="49" charset="-122"/>
                <a:ea typeface="楷体" pitchFamily="49" charset="-122"/>
              </a:rPr>
              <a:t>择题</a:t>
            </a:r>
            <a:endParaRPr lang="en-US" b="1" dirty="0"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楷体" pitchFamily="49" charset="-122"/>
                <a:ea typeface="楷体" pitchFamily="49" charset="-122"/>
              </a:rPr>
              <a:t>作</a:t>
            </a:r>
            <a:r>
              <a:rPr lang="zh-CN" altLang="en-US" b="1" dirty="0" smtClean="0">
                <a:latin typeface="楷体" pitchFamily="49" charset="-122"/>
                <a:ea typeface="楷体" pitchFamily="49" charset="-122"/>
              </a:rPr>
              <a:t>答题</a:t>
            </a:r>
            <a:endParaRPr lang="en-US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indent="-742950">
              <a:buAutoNum type="arabicPeriod"/>
            </a:pPr>
            <a:r>
              <a:rPr lang="zh-CN" altLang="en-US" sz="3600" b="1" dirty="0" smtClean="0">
                <a:latin typeface="楷体" pitchFamily="49" charset="-122"/>
                <a:ea typeface="楷体" pitchFamily="49" charset="-122"/>
              </a:rPr>
              <a:t>原子序数增大，电子层递增，原子核对价电子的吸引力减弱，易失电子，金属活动性增强。</a:t>
            </a:r>
            <a:endParaRPr lang="en-US" altLang="zh-CN" sz="3600" b="1" dirty="0" smtClean="0">
              <a:latin typeface="楷体" pitchFamily="49" charset="-122"/>
              <a:ea typeface="楷体" pitchFamily="49" charset="-122"/>
            </a:endParaRPr>
          </a:p>
          <a:p>
            <a:pPr marL="342900" lvl="1" indent="-342900">
              <a:buNone/>
            </a:pPr>
            <a:r>
              <a:rPr lang="en-US" altLang="zh-CN" sz="3600" b="1" dirty="0" smtClean="0">
                <a:latin typeface="楷体" pitchFamily="49" charset="-122"/>
                <a:ea typeface="楷体" pitchFamily="49" charset="-122"/>
              </a:rPr>
              <a:t>2. </a:t>
            </a:r>
            <a:r>
              <a:rPr lang="zh-CN" altLang="en-US" sz="3600" b="1" dirty="0" smtClean="0">
                <a:latin typeface="楷体" pitchFamily="49" charset="-122"/>
                <a:ea typeface="楷体" pitchFamily="49" charset="-122"/>
              </a:rPr>
              <a:t>最外层都只有一个电子，发生反应时易失去电子，具有强还原性。</a:t>
            </a:r>
            <a:endParaRPr lang="en-US" altLang="zh-CN" sz="3600" b="1" dirty="0" smtClean="0">
              <a:latin typeface="楷体" pitchFamily="49" charset="-122"/>
              <a:ea typeface="楷体" pitchFamily="49" charset="-122"/>
            </a:endParaRPr>
          </a:p>
          <a:p>
            <a:pPr marL="342900" lvl="1" indent="-342900">
              <a:buNone/>
            </a:pPr>
            <a:endParaRPr lang="en-US" altLang="zh-CN" sz="3600" b="1" dirty="0" smtClean="0">
              <a:latin typeface="楷体" pitchFamily="49" charset="-122"/>
              <a:ea typeface="楷体" pitchFamily="49" charset="-122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6641"/>
            <a:ext cx="8229600" cy="5697559"/>
          </a:xfrm>
        </p:spPr>
        <p:txBody>
          <a:bodyPr>
            <a:normAutofit/>
          </a:bodyPr>
          <a:lstStyle/>
          <a:p>
            <a:pPr marL="342900" lvl="1" indent="-342900">
              <a:buNone/>
            </a:pPr>
            <a:r>
              <a:rPr lang="en-US" altLang="zh-CN" sz="3600" b="1" dirty="0" smtClean="0">
                <a:latin typeface="楷体" pitchFamily="49" charset="-122"/>
                <a:ea typeface="楷体" pitchFamily="49" charset="-122"/>
              </a:rPr>
              <a:t>3(1) 212</a:t>
            </a:r>
          </a:p>
          <a:p>
            <a:pPr marL="342900" lvl="1" indent="-342900">
              <a:buNone/>
            </a:pPr>
            <a:r>
              <a:rPr lang="en-US" altLang="zh-CN" sz="3600" b="1" dirty="0" smtClean="0">
                <a:latin typeface="楷体" pitchFamily="49" charset="-122"/>
                <a:ea typeface="楷体" pitchFamily="49" charset="-122"/>
              </a:rPr>
              <a:t>		</a:t>
            </a:r>
            <a:r>
              <a:rPr lang="zh-CN" altLang="en-US" sz="3600" b="1" dirty="0" smtClean="0">
                <a:latin typeface="楷体" pitchFamily="49" charset="-122"/>
                <a:ea typeface="楷体" pitchFamily="49" charset="-122"/>
              </a:rPr>
              <a:t>氧化剂：</a:t>
            </a:r>
            <a:r>
              <a:rPr lang="en-US" altLang="zh-CN" sz="3600" b="1" dirty="0" smtClean="0">
                <a:latin typeface="楷体" pitchFamily="49" charset="-122"/>
                <a:ea typeface="楷体" pitchFamily="49" charset="-122"/>
              </a:rPr>
              <a:t>F</a:t>
            </a:r>
            <a:r>
              <a:rPr lang="en-US" altLang="zh-CN" sz="3600" b="1" baseline="-250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en-US" altLang="zh-CN" sz="3600" b="1" dirty="0" smtClean="0">
                <a:latin typeface="楷体" pitchFamily="49" charset="-122"/>
                <a:ea typeface="楷体" pitchFamily="49" charset="-122"/>
              </a:rPr>
              <a:t>  </a:t>
            </a:r>
            <a:r>
              <a:rPr lang="zh-CN" altLang="en-US" sz="3600" b="1" dirty="0" smtClean="0">
                <a:latin typeface="楷体" pitchFamily="49" charset="-122"/>
                <a:ea typeface="楷体" pitchFamily="49" charset="-122"/>
              </a:rPr>
              <a:t>还原剂： </a:t>
            </a:r>
            <a:r>
              <a:rPr lang="en-US" altLang="zh-CN" sz="3600" b="1" dirty="0" smtClean="0">
                <a:latin typeface="楷体" pitchFamily="49" charset="-122"/>
                <a:ea typeface="楷体" pitchFamily="49" charset="-122"/>
              </a:rPr>
              <a:t>Cs</a:t>
            </a:r>
          </a:p>
          <a:p>
            <a:pPr>
              <a:buNone/>
            </a:pPr>
            <a:r>
              <a:rPr lang="en-US" sz="3600" b="1" dirty="0" smtClean="0">
                <a:latin typeface="楷体" pitchFamily="49" charset="-122"/>
                <a:ea typeface="楷体" pitchFamily="49" charset="-122"/>
              </a:rPr>
              <a:t>	(2) 63513 </a:t>
            </a:r>
          </a:p>
          <a:p>
            <a:pPr>
              <a:buNone/>
            </a:pPr>
            <a:r>
              <a:rPr lang="en-US" sz="3600" b="1" dirty="0" smtClean="0">
                <a:latin typeface="楷体" pitchFamily="49" charset="-122"/>
                <a:ea typeface="楷体" pitchFamily="49" charset="-122"/>
              </a:rPr>
              <a:t>		</a:t>
            </a:r>
            <a:r>
              <a:rPr lang="zh-CN" altLang="en-US" sz="3600" b="1" dirty="0" smtClean="0">
                <a:latin typeface="楷体" pitchFamily="49" charset="-122"/>
                <a:ea typeface="楷体" pitchFamily="49" charset="-122"/>
              </a:rPr>
              <a:t>氧化剂：</a:t>
            </a:r>
            <a:r>
              <a:rPr lang="en-US" altLang="zh-CN" sz="3600" b="1" dirty="0" smtClean="0">
                <a:latin typeface="楷体" pitchFamily="49" charset="-122"/>
                <a:ea typeface="楷体" pitchFamily="49" charset="-122"/>
              </a:rPr>
              <a:t>Br</a:t>
            </a:r>
            <a:r>
              <a:rPr lang="en-US" altLang="zh-CN" sz="3600" b="1" baseline="-250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en-US" altLang="zh-CN" sz="3600" b="1" dirty="0" smtClean="0">
                <a:latin typeface="楷体" pitchFamily="49" charset="-122"/>
                <a:ea typeface="楷体" pitchFamily="49" charset="-122"/>
              </a:rPr>
              <a:t>  </a:t>
            </a:r>
            <a:r>
              <a:rPr lang="zh-CN" altLang="en-US" sz="3600" b="1" dirty="0" smtClean="0">
                <a:latin typeface="楷体" pitchFamily="49" charset="-122"/>
                <a:ea typeface="楷体" pitchFamily="49" charset="-122"/>
              </a:rPr>
              <a:t>还原剂： </a:t>
            </a:r>
            <a:r>
              <a:rPr lang="en-US" altLang="zh-CN" sz="3600" b="1" dirty="0" smtClean="0">
                <a:latin typeface="楷体" pitchFamily="49" charset="-122"/>
                <a:ea typeface="楷体" pitchFamily="49" charset="-122"/>
              </a:rPr>
              <a:t>Br</a:t>
            </a:r>
            <a:r>
              <a:rPr lang="en-US" altLang="zh-CN" sz="3600" b="1" baseline="-250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en-US" altLang="zh-CN" sz="3600" b="1" dirty="0" smtClean="0">
                <a:latin typeface="楷体" pitchFamily="49" charset="-122"/>
                <a:ea typeface="楷体" pitchFamily="49" charset="-122"/>
              </a:rPr>
              <a:t> </a:t>
            </a:r>
          </a:p>
          <a:p>
            <a:pPr>
              <a:buNone/>
            </a:pPr>
            <a:r>
              <a:rPr lang="en-US" sz="3600" b="1" dirty="0" smtClean="0">
                <a:latin typeface="楷体" pitchFamily="49" charset="-122"/>
                <a:ea typeface="楷体" pitchFamily="49" charset="-122"/>
              </a:rPr>
              <a:t>	(3) 1111</a:t>
            </a:r>
          </a:p>
          <a:p>
            <a:pPr>
              <a:buNone/>
            </a:pPr>
            <a:r>
              <a:rPr lang="en-US" sz="3600" b="1" dirty="0" smtClean="0">
                <a:latin typeface="楷体" pitchFamily="49" charset="-122"/>
                <a:ea typeface="楷体" pitchFamily="49" charset="-122"/>
              </a:rPr>
              <a:t>		</a:t>
            </a:r>
            <a:r>
              <a:rPr lang="zh-CN" altLang="en-US" sz="3600" b="1" dirty="0" smtClean="0">
                <a:latin typeface="楷体" pitchFamily="49" charset="-122"/>
                <a:ea typeface="楷体" pitchFamily="49" charset="-122"/>
              </a:rPr>
              <a:t>氧化剂：</a:t>
            </a:r>
            <a:r>
              <a:rPr lang="en-US" altLang="zh-CN" sz="3600" b="1" dirty="0" err="1" smtClean="0">
                <a:latin typeface="楷体" pitchFamily="49" charset="-122"/>
                <a:ea typeface="楷体" pitchFamily="49" charset="-122"/>
              </a:rPr>
              <a:t>HCl</a:t>
            </a:r>
            <a:r>
              <a:rPr lang="en-US" altLang="zh-CN" sz="3600" b="1" dirty="0" smtClean="0">
                <a:latin typeface="楷体" pitchFamily="49" charset="-122"/>
                <a:ea typeface="楷体" pitchFamily="49" charset="-122"/>
              </a:rPr>
              <a:t>  </a:t>
            </a:r>
            <a:r>
              <a:rPr lang="zh-CN" altLang="en-US" sz="3600" b="1" dirty="0" smtClean="0">
                <a:latin typeface="楷体" pitchFamily="49" charset="-122"/>
                <a:ea typeface="楷体" pitchFamily="49" charset="-122"/>
              </a:rPr>
              <a:t>还原剂： </a:t>
            </a:r>
            <a:r>
              <a:rPr lang="en-US" altLang="zh-CN" sz="3600" b="1" dirty="0" err="1" smtClean="0">
                <a:latin typeface="楷体" pitchFamily="49" charset="-122"/>
                <a:ea typeface="楷体" pitchFamily="49" charset="-122"/>
              </a:rPr>
              <a:t>NaH</a:t>
            </a:r>
            <a:r>
              <a:rPr lang="en-US" altLang="zh-CN" sz="3600" b="1" dirty="0" smtClean="0">
                <a:latin typeface="楷体" pitchFamily="49" charset="-122"/>
                <a:ea typeface="楷体" pitchFamily="49" charset="-122"/>
              </a:rPr>
              <a:t> </a:t>
            </a:r>
          </a:p>
          <a:p>
            <a:pPr>
              <a:buNone/>
            </a:pPr>
            <a:r>
              <a:rPr lang="en-US" sz="3600" b="1" dirty="0" smtClean="0">
                <a:latin typeface="楷体" pitchFamily="49" charset="-122"/>
                <a:ea typeface="楷体" pitchFamily="49" charset="-122"/>
              </a:rPr>
              <a:t>	(4) 12222</a:t>
            </a:r>
          </a:p>
          <a:p>
            <a:pPr>
              <a:buNone/>
            </a:pPr>
            <a:r>
              <a:rPr lang="en-US" altLang="zh-CN" sz="3600" b="1" dirty="0" smtClean="0">
                <a:latin typeface="楷体" pitchFamily="49" charset="-122"/>
                <a:ea typeface="楷体" pitchFamily="49" charset="-122"/>
              </a:rPr>
              <a:t>		</a:t>
            </a:r>
            <a:r>
              <a:rPr lang="zh-CN" altLang="en-US" sz="3600" b="1" dirty="0" smtClean="0">
                <a:latin typeface="楷体" pitchFamily="49" charset="-122"/>
                <a:ea typeface="楷体" pitchFamily="49" charset="-122"/>
              </a:rPr>
              <a:t>氧化剂：</a:t>
            </a:r>
            <a:r>
              <a:rPr lang="en-US" altLang="zh-CN" sz="3600" b="1" dirty="0" smtClean="0">
                <a:latin typeface="楷体" pitchFamily="49" charset="-122"/>
                <a:ea typeface="楷体" pitchFamily="49" charset="-122"/>
              </a:rPr>
              <a:t>Na</a:t>
            </a:r>
            <a:r>
              <a:rPr lang="en-US" altLang="zh-CN" sz="3600" b="1" baseline="-250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en-US" altLang="zh-CN" sz="3600" b="1" dirty="0" smtClean="0">
                <a:latin typeface="楷体" pitchFamily="49" charset="-122"/>
                <a:ea typeface="楷体" pitchFamily="49" charset="-122"/>
              </a:rPr>
              <a:t>O</a:t>
            </a:r>
            <a:r>
              <a:rPr lang="en-US" altLang="zh-CN" sz="3600" b="1" baseline="-250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en-US" altLang="zh-CN" sz="3600" b="1" dirty="0" smtClean="0">
                <a:latin typeface="楷体" pitchFamily="49" charset="-122"/>
                <a:ea typeface="楷体" pitchFamily="49" charset="-122"/>
              </a:rPr>
              <a:t>  </a:t>
            </a:r>
            <a:r>
              <a:rPr lang="zh-CN" altLang="en-US" sz="3600" b="1" dirty="0" smtClean="0">
                <a:latin typeface="楷体" pitchFamily="49" charset="-122"/>
                <a:ea typeface="楷体" pitchFamily="49" charset="-122"/>
              </a:rPr>
              <a:t>还原剂： </a:t>
            </a:r>
            <a:r>
              <a:rPr lang="en-US" altLang="zh-CN" sz="3600" b="1" dirty="0" smtClean="0">
                <a:latin typeface="楷体" pitchFamily="49" charset="-122"/>
                <a:ea typeface="楷体" pitchFamily="49" charset="-122"/>
              </a:rPr>
              <a:t>Fe(OH)</a:t>
            </a:r>
            <a:r>
              <a:rPr lang="en-US" altLang="zh-CN" sz="3600" b="1" baseline="-25000" dirty="0" smtClean="0">
                <a:latin typeface="楷体" pitchFamily="49" charset="-122"/>
                <a:ea typeface="楷体" pitchFamily="49" charset="-122"/>
              </a:rPr>
              <a:t>2</a:t>
            </a:r>
            <a:endParaRPr lang="en-US" sz="36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b="1" dirty="0" smtClean="0">
                <a:latin typeface="楷体" pitchFamily="49" charset="-122"/>
                <a:ea typeface="楷体" pitchFamily="49" charset="-122"/>
              </a:rPr>
              <a:t>作</a:t>
            </a:r>
            <a:r>
              <a:rPr lang="zh-CN" altLang="en-US" b="1" dirty="0" smtClean="0">
                <a:latin typeface="楷体" pitchFamily="49" charset="-122"/>
                <a:ea typeface="楷体" pitchFamily="49" charset="-122"/>
              </a:rPr>
              <a:t>答题</a:t>
            </a:r>
            <a:endParaRPr lang="en-US" b="1" dirty="0"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4488"/>
            <a:ext cx="8229600" cy="441167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b="1" dirty="0" smtClean="0">
                <a:latin typeface="楷体" pitchFamily="49" charset="-122"/>
                <a:ea typeface="楷体" pitchFamily="49" charset="-122"/>
              </a:rPr>
              <a:t>4. </a:t>
            </a:r>
            <a:r>
              <a:rPr lang="zh-CN" altLang="en-US" sz="3600" b="1" dirty="0" smtClean="0">
                <a:latin typeface="楷体" pitchFamily="49" charset="-122"/>
                <a:ea typeface="楷体" pitchFamily="49" charset="-122"/>
              </a:rPr>
              <a:t>不能，钠的密度比液体小会浮在水面</a:t>
            </a:r>
            <a:r>
              <a:rPr lang="en-US" altLang="zh-CN" sz="3600" b="1" dirty="0" smtClean="0">
                <a:latin typeface="楷体" pitchFamily="49" charset="-122"/>
                <a:ea typeface="楷体" pitchFamily="49" charset="-122"/>
              </a:rPr>
              <a:t>  </a:t>
            </a:r>
          </a:p>
          <a:p>
            <a:pPr>
              <a:buNone/>
            </a:pPr>
            <a:r>
              <a:rPr lang="en-US" altLang="zh-CN" sz="3600" b="1" dirty="0" smtClean="0">
                <a:latin typeface="楷体" pitchFamily="49" charset="-122"/>
                <a:ea typeface="楷体" pitchFamily="49" charset="-122"/>
              </a:rPr>
              <a:t>   </a:t>
            </a:r>
            <a:r>
              <a:rPr lang="zh-CN" altLang="en-US" sz="3600" b="1" dirty="0" smtClean="0">
                <a:latin typeface="楷体" pitchFamily="49" charset="-122"/>
                <a:ea typeface="楷体" pitchFamily="49" charset="-122"/>
              </a:rPr>
              <a:t>上，与空气中的氧气、二氧化碳和水</a:t>
            </a:r>
            <a:endParaRPr lang="en-US" altLang="zh-CN" sz="3600" b="1" dirty="0" smtClean="0">
              <a:latin typeface="楷体" pitchFamily="49" charset="-122"/>
              <a:ea typeface="楷体" pitchFamily="49" charset="-122"/>
            </a:endParaRPr>
          </a:p>
          <a:p>
            <a:pPr>
              <a:buNone/>
            </a:pPr>
            <a:r>
              <a:rPr lang="en-US" altLang="zh-CN" sz="3600" b="1" dirty="0" smtClean="0">
                <a:latin typeface="楷体" pitchFamily="49" charset="-122"/>
                <a:ea typeface="楷体" pitchFamily="49" charset="-122"/>
              </a:rPr>
              <a:t>   </a:t>
            </a:r>
            <a:r>
              <a:rPr lang="zh-CN" altLang="en-US" sz="3600" b="1" dirty="0" smtClean="0">
                <a:latin typeface="楷体" pitchFamily="49" charset="-122"/>
                <a:ea typeface="楷体" pitchFamily="49" charset="-122"/>
              </a:rPr>
              <a:t>发生反应而变质。</a:t>
            </a:r>
            <a:endParaRPr lang="en-US" altLang="zh-CN" sz="3600" b="1" dirty="0" smtClean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b="1" dirty="0" smtClean="0">
                <a:latin typeface="楷体" pitchFamily="49" charset="-122"/>
                <a:ea typeface="楷体" pitchFamily="49" charset="-122"/>
              </a:rPr>
              <a:t>作</a:t>
            </a:r>
            <a:r>
              <a:rPr lang="zh-CN" altLang="en-US" b="1" dirty="0" smtClean="0">
                <a:latin typeface="楷体" pitchFamily="49" charset="-122"/>
                <a:ea typeface="楷体" pitchFamily="49" charset="-122"/>
              </a:rPr>
              <a:t>答题</a:t>
            </a:r>
            <a:endParaRPr lang="en-US" b="1" dirty="0"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3803"/>
            <a:ext cx="8229600" cy="576899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400" b="1" dirty="0" smtClean="0">
                <a:latin typeface="楷体" pitchFamily="49" charset="-122"/>
                <a:ea typeface="楷体" pitchFamily="49" charset="-122"/>
              </a:rPr>
              <a:t>5(1) a</a:t>
            </a:r>
          </a:p>
          <a:p>
            <a:pPr>
              <a:buNone/>
            </a:pPr>
            <a:r>
              <a:rPr lang="en-US" sz="3400" b="1" dirty="0" smtClean="0">
                <a:latin typeface="楷体" pitchFamily="49" charset="-122"/>
                <a:ea typeface="楷体" pitchFamily="49" charset="-122"/>
              </a:rPr>
              <a:t>(2) </a:t>
            </a:r>
            <a:r>
              <a:rPr lang="zh-CN" altLang="en-US" sz="3400" b="1" dirty="0" smtClean="0">
                <a:latin typeface="楷体" pitchFamily="49" charset="-122"/>
                <a:ea typeface="楷体" pitchFamily="49" charset="-122"/>
              </a:rPr>
              <a:t>当钠跟水反应剧烈时，</a:t>
            </a:r>
            <a:r>
              <a:rPr lang="en-US" altLang="zh-CN" sz="3400" b="1" dirty="0" smtClean="0">
                <a:latin typeface="楷体" pitchFamily="49" charset="-122"/>
                <a:ea typeface="楷体" pitchFamily="49" charset="-122"/>
              </a:rPr>
              <a:t>H</a:t>
            </a:r>
            <a:r>
              <a:rPr lang="en-US" altLang="zh-CN" sz="3400" b="1" baseline="-250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3400" b="1" dirty="0" smtClean="0">
                <a:latin typeface="楷体" pitchFamily="49" charset="-122"/>
                <a:ea typeface="楷体" pitchFamily="49" charset="-122"/>
              </a:rPr>
              <a:t>气流将钠托入煤油层，反应停止。随着</a:t>
            </a:r>
            <a:r>
              <a:rPr lang="en-US" altLang="zh-CN" sz="3400" b="1" dirty="0" smtClean="0">
                <a:latin typeface="楷体" pitchFamily="49" charset="-122"/>
                <a:ea typeface="楷体" pitchFamily="49" charset="-122"/>
              </a:rPr>
              <a:t>H</a:t>
            </a:r>
            <a:r>
              <a:rPr lang="en-US" altLang="zh-CN" sz="3400" b="1" baseline="-250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3400" b="1" dirty="0" smtClean="0">
                <a:latin typeface="楷体" pitchFamily="49" charset="-122"/>
                <a:ea typeface="楷体" pitchFamily="49" charset="-122"/>
              </a:rPr>
              <a:t>气流减少，钠沉到煤油层和水层的界面，继续反应。</a:t>
            </a:r>
            <a:endParaRPr lang="en-US" altLang="zh-CN" sz="3400" b="1" dirty="0" smtClean="0">
              <a:latin typeface="楷体" pitchFamily="49" charset="-122"/>
              <a:ea typeface="楷体" pitchFamily="49" charset="-122"/>
            </a:endParaRPr>
          </a:p>
          <a:p>
            <a:pPr>
              <a:buNone/>
            </a:pPr>
            <a:r>
              <a:rPr lang="en-US" sz="3400" b="1" dirty="0" smtClean="0">
                <a:latin typeface="楷体" pitchFamily="49" charset="-122"/>
                <a:ea typeface="楷体" pitchFamily="49" charset="-122"/>
              </a:rPr>
              <a:t>(3) 2</a:t>
            </a:r>
            <a:r>
              <a:rPr lang="en-US" altLang="zh-CN" sz="3400" b="1" dirty="0" smtClean="0">
                <a:latin typeface="楷体" pitchFamily="49" charset="-122"/>
                <a:ea typeface="楷体" pitchFamily="49" charset="-122"/>
              </a:rPr>
              <a:t>Na(g)+2H</a:t>
            </a:r>
            <a:r>
              <a:rPr lang="en-US" altLang="zh-CN" sz="3400" b="1" baseline="-250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en-US" altLang="zh-CN" sz="3400" b="1" dirty="0" smtClean="0">
                <a:latin typeface="楷体" pitchFamily="49" charset="-122"/>
                <a:ea typeface="楷体" pitchFamily="49" charset="-122"/>
              </a:rPr>
              <a:t>O(l) </a:t>
            </a:r>
            <a:r>
              <a:rPr lang="en-US" altLang="zh-CN" sz="3400" b="1" dirty="0" smtClean="0">
                <a:latin typeface="楷体" pitchFamily="49" charset="-122"/>
                <a:ea typeface="楷体" pitchFamily="49" charset="-122"/>
                <a:sym typeface="Wingdings" pitchFamily="2" charset="2"/>
              </a:rPr>
              <a:t> </a:t>
            </a:r>
          </a:p>
          <a:p>
            <a:pPr>
              <a:buNone/>
            </a:pPr>
            <a:r>
              <a:rPr lang="en-US" altLang="zh-CN" sz="3400" b="1" dirty="0" smtClean="0">
                <a:latin typeface="楷体" pitchFamily="49" charset="-122"/>
                <a:ea typeface="楷体" pitchFamily="49" charset="-122"/>
                <a:sym typeface="Wingdings" pitchFamily="2" charset="2"/>
              </a:rPr>
              <a:t>			2Na</a:t>
            </a:r>
            <a:r>
              <a:rPr lang="en-US" altLang="zh-CN" sz="3400" b="1" baseline="30000" dirty="0" smtClean="0">
                <a:latin typeface="楷体" pitchFamily="49" charset="-122"/>
                <a:ea typeface="楷体" pitchFamily="49" charset="-122"/>
                <a:sym typeface="Wingdings" pitchFamily="2" charset="2"/>
              </a:rPr>
              <a:t>+</a:t>
            </a:r>
            <a:r>
              <a:rPr lang="en-US" altLang="zh-CN" sz="3400" b="1" dirty="0" smtClean="0">
                <a:latin typeface="楷体" pitchFamily="49" charset="-122"/>
                <a:ea typeface="楷体" pitchFamily="49" charset="-122"/>
                <a:sym typeface="Wingdings" pitchFamily="2" charset="2"/>
              </a:rPr>
              <a:t>(</a:t>
            </a:r>
            <a:r>
              <a:rPr lang="en-US" altLang="zh-CN" sz="3400" b="1" dirty="0" err="1" smtClean="0">
                <a:latin typeface="楷体" pitchFamily="49" charset="-122"/>
                <a:ea typeface="楷体" pitchFamily="49" charset="-122"/>
                <a:sym typeface="Wingdings" pitchFamily="2" charset="2"/>
              </a:rPr>
              <a:t>aq</a:t>
            </a:r>
            <a:r>
              <a:rPr lang="en-US" altLang="zh-CN" sz="3400" b="1" dirty="0" smtClean="0">
                <a:latin typeface="楷体" pitchFamily="49" charset="-122"/>
                <a:ea typeface="楷体" pitchFamily="49" charset="-122"/>
                <a:sym typeface="Wingdings" pitchFamily="2" charset="2"/>
              </a:rPr>
              <a:t>)+ 2OH</a:t>
            </a:r>
            <a:r>
              <a:rPr lang="en-US" altLang="zh-CN" sz="3400" b="1" baseline="30000" dirty="0" smtClean="0">
                <a:latin typeface="楷体" pitchFamily="49" charset="-122"/>
                <a:ea typeface="楷体" pitchFamily="49" charset="-122"/>
                <a:sym typeface="Wingdings" pitchFamily="2" charset="2"/>
              </a:rPr>
              <a:t>- </a:t>
            </a:r>
            <a:r>
              <a:rPr lang="en-US" altLang="zh-CN" sz="3400" b="1" dirty="0" smtClean="0">
                <a:latin typeface="楷体" pitchFamily="49" charset="-122"/>
                <a:ea typeface="楷体" pitchFamily="49" charset="-122"/>
                <a:sym typeface="Wingdings" pitchFamily="2" charset="2"/>
              </a:rPr>
              <a:t>(</a:t>
            </a:r>
            <a:r>
              <a:rPr lang="en-US" altLang="zh-CN" sz="3400" b="1" dirty="0" err="1" smtClean="0">
                <a:latin typeface="楷体" pitchFamily="49" charset="-122"/>
                <a:ea typeface="楷体" pitchFamily="49" charset="-122"/>
                <a:sym typeface="Wingdings" pitchFamily="2" charset="2"/>
              </a:rPr>
              <a:t>aq</a:t>
            </a:r>
            <a:r>
              <a:rPr lang="en-US" altLang="zh-CN" sz="3400" b="1" dirty="0" smtClean="0">
                <a:latin typeface="楷体" pitchFamily="49" charset="-122"/>
                <a:ea typeface="楷体" pitchFamily="49" charset="-122"/>
                <a:sym typeface="Wingdings" pitchFamily="2" charset="2"/>
              </a:rPr>
              <a:t>)+ H</a:t>
            </a:r>
            <a:r>
              <a:rPr lang="en-US" altLang="zh-CN" sz="3400" b="1" baseline="-25000" dirty="0" smtClean="0">
                <a:latin typeface="楷体" pitchFamily="49" charset="-122"/>
                <a:ea typeface="楷体" pitchFamily="49" charset="-122"/>
                <a:sym typeface="Wingdings" pitchFamily="2" charset="2"/>
              </a:rPr>
              <a:t>2</a:t>
            </a:r>
            <a:r>
              <a:rPr lang="en-US" altLang="zh-CN" sz="3400" b="1" dirty="0" smtClean="0">
                <a:latin typeface="楷体" pitchFamily="49" charset="-122"/>
                <a:ea typeface="楷体" pitchFamily="49" charset="-122"/>
                <a:sym typeface="Wingdings" pitchFamily="2" charset="2"/>
              </a:rPr>
              <a:t> (g)</a:t>
            </a:r>
          </a:p>
          <a:p>
            <a:pPr>
              <a:buNone/>
            </a:pPr>
            <a:r>
              <a:rPr lang="en-US" sz="3400" b="1" dirty="0" smtClean="0">
                <a:latin typeface="楷体" pitchFamily="49" charset="-122"/>
                <a:ea typeface="楷体" pitchFamily="49" charset="-122"/>
              </a:rPr>
              <a:t>(4)</a:t>
            </a:r>
            <a:r>
              <a:rPr lang="zh-CN" altLang="en-US" sz="3400" b="1" dirty="0" smtClean="0">
                <a:latin typeface="楷体" pitchFamily="49" charset="-122"/>
                <a:ea typeface="楷体" pitchFamily="49" charset="-122"/>
              </a:rPr>
              <a:t>防止水溢出</a:t>
            </a:r>
            <a:endParaRPr lang="en-US" altLang="zh-CN" sz="3400" b="1" dirty="0" smtClean="0">
              <a:latin typeface="楷体" pitchFamily="49" charset="-122"/>
              <a:ea typeface="楷体" pitchFamily="49" charset="-122"/>
            </a:endParaRPr>
          </a:p>
          <a:p>
            <a:pPr>
              <a:buNone/>
            </a:pPr>
            <a:r>
              <a:rPr lang="en-US" sz="3400" b="1" dirty="0" smtClean="0">
                <a:latin typeface="楷体" pitchFamily="49" charset="-122"/>
                <a:ea typeface="楷体" pitchFamily="49" charset="-122"/>
              </a:rPr>
              <a:t>(5)</a:t>
            </a:r>
            <a:r>
              <a:rPr lang="zh-CN" altLang="en-US" sz="3400" b="1" dirty="0" smtClean="0">
                <a:latin typeface="楷体" pitchFamily="49" charset="-122"/>
                <a:ea typeface="楷体" pitchFamily="49" charset="-122"/>
              </a:rPr>
              <a:t>安全；此反应在隔绝空气的条件下进行</a:t>
            </a:r>
            <a:endParaRPr lang="en-US" altLang="zh-CN" sz="3400" b="1" dirty="0" smtClean="0">
              <a:latin typeface="楷体" pitchFamily="49" charset="-122"/>
              <a:ea typeface="楷体" pitchFamily="49" charset="-122"/>
            </a:endParaRPr>
          </a:p>
          <a:p>
            <a:pPr>
              <a:buNone/>
            </a:pPr>
            <a:endParaRPr lang="en-US" sz="34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b="1" dirty="0" smtClean="0">
                <a:latin typeface="楷体" pitchFamily="49" charset="-122"/>
                <a:ea typeface="楷体" pitchFamily="49" charset="-122"/>
              </a:rPr>
              <a:t>作</a:t>
            </a:r>
            <a:r>
              <a:rPr lang="zh-CN" altLang="en-US" b="1" dirty="0" smtClean="0">
                <a:latin typeface="楷体" pitchFamily="49" charset="-122"/>
                <a:ea typeface="楷体" pitchFamily="49" charset="-122"/>
              </a:rPr>
              <a:t>答题</a:t>
            </a:r>
            <a:endParaRPr lang="en-US" b="1" dirty="0"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1532"/>
            <a:ext cx="8229600" cy="54578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400" b="1" dirty="0" smtClean="0">
                <a:latin typeface="楷体" pitchFamily="49" charset="-122"/>
                <a:ea typeface="楷体" pitchFamily="49" charset="-122"/>
              </a:rPr>
              <a:t>6.</a:t>
            </a:r>
            <a:r>
              <a:rPr lang="zh-CN" altLang="en-US" sz="3400" b="1" dirty="0" smtClean="0">
                <a:latin typeface="楷体" pitchFamily="49" charset="-122"/>
                <a:ea typeface="楷体" pitchFamily="49" charset="-122"/>
              </a:rPr>
              <a:t>将四种溶液分别进行焰色试验，火焰呈黄色的是</a:t>
            </a:r>
            <a:r>
              <a:rPr lang="en-US" altLang="zh-CN" sz="3400" b="1" dirty="0" err="1" smtClean="0">
                <a:latin typeface="楷体" pitchFamily="49" charset="-122"/>
                <a:ea typeface="楷体" pitchFamily="49" charset="-122"/>
              </a:rPr>
              <a:t>NaCl</a:t>
            </a:r>
            <a:r>
              <a:rPr lang="zh-CN" altLang="en-US" sz="3400" b="1" dirty="0" smtClean="0">
                <a:latin typeface="楷体" pitchFamily="49" charset="-122"/>
                <a:ea typeface="楷体" pitchFamily="49" charset="-122"/>
              </a:rPr>
              <a:t>和</a:t>
            </a:r>
            <a:r>
              <a:rPr lang="en-US" altLang="zh-CN" sz="3400" b="1" dirty="0" smtClean="0">
                <a:latin typeface="楷体" pitchFamily="49" charset="-122"/>
                <a:ea typeface="楷体" pitchFamily="49" charset="-122"/>
              </a:rPr>
              <a:t>Na</a:t>
            </a:r>
            <a:r>
              <a:rPr lang="en-US" altLang="zh-CN" sz="3400" b="1" baseline="-250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en-US" altLang="zh-CN" sz="3400" b="1" dirty="0" smtClean="0">
                <a:latin typeface="楷体" pitchFamily="49" charset="-122"/>
                <a:ea typeface="楷体" pitchFamily="49" charset="-122"/>
              </a:rPr>
              <a:t>CO</a:t>
            </a:r>
            <a:r>
              <a:rPr lang="en-US" altLang="zh-CN" sz="3400" b="1" baseline="-25000" dirty="0" smtClean="0"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sz="3400" b="1" dirty="0" smtClean="0">
                <a:latin typeface="楷体" pitchFamily="49" charset="-122"/>
                <a:ea typeface="楷体" pitchFamily="49" charset="-122"/>
              </a:rPr>
              <a:t>，火焰呈淡紫色的是</a:t>
            </a:r>
            <a:r>
              <a:rPr lang="en-US" altLang="zh-CN" sz="3400" b="1" dirty="0" err="1" smtClean="0">
                <a:latin typeface="楷体" pitchFamily="49" charset="-122"/>
                <a:ea typeface="楷体" pitchFamily="49" charset="-122"/>
              </a:rPr>
              <a:t>KCl</a:t>
            </a:r>
            <a:r>
              <a:rPr lang="zh-CN" altLang="en-US" sz="3400" b="1" dirty="0" smtClean="0">
                <a:latin typeface="楷体" pitchFamily="49" charset="-122"/>
                <a:ea typeface="楷体" pitchFamily="49" charset="-122"/>
              </a:rPr>
              <a:t>和</a:t>
            </a:r>
            <a:r>
              <a:rPr lang="en-US" altLang="zh-CN" sz="3400" b="1" dirty="0" smtClean="0">
                <a:latin typeface="楷体" pitchFamily="49" charset="-122"/>
                <a:ea typeface="楷体" pitchFamily="49" charset="-122"/>
              </a:rPr>
              <a:t>K</a:t>
            </a:r>
            <a:r>
              <a:rPr lang="en-US" altLang="zh-CN" sz="3400" b="1" baseline="-250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en-US" altLang="zh-CN" sz="3400" b="1" dirty="0" smtClean="0">
                <a:latin typeface="楷体" pitchFamily="49" charset="-122"/>
                <a:ea typeface="楷体" pitchFamily="49" charset="-122"/>
              </a:rPr>
              <a:t>CO</a:t>
            </a:r>
            <a:r>
              <a:rPr lang="en-US" altLang="zh-CN" sz="3400" b="1" baseline="-25000" dirty="0" smtClean="0"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sz="3400" b="1" dirty="0" smtClean="0">
                <a:latin typeface="楷体" pitchFamily="49" charset="-122"/>
                <a:ea typeface="楷体" pitchFamily="49" charset="-122"/>
              </a:rPr>
              <a:t>。</a:t>
            </a:r>
            <a:endParaRPr lang="en-US" altLang="zh-CN" sz="3400" b="1" dirty="0" smtClean="0">
              <a:latin typeface="楷体" pitchFamily="49" charset="-122"/>
              <a:ea typeface="楷体" pitchFamily="49" charset="-122"/>
            </a:endParaRPr>
          </a:p>
          <a:p>
            <a:pPr>
              <a:buNone/>
            </a:pPr>
            <a:r>
              <a:rPr lang="en-US" altLang="zh-CN" sz="3400" b="1" dirty="0" smtClean="0">
                <a:latin typeface="楷体" pitchFamily="49" charset="-122"/>
                <a:ea typeface="楷体" pitchFamily="49" charset="-122"/>
              </a:rPr>
              <a:t>	</a:t>
            </a:r>
            <a:r>
              <a:rPr lang="zh-CN" altLang="en-US" sz="3400" b="1" dirty="0" smtClean="0">
                <a:latin typeface="楷体" pitchFamily="49" charset="-122"/>
                <a:ea typeface="楷体" pitchFamily="49" charset="-122"/>
              </a:rPr>
              <a:t>在钠盐溶液中分别滴入稀盐酸，有气体产生的是</a:t>
            </a:r>
            <a:r>
              <a:rPr lang="en-US" altLang="zh-CN" sz="3400" b="1" dirty="0" smtClean="0">
                <a:latin typeface="楷体" pitchFamily="49" charset="-122"/>
                <a:ea typeface="楷体" pitchFamily="49" charset="-122"/>
              </a:rPr>
              <a:t>Na</a:t>
            </a:r>
            <a:r>
              <a:rPr lang="en-US" altLang="zh-CN" sz="3400" b="1" baseline="-250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en-US" altLang="zh-CN" sz="3400" b="1" dirty="0" smtClean="0">
                <a:latin typeface="楷体" pitchFamily="49" charset="-122"/>
                <a:ea typeface="楷体" pitchFamily="49" charset="-122"/>
              </a:rPr>
              <a:t>CO</a:t>
            </a:r>
            <a:r>
              <a:rPr lang="en-US" altLang="zh-CN" sz="3400" b="1" baseline="-25000" dirty="0" smtClean="0"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sz="3400" b="1" dirty="0" smtClean="0">
                <a:latin typeface="楷体" pitchFamily="49" charset="-122"/>
                <a:ea typeface="楷体" pitchFamily="49" charset="-122"/>
              </a:rPr>
              <a:t>，无明显现象的是</a:t>
            </a:r>
            <a:r>
              <a:rPr lang="en-US" altLang="zh-CN" sz="3400" b="1" dirty="0" err="1" smtClean="0">
                <a:latin typeface="楷体" pitchFamily="49" charset="-122"/>
                <a:ea typeface="楷体" pitchFamily="49" charset="-122"/>
              </a:rPr>
              <a:t>NaCl</a:t>
            </a:r>
            <a:r>
              <a:rPr lang="zh-CN" altLang="en-US" sz="3400" b="1" dirty="0" smtClean="0">
                <a:latin typeface="楷体" pitchFamily="49" charset="-122"/>
                <a:ea typeface="楷体" pitchFamily="49" charset="-122"/>
              </a:rPr>
              <a:t>。</a:t>
            </a:r>
            <a:endParaRPr lang="en-US" altLang="zh-CN" sz="3400" b="1" dirty="0" smtClean="0">
              <a:latin typeface="楷体" pitchFamily="49" charset="-122"/>
              <a:ea typeface="楷体" pitchFamily="49" charset="-122"/>
            </a:endParaRPr>
          </a:p>
          <a:p>
            <a:pPr>
              <a:buNone/>
            </a:pPr>
            <a:r>
              <a:rPr lang="en-US" altLang="zh-CN" sz="3400" b="1" dirty="0" smtClean="0">
                <a:latin typeface="楷体" pitchFamily="49" charset="-122"/>
                <a:ea typeface="楷体" pitchFamily="49" charset="-122"/>
                <a:sym typeface="Wingdings" pitchFamily="2" charset="2"/>
              </a:rPr>
              <a:t>	</a:t>
            </a:r>
            <a:r>
              <a:rPr lang="en-US" altLang="zh-CN" sz="3400" b="1" dirty="0" smtClean="0">
                <a:sym typeface="Wingdings" pitchFamily="2" charset="2"/>
              </a:rPr>
              <a:t>Na</a:t>
            </a:r>
            <a:r>
              <a:rPr lang="en-US" altLang="zh-CN" sz="3400" b="1" baseline="-25000" dirty="0" smtClean="0">
                <a:sym typeface="Wingdings" pitchFamily="2" charset="2"/>
              </a:rPr>
              <a:t>2</a:t>
            </a:r>
            <a:r>
              <a:rPr lang="en-US" altLang="zh-CN" sz="3400" b="1" dirty="0" smtClean="0">
                <a:sym typeface="Wingdings" pitchFamily="2" charset="2"/>
              </a:rPr>
              <a:t>CO</a:t>
            </a:r>
            <a:r>
              <a:rPr lang="en-US" altLang="zh-CN" sz="3400" b="1" baseline="-25000" dirty="0" smtClean="0">
                <a:sym typeface="Wingdings" pitchFamily="2" charset="2"/>
              </a:rPr>
              <a:t>3</a:t>
            </a:r>
            <a:r>
              <a:rPr lang="en-US" altLang="zh-CN" sz="3400" b="1" dirty="0" smtClean="0">
                <a:sym typeface="Wingdings" pitchFamily="2" charset="2"/>
              </a:rPr>
              <a:t> + 2HCl  2NaCl + H</a:t>
            </a:r>
            <a:r>
              <a:rPr lang="en-US" altLang="zh-CN" sz="3400" b="1" baseline="-25000" dirty="0" smtClean="0">
                <a:sym typeface="Wingdings" pitchFamily="2" charset="2"/>
              </a:rPr>
              <a:t>2</a:t>
            </a:r>
            <a:r>
              <a:rPr lang="en-US" altLang="zh-CN" sz="3400" b="1" dirty="0" smtClean="0">
                <a:sym typeface="Wingdings" pitchFamily="2" charset="2"/>
              </a:rPr>
              <a:t>O + CO</a:t>
            </a:r>
            <a:r>
              <a:rPr lang="en-US" altLang="zh-CN" sz="3400" b="1" baseline="-25000" dirty="0" smtClean="0">
                <a:sym typeface="Wingdings" pitchFamily="2" charset="2"/>
              </a:rPr>
              <a:t>2</a:t>
            </a:r>
            <a:endParaRPr lang="en-US" altLang="zh-CN" sz="3400" b="1" dirty="0" smtClean="0">
              <a:latin typeface="楷体" pitchFamily="49" charset="-122"/>
              <a:ea typeface="楷体" pitchFamily="49" charset="-122"/>
            </a:endParaRPr>
          </a:p>
          <a:p>
            <a:pPr>
              <a:buNone/>
            </a:pPr>
            <a:r>
              <a:rPr lang="en-US" altLang="zh-CN" sz="3400" b="1" dirty="0" smtClean="0">
                <a:latin typeface="楷体" pitchFamily="49" charset="-122"/>
                <a:ea typeface="楷体" pitchFamily="49" charset="-122"/>
              </a:rPr>
              <a:t>	</a:t>
            </a:r>
            <a:r>
              <a:rPr lang="zh-CN" altLang="en-US" sz="3400" b="1" dirty="0" smtClean="0">
                <a:latin typeface="楷体" pitchFamily="49" charset="-122"/>
                <a:ea typeface="楷体" pitchFamily="49" charset="-122"/>
              </a:rPr>
              <a:t>在钾盐溶液中分别滴入稀盐酸，有气体产生的是</a:t>
            </a:r>
            <a:r>
              <a:rPr lang="en-US" altLang="zh-CN" sz="3400" b="1" dirty="0" smtClean="0">
                <a:latin typeface="楷体" pitchFamily="49" charset="-122"/>
                <a:ea typeface="楷体" pitchFamily="49" charset="-122"/>
              </a:rPr>
              <a:t>K</a:t>
            </a:r>
            <a:r>
              <a:rPr lang="en-US" altLang="zh-CN" sz="3400" b="1" baseline="-250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en-US" altLang="zh-CN" sz="3400" b="1" dirty="0" smtClean="0">
                <a:latin typeface="楷体" pitchFamily="49" charset="-122"/>
                <a:ea typeface="楷体" pitchFamily="49" charset="-122"/>
              </a:rPr>
              <a:t>CO</a:t>
            </a:r>
            <a:r>
              <a:rPr lang="en-US" altLang="zh-CN" sz="3400" b="1" baseline="-25000" dirty="0" smtClean="0"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sz="3400" b="1" dirty="0" smtClean="0">
                <a:latin typeface="楷体" pitchFamily="49" charset="-122"/>
                <a:ea typeface="楷体" pitchFamily="49" charset="-122"/>
              </a:rPr>
              <a:t>，无明显现象的是</a:t>
            </a:r>
            <a:r>
              <a:rPr lang="en-US" altLang="zh-CN" sz="3400" b="1" dirty="0" err="1" smtClean="0">
                <a:latin typeface="楷体" pitchFamily="49" charset="-122"/>
                <a:ea typeface="楷体" pitchFamily="49" charset="-122"/>
              </a:rPr>
              <a:t>KCl</a:t>
            </a:r>
            <a:r>
              <a:rPr lang="zh-CN" altLang="en-US" sz="3400" b="1" dirty="0" smtClean="0">
                <a:latin typeface="楷体" pitchFamily="49" charset="-122"/>
                <a:ea typeface="楷体" pitchFamily="49" charset="-122"/>
              </a:rPr>
              <a:t>。</a:t>
            </a:r>
            <a:endParaRPr lang="en-US" altLang="zh-CN" sz="3400" b="1" dirty="0" smtClean="0">
              <a:sym typeface="Wingdings" pitchFamily="2" charset="2"/>
            </a:endParaRPr>
          </a:p>
          <a:p>
            <a:pPr>
              <a:buNone/>
            </a:pPr>
            <a:r>
              <a:rPr lang="en-US" altLang="zh-CN" sz="3400" b="1" dirty="0" smtClean="0">
                <a:sym typeface="Wingdings" pitchFamily="2" charset="2"/>
              </a:rPr>
              <a:t>	K</a:t>
            </a:r>
            <a:r>
              <a:rPr lang="en-US" altLang="zh-CN" sz="3400" b="1" baseline="-25000" dirty="0" smtClean="0">
                <a:sym typeface="Wingdings" pitchFamily="2" charset="2"/>
              </a:rPr>
              <a:t>2</a:t>
            </a:r>
            <a:r>
              <a:rPr lang="en-US" altLang="zh-CN" sz="3400" b="1" dirty="0" smtClean="0">
                <a:sym typeface="Wingdings" pitchFamily="2" charset="2"/>
              </a:rPr>
              <a:t>CO</a:t>
            </a:r>
            <a:r>
              <a:rPr lang="en-US" altLang="zh-CN" sz="3400" b="1" baseline="-25000" dirty="0" smtClean="0">
                <a:sym typeface="Wingdings" pitchFamily="2" charset="2"/>
              </a:rPr>
              <a:t>3</a:t>
            </a:r>
            <a:r>
              <a:rPr lang="en-US" altLang="zh-CN" sz="3400" b="1" dirty="0" smtClean="0">
                <a:sym typeface="Wingdings" pitchFamily="2" charset="2"/>
              </a:rPr>
              <a:t> + 2HCl  2KCl + H</a:t>
            </a:r>
            <a:r>
              <a:rPr lang="en-US" altLang="zh-CN" sz="3400" b="1" baseline="-25000" dirty="0" smtClean="0">
                <a:sym typeface="Wingdings" pitchFamily="2" charset="2"/>
              </a:rPr>
              <a:t>2</a:t>
            </a:r>
            <a:r>
              <a:rPr lang="en-US" altLang="zh-CN" sz="3400" b="1" dirty="0" smtClean="0">
                <a:sym typeface="Wingdings" pitchFamily="2" charset="2"/>
              </a:rPr>
              <a:t>O + </a:t>
            </a:r>
            <a:r>
              <a:rPr lang="en-US" altLang="zh-CN" sz="3400" b="1" dirty="0" smtClean="0">
                <a:sym typeface="Wingdings" pitchFamily="2" charset="2"/>
              </a:rPr>
              <a:t>CO</a:t>
            </a:r>
            <a:r>
              <a:rPr lang="en-US" altLang="zh-CN" sz="3400" b="1" baseline="-25000" dirty="0" smtClean="0">
                <a:sym typeface="Wingdings" pitchFamily="2" charset="2"/>
              </a:rPr>
              <a:t>2</a:t>
            </a:r>
            <a:endParaRPr lang="en-US" altLang="zh-CN" sz="3400" b="1" baseline="-25000" dirty="0" smtClean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b="1" dirty="0" smtClean="0">
                <a:latin typeface="楷体" pitchFamily="49" charset="-122"/>
                <a:ea typeface="楷体" pitchFamily="49" charset="-122"/>
              </a:rPr>
              <a:t>作</a:t>
            </a:r>
            <a:r>
              <a:rPr lang="zh-CN" altLang="en-US" b="1" dirty="0" smtClean="0">
                <a:latin typeface="楷体" pitchFamily="49" charset="-122"/>
                <a:ea typeface="楷体" pitchFamily="49" charset="-122"/>
              </a:rPr>
              <a:t>答题</a:t>
            </a:r>
            <a:endParaRPr lang="en-US" b="1" dirty="0"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1016</TotalTime>
  <Words>1515</Words>
  <Application>Microsoft Office PowerPoint</Application>
  <PresentationFormat>On-screen Show (4:3)</PresentationFormat>
  <Paragraphs>267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第9章 IA族元素 钠和钾</vt:lpstr>
      <vt:lpstr>9.1 钠和钾的性质</vt:lpstr>
      <vt:lpstr>Slide 3</vt:lpstr>
      <vt:lpstr>Slide 4</vt:lpstr>
      <vt:lpstr>Slide 5</vt:lpstr>
      <vt:lpstr>Slide 6</vt:lpstr>
      <vt:lpstr>Slide 7</vt:lpstr>
      <vt:lpstr>观察思考</vt:lpstr>
      <vt:lpstr>观察思考（表9-1）</vt:lpstr>
      <vt:lpstr>问题解决</vt:lpstr>
      <vt:lpstr>9.1.1 钠和钾的物理性质</vt:lpstr>
      <vt:lpstr>9.1.2 钠和钾的化学性质</vt:lpstr>
      <vt:lpstr>9.1.2 钠和钾的化学性质</vt:lpstr>
      <vt:lpstr>9.1.2 钠和钾的化学性质</vt:lpstr>
      <vt:lpstr>9.1.2 钠和钾的化学性质</vt:lpstr>
      <vt:lpstr>9.1.2 钠和钾的化学性质</vt:lpstr>
      <vt:lpstr>9.1.2 钠和钾的化学性质</vt:lpstr>
      <vt:lpstr>思考题9a</vt:lpstr>
      <vt:lpstr>9.2焰色试验</vt:lpstr>
      <vt:lpstr>9.2焰色试验</vt:lpstr>
      <vt:lpstr>思考题9a</vt:lpstr>
      <vt:lpstr>9.3 钠和钾的重要化合物</vt:lpstr>
      <vt:lpstr>9.3 钠和钾的重要化合物</vt:lpstr>
      <vt:lpstr>Slide 24</vt:lpstr>
      <vt:lpstr>9.3 钠和钾的重要化合物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思考题9c</vt:lpstr>
      <vt:lpstr>选择题</vt:lpstr>
      <vt:lpstr>选择题</vt:lpstr>
      <vt:lpstr>作答题</vt:lpstr>
      <vt:lpstr>作答题</vt:lpstr>
      <vt:lpstr>作答题</vt:lpstr>
      <vt:lpstr>作答题</vt:lpstr>
      <vt:lpstr>作答题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User56</dc:creator>
  <cp:lastModifiedBy>user</cp:lastModifiedBy>
  <cp:revision>101</cp:revision>
  <dcterms:created xsi:type="dcterms:W3CDTF">2016-03-18T09:11:34Z</dcterms:created>
  <dcterms:modified xsi:type="dcterms:W3CDTF">2007-04-25T16:49:07Z</dcterms:modified>
</cp:coreProperties>
</file>