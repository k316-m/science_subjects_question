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68" r:id="rId2"/>
    <p:sldId id="269" r:id="rId3"/>
    <p:sldId id="270" r:id="rId4"/>
    <p:sldId id="271" r:id="rId5"/>
    <p:sldId id="322" r:id="rId6"/>
    <p:sldId id="272" r:id="rId7"/>
    <p:sldId id="273" r:id="rId8"/>
    <p:sldId id="274" r:id="rId9"/>
    <p:sldId id="276" r:id="rId10"/>
    <p:sldId id="280" r:id="rId11"/>
    <p:sldId id="281" r:id="rId12"/>
    <p:sldId id="283" r:id="rId13"/>
    <p:sldId id="285" r:id="rId14"/>
    <p:sldId id="286" r:id="rId15"/>
    <p:sldId id="282" r:id="rId16"/>
    <p:sldId id="289" r:id="rId17"/>
    <p:sldId id="258" r:id="rId18"/>
    <p:sldId id="267" r:id="rId19"/>
    <p:sldId id="290" r:id="rId20"/>
    <p:sldId id="259" r:id="rId21"/>
    <p:sldId id="291" r:id="rId22"/>
    <p:sldId id="263" r:id="rId23"/>
    <p:sldId id="292" r:id="rId24"/>
    <p:sldId id="265" r:id="rId25"/>
    <p:sldId id="266" r:id="rId26"/>
    <p:sldId id="264" r:id="rId27"/>
    <p:sldId id="287" r:id="rId28"/>
    <p:sldId id="293" r:id="rId29"/>
    <p:sldId id="294" r:id="rId30"/>
    <p:sldId id="295" r:id="rId31"/>
    <p:sldId id="297" r:id="rId32"/>
    <p:sldId id="296" r:id="rId33"/>
    <p:sldId id="299" r:id="rId34"/>
    <p:sldId id="300" r:id="rId35"/>
    <p:sldId id="309" r:id="rId36"/>
    <p:sldId id="310" r:id="rId37"/>
    <p:sldId id="302" r:id="rId38"/>
    <p:sldId id="311" r:id="rId39"/>
    <p:sldId id="303" r:id="rId40"/>
    <p:sldId id="304" r:id="rId41"/>
    <p:sldId id="305" r:id="rId42"/>
    <p:sldId id="313" r:id="rId43"/>
    <p:sldId id="306" r:id="rId44"/>
    <p:sldId id="307" r:id="rId45"/>
    <p:sldId id="314" r:id="rId46"/>
    <p:sldId id="317" r:id="rId47"/>
    <p:sldId id="308" r:id="rId48"/>
    <p:sldId id="315" r:id="rId49"/>
    <p:sldId id="316" r:id="rId50"/>
    <p:sldId id="323" r:id="rId51"/>
    <p:sldId id="319" r:id="rId52"/>
    <p:sldId id="320" r:id="rId53"/>
    <p:sldId id="321"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F6D6688-5DD1-44BC-B31A-EC1609157C8F}" type="datetimeFigureOut">
              <a:rPr lang="en-US" smtClean="0"/>
              <a:pPr/>
              <a:t>10/6/2019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6D6688-5DD1-44BC-B31A-EC1609157C8F}" type="datetimeFigureOut">
              <a:rPr lang="en-US" smtClean="0"/>
              <a:pPr/>
              <a:t>10/6/2019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6D6688-5DD1-44BC-B31A-EC1609157C8F}" type="datetimeFigureOut">
              <a:rPr lang="en-US" smtClean="0"/>
              <a:pPr/>
              <a:t>10/6/2019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F6D6688-5DD1-44BC-B31A-EC1609157C8F}" type="datetimeFigureOut">
              <a:rPr lang="en-US" smtClean="0"/>
              <a:pPr/>
              <a:t>10/6/2019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F6D6688-5DD1-44BC-B31A-EC1609157C8F}" type="datetimeFigureOut">
              <a:rPr lang="en-US" smtClean="0"/>
              <a:pPr/>
              <a:t>10/6/2019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F6D6688-5DD1-44BC-B31A-EC1609157C8F}" type="datetimeFigureOut">
              <a:rPr lang="en-US" smtClean="0"/>
              <a:pPr/>
              <a:t>10/6/2019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D6688-5DD1-44BC-B31A-EC1609157C8F}" type="datetimeFigureOut">
              <a:rPr lang="en-US" smtClean="0"/>
              <a:pPr/>
              <a:t>10/6/2019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10/6/2019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10/6/2019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6D6688-5DD1-44BC-B31A-EC1609157C8F}" type="datetimeFigureOut">
              <a:rPr lang="en-US" smtClean="0"/>
              <a:pPr/>
              <a:t>10/6/2019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6D6688-5DD1-44BC-B31A-EC1609157C8F}" type="datetimeFigureOut">
              <a:rPr lang="en-US" smtClean="0"/>
              <a:pPr/>
              <a:t>10/6/2019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6D6688-5DD1-44BC-B31A-EC1609157C8F}" type="datetimeFigureOut">
              <a:rPr lang="en-US" smtClean="0"/>
              <a:pPr/>
              <a:t>10/6/2019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60CB-55F0-4242-8A56-5BB902E408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jpeg"/><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ctrTitle"/>
          </p:nvPr>
        </p:nvSpPr>
        <p:spPr>
          <a:xfrm>
            <a:off x="838200" y="1752600"/>
            <a:ext cx="7772400" cy="2362200"/>
          </a:xfrm>
        </p:spPr>
        <p:txBody>
          <a:bodyPr>
            <a:noAutofit/>
          </a:bodyPr>
          <a:lstStyle/>
          <a:p>
            <a:r>
              <a:rPr lang="zh-CN" alt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第</a:t>
            </a:r>
            <a:r>
              <a:rPr lang="en-US" altLang="zh-CN"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a:t>
            </a:r>
            <a:r>
              <a:rPr lang="zh-CN" alt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章 </a:t>
            </a:r>
            <a:r>
              <a:rPr lang="en-US" altLang="zh-CN"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r>
            <a:br>
              <a:rPr lang="en-US" altLang="zh-CN"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zh-CN" alt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化学平衡的移动</a:t>
            </a:r>
            <a:endParaRPr lang="en-US"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Subtitle 2"/>
          <p:cNvSpPr>
            <a:spLocks noGrp="1"/>
          </p:cNvSpPr>
          <p:nvPr>
            <p:ph type="subTitle" idx="1"/>
          </p:nvPr>
        </p:nvSpPr>
        <p:spPr/>
        <p:txBody>
          <a:bodyPr/>
          <a:lstStyle/>
          <a:p>
            <a:r>
              <a:rPr lang="zh-CN" altLang="en-US" dirty="0" smtClean="0"/>
              <a:t>逆、等、动、定、变</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前言</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Font typeface="Wingdings" pitchFamily="2" charset="2"/>
              <a:buChar char="Ø"/>
            </a:pPr>
            <a:r>
              <a:rPr lang="zh-CN" altLang="en-US" dirty="0" smtClean="0"/>
              <a:t>化学研究和化工生产需考虑两大因素：</a:t>
            </a:r>
            <a:endParaRPr lang="en-US" altLang="zh-CN" dirty="0" smtClean="0"/>
          </a:p>
          <a:p>
            <a:pPr lvl="1">
              <a:lnSpc>
                <a:spcPct val="150000"/>
              </a:lnSpc>
              <a:spcBef>
                <a:spcPts val="300"/>
              </a:spcBef>
              <a:buFont typeface="Wingdings" pitchFamily="2" charset="2"/>
              <a:buChar char="Ø"/>
            </a:pPr>
            <a:r>
              <a:rPr lang="zh-CN" altLang="en-US" sz="3200" dirty="0" smtClean="0"/>
              <a:t>化学反应速率</a:t>
            </a:r>
            <a:endParaRPr lang="en-US" altLang="zh-CN" sz="3200" dirty="0" smtClean="0"/>
          </a:p>
          <a:p>
            <a:pPr lvl="1">
              <a:lnSpc>
                <a:spcPct val="150000"/>
              </a:lnSpc>
              <a:spcBef>
                <a:spcPts val="300"/>
              </a:spcBef>
              <a:buFont typeface="Wingdings" pitchFamily="2" charset="2"/>
              <a:buChar char="Ø"/>
            </a:pPr>
            <a:r>
              <a:rPr lang="zh-CN" altLang="en-US" sz="3200" dirty="0" smtClean="0"/>
              <a:t>化学反应进行的程度</a:t>
            </a:r>
            <a:r>
              <a:rPr lang="en-US" altLang="zh-CN" sz="3200" dirty="0" smtClean="0"/>
              <a:t>(</a:t>
            </a:r>
            <a:r>
              <a:rPr lang="zh-CN" altLang="en-US" sz="3200" dirty="0" smtClean="0"/>
              <a:t>化学平衡问题</a:t>
            </a:r>
            <a:r>
              <a:rPr lang="en-US" altLang="zh-CN" sz="3200" dirty="0" smtClean="0"/>
              <a:t>)</a:t>
            </a:r>
          </a:p>
          <a:p>
            <a:pPr>
              <a:lnSpc>
                <a:spcPct val="150000"/>
              </a:lnSpc>
              <a:spcBef>
                <a:spcPts val="300"/>
              </a:spcBef>
              <a:buFont typeface="Wingdings" pitchFamily="2" charset="2"/>
              <a:buChar char="Ø"/>
            </a:pPr>
            <a:r>
              <a:rPr lang="zh-CN" altLang="en-US" dirty="0" smtClean="0"/>
              <a:t>化学平衡主要研究</a:t>
            </a:r>
            <a:r>
              <a:rPr lang="zh-CN" altLang="en-US" b="1" dirty="0" smtClean="0">
                <a:solidFill>
                  <a:srgbClr val="002060"/>
                </a:solidFill>
                <a:effectLst>
                  <a:outerShdw blurRad="38100" dist="38100" dir="2700000" algn="tl">
                    <a:srgbClr val="000000">
                      <a:alpha val="43137"/>
                    </a:srgbClr>
                  </a:outerShdw>
                </a:effectLst>
              </a:rPr>
              <a:t>可逆反应</a:t>
            </a:r>
            <a:r>
              <a:rPr lang="zh-CN" altLang="en-US" dirty="0" smtClean="0"/>
              <a:t>的规律。</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化学平衡是动态平衡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1200"/>
              </a:spcBef>
              <a:buFont typeface="Wingdings" pitchFamily="2" charset="2"/>
              <a:buChar char="Ø"/>
            </a:pPr>
            <a:r>
              <a:rPr lang="zh-CN" altLang="en-US" dirty="0" smtClean="0"/>
              <a:t>何谓动态平衡？</a:t>
            </a:r>
            <a:endParaRPr lang="en-US" altLang="zh-CN" dirty="0" smtClean="0"/>
          </a:p>
          <a:p>
            <a:pPr>
              <a:spcBef>
                <a:spcPts val="1200"/>
              </a:spcBef>
              <a:buFont typeface="Wingdings" pitchFamily="2" charset="2"/>
              <a:buChar char="Ø"/>
            </a:pPr>
            <a:r>
              <a:rPr lang="zh-CN" altLang="en-US" dirty="0" smtClean="0"/>
              <a:t>一人在往下移动的自动电梯往上跑时，如果那人的速率与自动电梯的速率相等时，那么那人所在的位置将保持不变。</a:t>
            </a:r>
            <a:endParaRPr lang="en-US" altLang="zh-CN" dirty="0" smtClean="0"/>
          </a:p>
          <a:p>
            <a:pPr>
              <a:spcBef>
                <a:spcPts val="1200"/>
              </a:spcBef>
              <a:buFont typeface="Wingdings" pitchFamily="2" charset="2"/>
              <a:buChar char="Ø"/>
            </a:pPr>
            <a:r>
              <a:rPr lang="zh-CN" altLang="en-US" dirty="0" smtClean="0"/>
              <a:t>一杯水在密闭的容器中，当液态水分子蒸发的速率与气态水分子回到液面的速率相等时，此时的蒸气压保持不变。</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化学平衡是动态平衡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Font typeface="Wingdings" pitchFamily="2" charset="2"/>
              <a:buChar char="Ø"/>
            </a:pPr>
            <a:r>
              <a:rPr lang="zh-CN" altLang="en-US" dirty="0" smtClean="0"/>
              <a:t>许多化学反应都难以进行到底，属于可逆反应。</a:t>
            </a:r>
            <a:endParaRPr lang="en-US" altLang="zh-CN" dirty="0" smtClean="0"/>
          </a:p>
          <a:p>
            <a:pPr>
              <a:spcBef>
                <a:spcPts val="300"/>
              </a:spcBef>
              <a:buFont typeface="Wingdings" pitchFamily="2" charset="2"/>
              <a:buChar char="Ø"/>
            </a:pPr>
            <a:r>
              <a:rPr lang="zh-CN" altLang="en-US" dirty="0" smtClean="0"/>
              <a:t>在相同条件下，可逆反应既可以往正反应方向进行，同时又可往逆反应方向进行，反应物不能完全转化为生成物。</a:t>
            </a:r>
            <a:endParaRPr lang="en-US" altLang="zh-CN" dirty="0" smtClean="0"/>
          </a:p>
          <a:p>
            <a:pPr>
              <a:spcBef>
                <a:spcPts val="300"/>
              </a:spcBef>
              <a:buNone/>
            </a:pPr>
            <a:r>
              <a:rPr lang="zh-CN" altLang="en-US" dirty="0" smtClean="0"/>
              <a:t>交流分享</a:t>
            </a:r>
            <a:r>
              <a:rPr lang="en-US" altLang="zh-CN" dirty="0" smtClean="0"/>
              <a:t>pg184</a:t>
            </a:r>
          </a:p>
          <a:p>
            <a:pPr>
              <a:spcBef>
                <a:spcPts val="300"/>
              </a:spcBef>
              <a:buFont typeface="Wingdings" pitchFamily="2" charset="2"/>
              <a:buChar char="Ø"/>
            </a:pPr>
            <a:r>
              <a:rPr lang="en-US" altLang="zh-CN" dirty="0" smtClean="0"/>
              <a:t>Fe</a:t>
            </a:r>
            <a:r>
              <a:rPr lang="en-US" altLang="zh-CN" baseline="-25000" dirty="0" smtClean="0"/>
              <a:t>3</a:t>
            </a:r>
            <a:r>
              <a:rPr lang="en-US" altLang="zh-CN" dirty="0" smtClean="0"/>
              <a:t>O</a:t>
            </a:r>
            <a:r>
              <a:rPr lang="en-US" altLang="zh-CN" baseline="-25000" dirty="0" smtClean="0"/>
              <a:t>2</a:t>
            </a:r>
            <a:r>
              <a:rPr lang="en-US" altLang="zh-CN" dirty="0" smtClean="0"/>
              <a:t>  </a:t>
            </a:r>
            <a:r>
              <a:rPr lang="zh-CN" altLang="en-US" dirty="0" smtClean="0"/>
              <a:t>与 </a:t>
            </a:r>
            <a:r>
              <a:rPr lang="en-US" altLang="zh-CN" dirty="0" smtClean="0"/>
              <a:t>CO</a:t>
            </a:r>
            <a:r>
              <a:rPr lang="zh-CN" altLang="en-US" dirty="0" smtClean="0"/>
              <a:t>在这种情况下已达到了反应的限度，此时给再多的反应时间，也无法改变其限度。</a:t>
            </a:r>
            <a:endParaRPr lang="en-US" altLang="zh-CN" dirty="0" smtClean="0"/>
          </a:p>
          <a:p>
            <a:pPr>
              <a:spcBef>
                <a:spcPts val="300"/>
              </a:spcBef>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化学平衡是动态平衡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zh-CN" altLang="en-US" dirty="0" smtClean="0"/>
              <a:t>问题解决</a:t>
            </a:r>
            <a:r>
              <a:rPr lang="en-US" altLang="zh-CN" dirty="0" smtClean="0"/>
              <a:t>	</a:t>
            </a:r>
          </a:p>
          <a:p>
            <a:pPr>
              <a:buNone/>
            </a:pPr>
            <a:r>
              <a:rPr lang="en-US" altLang="zh-CN" dirty="0" smtClean="0"/>
              <a:t>(2)</a:t>
            </a:r>
            <a:r>
              <a:rPr lang="en-US" dirty="0" smtClean="0"/>
              <a:t>[</a:t>
            </a:r>
            <a:r>
              <a:rPr lang="zh-CN" altLang="en-US" dirty="0" smtClean="0"/>
              <a:t>反应物</a:t>
            </a:r>
            <a:r>
              <a:rPr lang="en-US" dirty="0" smtClean="0"/>
              <a:t>]</a:t>
            </a:r>
            <a:r>
              <a:rPr lang="zh-CN" altLang="en-US" dirty="0" smtClean="0"/>
              <a:t>逐渐减小，</a:t>
            </a:r>
            <a:endParaRPr lang="en-US" altLang="zh-CN" dirty="0" smtClean="0"/>
          </a:p>
          <a:p>
            <a:pPr>
              <a:buNone/>
            </a:pPr>
            <a:r>
              <a:rPr lang="en-US" altLang="zh-CN" dirty="0" smtClean="0"/>
              <a:t>	R</a:t>
            </a:r>
            <a:r>
              <a:rPr lang="zh-CN" altLang="en-US" baseline="-25000" dirty="0" smtClean="0"/>
              <a:t>正</a:t>
            </a:r>
            <a:r>
              <a:rPr lang="zh-CN" altLang="en-US" dirty="0" smtClean="0"/>
              <a:t> 逐渐减小</a:t>
            </a:r>
            <a:endParaRPr lang="en-US" altLang="zh-CN" dirty="0" smtClean="0"/>
          </a:p>
          <a:p>
            <a:pPr>
              <a:buNone/>
            </a:pPr>
            <a:r>
              <a:rPr lang="en-US" dirty="0" smtClean="0"/>
              <a:t>	[</a:t>
            </a:r>
            <a:r>
              <a:rPr lang="zh-CN" altLang="en-US" dirty="0" smtClean="0"/>
              <a:t>生成物</a:t>
            </a:r>
            <a:r>
              <a:rPr lang="en-US" dirty="0" smtClean="0"/>
              <a:t>]</a:t>
            </a:r>
            <a:r>
              <a:rPr lang="zh-CN" altLang="en-US" dirty="0" smtClean="0"/>
              <a:t>逐渐增大</a:t>
            </a:r>
            <a:endParaRPr lang="en-US" altLang="zh-CN" dirty="0" smtClean="0"/>
          </a:p>
          <a:p>
            <a:pPr>
              <a:buNone/>
            </a:pPr>
            <a:r>
              <a:rPr lang="en-US" dirty="0" smtClean="0"/>
              <a:t>	</a:t>
            </a:r>
            <a:r>
              <a:rPr lang="en-US" altLang="zh-CN" dirty="0" smtClean="0"/>
              <a:t>R</a:t>
            </a:r>
            <a:r>
              <a:rPr lang="zh-CN" altLang="en-US" baseline="-25000" dirty="0" smtClean="0"/>
              <a:t>逆</a:t>
            </a:r>
            <a:r>
              <a:rPr lang="zh-CN" altLang="en-US" dirty="0" smtClean="0"/>
              <a:t> 逐渐增大</a:t>
            </a:r>
            <a:endParaRPr lang="en-US" altLang="zh-CN" dirty="0" smtClean="0"/>
          </a:p>
          <a:p>
            <a:pPr>
              <a:buNone/>
            </a:pPr>
            <a:endParaRPr lang="en-US" altLang="zh-CN" dirty="0" smtClean="0"/>
          </a:p>
          <a:p>
            <a:pPr>
              <a:buNone/>
            </a:pPr>
            <a:r>
              <a:rPr lang="en-US" altLang="zh-CN" dirty="0" smtClean="0"/>
              <a:t>(3) 10min</a:t>
            </a:r>
            <a:r>
              <a:rPr lang="zh-CN" altLang="en-US" dirty="0" smtClean="0"/>
              <a:t>后各物质浓度不再改变，</a:t>
            </a:r>
            <a:r>
              <a:rPr lang="en-US" altLang="zh-CN" dirty="0" smtClean="0"/>
              <a:t>R</a:t>
            </a:r>
            <a:r>
              <a:rPr lang="zh-CN" altLang="en-US" baseline="-25000" dirty="0" smtClean="0"/>
              <a:t>正</a:t>
            </a:r>
            <a:r>
              <a:rPr lang="zh-CN" altLang="en-US" dirty="0" smtClean="0"/>
              <a:t> </a:t>
            </a:r>
            <a:r>
              <a:rPr lang="en-US" altLang="zh-CN" dirty="0" smtClean="0"/>
              <a:t>= R</a:t>
            </a:r>
            <a:r>
              <a:rPr lang="zh-CN" altLang="en-US" baseline="-25000" dirty="0" smtClean="0"/>
              <a:t>逆</a:t>
            </a:r>
            <a:endParaRPr lang="en-US" altLang="zh-CN" baseline="-25000" dirty="0" smtClean="0"/>
          </a:p>
          <a:p>
            <a:pPr>
              <a:buNone/>
            </a:pPr>
            <a:r>
              <a:rPr lang="en-US" altLang="zh-CN" dirty="0" smtClean="0"/>
              <a:t>(5)10min</a:t>
            </a:r>
            <a:r>
              <a:rPr lang="zh-CN" altLang="en-US" dirty="0" smtClean="0"/>
              <a:t>后反应并未停止，而是达到了化学平衡。</a:t>
            </a:r>
            <a:endParaRPr lang="en-US" altLang="zh-CN" dirty="0" smtClean="0"/>
          </a:p>
          <a:p>
            <a:pPr>
              <a:spcBef>
                <a:spcPts val="300"/>
              </a:spcBef>
              <a:buNone/>
            </a:pPr>
            <a:endParaRPr lang="en-US" dirty="0"/>
          </a:p>
        </p:txBody>
      </p:sp>
      <p:pic>
        <p:nvPicPr>
          <p:cNvPr id="65538" name="Picture 2"/>
          <p:cNvPicPr>
            <a:picLocks noChangeAspect="1" noChangeArrowheads="1"/>
          </p:cNvPicPr>
          <p:nvPr/>
        </p:nvPicPr>
        <p:blipFill>
          <a:blip r:embed="rId3"/>
          <a:srcRect/>
          <a:stretch>
            <a:fillRect/>
          </a:stretch>
        </p:blipFill>
        <p:spPr bwMode="auto">
          <a:xfrm>
            <a:off x="4648200" y="838200"/>
            <a:ext cx="4343400" cy="3100012"/>
          </a:xfrm>
          <a:prstGeom prst="rect">
            <a:avLst/>
          </a:prstGeom>
          <a:noFill/>
          <a:ln w="9525">
            <a:noFill/>
            <a:miter lim="800000"/>
            <a:headEnd/>
            <a:tailEnd/>
          </a:ln>
          <a:effectLst/>
        </p:spPr>
      </p:pic>
      <p:pic>
        <p:nvPicPr>
          <p:cNvPr id="65539" name="Picture 3"/>
          <p:cNvPicPr>
            <a:picLocks noChangeAspect="1" noChangeArrowheads="1"/>
          </p:cNvPicPr>
          <p:nvPr/>
        </p:nvPicPr>
        <p:blipFill>
          <a:blip r:embed="rId4"/>
          <a:srcRect/>
          <a:stretch>
            <a:fillRect/>
          </a:stretch>
        </p:blipFill>
        <p:spPr bwMode="auto">
          <a:xfrm>
            <a:off x="4419600" y="838200"/>
            <a:ext cx="4495800" cy="3200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blinds(horizontal)">
                                      <p:cBhvr>
                                        <p:cTn id="12" dur="500"/>
                                        <p:tgtEl>
                                          <p:spTgt spid="655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5539"/>
                                        </p:tgtEl>
                                        <p:attrNameLst>
                                          <p:attrName>style.visibility</p:attrName>
                                        </p:attrNameLst>
                                      </p:cBhvr>
                                      <p:to>
                                        <p:strVal val="visible"/>
                                      </p:to>
                                    </p:set>
                                    <p:animEffect transition="in" filter="blinds(horizontal)">
                                      <p:cBhvr>
                                        <p:cTn id="42" dur="500"/>
                                        <p:tgtEl>
                                          <p:spTgt spid="6553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8" name="Content Placeholder 7"/>
          <p:cNvSpPr>
            <a:spLocks noGrp="1"/>
          </p:cNvSpPr>
          <p:nvPr>
            <p:ph idx="1"/>
          </p:nvPr>
        </p:nvSpPr>
        <p:spPr>
          <a:xfrm>
            <a:off x="381000" y="990600"/>
            <a:ext cx="8458200" cy="5486400"/>
          </a:xfrm>
        </p:spPr>
        <p:txBody>
          <a:bodyPr/>
          <a:lstStyle/>
          <a:p>
            <a:pPr>
              <a:buFont typeface="Wingdings" pitchFamily="2" charset="2"/>
              <a:buChar char="Ø"/>
            </a:pPr>
            <a:r>
              <a:rPr lang="zh-CN" altLang="en-US" dirty="0" smtClean="0"/>
              <a:t>反应物：</a:t>
            </a:r>
            <a:r>
              <a:rPr lang="en-US" altLang="zh-CN" dirty="0" smtClean="0"/>
              <a:t>A</a:t>
            </a:r>
            <a:r>
              <a:rPr lang="zh-CN" altLang="en-US" dirty="0" smtClean="0"/>
              <a:t>、</a:t>
            </a:r>
            <a:r>
              <a:rPr lang="en-US" altLang="zh-CN" dirty="0" smtClean="0"/>
              <a:t>B</a:t>
            </a:r>
          </a:p>
          <a:p>
            <a:pPr>
              <a:buFont typeface="Wingdings" pitchFamily="2" charset="2"/>
              <a:buChar char="Ø"/>
            </a:pPr>
            <a:r>
              <a:rPr lang="zh-CN" altLang="en-US" dirty="0" smtClean="0"/>
              <a:t>生成物：</a:t>
            </a:r>
            <a:r>
              <a:rPr lang="en-US" altLang="zh-CN" dirty="0" smtClean="0"/>
              <a:t>C</a:t>
            </a:r>
            <a:endParaRPr lang="en-US" dirty="0" smtClean="0"/>
          </a:p>
          <a:p>
            <a:pPr>
              <a:buFont typeface="Wingdings" pitchFamily="2" charset="2"/>
              <a:buChar char="Ø"/>
            </a:pPr>
            <a:r>
              <a:rPr lang="en-US" dirty="0" smtClean="0"/>
              <a:t>[</a:t>
            </a:r>
            <a:r>
              <a:rPr lang="zh-CN" altLang="en-US" dirty="0" smtClean="0"/>
              <a:t>反应物</a:t>
            </a:r>
            <a:r>
              <a:rPr lang="en-US" dirty="0" smtClean="0"/>
              <a:t>]</a:t>
            </a:r>
            <a:r>
              <a:rPr lang="zh-CN" altLang="en-US" dirty="0" smtClean="0"/>
              <a:t>逐渐减小，</a:t>
            </a:r>
            <a:endParaRPr lang="en-US" altLang="zh-CN" dirty="0" smtClean="0"/>
          </a:p>
          <a:p>
            <a:pPr>
              <a:buNone/>
            </a:pPr>
            <a:r>
              <a:rPr lang="en-US" altLang="zh-CN" dirty="0" smtClean="0"/>
              <a:t>	R</a:t>
            </a:r>
            <a:r>
              <a:rPr lang="zh-CN" altLang="en-US" baseline="-25000" dirty="0" smtClean="0"/>
              <a:t>正</a:t>
            </a:r>
            <a:r>
              <a:rPr lang="zh-CN" altLang="en-US" dirty="0" smtClean="0"/>
              <a:t> 逐渐减小</a:t>
            </a:r>
            <a:endParaRPr lang="en-US" altLang="zh-CN" dirty="0" smtClean="0"/>
          </a:p>
          <a:p>
            <a:pPr>
              <a:buFont typeface="Wingdings" pitchFamily="2" charset="2"/>
              <a:buChar char="Ø"/>
            </a:pPr>
            <a:r>
              <a:rPr lang="en-US" dirty="0" smtClean="0"/>
              <a:t>[</a:t>
            </a:r>
            <a:r>
              <a:rPr lang="zh-CN" altLang="en-US" dirty="0" smtClean="0"/>
              <a:t>生成物</a:t>
            </a:r>
            <a:r>
              <a:rPr lang="en-US" dirty="0" smtClean="0"/>
              <a:t>]</a:t>
            </a:r>
            <a:r>
              <a:rPr lang="zh-CN" altLang="en-US" dirty="0" smtClean="0"/>
              <a:t>逐渐增大</a:t>
            </a:r>
            <a:endParaRPr lang="en-US" altLang="zh-CN" dirty="0" smtClean="0"/>
          </a:p>
          <a:p>
            <a:pPr>
              <a:buNone/>
            </a:pPr>
            <a:r>
              <a:rPr lang="en-US" dirty="0" smtClean="0"/>
              <a:t>	</a:t>
            </a:r>
            <a:r>
              <a:rPr lang="en-US" altLang="zh-CN" dirty="0" smtClean="0"/>
              <a:t>R</a:t>
            </a:r>
            <a:r>
              <a:rPr lang="zh-CN" altLang="en-US" baseline="-25000" dirty="0" smtClean="0"/>
              <a:t>逆</a:t>
            </a:r>
            <a:r>
              <a:rPr lang="zh-CN" altLang="en-US" dirty="0" smtClean="0"/>
              <a:t> 逐渐增大</a:t>
            </a:r>
            <a:endParaRPr lang="en-US" altLang="zh-CN" dirty="0" smtClean="0"/>
          </a:p>
          <a:p>
            <a:pPr>
              <a:buFont typeface="Wingdings" pitchFamily="2" charset="2"/>
              <a:buChar char="Ø"/>
            </a:pPr>
            <a:r>
              <a:rPr lang="en-US" altLang="zh-CN" dirty="0" smtClean="0"/>
              <a:t>t</a:t>
            </a:r>
            <a:r>
              <a:rPr lang="en-US" altLang="zh-CN" baseline="-25000" dirty="0" smtClean="0"/>
              <a:t>1</a:t>
            </a:r>
            <a:r>
              <a:rPr lang="en-US" altLang="zh-CN" dirty="0" smtClean="0"/>
              <a:t> </a:t>
            </a:r>
            <a:r>
              <a:rPr lang="zh-CN" altLang="en-US" dirty="0" smtClean="0"/>
              <a:t>后各物质浓度不再改变，</a:t>
            </a:r>
            <a:r>
              <a:rPr lang="en-US" altLang="zh-CN" dirty="0" smtClean="0"/>
              <a:t>R</a:t>
            </a:r>
            <a:r>
              <a:rPr lang="zh-CN" altLang="en-US" baseline="-25000" dirty="0" smtClean="0"/>
              <a:t>正</a:t>
            </a:r>
            <a:r>
              <a:rPr lang="zh-CN" altLang="en-US" dirty="0" smtClean="0"/>
              <a:t> </a:t>
            </a:r>
            <a:r>
              <a:rPr lang="en-US" altLang="zh-CN" dirty="0" smtClean="0"/>
              <a:t>= R</a:t>
            </a:r>
            <a:r>
              <a:rPr lang="zh-CN" altLang="en-US" baseline="-25000" dirty="0" smtClean="0"/>
              <a:t>逆</a:t>
            </a:r>
            <a:endParaRPr lang="en-US" altLang="zh-CN" baseline="-25000" dirty="0" smtClean="0"/>
          </a:p>
          <a:p>
            <a:pPr>
              <a:buFont typeface="Wingdings" pitchFamily="2" charset="2"/>
              <a:buChar char="Ø"/>
            </a:pPr>
            <a:r>
              <a:rPr lang="en-US" altLang="zh-CN" baseline="-25000" dirty="0" smtClean="0"/>
              <a:t> </a:t>
            </a:r>
            <a:r>
              <a:rPr lang="en-US" altLang="zh-CN" dirty="0" smtClean="0"/>
              <a:t> t</a:t>
            </a:r>
            <a:r>
              <a:rPr lang="en-US" altLang="zh-CN" baseline="-25000" dirty="0" smtClean="0"/>
              <a:t>1</a:t>
            </a:r>
            <a:r>
              <a:rPr lang="zh-CN" altLang="en-US" dirty="0" smtClean="0"/>
              <a:t>后反应并未停止，而是达到了化学平衡。</a:t>
            </a:r>
            <a:endParaRPr lang="en-US" altLang="zh-CN" dirty="0" smtClean="0"/>
          </a:p>
          <a:p>
            <a:pPr>
              <a:buNone/>
            </a:pPr>
            <a:endParaRPr lang="en-US" dirty="0"/>
          </a:p>
        </p:txBody>
      </p:sp>
      <p:sp>
        <p:nvSpPr>
          <p:cNvPr id="10" name="Title 1"/>
          <p:cNvSpPr txBox="1">
            <a:spLocks/>
          </p:cNvSpPr>
          <p:nvPr/>
        </p:nvSpPr>
        <p:spPr>
          <a:xfrm>
            <a:off x="457200" y="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4400" b="1" i="0" u="none" strike="noStrike" kern="1200" cap="none" spc="0" normalizeH="0" baseline="0" noProof="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mj-lt"/>
                <a:ea typeface="+mj-ea"/>
                <a:cs typeface="+mj-cs"/>
              </a:rPr>
              <a:t>21.1 </a:t>
            </a:r>
            <a:r>
              <a:rPr kumimoji="0" lang="zh-CN" altLang="en-US" sz="4400" b="1" i="0" u="none" strike="noStrike" kern="1200" cap="none" spc="0" normalizeH="0" baseline="0" noProof="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mj-lt"/>
                <a:ea typeface="+mj-ea"/>
                <a:cs typeface="+mj-cs"/>
              </a:rPr>
              <a:t>化学平衡是动态平衡</a:t>
            </a:r>
            <a:endParaRPr kumimoji="0" lang="en-US" sz="4400" b="1" i="0" u="none" strike="noStrike" kern="1200" cap="none" spc="0" normalizeH="0" baseline="0" noProof="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uLnTx/>
              <a:uFillTx/>
              <a:latin typeface="+mj-lt"/>
              <a:ea typeface="+mj-ea"/>
              <a:cs typeface="+mj-cs"/>
            </a:endParaRPr>
          </a:p>
        </p:txBody>
      </p:sp>
      <p:sp>
        <p:nvSpPr>
          <p:cNvPr id="12" name="Rounded Rectangle 11"/>
          <p:cNvSpPr/>
          <p:nvPr/>
        </p:nvSpPr>
        <p:spPr>
          <a:xfrm>
            <a:off x="2286000" y="10668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Rounded Rectangle 12"/>
          <p:cNvSpPr/>
          <p:nvPr/>
        </p:nvSpPr>
        <p:spPr>
          <a:xfrm>
            <a:off x="2286000" y="16002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nvGrpSpPr>
          <p:cNvPr id="15" name="Group 14"/>
          <p:cNvGrpSpPr/>
          <p:nvPr/>
        </p:nvGrpSpPr>
        <p:grpSpPr>
          <a:xfrm>
            <a:off x="5181600" y="1066800"/>
            <a:ext cx="3200400" cy="2971800"/>
            <a:chOff x="5181600" y="1066800"/>
            <a:chExt cx="3200400" cy="2971800"/>
          </a:xfrm>
        </p:grpSpPr>
        <p:pic>
          <p:nvPicPr>
            <p:cNvPr id="7" name="Picture 6" descr="chap21pg1851.jpg"/>
            <p:cNvPicPr>
              <a:picLocks noChangeAspect="1"/>
            </p:cNvPicPr>
            <p:nvPr/>
          </p:nvPicPr>
          <p:blipFill>
            <a:blip r:embed="rId3"/>
            <a:srcRect t="2929" r="67745" b="60945"/>
            <a:stretch>
              <a:fillRect/>
            </a:stretch>
          </p:blipFill>
          <p:spPr>
            <a:xfrm>
              <a:off x="5181600" y="1066800"/>
              <a:ext cx="3200400" cy="2819400"/>
            </a:xfrm>
            <a:prstGeom prst="rect">
              <a:avLst/>
            </a:prstGeom>
          </p:spPr>
        </p:pic>
        <p:sp>
          <p:nvSpPr>
            <p:cNvPr id="14" name="TextBox 13"/>
            <p:cNvSpPr txBox="1"/>
            <p:nvPr/>
          </p:nvSpPr>
          <p:spPr>
            <a:xfrm>
              <a:off x="6858000" y="3453825"/>
              <a:ext cx="461986" cy="584775"/>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sz="3200" dirty="0" smtClean="0"/>
                <a:t>t</a:t>
              </a:r>
              <a:r>
                <a:rPr lang="en-US" altLang="zh-CN" sz="3200" baseline="-25000" dirty="0" smtClean="0"/>
                <a:t>1</a:t>
              </a:r>
              <a:endParaRPr lang="en-US" sz="3000" dirty="0"/>
            </a:p>
          </p:txBody>
        </p:sp>
      </p:grpSp>
      <p:pic>
        <p:nvPicPr>
          <p:cNvPr id="1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l="9091" r="3896" b="9979"/>
          <a:stretch>
            <a:fillRect/>
          </a:stretch>
        </p:blipFill>
        <p:spPr bwMode="auto">
          <a:xfrm>
            <a:off x="4038600" y="838200"/>
            <a:ext cx="5105400" cy="4124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blinds(horizontal)">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blinds(horizontal)">
                                      <p:cBhvr>
                                        <p:cTn id="27" dur="500"/>
                                        <p:tgtEl>
                                          <p:spTgt spid="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animEffect transition="in" filter="blinds(horizontal)">
                                      <p:cBhvr>
                                        <p:cTn id="32" dur="500"/>
                                        <p:tgtEl>
                                          <p:spTgt spid="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Effect transition="in" filter="blinds(horizontal)">
                                      <p:cBhvr>
                                        <p:cTn id="37" dur="5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8">
                                            <p:txEl>
                                              <p:pRg st="5" end="5"/>
                                            </p:txEl>
                                          </p:spTgt>
                                        </p:tgtEl>
                                        <p:attrNameLst>
                                          <p:attrName>style.visibility</p:attrName>
                                        </p:attrNameLst>
                                      </p:cBhvr>
                                      <p:to>
                                        <p:strVal val="visible"/>
                                      </p:to>
                                    </p:set>
                                    <p:animEffect transition="in" filter="blinds(horizontal)">
                                      <p:cBhvr>
                                        <p:cTn id="42" dur="500"/>
                                        <p:tgtEl>
                                          <p:spTgt spid="8">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
                                            <p:txEl>
                                              <p:pRg st="6" end="6"/>
                                            </p:txEl>
                                          </p:spTgt>
                                        </p:tgtEl>
                                        <p:attrNameLst>
                                          <p:attrName>style.visibility</p:attrName>
                                        </p:attrNameLst>
                                      </p:cBhvr>
                                      <p:to>
                                        <p:strVal val="visible"/>
                                      </p:to>
                                    </p:set>
                                    <p:animEffect transition="in" filter="blinds(horizontal)">
                                      <p:cBhvr>
                                        <p:cTn id="47" dur="500"/>
                                        <p:tgtEl>
                                          <p:spTgt spid="8">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
                                            <p:txEl>
                                              <p:pRg st="7" end="7"/>
                                            </p:txEl>
                                          </p:spTgt>
                                        </p:tgtEl>
                                        <p:attrNameLst>
                                          <p:attrName>style.visibility</p:attrName>
                                        </p:attrNameLst>
                                      </p:cBhvr>
                                      <p:to>
                                        <p:strVal val="visible"/>
                                      </p:to>
                                    </p:set>
                                    <p:animEffect transition="in" filter="blinds(horizontal)">
                                      <p:cBhvr>
                                        <p:cTn id="52" dur="500"/>
                                        <p:tgtEl>
                                          <p:spTgt spid="8">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化学平衡是动态平衡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Font typeface="Wingdings" pitchFamily="2" charset="2"/>
              <a:buChar char="Ø"/>
            </a:pPr>
            <a:r>
              <a:rPr lang="zh-CN" altLang="en-US" dirty="0" smtClean="0"/>
              <a:t>在一个</a:t>
            </a:r>
            <a:r>
              <a:rPr lang="zh-CN" altLang="en-US" b="1" dirty="0" smtClean="0">
                <a:solidFill>
                  <a:srgbClr val="002060"/>
                </a:solidFill>
                <a:effectLst>
                  <a:outerShdw blurRad="38100" dist="38100" dir="2700000" algn="tl">
                    <a:srgbClr val="000000">
                      <a:alpha val="43137"/>
                    </a:srgbClr>
                  </a:outerShdw>
                </a:effectLst>
              </a:rPr>
              <a:t>可逆反应</a:t>
            </a:r>
            <a:r>
              <a:rPr lang="zh-CN" altLang="en-US" dirty="0" smtClean="0"/>
              <a:t>中，当</a:t>
            </a:r>
            <a:r>
              <a:rPr lang="en-US" altLang="zh-CN" b="1" dirty="0" smtClean="0">
                <a:solidFill>
                  <a:srgbClr val="002060"/>
                </a:solidFill>
                <a:effectLst>
                  <a:outerShdw blurRad="38100" dist="38100" dir="2700000" algn="tl">
                    <a:srgbClr val="000000">
                      <a:alpha val="43137"/>
                    </a:srgbClr>
                  </a:outerShdw>
                </a:effectLst>
              </a:rPr>
              <a:t>R</a:t>
            </a:r>
            <a:r>
              <a:rPr lang="zh-CN" altLang="en-US" b="1" baseline="-25000" dirty="0" smtClean="0">
                <a:solidFill>
                  <a:srgbClr val="002060"/>
                </a:solidFill>
                <a:effectLst>
                  <a:outerShdw blurRad="38100" dist="38100" dir="2700000" algn="tl">
                    <a:srgbClr val="000000">
                      <a:alpha val="43137"/>
                    </a:srgbClr>
                  </a:outerShdw>
                </a:effectLst>
              </a:rPr>
              <a:t>正</a:t>
            </a:r>
            <a:r>
              <a:rPr lang="zh-CN" altLang="en-US" b="1" dirty="0" smtClean="0">
                <a:solidFill>
                  <a:srgbClr val="002060"/>
                </a:solidFill>
                <a:effectLst>
                  <a:outerShdw blurRad="38100" dist="38100" dir="2700000" algn="tl">
                    <a:srgbClr val="000000">
                      <a:alpha val="43137"/>
                    </a:srgbClr>
                  </a:outerShdw>
                </a:effectLst>
              </a:rPr>
              <a:t> </a:t>
            </a:r>
            <a:r>
              <a:rPr lang="en-US" altLang="zh-CN" b="1" dirty="0" smtClean="0">
                <a:solidFill>
                  <a:srgbClr val="002060"/>
                </a:solidFill>
                <a:effectLst>
                  <a:outerShdw blurRad="38100" dist="38100" dir="2700000" algn="tl">
                    <a:srgbClr val="000000">
                      <a:alpha val="43137"/>
                    </a:srgbClr>
                  </a:outerShdw>
                </a:effectLst>
              </a:rPr>
              <a:t>= R</a:t>
            </a:r>
            <a:r>
              <a:rPr lang="zh-CN" altLang="en-US" b="1" baseline="-25000" dirty="0" smtClean="0">
                <a:solidFill>
                  <a:srgbClr val="002060"/>
                </a:solidFill>
                <a:effectLst>
                  <a:outerShdw blurRad="38100" dist="38100" dir="2700000" algn="tl">
                    <a:srgbClr val="000000">
                      <a:alpha val="43137"/>
                    </a:srgbClr>
                  </a:outerShdw>
                </a:effectLst>
              </a:rPr>
              <a:t>逆</a:t>
            </a:r>
            <a:r>
              <a:rPr lang="zh-CN" altLang="en-US" dirty="0" smtClean="0"/>
              <a:t>时就达到了化学平衡状态。</a:t>
            </a:r>
            <a:endParaRPr lang="en-US" altLang="zh-CN" dirty="0" smtClean="0"/>
          </a:p>
          <a:p>
            <a:pPr>
              <a:spcBef>
                <a:spcPts val="300"/>
              </a:spcBef>
              <a:buFont typeface="Wingdings" pitchFamily="2" charset="2"/>
              <a:buChar char="Ø"/>
            </a:pPr>
            <a:r>
              <a:rPr lang="zh-CN" altLang="en-US" dirty="0" smtClean="0"/>
              <a:t>在这个状态下，</a:t>
            </a:r>
            <a:r>
              <a:rPr lang="en-US" altLang="zh-CN" dirty="0" smtClean="0"/>
              <a:t>[</a:t>
            </a:r>
            <a:r>
              <a:rPr lang="zh-CN" altLang="en-US" dirty="0" smtClean="0"/>
              <a:t>生成物</a:t>
            </a:r>
            <a:r>
              <a:rPr lang="en-US" altLang="zh-CN" dirty="0" smtClean="0"/>
              <a:t>]</a:t>
            </a:r>
            <a:r>
              <a:rPr lang="zh-CN" altLang="en-US" dirty="0" smtClean="0"/>
              <a:t>及</a:t>
            </a:r>
            <a:r>
              <a:rPr lang="en-US" altLang="zh-CN" dirty="0" smtClean="0"/>
              <a:t>[</a:t>
            </a:r>
            <a:r>
              <a:rPr lang="zh-CN" altLang="en-US" dirty="0" smtClean="0"/>
              <a:t>反应物</a:t>
            </a:r>
            <a:r>
              <a:rPr lang="en-US" altLang="zh-CN" dirty="0" smtClean="0"/>
              <a:t>]</a:t>
            </a:r>
            <a:r>
              <a:rPr lang="zh-CN" altLang="en-US" dirty="0" smtClean="0"/>
              <a:t>没有改变。</a:t>
            </a:r>
            <a:endParaRPr lang="en-US" altLang="zh-CN" dirty="0" smtClean="0"/>
          </a:p>
          <a:p>
            <a:pPr>
              <a:spcBef>
                <a:spcPts val="300"/>
              </a:spcBef>
              <a:buFont typeface="Wingdings" pitchFamily="2" charset="2"/>
              <a:buChar char="Ø"/>
            </a:pPr>
            <a:r>
              <a:rPr lang="zh-CN" altLang="en-US" b="1" dirty="0" smtClean="0">
                <a:solidFill>
                  <a:srgbClr val="002060"/>
                </a:solidFill>
                <a:effectLst>
                  <a:outerShdw blurRad="38100" dist="38100" dir="2700000" algn="tl">
                    <a:srgbClr val="000000">
                      <a:alpha val="43137"/>
                    </a:srgbClr>
                  </a:outerShdw>
                </a:effectLst>
              </a:rPr>
              <a:t>改变外界条件</a:t>
            </a:r>
            <a:r>
              <a:rPr lang="zh-CN" altLang="en-US" dirty="0" smtClean="0"/>
              <a:t>，原化学</a:t>
            </a:r>
            <a:r>
              <a:rPr lang="zh-CN" altLang="en-US" b="1" dirty="0" smtClean="0">
                <a:solidFill>
                  <a:srgbClr val="002060"/>
                </a:solidFill>
                <a:effectLst>
                  <a:outerShdw blurRad="38100" dist="38100" dir="2700000" algn="tl">
                    <a:srgbClr val="000000">
                      <a:alpha val="43137"/>
                    </a:srgbClr>
                  </a:outerShdw>
                </a:effectLst>
              </a:rPr>
              <a:t>平衡将被破坏</a:t>
            </a:r>
            <a:r>
              <a:rPr lang="zh-CN" altLang="en-US" dirty="0" smtClean="0"/>
              <a:t>，一段时间后会</a:t>
            </a:r>
            <a:r>
              <a:rPr lang="zh-CN" altLang="en-US" b="1" dirty="0" smtClean="0">
                <a:solidFill>
                  <a:srgbClr val="002060"/>
                </a:solidFill>
                <a:effectLst>
                  <a:outerShdw blurRad="38100" dist="38100" dir="2700000" algn="tl">
                    <a:srgbClr val="000000">
                      <a:alpha val="43137"/>
                    </a:srgbClr>
                  </a:outerShdw>
                </a:effectLst>
              </a:rPr>
              <a:t>达到新的平衡</a:t>
            </a:r>
            <a:r>
              <a:rPr lang="zh-CN" altLang="en-US" dirty="0" smtClean="0"/>
              <a:t>。</a:t>
            </a:r>
            <a:endParaRPr lang="en-US" dirty="0"/>
          </a:p>
        </p:txBody>
      </p:sp>
      <p:grpSp>
        <p:nvGrpSpPr>
          <p:cNvPr id="12" name="Group 11"/>
          <p:cNvGrpSpPr/>
          <p:nvPr/>
        </p:nvGrpSpPr>
        <p:grpSpPr>
          <a:xfrm>
            <a:off x="2133600" y="3581400"/>
            <a:ext cx="4082236" cy="2895600"/>
            <a:chOff x="2133600" y="3581400"/>
            <a:chExt cx="4082236" cy="2895600"/>
          </a:xfrm>
        </p:grpSpPr>
        <p:grpSp>
          <p:nvGrpSpPr>
            <p:cNvPr id="10" name="Group 9"/>
            <p:cNvGrpSpPr/>
            <p:nvPr/>
          </p:nvGrpSpPr>
          <p:grpSpPr>
            <a:xfrm>
              <a:off x="2133600" y="3581400"/>
              <a:ext cx="4082236" cy="2895600"/>
              <a:chOff x="2133600" y="3581400"/>
              <a:chExt cx="4082236" cy="2895600"/>
            </a:xfrm>
          </p:grpSpPr>
          <p:pic>
            <p:nvPicPr>
              <p:cNvPr id="5" name="Picture 4" descr="chap21pg188.jpg"/>
              <p:cNvPicPr>
                <a:picLocks noChangeAspect="1"/>
              </p:cNvPicPr>
              <p:nvPr/>
            </p:nvPicPr>
            <p:blipFill>
              <a:blip r:embed="rId3"/>
              <a:srcRect t="45591" r="48307" b="5521"/>
              <a:stretch>
                <a:fillRect/>
              </a:stretch>
            </p:blipFill>
            <p:spPr>
              <a:xfrm>
                <a:off x="2133600" y="3581400"/>
                <a:ext cx="4082236" cy="2895600"/>
              </a:xfrm>
              <a:prstGeom prst="rect">
                <a:avLst/>
              </a:prstGeom>
            </p:spPr>
          </p:pic>
          <p:sp>
            <p:nvSpPr>
              <p:cNvPr id="6" name="Rectangle 5"/>
              <p:cNvSpPr/>
              <p:nvPr/>
            </p:nvSpPr>
            <p:spPr>
              <a:xfrm>
                <a:off x="3048000" y="4495800"/>
                <a:ext cx="558166" cy="40011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b="1" dirty="0" smtClean="0">
                    <a:solidFill>
                      <a:srgbClr val="002060"/>
                    </a:solidFill>
                    <a:effectLst>
                      <a:outerShdw blurRad="38100" dist="38100" dir="2700000" algn="tl">
                        <a:srgbClr val="000000">
                          <a:alpha val="43137"/>
                        </a:srgbClr>
                      </a:outerShdw>
                    </a:effectLst>
                  </a:rPr>
                  <a:t>R</a:t>
                </a:r>
                <a:r>
                  <a:rPr lang="zh-CN" altLang="en-US" sz="2000" b="1" baseline="-25000" dirty="0" smtClean="0">
                    <a:solidFill>
                      <a:srgbClr val="002060"/>
                    </a:solidFill>
                    <a:effectLst>
                      <a:outerShdw blurRad="38100" dist="38100" dir="2700000" algn="tl">
                        <a:srgbClr val="000000">
                          <a:alpha val="43137"/>
                        </a:srgbClr>
                      </a:outerShdw>
                    </a:effectLst>
                  </a:rPr>
                  <a:t>正</a:t>
                </a:r>
                <a:r>
                  <a:rPr lang="zh-CN" altLang="en-US" sz="2000" b="1" dirty="0" smtClean="0">
                    <a:solidFill>
                      <a:srgbClr val="002060"/>
                    </a:solidFill>
                    <a:effectLst>
                      <a:outerShdw blurRad="38100" dist="38100" dir="2700000" algn="tl">
                        <a:srgbClr val="000000">
                          <a:alpha val="43137"/>
                        </a:srgbClr>
                      </a:outerShdw>
                    </a:effectLst>
                  </a:rPr>
                  <a:t> </a:t>
                </a:r>
                <a:endParaRPr lang="en-US" sz="2000" dirty="0"/>
              </a:p>
            </p:txBody>
          </p:sp>
          <p:sp>
            <p:nvSpPr>
              <p:cNvPr id="7" name="Rectangle 6"/>
              <p:cNvSpPr/>
              <p:nvPr/>
            </p:nvSpPr>
            <p:spPr>
              <a:xfrm>
                <a:off x="3352800" y="5638800"/>
                <a:ext cx="558166" cy="40011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b="1" dirty="0" smtClean="0">
                    <a:solidFill>
                      <a:srgbClr val="002060"/>
                    </a:solidFill>
                    <a:effectLst>
                      <a:outerShdw blurRad="38100" dist="38100" dir="2700000" algn="tl">
                        <a:srgbClr val="000000">
                          <a:alpha val="43137"/>
                        </a:srgbClr>
                      </a:outerShdw>
                    </a:effectLst>
                  </a:rPr>
                  <a:t>R</a:t>
                </a:r>
                <a:r>
                  <a:rPr lang="zh-CN" altLang="en-US" sz="2000" b="1" baseline="-25000" dirty="0" smtClean="0">
                    <a:solidFill>
                      <a:srgbClr val="002060"/>
                    </a:solidFill>
                    <a:effectLst>
                      <a:outerShdw blurRad="38100" dist="38100" dir="2700000" algn="tl">
                        <a:srgbClr val="000000">
                          <a:alpha val="43137"/>
                        </a:srgbClr>
                      </a:outerShdw>
                    </a:effectLst>
                  </a:rPr>
                  <a:t>逆</a:t>
                </a:r>
                <a:r>
                  <a:rPr lang="zh-CN" altLang="en-US" sz="2000" b="1" dirty="0" smtClean="0">
                    <a:solidFill>
                      <a:srgbClr val="002060"/>
                    </a:solidFill>
                    <a:effectLst>
                      <a:outerShdw blurRad="38100" dist="38100" dir="2700000" algn="tl">
                        <a:srgbClr val="000000">
                          <a:alpha val="43137"/>
                        </a:srgbClr>
                      </a:outerShdw>
                    </a:effectLst>
                  </a:rPr>
                  <a:t> </a:t>
                </a:r>
                <a:endParaRPr lang="en-US" sz="2000" dirty="0"/>
              </a:p>
            </p:txBody>
          </p:sp>
          <p:sp>
            <p:nvSpPr>
              <p:cNvPr id="8" name="Rectangle 7"/>
              <p:cNvSpPr/>
              <p:nvPr/>
            </p:nvSpPr>
            <p:spPr>
              <a:xfrm>
                <a:off x="4419600" y="4019490"/>
                <a:ext cx="598241" cy="40011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b="1" dirty="0" smtClean="0">
                    <a:solidFill>
                      <a:srgbClr val="002060"/>
                    </a:solidFill>
                    <a:effectLst>
                      <a:outerShdw blurRad="38100" dist="38100" dir="2700000" algn="tl">
                        <a:srgbClr val="000000">
                          <a:alpha val="43137"/>
                        </a:srgbClr>
                      </a:outerShdw>
                    </a:effectLst>
                  </a:rPr>
                  <a:t>R</a:t>
                </a:r>
                <a:r>
                  <a:rPr lang="zh-CN" altLang="en-US" sz="2000" b="1" baseline="-25000" dirty="0" smtClean="0">
                    <a:solidFill>
                      <a:srgbClr val="002060"/>
                    </a:solidFill>
                    <a:effectLst>
                      <a:outerShdw blurRad="38100" dist="38100" dir="2700000" algn="tl">
                        <a:srgbClr val="000000">
                          <a:alpha val="43137"/>
                        </a:srgbClr>
                      </a:outerShdw>
                    </a:effectLst>
                  </a:rPr>
                  <a:t>正</a:t>
                </a:r>
                <a:r>
                  <a:rPr lang="en-US" altLang="zh-CN" sz="2000" b="1" baseline="30000" dirty="0" smtClean="0">
                    <a:solidFill>
                      <a:srgbClr val="002060"/>
                    </a:solidFill>
                    <a:effectLst>
                      <a:outerShdw blurRad="38100" dist="38100" dir="2700000" algn="tl">
                        <a:srgbClr val="000000">
                          <a:alpha val="43137"/>
                        </a:srgbClr>
                      </a:outerShdw>
                    </a:effectLst>
                  </a:rPr>
                  <a:t>’</a:t>
                </a:r>
                <a:r>
                  <a:rPr lang="zh-CN" altLang="en-US" sz="2000" b="1" dirty="0" smtClean="0">
                    <a:solidFill>
                      <a:srgbClr val="002060"/>
                    </a:solidFill>
                    <a:effectLst>
                      <a:outerShdw blurRad="38100" dist="38100" dir="2700000" algn="tl">
                        <a:srgbClr val="000000">
                          <a:alpha val="43137"/>
                        </a:srgbClr>
                      </a:outerShdw>
                    </a:effectLst>
                  </a:rPr>
                  <a:t> </a:t>
                </a:r>
                <a:endParaRPr lang="en-US" sz="2000" dirty="0"/>
              </a:p>
            </p:txBody>
          </p:sp>
          <p:sp>
            <p:nvSpPr>
              <p:cNvPr id="9" name="Rectangle 8"/>
              <p:cNvSpPr/>
              <p:nvPr/>
            </p:nvSpPr>
            <p:spPr>
              <a:xfrm>
                <a:off x="4419600" y="5029200"/>
                <a:ext cx="598241" cy="40011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b="1" dirty="0" smtClean="0">
                    <a:solidFill>
                      <a:srgbClr val="002060"/>
                    </a:solidFill>
                    <a:effectLst>
                      <a:outerShdw blurRad="38100" dist="38100" dir="2700000" algn="tl">
                        <a:srgbClr val="000000">
                          <a:alpha val="43137"/>
                        </a:srgbClr>
                      </a:outerShdw>
                    </a:effectLst>
                  </a:rPr>
                  <a:t>R</a:t>
                </a:r>
                <a:r>
                  <a:rPr lang="zh-CN" altLang="en-US" sz="2000" b="1" baseline="-25000" dirty="0" smtClean="0">
                    <a:solidFill>
                      <a:srgbClr val="002060"/>
                    </a:solidFill>
                    <a:effectLst>
                      <a:outerShdw blurRad="38100" dist="38100" dir="2700000" algn="tl">
                        <a:srgbClr val="000000">
                          <a:alpha val="43137"/>
                        </a:srgbClr>
                      </a:outerShdw>
                    </a:effectLst>
                  </a:rPr>
                  <a:t>逆</a:t>
                </a:r>
                <a:r>
                  <a:rPr lang="en-US" altLang="zh-CN" sz="2000" b="1" baseline="30000" dirty="0" smtClean="0">
                    <a:solidFill>
                      <a:srgbClr val="002060"/>
                    </a:solidFill>
                    <a:effectLst>
                      <a:outerShdw blurRad="38100" dist="38100" dir="2700000" algn="tl">
                        <a:srgbClr val="000000">
                          <a:alpha val="43137"/>
                        </a:srgbClr>
                      </a:outerShdw>
                    </a:effectLst>
                  </a:rPr>
                  <a:t>’</a:t>
                </a:r>
                <a:r>
                  <a:rPr lang="zh-CN" altLang="en-US" sz="2000" b="1" dirty="0" smtClean="0">
                    <a:solidFill>
                      <a:srgbClr val="002060"/>
                    </a:solidFill>
                    <a:effectLst>
                      <a:outerShdw blurRad="38100" dist="38100" dir="2700000" algn="tl">
                        <a:srgbClr val="000000">
                          <a:alpha val="43137"/>
                        </a:srgbClr>
                      </a:outerShdw>
                    </a:effectLst>
                  </a:rPr>
                  <a:t> </a:t>
                </a:r>
                <a:endParaRPr lang="en-US" sz="2000" dirty="0"/>
              </a:p>
            </p:txBody>
          </p:sp>
        </p:grpSp>
        <p:sp>
          <p:nvSpPr>
            <p:cNvPr id="11" name="Rectangle 10"/>
            <p:cNvSpPr/>
            <p:nvPr/>
          </p:nvSpPr>
          <p:spPr>
            <a:xfrm>
              <a:off x="2490464" y="3714690"/>
              <a:ext cx="328936"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000" b="1" dirty="0" smtClean="0">
                  <a:solidFill>
                    <a:schemeClr val="tx1"/>
                  </a:solidFill>
                  <a:effectLst>
                    <a:outerShdw blurRad="38100" dist="38100" dir="2700000" algn="tl">
                      <a:srgbClr val="000000">
                        <a:alpha val="43137"/>
                      </a:srgbClr>
                    </a:outerShdw>
                  </a:effectLst>
                </a:rPr>
                <a:t>R</a:t>
              </a:r>
              <a:endParaRPr lang="en-US" sz="2000" dirty="0">
                <a:solidFill>
                  <a:schemeClr val="tx1"/>
                </a:solidFill>
              </a:endParaRPr>
            </a:p>
          </p:txBody>
        </p:sp>
      </p:grpSp>
      <p:sp>
        <p:nvSpPr>
          <p:cNvPr id="13" name="Rectangle 12"/>
          <p:cNvSpPr/>
          <p:nvPr/>
        </p:nvSpPr>
        <p:spPr>
          <a:xfrm>
            <a:off x="5334000" y="4400490"/>
            <a:ext cx="1016625" cy="400110"/>
          </a:xfrm>
          <a:prstGeom prst="rect">
            <a:avLst/>
          </a:prstGeom>
          <a:ln/>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b="1" dirty="0" smtClean="0">
                <a:solidFill>
                  <a:srgbClr val="002060"/>
                </a:solidFill>
                <a:effectLst>
                  <a:outerShdw blurRad="38100" dist="38100" dir="2700000" algn="tl">
                    <a:srgbClr val="000000">
                      <a:alpha val="43137"/>
                    </a:srgbClr>
                  </a:outerShdw>
                </a:effectLst>
              </a:rPr>
              <a:t>新平衡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化学平衡是动态平衡</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lnSpcReduction="10000"/>
          </a:bodyPr>
          <a:lstStyle/>
          <a:p>
            <a:pPr>
              <a:spcBef>
                <a:spcPts val="1200"/>
              </a:spcBef>
              <a:buFont typeface="Wingdings" pitchFamily="2" charset="2"/>
              <a:buChar char="Ø"/>
            </a:pPr>
            <a:r>
              <a:rPr lang="zh-CN" altLang="en-US" dirty="0" smtClean="0"/>
              <a:t>化学平衡的特征</a:t>
            </a:r>
            <a:endParaRPr lang="en-US" altLang="zh-CN" dirty="0" smtClean="0"/>
          </a:p>
          <a:p>
            <a:pPr>
              <a:spcBef>
                <a:spcPts val="1200"/>
              </a:spcBef>
              <a:buNone/>
            </a:pPr>
            <a:r>
              <a:rPr lang="en-US" altLang="zh-CN" dirty="0" smtClean="0"/>
              <a:t>1. </a:t>
            </a:r>
            <a:r>
              <a:rPr lang="zh-CN" altLang="en-US" dirty="0" smtClean="0"/>
              <a:t>如果条件不变，化学平衡体系中各物质的浓度也不变。</a:t>
            </a:r>
            <a:endParaRPr lang="en-US" altLang="zh-CN" dirty="0" smtClean="0"/>
          </a:p>
          <a:p>
            <a:pPr>
              <a:spcBef>
                <a:spcPts val="1200"/>
              </a:spcBef>
              <a:buNone/>
            </a:pPr>
            <a:r>
              <a:rPr lang="en-US" altLang="zh-CN" dirty="0" smtClean="0"/>
              <a:t>2. </a:t>
            </a:r>
            <a:r>
              <a:rPr lang="zh-CN" altLang="en-US" dirty="0" smtClean="0"/>
              <a:t>化学平衡是动态平衡，在化学平衡体系中，各物质的浓度随外界因素变化而发生变化。</a:t>
            </a:r>
            <a:endParaRPr lang="en-US" altLang="zh-CN" dirty="0" smtClean="0"/>
          </a:p>
          <a:p>
            <a:pPr>
              <a:spcBef>
                <a:spcPts val="1200"/>
              </a:spcBef>
              <a:buNone/>
            </a:pPr>
            <a:r>
              <a:rPr lang="en-US" altLang="zh-CN" dirty="0" smtClean="0"/>
              <a:t>3. </a:t>
            </a:r>
            <a:r>
              <a:rPr lang="zh-CN" altLang="en-US" dirty="0" smtClean="0"/>
              <a:t>化学平衡状态可以通过两个相反的途径来实现。</a:t>
            </a:r>
            <a:endParaRPr lang="en-US" altLang="zh-CN" dirty="0" smtClean="0"/>
          </a:p>
          <a:p>
            <a:pPr>
              <a:spcBef>
                <a:spcPts val="1200"/>
              </a:spcBef>
              <a:buNone/>
            </a:pPr>
            <a:r>
              <a:rPr lang="zh-CN" altLang="en-US" dirty="0" smtClean="0"/>
              <a:t>思考题</a:t>
            </a:r>
            <a:r>
              <a:rPr lang="en-US" altLang="zh-CN" dirty="0" smtClean="0"/>
              <a:t>21a</a:t>
            </a:r>
          </a:p>
          <a:p>
            <a:pPr marL="514350" indent="-514350">
              <a:spcBef>
                <a:spcPts val="300"/>
              </a:spcBef>
              <a:buAutoNum type="arabicPeriod"/>
            </a:pPr>
            <a:r>
              <a:rPr lang="en-US" altLang="zh-CN" dirty="0" smtClean="0"/>
              <a:t>B</a:t>
            </a:r>
          </a:p>
          <a:p>
            <a:pPr marL="514350" indent="-514350">
              <a:spcBef>
                <a:spcPts val="300"/>
              </a:spcBef>
              <a:buAutoNum type="arabicPeriod"/>
            </a:pPr>
            <a:r>
              <a:rPr lang="en-US" altLang="zh-CN" dirty="0" smtClean="0"/>
              <a:t>AC</a:t>
            </a:r>
          </a:p>
          <a:p>
            <a:pPr>
              <a:spcBef>
                <a:spcPts val="1200"/>
              </a:spcBef>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化学平衡的定量研究</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228600" y="914400"/>
            <a:ext cx="8915400" cy="5715000"/>
          </a:xfrm>
        </p:spPr>
        <p:txBody>
          <a:bodyPr>
            <a:normAutofit/>
          </a:bodyPr>
          <a:lstStyle/>
          <a:p>
            <a:pPr>
              <a:spcBef>
                <a:spcPts val="300"/>
              </a:spcBef>
              <a:buFont typeface="Wingdings" pitchFamily="2" charset="2"/>
              <a:buChar char="Ø"/>
            </a:pPr>
            <a:r>
              <a:rPr lang="zh-CN" altLang="en-US" sz="2800" dirty="0" smtClean="0"/>
              <a:t>化学平衡状态是一定条件下可逆反应进行的最大限度。</a:t>
            </a:r>
            <a:endParaRPr lang="en-US" altLang="zh-CN" sz="2800" dirty="0" smtClean="0"/>
          </a:p>
          <a:p>
            <a:pPr>
              <a:spcBef>
                <a:spcPts val="300"/>
              </a:spcBef>
              <a:buNone/>
            </a:pPr>
            <a:r>
              <a:rPr lang="en-US" altLang="zh-CN" sz="2800" dirty="0" smtClean="0"/>
              <a:t>21.2.1 </a:t>
            </a:r>
            <a:r>
              <a:rPr lang="zh-CN" altLang="en-US" sz="2800" dirty="0" smtClean="0"/>
              <a:t>化学平衡定律</a:t>
            </a:r>
            <a:endParaRPr lang="en-US" altLang="zh-CN" sz="2800" dirty="0" smtClean="0"/>
          </a:p>
          <a:p>
            <a:pPr>
              <a:spcBef>
                <a:spcPts val="300"/>
              </a:spcBef>
              <a:buNone/>
            </a:pPr>
            <a:r>
              <a:rPr lang="en-US" sz="2800" dirty="0" smtClean="0"/>
              <a:t>		</a:t>
            </a:r>
            <a:r>
              <a:rPr lang="en-US" altLang="zh-CN" sz="2800" dirty="0" err="1" smtClean="0"/>
              <a:t>aA</a:t>
            </a:r>
            <a:r>
              <a:rPr lang="en-US" altLang="zh-CN" sz="2800" dirty="0" smtClean="0"/>
              <a:t> + 	</a:t>
            </a:r>
            <a:r>
              <a:rPr lang="en-US" altLang="zh-CN" sz="2800" dirty="0" err="1" smtClean="0"/>
              <a:t>bB</a:t>
            </a:r>
            <a:r>
              <a:rPr lang="en-US" altLang="zh-CN" sz="2800" dirty="0" smtClean="0"/>
              <a:t> 	    </a:t>
            </a:r>
            <a:r>
              <a:rPr lang="en-US" altLang="zh-CN" sz="2800" dirty="0" err="1" smtClean="0"/>
              <a:t>cC</a:t>
            </a:r>
            <a:r>
              <a:rPr lang="en-US" altLang="zh-CN" sz="2800" dirty="0" smtClean="0"/>
              <a:t> + </a:t>
            </a:r>
            <a:r>
              <a:rPr lang="en-US" altLang="zh-CN" sz="2800" dirty="0" err="1" smtClean="0"/>
              <a:t>dD</a:t>
            </a:r>
            <a:endParaRPr lang="en-US" altLang="zh-CN" sz="2800" dirty="0" smtClean="0"/>
          </a:p>
          <a:p>
            <a:pPr>
              <a:spcBef>
                <a:spcPts val="300"/>
              </a:spcBef>
              <a:buNone/>
            </a:pPr>
            <a:r>
              <a:rPr lang="zh-CN" altLang="en-US" sz="2800" dirty="0" smtClean="0"/>
              <a:t>正反应、逆反应都是一步完成的基元反应，则</a:t>
            </a:r>
            <a:endParaRPr lang="en-US" altLang="zh-CN" sz="2800" dirty="0" smtClean="0"/>
          </a:p>
          <a:p>
            <a:pPr>
              <a:spcBef>
                <a:spcPts val="300"/>
              </a:spcBef>
              <a:buNone/>
            </a:pPr>
            <a:r>
              <a:rPr lang="en-US" altLang="zh-CN" sz="2800" dirty="0" smtClean="0"/>
              <a:t>		R</a:t>
            </a:r>
            <a:r>
              <a:rPr lang="zh-CN" altLang="en-US" sz="2800" baseline="-25000" dirty="0" smtClean="0"/>
              <a:t>正</a:t>
            </a:r>
            <a:r>
              <a:rPr lang="zh-CN" altLang="en-US" sz="2800" dirty="0" smtClean="0"/>
              <a:t> </a:t>
            </a:r>
            <a:r>
              <a:rPr lang="en-US" altLang="zh-CN" sz="2800" dirty="0" smtClean="0"/>
              <a:t>= k</a:t>
            </a:r>
            <a:r>
              <a:rPr lang="en-US" altLang="zh-CN" sz="2800" baseline="-25000" dirty="0" smtClean="0"/>
              <a:t>1</a:t>
            </a:r>
            <a:r>
              <a:rPr lang="en-US" altLang="zh-CN" sz="2800" dirty="0" smtClean="0"/>
              <a:t>[A]</a:t>
            </a:r>
            <a:r>
              <a:rPr lang="en-US" altLang="zh-CN" sz="2800" baseline="30000" dirty="0" smtClean="0"/>
              <a:t>a</a:t>
            </a:r>
            <a:r>
              <a:rPr lang="en-US" altLang="zh-CN" sz="2800" dirty="0" smtClean="0"/>
              <a:t>[B]</a:t>
            </a:r>
            <a:r>
              <a:rPr lang="en-US" altLang="zh-CN" sz="2800" baseline="30000" dirty="0" smtClean="0"/>
              <a:t>b</a:t>
            </a:r>
            <a:r>
              <a:rPr lang="en-US" altLang="zh-CN" sz="2800" dirty="0" smtClean="0"/>
              <a:t> </a:t>
            </a:r>
          </a:p>
          <a:p>
            <a:pPr>
              <a:spcBef>
                <a:spcPts val="300"/>
              </a:spcBef>
              <a:buNone/>
            </a:pPr>
            <a:r>
              <a:rPr lang="en-US" sz="2800" dirty="0" smtClean="0"/>
              <a:t>		</a:t>
            </a:r>
            <a:r>
              <a:rPr lang="en-US" altLang="zh-CN" sz="2800" dirty="0" smtClean="0"/>
              <a:t>R</a:t>
            </a:r>
            <a:r>
              <a:rPr lang="zh-CN" altLang="en-US" sz="2800" baseline="-25000" dirty="0" smtClean="0"/>
              <a:t>逆</a:t>
            </a:r>
            <a:r>
              <a:rPr lang="zh-CN" altLang="en-US" sz="2800" dirty="0" smtClean="0"/>
              <a:t> </a:t>
            </a:r>
            <a:r>
              <a:rPr lang="en-US" altLang="zh-CN" sz="2800" dirty="0" smtClean="0"/>
              <a:t>= k</a:t>
            </a:r>
            <a:r>
              <a:rPr lang="en-US" altLang="zh-CN" sz="2800" baseline="-25000" dirty="0" smtClean="0"/>
              <a:t>2</a:t>
            </a:r>
            <a:r>
              <a:rPr lang="en-US" altLang="zh-CN" sz="2800" dirty="0" smtClean="0"/>
              <a:t>[C]</a:t>
            </a:r>
            <a:r>
              <a:rPr lang="en-US" altLang="zh-CN" sz="2800" baseline="30000" dirty="0" smtClean="0"/>
              <a:t>c</a:t>
            </a:r>
            <a:r>
              <a:rPr lang="en-US" altLang="zh-CN" sz="2800" dirty="0" smtClean="0"/>
              <a:t>[D]</a:t>
            </a:r>
            <a:r>
              <a:rPr lang="en-US" altLang="zh-CN" sz="2800" baseline="30000" dirty="0" smtClean="0"/>
              <a:t>d</a:t>
            </a:r>
            <a:r>
              <a:rPr lang="en-US" altLang="zh-CN" sz="2800" dirty="0" smtClean="0"/>
              <a:t> </a:t>
            </a:r>
          </a:p>
          <a:p>
            <a:pPr>
              <a:spcBef>
                <a:spcPts val="300"/>
              </a:spcBef>
              <a:buNone/>
            </a:pPr>
            <a:r>
              <a:rPr lang="zh-CN" altLang="en-US" sz="2800" dirty="0" smtClean="0"/>
              <a:t>达到平衡时</a:t>
            </a:r>
            <a:r>
              <a:rPr lang="en-US" altLang="zh-CN" sz="2800" dirty="0" smtClean="0"/>
              <a:t>R</a:t>
            </a:r>
            <a:r>
              <a:rPr lang="zh-CN" altLang="en-US" sz="2800" baseline="-25000" dirty="0" smtClean="0"/>
              <a:t>正</a:t>
            </a:r>
            <a:r>
              <a:rPr lang="zh-CN" altLang="en-US" sz="2800" dirty="0" smtClean="0"/>
              <a:t> </a:t>
            </a:r>
            <a:r>
              <a:rPr lang="en-US" altLang="zh-CN" sz="2800" dirty="0" smtClean="0"/>
              <a:t>= R</a:t>
            </a:r>
            <a:r>
              <a:rPr lang="zh-CN" altLang="en-US" sz="2800" baseline="-25000" dirty="0" smtClean="0"/>
              <a:t>逆</a:t>
            </a:r>
            <a:r>
              <a:rPr lang="zh-CN" altLang="en-US" sz="2800" dirty="0" smtClean="0"/>
              <a:t> ，则</a:t>
            </a:r>
            <a:r>
              <a:rPr lang="en-US" altLang="zh-CN" sz="2800" dirty="0" smtClean="0"/>
              <a:t>k</a:t>
            </a:r>
            <a:r>
              <a:rPr lang="en-US" altLang="zh-CN" sz="2800" baseline="-25000" dirty="0" smtClean="0"/>
              <a:t>1</a:t>
            </a:r>
            <a:r>
              <a:rPr lang="en-US" altLang="zh-CN" sz="2800" dirty="0" smtClean="0"/>
              <a:t>[A]</a:t>
            </a:r>
            <a:r>
              <a:rPr lang="en-US" altLang="zh-CN" sz="2800" baseline="30000" dirty="0" smtClean="0"/>
              <a:t>a</a:t>
            </a:r>
            <a:r>
              <a:rPr lang="en-US" altLang="zh-CN" sz="2800" dirty="0" smtClean="0"/>
              <a:t>[B]</a:t>
            </a:r>
            <a:r>
              <a:rPr lang="en-US" altLang="zh-CN" sz="2800" baseline="30000" dirty="0" smtClean="0"/>
              <a:t>b</a:t>
            </a:r>
            <a:r>
              <a:rPr lang="en-US" altLang="zh-CN" sz="2800" dirty="0" smtClean="0"/>
              <a:t>  = k</a:t>
            </a:r>
            <a:r>
              <a:rPr lang="en-US" altLang="zh-CN" sz="2800" baseline="-25000" dirty="0" smtClean="0"/>
              <a:t>2</a:t>
            </a:r>
            <a:r>
              <a:rPr lang="en-US" altLang="zh-CN" sz="2800" dirty="0" smtClean="0"/>
              <a:t>[C]</a:t>
            </a:r>
            <a:r>
              <a:rPr lang="en-US" altLang="zh-CN" sz="2800" baseline="30000" dirty="0" smtClean="0"/>
              <a:t>c</a:t>
            </a:r>
            <a:r>
              <a:rPr lang="en-US" altLang="zh-CN" sz="2800" dirty="0" smtClean="0"/>
              <a:t>[D]</a:t>
            </a:r>
            <a:r>
              <a:rPr lang="en-US" altLang="zh-CN" sz="2800" baseline="30000" dirty="0" smtClean="0"/>
              <a:t>d </a:t>
            </a:r>
            <a:r>
              <a:rPr lang="en-US" altLang="zh-CN" sz="2800" dirty="0" smtClean="0"/>
              <a:t>   </a:t>
            </a:r>
          </a:p>
          <a:p>
            <a:pPr>
              <a:spcBef>
                <a:spcPts val="300"/>
              </a:spcBef>
              <a:buNone/>
            </a:pPr>
            <a:endParaRPr lang="en-US" sz="2800" dirty="0" smtClean="0"/>
          </a:p>
          <a:p>
            <a:pPr>
              <a:spcBef>
                <a:spcPts val="300"/>
              </a:spcBef>
              <a:buNone/>
            </a:pPr>
            <a:endParaRPr lang="en-US" sz="2800" dirty="0" smtClean="0"/>
          </a:p>
          <a:p>
            <a:pPr>
              <a:spcBef>
                <a:spcPts val="300"/>
              </a:spcBef>
              <a:buNone/>
            </a:pPr>
            <a:r>
              <a:rPr lang="en-US" sz="2800" dirty="0" err="1" smtClean="0"/>
              <a:t>K</a:t>
            </a:r>
            <a:r>
              <a:rPr lang="en-US" sz="2800" baseline="-25000" dirty="0" err="1" smtClean="0"/>
              <a:t>c</a:t>
            </a:r>
            <a:r>
              <a:rPr lang="en-US" sz="2800" dirty="0" smtClean="0"/>
              <a:t> </a:t>
            </a:r>
            <a:r>
              <a:rPr lang="zh-CN" altLang="en-US" sz="2800" dirty="0" smtClean="0"/>
              <a:t>为化学平衡常数</a:t>
            </a:r>
            <a:endParaRPr lang="en-US" sz="2800" dirty="0" smtClean="0"/>
          </a:p>
          <a:p>
            <a:pPr>
              <a:spcBef>
                <a:spcPts val="300"/>
              </a:spcBef>
              <a:buNone/>
            </a:pPr>
            <a:endParaRPr lang="en-US" sz="2800" dirty="0"/>
          </a:p>
        </p:txBody>
      </p:sp>
      <p:graphicFrame>
        <p:nvGraphicFramePr>
          <p:cNvPr id="5" name="Object 4"/>
          <p:cNvGraphicFramePr>
            <a:graphicFrameLocks noChangeAspect="1"/>
          </p:cNvGraphicFramePr>
          <p:nvPr/>
        </p:nvGraphicFramePr>
        <p:xfrm>
          <a:off x="2667000" y="1905000"/>
          <a:ext cx="762000" cy="381000"/>
        </p:xfrm>
        <a:graphic>
          <a:graphicData uri="http://schemas.openxmlformats.org/presentationml/2006/ole">
            <p:oleObj spid="_x0000_s1026" name="Equation" r:id="rId4" imgW="203040" imgH="139680" progId="Equation.3">
              <p:embed/>
            </p:oleObj>
          </a:graphicData>
        </a:graphic>
      </p:graphicFrame>
      <p:sp>
        <p:nvSpPr>
          <p:cNvPr id="7" name="Rounded Rectangle 6"/>
          <p:cNvSpPr/>
          <p:nvPr/>
        </p:nvSpPr>
        <p:spPr>
          <a:xfrm>
            <a:off x="2133600" y="3733800"/>
            <a:ext cx="11430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Rounded Rectangle 7"/>
          <p:cNvSpPr/>
          <p:nvPr/>
        </p:nvSpPr>
        <p:spPr>
          <a:xfrm>
            <a:off x="4038600" y="3733800"/>
            <a:ext cx="3352800" cy="4572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aphicFrame>
        <p:nvGraphicFramePr>
          <p:cNvPr id="9" name="Object 8"/>
          <p:cNvGraphicFramePr>
            <a:graphicFrameLocks noChangeAspect="1"/>
          </p:cNvGraphicFramePr>
          <p:nvPr/>
        </p:nvGraphicFramePr>
        <p:xfrm>
          <a:off x="4114800" y="4267200"/>
          <a:ext cx="2317750" cy="1143000"/>
        </p:xfrm>
        <a:graphic>
          <a:graphicData uri="http://schemas.openxmlformats.org/presentationml/2006/ole">
            <p:oleObj spid="_x0000_s1028" name="Equation" r:id="rId5" imgW="927000" imgH="457200" progId="Equation.3">
              <p:embed/>
            </p:oleObj>
          </a:graphicData>
        </a:graphic>
      </p:graphicFrame>
      <p:sp>
        <p:nvSpPr>
          <p:cNvPr id="10" name="Rectangle 9"/>
          <p:cNvSpPr/>
          <p:nvPr/>
        </p:nvSpPr>
        <p:spPr>
          <a:xfrm>
            <a:off x="3158975" y="4459069"/>
            <a:ext cx="879343" cy="646331"/>
          </a:xfrm>
          <a:prstGeom prst="rect">
            <a:avLst/>
          </a:prstGeom>
        </p:spPr>
        <p:txBody>
          <a:bodyPr wrap="none">
            <a:spAutoFit/>
          </a:bodyPr>
          <a:lstStyle/>
          <a:p>
            <a:r>
              <a:rPr lang="en-US" sz="3600" dirty="0" err="1" smtClean="0"/>
              <a:t>K</a:t>
            </a:r>
            <a:r>
              <a:rPr lang="en-US" sz="3600" baseline="-25000" dirty="0" err="1" smtClean="0"/>
              <a:t>c</a:t>
            </a:r>
            <a:r>
              <a:rPr lang="en-US" sz="3600" dirty="0" smtClean="0"/>
              <a:t> =</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grpId="0" nodeType="clickEffect">
                                  <p:stCondLst>
                                    <p:cond delay="0"/>
                                  </p:stCondLst>
                                  <p:childTnLst>
                                    <p:animEffect transition="out" filter="blinds(horizontal)">
                                      <p:cBhvr>
                                        <p:cTn id="44" dur="500"/>
                                        <p:tgtEl>
                                          <p:spTgt spid="7"/>
                                        </p:tgtEl>
                                      </p:cBhvr>
                                    </p:animEffect>
                                    <p:set>
                                      <p:cBhvr>
                                        <p:cTn id="45" dur="1" fill="hold">
                                          <p:stCondLst>
                                            <p:cond delay="499"/>
                                          </p:stCondLst>
                                        </p:cTn>
                                        <p:tgtEl>
                                          <p:spTgt spid="7"/>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0" nodeType="clickEffect">
                                  <p:stCondLst>
                                    <p:cond delay="0"/>
                                  </p:stCondLst>
                                  <p:childTnLst>
                                    <p:animEffect transition="out" filter="blinds(horizontal)">
                                      <p:cBhvr>
                                        <p:cTn id="49" dur="500"/>
                                        <p:tgtEl>
                                          <p:spTgt spid="8"/>
                                        </p:tgtEl>
                                      </p:cBhvr>
                                    </p:animEffect>
                                    <p:set>
                                      <p:cBhvr>
                                        <p:cTn id="50" dur="1" fill="hold">
                                          <p:stCondLst>
                                            <p:cond delay="499"/>
                                          </p:stCondLst>
                                        </p:cTn>
                                        <p:tgtEl>
                                          <p:spTgt spid="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blinds(horizontal)">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linds(horizontal)">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blinds(horizontal)">
                                      <p:cBhvr>
                                        <p:cTn id="6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8"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21.2.1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化学平衡定律</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Font typeface="Wingdings" pitchFamily="2" charset="2"/>
              <a:buChar char="Ø"/>
            </a:pPr>
            <a:r>
              <a:rPr lang="zh-CN" altLang="en-US" dirty="0" smtClean="0"/>
              <a:t>化学平衡定律</a:t>
            </a:r>
            <a:endParaRPr lang="en-US" altLang="zh-CN" dirty="0" smtClean="0"/>
          </a:p>
          <a:p>
            <a:pPr>
              <a:spcBef>
                <a:spcPts val="300"/>
              </a:spcBef>
              <a:buNone/>
            </a:pPr>
            <a:r>
              <a:rPr lang="zh-CN" altLang="en-US" dirty="0" smtClean="0"/>
              <a:t>在</a:t>
            </a:r>
            <a:r>
              <a:rPr lang="zh-CN" altLang="en-US" b="1" dirty="0" smtClean="0">
                <a:solidFill>
                  <a:srgbClr val="002060"/>
                </a:solidFill>
                <a:effectLst>
                  <a:outerShdw blurRad="38100" dist="38100" dir="2700000" algn="tl">
                    <a:srgbClr val="000000">
                      <a:alpha val="43137"/>
                    </a:srgbClr>
                  </a:outerShdw>
                </a:effectLst>
              </a:rPr>
              <a:t>一定温度下</a:t>
            </a:r>
            <a:r>
              <a:rPr lang="zh-CN" altLang="en-US" dirty="0" smtClean="0"/>
              <a:t>，</a:t>
            </a:r>
            <a:r>
              <a:rPr lang="zh-CN" altLang="en-US" b="1" dirty="0" smtClean="0">
                <a:solidFill>
                  <a:srgbClr val="002060"/>
                </a:solidFill>
                <a:effectLst>
                  <a:outerShdw blurRad="38100" dist="38100" dir="2700000" algn="tl">
                    <a:srgbClr val="000000">
                      <a:alpha val="43137"/>
                    </a:srgbClr>
                  </a:outerShdw>
                </a:effectLst>
              </a:rPr>
              <a:t>可逆反应达到平衡时</a:t>
            </a:r>
            <a:r>
              <a:rPr lang="zh-CN" altLang="en-US" dirty="0" smtClean="0"/>
              <a:t>，各生成物浓度的系数次幂的乘积除以各反应物浓度的系数次幂的乘积所得的比值是一个常数。</a:t>
            </a:r>
            <a:endParaRPr lang="en-US" altLang="zh-CN" dirty="0" smtClean="0"/>
          </a:p>
          <a:p>
            <a:pPr>
              <a:spcBef>
                <a:spcPts val="300"/>
              </a:spcBef>
              <a:buFont typeface="Wingdings" pitchFamily="2" charset="2"/>
              <a:buChar char="Ø"/>
            </a:pPr>
            <a:r>
              <a:rPr lang="en-US" altLang="zh-CN" dirty="0" err="1" smtClean="0"/>
              <a:t>K</a:t>
            </a:r>
            <a:r>
              <a:rPr lang="en-US" altLang="zh-CN" baseline="-25000" dirty="0" err="1" smtClean="0"/>
              <a:t>c</a:t>
            </a:r>
            <a:r>
              <a:rPr lang="en-US" altLang="zh-CN" dirty="0" smtClean="0"/>
              <a:t> </a:t>
            </a:r>
            <a:r>
              <a:rPr lang="zh-CN" altLang="en-US" dirty="0" smtClean="0"/>
              <a:t>化学平衡常数</a:t>
            </a:r>
            <a:endParaRPr lang="en-US" altLang="zh-CN" dirty="0" smtClean="0"/>
          </a:p>
          <a:p>
            <a:pPr>
              <a:spcBef>
                <a:spcPts val="300"/>
              </a:spcBef>
              <a:buNone/>
            </a:pPr>
            <a:endParaRPr lang="en-US" altLang="zh-CN" dirty="0" smtClean="0"/>
          </a:p>
          <a:p>
            <a:pPr>
              <a:spcBef>
                <a:spcPts val="300"/>
              </a:spcBef>
              <a:buFont typeface="Wingdings" pitchFamily="2" charset="2"/>
              <a:buChar char="Ø"/>
            </a:pPr>
            <a:r>
              <a:rPr lang="en-US" altLang="zh-CN" dirty="0" err="1" smtClean="0"/>
              <a:t>K</a:t>
            </a:r>
            <a:r>
              <a:rPr lang="en-US" altLang="zh-CN" baseline="-25000" dirty="0" err="1" smtClean="0"/>
              <a:t>p</a:t>
            </a:r>
            <a:r>
              <a:rPr lang="en-US" altLang="zh-CN" dirty="0" smtClean="0"/>
              <a:t> </a:t>
            </a:r>
            <a:r>
              <a:rPr lang="zh-CN" altLang="en-US" dirty="0" smtClean="0"/>
              <a:t>压强平衡常数</a:t>
            </a:r>
            <a:endParaRPr lang="en-US" dirty="0"/>
          </a:p>
        </p:txBody>
      </p:sp>
      <p:graphicFrame>
        <p:nvGraphicFramePr>
          <p:cNvPr id="5" name="Object 4"/>
          <p:cNvGraphicFramePr>
            <a:graphicFrameLocks noChangeAspect="1"/>
          </p:cNvGraphicFramePr>
          <p:nvPr/>
        </p:nvGraphicFramePr>
        <p:xfrm>
          <a:off x="4102100" y="3206750"/>
          <a:ext cx="2080986" cy="984250"/>
        </p:xfrm>
        <a:graphic>
          <a:graphicData uri="http://schemas.openxmlformats.org/presentationml/2006/ole">
            <p:oleObj spid="_x0000_s2050" name="Equation" r:id="rId4" imgW="939600" imgH="444240" progId="Equation.3">
              <p:embed/>
            </p:oleObj>
          </a:graphicData>
        </a:graphic>
      </p:graphicFrame>
      <p:graphicFrame>
        <p:nvGraphicFramePr>
          <p:cNvPr id="6" name="Object 5"/>
          <p:cNvGraphicFramePr>
            <a:graphicFrameLocks noChangeAspect="1"/>
          </p:cNvGraphicFramePr>
          <p:nvPr/>
        </p:nvGraphicFramePr>
        <p:xfrm>
          <a:off x="4114800" y="4495800"/>
          <a:ext cx="2098508" cy="1155700"/>
        </p:xfrm>
        <a:graphic>
          <a:graphicData uri="http://schemas.openxmlformats.org/presentationml/2006/ole">
            <p:oleObj spid="_x0000_s2051" name="Equation" r:id="rId5" imgW="876240" imgH="4824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21.2.1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化学平衡定律</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Font typeface="Wingdings" pitchFamily="2" charset="2"/>
              <a:buChar char="Ø"/>
            </a:pPr>
            <a:r>
              <a:rPr lang="zh-CN" altLang="en-US" dirty="0" smtClean="0"/>
              <a:t>平衡常数表达式的书写</a:t>
            </a:r>
            <a:endParaRPr lang="en-US" altLang="zh-CN" dirty="0" smtClean="0"/>
          </a:p>
          <a:p>
            <a:pPr>
              <a:lnSpc>
                <a:spcPct val="150000"/>
              </a:lnSpc>
              <a:spcBef>
                <a:spcPts val="300"/>
              </a:spcBef>
              <a:buFont typeface="Wingdings" pitchFamily="2" charset="2"/>
              <a:buChar char="Ø"/>
            </a:pPr>
            <a:r>
              <a:rPr lang="zh-CN" altLang="en-US" dirty="0" smtClean="0"/>
              <a:t>分子：</a:t>
            </a:r>
            <a:r>
              <a:rPr lang="en-US" altLang="zh-CN" dirty="0" smtClean="0"/>
              <a:t>[</a:t>
            </a:r>
            <a:r>
              <a:rPr lang="zh-CN" altLang="en-US" dirty="0" smtClean="0"/>
              <a:t>生成物</a:t>
            </a:r>
            <a:r>
              <a:rPr lang="en-US" altLang="zh-CN" dirty="0" smtClean="0"/>
              <a:t>]</a:t>
            </a:r>
            <a:r>
              <a:rPr lang="en-US" altLang="zh-CN" baseline="30000" dirty="0" smtClean="0"/>
              <a:t>n</a:t>
            </a:r>
            <a:r>
              <a:rPr lang="en-US" altLang="zh-CN" dirty="0" smtClean="0"/>
              <a:t> </a:t>
            </a:r>
          </a:p>
          <a:p>
            <a:pPr>
              <a:lnSpc>
                <a:spcPct val="150000"/>
              </a:lnSpc>
              <a:spcBef>
                <a:spcPts val="300"/>
              </a:spcBef>
              <a:buFont typeface="Wingdings" pitchFamily="2" charset="2"/>
              <a:buChar char="Ø"/>
            </a:pPr>
            <a:r>
              <a:rPr lang="zh-CN" altLang="en-US" dirty="0" smtClean="0"/>
              <a:t>分母：</a:t>
            </a:r>
            <a:r>
              <a:rPr lang="en-US" altLang="zh-CN" dirty="0" smtClean="0"/>
              <a:t>[</a:t>
            </a:r>
            <a:r>
              <a:rPr lang="zh-CN" altLang="en-US" dirty="0" smtClean="0"/>
              <a:t>反应物</a:t>
            </a:r>
            <a:r>
              <a:rPr lang="en-US" altLang="zh-CN" dirty="0" smtClean="0"/>
              <a:t>]</a:t>
            </a:r>
            <a:r>
              <a:rPr lang="en-US" altLang="zh-CN" baseline="30000" dirty="0" smtClean="0"/>
              <a:t>m</a:t>
            </a:r>
            <a:r>
              <a:rPr lang="en-US" altLang="zh-CN" dirty="0" smtClean="0"/>
              <a:t> </a:t>
            </a:r>
          </a:p>
          <a:p>
            <a:pPr>
              <a:lnSpc>
                <a:spcPct val="150000"/>
              </a:lnSpc>
              <a:spcBef>
                <a:spcPts val="300"/>
              </a:spcBef>
              <a:buFont typeface="Wingdings" pitchFamily="2" charset="2"/>
              <a:buChar char="Ø"/>
            </a:pPr>
            <a:r>
              <a:rPr lang="zh-CN" altLang="en-US" dirty="0" smtClean="0"/>
              <a:t>纯固体、纯液体浓度为定值，所以用零次方。</a:t>
            </a:r>
            <a:endParaRPr lang="en-US" altLang="zh-CN" dirty="0" smtClean="0"/>
          </a:p>
          <a:p>
            <a:pPr>
              <a:lnSpc>
                <a:spcPct val="150000"/>
              </a:lnSpc>
              <a:spcBef>
                <a:spcPts val="300"/>
              </a:spcBef>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问题解决</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Font typeface="Wingdings" pitchFamily="2" charset="2"/>
              <a:buChar char="Ø"/>
            </a:pPr>
            <a:r>
              <a:rPr lang="en-US" altLang="zh-CN" dirty="0" smtClean="0"/>
              <a:t> H</a:t>
            </a:r>
            <a:r>
              <a:rPr lang="en-US" altLang="zh-CN" baseline="-25000" dirty="0" smtClean="0"/>
              <a:t>2</a:t>
            </a:r>
            <a:r>
              <a:rPr lang="en-US" altLang="zh-CN" dirty="0" smtClean="0"/>
              <a:t> </a:t>
            </a:r>
            <a:r>
              <a:rPr lang="en-US" altLang="zh-CN" baseline="-25000" dirty="0" smtClean="0"/>
              <a:t>(g)</a:t>
            </a:r>
            <a:r>
              <a:rPr lang="en-US" altLang="zh-CN" dirty="0" smtClean="0"/>
              <a:t> + I</a:t>
            </a:r>
            <a:r>
              <a:rPr lang="en-US" altLang="zh-CN" baseline="-25000" dirty="0" smtClean="0"/>
              <a:t>2</a:t>
            </a:r>
            <a:r>
              <a:rPr lang="en-US" altLang="zh-CN" dirty="0" smtClean="0"/>
              <a:t> </a:t>
            </a:r>
            <a:r>
              <a:rPr lang="en-US" altLang="zh-CN" baseline="-25000" dirty="0" smtClean="0"/>
              <a:t>(g)</a:t>
            </a:r>
            <a:r>
              <a:rPr lang="en-US" altLang="zh-CN" dirty="0" smtClean="0"/>
              <a:t>        2 HI </a:t>
            </a:r>
            <a:r>
              <a:rPr lang="en-US" altLang="zh-CN" baseline="-25000" dirty="0" smtClean="0"/>
              <a:t>(g) </a:t>
            </a:r>
            <a:r>
              <a:rPr lang="en-US" altLang="zh-CN" dirty="0" smtClean="0"/>
              <a:t> </a:t>
            </a:r>
          </a:p>
          <a:p>
            <a:pPr>
              <a:spcBef>
                <a:spcPts val="300"/>
              </a:spcBef>
              <a:buNone/>
            </a:pPr>
            <a:r>
              <a:rPr lang="en-US" altLang="zh-CN" dirty="0" smtClean="0"/>
              <a:t>		 </a:t>
            </a:r>
          </a:p>
          <a:p>
            <a:pPr>
              <a:spcBef>
                <a:spcPts val="300"/>
              </a:spcBef>
              <a:buNone/>
            </a:pPr>
            <a:endParaRPr lang="en-US" altLang="zh-CN" dirty="0" smtClean="0"/>
          </a:p>
          <a:p>
            <a:pPr>
              <a:spcBef>
                <a:spcPts val="300"/>
              </a:spcBef>
              <a:buFont typeface="Wingdings" pitchFamily="2" charset="2"/>
              <a:buChar char="Ø"/>
            </a:pPr>
            <a:r>
              <a:rPr lang="en-US" altLang="zh-CN" dirty="0" smtClean="0"/>
              <a:t>2 HI </a:t>
            </a:r>
            <a:r>
              <a:rPr lang="en-US" altLang="zh-CN" baseline="-25000" dirty="0" smtClean="0"/>
              <a:t>(g)   </a:t>
            </a:r>
            <a:r>
              <a:rPr lang="en-US" altLang="zh-CN" dirty="0" smtClean="0"/>
              <a:t>        H</a:t>
            </a:r>
            <a:r>
              <a:rPr lang="en-US" altLang="zh-CN" baseline="-25000" dirty="0" smtClean="0"/>
              <a:t>2</a:t>
            </a:r>
            <a:r>
              <a:rPr lang="en-US" altLang="zh-CN" dirty="0" smtClean="0"/>
              <a:t> </a:t>
            </a:r>
            <a:r>
              <a:rPr lang="en-US" altLang="zh-CN" baseline="-25000" dirty="0" smtClean="0"/>
              <a:t>(g)</a:t>
            </a:r>
            <a:r>
              <a:rPr lang="en-US" altLang="zh-CN" dirty="0" smtClean="0"/>
              <a:t> + I</a:t>
            </a:r>
            <a:r>
              <a:rPr lang="en-US" altLang="zh-CN" baseline="-25000" dirty="0" smtClean="0"/>
              <a:t>2</a:t>
            </a:r>
            <a:r>
              <a:rPr lang="en-US" altLang="zh-CN" dirty="0" smtClean="0"/>
              <a:t> </a:t>
            </a:r>
            <a:r>
              <a:rPr lang="en-US" altLang="zh-CN" baseline="-25000" dirty="0" smtClean="0"/>
              <a:t>(g)  </a:t>
            </a:r>
            <a:r>
              <a:rPr lang="en-US" altLang="zh-CN" dirty="0" smtClean="0"/>
              <a:t> </a:t>
            </a:r>
          </a:p>
          <a:p>
            <a:pPr>
              <a:spcBef>
                <a:spcPts val="300"/>
              </a:spcBef>
              <a:buNone/>
            </a:pPr>
            <a:r>
              <a:rPr lang="en-US" altLang="zh-CN" dirty="0" smtClean="0"/>
              <a:t>		</a:t>
            </a:r>
          </a:p>
          <a:p>
            <a:pPr>
              <a:spcBef>
                <a:spcPts val="300"/>
              </a:spcBef>
              <a:buNone/>
            </a:pPr>
            <a:endParaRPr lang="en-US" altLang="zh-CN" dirty="0" smtClean="0"/>
          </a:p>
          <a:p>
            <a:pPr>
              <a:spcBef>
                <a:spcPts val="300"/>
              </a:spcBef>
              <a:buFont typeface="Wingdings" pitchFamily="2" charset="2"/>
              <a:buChar char="Ø"/>
            </a:pPr>
            <a:r>
              <a:rPr lang="en-US" altLang="zh-CN" dirty="0" smtClean="0"/>
              <a:t>½ H</a:t>
            </a:r>
            <a:r>
              <a:rPr lang="en-US" altLang="zh-CN" baseline="-25000" dirty="0" smtClean="0"/>
              <a:t>2</a:t>
            </a:r>
            <a:r>
              <a:rPr lang="en-US" altLang="zh-CN" dirty="0" smtClean="0"/>
              <a:t> </a:t>
            </a:r>
            <a:r>
              <a:rPr lang="en-US" altLang="zh-CN" baseline="-25000" dirty="0" smtClean="0"/>
              <a:t>(g)</a:t>
            </a:r>
            <a:r>
              <a:rPr lang="en-US" altLang="zh-CN" dirty="0" smtClean="0"/>
              <a:t> +  ½  I</a:t>
            </a:r>
            <a:r>
              <a:rPr lang="en-US" altLang="zh-CN" baseline="-25000" dirty="0" smtClean="0"/>
              <a:t>2</a:t>
            </a:r>
            <a:r>
              <a:rPr lang="en-US" altLang="zh-CN" dirty="0" smtClean="0"/>
              <a:t> </a:t>
            </a:r>
            <a:r>
              <a:rPr lang="en-US" altLang="zh-CN" baseline="-25000" dirty="0" smtClean="0"/>
              <a:t>(g)</a:t>
            </a:r>
            <a:r>
              <a:rPr lang="en-US" altLang="zh-CN" dirty="0" smtClean="0"/>
              <a:t>         HI </a:t>
            </a:r>
            <a:r>
              <a:rPr lang="en-US" altLang="zh-CN" baseline="-25000" dirty="0" smtClean="0"/>
              <a:t>(g)</a:t>
            </a:r>
            <a:r>
              <a:rPr lang="en-US" altLang="zh-CN" dirty="0" smtClean="0"/>
              <a:t> </a:t>
            </a:r>
          </a:p>
        </p:txBody>
      </p:sp>
      <p:graphicFrame>
        <p:nvGraphicFramePr>
          <p:cNvPr id="3074" name="Object 2"/>
          <p:cNvGraphicFramePr>
            <a:graphicFrameLocks noChangeAspect="1"/>
          </p:cNvGraphicFramePr>
          <p:nvPr/>
        </p:nvGraphicFramePr>
        <p:xfrm>
          <a:off x="2895600" y="1066800"/>
          <a:ext cx="762000" cy="381000"/>
        </p:xfrm>
        <a:graphic>
          <a:graphicData uri="http://schemas.openxmlformats.org/presentationml/2006/ole">
            <p:oleObj spid="_x0000_s3074" name="Equation" r:id="rId4" imgW="203040" imgH="139680" progId="Equation.3">
              <p:embed/>
            </p:oleObj>
          </a:graphicData>
        </a:graphic>
      </p:graphicFrame>
      <p:grpSp>
        <p:nvGrpSpPr>
          <p:cNvPr id="6" name="Group 3"/>
          <p:cNvGrpSpPr/>
          <p:nvPr/>
        </p:nvGrpSpPr>
        <p:grpSpPr>
          <a:xfrm>
            <a:off x="1295400" y="1447800"/>
            <a:ext cx="3309577" cy="990599"/>
            <a:chOff x="2068535" y="1410711"/>
            <a:chExt cx="2463331" cy="1194375"/>
          </a:xfrm>
        </p:grpSpPr>
        <p:grpSp>
          <p:nvGrpSpPr>
            <p:cNvPr id="7" name="Group 24"/>
            <p:cNvGrpSpPr/>
            <p:nvPr/>
          </p:nvGrpSpPr>
          <p:grpSpPr>
            <a:xfrm>
              <a:off x="2068535" y="1410711"/>
              <a:ext cx="2463331" cy="889575"/>
              <a:chOff x="2068535" y="1410711"/>
              <a:chExt cx="2463331" cy="889575"/>
            </a:xfrm>
          </p:grpSpPr>
          <p:sp>
            <p:nvSpPr>
              <p:cNvPr id="9" name="TextBox 8"/>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10"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8" name="TextBox 5"/>
            <p:cNvSpPr txBox="1"/>
            <p:nvPr/>
          </p:nvSpPr>
          <p:spPr>
            <a:xfrm>
              <a:off x="2609165" y="2020311"/>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sp>
        <p:nvSpPr>
          <p:cNvPr id="12" name="Rectangle 11"/>
          <p:cNvSpPr/>
          <p:nvPr/>
        </p:nvSpPr>
        <p:spPr>
          <a:xfrm>
            <a:off x="4724400" y="1676400"/>
            <a:ext cx="806631" cy="584775"/>
          </a:xfrm>
          <a:prstGeom prst="rect">
            <a:avLst/>
          </a:prstGeom>
        </p:spPr>
        <p:txBody>
          <a:bodyPr wrap="none">
            <a:spAutoFit/>
          </a:bodyPr>
          <a:lstStyle/>
          <a:p>
            <a:pPr>
              <a:spcBef>
                <a:spcPts val="300"/>
              </a:spcBef>
            </a:pPr>
            <a:r>
              <a:rPr lang="en-US" sz="3200" dirty="0" smtClean="0"/>
              <a:t>=49</a:t>
            </a:r>
            <a:endParaRPr lang="en-US" sz="3200" dirty="0"/>
          </a:p>
        </p:txBody>
      </p:sp>
      <p:graphicFrame>
        <p:nvGraphicFramePr>
          <p:cNvPr id="3075" name="Object 3"/>
          <p:cNvGraphicFramePr>
            <a:graphicFrameLocks noChangeAspect="1"/>
          </p:cNvGraphicFramePr>
          <p:nvPr/>
        </p:nvGraphicFramePr>
        <p:xfrm>
          <a:off x="1981200" y="2667000"/>
          <a:ext cx="762000" cy="381000"/>
        </p:xfrm>
        <a:graphic>
          <a:graphicData uri="http://schemas.openxmlformats.org/presentationml/2006/ole">
            <p:oleObj spid="_x0000_s3075" name="Equation" r:id="rId5" imgW="203040" imgH="139680" progId="Equation.3">
              <p:embed/>
            </p:oleObj>
          </a:graphicData>
        </a:graphic>
      </p:graphicFrame>
      <p:graphicFrame>
        <p:nvGraphicFramePr>
          <p:cNvPr id="3076" name="Object 4"/>
          <p:cNvGraphicFramePr>
            <a:graphicFrameLocks noChangeAspect="1"/>
          </p:cNvGraphicFramePr>
          <p:nvPr/>
        </p:nvGraphicFramePr>
        <p:xfrm>
          <a:off x="3657600" y="4267200"/>
          <a:ext cx="762000" cy="381000"/>
        </p:xfrm>
        <a:graphic>
          <a:graphicData uri="http://schemas.openxmlformats.org/presentationml/2006/ole">
            <p:oleObj spid="_x0000_s3076" name="Equation" r:id="rId6" imgW="203040" imgH="139680" progId="Equation.3">
              <p:embed/>
            </p:oleObj>
          </a:graphicData>
        </a:graphic>
      </p:graphicFrame>
      <p:grpSp>
        <p:nvGrpSpPr>
          <p:cNvPr id="15" name="Group 3"/>
          <p:cNvGrpSpPr/>
          <p:nvPr/>
        </p:nvGrpSpPr>
        <p:grpSpPr>
          <a:xfrm>
            <a:off x="1330042" y="3045022"/>
            <a:ext cx="3309577" cy="1069778"/>
            <a:chOff x="2068535" y="1348768"/>
            <a:chExt cx="2463331" cy="1289842"/>
          </a:xfrm>
        </p:grpSpPr>
        <p:grpSp>
          <p:nvGrpSpPr>
            <p:cNvPr id="16" name="Group 24"/>
            <p:cNvGrpSpPr/>
            <p:nvPr/>
          </p:nvGrpSpPr>
          <p:grpSpPr>
            <a:xfrm>
              <a:off x="2068535" y="1715511"/>
              <a:ext cx="2463331" cy="923099"/>
              <a:chOff x="2068535" y="1715511"/>
              <a:chExt cx="2463331" cy="923099"/>
            </a:xfrm>
          </p:grpSpPr>
          <p:sp>
            <p:nvSpPr>
              <p:cNvPr id="18" name="TextBox 17"/>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19"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95777" y="2053835"/>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17" name="TextBox 5"/>
            <p:cNvSpPr txBox="1"/>
            <p:nvPr/>
          </p:nvSpPr>
          <p:spPr>
            <a:xfrm>
              <a:off x="2722597" y="1348768"/>
              <a:ext cx="1477647" cy="705069"/>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aphicFrame>
        <p:nvGraphicFramePr>
          <p:cNvPr id="22" name="Object 21"/>
          <p:cNvGraphicFramePr>
            <a:graphicFrameLocks noChangeAspect="1"/>
          </p:cNvGraphicFramePr>
          <p:nvPr/>
        </p:nvGraphicFramePr>
        <p:xfrm>
          <a:off x="4879873" y="3096397"/>
          <a:ext cx="835127" cy="958850"/>
        </p:xfrm>
        <a:graphic>
          <a:graphicData uri="http://schemas.openxmlformats.org/presentationml/2006/ole">
            <p:oleObj spid="_x0000_s3077" name="Equation" r:id="rId7" imgW="342720" imgH="393480" progId="Equation.3">
              <p:embed/>
            </p:oleObj>
          </a:graphicData>
        </a:graphic>
      </p:graphicFrame>
      <p:grpSp>
        <p:nvGrpSpPr>
          <p:cNvPr id="23" name="Group 3"/>
          <p:cNvGrpSpPr/>
          <p:nvPr/>
        </p:nvGrpSpPr>
        <p:grpSpPr>
          <a:xfrm>
            <a:off x="1371600" y="4648200"/>
            <a:ext cx="3309577" cy="1090369"/>
            <a:chOff x="2068535" y="1410711"/>
            <a:chExt cx="2463331" cy="1314669"/>
          </a:xfrm>
        </p:grpSpPr>
        <p:grpSp>
          <p:nvGrpSpPr>
            <p:cNvPr id="24" name="Group 24"/>
            <p:cNvGrpSpPr/>
            <p:nvPr/>
          </p:nvGrpSpPr>
          <p:grpSpPr>
            <a:xfrm>
              <a:off x="2068535" y="1410711"/>
              <a:ext cx="2463331" cy="889575"/>
              <a:chOff x="2068535" y="1410711"/>
              <a:chExt cx="2463331" cy="889575"/>
            </a:xfrm>
          </p:grpSpPr>
          <p:sp>
            <p:nvSpPr>
              <p:cNvPr id="26" name="TextBox 25"/>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7"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992974" y="1410711"/>
                <a:ext cx="1163669" cy="705069"/>
              </a:xfrm>
              <a:prstGeom prst="rect">
                <a:avLst/>
              </a:prstGeom>
              <a:noFill/>
            </p:spPr>
            <p:txBody>
              <a:bodyPr wrap="square" rtlCol="0">
                <a:spAutoFit/>
              </a:bodyPr>
              <a:lstStyle/>
              <a:p>
                <a:r>
                  <a:rPr lang="en-US" sz="3200" dirty="0" smtClean="0"/>
                  <a:t>  [HI]</a:t>
                </a:r>
                <a:endParaRPr lang="en-US" sz="3200" dirty="0"/>
              </a:p>
            </p:txBody>
          </p:sp>
        </p:grpSp>
        <p:sp>
          <p:nvSpPr>
            <p:cNvPr id="25" name="TextBox 5"/>
            <p:cNvSpPr txBox="1"/>
            <p:nvPr/>
          </p:nvSpPr>
          <p:spPr>
            <a:xfrm>
              <a:off x="2609165" y="2020311"/>
              <a:ext cx="1784724" cy="705069"/>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 </a:t>
              </a:r>
              <a:r>
                <a:rPr lang="en-US" altLang="zh-CN" sz="3200" baseline="30000" dirty="0" smtClean="0"/>
                <a:t>½ </a:t>
              </a:r>
              <a:r>
                <a:rPr lang="en-US" altLang="zh-CN" sz="3200" dirty="0" smtClean="0"/>
                <a:t>[I</a:t>
              </a:r>
              <a:r>
                <a:rPr lang="en-US" altLang="zh-CN" sz="3200" baseline="-25000" dirty="0" smtClean="0"/>
                <a:t>2</a:t>
              </a:r>
              <a:r>
                <a:rPr lang="en-US" altLang="zh-CN" sz="3200" dirty="0" smtClean="0"/>
                <a:t>]</a:t>
              </a:r>
              <a:r>
                <a:rPr lang="en-US" altLang="zh-CN" sz="3200" baseline="30000" dirty="0" smtClean="0"/>
                <a:t>½</a:t>
              </a:r>
              <a:r>
                <a:rPr lang="en-US" altLang="zh-CN" sz="3200" dirty="0" smtClean="0"/>
                <a:t> </a:t>
              </a:r>
              <a:endParaRPr lang="en-US" sz="3200" dirty="0"/>
            </a:p>
          </p:txBody>
        </p:sp>
      </p:grpSp>
      <p:graphicFrame>
        <p:nvGraphicFramePr>
          <p:cNvPr id="30" name="Object 29"/>
          <p:cNvGraphicFramePr>
            <a:graphicFrameLocks noChangeAspect="1"/>
          </p:cNvGraphicFramePr>
          <p:nvPr/>
        </p:nvGraphicFramePr>
        <p:xfrm>
          <a:off x="5029200" y="4724400"/>
          <a:ext cx="1524000" cy="876300"/>
        </p:xfrm>
        <a:graphic>
          <a:graphicData uri="http://schemas.openxmlformats.org/presentationml/2006/ole">
            <p:oleObj spid="_x0000_s3079" name="Equation" r:id="rId8" imgW="431640" imgH="228600" progId="Equation.3">
              <p:embed/>
            </p:oleObj>
          </a:graphicData>
        </a:graphic>
      </p:graphicFrame>
      <p:sp>
        <p:nvSpPr>
          <p:cNvPr id="31" name="Rectangle 30"/>
          <p:cNvSpPr/>
          <p:nvPr/>
        </p:nvSpPr>
        <p:spPr>
          <a:xfrm>
            <a:off x="6920770" y="4876800"/>
            <a:ext cx="699230" cy="707886"/>
          </a:xfrm>
          <a:prstGeom prst="rect">
            <a:avLst/>
          </a:prstGeom>
        </p:spPr>
        <p:txBody>
          <a:bodyPr wrap="none">
            <a:spAutoFit/>
          </a:bodyPr>
          <a:lstStyle/>
          <a:p>
            <a:pPr>
              <a:spcBef>
                <a:spcPts val="300"/>
              </a:spcBef>
            </a:pPr>
            <a:r>
              <a:rPr lang="en-US" sz="4000" dirty="0" smtClean="0"/>
              <a:t>=7</a:t>
            </a:r>
            <a:endParaRPr 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blinds(horizontal)">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blinds(horizontal)">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21.2.1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化学平衡定律</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None/>
            </a:pPr>
            <a:r>
              <a:rPr lang="zh-CN" altLang="en-US" dirty="0" smtClean="0"/>
              <a:t>问题解决</a:t>
            </a:r>
            <a:endParaRPr lang="en-US" altLang="zh-CN" dirty="0" smtClean="0"/>
          </a:p>
          <a:p>
            <a:pPr>
              <a:lnSpc>
                <a:spcPct val="150000"/>
              </a:lnSpc>
              <a:spcBef>
                <a:spcPts val="300"/>
              </a:spcBef>
              <a:buNone/>
            </a:pPr>
            <a:r>
              <a:rPr lang="en-US" altLang="zh-CN" dirty="0" smtClean="0"/>
              <a:t>2.)	 50.28</a:t>
            </a:r>
            <a:r>
              <a:rPr lang="zh-CN" altLang="en-US" dirty="0" smtClean="0"/>
              <a:t>、</a:t>
            </a:r>
            <a:r>
              <a:rPr lang="en-US" altLang="zh-CN" dirty="0" smtClean="0"/>
              <a:t>50.28</a:t>
            </a:r>
            <a:r>
              <a:rPr lang="zh-CN" altLang="en-US" dirty="0" smtClean="0"/>
              <a:t>、</a:t>
            </a:r>
            <a:r>
              <a:rPr lang="en-US" altLang="zh-CN" dirty="0" smtClean="0"/>
              <a:t>50.32</a:t>
            </a:r>
          </a:p>
          <a:p>
            <a:pPr>
              <a:lnSpc>
                <a:spcPct val="150000"/>
              </a:lnSpc>
              <a:spcBef>
                <a:spcPts val="300"/>
              </a:spcBef>
              <a:buFont typeface="Wingdings" pitchFamily="2" charset="2"/>
              <a:buChar char="Ø"/>
            </a:pPr>
            <a:r>
              <a:rPr lang="zh-CN" altLang="en-US" dirty="0" smtClean="0"/>
              <a:t>在一定温度下，</a:t>
            </a:r>
            <a:r>
              <a:rPr lang="en-US" altLang="zh-CN" dirty="0" err="1" smtClean="0"/>
              <a:t>K</a:t>
            </a:r>
            <a:r>
              <a:rPr lang="en-US" altLang="zh-CN" baseline="-25000" dirty="0" err="1" smtClean="0"/>
              <a:t>c</a:t>
            </a:r>
            <a:r>
              <a:rPr lang="en-US" altLang="zh-CN" dirty="0" smtClean="0"/>
              <a:t> </a:t>
            </a:r>
            <a:r>
              <a:rPr lang="zh-CN" altLang="en-US" dirty="0" smtClean="0"/>
              <a:t>与反应物的起始浓度无关。</a:t>
            </a:r>
            <a:endParaRPr lang="en-US" altLang="zh-CN" dirty="0" smtClean="0"/>
          </a:p>
          <a:p>
            <a:pPr>
              <a:lnSpc>
                <a:spcPct val="150000"/>
              </a:lnSpc>
              <a:spcBef>
                <a:spcPts val="300"/>
              </a:spcBef>
              <a:buFont typeface="Wingdings" pitchFamily="2" charset="2"/>
              <a:buChar char="Ø"/>
            </a:pPr>
            <a:r>
              <a:rPr lang="zh-CN" altLang="en-US" dirty="0" smtClean="0"/>
              <a:t>同一个可逆反应，温度相同，</a:t>
            </a:r>
            <a:r>
              <a:rPr lang="en-US" altLang="zh-CN" dirty="0" err="1" smtClean="0"/>
              <a:t>K</a:t>
            </a:r>
            <a:r>
              <a:rPr lang="en-US" altLang="zh-CN" baseline="-25000" dirty="0" err="1" smtClean="0"/>
              <a:t>c</a:t>
            </a:r>
            <a:r>
              <a:rPr lang="en-US" altLang="zh-CN" dirty="0" smtClean="0"/>
              <a:t> </a:t>
            </a:r>
            <a:r>
              <a:rPr lang="zh-CN" altLang="en-US" dirty="0" smtClean="0"/>
              <a:t>是定值</a:t>
            </a:r>
            <a:endParaRPr lang="en-US" altLang="zh-CN" dirty="0" smtClean="0"/>
          </a:p>
          <a:p>
            <a:pPr>
              <a:lnSpc>
                <a:spcPct val="150000"/>
              </a:lnSpc>
              <a:spcBef>
                <a:spcPts val="300"/>
              </a:spcBef>
              <a:buFont typeface="Wingdings" pitchFamily="2" charset="2"/>
              <a:buChar char="Ø"/>
            </a:pPr>
            <a:r>
              <a:rPr lang="en-US" altLang="zh-CN" dirty="0" err="1" smtClean="0"/>
              <a:t>K</a:t>
            </a:r>
            <a:r>
              <a:rPr lang="en-US" altLang="zh-CN" baseline="-25000" dirty="0" err="1" smtClean="0"/>
              <a:t>c</a:t>
            </a:r>
            <a:r>
              <a:rPr lang="en-US" altLang="zh-CN" dirty="0" smtClean="0"/>
              <a:t> </a:t>
            </a:r>
            <a:r>
              <a:rPr lang="zh-CN" altLang="en-US" dirty="0" smtClean="0"/>
              <a:t>只随温度而改变</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21.2.1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化学平衡定律</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Font typeface="Wingdings" pitchFamily="2" charset="2"/>
              <a:buChar char="Ø"/>
            </a:pPr>
            <a:r>
              <a:rPr lang="zh-CN" altLang="en-US" dirty="0" smtClean="0"/>
              <a:t>表</a:t>
            </a:r>
            <a:r>
              <a:rPr lang="en-US" altLang="zh-CN" dirty="0" smtClean="0"/>
              <a:t>21-5</a:t>
            </a:r>
          </a:p>
          <a:p>
            <a:pPr>
              <a:lnSpc>
                <a:spcPct val="150000"/>
              </a:lnSpc>
              <a:spcBef>
                <a:spcPts val="300"/>
              </a:spcBef>
              <a:buFont typeface="Wingdings" pitchFamily="2" charset="2"/>
              <a:buChar char="Ø"/>
            </a:pPr>
            <a:r>
              <a:rPr lang="en-US" altLang="zh-CN" dirty="0" err="1" smtClean="0"/>
              <a:t>K</a:t>
            </a:r>
            <a:r>
              <a:rPr lang="en-US" altLang="zh-CN" baseline="-25000" dirty="0" err="1" smtClean="0"/>
              <a:t>c</a:t>
            </a:r>
            <a:r>
              <a:rPr lang="zh-CN" altLang="en-US" dirty="0" smtClean="0"/>
              <a:t>大小说明反应进行的程度。</a:t>
            </a:r>
            <a:endParaRPr lang="en-US" altLang="zh-CN" dirty="0" smtClean="0"/>
          </a:p>
          <a:p>
            <a:pPr>
              <a:lnSpc>
                <a:spcPct val="150000"/>
              </a:lnSpc>
              <a:spcBef>
                <a:spcPts val="300"/>
              </a:spcBef>
              <a:buFont typeface="Wingdings" pitchFamily="2" charset="2"/>
              <a:buChar char="Ø"/>
            </a:pPr>
            <a:r>
              <a:rPr lang="en-US" altLang="zh-CN" dirty="0" err="1" smtClean="0"/>
              <a:t>K</a:t>
            </a:r>
            <a:r>
              <a:rPr lang="en-US" altLang="zh-CN" baseline="-25000" dirty="0" err="1" smtClean="0"/>
              <a:t>c</a:t>
            </a:r>
            <a:r>
              <a:rPr lang="en-US" altLang="zh-CN" dirty="0" smtClean="0"/>
              <a:t> </a:t>
            </a:r>
            <a:r>
              <a:rPr lang="zh-CN" altLang="en-US" dirty="0" smtClean="0"/>
              <a:t>越大，反应进行的越完全。</a:t>
            </a:r>
            <a:endParaRPr lang="en-US" altLang="zh-CN" dirty="0" smtClean="0"/>
          </a:p>
          <a:p>
            <a:pPr>
              <a:lnSpc>
                <a:spcPct val="150000"/>
              </a:lnSpc>
              <a:spcBef>
                <a:spcPts val="300"/>
              </a:spcBef>
              <a:buFont typeface="Wingdings" pitchFamily="2" charset="2"/>
              <a:buChar char="Ø"/>
            </a:pPr>
            <a:r>
              <a:rPr lang="zh-CN" altLang="en-US" dirty="0" smtClean="0"/>
              <a:t>交流分享</a:t>
            </a:r>
            <a:endParaRPr lang="en-US" altLang="zh-CN" dirty="0" smtClean="0"/>
          </a:p>
          <a:p>
            <a:pPr>
              <a:lnSpc>
                <a:spcPct val="150000"/>
              </a:lnSpc>
              <a:spcBef>
                <a:spcPts val="300"/>
              </a:spcBef>
              <a:buFont typeface="Wingdings" pitchFamily="2" charset="2"/>
              <a:buChar char="Ø"/>
            </a:pPr>
            <a:r>
              <a:rPr lang="en-US" altLang="zh-CN" dirty="0" smtClean="0"/>
              <a:t>K</a:t>
            </a:r>
            <a:r>
              <a:rPr lang="en-US" altLang="zh-CN" baseline="-25000" dirty="0" smtClean="0"/>
              <a:t>C</a:t>
            </a:r>
            <a:r>
              <a:rPr lang="en-US" altLang="zh-CN" dirty="0" smtClean="0"/>
              <a:t> </a:t>
            </a:r>
            <a:r>
              <a:rPr lang="zh-CN" altLang="en-US" dirty="0" smtClean="0"/>
              <a:t>与温度有关，使用时应注明温度。</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21b</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marL="514350" indent="-514350">
              <a:lnSpc>
                <a:spcPct val="150000"/>
              </a:lnSpc>
              <a:spcBef>
                <a:spcPts val="300"/>
              </a:spcBef>
              <a:buAutoNum type="arabicPeriod"/>
            </a:pPr>
            <a:r>
              <a:rPr lang="en-US" altLang="zh-CN" dirty="0" smtClean="0"/>
              <a:t>D </a:t>
            </a:r>
          </a:p>
          <a:p>
            <a:pPr marL="514350" indent="-514350">
              <a:lnSpc>
                <a:spcPct val="150000"/>
              </a:lnSpc>
              <a:spcBef>
                <a:spcPts val="300"/>
              </a:spcBef>
              <a:buAutoNum type="arabicPeriod"/>
            </a:pPr>
            <a:r>
              <a:rPr lang="en-US" dirty="0" smtClean="0"/>
              <a:t>(1)			    (2)</a:t>
            </a:r>
          </a:p>
          <a:p>
            <a:pPr marL="514350" indent="-514350">
              <a:lnSpc>
                <a:spcPct val="150000"/>
              </a:lnSpc>
              <a:spcBef>
                <a:spcPts val="300"/>
              </a:spcBef>
              <a:buNone/>
            </a:pPr>
            <a:r>
              <a:rPr lang="en-US" dirty="0" smtClean="0"/>
              <a:t>	(3)</a:t>
            </a:r>
          </a:p>
          <a:p>
            <a:pPr marL="514350" indent="-514350">
              <a:lnSpc>
                <a:spcPct val="150000"/>
              </a:lnSpc>
              <a:spcBef>
                <a:spcPts val="300"/>
              </a:spcBef>
              <a:buNone/>
            </a:pPr>
            <a:r>
              <a:rPr lang="en-US" dirty="0" smtClean="0"/>
              <a:t>3. 	(1) 				 (2)</a:t>
            </a:r>
          </a:p>
          <a:p>
            <a:pPr marL="514350" indent="-514350">
              <a:lnSpc>
                <a:spcPct val="150000"/>
              </a:lnSpc>
              <a:spcBef>
                <a:spcPts val="300"/>
              </a:spcBef>
              <a:buNone/>
            </a:pPr>
            <a:r>
              <a:rPr lang="en-US" dirty="0" smtClean="0"/>
              <a:t>	(3)</a:t>
            </a:r>
          </a:p>
          <a:p>
            <a:pPr marL="514350" indent="-514350">
              <a:lnSpc>
                <a:spcPct val="150000"/>
              </a:lnSpc>
              <a:spcBef>
                <a:spcPts val="300"/>
              </a:spcBef>
              <a:buNone/>
            </a:pPr>
            <a:endParaRPr lang="en-US" dirty="0" smtClean="0"/>
          </a:p>
          <a:p>
            <a:pPr marL="514350" indent="-514350">
              <a:lnSpc>
                <a:spcPct val="150000"/>
              </a:lnSpc>
              <a:spcBef>
                <a:spcPts val="300"/>
              </a:spcBef>
              <a:buNone/>
            </a:pPr>
            <a:endParaRPr lang="en-US" dirty="0"/>
          </a:p>
        </p:txBody>
      </p:sp>
      <p:graphicFrame>
        <p:nvGraphicFramePr>
          <p:cNvPr id="5" name="Object 4"/>
          <p:cNvGraphicFramePr>
            <a:graphicFrameLocks noChangeAspect="1"/>
          </p:cNvGraphicFramePr>
          <p:nvPr/>
        </p:nvGraphicFramePr>
        <p:xfrm>
          <a:off x="1676400" y="1676400"/>
          <a:ext cx="2209800" cy="901700"/>
        </p:xfrm>
        <a:graphic>
          <a:graphicData uri="http://schemas.openxmlformats.org/presentationml/2006/ole">
            <p:oleObj spid="_x0000_s4098" name="Equation" r:id="rId4" imgW="990360" imgH="431640" progId="Equation.3">
              <p:embed/>
            </p:oleObj>
          </a:graphicData>
        </a:graphic>
      </p:graphicFrame>
      <p:graphicFrame>
        <p:nvGraphicFramePr>
          <p:cNvPr id="6" name="Object 5"/>
          <p:cNvGraphicFramePr>
            <a:graphicFrameLocks noChangeAspect="1"/>
          </p:cNvGraphicFramePr>
          <p:nvPr/>
        </p:nvGraphicFramePr>
        <p:xfrm>
          <a:off x="5105400" y="1676400"/>
          <a:ext cx="3437965" cy="901700"/>
        </p:xfrm>
        <a:graphic>
          <a:graphicData uri="http://schemas.openxmlformats.org/presentationml/2006/ole">
            <p:oleObj spid="_x0000_s4099" name="Equation" r:id="rId5" imgW="1231560" imgH="431640" progId="Equation.3">
              <p:embed/>
            </p:oleObj>
          </a:graphicData>
        </a:graphic>
      </p:graphicFrame>
      <p:graphicFrame>
        <p:nvGraphicFramePr>
          <p:cNvPr id="7" name="Object 6"/>
          <p:cNvGraphicFramePr>
            <a:graphicFrameLocks noChangeAspect="1"/>
          </p:cNvGraphicFramePr>
          <p:nvPr/>
        </p:nvGraphicFramePr>
        <p:xfrm>
          <a:off x="1828800" y="2438400"/>
          <a:ext cx="1828800" cy="984250"/>
        </p:xfrm>
        <a:graphic>
          <a:graphicData uri="http://schemas.openxmlformats.org/presentationml/2006/ole">
            <p:oleObj spid="_x0000_s4100" name="Equation" r:id="rId6" imgW="812520" imgH="444240" progId="Equation.3">
              <p:embed/>
            </p:oleObj>
          </a:graphicData>
        </a:graphic>
      </p:graphicFrame>
      <p:grpSp>
        <p:nvGrpSpPr>
          <p:cNvPr id="8" name="Group 3"/>
          <p:cNvGrpSpPr/>
          <p:nvPr/>
        </p:nvGrpSpPr>
        <p:grpSpPr>
          <a:xfrm>
            <a:off x="1828800" y="3276600"/>
            <a:ext cx="3012115" cy="1090369"/>
            <a:chOff x="2068535" y="1410711"/>
            <a:chExt cx="2241929" cy="1314669"/>
          </a:xfrm>
        </p:grpSpPr>
        <p:grpSp>
          <p:nvGrpSpPr>
            <p:cNvPr id="9" name="Group 24"/>
            <p:cNvGrpSpPr/>
            <p:nvPr/>
          </p:nvGrpSpPr>
          <p:grpSpPr>
            <a:xfrm>
              <a:off x="2068535" y="1410711"/>
              <a:ext cx="2241929" cy="1009869"/>
              <a:chOff x="2068535" y="1410711"/>
              <a:chExt cx="2241929" cy="1009869"/>
            </a:xfrm>
          </p:grpSpPr>
          <p:sp>
            <p:nvSpPr>
              <p:cNvPr id="11" name="TextBox 10"/>
              <p:cNvSpPr txBox="1"/>
              <p:nvPr/>
            </p:nvSpPr>
            <p:spPr>
              <a:xfrm>
                <a:off x="2068535" y="1715511"/>
                <a:ext cx="1113770" cy="705069"/>
              </a:xfrm>
              <a:prstGeom prst="rect">
                <a:avLst/>
              </a:prstGeom>
              <a:noFill/>
            </p:spPr>
            <p:txBody>
              <a:bodyPr wrap="square" rtlCol="0">
                <a:spAutoFit/>
              </a:bodyPr>
              <a:lstStyle/>
              <a:p>
                <a:r>
                  <a:rPr lang="en-US" altLang="zh-CN" sz="3200" dirty="0" smtClean="0"/>
                  <a:t> K</a:t>
                </a:r>
                <a:r>
                  <a:rPr lang="en-US" altLang="zh-CN" sz="3200" baseline="-25000" dirty="0" smtClean="0"/>
                  <a:t>c1</a:t>
                </a:r>
                <a:r>
                  <a:rPr lang="en-US" altLang="zh-CN" sz="3200" dirty="0" smtClean="0"/>
                  <a:t>   =</a:t>
                </a:r>
                <a:endParaRPr lang="en-US" sz="3200" dirty="0"/>
              </a:p>
            </p:txBody>
          </p:sp>
          <p:cxnSp>
            <p:nvCxnSpPr>
              <p:cNvPr id="12" name="Straight Connector 8"/>
              <p:cNvCxnSpPr/>
              <p:nvPr/>
            </p:nvCxnSpPr>
            <p:spPr>
              <a:xfrm>
                <a:off x="2881222" y="2022477"/>
                <a:ext cx="1429242"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975990" y="1410711"/>
                <a:ext cx="1163669" cy="705069"/>
              </a:xfrm>
              <a:prstGeom prst="rect">
                <a:avLst/>
              </a:prstGeom>
              <a:noFill/>
            </p:spPr>
            <p:txBody>
              <a:bodyPr wrap="square" rtlCol="0">
                <a:spAutoFit/>
              </a:bodyPr>
              <a:lstStyle/>
              <a:p>
                <a:r>
                  <a:rPr lang="en-US" sz="3200" dirty="0" smtClean="0"/>
                  <a:t>  [NH</a:t>
                </a:r>
                <a:r>
                  <a:rPr lang="en-US" sz="3200" baseline="-25000" dirty="0" smtClean="0"/>
                  <a:t>3</a:t>
                </a:r>
                <a:r>
                  <a:rPr lang="en-US" sz="3200" dirty="0" smtClean="0"/>
                  <a:t>]</a:t>
                </a:r>
                <a:r>
                  <a:rPr lang="en-US" sz="3200" baseline="30000" dirty="0" smtClean="0"/>
                  <a:t>2</a:t>
                </a:r>
                <a:endParaRPr lang="en-US" sz="3200" dirty="0"/>
              </a:p>
            </p:txBody>
          </p:sp>
        </p:grpSp>
        <p:sp>
          <p:nvSpPr>
            <p:cNvPr id="10" name="TextBox 5"/>
            <p:cNvSpPr txBox="1"/>
            <p:nvPr/>
          </p:nvSpPr>
          <p:spPr>
            <a:xfrm>
              <a:off x="2609165" y="2020311"/>
              <a:ext cx="1547479" cy="705069"/>
            </a:xfrm>
            <a:prstGeom prst="rect">
              <a:avLst/>
            </a:prstGeom>
            <a:noFill/>
          </p:spPr>
          <p:txBody>
            <a:bodyPr wrap="square" rtlCol="0">
              <a:spAutoFit/>
            </a:bodyPr>
            <a:lstStyle/>
            <a:p>
              <a:r>
                <a:rPr lang="en-US" altLang="zh-CN" sz="3200" dirty="0" smtClean="0"/>
                <a:t>    [N</a:t>
              </a:r>
              <a:r>
                <a:rPr lang="en-US" altLang="zh-CN" sz="3200" baseline="-25000" dirty="0" smtClean="0"/>
                <a:t>2</a:t>
              </a:r>
              <a:r>
                <a:rPr lang="en-US" altLang="zh-CN" sz="3200" dirty="0" smtClean="0"/>
                <a:t>][H</a:t>
              </a:r>
              <a:r>
                <a:rPr lang="en-US" altLang="zh-CN" sz="3200" baseline="-25000" dirty="0" smtClean="0"/>
                <a:t>2</a:t>
              </a:r>
              <a:r>
                <a:rPr lang="en-US" altLang="zh-CN" sz="3200" dirty="0" smtClean="0"/>
                <a:t>]</a:t>
              </a:r>
              <a:r>
                <a:rPr lang="en-US" altLang="zh-CN" sz="3200" baseline="30000" dirty="0" smtClean="0"/>
                <a:t>3</a:t>
              </a:r>
              <a:endParaRPr lang="en-US" sz="3200" dirty="0"/>
            </a:p>
          </p:txBody>
        </p:sp>
      </p:grpSp>
      <p:grpSp>
        <p:nvGrpSpPr>
          <p:cNvPr id="14" name="Group 3"/>
          <p:cNvGrpSpPr/>
          <p:nvPr/>
        </p:nvGrpSpPr>
        <p:grpSpPr>
          <a:xfrm>
            <a:off x="5638800" y="3200400"/>
            <a:ext cx="3505200" cy="1090369"/>
            <a:chOff x="2068535" y="1410711"/>
            <a:chExt cx="2608934" cy="1314669"/>
          </a:xfrm>
        </p:grpSpPr>
        <p:grpSp>
          <p:nvGrpSpPr>
            <p:cNvPr id="15" name="Group 24"/>
            <p:cNvGrpSpPr/>
            <p:nvPr/>
          </p:nvGrpSpPr>
          <p:grpSpPr>
            <a:xfrm>
              <a:off x="2068535" y="1410711"/>
              <a:ext cx="2463331" cy="1009869"/>
              <a:chOff x="2068535" y="1410711"/>
              <a:chExt cx="2463331" cy="1009869"/>
            </a:xfrm>
          </p:grpSpPr>
          <p:sp>
            <p:nvSpPr>
              <p:cNvPr id="17" name="TextBox 16"/>
              <p:cNvSpPr txBox="1"/>
              <p:nvPr/>
            </p:nvSpPr>
            <p:spPr>
              <a:xfrm>
                <a:off x="2068535" y="1715511"/>
                <a:ext cx="1113770" cy="705069"/>
              </a:xfrm>
              <a:prstGeom prst="rect">
                <a:avLst/>
              </a:prstGeom>
              <a:noFill/>
            </p:spPr>
            <p:txBody>
              <a:bodyPr wrap="square" rtlCol="0">
                <a:spAutoFit/>
              </a:bodyPr>
              <a:lstStyle/>
              <a:p>
                <a:r>
                  <a:rPr lang="en-US" altLang="zh-CN" sz="3200" dirty="0" smtClean="0"/>
                  <a:t> K</a:t>
                </a:r>
                <a:r>
                  <a:rPr lang="en-US" altLang="zh-CN" sz="3200" baseline="-25000" dirty="0" smtClean="0"/>
                  <a:t>c2</a:t>
                </a:r>
                <a:r>
                  <a:rPr lang="en-US" altLang="zh-CN" sz="3200" dirty="0" smtClean="0"/>
                  <a:t>   =</a:t>
                </a:r>
                <a:endParaRPr lang="en-US" sz="3200" dirty="0"/>
              </a:p>
            </p:txBody>
          </p:sp>
          <p:cxnSp>
            <p:nvCxnSpPr>
              <p:cNvPr id="18"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975990" y="1410711"/>
                <a:ext cx="1163669" cy="705069"/>
              </a:xfrm>
              <a:prstGeom prst="rect">
                <a:avLst/>
              </a:prstGeom>
              <a:noFill/>
            </p:spPr>
            <p:txBody>
              <a:bodyPr wrap="square" rtlCol="0">
                <a:spAutoFit/>
              </a:bodyPr>
              <a:lstStyle/>
              <a:p>
                <a:r>
                  <a:rPr lang="en-US" sz="3200" dirty="0" smtClean="0"/>
                  <a:t>  [NH</a:t>
                </a:r>
                <a:r>
                  <a:rPr lang="en-US" sz="3200" baseline="-25000" dirty="0" smtClean="0"/>
                  <a:t>3</a:t>
                </a:r>
                <a:r>
                  <a:rPr lang="en-US" sz="3200" dirty="0" smtClean="0"/>
                  <a:t>]</a:t>
                </a:r>
                <a:endParaRPr lang="en-US" sz="3200" dirty="0"/>
              </a:p>
            </p:txBody>
          </p:sp>
        </p:grpSp>
        <p:sp>
          <p:nvSpPr>
            <p:cNvPr id="16" name="TextBox 5"/>
            <p:cNvSpPr txBox="1"/>
            <p:nvPr/>
          </p:nvSpPr>
          <p:spPr>
            <a:xfrm>
              <a:off x="2609165" y="2020311"/>
              <a:ext cx="2068304" cy="705069"/>
            </a:xfrm>
            <a:prstGeom prst="rect">
              <a:avLst/>
            </a:prstGeom>
            <a:noFill/>
          </p:spPr>
          <p:txBody>
            <a:bodyPr wrap="square" rtlCol="0">
              <a:spAutoFit/>
            </a:bodyPr>
            <a:lstStyle/>
            <a:p>
              <a:r>
                <a:rPr lang="en-US" altLang="zh-CN" sz="3200" dirty="0" smtClean="0"/>
                <a:t>    [N</a:t>
              </a:r>
              <a:r>
                <a:rPr lang="en-US" altLang="zh-CN" sz="3200" baseline="-25000" dirty="0" smtClean="0"/>
                <a:t>2</a:t>
              </a:r>
              <a:r>
                <a:rPr lang="en-US" altLang="zh-CN" sz="3200" dirty="0" smtClean="0"/>
                <a:t>]</a:t>
              </a:r>
              <a:r>
                <a:rPr lang="en-US" altLang="zh-CN" sz="3200" baseline="30000" dirty="0" smtClean="0"/>
                <a:t>½ </a:t>
              </a:r>
              <a:r>
                <a:rPr lang="en-US" altLang="zh-CN" sz="3200" dirty="0" smtClean="0"/>
                <a:t> [H</a:t>
              </a:r>
              <a:r>
                <a:rPr lang="en-US" altLang="zh-CN" sz="3200" baseline="-25000" dirty="0" smtClean="0"/>
                <a:t>2</a:t>
              </a:r>
              <a:r>
                <a:rPr lang="en-US" altLang="zh-CN" sz="3200" dirty="0" smtClean="0"/>
                <a:t>]</a:t>
              </a:r>
              <a:r>
                <a:rPr lang="en-US" altLang="zh-CN" sz="3200" baseline="30000" dirty="0" smtClean="0"/>
                <a:t>3/2</a:t>
              </a:r>
              <a:endParaRPr lang="en-US" sz="3200" dirty="0"/>
            </a:p>
          </p:txBody>
        </p:sp>
      </p:grpSp>
      <p:grpSp>
        <p:nvGrpSpPr>
          <p:cNvPr id="29" name="Group 3"/>
          <p:cNvGrpSpPr/>
          <p:nvPr/>
        </p:nvGrpSpPr>
        <p:grpSpPr>
          <a:xfrm>
            <a:off x="1676400" y="4444425"/>
            <a:ext cx="3309577" cy="1118175"/>
            <a:chOff x="2068535" y="1318836"/>
            <a:chExt cx="2463331" cy="1348195"/>
          </a:xfrm>
        </p:grpSpPr>
        <p:grpSp>
          <p:nvGrpSpPr>
            <p:cNvPr id="30" name="Group 24"/>
            <p:cNvGrpSpPr/>
            <p:nvPr/>
          </p:nvGrpSpPr>
          <p:grpSpPr>
            <a:xfrm>
              <a:off x="2068535" y="1715511"/>
              <a:ext cx="2463331" cy="951520"/>
              <a:chOff x="2068535" y="1715511"/>
              <a:chExt cx="2463331" cy="951520"/>
            </a:xfrm>
          </p:grpSpPr>
          <p:sp>
            <p:nvSpPr>
              <p:cNvPr id="32" name="TextBox 31"/>
              <p:cNvSpPr txBox="1"/>
              <p:nvPr/>
            </p:nvSpPr>
            <p:spPr>
              <a:xfrm>
                <a:off x="2068535" y="1715511"/>
                <a:ext cx="1113770" cy="705069"/>
              </a:xfrm>
              <a:prstGeom prst="rect">
                <a:avLst/>
              </a:prstGeom>
              <a:noFill/>
            </p:spPr>
            <p:txBody>
              <a:bodyPr wrap="square" rtlCol="0">
                <a:spAutoFit/>
              </a:bodyPr>
              <a:lstStyle/>
              <a:p>
                <a:r>
                  <a:rPr lang="en-US" altLang="zh-CN" sz="3200" dirty="0" smtClean="0"/>
                  <a:t> K</a:t>
                </a:r>
                <a:r>
                  <a:rPr lang="en-US" altLang="zh-CN" sz="3200" baseline="-25000" dirty="0" smtClean="0"/>
                  <a:t>c3</a:t>
                </a:r>
                <a:r>
                  <a:rPr lang="en-US" altLang="zh-CN" sz="3200" dirty="0" smtClean="0"/>
                  <a:t>   =</a:t>
                </a:r>
                <a:endParaRPr lang="en-US" sz="3200" dirty="0"/>
              </a:p>
            </p:txBody>
          </p:sp>
          <p:cxnSp>
            <p:nvCxnSpPr>
              <p:cNvPr id="33"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032706" y="1961962"/>
                <a:ext cx="1163669" cy="705069"/>
              </a:xfrm>
              <a:prstGeom prst="rect">
                <a:avLst/>
              </a:prstGeom>
              <a:noFill/>
            </p:spPr>
            <p:txBody>
              <a:bodyPr wrap="square" rtlCol="0">
                <a:spAutoFit/>
              </a:bodyPr>
              <a:lstStyle/>
              <a:p>
                <a:r>
                  <a:rPr lang="en-US" sz="3200" dirty="0" smtClean="0"/>
                  <a:t>  [NH</a:t>
                </a:r>
                <a:r>
                  <a:rPr lang="en-US" sz="3200" baseline="-25000" dirty="0" smtClean="0"/>
                  <a:t>3</a:t>
                </a:r>
                <a:r>
                  <a:rPr lang="en-US" sz="3200" dirty="0" smtClean="0"/>
                  <a:t>]</a:t>
                </a:r>
                <a:r>
                  <a:rPr lang="en-US" sz="3200" baseline="30000" dirty="0" smtClean="0"/>
                  <a:t>2</a:t>
                </a:r>
                <a:endParaRPr lang="en-US" sz="3200" dirty="0"/>
              </a:p>
            </p:txBody>
          </p:sp>
        </p:grpSp>
        <p:sp>
          <p:nvSpPr>
            <p:cNvPr id="31" name="TextBox 5"/>
            <p:cNvSpPr txBox="1"/>
            <p:nvPr/>
          </p:nvSpPr>
          <p:spPr>
            <a:xfrm>
              <a:off x="2805842" y="1318836"/>
              <a:ext cx="1547479" cy="705069"/>
            </a:xfrm>
            <a:prstGeom prst="rect">
              <a:avLst/>
            </a:prstGeom>
            <a:noFill/>
          </p:spPr>
          <p:txBody>
            <a:bodyPr wrap="square" rtlCol="0">
              <a:spAutoFit/>
            </a:bodyPr>
            <a:lstStyle/>
            <a:p>
              <a:r>
                <a:rPr lang="en-US" altLang="zh-CN" sz="3200" dirty="0" smtClean="0"/>
                <a:t>    [N</a:t>
              </a:r>
              <a:r>
                <a:rPr lang="en-US" altLang="zh-CN" sz="3200" baseline="-25000" dirty="0" smtClean="0"/>
                <a:t>2</a:t>
              </a:r>
              <a:r>
                <a:rPr lang="en-US" altLang="zh-CN" sz="3200" dirty="0" smtClean="0"/>
                <a:t>][H</a:t>
              </a:r>
              <a:r>
                <a:rPr lang="en-US" altLang="zh-CN" sz="3200" baseline="-25000" dirty="0" smtClean="0"/>
                <a:t>2</a:t>
              </a:r>
              <a:r>
                <a:rPr lang="en-US" altLang="zh-CN" sz="3200" dirty="0" smtClean="0"/>
                <a:t>]</a:t>
              </a:r>
              <a:r>
                <a:rPr lang="en-US" altLang="zh-CN" sz="3200" baseline="30000" dirty="0" smtClean="0"/>
                <a:t>3</a:t>
              </a:r>
              <a:endParaRPr lang="en-US" sz="3200" dirty="0"/>
            </a:p>
          </p:txBody>
        </p:sp>
      </p:grpSp>
      <p:graphicFrame>
        <p:nvGraphicFramePr>
          <p:cNvPr id="35" name="Object 34"/>
          <p:cNvGraphicFramePr>
            <a:graphicFrameLocks noChangeAspect="1"/>
          </p:cNvGraphicFramePr>
          <p:nvPr/>
        </p:nvGraphicFramePr>
        <p:xfrm>
          <a:off x="7620000" y="4737100"/>
          <a:ext cx="847725" cy="901700"/>
        </p:xfrm>
        <a:graphic>
          <a:graphicData uri="http://schemas.openxmlformats.org/presentationml/2006/ole">
            <p:oleObj spid="_x0000_s4103" name="Equation" r:id="rId7" imgW="406080" imgH="431640" progId="Equation.3">
              <p:embed/>
            </p:oleObj>
          </a:graphicData>
        </a:graphic>
      </p:graphicFrame>
      <p:sp>
        <p:nvSpPr>
          <p:cNvPr id="28" name="TextBox 27"/>
          <p:cNvSpPr txBox="1"/>
          <p:nvPr/>
        </p:nvSpPr>
        <p:spPr>
          <a:xfrm>
            <a:off x="5818809" y="4800600"/>
            <a:ext cx="1496391" cy="584775"/>
          </a:xfrm>
          <a:prstGeom prst="rect">
            <a:avLst/>
          </a:prstGeom>
          <a:noFill/>
        </p:spPr>
        <p:txBody>
          <a:bodyPr wrap="square" rtlCol="0">
            <a:spAutoFit/>
          </a:bodyPr>
          <a:lstStyle/>
          <a:p>
            <a:r>
              <a:rPr lang="en-US" altLang="zh-CN" sz="3200" dirty="0" smtClean="0"/>
              <a:t> K</a:t>
            </a:r>
            <a:r>
              <a:rPr lang="en-US" altLang="zh-CN" sz="3200" baseline="-25000" dirty="0" smtClean="0"/>
              <a:t>c1</a:t>
            </a:r>
            <a:r>
              <a:rPr lang="en-US" altLang="zh-CN" sz="3200" dirty="0" smtClean="0"/>
              <a:t> =</a:t>
            </a:r>
            <a:endParaRPr lang="en-US" sz="3200" dirty="0"/>
          </a:p>
        </p:txBody>
      </p:sp>
      <p:sp>
        <p:nvSpPr>
          <p:cNvPr id="36" name="TextBox 35"/>
          <p:cNvSpPr txBox="1"/>
          <p:nvPr/>
        </p:nvSpPr>
        <p:spPr>
          <a:xfrm>
            <a:off x="6781800" y="4800600"/>
            <a:ext cx="1496392" cy="584775"/>
          </a:xfrm>
          <a:prstGeom prst="rect">
            <a:avLst/>
          </a:prstGeom>
          <a:noFill/>
        </p:spPr>
        <p:txBody>
          <a:bodyPr wrap="square" rtlCol="0">
            <a:spAutoFit/>
          </a:bodyPr>
          <a:lstStyle/>
          <a:p>
            <a:r>
              <a:rPr lang="en-US" altLang="zh-CN" sz="3200" dirty="0" smtClean="0"/>
              <a:t> K</a:t>
            </a:r>
            <a:r>
              <a:rPr lang="en-US" altLang="zh-CN" sz="3200" baseline="-25000" dirty="0" smtClean="0"/>
              <a:t>c2</a:t>
            </a:r>
            <a:r>
              <a:rPr lang="en-US" altLang="zh-CN" sz="3200" baseline="30000" dirty="0" smtClean="0"/>
              <a:t> 2</a:t>
            </a:r>
            <a:r>
              <a:rPr lang="en-US" altLang="zh-CN" sz="3200" dirty="0" smtClean="0"/>
              <a:t>  </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linds(horizontal)">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linds(horizontal)">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blinds(horizontal)">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blinds(horizontal)">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blinds(horizontal)">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blinds(horizontal)">
                                      <p:cBhvr>
                                        <p:cTn id="6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p:bldP spid="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202485"/>
          </a:xfrm>
        </p:spPr>
        <p:txBody>
          <a:bodyPr>
            <a:normAutofit/>
          </a:bodyPr>
          <a:lstStyle/>
          <a:p>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21.2.2</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有关化学平衡的计算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914400"/>
            <a:ext cx="8077200" cy="5562600"/>
          </a:xfrm>
        </p:spPr>
        <p:txBody>
          <a:bodyPr>
            <a:noAutofit/>
          </a:bodyPr>
          <a:lstStyle/>
          <a:p>
            <a:pPr>
              <a:buNone/>
            </a:pPr>
            <a:r>
              <a:rPr lang="zh-CN" altLang="en-US" sz="3000" dirty="0" smtClean="0"/>
              <a:t>例</a:t>
            </a:r>
            <a:r>
              <a:rPr lang="en-US" altLang="zh-CN" sz="3000" dirty="0" smtClean="0"/>
              <a:t>1</a:t>
            </a:r>
          </a:p>
          <a:p>
            <a:pPr marL="0" indent="0">
              <a:buNone/>
            </a:pPr>
            <a:r>
              <a:rPr lang="en-US" altLang="zh-CN" sz="3000" dirty="0" smtClean="0"/>
              <a:t>		       H</a:t>
            </a:r>
            <a:r>
              <a:rPr lang="en-US" altLang="zh-CN" sz="3000" baseline="-25000" dirty="0" smtClean="0"/>
              <a:t>2     </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0.1	0.1		0 	   </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0.08	0.08		0.16</a:t>
            </a:r>
          </a:p>
          <a:p>
            <a:pPr>
              <a:buNone/>
            </a:pPr>
            <a:r>
              <a:rPr lang="en-US" altLang="zh-CN" sz="3000" dirty="0" smtClean="0"/>
              <a:t>[</a:t>
            </a:r>
            <a:r>
              <a:rPr lang="zh-CN" altLang="en-US" sz="3000" dirty="0"/>
              <a:t>平衡</a:t>
            </a:r>
            <a:r>
              <a:rPr lang="en-US" altLang="zh-CN" sz="3000" dirty="0" smtClean="0"/>
              <a:t>](mol/L)   0.02	0.02		0.16</a:t>
            </a:r>
          </a:p>
          <a:p>
            <a:pPr>
              <a:buNone/>
            </a:pPr>
            <a:endParaRPr lang="en-US" altLang="zh-CN" sz="3000" dirty="0" smtClean="0"/>
          </a:p>
          <a:p>
            <a:pPr>
              <a:buNone/>
            </a:pPr>
            <a:endParaRPr lang="en-US" altLang="zh-CN" sz="3000" dirty="0" smtClean="0"/>
          </a:p>
          <a:p>
            <a:pPr>
              <a:buNone/>
            </a:pPr>
            <a:r>
              <a:rPr lang="en-US" altLang="zh-CN" sz="3000" dirty="0" smtClean="0"/>
              <a:t>				 =</a:t>
            </a:r>
          </a:p>
          <a:p>
            <a:pPr>
              <a:lnSpc>
                <a:spcPct val="200000"/>
              </a:lnSpc>
              <a:buNone/>
            </a:pPr>
            <a:r>
              <a:rPr lang="en-US" altLang="zh-CN" sz="3000" dirty="0"/>
              <a:t>	</a:t>
            </a:r>
            <a:r>
              <a:rPr lang="en-US" altLang="zh-CN" sz="3000" dirty="0" smtClean="0"/>
              <a:t>			 =  64</a:t>
            </a:r>
          </a:p>
        </p:txBody>
      </p:sp>
      <p:sp>
        <p:nvSpPr>
          <p:cNvPr id="8" name="Rounded Rectangle 7"/>
          <p:cNvSpPr/>
          <p:nvPr/>
        </p:nvSpPr>
        <p:spPr>
          <a:xfrm>
            <a:off x="2895600" y="2057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114800" y="2057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43600" y="2057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114800" y="3124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2895600" y="31242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4114800" y="2590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895600" y="25908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5867400" y="25908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5867400" y="32004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3" y="3530025"/>
            <a:ext cx="4147777" cy="1093350"/>
            <a:chOff x="2068535" y="1410711"/>
            <a:chExt cx="3119761" cy="1093350"/>
          </a:xfrm>
        </p:grpSpPr>
        <p:grpSp>
          <p:nvGrpSpPr>
            <p:cNvPr id="6" name="Group 24"/>
            <p:cNvGrpSpPr/>
            <p:nvPr/>
          </p:nvGrpSpPr>
          <p:grpSpPr>
            <a:xfrm>
              <a:off x="2068535" y="1410711"/>
              <a:ext cx="3119761" cy="889575"/>
              <a:chOff x="2068535" y="1410711"/>
              <a:chExt cx="311976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878346" y="1410711"/>
                <a:ext cx="2309950" cy="584775"/>
              </a:xfrm>
              <a:prstGeom prst="rect">
                <a:avLst/>
              </a:prstGeom>
              <a:noFill/>
            </p:spPr>
            <p:txBody>
              <a:bodyPr wrap="square" rtlCol="0">
                <a:spAutoFit/>
              </a:bodyPr>
              <a:lstStyle/>
              <a:p>
                <a:r>
                  <a:rPr lang="en-US" sz="3200" dirty="0" smtClean="0"/>
                  <a:t>  [</a:t>
                </a:r>
                <a:r>
                  <a:rPr lang="en-US" altLang="zh-CN" sz="3200" dirty="0" smtClean="0"/>
                  <a:t>HI</a:t>
                </a:r>
                <a:r>
                  <a:rPr lang="en-US" sz="3200" dirty="0" smtClean="0"/>
                  <a:t>]</a:t>
                </a:r>
                <a:r>
                  <a:rPr lang="en-US" altLang="zh-CN" sz="3200" baseline="30000" dirty="0" smtClean="0"/>
                  <a:t>2</a:t>
                </a:r>
                <a:endParaRPr lang="en-US" sz="3200" dirty="0"/>
              </a:p>
            </p:txBody>
          </p:sp>
        </p:grpSp>
        <p:sp>
          <p:nvSpPr>
            <p:cNvPr id="24" name="TextBox 5"/>
            <p:cNvSpPr txBox="1"/>
            <p:nvPr/>
          </p:nvSpPr>
          <p:spPr>
            <a:xfrm>
              <a:off x="2609165" y="1919286"/>
              <a:ext cx="1861860"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3733801" y="4572000"/>
            <a:ext cx="3537797" cy="965775"/>
            <a:chOff x="3535842" y="1421487"/>
            <a:chExt cx="914401" cy="965775"/>
          </a:xfrm>
        </p:grpSpPr>
        <p:grpSp>
          <p:nvGrpSpPr>
            <p:cNvPr id="20" name="Group 24"/>
            <p:cNvGrpSpPr/>
            <p:nvPr/>
          </p:nvGrpSpPr>
          <p:grpSpPr>
            <a:xfrm>
              <a:off x="3583657" y="1421487"/>
              <a:ext cx="609600" cy="584775"/>
              <a:chOff x="3583657" y="1421487"/>
              <a:chExt cx="6096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701827" y="1421487"/>
                <a:ext cx="365783" cy="584775"/>
              </a:xfrm>
              <a:prstGeom prst="rect">
                <a:avLst/>
              </a:prstGeom>
              <a:noFill/>
            </p:spPr>
            <p:txBody>
              <a:bodyPr wrap="square" rtlCol="0">
                <a:spAutoFit/>
              </a:bodyPr>
              <a:lstStyle/>
              <a:p>
                <a:r>
                  <a:rPr lang="en-US" altLang="zh-CN" sz="3200" dirty="0" smtClean="0"/>
                  <a:t>0.16</a:t>
                </a:r>
                <a:r>
                  <a:rPr lang="en-US" altLang="zh-CN" sz="3200" baseline="30000" dirty="0" smtClean="0"/>
                  <a:t>2</a:t>
                </a:r>
                <a:endParaRPr lang="en-US" sz="3200" dirty="0"/>
              </a:p>
            </p:txBody>
          </p:sp>
        </p:grpSp>
        <p:sp>
          <p:nvSpPr>
            <p:cNvPr id="31" name="TextBox 5"/>
            <p:cNvSpPr txBox="1"/>
            <p:nvPr/>
          </p:nvSpPr>
          <p:spPr>
            <a:xfrm>
              <a:off x="3535842" y="1802487"/>
              <a:ext cx="914401" cy="584775"/>
            </a:xfrm>
            <a:prstGeom prst="rect">
              <a:avLst/>
            </a:prstGeom>
            <a:noFill/>
          </p:spPr>
          <p:txBody>
            <a:bodyPr wrap="square" rtlCol="0">
              <a:spAutoFit/>
            </a:bodyPr>
            <a:lstStyle/>
            <a:p>
              <a:r>
                <a:rPr lang="en-US" altLang="zh-CN" sz="3200" dirty="0" smtClean="0"/>
                <a:t>  0.02x0.02</a:t>
              </a:r>
              <a:endParaRPr lang="en-US" sz="3200" dirty="0"/>
            </a:p>
          </p:txBody>
        </p:sp>
      </p:gr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9"/>
                                        </p:tgtEl>
                                        <p:attrNameLst>
                                          <p:attrName>ppt_x</p:attrName>
                                        </p:attrNameLst>
                                      </p:cBhvr>
                                      <p:tavLst>
                                        <p:tav tm="0">
                                          <p:val>
                                            <p:strVal val="ppt_x"/>
                                          </p:val>
                                        </p:tav>
                                        <p:tav tm="100000">
                                          <p:val>
                                            <p:strVal val="ppt_x"/>
                                          </p:val>
                                        </p:tav>
                                      </p:tavLst>
                                    </p:anim>
                                    <p:anim calcmode="lin" valueType="num">
                                      <p:cBhvr additive="base">
                                        <p:cTn id="33" dur="500"/>
                                        <p:tgtEl>
                                          <p:spTgt spid="9"/>
                                        </p:tgtEl>
                                        <p:attrNameLst>
                                          <p:attrName>ppt_y</p:attrName>
                                        </p:attrNameLst>
                                      </p:cBhvr>
                                      <p:tavLst>
                                        <p:tav tm="0">
                                          <p:val>
                                            <p:strVal val="ppt_y"/>
                                          </p:val>
                                        </p:tav>
                                        <p:tav tm="100000">
                                          <p:val>
                                            <p:strVal val="1+ppt_h/2"/>
                                          </p:val>
                                        </p:tav>
                                      </p:tavLst>
                                    </p:anim>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0"/>
                                        </p:tgtEl>
                                        <p:attrNameLst>
                                          <p:attrName>ppt_x</p:attrName>
                                        </p:attrNameLst>
                                      </p:cBhvr>
                                      <p:tavLst>
                                        <p:tav tm="0">
                                          <p:val>
                                            <p:strVal val="ppt_x"/>
                                          </p:val>
                                        </p:tav>
                                        <p:tav tm="100000">
                                          <p:val>
                                            <p:strVal val="ppt_x"/>
                                          </p:val>
                                        </p:tav>
                                      </p:tavLst>
                                    </p:anim>
                                    <p:anim calcmode="lin" valueType="num">
                                      <p:cBhvr additive="base">
                                        <p:cTn id="39" dur="500"/>
                                        <p:tgtEl>
                                          <p:spTgt spid="10"/>
                                        </p:tgtEl>
                                        <p:attrNameLst>
                                          <p:attrName>ppt_y</p:attrName>
                                        </p:attrNameLst>
                                      </p:cBhvr>
                                      <p:tavLst>
                                        <p:tav tm="0">
                                          <p:val>
                                            <p:strVal val="ppt_y"/>
                                          </p:val>
                                        </p:tav>
                                        <p:tav tm="100000">
                                          <p:val>
                                            <p:strVal val="1+ppt_h/2"/>
                                          </p:val>
                                        </p:tav>
                                      </p:tavLst>
                                    </p:anim>
                                    <p:set>
                                      <p:cBhvr>
                                        <p:cTn id="40" dur="1" fill="hold">
                                          <p:stCondLst>
                                            <p:cond delay="499"/>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12"/>
                                        </p:tgtEl>
                                        <p:attrNameLst>
                                          <p:attrName>ppt_x</p:attrName>
                                        </p:attrNameLst>
                                      </p:cBhvr>
                                      <p:tavLst>
                                        <p:tav tm="0">
                                          <p:val>
                                            <p:strVal val="ppt_x"/>
                                          </p:val>
                                        </p:tav>
                                        <p:tav tm="100000">
                                          <p:val>
                                            <p:strVal val="ppt_x"/>
                                          </p:val>
                                        </p:tav>
                                      </p:tavLst>
                                    </p:anim>
                                    <p:anim calcmode="lin" valueType="num">
                                      <p:cBhvr additive="base">
                                        <p:cTn id="45" dur="500"/>
                                        <p:tgtEl>
                                          <p:spTgt spid="12"/>
                                        </p:tgtEl>
                                        <p:attrNameLst>
                                          <p:attrName>ppt_y</p:attrName>
                                        </p:attrNameLst>
                                      </p:cBhvr>
                                      <p:tavLst>
                                        <p:tav tm="0">
                                          <p:val>
                                            <p:strVal val="ppt_y"/>
                                          </p:val>
                                        </p:tav>
                                        <p:tav tm="100000">
                                          <p:val>
                                            <p:strVal val="1+ppt_h/2"/>
                                          </p:val>
                                        </p:tav>
                                      </p:tavLst>
                                    </p:anim>
                                    <p:set>
                                      <p:cBhvr>
                                        <p:cTn id="46" dur="1" fill="hold">
                                          <p:stCondLst>
                                            <p:cond delay="499"/>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0" nodeType="clickEffect">
                                  <p:stCondLst>
                                    <p:cond delay="0"/>
                                  </p:stCondLst>
                                  <p:childTnLst>
                                    <p:anim calcmode="lin" valueType="num">
                                      <p:cBhvr additive="base">
                                        <p:cTn id="50" dur="500"/>
                                        <p:tgtEl>
                                          <p:spTgt spid="16"/>
                                        </p:tgtEl>
                                        <p:attrNameLst>
                                          <p:attrName>ppt_x</p:attrName>
                                        </p:attrNameLst>
                                      </p:cBhvr>
                                      <p:tavLst>
                                        <p:tav tm="0">
                                          <p:val>
                                            <p:strVal val="ppt_x"/>
                                          </p:val>
                                        </p:tav>
                                        <p:tav tm="100000">
                                          <p:val>
                                            <p:strVal val="ppt_x"/>
                                          </p:val>
                                        </p:tav>
                                      </p:tavLst>
                                    </p:anim>
                                    <p:anim calcmode="lin" valueType="num">
                                      <p:cBhvr additive="base">
                                        <p:cTn id="51" dur="500"/>
                                        <p:tgtEl>
                                          <p:spTgt spid="16"/>
                                        </p:tgtEl>
                                        <p:attrNameLst>
                                          <p:attrName>ppt_y</p:attrName>
                                        </p:attrNameLst>
                                      </p:cBhvr>
                                      <p:tavLst>
                                        <p:tav tm="0">
                                          <p:val>
                                            <p:strVal val="ppt_y"/>
                                          </p:val>
                                        </p:tav>
                                        <p:tav tm="100000">
                                          <p:val>
                                            <p:strVal val="1+ppt_h/2"/>
                                          </p:val>
                                        </p:tav>
                                      </p:tavLst>
                                    </p:anim>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grpId="0" nodeType="clickEffect">
                                  <p:stCondLst>
                                    <p:cond delay="0"/>
                                  </p:stCondLst>
                                  <p:childTnLst>
                                    <p:anim calcmode="lin" valueType="num">
                                      <p:cBhvr additive="base">
                                        <p:cTn id="56" dur="500"/>
                                        <p:tgtEl>
                                          <p:spTgt spid="17"/>
                                        </p:tgtEl>
                                        <p:attrNameLst>
                                          <p:attrName>ppt_x</p:attrName>
                                        </p:attrNameLst>
                                      </p:cBhvr>
                                      <p:tavLst>
                                        <p:tav tm="0">
                                          <p:val>
                                            <p:strVal val="ppt_x"/>
                                          </p:val>
                                        </p:tav>
                                        <p:tav tm="100000">
                                          <p:val>
                                            <p:strVal val="ppt_x"/>
                                          </p:val>
                                        </p:tav>
                                      </p:tavLst>
                                    </p:anim>
                                    <p:anim calcmode="lin" valueType="num">
                                      <p:cBhvr additive="base">
                                        <p:cTn id="57" dur="500"/>
                                        <p:tgtEl>
                                          <p:spTgt spid="17"/>
                                        </p:tgtEl>
                                        <p:attrNameLst>
                                          <p:attrName>ppt_y</p:attrName>
                                        </p:attrNameLst>
                                      </p:cBhvr>
                                      <p:tavLst>
                                        <p:tav tm="0">
                                          <p:val>
                                            <p:strVal val="ppt_y"/>
                                          </p:val>
                                        </p:tav>
                                        <p:tav tm="100000">
                                          <p:val>
                                            <p:strVal val="1+ppt_h/2"/>
                                          </p:val>
                                        </p:tav>
                                      </p:tavLst>
                                    </p:anim>
                                    <p:set>
                                      <p:cBhvr>
                                        <p:cTn id="58" dur="1" fill="hold">
                                          <p:stCondLst>
                                            <p:cond delay="499"/>
                                          </p:stCondLst>
                                        </p:cTn>
                                        <p:tgtEl>
                                          <p:spTgt spid="17"/>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grpId="0" nodeType="clickEffect">
                                  <p:stCondLst>
                                    <p:cond delay="0"/>
                                  </p:stCondLst>
                                  <p:childTnLst>
                                    <p:anim calcmode="lin" valueType="num">
                                      <p:cBhvr additive="base">
                                        <p:cTn id="62" dur="500"/>
                                        <p:tgtEl>
                                          <p:spTgt spid="18"/>
                                        </p:tgtEl>
                                        <p:attrNameLst>
                                          <p:attrName>ppt_x</p:attrName>
                                        </p:attrNameLst>
                                      </p:cBhvr>
                                      <p:tavLst>
                                        <p:tav tm="0">
                                          <p:val>
                                            <p:strVal val="ppt_x"/>
                                          </p:val>
                                        </p:tav>
                                        <p:tav tm="100000">
                                          <p:val>
                                            <p:strVal val="ppt_x"/>
                                          </p:val>
                                        </p:tav>
                                      </p:tavLst>
                                    </p:anim>
                                    <p:anim calcmode="lin" valueType="num">
                                      <p:cBhvr additive="base">
                                        <p:cTn id="63" dur="500"/>
                                        <p:tgtEl>
                                          <p:spTgt spid="18"/>
                                        </p:tgtEl>
                                        <p:attrNameLst>
                                          <p:attrName>ppt_y</p:attrName>
                                        </p:attrNameLst>
                                      </p:cBhvr>
                                      <p:tavLst>
                                        <p:tav tm="0">
                                          <p:val>
                                            <p:strVal val="ppt_y"/>
                                          </p:val>
                                        </p:tav>
                                        <p:tav tm="100000">
                                          <p:val>
                                            <p:strVal val="1+ppt_h/2"/>
                                          </p:val>
                                        </p:tav>
                                      </p:tavLst>
                                    </p:anim>
                                    <p:set>
                                      <p:cBhvr>
                                        <p:cTn id="64" dur="1" fill="hold">
                                          <p:stCondLst>
                                            <p:cond delay="499"/>
                                          </p:stCondLst>
                                        </p:cTn>
                                        <p:tgtEl>
                                          <p:spTgt spid="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nodeType="clickEffect">
                                  <p:stCondLst>
                                    <p:cond delay="0"/>
                                  </p:stCondLst>
                                  <p:childTnLst>
                                    <p:anim calcmode="lin" valueType="num">
                                      <p:cBhvr additive="base">
                                        <p:cTn id="68" dur="500"/>
                                        <p:tgtEl>
                                          <p:spTgt spid="14"/>
                                        </p:tgtEl>
                                        <p:attrNameLst>
                                          <p:attrName>ppt_x</p:attrName>
                                        </p:attrNameLst>
                                      </p:cBhvr>
                                      <p:tavLst>
                                        <p:tav tm="0">
                                          <p:val>
                                            <p:strVal val="ppt_x"/>
                                          </p:val>
                                        </p:tav>
                                        <p:tav tm="100000">
                                          <p:val>
                                            <p:strVal val="ppt_x"/>
                                          </p:val>
                                        </p:tav>
                                      </p:tavLst>
                                    </p:anim>
                                    <p:anim calcmode="lin" valueType="num">
                                      <p:cBhvr additive="base">
                                        <p:cTn id="69" dur="500"/>
                                        <p:tgtEl>
                                          <p:spTgt spid="14"/>
                                        </p:tgtEl>
                                        <p:attrNameLst>
                                          <p:attrName>ppt_y</p:attrName>
                                        </p:attrNameLst>
                                      </p:cBhvr>
                                      <p:tavLst>
                                        <p:tav tm="0">
                                          <p:val>
                                            <p:strVal val="ppt_y"/>
                                          </p:val>
                                        </p:tav>
                                        <p:tav tm="100000">
                                          <p:val>
                                            <p:strVal val="1+ppt_h/2"/>
                                          </p:val>
                                        </p:tav>
                                      </p:tavLst>
                                    </p:anim>
                                    <p:set>
                                      <p:cBhvr>
                                        <p:cTn id="70" dur="1" fill="hold">
                                          <p:stCondLst>
                                            <p:cond delay="499"/>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 presetClass="exit" presetSubtype="4" fill="hold" grpId="0" nodeType="clickEffect">
                                  <p:stCondLst>
                                    <p:cond delay="0"/>
                                  </p:stCondLst>
                                  <p:childTnLst>
                                    <p:anim calcmode="lin" valueType="num">
                                      <p:cBhvr additive="base">
                                        <p:cTn id="74" dur="500"/>
                                        <p:tgtEl>
                                          <p:spTgt spid="19"/>
                                        </p:tgtEl>
                                        <p:attrNameLst>
                                          <p:attrName>ppt_x</p:attrName>
                                        </p:attrNameLst>
                                      </p:cBhvr>
                                      <p:tavLst>
                                        <p:tav tm="0">
                                          <p:val>
                                            <p:strVal val="ppt_x"/>
                                          </p:val>
                                        </p:tav>
                                        <p:tav tm="100000">
                                          <p:val>
                                            <p:strVal val="ppt_x"/>
                                          </p:val>
                                        </p:tav>
                                      </p:tavLst>
                                    </p:anim>
                                    <p:anim calcmode="lin" valueType="num">
                                      <p:cBhvr additive="base">
                                        <p:cTn id="75" dur="500"/>
                                        <p:tgtEl>
                                          <p:spTgt spid="19"/>
                                        </p:tgtEl>
                                        <p:attrNameLst>
                                          <p:attrName>ppt_y</p:attrName>
                                        </p:attrNameLst>
                                      </p:cBhvr>
                                      <p:tavLst>
                                        <p:tav tm="0">
                                          <p:val>
                                            <p:strVal val="ppt_y"/>
                                          </p:val>
                                        </p:tav>
                                        <p:tav tm="100000">
                                          <p:val>
                                            <p:strVal val="1+ppt_h/2"/>
                                          </p:val>
                                        </p:tav>
                                      </p:tavLst>
                                    </p:anim>
                                    <p:set>
                                      <p:cBhvr>
                                        <p:cTn id="76" dur="1" fill="hold">
                                          <p:stCondLst>
                                            <p:cond delay="499"/>
                                          </p:stCondLst>
                                        </p:cTn>
                                        <p:tgtEl>
                                          <p:spTgt spid="1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 calcmode="lin" valueType="num">
                                      <p:cBhvr additive="base">
                                        <p:cTn id="81" dur="500" fill="hold"/>
                                        <p:tgtEl>
                                          <p:spTgt spid="5"/>
                                        </p:tgtEl>
                                        <p:attrNameLst>
                                          <p:attrName>ppt_x</p:attrName>
                                        </p:attrNameLst>
                                      </p:cBhvr>
                                      <p:tavLst>
                                        <p:tav tm="0">
                                          <p:val>
                                            <p:strVal val="#ppt_x"/>
                                          </p:val>
                                        </p:tav>
                                        <p:tav tm="100000">
                                          <p:val>
                                            <p:strVal val="#ppt_x"/>
                                          </p:val>
                                        </p:tav>
                                      </p:tavLst>
                                    </p:anim>
                                    <p:anim calcmode="lin" valueType="num">
                                      <p:cBhvr additive="base">
                                        <p:cTn id="8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
                                            <p:txEl>
                                              <p:pRg st="7" end="7"/>
                                            </p:txEl>
                                          </p:spTgt>
                                        </p:tgtEl>
                                        <p:attrNameLst>
                                          <p:attrName>style.visibility</p:attrName>
                                        </p:attrNameLst>
                                      </p:cBhvr>
                                      <p:to>
                                        <p:strVal val="visible"/>
                                      </p:to>
                                    </p:set>
                                    <p:animEffect transition="in" filter="blinds(horizontal)">
                                      <p:cBhvr>
                                        <p:cTn id="87" dur="500"/>
                                        <p:tgtEl>
                                          <p:spTgt spid="3">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7"/>
                                        </p:tgtEl>
                                        <p:attrNameLst>
                                          <p:attrName>style.visibility</p:attrName>
                                        </p:attrNameLst>
                                      </p:cBhvr>
                                      <p:to>
                                        <p:strVal val="visible"/>
                                      </p:to>
                                    </p:set>
                                    <p:anim calcmode="lin" valueType="num">
                                      <p:cBhvr additive="base">
                                        <p:cTn id="92" dur="500" fill="hold"/>
                                        <p:tgtEl>
                                          <p:spTgt spid="7"/>
                                        </p:tgtEl>
                                        <p:attrNameLst>
                                          <p:attrName>ppt_x</p:attrName>
                                        </p:attrNameLst>
                                      </p:cBhvr>
                                      <p:tavLst>
                                        <p:tav tm="0">
                                          <p:val>
                                            <p:strVal val="#ppt_x"/>
                                          </p:val>
                                        </p:tav>
                                        <p:tav tm="100000">
                                          <p:val>
                                            <p:strVal val="#ppt_x"/>
                                          </p:val>
                                        </p:tav>
                                      </p:tavLst>
                                    </p:anim>
                                    <p:anim calcmode="lin" valueType="num">
                                      <p:cBhvr additive="base">
                                        <p:cTn id="9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3">
                                            <p:txEl>
                                              <p:pRg st="8" end="8"/>
                                            </p:txEl>
                                          </p:spTgt>
                                        </p:tgtEl>
                                        <p:attrNameLst>
                                          <p:attrName>style.visibility</p:attrName>
                                        </p:attrNameLst>
                                      </p:cBhvr>
                                      <p:to>
                                        <p:strVal val="visible"/>
                                      </p:to>
                                    </p:set>
                                    <p:animEffect transition="in" filter="blinds(horizontal)">
                                      <p:cBhvr>
                                        <p:cTn id="9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6" grpId="0" uiExpand="1" animBg="1"/>
      <p:bldP spid="17" grpId="0" uiExpand="1" animBg="1"/>
      <p:bldP spid="18" grpId="0" uiExpand="1" animBg="1"/>
      <p:bldP spid="19" grpId="0" uiExpan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3" name="Content Placeholder 2"/>
          <p:cNvSpPr>
            <a:spLocks noGrp="1"/>
          </p:cNvSpPr>
          <p:nvPr>
            <p:ph idx="1"/>
          </p:nvPr>
        </p:nvSpPr>
        <p:spPr>
          <a:xfrm>
            <a:off x="533400" y="838200"/>
            <a:ext cx="8077200" cy="5562600"/>
          </a:xfrm>
        </p:spPr>
        <p:txBody>
          <a:bodyPr>
            <a:noAutofit/>
          </a:bodyPr>
          <a:lstStyle/>
          <a:p>
            <a:pPr>
              <a:buNone/>
            </a:pPr>
            <a:r>
              <a:rPr lang="zh-CN" altLang="en-US" sz="3000" dirty="0" smtClean="0"/>
              <a:t>例</a:t>
            </a:r>
            <a:r>
              <a:rPr lang="en-US" altLang="zh-CN" sz="3000" dirty="0" smtClean="0"/>
              <a:t>2		      CO +    	H</a:t>
            </a:r>
            <a:r>
              <a:rPr lang="en-US" altLang="zh-CN" sz="3000" baseline="-25000" dirty="0" smtClean="0"/>
              <a:t>2</a:t>
            </a:r>
            <a:r>
              <a:rPr lang="en-US" altLang="zh-CN" sz="3000" dirty="0" smtClean="0"/>
              <a:t>O</a:t>
            </a:r>
            <a:r>
              <a:rPr lang="zh-CN" altLang="en-US" sz="3000" baseline="-25000" dirty="0" smtClean="0"/>
              <a:t>  </a:t>
            </a:r>
            <a:r>
              <a:rPr lang="zh-CN" altLang="en-US" sz="3000" dirty="0" smtClean="0"/>
              <a:t> </a:t>
            </a:r>
            <a:r>
              <a:rPr lang="en-US" altLang="zh-CN" sz="3000" dirty="0" smtClean="0">
                <a:sym typeface="Wingdings" pitchFamily="2" charset="2"/>
              </a:rPr>
              <a:t>&lt;--&gt;  CO</a:t>
            </a:r>
            <a:r>
              <a:rPr lang="en-US" altLang="zh-CN" sz="3000" baseline="-25000" dirty="0" smtClean="0">
                <a:sym typeface="Wingdings" pitchFamily="2" charset="2"/>
              </a:rPr>
              <a:t>2   </a:t>
            </a:r>
            <a:r>
              <a:rPr lang="en-US" altLang="zh-CN" sz="3000" dirty="0" smtClean="0">
                <a:sym typeface="Wingdings" pitchFamily="2" charset="2"/>
              </a:rPr>
              <a:t>+	  H</a:t>
            </a:r>
            <a:r>
              <a:rPr lang="en-US" altLang="zh-CN" sz="3000" baseline="-25000" dirty="0" smtClean="0">
                <a:sym typeface="Wingdings" pitchFamily="2" charset="2"/>
              </a:rPr>
              <a:t>2</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0.2	0.2		0 	   0</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a:t>x</a:t>
            </a:r>
            <a:r>
              <a:rPr lang="en-US" altLang="zh-CN" sz="3000" dirty="0" smtClean="0"/>
              <a:t>		</a:t>
            </a:r>
            <a:r>
              <a:rPr lang="en-US" altLang="zh-CN" sz="3000" dirty="0" err="1" smtClean="0"/>
              <a:t>x</a:t>
            </a:r>
            <a:r>
              <a:rPr lang="en-US" altLang="zh-CN" sz="3000" dirty="0" smtClean="0"/>
              <a:t>	   </a:t>
            </a:r>
            <a:r>
              <a:rPr lang="en-US" altLang="zh-CN" sz="3000" dirty="0" err="1" smtClean="0"/>
              <a:t>x</a:t>
            </a:r>
            <a:endParaRPr lang="en-US" altLang="zh-CN" sz="3000" dirty="0" smtClean="0"/>
          </a:p>
          <a:p>
            <a:pPr>
              <a:buNone/>
            </a:pPr>
            <a:r>
              <a:rPr lang="en-US" altLang="zh-CN" sz="3000" dirty="0" smtClean="0"/>
              <a:t>[</a:t>
            </a:r>
            <a:r>
              <a:rPr lang="zh-CN" altLang="en-US" sz="3000" dirty="0"/>
              <a:t>平衡</a:t>
            </a:r>
            <a:r>
              <a:rPr lang="en-US" altLang="zh-CN" sz="3000" dirty="0" smtClean="0"/>
              <a:t>](mol/L)   0.2-x	</a:t>
            </a:r>
            <a:r>
              <a:rPr lang="en-US" altLang="zh-CN" sz="3000" dirty="0" err="1" smtClean="0"/>
              <a:t>0.2-x</a:t>
            </a:r>
            <a:r>
              <a:rPr lang="en-US" altLang="zh-CN" sz="3000" dirty="0" smtClean="0"/>
              <a:t>		x	   x</a:t>
            </a:r>
          </a:p>
          <a:p>
            <a:pPr>
              <a:buNone/>
            </a:pPr>
            <a:endParaRPr lang="en-US" altLang="zh-CN" sz="3000" dirty="0" smtClean="0"/>
          </a:p>
          <a:p>
            <a:pPr>
              <a:buNone/>
            </a:pPr>
            <a:endParaRPr lang="en-US" altLang="zh-CN" sz="3000" dirty="0" smtClean="0"/>
          </a:p>
          <a:p>
            <a:pPr>
              <a:buNone/>
            </a:pPr>
            <a:r>
              <a:rPr lang="en-US" altLang="zh-CN" sz="3000" dirty="0" smtClean="0"/>
              <a:t>			      1	 =</a:t>
            </a:r>
          </a:p>
          <a:p>
            <a:pPr>
              <a:lnSpc>
                <a:spcPct val="150000"/>
              </a:lnSpc>
              <a:buNone/>
            </a:pPr>
            <a:r>
              <a:rPr lang="en-US" altLang="zh-CN" sz="3000" dirty="0"/>
              <a:t>	</a:t>
            </a:r>
            <a:r>
              <a:rPr lang="en-US" altLang="zh-CN" sz="3000" dirty="0" smtClean="0"/>
              <a:t>		         x =  0.1</a:t>
            </a:r>
          </a:p>
          <a:p>
            <a:pPr>
              <a:lnSpc>
                <a:spcPct val="150000"/>
              </a:lnSpc>
              <a:buNone/>
            </a:pPr>
            <a:r>
              <a:rPr lang="en-US" altLang="zh-CN" sz="3000" dirty="0" smtClean="0"/>
              <a:t>(2) CO</a:t>
            </a:r>
            <a:r>
              <a:rPr lang="zh-CN" altLang="en-US" sz="3000" dirty="0" smtClean="0"/>
              <a:t>的转化率</a:t>
            </a:r>
            <a:r>
              <a:rPr lang="en-US" altLang="zh-CN" sz="3000" dirty="0" smtClean="0"/>
              <a:t>= 	     x 100% = 50%</a:t>
            </a:r>
          </a:p>
          <a:p>
            <a:pPr>
              <a:lnSpc>
                <a:spcPct val="150000"/>
              </a:lnSpc>
              <a:buNone/>
            </a:pPr>
            <a:endParaRPr lang="en-US" altLang="zh-CN" sz="3000" dirty="0" smtClean="0"/>
          </a:p>
        </p:txBody>
      </p:sp>
      <p:sp>
        <p:nvSpPr>
          <p:cNvPr id="8" name="Rounded Rectangle 7"/>
          <p:cNvSpPr/>
          <p:nvPr/>
        </p:nvSpPr>
        <p:spPr>
          <a:xfrm>
            <a:off x="29718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672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436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70866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9436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2390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943600" y="19812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7239000" y="1981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9718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19812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8194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3" y="2920425"/>
            <a:ext cx="4147777" cy="1194375"/>
            <a:chOff x="2068535" y="1410711"/>
            <a:chExt cx="3119761" cy="1194375"/>
          </a:xfrm>
        </p:grpSpPr>
        <p:grpSp>
          <p:nvGrpSpPr>
            <p:cNvPr id="6" name="Group 24"/>
            <p:cNvGrpSpPr/>
            <p:nvPr/>
          </p:nvGrpSpPr>
          <p:grpSpPr>
            <a:xfrm>
              <a:off x="2068535" y="1410711"/>
              <a:ext cx="3119761" cy="889575"/>
              <a:chOff x="2068535" y="1410711"/>
              <a:chExt cx="311976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878346" y="1410711"/>
                <a:ext cx="2309950" cy="584775"/>
              </a:xfrm>
              <a:prstGeom prst="rect">
                <a:avLst/>
              </a:prstGeom>
              <a:noFill/>
            </p:spPr>
            <p:txBody>
              <a:bodyPr wrap="square" rtlCol="0">
                <a:spAutoFit/>
              </a:bodyPr>
              <a:lstStyle/>
              <a:p>
                <a:r>
                  <a:rPr lang="en-US" sz="3200" dirty="0" smtClean="0"/>
                  <a:t>  [CO</a:t>
                </a:r>
                <a:r>
                  <a:rPr lang="en-US" sz="3200" baseline="-25000" dirty="0" smtClean="0"/>
                  <a:t>2</a:t>
                </a:r>
                <a:r>
                  <a:rPr lang="en-US" sz="3200" dirty="0" smtClean="0"/>
                  <a:t>][H</a:t>
                </a:r>
                <a:r>
                  <a:rPr lang="en-US" sz="3200" baseline="-25000" dirty="0" smtClean="0"/>
                  <a:t>2</a:t>
                </a:r>
                <a:r>
                  <a:rPr lang="en-US" sz="3200" dirty="0" smtClean="0"/>
                  <a:t>]</a:t>
                </a:r>
                <a:endParaRPr lang="en-US" sz="3200" dirty="0"/>
              </a:p>
            </p:txBody>
          </p:sp>
        </p:grpSp>
        <p:sp>
          <p:nvSpPr>
            <p:cNvPr id="24" name="TextBox 5"/>
            <p:cNvSpPr txBox="1"/>
            <p:nvPr/>
          </p:nvSpPr>
          <p:spPr>
            <a:xfrm>
              <a:off x="2736010" y="2020311"/>
              <a:ext cx="1861860" cy="584775"/>
            </a:xfrm>
            <a:prstGeom prst="rect">
              <a:avLst/>
            </a:prstGeom>
            <a:noFill/>
          </p:spPr>
          <p:txBody>
            <a:bodyPr wrap="square" rtlCol="0">
              <a:spAutoFit/>
            </a:bodyPr>
            <a:lstStyle/>
            <a:p>
              <a:r>
                <a:rPr lang="en-US" altLang="zh-CN" sz="3200" dirty="0" smtClean="0"/>
                <a:t>    [CO][H</a:t>
              </a:r>
              <a:r>
                <a:rPr lang="en-US" altLang="zh-CN" sz="3200" baseline="-25000" dirty="0" smtClean="0"/>
                <a:t>2</a:t>
              </a:r>
              <a:r>
                <a:rPr lang="en-US" altLang="zh-CN" sz="3200" dirty="0" smtClean="0"/>
                <a:t>O ]</a:t>
              </a:r>
              <a:endParaRPr lang="en-US" sz="3200" dirty="0"/>
            </a:p>
          </p:txBody>
        </p:sp>
      </p:grpSp>
      <p:grpSp>
        <p:nvGrpSpPr>
          <p:cNvPr id="7" name="Group 3"/>
          <p:cNvGrpSpPr/>
          <p:nvPr/>
        </p:nvGrpSpPr>
        <p:grpSpPr>
          <a:xfrm>
            <a:off x="3505198" y="3962400"/>
            <a:ext cx="3886202" cy="965775"/>
            <a:chOff x="3493605" y="1421487"/>
            <a:chExt cx="1004452" cy="965775"/>
          </a:xfrm>
        </p:grpSpPr>
        <p:grpSp>
          <p:nvGrpSpPr>
            <p:cNvPr id="20"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(x)(x)</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(0.2-x)(0.2-x)</a:t>
              </a:r>
              <a:endParaRPr lang="en-US" sz="3200" dirty="0"/>
            </a:p>
          </p:txBody>
        </p:sp>
      </p:grpSp>
      <p:sp>
        <p:nvSpPr>
          <p:cNvPr id="29" name="Title 1"/>
          <p:cNvSpPr>
            <a:spLocks noGrp="1"/>
          </p:cNvSpPr>
          <p:nvPr>
            <p:ph type="title"/>
          </p:nvPr>
        </p:nvSpPr>
        <p:spPr>
          <a:xfrm>
            <a:off x="0" y="0"/>
            <a:ext cx="9144000" cy="1202485"/>
          </a:xfrm>
        </p:spPr>
        <p:txBody>
          <a:bodyPr>
            <a:normAutofit/>
          </a:bodyPr>
          <a:lstStyle/>
          <a:p>
            <a:r>
              <a:rPr 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21.2.2</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 有关化学平衡的计算</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grpSp>
        <p:nvGrpSpPr>
          <p:cNvPr id="28" name="Group 3"/>
          <p:cNvGrpSpPr/>
          <p:nvPr/>
        </p:nvGrpSpPr>
        <p:grpSpPr>
          <a:xfrm>
            <a:off x="3047999" y="5358825"/>
            <a:ext cx="1676401" cy="965775"/>
            <a:chOff x="3454214" y="1421487"/>
            <a:chExt cx="433293" cy="965775"/>
          </a:xfrm>
        </p:grpSpPr>
        <p:grpSp>
          <p:nvGrpSpPr>
            <p:cNvPr id="30" name="Group 24"/>
            <p:cNvGrpSpPr/>
            <p:nvPr/>
          </p:nvGrpSpPr>
          <p:grpSpPr>
            <a:xfrm>
              <a:off x="3583657" y="1421487"/>
              <a:ext cx="303850" cy="584775"/>
              <a:chOff x="3583657" y="1421487"/>
              <a:chExt cx="303850" cy="584775"/>
            </a:xfrm>
          </p:grpSpPr>
          <p:cxnSp>
            <p:nvCxnSpPr>
              <p:cNvPr id="35" name="Straight Connector 8"/>
              <p:cNvCxnSpPr/>
              <p:nvPr/>
            </p:nvCxnSpPr>
            <p:spPr>
              <a:xfrm>
                <a:off x="3583657" y="1905000"/>
                <a:ext cx="28361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3603352" y="1421487"/>
                <a:ext cx="284155" cy="584775"/>
              </a:xfrm>
              <a:prstGeom prst="rect">
                <a:avLst/>
              </a:prstGeom>
              <a:noFill/>
            </p:spPr>
            <p:txBody>
              <a:bodyPr wrap="square" rtlCol="0">
                <a:spAutoFit/>
              </a:bodyPr>
              <a:lstStyle/>
              <a:p>
                <a:r>
                  <a:rPr lang="en-US" altLang="zh-CN" sz="3200" dirty="0" smtClean="0"/>
                  <a:t>0.1</a:t>
                </a:r>
                <a:endParaRPr lang="en-US" sz="3200" dirty="0"/>
              </a:p>
            </p:txBody>
          </p:sp>
        </p:grpSp>
        <p:sp>
          <p:nvSpPr>
            <p:cNvPr id="34" name="TextBox 5"/>
            <p:cNvSpPr txBox="1"/>
            <p:nvPr/>
          </p:nvSpPr>
          <p:spPr>
            <a:xfrm>
              <a:off x="3454214" y="1802487"/>
              <a:ext cx="354512" cy="584775"/>
            </a:xfrm>
            <a:prstGeom prst="rect">
              <a:avLst/>
            </a:prstGeom>
            <a:noFill/>
          </p:spPr>
          <p:txBody>
            <a:bodyPr wrap="square" rtlCol="0">
              <a:spAutoFit/>
            </a:bodyPr>
            <a:lstStyle/>
            <a:p>
              <a:r>
                <a:rPr lang="en-US" altLang="zh-CN" sz="3200" dirty="0" smtClean="0"/>
                <a:t>      0.2</a:t>
              </a:r>
              <a:endParaRPr lang="en-US" sz="3200" dirty="0"/>
            </a:p>
          </p:txBody>
        </p:sp>
      </p:grpSp>
      <p:sp>
        <p:nvSpPr>
          <p:cNvPr id="37" name="Rounded Rectangle 36"/>
          <p:cNvSpPr/>
          <p:nvPr/>
        </p:nvSpPr>
        <p:spPr>
          <a:xfrm>
            <a:off x="3352800" y="5410200"/>
            <a:ext cx="2514600" cy="7620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p:cNvSpPr/>
          <p:nvPr/>
        </p:nvSpPr>
        <p:spPr>
          <a:xfrm>
            <a:off x="6096000" y="5638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xit" presetSubtype="4" fill="hold" grpId="0" nodeType="clickEffect">
                                  <p:stCondLst>
                                    <p:cond delay="0"/>
                                  </p:stCondLst>
                                  <p:childTnLst>
                                    <p:anim calcmode="lin" valueType="num">
                                      <p:cBhvr additive="base">
                                        <p:cTn id="21" dur="500"/>
                                        <p:tgtEl>
                                          <p:spTgt spid="8"/>
                                        </p:tgtEl>
                                        <p:attrNameLst>
                                          <p:attrName>ppt_x</p:attrName>
                                        </p:attrNameLst>
                                      </p:cBhvr>
                                      <p:tavLst>
                                        <p:tav tm="0">
                                          <p:val>
                                            <p:strVal val="ppt_x"/>
                                          </p:val>
                                        </p:tav>
                                        <p:tav tm="100000">
                                          <p:val>
                                            <p:strVal val="ppt_x"/>
                                          </p:val>
                                        </p:tav>
                                      </p:tavLst>
                                    </p:anim>
                                    <p:anim calcmode="lin" valueType="num">
                                      <p:cBhvr additive="base">
                                        <p:cTn id="22" dur="500"/>
                                        <p:tgtEl>
                                          <p:spTgt spid="8"/>
                                        </p:tgtEl>
                                        <p:attrNameLst>
                                          <p:attrName>ppt_y</p:attrName>
                                        </p:attrNameLst>
                                      </p:cBhvr>
                                      <p:tavLst>
                                        <p:tav tm="0">
                                          <p:val>
                                            <p:strVal val="ppt_y"/>
                                          </p:val>
                                        </p:tav>
                                        <p:tav tm="100000">
                                          <p:val>
                                            <p:strVal val="1+ppt_h/2"/>
                                          </p:val>
                                        </p:tav>
                                      </p:tavLst>
                                    </p:anim>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grpId="0" nodeType="clickEffect">
                                  <p:stCondLst>
                                    <p:cond delay="0"/>
                                  </p:stCondLst>
                                  <p:childTnLst>
                                    <p:anim calcmode="lin" valueType="num">
                                      <p:cBhvr additive="base">
                                        <p:cTn id="27" dur="500"/>
                                        <p:tgtEl>
                                          <p:spTgt spid="9"/>
                                        </p:tgtEl>
                                        <p:attrNameLst>
                                          <p:attrName>ppt_x</p:attrName>
                                        </p:attrNameLst>
                                      </p:cBhvr>
                                      <p:tavLst>
                                        <p:tav tm="0">
                                          <p:val>
                                            <p:strVal val="ppt_x"/>
                                          </p:val>
                                        </p:tav>
                                        <p:tav tm="100000">
                                          <p:val>
                                            <p:strVal val="ppt_x"/>
                                          </p:val>
                                        </p:tav>
                                      </p:tavLst>
                                    </p:anim>
                                    <p:anim calcmode="lin" valueType="num">
                                      <p:cBhvr additive="base">
                                        <p:cTn id="28" dur="500"/>
                                        <p:tgtEl>
                                          <p:spTgt spid="9"/>
                                        </p:tgtEl>
                                        <p:attrNameLst>
                                          <p:attrName>ppt_y</p:attrName>
                                        </p:attrNameLst>
                                      </p:cBhvr>
                                      <p:tavLst>
                                        <p:tav tm="0">
                                          <p:val>
                                            <p:strVal val="ppt_y"/>
                                          </p:val>
                                        </p:tav>
                                        <p:tav tm="100000">
                                          <p:val>
                                            <p:strVal val="1+ppt_h/2"/>
                                          </p:val>
                                        </p:tav>
                                      </p:tavLst>
                                    </p:anim>
                                    <p:set>
                                      <p:cBhvr>
                                        <p:cTn id="29" dur="1" fill="hold">
                                          <p:stCondLst>
                                            <p:cond delay="499"/>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0" nodeType="clickEffect">
                                  <p:stCondLst>
                                    <p:cond delay="0"/>
                                  </p:stCondLst>
                                  <p:childTnLst>
                                    <p:anim calcmode="lin" valueType="num">
                                      <p:cBhvr additive="base">
                                        <p:cTn id="33" dur="500"/>
                                        <p:tgtEl>
                                          <p:spTgt spid="10"/>
                                        </p:tgtEl>
                                        <p:attrNameLst>
                                          <p:attrName>ppt_x</p:attrName>
                                        </p:attrNameLst>
                                      </p:cBhvr>
                                      <p:tavLst>
                                        <p:tav tm="0">
                                          <p:val>
                                            <p:strVal val="ppt_x"/>
                                          </p:val>
                                        </p:tav>
                                        <p:tav tm="100000">
                                          <p:val>
                                            <p:strVal val="ppt_x"/>
                                          </p:val>
                                        </p:tav>
                                      </p:tavLst>
                                    </p:anim>
                                    <p:anim calcmode="lin" valueType="num">
                                      <p:cBhvr additive="base">
                                        <p:cTn id="34" dur="500"/>
                                        <p:tgtEl>
                                          <p:spTgt spid="10"/>
                                        </p:tgtEl>
                                        <p:attrNameLst>
                                          <p:attrName>ppt_y</p:attrName>
                                        </p:attrNameLst>
                                      </p:cBhvr>
                                      <p:tavLst>
                                        <p:tav tm="0">
                                          <p:val>
                                            <p:strVal val="ppt_y"/>
                                          </p:val>
                                        </p:tav>
                                        <p:tav tm="100000">
                                          <p:val>
                                            <p:strVal val="1+ppt_h/2"/>
                                          </p:val>
                                        </p:tav>
                                      </p:tavLst>
                                    </p:anim>
                                    <p:set>
                                      <p:cBhvr>
                                        <p:cTn id="35" dur="1" fill="hold">
                                          <p:stCondLst>
                                            <p:cond delay="499"/>
                                          </p:stCondLst>
                                        </p:cTn>
                                        <p:tgtEl>
                                          <p:spTgt spid="1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xit" presetSubtype="4" fill="hold" grpId="0" nodeType="clickEffect">
                                  <p:stCondLst>
                                    <p:cond delay="0"/>
                                  </p:stCondLst>
                                  <p:childTnLst>
                                    <p:anim calcmode="lin" valueType="num">
                                      <p:cBhvr additive="base">
                                        <p:cTn id="39" dur="500"/>
                                        <p:tgtEl>
                                          <p:spTgt spid="11"/>
                                        </p:tgtEl>
                                        <p:attrNameLst>
                                          <p:attrName>ppt_x</p:attrName>
                                        </p:attrNameLst>
                                      </p:cBhvr>
                                      <p:tavLst>
                                        <p:tav tm="0">
                                          <p:val>
                                            <p:strVal val="ppt_x"/>
                                          </p:val>
                                        </p:tav>
                                        <p:tav tm="100000">
                                          <p:val>
                                            <p:strVal val="ppt_x"/>
                                          </p:val>
                                        </p:tav>
                                      </p:tavLst>
                                    </p:anim>
                                    <p:anim calcmode="lin" valueType="num">
                                      <p:cBhvr additive="base">
                                        <p:cTn id="40" dur="500"/>
                                        <p:tgtEl>
                                          <p:spTgt spid="11"/>
                                        </p:tgtEl>
                                        <p:attrNameLst>
                                          <p:attrName>ppt_y</p:attrName>
                                        </p:attrNameLst>
                                      </p:cBhvr>
                                      <p:tavLst>
                                        <p:tav tm="0">
                                          <p:val>
                                            <p:strVal val="ppt_y"/>
                                          </p:val>
                                        </p:tav>
                                        <p:tav tm="100000">
                                          <p:val>
                                            <p:strVal val="1+ppt_h/2"/>
                                          </p:val>
                                        </p:tav>
                                      </p:tavLst>
                                    </p:anim>
                                    <p:set>
                                      <p:cBhvr>
                                        <p:cTn id="41" dur="1" fill="hold">
                                          <p:stCondLst>
                                            <p:cond delay="499"/>
                                          </p:stCondLst>
                                        </p:cTn>
                                        <p:tgtEl>
                                          <p:spTgt spid="1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grpId="0" nodeType="clickEffect">
                                  <p:stCondLst>
                                    <p:cond delay="0"/>
                                  </p:stCondLst>
                                  <p:childTnLst>
                                    <p:anim calcmode="lin" valueType="num">
                                      <p:cBhvr additive="base">
                                        <p:cTn id="45" dur="500"/>
                                        <p:tgtEl>
                                          <p:spTgt spid="16"/>
                                        </p:tgtEl>
                                        <p:attrNameLst>
                                          <p:attrName>ppt_x</p:attrName>
                                        </p:attrNameLst>
                                      </p:cBhvr>
                                      <p:tavLst>
                                        <p:tav tm="0">
                                          <p:val>
                                            <p:strVal val="ppt_x"/>
                                          </p:val>
                                        </p:tav>
                                        <p:tav tm="100000">
                                          <p:val>
                                            <p:strVal val="ppt_x"/>
                                          </p:val>
                                        </p:tav>
                                      </p:tavLst>
                                    </p:anim>
                                    <p:anim calcmode="lin" valueType="num">
                                      <p:cBhvr additive="base">
                                        <p:cTn id="46" dur="500"/>
                                        <p:tgtEl>
                                          <p:spTgt spid="16"/>
                                        </p:tgtEl>
                                        <p:attrNameLst>
                                          <p:attrName>ppt_y</p:attrName>
                                        </p:attrNameLst>
                                      </p:cBhvr>
                                      <p:tavLst>
                                        <p:tav tm="0">
                                          <p:val>
                                            <p:strVal val="ppt_y"/>
                                          </p:val>
                                        </p:tav>
                                        <p:tav tm="100000">
                                          <p:val>
                                            <p:strVal val="1+ppt_h/2"/>
                                          </p:val>
                                        </p:tav>
                                      </p:tavLst>
                                    </p:anim>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 presetClass="exit" presetSubtype="4" fill="hold" grpId="0" nodeType="clickEffect">
                                  <p:stCondLst>
                                    <p:cond delay="0"/>
                                  </p:stCondLst>
                                  <p:childTnLst>
                                    <p:anim calcmode="lin" valueType="num">
                                      <p:cBhvr additive="base">
                                        <p:cTn id="51" dur="500"/>
                                        <p:tgtEl>
                                          <p:spTgt spid="17"/>
                                        </p:tgtEl>
                                        <p:attrNameLst>
                                          <p:attrName>ppt_x</p:attrName>
                                        </p:attrNameLst>
                                      </p:cBhvr>
                                      <p:tavLst>
                                        <p:tav tm="0">
                                          <p:val>
                                            <p:strVal val="ppt_x"/>
                                          </p:val>
                                        </p:tav>
                                        <p:tav tm="100000">
                                          <p:val>
                                            <p:strVal val="ppt_x"/>
                                          </p:val>
                                        </p:tav>
                                      </p:tavLst>
                                    </p:anim>
                                    <p:anim calcmode="lin" valueType="num">
                                      <p:cBhvr additive="base">
                                        <p:cTn id="52" dur="500"/>
                                        <p:tgtEl>
                                          <p:spTgt spid="17"/>
                                        </p:tgtEl>
                                        <p:attrNameLst>
                                          <p:attrName>ppt_y</p:attrName>
                                        </p:attrNameLst>
                                      </p:cBhvr>
                                      <p:tavLst>
                                        <p:tav tm="0">
                                          <p:val>
                                            <p:strVal val="ppt_y"/>
                                          </p:val>
                                        </p:tav>
                                        <p:tav tm="100000">
                                          <p:val>
                                            <p:strVal val="1+ppt_h/2"/>
                                          </p:val>
                                        </p:tav>
                                      </p:tavLst>
                                    </p:anim>
                                    <p:set>
                                      <p:cBhvr>
                                        <p:cTn id="53" dur="1" fill="hold">
                                          <p:stCondLst>
                                            <p:cond delay="499"/>
                                          </p:stCondLst>
                                        </p:cTn>
                                        <p:tgtEl>
                                          <p:spTgt spid="1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xit" presetSubtype="4" fill="hold" grpId="0" nodeType="clickEffect">
                                  <p:stCondLst>
                                    <p:cond delay="0"/>
                                  </p:stCondLst>
                                  <p:childTnLst>
                                    <p:anim calcmode="lin" valueType="num">
                                      <p:cBhvr additive="base">
                                        <p:cTn id="57" dur="500"/>
                                        <p:tgtEl>
                                          <p:spTgt spid="14"/>
                                        </p:tgtEl>
                                        <p:attrNameLst>
                                          <p:attrName>ppt_x</p:attrName>
                                        </p:attrNameLst>
                                      </p:cBhvr>
                                      <p:tavLst>
                                        <p:tav tm="0">
                                          <p:val>
                                            <p:strVal val="ppt_x"/>
                                          </p:val>
                                        </p:tav>
                                        <p:tav tm="100000">
                                          <p:val>
                                            <p:strVal val="ppt_x"/>
                                          </p:val>
                                        </p:tav>
                                      </p:tavLst>
                                    </p:anim>
                                    <p:anim calcmode="lin" valueType="num">
                                      <p:cBhvr additive="base">
                                        <p:cTn id="58" dur="500"/>
                                        <p:tgtEl>
                                          <p:spTgt spid="14"/>
                                        </p:tgtEl>
                                        <p:attrNameLst>
                                          <p:attrName>ppt_y</p:attrName>
                                        </p:attrNameLst>
                                      </p:cBhvr>
                                      <p:tavLst>
                                        <p:tav tm="0">
                                          <p:val>
                                            <p:strVal val="ppt_y"/>
                                          </p:val>
                                        </p:tav>
                                        <p:tav tm="100000">
                                          <p:val>
                                            <p:strVal val="1+ppt_h/2"/>
                                          </p:val>
                                        </p:tav>
                                      </p:tavLst>
                                    </p:anim>
                                    <p:set>
                                      <p:cBhvr>
                                        <p:cTn id="59" dur="1" fill="hold">
                                          <p:stCondLst>
                                            <p:cond delay="499"/>
                                          </p:stCondLst>
                                        </p:cTn>
                                        <p:tgtEl>
                                          <p:spTgt spid="1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0" nodeType="clickEffect">
                                  <p:stCondLst>
                                    <p:cond delay="0"/>
                                  </p:stCondLst>
                                  <p:childTnLst>
                                    <p:anim calcmode="lin" valueType="num">
                                      <p:cBhvr additive="base">
                                        <p:cTn id="63" dur="500"/>
                                        <p:tgtEl>
                                          <p:spTgt spid="15"/>
                                        </p:tgtEl>
                                        <p:attrNameLst>
                                          <p:attrName>ppt_x</p:attrName>
                                        </p:attrNameLst>
                                      </p:cBhvr>
                                      <p:tavLst>
                                        <p:tav tm="0">
                                          <p:val>
                                            <p:strVal val="ppt_x"/>
                                          </p:val>
                                        </p:tav>
                                        <p:tav tm="100000">
                                          <p:val>
                                            <p:strVal val="ppt_x"/>
                                          </p:val>
                                        </p:tav>
                                      </p:tavLst>
                                    </p:anim>
                                    <p:anim calcmode="lin" valueType="num">
                                      <p:cBhvr additive="base">
                                        <p:cTn id="64" dur="500"/>
                                        <p:tgtEl>
                                          <p:spTgt spid="15"/>
                                        </p:tgtEl>
                                        <p:attrNameLst>
                                          <p:attrName>ppt_y</p:attrName>
                                        </p:attrNameLst>
                                      </p:cBhvr>
                                      <p:tavLst>
                                        <p:tav tm="0">
                                          <p:val>
                                            <p:strVal val="ppt_y"/>
                                          </p:val>
                                        </p:tav>
                                        <p:tav tm="100000">
                                          <p:val>
                                            <p:strVal val="1+ppt_h/2"/>
                                          </p:val>
                                        </p:tav>
                                      </p:tavLst>
                                    </p:anim>
                                    <p:set>
                                      <p:cBhvr>
                                        <p:cTn id="65" dur="1" fill="hold">
                                          <p:stCondLst>
                                            <p:cond delay="499"/>
                                          </p:stCondLst>
                                        </p:cTn>
                                        <p:tgtEl>
                                          <p:spTgt spid="15"/>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 presetClass="exit" presetSubtype="4" fill="hold" grpId="0" nodeType="clickEffect">
                                  <p:stCondLst>
                                    <p:cond delay="0"/>
                                  </p:stCondLst>
                                  <p:childTnLst>
                                    <p:anim calcmode="lin" valueType="num">
                                      <p:cBhvr additive="base">
                                        <p:cTn id="69" dur="500"/>
                                        <p:tgtEl>
                                          <p:spTgt spid="18"/>
                                        </p:tgtEl>
                                        <p:attrNameLst>
                                          <p:attrName>ppt_x</p:attrName>
                                        </p:attrNameLst>
                                      </p:cBhvr>
                                      <p:tavLst>
                                        <p:tav tm="0">
                                          <p:val>
                                            <p:strVal val="ppt_x"/>
                                          </p:val>
                                        </p:tav>
                                        <p:tav tm="100000">
                                          <p:val>
                                            <p:strVal val="ppt_x"/>
                                          </p:val>
                                        </p:tav>
                                      </p:tavLst>
                                    </p:anim>
                                    <p:anim calcmode="lin" valueType="num">
                                      <p:cBhvr additive="base">
                                        <p:cTn id="70" dur="500"/>
                                        <p:tgtEl>
                                          <p:spTgt spid="18"/>
                                        </p:tgtEl>
                                        <p:attrNameLst>
                                          <p:attrName>ppt_y</p:attrName>
                                        </p:attrNameLst>
                                      </p:cBhvr>
                                      <p:tavLst>
                                        <p:tav tm="0">
                                          <p:val>
                                            <p:strVal val="ppt_y"/>
                                          </p:val>
                                        </p:tav>
                                        <p:tav tm="100000">
                                          <p:val>
                                            <p:strVal val="1+ppt_h/2"/>
                                          </p:val>
                                        </p:tav>
                                      </p:tavLst>
                                    </p:anim>
                                    <p:set>
                                      <p:cBhvr>
                                        <p:cTn id="71" dur="1" fill="hold">
                                          <p:stCondLst>
                                            <p:cond delay="499"/>
                                          </p:stCondLst>
                                        </p:cTn>
                                        <p:tgtEl>
                                          <p:spTgt spid="18"/>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 presetClass="exit" presetSubtype="4" fill="hold" grpId="0" nodeType="clickEffect">
                                  <p:stCondLst>
                                    <p:cond delay="0"/>
                                  </p:stCondLst>
                                  <p:childTnLst>
                                    <p:anim calcmode="lin" valueType="num">
                                      <p:cBhvr additive="base">
                                        <p:cTn id="75" dur="500"/>
                                        <p:tgtEl>
                                          <p:spTgt spid="19"/>
                                        </p:tgtEl>
                                        <p:attrNameLst>
                                          <p:attrName>ppt_x</p:attrName>
                                        </p:attrNameLst>
                                      </p:cBhvr>
                                      <p:tavLst>
                                        <p:tav tm="0">
                                          <p:val>
                                            <p:strVal val="ppt_x"/>
                                          </p:val>
                                        </p:tav>
                                        <p:tav tm="100000">
                                          <p:val>
                                            <p:strVal val="ppt_x"/>
                                          </p:val>
                                        </p:tav>
                                      </p:tavLst>
                                    </p:anim>
                                    <p:anim calcmode="lin" valueType="num">
                                      <p:cBhvr additive="base">
                                        <p:cTn id="76" dur="500"/>
                                        <p:tgtEl>
                                          <p:spTgt spid="19"/>
                                        </p:tgtEl>
                                        <p:attrNameLst>
                                          <p:attrName>ppt_y</p:attrName>
                                        </p:attrNameLst>
                                      </p:cBhvr>
                                      <p:tavLst>
                                        <p:tav tm="0">
                                          <p:val>
                                            <p:strVal val="ppt_y"/>
                                          </p:val>
                                        </p:tav>
                                        <p:tav tm="100000">
                                          <p:val>
                                            <p:strVal val="1+ppt_h/2"/>
                                          </p:val>
                                        </p:tav>
                                      </p:tavLst>
                                    </p:anim>
                                    <p:set>
                                      <p:cBhvr>
                                        <p:cTn id="77" dur="1" fill="hold">
                                          <p:stCondLst>
                                            <p:cond delay="499"/>
                                          </p:stCondLst>
                                        </p:cTn>
                                        <p:tgtEl>
                                          <p:spTgt spid="19"/>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 presetClass="exit" presetSubtype="4" fill="hold" grpId="0" nodeType="clickEffect">
                                  <p:stCondLst>
                                    <p:cond delay="0"/>
                                  </p:stCondLst>
                                  <p:childTnLst>
                                    <p:anim calcmode="lin" valueType="num">
                                      <p:cBhvr additive="base">
                                        <p:cTn id="81" dur="500"/>
                                        <p:tgtEl>
                                          <p:spTgt spid="12"/>
                                        </p:tgtEl>
                                        <p:attrNameLst>
                                          <p:attrName>ppt_x</p:attrName>
                                        </p:attrNameLst>
                                      </p:cBhvr>
                                      <p:tavLst>
                                        <p:tav tm="0">
                                          <p:val>
                                            <p:strVal val="ppt_x"/>
                                          </p:val>
                                        </p:tav>
                                        <p:tav tm="100000">
                                          <p:val>
                                            <p:strVal val="ppt_x"/>
                                          </p:val>
                                        </p:tav>
                                      </p:tavLst>
                                    </p:anim>
                                    <p:anim calcmode="lin" valueType="num">
                                      <p:cBhvr additive="base">
                                        <p:cTn id="82" dur="500"/>
                                        <p:tgtEl>
                                          <p:spTgt spid="12"/>
                                        </p:tgtEl>
                                        <p:attrNameLst>
                                          <p:attrName>ppt_y</p:attrName>
                                        </p:attrNameLst>
                                      </p:cBhvr>
                                      <p:tavLst>
                                        <p:tav tm="0">
                                          <p:val>
                                            <p:strVal val="ppt_y"/>
                                          </p:val>
                                        </p:tav>
                                        <p:tav tm="100000">
                                          <p:val>
                                            <p:strVal val="1+ppt_h/2"/>
                                          </p:val>
                                        </p:tav>
                                      </p:tavLst>
                                    </p:anim>
                                    <p:set>
                                      <p:cBhvr>
                                        <p:cTn id="83" dur="1" fill="hold">
                                          <p:stCondLst>
                                            <p:cond delay="499"/>
                                          </p:stCondLst>
                                        </p:cTn>
                                        <p:tgtEl>
                                          <p:spTgt spid="12"/>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2" presetClass="exit" presetSubtype="4" fill="hold" grpId="0" nodeType="clickEffect">
                                  <p:stCondLst>
                                    <p:cond delay="0"/>
                                  </p:stCondLst>
                                  <p:childTnLst>
                                    <p:anim calcmode="lin" valueType="num">
                                      <p:cBhvr additive="base">
                                        <p:cTn id="87" dur="500"/>
                                        <p:tgtEl>
                                          <p:spTgt spid="13"/>
                                        </p:tgtEl>
                                        <p:attrNameLst>
                                          <p:attrName>ppt_x</p:attrName>
                                        </p:attrNameLst>
                                      </p:cBhvr>
                                      <p:tavLst>
                                        <p:tav tm="0">
                                          <p:val>
                                            <p:strVal val="ppt_x"/>
                                          </p:val>
                                        </p:tav>
                                        <p:tav tm="100000">
                                          <p:val>
                                            <p:strVal val="ppt_x"/>
                                          </p:val>
                                        </p:tav>
                                      </p:tavLst>
                                    </p:anim>
                                    <p:anim calcmode="lin" valueType="num">
                                      <p:cBhvr additive="base">
                                        <p:cTn id="88" dur="500"/>
                                        <p:tgtEl>
                                          <p:spTgt spid="13"/>
                                        </p:tgtEl>
                                        <p:attrNameLst>
                                          <p:attrName>ppt_y</p:attrName>
                                        </p:attrNameLst>
                                      </p:cBhvr>
                                      <p:tavLst>
                                        <p:tav tm="0">
                                          <p:val>
                                            <p:strVal val="ppt_y"/>
                                          </p:val>
                                        </p:tav>
                                        <p:tav tm="100000">
                                          <p:val>
                                            <p:strVal val="1+ppt_h/2"/>
                                          </p:val>
                                        </p:tav>
                                      </p:tavLst>
                                    </p:anim>
                                    <p:set>
                                      <p:cBhvr>
                                        <p:cTn id="89" dur="1" fill="hold">
                                          <p:stCondLst>
                                            <p:cond delay="499"/>
                                          </p:stCondLst>
                                        </p:cTn>
                                        <p:tgtEl>
                                          <p:spTgt spid="13"/>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blinds(horizontal)">
                                      <p:cBhvr>
                                        <p:cTn id="94" dur="500"/>
                                        <p:tgtEl>
                                          <p:spTgt spid="5"/>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
                                            <p:txEl>
                                              <p:pRg st="6" end="6"/>
                                            </p:txEl>
                                          </p:spTgt>
                                        </p:tgtEl>
                                        <p:attrNameLst>
                                          <p:attrName>style.visibility</p:attrName>
                                        </p:attrNameLst>
                                      </p:cBhvr>
                                      <p:to>
                                        <p:strVal val="visible"/>
                                      </p:to>
                                    </p:set>
                                    <p:animEffect transition="in" filter="blinds(horizontal)">
                                      <p:cBhvr>
                                        <p:cTn id="99" dur="500"/>
                                        <p:tgtEl>
                                          <p:spTgt spid="3">
                                            <p:txEl>
                                              <p:pRg st="6" end="6"/>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nodeType="clickEffect">
                                  <p:stCondLst>
                                    <p:cond delay="0"/>
                                  </p:stCondLst>
                                  <p:childTnLst>
                                    <p:set>
                                      <p:cBhvr>
                                        <p:cTn id="103" dur="1" fill="hold">
                                          <p:stCondLst>
                                            <p:cond delay="0"/>
                                          </p:stCondLst>
                                        </p:cTn>
                                        <p:tgtEl>
                                          <p:spTgt spid="7"/>
                                        </p:tgtEl>
                                        <p:attrNameLst>
                                          <p:attrName>style.visibility</p:attrName>
                                        </p:attrNameLst>
                                      </p:cBhvr>
                                      <p:to>
                                        <p:strVal val="visible"/>
                                      </p:to>
                                    </p:set>
                                    <p:animEffect transition="in" filter="blinds(horizontal)">
                                      <p:cBhvr>
                                        <p:cTn id="104" dur="500"/>
                                        <p:tgtEl>
                                          <p:spTgt spid="7"/>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3">
                                            <p:txEl>
                                              <p:pRg st="7" end="7"/>
                                            </p:txEl>
                                          </p:spTgt>
                                        </p:tgtEl>
                                        <p:attrNameLst>
                                          <p:attrName>style.visibility</p:attrName>
                                        </p:attrNameLst>
                                      </p:cBhvr>
                                      <p:to>
                                        <p:strVal val="visible"/>
                                      </p:to>
                                    </p:set>
                                    <p:animEffect transition="in" filter="blinds(horizontal)">
                                      <p:cBhvr>
                                        <p:cTn id="109" dur="500"/>
                                        <p:tgtEl>
                                          <p:spTgt spid="3">
                                            <p:txEl>
                                              <p:pRg st="7" end="7"/>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3">
                                            <p:txEl>
                                              <p:pRg st="8" end="8"/>
                                            </p:txEl>
                                          </p:spTgt>
                                        </p:tgtEl>
                                        <p:attrNameLst>
                                          <p:attrName>style.visibility</p:attrName>
                                        </p:attrNameLst>
                                      </p:cBhvr>
                                      <p:to>
                                        <p:strVal val="visible"/>
                                      </p:to>
                                    </p:set>
                                    <p:animEffect transition="in" filter="blinds(horizontal)">
                                      <p:cBhvr>
                                        <p:cTn id="114" dur="500"/>
                                        <p:tgtEl>
                                          <p:spTgt spid="3">
                                            <p:txEl>
                                              <p:pRg st="8" end="8"/>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nodeType="clickEffect">
                                  <p:stCondLst>
                                    <p:cond delay="0"/>
                                  </p:stCondLst>
                                  <p:childTnLst>
                                    <p:set>
                                      <p:cBhvr>
                                        <p:cTn id="118" dur="1" fill="hold">
                                          <p:stCondLst>
                                            <p:cond delay="0"/>
                                          </p:stCondLst>
                                        </p:cTn>
                                        <p:tgtEl>
                                          <p:spTgt spid="28"/>
                                        </p:tgtEl>
                                        <p:attrNameLst>
                                          <p:attrName>style.visibility</p:attrName>
                                        </p:attrNameLst>
                                      </p:cBhvr>
                                      <p:to>
                                        <p:strVal val="visible"/>
                                      </p:to>
                                    </p:set>
                                    <p:animEffect transition="in" filter="blinds(horizontal)">
                                      <p:cBhvr>
                                        <p:cTn id="119" dur="500"/>
                                        <p:tgtEl>
                                          <p:spTgt spid="28"/>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xit" presetSubtype="4" fill="hold" grpId="0" nodeType="clickEffect">
                                  <p:stCondLst>
                                    <p:cond delay="0"/>
                                  </p:stCondLst>
                                  <p:childTnLst>
                                    <p:anim calcmode="lin" valueType="num">
                                      <p:cBhvr additive="base">
                                        <p:cTn id="123" dur="500"/>
                                        <p:tgtEl>
                                          <p:spTgt spid="37"/>
                                        </p:tgtEl>
                                        <p:attrNameLst>
                                          <p:attrName>ppt_x</p:attrName>
                                        </p:attrNameLst>
                                      </p:cBhvr>
                                      <p:tavLst>
                                        <p:tav tm="0">
                                          <p:val>
                                            <p:strVal val="ppt_x"/>
                                          </p:val>
                                        </p:tav>
                                        <p:tav tm="100000">
                                          <p:val>
                                            <p:strVal val="ppt_x"/>
                                          </p:val>
                                        </p:tav>
                                      </p:tavLst>
                                    </p:anim>
                                    <p:anim calcmode="lin" valueType="num">
                                      <p:cBhvr additive="base">
                                        <p:cTn id="124" dur="500"/>
                                        <p:tgtEl>
                                          <p:spTgt spid="37"/>
                                        </p:tgtEl>
                                        <p:attrNameLst>
                                          <p:attrName>ppt_y</p:attrName>
                                        </p:attrNameLst>
                                      </p:cBhvr>
                                      <p:tavLst>
                                        <p:tav tm="0">
                                          <p:val>
                                            <p:strVal val="ppt_y"/>
                                          </p:val>
                                        </p:tav>
                                        <p:tav tm="100000">
                                          <p:val>
                                            <p:strVal val="1+ppt_h/2"/>
                                          </p:val>
                                        </p:tav>
                                      </p:tavLst>
                                    </p:anim>
                                    <p:set>
                                      <p:cBhvr>
                                        <p:cTn id="125" dur="1" fill="hold">
                                          <p:stCondLst>
                                            <p:cond delay="499"/>
                                          </p:stCondLst>
                                        </p:cTn>
                                        <p:tgtEl>
                                          <p:spTgt spid="37"/>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2" presetClass="exit" presetSubtype="4" fill="hold" grpId="0" nodeType="clickEffect">
                                  <p:stCondLst>
                                    <p:cond delay="0"/>
                                  </p:stCondLst>
                                  <p:childTnLst>
                                    <p:anim calcmode="lin" valueType="num">
                                      <p:cBhvr additive="base">
                                        <p:cTn id="129" dur="500"/>
                                        <p:tgtEl>
                                          <p:spTgt spid="38"/>
                                        </p:tgtEl>
                                        <p:attrNameLst>
                                          <p:attrName>ppt_x</p:attrName>
                                        </p:attrNameLst>
                                      </p:cBhvr>
                                      <p:tavLst>
                                        <p:tav tm="0">
                                          <p:val>
                                            <p:strVal val="ppt_x"/>
                                          </p:val>
                                        </p:tav>
                                        <p:tav tm="100000">
                                          <p:val>
                                            <p:strVal val="ppt_x"/>
                                          </p:val>
                                        </p:tav>
                                      </p:tavLst>
                                    </p:anim>
                                    <p:anim calcmode="lin" valueType="num">
                                      <p:cBhvr additive="base">
                                        <p:cTn id="130" dur="500"/>
                                        <p:tgtEl>
                                          <p:spTgt spid="38"/>
                                        </p:tgtEl>
                                        <p:attrNameLst>
                                          <p:attrName>ppt_y</p:attrName>
                                        </p:attrNameLst>
                                      </p:cBhvr>
                                      <p:tavLst>
                                        <p:tav tm="0">
                                          <p:val>
                                            <p:strVal val="ppt_y"/>
                                          </p:val>
                                        </p:tav>
                                        <p:tav tm="100000">
                                          <p:val>
                                            <p:strVal val="1+ppt_h/2"/>
                                          </p:val>
                                        </p:tav>
                                      </p:tavLst>
                                    </p:anim>
                                    <p:set>
                                      <p:cBhvr>
                                        <p:cTn id="131"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1" grpId="0" uiExpand="1" animBg="1"/>
      <p:bldP spid="12" grpId="0" uiExpand="1" animBg="1"/>
      <p:bldP spid="13" grpId="0" uiExpand="1" animBg="1"/>
      <p:bldP spid="14" grpId="0" uiExpand="1" animBg="1"/>
      <p:bldP spid="15" grpId="0" uiExpand="1" animBg="1"/>
      <p:bldP spid="16" grpId="0" uiExpand="1" animBg="1"/>
      <p:bldP spid="17" grpId="0" uiExpand="1" animBg="1"/>
      <p:bldP spid="18" grpId="0" uiExpand="1" animBg="1"/>
      <p:bldP spid="19" grpId="0" uiExpand="1"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202485"/>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问题解决</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838200"/>
            <a:ext cx="8077200" cy="5562600"/>
          </a:xfrm>
        </p:spPr>
        <p:txBody>
          <a:bodyPr>
            <a:noAutofit/>
          </a:bodyPr>
          <a:lstStyle/>
          <a:p>
            <a:pPr marL="0" indent="0">
              <a:buNone/>
            </a:pPr>
            <a:r>
              <a:rPr lang="en-US" altLang="zh-CN" sz="3000" dirty="0" smtClean="0"/>
              <a:t>		      2SO</a:t>
            </a:r>
            <a:r>
              <a:rPr lang="en-US" altLang="zh-CN" sz="3000" baseline="-25000" dirty="0" smtClean="0"/>
              <a:t>2</a:t>
            </a:r>
            <a:r>
              <a:rPr lang="en-US" altLang="zh-CN" sz="3000" dirty="0" smtClean="0"/>
              <a:t>  +   O</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2SO</a:t>
            </a:r>
            <a:r>
              <a:rPr lang="en-US" altLang="zh-CN" sz="3000" baseline="-25000" dirty="0" smtClean="0">
                <a:sym typeface="Wingdings" pitchFamily="2" charset="2"/>
              </a:rPr>
              <a:t>3</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0.05	0.03		0</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0.044  	0.022		0.044   </a:t>
            </a:r>
          </a:p>
          <a:p>
            <a:pPr>
              <a:buNone/>
            </a:pPr>
            <a:r>
              <a:rPr lang="en-US" altLang="zh-CN" sz="3000" dirty="0" smtClean="0"/>
              <a:t>[</a:t>
            </a:r>
            <a:r>
              <a:rPr lang="zh-CN" altLang="en-US" sz="3000" dirty="0"/>
              <a:t>平衡</a:t>
            </a:r>
            <a:r>
              <a:rPr lang="en-US" altLang="zh-CN" sz="3000" dirty="0" smtClean="0"/>
              <a:t>](mol/L)  0.006	0.008		0.044</a:t>
            </a:r>
          </a:p>
          <a:p>
            <a:pPr>
              <a:buNone/>
            </a:pPr>
            <a:endParaRPr lang="en-US" altLang="zh-CN" sz="3000" dirty="0" smtClean="0"/>
          </a:p>
          <a:p>
            <a:pPr>
              <a:buNone/>
            </a:pPr>
            <a:endParaRPr lang="en-US" altLang="zh-CN" sz="3000" dirty="0" smtClean="0"/>
          </a:p>
          <a:p>
            <a:pPr>
              <a:buNone/>
            </a:pPr>
            <a:r>
              <a:rPr lang="en-US" altLang="zh-CN" sz="3000" dirty="0" smtClean="0"/>
              <a:t>			  	 =</a:t>
            </a:r>
          </a:p>
          <a:p>
            <a:pPr>
              <a:lnSpc>
                <a:spcPct val="150000"/>
              </a:lnSpc>
              <a:buNone/>
            </a:pPr>
            <a:r>
              <a:rPr lang="en-US" altLang="zh-CN" sz="3000" dirty="0"/>
              <a:t>	</a:t>
            </a:r>
            <a:r>
              <a:rPr lang="en-US" altLang="zh-CN" sz="3000" dirty="0" smtClean="0"/>
              <a:t>		   	=  6722.22</a:t>
            </a:r>
          </a:p>
          <a:p>
            <a:pPr>
              <a:lnSpc>
                <a:spcPct val="150000"/>
              </a:lnSpc>
              <a:buNone/>
            </a:pPr>
            <a:r>
              <a:rPr lang="en-US" altLang="zh-CN" sz="3000" dirty="0" smtClean="0"/>
              <a:t>SO</a:t>
            </a:r>
            <a:r>
              <a:rPr lang="en-US" altLang="zh-CN" sz="3000" baseline="-25000" dirty="0" smtClean="0"/>
              <a:t>2</a:t>
            </a:r>
            <a:r>
              <a:rPr lang="en-US" altLang="zh-CN" sz="3000" dirty="0"/>
              <a:t> </a:t>
            </a:r>
            <a:r>
              <a:rPr lang="zh-CN" altLang="en-US" sz="3000" dirty="0" smtClean="0"/>
              <a:t>的转化率</a:t>
            </a:r>
            <a:r>
              <a:rPr lang="en-US" altLang="zh-CN" sz="3000" dirty="0" smtClean="0"/>
              <a:t>= 	           x 100% = 88%</a:t>
            </a:r>
          </a:p>
        </p:txBody>
      </p:sp>
      <p:sp>
        <p:nvSpPr>
          <p:cNvPr id="8" name="Rounded Rectangle 7"/>
          <p:cNvSpPr/>
          <p:nvPr/>
        </p:nvSpPr>
        <p:spPr>
          <a:xfrm>
            <a:off x="28194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1910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0198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943600" y="14478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28194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943600" y="1981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4114800" y="14478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2819400" y="1447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667000" y="3048000"/>
            <a:ext cx="3309577" cy="1090369"/>
            <a:chOff x="2068535" y="1410711"/>
            <a:chExt cx="2463331" cy="1314669"/>
          </a:xfrm>
        </p:grpSpPr>
        <p:grpSp>
          <p:nvGrpSpPr>
            <p:cNvPr id="6" name="Group 24"/>
            <p:cNvGrpSpPr/>
            <p:nvPr/>
          </p:nvGrpSpPr>
          <p:grpSpPr>
            <a:xfrm>
              <a:off x="2068535" y="1410711"/>
              <a:ext cx="2463331" cy="889575"/>
              <a:chOff x="2068535" y="1410711"/>
              <a:chExt cx="246333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92974" y="1410711"/>
                <a:ext cx="1163669" cy="705069"/>
              </a:xfrm>
              <a:prstGeom prst="rect">
                <a:avLst/>
              </a:prstGeom>
              <a:noFill/>
            </p:spPr>
            <p:txBody>
              <a:bodyPr wrap="square" rtlCol="0">
                <a:spAutoFit/>
              </a:bodyPr>
              <a:lstStyle/>
              <a:p>
                <a:r>
                  <a:rPr lang="en-US" sz="3200" dirty="0" smtClean="0"/>
                  <a:t>  [SO</a:t>
                </a:r>
                <a:r>
                  <a:rPr lang="en-US" sz="3200" baseline="-25000" dirty="0" smtClean="0"/>
                  <a:t>3</a:t>
                </a:r>
                <a:r>
                  <a:rPr lang="en-US" sz="3200" dirty="0" smtClean="0"/>
                  <a:t> ]</a:t>
                </a:r>
                <a:r>
                  <a:rPr lang="en-US" sz="3200" baseline="30000" dirty="0" smtClean="0"/>
                  <a:t>2</a:t>
                </a:r>
                <a:endParaRPr lang="en-US" sz="3200" dirty="0"/>
              </a:p>
            </p:txBody>
          </p:sp>
        </p:grpSp>
        <p:sp>
          <p:nvSpPr>
            <p:cNvPr id="24" name="TextBox 5"/>
            <p:cNvSpPr txBox="1"/>
            <p:nvPr/>
          </p:nvSpPr>
          <p:spPr>
            <a:xfrm>
              <a:off x="2609165" y="2020311"/>
              <a:ext cx="1809269" cy="705069"/>
            </a:xfrm>
            <a:prstGeom prst="rect">
              <a:avLst/>
            </a:prstGeom>
            <a:noFill/>
          </p:spPr>
          <p:txBody>
            <a:bodyPr wrap="square" rtlCol="0">
              <a:spAutoFit/>
            </a:bodyPr>
            <a:lstStyle/>
            <a:p>
              <a:r>
                <a:rPr lang="en-US" altLang="zh-CN" sz="3200" dirty="0" smtClean="0"/>
                <a:t>    [SO</a:t>
              </a:r>
              <a:r>
                <a:rPr lang="en-US" altLang="zh-CN" sz="3200" baseline="-25000" dirty="0" smtClean="0"/>
                <a:t>2</a:t>
              </a:r>
              <a:r>
                <a:rPr lang="en-US" altLang="zh-CN" sz="3200" dirty="0" smtClean="0"/>
                <a:t>]</a:t>
              </a:r>
              <a:r>
                <a:rPr lang="en-US" altLang="zh-CN" sz="3200" baseline="30000" dirty="0" smtClean="0"/>
                <a:t>2</a:t>
              </a:r>
              <a:r>
                <a:rPr lang="en-US" altLang="zh-CN" sz="3200" baseline="-25000" dirty="0" smtClean="0"/>
                <a:t> </a:t>
              </a:r>
              <a:r>
                <a:rPr lang="en-US" altLang="zh-CN" sz="3200" dirty="0" smtClean="0"/>
                <a:t>[O</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3581400" y="3962400"/>
            <a:ext cx="3886202" cy="965775"/>
            <a:chOff x="3493605" y="1421487"/>
            <a:chExt cx="1004452" cy="965775"/>
          </a:xfrm>
        </p:grpSpPr>
        <p:grpSp>
          <p:nvGrpSpPr>
            <p:cNvPr id="11"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(0.044)</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(0.006)</a:t>
              </a:r>
              <a:r>
                <a:rPr lang="en-US" altLang="zh-CN" sz="3200" baseline="30000" dirty="0" smtClean="0"/>
                <a:t>2</a:t>
              </a:r>
              <a:r>
                <a:rPr lang="en-US" altLang="zh-CN" sz="3200" dirty="0" smtClean="0"/>
                <a:t> (0.008)</a:t>
              </a:r>
              <a:endParaRPr lang="en-US" sz="3200" dirty="0"/>
            </a:p>
          </p:txBody>
        </p:sp>
      </p:grpSp>
      <p:sp>
        <p:nvSpPr>
          <p:cNvPr id="30" name="Rounded Rectangle 29"/>
          <p:cNvSpPr/>
          <p:nvPr/>
        </p:nvSpPr>
        <p:spPr>
          <a:xfrm>
            <a:off x="5715000" y="57150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
          <p:cNvGrpSpPr/>
          <p:nvPr/>
        </p:nvGrpSpPr>
        <p:grpSpPr>
          <a:xfrm>
            <a:off x="2743204" y="5410200"/>
            <a:ext cx="1676394" cy="965775"/>
            <a:chOff x="3493604" y="1421487"/>
            <a:chExt cx="433291" cy="965775"/>
          </a:xfrm>
        </p:grpSpPr>
        <p:grpSp>
          <p:nvGrpSpPr>
            <p:cNvPr id="35" name="Group 24"/>
            <p:cNvGrpSpPr/>
            <p:nvPr/>
          </p:nvGrpSpPr>
          <p:grpSpPr>
            <a:xfrm>
              <a:off x="3583655" y="1421487"/>
              <a:ext cx="343240" cy="584775"/>
              <a:chOff x="3583655" y="1421487"/>
              <a:chExt cx="343240" cy="584775"/>
            </a:xfrm>
          </p:grpSpPr>
          <p:cxnSp>
            <p:nvCxnSpPr>
              <p:cNvPr id="37" name="Straight Connector 8"/>
              <p:cNvCxnSpPr/>
              <p:nvPr/>
            </p:nvCxnSpPr>
            <p:spPr>
              <a:xfrm>
                <a:off x="3583657" y="1905000"/>
                <a:ext cx="28361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583655" y="1421487"/>
                <a:ext cx="343240" cy="584775"/>
              </a:xfrm>
              <a:prstGeom prst="rect">
                <a:avLst/>
              </a:prstGeom>
              <a:noFill/>
            </p:spPr>
            <p:txBody>
              <a:bodyPr wrap="square" rtlCol="0">
                <a:spAutoFit/>
              </a:bodyPr>
              <a:lstStyle/>
              <a:p>
                <a:r>
                  <a:rPr lang="en-US" altLang="zh-CN" sz="3200" dirty="0" smtClean="0"/>
                  <a:t>0.044</a:t>
                </a:r>
                <a:endParaRPr lang="en-US" sz="3200" dirty="0"/>
              </a:p>
            </p:txBody>
          </p:sp>
        </p:grpSp>
        <p:sp>
          <p:nvSpPr>
            <p:cNvPr id="36" name="TextBox 5"/>
            <p:cNvSpPr txBox="1"/>
            <p:nvPr/>
          </p:nvSpPr>
          <p:spPr>
            <a:xfrm>
              <a:off x="3493604" y="1802487"/>
              <a:ext cx="393901" cy="584775"/>
            </a:xfrm>
            <a:prstGeom prst="rect">
              <a:avLst/>
            </a:prstGeom>
            <a:noFill/>
          </p:spPr>
          <p:txBody>
            <a:bodyPr wrap="square" rtlCol="0">
              <a:spAutoFit/>
            </a:bodyPr>
            <a:lstStyle/>
            <a:p>
              <a:r>
                <a:rPr lang="en-US" altLang="zh-CN" sz="3200" dirty="0" smtClean="0"/>
                <a:t>    0.05</a:t>
              </a:r>
              <a:endParaRPr lang="en-US" sz="3200" dirty="0"/>
            </a:p>
          </p:txBody>
        </p:sp>
      </p:grpSp>
      <p:sp>
        <p:nvSpPr>
          <p:cNvPr id="29" name="Rounded Rectangle 28"/>
          <p:cNvSpPr/>
          <p:nvPr/>
        </p:nvSpPr>
        <p:spPr>
          <a:xfrm>
            <a:off x="3048000" y="5486400"/>
            <a:ext cx="2438400" cy="7620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9"/>
                                        </p:tgtEl>
                                        <p:attrNameLst>
                                          <p:attrName>ppt_x</p:attrName>
                                        </p:attrNameLst>
                                      </p:cBhvr>
                                      <p:tavLst>
                                        <p:tav tm="0">
                                          <p:val>
                                            <p:strVal val="ppt_x"/>
                                          </p:val>
                                        </p:tav>
                                        <p:tav tm="100000">
                                          <p:val>
                                            <p:strVal val="ppt_x"/>
                                          </p:val>
                                        </p:tav>
                                      </p:tavLst>
                                    </p:anim>
                                    <p:anim calcmode="lin" valueType="num">
                                      <p:cBhvr additive="base">
                                        <p:cTn id="33" dur="500"/>
                                        <p:tgtEl>
                                          <p:spTgt spid="9"/>
                                        </p:tgtEl>
                                        <p:attrNameLst>
                                          <p:attrName>ppt_y</p:attrName>
                                        </p:attrNameLst>
                                      </p:cBhvr>
                                      <p:tavLst>
                                        <p:tav tm="0">
                                          <p:val>
                                            <p:strVal val="ppt_y"/>
                                          </p:val>
                                        </p:tav>
                                        <p:tav tm="100000">
                                          <p:val>
                                            <p:strVal val="1+ppt_h/2"/>
                                          </p:val>
                                        </p:tav>
                                      </p:tavLst>
                                    </p:anim>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0"/>
                                        </p:tgtEl>
                                        <p:attrNameLst>
                                          <p:attrName>ppt_x</p:attrName>
                                        </p:attrNameLst>
                                      </p:cBhvr>
                                      <p:tavLst>
                                        <p:tav tm="0">
                                          <p:val>
                                            <p:strVal val="ppt_x"/>
                                          </p:val>
                                        </p:tav>
                                        <p:tav tm="100000">
                                          <p:val>
                                            <p:strVal val="ppt_x"/>
                                          </p:val>
                                        </p:tav>
                                      </p:tavLst>
                                    </p:anim>
                                    <p:anim calcmode="lin" valueType="num">
                                      <p:cBhvr additive="base">
                                        <p:cTn id="39" dur="500"/>
                                        <p:tgtEl>
                                          <p:spTgt spid="10"/>
                                        </p:tgtEl>
                                        <p:attrNameLst>
                                          <p:attrName>ppt_y</p:attrName>
                                        </p:attrNameLst>
                                      </p:cBhvr>
                                      <p:tavLst>
                                        <p:tav tm="0">
                                          <p:val>
                                            <p:strVal val="ppt_y"/>
                                          </p:val>
                                        </p:tav>
                                        <p:tav tm="100000">
                                          <p:val>
                                            <p:strVal val="1+ppt_h/2"/>
                                          </p:val>
                                        </p:tav>
                                      </p:tavLst>
                                    </p:anim>
                                    <p:set>
                                      <p:cBhvr>
                                        <p:cTn id="40" dur="1" fill="hold">
                                          <p:stCondLst>
                                            <p:cond delay="499"/>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16"/>
                                        </p:tgtEl>
                                        <p:attrNameLst>
                                          <p:attrName>ppt_x</p:attrName>
                                        </p:attrNameLst>
                                      </p:cBhvr>
                                      <p:tavLst>
                                        <p:tav tm="0">
                                          <p:val>
                                            <p:strVal val="ppt_x"/>
                                          </p:val>
                                        </p:tav>
                                        <p:tav tm="100000">
                                          <p:val>
                                            <p:strVal val="ppt_x"/>
                                          </p:val>
                                        </p:tav>
                                      </p:tavLst>
                                    </p:anim>
                                    <p:anim calcmode="lin" valueType="num">
                                      <p:cBhvr additive="base">
                                        <p:cTn id="45" dur="500"/>
                                        <p:tgtEl>
                                          <p:spTgt spid="16"/>
                                        </p:tgtEl>
                                        <p:attrNameLst>
                                          <p:attrName>ppt_y</p:attrName>
                                        </p:attrNameLst>
                                      </p:cBhvr>
                                      <p:tavLst>
                                        <p:tav tm="0">
                                          <p:val>
                                            <p:strVal val="ppt_y"/>
                                          </p:val>
                                        </p:tav>
                                        <p:tav tm="100000">
                                          <p:val>
                                            <p:strVal val="1+ppt_h/2"/>
                                          </p:val>
                                        </p:tav>
                                      </p:tavLst>
                                    </p:anim>
                                    <p:set>
                                      <p:cBhvr>
                                        <p:cTn id="46" dur="1" fill="hold">
                                          <p:stCondLst>
                                            <p:cond delay="499"/>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0" nodeType="clickEffect">
                                  <p:stCondLst>
                                    <p:cond delay="0"/>
                                  </p:stCondLst>
                                  <p:childTnLst>
                                    <p:anim calcmode="lin" valueType="num">
                                      <p:cBhvr additive="base">
                                        <p:cTn id="50" dur="500"/>
                                        <p:tgtEl>
                                          <p:spTgt spid="17"/>
                                        </p:tgtEl>
                                        <p:attrNameLst>
                                          <p:attrName>ppt_x</p:attrName>
                                        </p:attrNameLst>
                                      </p:cBhvr>
                                      <p:tavLst>
                                        <p:tav tm="0">
                                          <p:val>
                                            <p:strVal val="ppt_x"/>
                                          </p:val>
                                        </p:tav>
                                        <p:tav tm="100000">
                                          <p:val>
                                            <p:strVal val="ppt_x"/>
                                          </p:val>
                                        </p:tav>
                                      </p:tavLst>
                                    </p:anim>
                                    <p:anim calcmode="lin" valueType="num">
                                      <p:cBhvr additive="base">
                                        <p:cTn id="51" dur="500"/>
                                        <p:tgtEl>
                                          <p:spTgt spid="17"/>
                                        </p:tgtEl>
                                        <p:attrNameLst>
                                          <p:attrName>ppt_y</p:attrName>
                                        </p:attrNameLst>
                                      </p:cBhvr>
                                      <p:tavLst>
                                        <p:tav tm="0">
                                          <p:val>
                                            <p:strVal val="ppt_y"/>
                                          </p:val>
                                        </p:tav>
                                        <p:tav tm="100000">
                                          <p:val>
                                            <p:strVal val="1+ppt_h/2"/>
                                          </p:val>
                                        </p:tav>
                                      </p:tavLst>
                                    </p:anim>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grpId="0" nodeType="clickEffect">
                                  <p:stCondLst>
                                    <p:cond delay="0"/>
                                  </p:stCondLst>
                                  <p:childTnLst>
                                    <p:anim calcmode="lin" valueType="num">
                                      <p:cBhvr additive="base">
                                        <p:cTn id="56" dur="500"/>
                                        <p:tgtEl>
                                          <p:spTgt spid="14"/>
                                        </p:tgtEl>
                                        <p:attrNameLst>
                                          <p:attrName>ppt_x</p:attrName>
                                        </p:attrNameLst>
                                      </p:cBhvr>
                                      <p:tavLst>
                                        <p:tav tm="0">
                                          <p:val>
                                            <p:strVal val="ppt_x"/>
                                          </p:val>
                                        </p:tav>
                                        <p:tav tm="100000">
                                          <p:val>
                                            <p:strVal val="ppt_x"/>
                                          </p:val>
                                        </p:tav>
                                      </p:tavLst>
                                    </p:anim>
                                    <p:anim calcmode="lin" valueType="num">
                                      <p:cBhvr additive="base">
                                        <p:cTn id="57" dur="500"/>
                                        <p:tgtEl>
                                          <p:spTgt spid="14"/>
                                        </p:tgtEl>
                                        <p:attrNameLst>
                                          <p:attrName>ppt_y</p:attrName>
                                        </p:attrNameLst>
                                      </p:cBhvr>
                                      <p:tavLst>
                                        <p:tav tm="0">
                                          <p:val>
                                            <p:strVal val="ppt_y"/>
                                          </p:val>
                                        </p:tav>
                                        <p:tav tm="100000">
                                          <p:val>
                                            <p:strVal val="1+ppt_h/2"/>
                                          </p:val>
                                        </p:tav>
                                      </p:tavLst>
                                    </p:anim>
                                    <p:set>
                                      <p:cBhvr>
                                        <p:cTn id="58" dur="1" fill="hold">
                                          <p:stCondLst>
                                            <p:cond delay="499"/>
                                          </p:stCondLst>
                                        </p:cTn>
                                        <p:tgtEl>
                                          <p:spTgt spid="1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grpId="0" nodeType="clickEffect">
                                  <p:stCondLst>
                                    <p:cond delay="0"/>
                                  </p:stCondLst>
                                  <p:childTnLst>
                                    <p:anim calcmode="lin" valueType="num">
                                      <p:cBhvr additive="base">
                                        <p:cTn id="62" dur="500"/>
                                        <p:tgtEl>
                                          <p:spTgt spid="19"/>
                                        </p:tgtEl>
                                        <p:attrNameLst>
                                          <p:attrName>ppt_x</p:attrName>
                                        </p:attrNameLst>
                                      </p:cBhvr>
                                      <p:tavLst>
                                        <p:tav tm="0">
                                          <p:val>
                                            <p:strVal val="ppt_x"/>
                                          </p:val>
                                        </p:tav>
                                        <p:tav tm="100000">
                                          <p:val>
                                            <p:strVal val="ppt_x"/>
                                          </p:val>
                                        </p:tav>
                                      </p:tavLst>
                                    </p:anim>
                                    <p:anim calcmode="lin" valueType="num">
                                      <p:cBhvr additive="base">
                                        <p:cTn id="63" dur="500"/>
                                        <p:tgtEl>
                                          <p:spTgt spid="19"/>
                                        </p:tgtEl>
                                        <p:attrNameLst>
                                          <p:attrName>ppt_y</p:attrName>
                                        </p:attrNameLst>
                                      </p:cBhvr>
                                      <p:tavLst>
                                        <p:tav tm="0">
                                          <p:val>
                                            <p:strVal val="ppt_y"/>
                                          </p:val>
                                        </p:tav>
                                        <p:tav tm="100000">
                                          <p:val>
                                            <p:strVal val="1+ppt_h/2"/>
                                          </p:val>
                                        </p:tav>
                                      </p:tavLst>
                                    </p:anim>
                                    <p:set>
                                      <p:cBhvr>
                                        <p:cTn id="64" dur="1" fill="hold">
                                          <p:stCondLst>
                                            <p:cond delay="499"/>
                                          </p:stCondLst>
                                        </p:cTn>
                                        <p:tgtEl>
                                          <p:spTgt spid="19"/>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grpId="0" nodeType="clickEffect">
                                  <p:stCondLst>
                                    <p:cond delay="0"/>
                                  </p:stCondLst>
                                  <p:childTnLst>
                                    <p:anim calcmode="lin" valueType="num">
                                      <p:cBhvr additive="base">
                                        <p:cTn id="68" dur="500"/>
                                        <p:tgtEl>
                                          <p:spTgt spid="18"/>
                                        </p:tgtEl>
                                        <p:attrNameLst>
                                          <p:attrName>ppt_x</p:attrName>
                                        </p:attrNameLst>
                                      </p:cBhvr>
                                      <p:tavLst>
                                        <p:tav tm="0">
                                          <p:val>
                                            <p:strVal val="ppt_x"/>
                                          </p:val>
                                        </p:tav>
                                        <p:tav tm="100000">
                                          <p:val>
                                            <p:strVal val="ppt_x"/>
                                          </p:val>
                                        </p:tav>
                                      </p:tavLst>
                                    </p:anim>
                                    <p:anim calcmode="lin" valueType="num">
                                      <p:cBhvr additive="base">
                                        <p:cTn id="69" dur="500"/>
                                        <p:tgtEl>
                                          <p:spTgt spid="18"/>
                                        </p:tgtEl>
                                        <p:attrNameLst>
                                          <p:attrName>ppt_y</p:attrName>
                                        </p:attrNameLst>
                                      </p:cBhvr>
                                      <p:tavLst>
                                        <p:tav tm="0">
                                          <p:val>
                                            <p:strVal val="ppt_y"/>
                                          </p:val>
                                        </p:tav>
                                        <p:tav tm="100000">
                                          <p:val>
                                            <p:strVal val="1+ppt_h/2"/>
                                          </p:val>
                                        </p:tav>
                                      </p:tavLst>
                                    </p:anim>
                                    <p:set>
                                      <p:cBhvr>
                                        <p:cTn id="70" dur="1" fill="hold">
                                          <p:stCondLst>
                                            <p:cond delay="499"/>
                                          </p:stCondLst>
                                        </p:cTn>
                                        <p:tgtEl>
                                          <p:spTgt spid="18"/>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 presetClass="exit" presetSubtype="4" fill="hold" grpId="0" nodeType="clickEffect">
                                  <p:stCondLst>
                                    <p:cond delay="0"/>
                                  </p:stCondLst>
                                  <p:childTnLst>
                                    <p:anim calcmode="lin" valueType="num">
                                      <p:cBhvr additive="base">
                                        <p:cTn id="74" dur="500"/>
                                        <p:tgtEl>
                                          <p:spTgt spid="12"/>
                                        </p:tgtEl>
                                        <p:attrNameLst>
                                          <p:attrName>ppt_x</p:attrName>
                                        </p:attrNameLst>
                                      </p:cBhvr>
                                      <p:tavLst>
                                        <p:tav tm="0">
                                          <p:val>
                                            <p:strVal val="ppt_x"/>
                                          </p:val>
                                        </p:tav>
                                        <p:tav tm="100000">
                                          <p:val>
                                            <p:strVal val="ppt_x"/>
                                          </p:val>
                                        </p:tav>
                                      </p:tavLst>
                                    </p:anim>
                                    <p:anim calcmode="lin" valueType="num">
                                      <p:cBhvr additive="base">
                                        <p:cTn id="75" dur="500"/>
                                        <p:tgtEl>
                                          <p:spTgt spid="12"/>
                                        </p:tgtEl>
                                        <p:attrNameLst>
                                          <p:attrName>ppt_y</p:attrName>
                                        </p:attrNameLst>
                                      </p:cBhvr>
                                      <p:tavLst>
                                        <p:tav tm="0">
                                          <p:val>
                                            <p:strVal val="ppt_y"/>
                                          </p:val>
                                        </p:tav>
                                        <p:tav tm="100000">
                                          <p:val>
                                            <p:strVal val="1+ppt_h/2"/>
                                          </p:val>
                                        </p:tav>
                                      </p:tavLst>
                                    </p:anim>
                                    <p:set>
                                      <p:cBhvr>
                                        <p:cTn id="76" dur="1" fill="hold">
                                          <p:stCondLst>
                                            <p:cond delay="499"/>
                                          </p:stCondLst>
                                        </p:cTn>
                                        <p:tgtEl>
                                          <p:spTgt spid="12"/>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blinds(horizontal)">
                                      <p:cBhvr>
                                        <p:cTn id="81" dur="5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
                                            <p:txEl>
                                              <p:pRg st="6" end="6"/>
                                            </p:txEl>
                                          </p:spTgt>
                                        </p:tgtEl>
                                        <p:attrNameLst>
                                          <p:attrName>style.visibility</p:attrName>
                                        </p:attrNameLst>
                                      </p:cBhvr>
                                      <p:to>
                                        <p:strVal val="visible"/>
                                      </p:to>
                                    </p:set>
                                    <p:animEffect transition="in" filter="blinds(horizontal)">
                                      <p:cBhvr>
                                        <p:cTn id="86" dur="500"/>
                                        <p:tgtEl>
                                          <p:spTgt spid="3">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blinds(horizontal)">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
                                            <p:txEl>
                                              <p:pRg st="7" end="7"/>
                                            </p:txEl>
                                          </p:spTgt>
                                        </p:tgtEl>
                                        <p:attrNameLst>
                                          <p:attrName>style.visibility</p:attrName>
                                        </p:attrNameLst>
                                      </p:cBhvr>
                                      <p:to>
                                        <p:strVal val="visible"/>
                                      </p:to>
                                    </p:set>
                                    <p:animEffect transition="in" filter="blinds(horizontal)">
                                      <p:cBhvr>
                                        <p:cTn id="96" dur="500"/>
                                        <p:tgtEl>
                                          <p:spTgt spid="3">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0" nodeType="clickEffect">
                                  <p:stCondLst>
                                    <p:cond delay="0"/>
                                  </p:stCondLst>
                                  <p:childTnLst>
                                    <p:anim calcmode="lin" valueType="num">
                                      <p:cBhvr additive="base">
                                        <p:cTn id="105" dur="500"/>
                                        <p:tgtEl>
                                          <p:spTgt spid="29"/>
                                        </p:tgtEl>
                                        <p:attrNameLst>
                                          <p:attrName>ppt_x</p:attrName>
                                        </p:attrNameLst>
                                      </p:cBhvr>
                                      <p:tavLst>
                                        <p:tav tm="0">
                                          <p:val>
                                            <p:strVal val="ppt_x"/>
                                          </p:val>
                                        </p:tav>
                                        <p:tav tm="100000">
                                          <p:val>
                                            <p:strVal val="ppt_x"/>
                                          </p:val>
                                        </p:tav>
                                      </p:tavLst>
                                    </p:anim>
                                    <p:anim calcmode="lin" valueType="num">
                                      <p:cBhvr additive="base">
                                        <p:cTn id="106" dur="500"/>
                                        <p:tgtEl>
                                          <p:spTgt spid="29"/>
                                        </p:tgtEl>
                                        <p:attrNameLst>
                                          <p:attrName>ppt_y</p:attrName>
                                        </p:attrNameLst>
                                      </p:cBhvr>
                                      <p:tavLst>
                                        <p:tav tm="0">
                                          <p:val>
                                            <p:strVal val="ppt_y"/>
                                          </p:val>
                                        </p:tav>
                                        <p:tav tm="100000">
                                          <p:val>
                                            <p:strVal val="1+ppt_h/2"/>
                                          </p:val>
                                        </p:tav>
                                      </p:tavLst>
                                    </p:anim>
                                    <p:set>
                                      <p:cBhvr>
                                        <p:cTn id="107" dur="1" fill="hold">
                                          <p:stCondLst>
                                            <p:cond delay="499"/>
                                          </p:stCondLst>
                                        </p:cTn>
                                        <p:tgtEl>
                                          <p:spTgt spid="29"/>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2" presetClass="exit" presetSubtype="4" fill="hold" grpId="0" nodeType="clickEffect">
                                  <p:stCondLst>
                                    <p:cond delay="0"/>
                                  </p:stCondLst>
                                  <p:childTnLst>
                                    <p:anim calcmode="lin" valueType="num">
                                      <p:cBhvr additive="base">
                                        <p:cTn id="111" dur="500"/>
                                        <p:tgtEl>
                                          <p:spTgt spid="30"/>
                                        </p:tgtEl>
                                        <p:attrNameLst>
                                          <p:attrName>ppt_x</p:attrName>
                                        </p:attrNameLst>
                                      </p:cBhvr>
                                      <p:tavLst>
                                        <p:tav tm="0">
                                          <p:val>
                                            <p:strVal val="ppt_x"/>
                                          </p:val>
                                        </p:tav>
                                        <p:tav tm="100000">
                                          <p:val>
                                            <p:strVal val="ppt_x"/>
                                          </p:val>
                                        </p:tav>
                                      </p:tavLst>
                                    </p:anim>
                                    <p:anim calcmode="lin" valueType="num">
                                      <p:cBhvr additive="base">
                                        <p:cTn id="112" dur="500"/>
                                        <p:tgtEl>
                                          <p:spTgt spid="30"/>
                                        </p:tgtEl>
                                        <p:attrNameLst>
                                          <p:attrName>ppt_y</p:attrName>
                                        </p:attrNameLst>
                                      </p:cBhvr>
                                      <p:tavLst>
                                        <p:tav tm="0">
                                          <p:val>
                                            <p:strVal val="ppt_y"/>
                                          </p:val>
                                        </p:tav>
                                        <p:tav tm="100000">
                                          <p:val>
                                            <p:strVal val="1+ppt_h/2"/>
                                          </p:val>
                                        </p:tav>
                                      </p:tavLst>
                                    </p:anim>
                                    <p:set>
                                      <p:cBhvr>
                                        <p:cTn id="113"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P spid="30"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None/>
            </a:pPr>
            <a:r>
              <a:rPr lang="en-US" altLang="zh-CN" dirty="0" smtClean="0"/>
              <a:t>1. </a:t>
            </a:r>
            <a:r>
              <a:rPr lang="zh-CN" altLang="en-US" dirty="0" smtClean="0"/>
              <a:t>某温度时，氮气和氢气合成氨气反应的平衡常数</a:t>
            </a:r>
            <a:r>
              <a:rPr lang="en-US" altLang="zh-CN" dirty="0" err="1" smtClean="0"/>
              <a:t>K</a:t>
            </a:r>
            <a:r>
              <a:rPr lang="en-US" altLang="zh-CN" baseline="-25000" dirty="0" err="1" smtClean="0"/>
              <a:t>c</a:t>
            </a:r>
            <a:r>
              <a:rPr lang="zh-CN" altLang="en-US" dirty="0" smtClean="0"/>
              <a:t>值为</a:t>
            </a:r>
            <a:r>
              <a:rPr lang="en-US" altLang="zh-CN" dirty="0" smtClean="0"/>
              <a:t>3</a:t>
            </a:r>
            <a:r>
              <a:rPr lang="zh-CN" altLang="en-US" dirty="0" smtClean="0"/>
              <a:t>。如果在</a:t>
            </a:r>
            <a:r>
              <a:rPr lang="en-US" altLang="zh-CN" dirty="0" smtClean="0"/>
              <a:t>2L</a:t>
            </a:r>
            <a:r>
              <a:rPr lang="zh-CN" altLang="en-US" dirty="0" smtClean="0"/>
              <a:t>密闭容器中加入</a:t>
            </a:r>
            <a:r>
              <a:rPr lang="en-US" altLang="zh-CN" dirty="0" smtClean="0"/>
              <a:t>2molN</a:t>
            </a:r>
            <a:r>
              <a:rPr lang="en-US" altLang="zh-CN" baseline="-25000" dirty="0" smtClean="0"/>
              <a:t>2</a:t>
            </a:r>
            <a:r>
              <a:rPr lang="en-US" altLang="zh-CN" dirty="0" smtClean="0"/>
              <a:t> </a:t>
            </a:r>
            <a:r>
              <a:rPr lang="zh-CN" altLang="en-US" dirty="0" smtClean="0"/>
              <a:t>和</a:t>
            </a:r>
            <a:r>
              <a:rPr lang="en-US" altLang="zh-CN" dirty="0" smtClean="0"/>
              <a:t>6molH</a:t>
            </a:r>
            <a:r>
              <a:rPr lang="en-US" altLang="zh-CN" baseline="-25000" dirty="0" smtClean="0"/>
              <a:t>2</a:t>
            </a:r>
            <a:r>
              <a:rPr lang="en-US" altLang="zh-CN" dirty="0" smtClean="0"/>
              <a:t> </a:t>
            </a:r>
            <a:r>
              <a:rPr lang="zh-CN" altLang="en-US" dirty="0" smtClean="0"/>
              <a:t>。求平衡时</a:t>
            </a:r>
            <a:r>
              <a:rPr lang="en-US" altLang="zh-CN" dirty="0" smtClean="0"/>
              <a:t>N</a:t>
            </a:r>
            <a:r>
              <a:rPr lang="en-US" altLang="zh-CN" baseline="-25000" dirty="0" smtClean="0"/>
              <a:t>2</a:t>
            </a:r>
            <a:r>
              <a:rPr lang="zh-CN" altLang="en-US" dirty="0" smtClean="0"/>
              <a:t>转化率。</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3" name="Content Placeholder 2"/>
          <p:cNvSpPr>
            <a:spLocks noGrp="1"/>
          </p:cNvSpPr>
          <p:nvPr>
            <p:ph idx="1"/>
          </p:nvPr>
        </p:nvSpPr>
        <p:spPr>
          <a:xfrm>
            <a:off x="533400" y="838200"/>
            <a:ext cx="8077200" cy="5562600"/>
          </a:xfrm>
        </p:spPr>
        <p:txBody>
          <a:bodyPr>
            <a:noAutofit/>
          </a:bodyPr>
          <a:lstStyle/>
          <a:p>
            <a:pPr>
              <a:buNone/>
            </a:pPr>
            <a:r>
              <a:rPr lang="zh-CN" altLang="en-US" sz="3000" dirty="0" smtClean="0"/>
              <a:t>解</a:t>
            </a:r>
            <a:r>
              <a:rPr lang="en-US" altLang="zh-CN" sz="3000" dirty="0"/>
              <a:t>	</a:t>
            </a:r>
            <a:r>
              <a:rPr lang="en-US" altLang="zh-CN" sz="3000" dirty="0" smtClean="0"/>
              <a:t>	       N</a:t>
            </a:r>
            <a:r>
              <a:rPr lang="en-US" altLang="zh-CN" sz="3000" baseline="-25000" dirty="0" smtClean="0"/>
              <a:t>2</a:t>
            </a:r>
            <a:r>
              <a:rPr lang="en-US" altLang="zh-CN" sz="3000" dirty="0" smtClean="0"/>
              <a:t> +    3H</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2NH</a:t>
            </a:r>
            <a:r>
              <a:rPr lang="en-US" altLang="zh-CN" sz="3000" baseline="-25000" dirty="0" smtClean="0">
                <a:sym typeface="Wingdings" pitchFamily="2" charset="2"/>
              </a:rPr>
              <a:t>3</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1		3		0 	   </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3x		2x	   </a:t>
            </a:r>
          </a:p>
          <a:p>
            <a:pPr>
              <a:buNone/>
            </a:pPr>
            <a:r>
              <a:rPr lang="en-US" altLang="zh-CN" sz="3000" dirty="0" smtClean="0"/>
              <a:t>[</a:t>
            </a:r>
            <a:r>
              <a:rPr lang="zh-CN" altLang="en-US" sz="3000" dirty="0"/>
              <a:t>平衡</a:t>
            </a:r>
            <a:r>
              <a:rPr lang="en-US" altLang="zh-CN" sz="3000" dirty="0" smtClean="0"/>
              <a:t>](mol/L)   1-x	3-3x		2x	   </a:t>
            </a:r>
          </a:p>
          <a:p>
            <a:pPr>
              <a:buNone/>
            </a:pPr>
            <a:endParaRPr lang="en-US" altLang="zh-CN" sz="3000" dirty="0" smtClean="0"/>
          </a:p>
          <a:p>
            <a:pPr>
              <a:buNone/>
            </a:pPr>
            <a:endParaRPr lang="en-US" altLang="zh-CN" sz="3000" dirty="0" smtClean="0"/>
          </a:p>
          <a:p>
            <a:pPr>
              <a:buNone/>
            </a:pPr>
            <a:r>
              <a:rPr lang="en-US" altLang="zh-CN" sz="3000" dirty="0" smtClean="0"/>
              <a:t>			      3	 =</a:t>
            </a:r>
          </a:p>
          <a:p>
            <a:pPr>
              <a:lnSpc>
                <a:spcPct val="200000"/>
              </a:lnSpc>
              <a:buNone/>
            </a:pPr>
            <a:r>
              <a:rPr lang="en-US" altLang="zh-CN" sz="3000" dirty="0"/>
              <a:t>	</a:t>
            </a:r>
            <a:r>
              <a:rPr lang="en-US" altLang="zh-CN" sz="3000" dirty="0" smtClean="0"/>
              <a:t>		</a:t>
            </a:r>
            <a:r>
              <a:rPr lang="en-US" altLang="zh-CN" sz="3000" dirty="0"/>
              <a:t> </a:t>
            </a:r>
            <a:r>
              <a:rPr lang="en-US" altLang="zh-CN" sz="3000" dirty="0" smtClean="0"/>
              <a:t>     x	 = 0.63 </a:t>
            </a:r>
            <a:r>
              <a:rPr lang="zh-CN" altLang="en-US" sz="3000" dirty="0" smtClean="0"/>
              <a:t>或</a:t>
            </a:r>
            <a:r>
              <a:rPr lang="en-US" altLang="zh-CN" sz="3000" dirty="0" smtClean="0"/>
              <a:t>   x=1.6(</a:t>
            </a:r>
            <a:r>
              <a:rPr lang="zh-CN" altLang="en-US" sz="3000" dirty="0" smtClean="0"/>
              <a:t>不合</a:t>
            </a:r>
            <a:r>
              <a:rPr lang="en-US" altLang="zh-CN" sz="3000" dirty="0" smtClean="0"/>
              <a:t>)</a:t>
            </a:r>
          </a:p>
          <a:p>
            <a:pPr>
              <a:lnSpc>
                <a:spcPct val="150000"/>
              </a:lnSpc>
              <a:buNone/>
            </a:pPr>
            <a:r>
              <a:rPr lang="en-US" altLang="zh-CN" sz="3000" dirty="0" smtClean="0"/>
              <a:t>N</a:t>
            </a:r>
            <a:r>
              <a:rPr lang="en-US" altLang="zh-CN" sz="3000" baseline="-25000" dirty="0" smtClean="0"/>
              <a:t>2</a:t>
            </a:r>
            <a:r>
              <a:rPr lang="zh-CN" altLang="en-US" sz="3000" baseline="-25000" dirty="0"/>
              <a:t> </a:t>
            </a:r>
            <a:r>
              <a:rPr lang="zh-CN" altLang="en-US" sz="3000" dirty="0" smtClean="0"/>
              <a:t>的转化率</a:t>
            </a:r>
            <a:r>
              <a:rPr lang="en-US" altLang="zh-CN" sz="3000" dirty="0" smtClean="0"/>
              <a:t>= 		x 100% = 63%</a:t>
            </a:r>
          </a:p>
        </p:txBody>
      </p:sp>
      <p:sp>
        <p:nvSpPr>
          <p:cNvPr id="8" name="Rounded Rectangle 7"/>
          <p:cNvSpPr/>
          <p:nvPr/>
        </p:nvSpPr>
        <p:spPr>
          <a:xfrm>
            <a:off x="29718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672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436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9436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943600" y="19812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9718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19812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8194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3" y="2920425"/>
            <a:ext cx="4147777" cy="1194375"/>
            <a:chOff x="2068535" y="1410711"/>
            <a:chExt cx="3119761" cy="1194375"/>
          </a:xfrm>
        </p:grpSpPr>
        <p:grpSp>
          <p:nvGrpSpPr>
            <p:cNvPr id="6" name="Group 24"/>
            <p:cNvGrpSpPr/>
            <p:nvPr/>
          </p:nvGrpSpPr>
          <p:grpSpPr>
            <a:xfrm>
              <a:off x="2068535" y="1410711"/>
              <a:ext cx="3119761" cy="889575"/>
              <a:chOff x="2068535" y="1410711"/>
              <a:chExt cx="311976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878346" y="1410711"/>
                <a:ext cx="2309950" cy="584775"/>
              </a:xfrm>
              <a:prstGeom prst="rect">
                <a:avLst/>
              </a:prstGeom>
              <a:noFill/>
            </p:spPr>
            <p:txBody>
              <a:bodyPr wrap="square" rtlCol="0">
                <a:spAutoFit/>
              </a:bodyPr>
              <a:lstStyle/>
              <a:p>
                <a:r>
                  <a:rPr lang="en-US" sz="3200" dirty="0" smtClean="0"/>
                  <a:t>  [NH</a:t>
                </a:r>
                <a:r>
                  <a:rPr lang="en-US" sz="3200" baseline="-25000" dirty="0" smtClean="0"/>
                  <a:t>3</a:t>
                </a:r>
                <a:r>
                  <a:rPr lang="en-US" sz="3200" dirty="0" smtClean="0"/>
                  <a:t>]</a:t>
                </a:r>
                <a:r>
                  <a:rPr lang="en-US" sz="3200" baseline="30000" dirty="0" smtClean="0"/>
                  <a:t>2</a:t>
                </a:r>
                <a:endParaRPr lang="en-US" sz="3200" dirty="0"/>
              </a:p>
            </p:txBody>
          </p:sp>
        </p:grpSp>
        <p:sp>
          <p:nvSpPr>
            <p:cNvPr id="24" name="TextBox 5"/>
            <p:cNvSpPr txBox="1"/>
            <p:nvPr/>
          </p:nvSpPr>
          <p:spPr>
            <a:xfrm>
              <a:off x="2736010" y="2020311"/>
              <a:ext cx="1861860" cy="584775"/>
            </a:xfrm>
            <a:prstGeom prst="rect">
              <a:avLst/>
            </a:prstGeom>
            <a:noFill/>
          </p:spPr>
          <p:txBody>
            <a:bodyPr wrap="square" rtlCol="0">
              <a:spAutoFit/>
            </a:bodyPr>
            <a:lstStyle/>
            <a:p>
              <a:r>
                <a:rPr lang="en-US" altLang="zh-CN" sz="3200" dirty="0" smtClean="0"/>
                <a:t>    [N</a:t>
              </a:r>
              <a:r>
                <a:rPr lang="en-US" altLang="zh-CN" sz="3200" baseline="-25000" dirty="0" smtClean="0"/>
                <a:t>2</a:t>
              </a:r>
              <a:r>
                <a:rPr lang="en-US" altLang="zh-CN" sz="3200" dirty="0" smtClean="0"/>
                <a:t>][H</a:t>
              </a:r>
              <a:r>
                <a:rPr lang="en-US" altLang="zh-CN" sz="3200" baseline="-25000" dirty="0" smtClean="0"/>
                <a:t>2</a:t>
              </a:r>
              <a:r>
                <a:rPr lang="en-US" altLang="zh-CN" sz="3200" dirty="0" smtClean="0"/>
                <a:t>]</a:t>
              </a:r>
              <a:r>
                <a:rPr lang="en-US" altLang="zh-CN" sz="3200" baseline="30000" dirty="0" smtClean="0"/>
                <a:t>3</a:t>
              </a:r>
              <a:endParaRPr lang="en-US" sz="3200" dirty="0"/>
            </a:p>
          </p:txBody>
        </p:sp>
      </p:grpSp>
      <p:grpSp>
        <p:nvGrpSpPr>
          <p:cNvPr id="7" name="Group 3"/>
          <p:cNvGrpSpPr/>
          <p:nvPr/>
        </p:nvGrpSpPr>
        <p:grpSpPr>
          <a:xfrm>
            <a:off x="3505198" y="3962400"/>
            <a:ext cx="3886202" cy="965775"/>
            <a:chOff x="3493605" y="1421487"/>
            <a:chExt cx="1004452" cy="965775"/>
          </a:xfrm>
        </p:grpSpPr>
        <p:grpSp>
          <p:nvGrpSpPr>
            <p:cNvPr id="20"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(2x)</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(1-x)(3-3x)</a:t>
              </a:r>
              <a:r>
                <a:rPr lang="en-US" altLang="zh-CN" sz="3200" baseline="30000" dirty="0"/>
                <a:t>3</a:t>
              </a:r>
              <a:endParaRPr lang="en-US" sz="3200" dirty="0"/>
            </a:p>
          </p:txBody>
        </p:sp>
      </p:grpSp>
      <p:grpSp>
        <p:nvGrpSpPr>
          <p:cNvPr id="36" name="Group 3"/>
          <p:cNvGrpSpPr/>
          <p:nvPr/>
        </p:nvGrpSpPr>
        <p:grpSpPr>
          <a:xfrm>
            <a:off x="2514600" y="5715000"/>
            <a:ext cx="1447795" cy="965775"/>
            <a:chOff x="3493605" y="1421487"/>
            <a:chExt cx="374206" cy="965775"/>
          </a:xfrm>
        </p:grpSpPr>
        <p:grpSp>
          <p:nvGrpSpPr>
            <p:cNvPr id="37" name="Group 24"/>
            <p:cNvGrpSpPr/>
            <p:nvPr/>
          </p:nvGrpSpPr>
          <p:grpSpPr>
            <a:xfrm>
              <a:off x="3583656" y="1421487"/>
              <a:ext cx="284155" cy="584775"/>
              <a:chOff x="3583656" y="1421487"/>
              <a:chExt cx="284155" cy="584775"/>
            </a:xfrm>
          </p:grpSpPr>
          <p:cxnSp>
            <p:nvCxnSpPr>
              <p:cNvPr id="39" name="Straight Connector 8"/>
              <p:cNvCxnSpPr/>
              <p:nvPr/>
            </p:nvCxnSpPr>
            <p:spPr>
              <a:xfrm>
                <a:off x="3583657" y="1905000"/>
                <a:ext cx="28361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583656" y="1421487"/>
                <a:ext cx="284155" cy="584775"/>
              </a:xfrm>
              <a:prstGeom prst="rect">
                <a:avLst/>
              </a:prstGeom>
              <a:noFill/>
            </p:spPr>
            <p:txBody>
              <a:bodyPr wrap="square" rtlCol="0">
                <a:spAutoFit/>
              </a:bodyPr>
              <a:lstStyle/>
              <a:p>
                <a:r>
                  <a:rPr lang="en-US" altLang="zh-CN" sz="3200" dirty="0" smtClean="0"/>
                  <a:t>0.63</a:t>
                </a:r>
                <a:endParaRPr lang="en-US" sz="3200" dirty="0"/>
              </a:p>
            </p:txBody>
          </p:sp>
        </p:grpSp>
        <p:sp>
          <p:nvSpPr>
            <p:cNvPr id="38" name="TextBox 5"/>
            <p:cNvSpPr txBox="1"/>
            <p:nvPr/>
          </p:nvSpPr>
          <p:spPr>
            <a:xfrm>
              <a:off x="3493605" y="1802487"/>
              <a:ext cx="295427" cy="584775"/>
            </a:xfrm>
            <a:prstGeom prst="rect">
              <a:avLst/>
            </a:prstGeom>
            <a:noFill/>
          </p:spPr>
          <p:txBody>
            <a:bodyPr wrap="square" rtlCol="0">
              <a:spAutoFit/>
            </a:bodyPr>
            <a:lstStyle/>
            <a:p>
              <a:r>
                <a:rPr lang="en-US" altLang="zh-CN" sz="3200" dirty="0" smtClean="0"/>
                <a:t>      1</a:t>
              </a:r>
              <a:endParaRPr lang="en-US" sz="3200" dirty="0"/>
            </a:p>
          </p:txBody>
        </p:sp>
      </p:grpSp>
      <p:sp>
        <p:nvSpPr>
          <p:cNvPr id="41" name="Rounded Rectangle 40"/>
          <p:cNvSpPr/>
          <p:nvPr/>
        </p:nvSpPr>
        <p:spPr>
          <a:xfrm>
            <a:off x="2895600" y="5867400"/>
            <a:ext cx="2514600" cy="7620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p:nvSpPr>
        <p:spPr>
          <a:xfrm>
            <a:off x="5715000" y="5943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1"/>
          <p:cNvSpPr>
            <a:spLocks noGrp="1"/>
          </p:cNvSpPr>
          <p:nvPr>
            <p:ph type="title"/>
          </p:nvPr>
        </p:nvSpPr>
        <p:spPr>
          <a:xfrm>
            <a:off x="0" y="0"/>
            <a:ext cx="9144000" cy="1202485"/>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补充题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xit" presetSubtype="4" fill="hold" grpId="0" nodeType="clickEffect">
                                  <p:stCondLst>
                                    <p:cond delay="0"/>
                                  </p:stCondLst>
                                  <p:childTnLst>
                                    <p:anim calcmode="lin" valueType="num">
                                      <p:cBhvr additive="base">
                                        <p:cTn id="21" dur="500"/>
                                        <p:tgtEl>
                                          <p:spTgt spid="8"/>
                                        </p:tgtEl>
                                        <p:attrNameLst>
                                          <p:attrName>ppt_x</p:attrName>
                                        </p:attrNameLst>
                                      </p:cBhvr>
                                      <p:tavLst>
                                        <p:tav tm="0">
                                          <p:val>
                                            <p:strVal val="ppt_x"/>
                                          </p:val>
                                        </p:tav>
                                        <p:tav tm="100000">
                                          <p:val>
                                            <p:strVal val="ppt_x"/>
                                          </p:val>
                                        </p:tav>
                                      </p:tavLst>
                                    </p:anim>
                                    <p:anim calcmode="lin" valueType="num">
                                      <p:cBhvr additive="base">
                                        <p:cTn id="22" dur="500"/>
                                        <p:tgtEl>
                                          <p:spTgt spid="8"/>
                                        </p:tgtEl>
                                        <p:attrNameLst>
                                          <p:attrName>ppt_y</p:attrName>
                                        </p:attrNameLst>
                                      </p:cBhvr>
                                      <p:tavLst>
                                        <p:tav tm="0">
                                          <p:val>
                                            <p:strVal val="ppt_y"/>
                                          </p:val>
                                        </p:tav>
                                        <p:tav tm="100000">
                                          <p:val>
                                            <p:strVal val="1+ppt_h/2"/>
                                          </p:val>
                                        </p:tav>
                                      </p:tavLst>
                                    </p:anim>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grpId="0" nodeType="clickEffect">
                                  <p:stCondLst>
                                    <p:cond delay="0"/>
                                  </p:stCondLst>
                                  <p:childTnLst>
                                    <p:anim calcmode="lin" valueType="num">
                                      <p:cBhvr additive="base">
                                        <p:cTn id="27" dur="500"/>
                                        <p:tgtEl>
                                          <p:spTgt spid="9"/>
                                        </p:tgtEl>
                                        <p:attrNameLst>
                                          <p:attrName>ppt_x</p:attrName>
                                        </p:attrNameLst>
                                      </p:cBhvr>
                                      <p:tavLst>
                                        <p:tav tm="0">
                                          <p:val>
                                            <p:strVal val="ppt_x"/>
                                          </p:val>
                                        </p:tav>
                                        <p:tav tm="100000">
                                          <p:val>
                                            <p:strVal val="ppt_x"/>
                                          </p:val>
                                        </p:tav>
                                      </p:tavLst>
                                    </p:anim>
                                    <p:anim calcmode="lin" valueType="num">
                                      <p:cBhvr additive="base">
                                        <p:cTn id="28" dur="500"/>
                                        <p:tgtEl>
                                          <p:spTgt spid="9"/>
                                        </p:tgtEl>
                                        <p:attrNameLst>
                                          <p:attrName>ppt_y</p:attrName>
                                        </p:attrNameLst>
                                      </p:cBhvr>
                                      <p:tavLst>
                                        <p:tav tm="0">
                                          <p:val>
                                            <p:strVal val="ppt_y"/>
                                          </p:val>
                                        </p:tav>
                                        <p:tav tm="100000">
                                          <p:val>
                                            <p:strVal val="1+ppt_h/2"/>
                                          </p:val>
                                        </p:tav>
                                      </p:tavLst>
                                    </p:anim>
                                    <p:set>
                                      <p:cBhvr>
                                        <p:cTn id="29" dur="1" fill="hold">
                                          <p:stCondLst>
                                            <p:cond delay="499"/>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0" nodeType="clickEffect">
                                  <p:stCondLst>
                                    <p:cond delay="0"/>
                                  </p:stCondLst>
                                  <p:childTnLst>
                                    <p:anim calcmode="lin" valueType="num">
                                      <p:cBhvr additive="base">
                                        <p:cTn id="33" dur="500"/>
                                        <p:tgtEl>
                                          <p:spTgt spid="10"/>
                                        </p:tgtEl>
                                        <p:attrNameLst>
                                          <p:attrName>ppt_x</p:attrName>
                                        </p:attrNameLst>
                                      </p:cBhvr>
                                      <p:tavLst>
                                        <p:tav tm="0">
                                          <p:val>
                                            <p:strVal val="ppt_x"/>
                                          </p:val>
                                        </p:tav>
                                        <p:tav tm="100000">
                                          <p:val>
                                            <p:strVal val="ppt_x"/>
                                          </p:val>
                                        </p:tav>
                                      </p:tavLst>
                                    </p:anim>
                                    <p:anim calcmode="lin" valueType="num">
                                      <p:cBhvr additive="base">
                                        <p:cTn id="34" dur="500"/>
                                        <p:tgtEl>
                                          <p:spTgt spid="10"/>
                                        </p:tgtEl>
                                        <p:attrNameLst>
                                          <p:attrName>ppt_y</p:attrName>
                                        </p:attrNameLst>
                                      </p:cBhvr>
                                      <p:tavLst>
                                        <p:tav tm="0">
                                          <p:val>
                                            <p:strVal val="ppt_y"/>
                                          </p:val>
                                        </p:tav>
                                        <p:tav tm="100000">
                                          <p:val>
                                            <p:strVal val="1+ppt_h/2"/>
                                          </p:val>
                                        </p:tav>
                                      </p:tavLst>
                                    </p:anim>
                                    <p:set>
                                      <p:cBhvr>
                                        <p:cTn id="35" dur="1" fill="hold">
                                          <p:stCondLst>
                                            <p:cond delay="499"/>
                                          </p:stCondLst>
                                        </p:cTn>
                                        <p:tgtEl>
                                          <p:spTgt spid="1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xit" presetSubtype="4" fill="hold" grpId="0" nodeType="clickEffect">
                                  <p:stCondLst>
                                    <p:cond delay="0"/>
                                  </p:stCondLst>
                                  <p:childTnLst>
                                    <p:anim calcmode="lin" valueType="num">
                                      <p:cBhvr additive="base">
                                        <p:cTn id="39" dur="500"/>
                                        <p:tgtEl>
                                          <p:spTgt spid="16"/>
                                        </p:tgtEl>
                                        <p:attrNameLst>
                                          <p:attrName>ppt_x</p:attrName>
                                        </p:attrNameLst>
                                      </p:cBhvr>
                                      <p:tavLst>
                                        <p:tav tm="0">
                                          <p:val>
                                            <p:strVal val="ppt_x"/>
                                          </p:val>
                                        </p:tav>
                                        <p:tav tm="100000">
                                          <p:val>
                                            <p:strVal val="ppt_x"/>
                                          </p:val>
                                        </p:tav>
                                      </p:tavLst>
                                    </p:anim>
                                    <p:anim calcmode="lin" valueType="num">
                                      <p:cBhvr additive="base">
                                        <p:cTn id="40" dur="500"/>
                                        <p:tgtEl>
                                          <p:spTgt spid="16"/>
                                        </p:tgtEl>
                                        <p:attrNameLst>
                                          <p:attrName>ppt_y</p:attrName>
                                        </p:attrNameLst>
                                      </p:cBhvr>
                                      <p:tavLst>
                                        <p:tav tm="0">
                                          <p:val>
                                            <p:strVal val="ppt_y"/>
                                          </p:val>
                                        </p:tav>
                                        <p:tav tm="100000">
                                          <p:val>
                                            <p:strVal val="1+ppt_h/2"/>
                                          </p:val>
                                        </p:tav>
                                      </p:tavLst>
                                    </p:anim>
                                    <p:set>
                                      <p:cBhvr>
                                        <p:cTn id="41" dur="1" fill="hold">
                                          <p:stCondLst>
                                            <p:cond delay="499"/>
                                          </p:stCondLst>
                                        </p:cTn>
                                        <p:tgtEl>
                                          <p:spTgt spid="16"/>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grpId="0" nodeType="clickEffect">
                                  <p:stCondLst>
                                    <p:cond delay="0"/>
                                  </p:stCondLst>
                                  <p:childTnLst>
                                    <p:anim calcmode="lin" valueType="num">
                                      <p:cBhvr additive="base">
                                        <p:cTn id="45" dur="500"/>
                                        <p:tgtEl>
                                          <p:spTgt spid="17"/>
                                        </p:tgtEl>
                                        <p:attrNameLst>
                                          <p:attrName>ppt_x</p:attrName>
                                        </p:attrNameLst>
                                      </p:cBhvr>
                                      <p:tavLst>
                                        <p:tav tm="0">
                                          <p:val>
                                            <p:strVal val="ppt_x"/>
                                          </p:val>
                                        </p:tav>
                                        <p:tav tm="100000">
                                          <p:val>
                                            <p:strVal val="ppt_x"/>
                                          </p:val>
                                        </p:tav>
                                      </p:tavLst>
                                    </p:anim>
                                    <p:anim calcmode="lin" valueType="num">
                                      <p:cBhvr additive="base">
                                        <p:cTn id="46" dur="500"/>
                                        <p:tgtEl>
                                          <p:spTgt spid="17"/>
                                        </p:tgtEl>
                                        <p:attrNameLst>
                                          <p:attrName>ppt_y</p:attrName>
                                        </p:attrNameLst>
                                      </p:cBhvr>
                                      <p:tavLst>
                                        <p:tav tm="0">
                                          <p:val>
                                            <p:strVal val="ppt_y"/>
                                          </p:val>
                                        </p:tav>
                                        <p:tav tm="100000">
                                          <p:val>
                                            <p:strVal val="1+ppt_h/2"/>
                                          </p:val>
                                        </p:tav>
                                      </p:tavLst>
                                    </p:anim>
                                    <p:set>
                                      <p:cBhvr>
                                        <p:cTn id="47" dur="1" fill="hold">
                                          <p:stCondLst>
                                            <p:cond delay="499"/>
                                          </p:stCondLst>
                                        </p:cTn>
                                        <p:tgtEl>
                                          <p:spTgt spid="1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 presetClass="exit" presetSubtype="4" fill="hold" grpId="0" nodeType="clickEffect">
                                  <p:stCondLst>
                                    <p:cond delay="0"/>
                                  </p:stCondLst>
                                  <p:childTnLst>
                                    <p:anim calcmode="lin" valueType="num">
                                      <p:cBhvr additive="base">
                                        <p:cTn id="51" dur="500"/>
                                        <p:tgtEl>
                                          <p:spTgt spid="14"/>
                                        </p:tgtEl>
                                        <p:attrNameLst>
                                          <p:attrName>ppt_x</p:attrName>
                                        </p:attrNameLst>
                                      </p:cBhvr>
                                      <p:tavLst>
                                        <p:tav tm="0">
                                          <p:val>
                                            <p:strVal val="ppt_x"/>
                                          </p:val>
                                        </p:tav>
                                        <p:tav tm="100000">
                                          <p:val>
                                            <p:strVal val="ppt_x"/>
                                          </p:val>
                                        </p:tav>
                                      </p:tavLst>
                                    </p:anim>
                                    <p:anim calcmode="lin" valueType="num">
                                      <p:cBhvr additive="base">
                                        <p:cTn id="52" dur="500"/>
                                        <p:tgtEl>
                                          <p:spTgt spid="14"/>
                                        </p:tgtEl>
                                        <p:attrNameLst>
                                          <p:attrName>ppt_y</p:attrName>
                                        </p:attrNameLst>
                                      </p:cBhvr>
                                      <p:tavLst>
                                        <p:tav tm="0">
                                          <p:val>
                                            <p:strVal val="ppt_y"/>
                                          </p:val>
                                        </p:tav>
                                        <p:tav tm="100000">
                                          <p:val>
                                            <p:strVal val="1+ppt_h/2"/>
                                          </p:val>
                                        </p:tav>
                                      </p:tavLst>
                                    </p:anim>
                                    <p:set>
                                      <p:cBhvr>
                                        <p:cTn id="53" dur="1" fill="hold">
                                          <p:stCondLst>
                                            <p:cond delay="499"/>
                                          </p:stCondLst>
                                        </p:cTn>
                                        <p:tgtEl>
                                          <p:spTgt spid="14"/>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xit" presetSubtype="4" fill="hold" grpId="0" nodeType="clickEffect">
                                  <p:stCondLst>
                                    <p:cond delay="0"/>
                                  </p:stCondLst>
                                  <p:childTnLst>
                                    <p:anim calcmode="lin" valueType="num">
                                      <p:cBhvr additive="base">
                                        <p:cTn id="57" dur="500"/>
                                        <p:tgtEl>
                                          <p:spTgt spid="18"/>
                                        </p:tgtEl>
                                        <p:attrNameLst>
                                          <p:attrName>ppt_x</p:attrName>
                                        </p:attrNameLst>
                                      </p:cBhvr>
                                      <p:tavLst>
                                        <p:tav tm="0">
                                          <p:val>
                                            <p:strVal val="ppt_x"/>
                                          </p:val>
                                        </p:tav>
                                        <p:tav tm="100000">
                                          <p:val>
                                            <p:strVal val="ppt_x"/>
                                          </p:val>
                                        </p:tav>
                                      </p:tavLst>
                                    </p:anim>
                                    <p:anim calcmode="lin" valueType="num">
                                      <p:cBhvr additive="base">
                                        <p:cTn id="58" dur="500"/>
                                        <p:tgtEl>
                                          <p:spTgt spid="18"/>
                                        </p:tgtEl>
                                        <p:attrNameLst>
                                          <p:attrName>ppt_y</p:attrName>
                                        </p:attrNameLst>
                                      </p:cBhvr>
                                      <p:tavLst>
                                        <p:tav tm="0">
                                          <p:val>
                                            <p:strVal val="ppt_y"/>
                                          </p:val>
                                        </p:tav>
                                        <p:tav tm="100000">
                                          <p:val>
                                            <p:strVal val="1+ppt_h/2"/>
                                          </p:val>
                                        </p:tav>
                                      </p:tavLst>
                                    </p:anim>
                                    <p:set>
                                      <p:cBhvr>
                                        <p:cTn id="59" dur="1" fill="hold">
                                          <p:stCondLst>
                                            <p:cond delay="499"/>
                                          </p:stCondLst>
                                        </p:cTn>
                                        <p:tgtEl>
                                          <p:spTgt spid="18"/>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0" nodeType="clickEffect">
                                  <p:stCondLst>
                                    <p:cond delay="0"/>
                                  </p:stCondLst>
                                  <p:childTnLst>
                                    <p:anim calcmode="lin" valueType="num">
                                      <p:cBhvr additive="base">
                                        <p:cTn id="63" dur="500"/>
                                        <p:tgtEl>
                                          <p:spTgt spid="19"/>
                                        </p:tgtEl>
                                        <p:attrNameLst>
                                          <p:attrName>ppt_x</p:attrName>
                                        </p:attrNameLst>
                                      </p:cBhvr>
                                      <p:tavLst>
                                        <p:tav tm="0">
                                          <p:val>
                                            <p:strVal val="ppt_x"/>
                                          </p:val>
                                        </p:tav>
                                        <p:tav tm="100000">
                                          <p:val>
                                            <p:strVal val="ppt_x"/>
                                          </p:val>
                                        </p:tav>
                                      </p:tavLst>
                                    </p:anim>
                                    <p:anim calcmode="lin" valueType="num">
                                      <p:cBhvr additive="base">
                                        <p:cTn id="64" dur="500"/>
                                        <p:tgtEl>
                                          <p:spTgt spid="19"/>
                                        </p:tgtEl>
                                        <p:attrNameLst>
                                          <p:attrName>ppt_y</p:attrName>
                                        </p:attrNameLst>
                                      </p:cBhvr>
                                      <p:tavLst>
                                        <p:tav tm="0">
                                          <p:val>
                                            <p:strVal val="ppt_y"/>
                                          </p:val>
                                        </p:tav>
                                        <p:tav tm="100000">
                                          <p:val>
                                            <p:strVal val="1+ppt_h/2"/>
                                          </p:val>
                                        </p:tav>
                                      </p:tavLst>
                                    </p:anim>
                                    <p:set>
                                      <p:cBhvr>
                                        <p:cTn id="65" dur="1" fill="hold">
                                          <p:stCondLst>
                                            <p:cond delay="499"/>
                                          </p:stCondLst>
                                        </p:cTn>
                                        <p:tgtEl>
                                          <p:spTgt spid="1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 presetClass="exit" presetSubtype="4" fill="hold" grpId="0" nodeType="clickEffect">
                                  <p:stCondLst>
                                    <p:cond delay="0"/>
                                  </p:stCondLst>
                                  <p:childTnLst>
                                    <p:anim calcmode="lin" valueType="num">
                                      <p:cBhvr additive="base">
                                        <p:cTn id="69" dur="500"/>
                                        <p:tgtEl>
                                          <p:spTgt spid="12"/>
                                        </p:tgtEl>
                                        <p:attrNameLst>
                                          <p:attrName>ppt_x</p:attrName>
                                        </p:attrNameLst>
                                      </p:cBhvr>
                                      <p:tavLst>
                                        <p:tav tm="0">
                                          <p:val>
                                            <p:strVal val="ppt_x"/>
                                          </p:val>
                                        </p:tav>
                                        <p:tav tm="100000">
                                          <p:val>
                                            <p:strVal val="ppt_x"/>
                                          </p:val>
                                        </p:tav>
                                      </p:tavLst>
                                    </p:anim>
                                    <p:anim calcmode="lin" valueType="num">
                                      <p:cBhvr additive="base">
                                        <p:cTn id="70" dur="500"/>
                                        <p:tgtEl>
                                          <p:spTgt spid="12"/>
                                        </p:tgtEl>
                                        <p:attrNameLst>
                                          <p:attrName>ppt_y</p:attrName>
                                        </p:attrNameLst>
                                      </p:cBhvr>
                                      <p:tavLst>
                                        <p:tav tm="0">
                                          <p:val>
                                            <p:strVal val="ppt_y"/>
                                          </p:val>
                                        </p:tav>
                                        <p:tav tm="100000">
                                          <p:val>
                                            <p:strVal val="1+ppt_h/2"/>
                                          </p:val>
                                        </p:tav>
                                      </p:tavLst>
                                    </p:anim>
                                    <p:set>
                                      <p:cBhvr>
                                        <p:cTn id="71" dur="1" fill="hold">
                                          <p:stCondLst>
                                            <p:cond delay="499"/>
                                          </p:stCondLst>
                                        </p:cTn>
                                        <p:tgtEl>
                                          <p:spTgt spid="12"/>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 calcmode="lin" valueType="num">
                                      <p:cBhvr additive="base">
                                        <p:cTn id="76" dur="500" fill="hold"/>
                                        <p:tgtEl>
                                          <p:spTgt spid="5"/>
                                        </p:tgtEl>
                                        <p:attrNameLst>
                                          <p:attrName>ppt_x</p:attrName>
                                        </p:attrNameLst>
                                      </p:cBhvr>
                                      <p:tavLst>
                                        <p:tav tm="0">
                                          <p:val>
                                            <p:strVal val="#ppt_x"/>
                                          </p:val>
                                        </p:tav>
                                        <p:tav tm="100000">
                                          <p:val>
                                            <p:strVal val="#ppt_x"/>
                                          </p:val>
                                        </p:tav>
                                      </p:tavLst>
                                    </p:anim>
                                    <p:anim calcmode="lin" valueType="num">
                                      <p:cBhvr additive="base">
                                        <p:cTn id="7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6" end="6"/>
                                            </p:txEl>
                                          </p:spTgt>
                                        </p:tgtEl>
                                        <p:attrNameLst>
                                          <p:attrName>style.visibility</p:attrName>
                                        </p:attrNameLst>
                                      </p:cBhvr>
                                      <p:to>
                                        <p:strVal val="visible"/>
                                      </p:to>
                                    </p:set>
                                    <p:animEffect transition="in" filter="blinds(horizontal)">
                                      <p:cBhvr>
                                        <p:cTn id="82" dur="500"/>
                                        <p:tgtEl>
                                          <p:spTgt spid="3">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7"/>
                                        </p:tgtEl>
                                        <p:attrNameLst>
                                          <p:attrName>style.visibility</p:attrName>
                                        </p:attrNameLst>
                                      </p:cBhvr>
                                      <p:to>
                                        <p:strVal val="visible"/>
                                      </p:to>
                                    </p:set>
                                    <p:anim calcmode="lin" valueType="num">
                                      <p:cBhvr additive="base">
                                        <p:cTn id="87" dur="500" fill="hold"/>
                                        <p:tgtEl>
                                          <p:spTgt spid="7"/>
                                        </p:tgtEl>
                                        <p:attrNameLst>
                                          <p:attrName>ppt_x</p:attrName>
                                        </p:attrNameLst>
                                      </p:cBhvr>
                                      <p:tavLst>
                                        <p:tav tm="0">
                                          <p:val>
                                            <p:strVal val="#ppt_x"/>
                                          </p:val>
                                        </p:tav>
                                        <p:tav tm="100000">
                                          <p:val>
                                            <p:strVal val="#ppt_x"/>
                                          </p:val>
                                        </p:tav>
                                      </p:tavLst>
                                    </p:anim>
                                    <p:anim calcmode="lin" valueType="num">
                                      <p:cBhvr additive="base">
                                        <p:cTn id="8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3">
                                            <p:txEl>
                                              <p:pRg st="7" end="7"/>
                                            </p:txEl>
                                          </p:spTgt>
                                        </p:tgtEl>
                                        <p:attrNameLst>
                                          <p:attrName>style.visibility</p:attrName>
                                        </p:attrNameLst>
                                      </p:cBhvr>
                                      <p:to>
                                        <p:strVal val="visible"/>
                                      </p:to>
                                    </p:set>
                                    <p:animEffect transition="in" filter="blinds(horizontal)">
                                      <p:cBhvr>
                                        <p:cTn id="93" dur="500"/>
                                        <p:tgtEl>
                                          <p:spTgt spid="3">
                                            <p:txEl>
                                              <p:pRg st="7" end="7"/>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3">
                                            <p:txEl>
                                              <p:pRg st="8" end="8"/>
                                            </p:txEl>
                                          </p:spTgt>
                                        </p:tgtEl>
                                        <p:attrNameLst>
                                          <p:attrName>style.visibility</p:attrName>
                                        </p:attrNameLst>
                                      </p:cBhvr>
                                      <p:to>
                                        <p:strVal val="visible"/>
                                      </p:to>
                                    </p:set>
                                    <p:animEffect transition="in" filter="blinds(horizontal)">
                                      <p:cBhvr>
                                        <p:cTn id="98" dur="500"/>
                                        <p:tgtEl>
                                          <p:spTgt spid="3">
                                            <p:txEl>
                                              <p:pRg st="8" end="8"/>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xit" presetSubtype="4" fill="hold" grpId="0" nodeType="clickEffect">
                                  <p:stCondLst>
                                    <p:cond delay="0"/>
                                  </p:stCondLst>
                                  <p:childTnLst>
                                    <p:anim calcmode="lin" valueType="num">
                                      <p:cBhvr additive="base">
                                        <p:cTn id="108" dur="500"/>
                                        <p:tgtEl>
                                          <p:spTgt spid="41"/>
                                        </p:tgtEl>
                                        <p:attrNameLst>
                                          <p:attrName>ppt_x</p:attrName>
                                        </p:attrNameLst>
                                      </p:cBhvr>
                                      <p:tavLst>
                                        <p:tav tm="0">
                                          <p:val>
                                            <p:strVal val="ppt_x"/>
                                          </p:val>
                                        </p:tav>
                                        <p:tav tm="100000">
                                          <p:val>
                                            <p:strVal val="ppt_x"/>
                                          </p:val>
                                        </p:tav>
                                      </p:tavLst>
                                    </p:anim>
                                    <p:anim calcmode="lin" valueType="num">
                                      <p:cBhvr additive="base">
                                        <p:cTn id="109" dur="500"/>
                                        <p:tgtEl>
                                          <p:spTgt spid="41"/>
                                        </p:tgtEl>
                                        <p:attrNameLst>
                                          <p:attrName>ppt_y</p:attrName>
                                        </p:attrNameLst>
                                      </p:cBhvr>
                                      <p:tavLst>
                                        <p:tav tm="0">
                                          <p:val>
                                            <p:strVal val="ppt_y"/>
                                          </p:val>
                                        </p:tav>
                                        <p:tav tm="100000">
                                          <p:val>
                                            <p:strVal val="1+ppt_h/2"/>
                                          </p:val>
                                        </p:tav>
                                      </p:tavLst>
                                    </p:anim>
                                    <p:set>
                                      <p:cBhvr>
                                        <p:cTn id="110" dur="1" fill="hold">
                                          <p:stCondLst>
                                            <p:cond delay="499"/>
                                          </p:stCondLst>
                                        </p:cTn>
                                        <p:tgtEl>
                                          <p:spTgt spid="4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 presetClass="exit" presetSubtype="4" fill="hold" grpId="0" nodeType="clickEffect">
                                  <p:stCondLst>
                                    <p:cond delay="0"/>
                                  </p:stCondLst>
                                  <p:childTnLst>
                                    <p:anim calcmode="lin" valueType="num">
                                      <p:cBhvr additive="base">
                                        <p:cTn id="114" dur="500"/>
                                        <p:tgtEl>
                                          <p:spTgt spid="42"/>
                                        </p:tgtEl>
                                        <p:attrNameLst>
                                          <p:attrName>ppt_x</p:attrName>
                                        </p:attrNameLst>
                                      </p:cBhvr>
                                      <p:tavLst>
                                        <p:tav tm="0">
                                          <p:val>
                                            <p:strVal val="ppt_x"/>
                                          </p:val>
                                        </p:tav>
                                        <p:tav tm="100000">
                                          <p:val>
                                            <p:strVal val="ppt_x"/>
                                          </p:val>
                                        </p:tav>
                                      </p:tavLst>
                                    </p:anim>
                                    <p:anim calcmode="lin" valueType="num">
                                      <p:cBhvr additive="base">
                                        <p:cTn id="115" dur="500"/>
                                        <p:tgtEl>
                                          <p:spTgt spid="42"/>
                                        </p:tgtEl>
                                        <p:attrNameLst>
                                          <p:attrName>ppt_y</p:attrName>
                                        </p:attrNameLst>
                                      </p:cBhvr>
                                      <p:tavLst>
                                        <p:tav tm="0">
                                          <p:val>
                                            <p:strVal val="ppt_y"/>
                                          </p:val>
                                        </p:tav>
                                        <p:tav tm="100000">
                                          <p:val>
                                            <p:strVal val="1+ppt_h/2"/>
                                          </p:val>
                                        </p:tav>
                                      </p:tavLst>
                                    </p:anim>
                                    <p:set>
                                      <p:cBhvr>
                                        <p:cTn id="116"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P spid="41"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3" name="Content Placeholder 2"/>
          <p:cNvSpPr>
            <a:spLocks noGrp="1"/>
          </p:cNvSpPr>
          <p:nvPr>
            <p:ph idx="1"/>
          </p:nvPr>
        </p:nvSpPr>
        <p:spPr>
          <a:xfrm>
            <a:off x="533400" y="838200"/>
            <a:ext cx="8077200" cy="5562600"/>
          </a:xfrm>
        </p:spPr>
        <p:txBody>
          <a:bodyPr>
            <a:noAutofit/>
          </a:bodyPr>
          <a:lstStyle/>
          <a:p>
            <a:pPr>
              <a:buNone/>
            </a:pPr>
            <a:r>
              <a:rPr lang="en-US" altLang="zh-CN" sz="3000" dirty="0" smtClean="0"/>
              <a:t>1.	      		        </a:t>
            </a:r>
            <a:r>
              <a:rPr lang="en-US" altLang="zh-CN" sz="3000" dirty="0" smtClean="0">
                <a:sym typeface="Wingdings" pitchFamily="2" charset="2"/>
              </a:rPr>
              <a:t>CO</a:t>
            </a:r>
            <a:r>
              <a:rPr lang="en-US" altLang="zh-CN" sz="3000" baseline="-25000" dirty="0" smtClean="0">
                <a:sym typeface="Wingdings" pitchFamily="2" charset="2"/>
              </a:rPr>
              <a:t>2   </a:t>
            </a:r>
            <a:r>
              <a:rPr lang="en-US" altLang="zh-CN" sz="3000" dirty="0" smtClean="0">
                <a:sym typeface="Wingdings" pitchFamily="2" charset="2"/>
              </a:rPr>
              <a:t>+       H</a:t>
            </a:r>
            <a:r>
              <a:rPr lang="en-US" altLang="zh-CN" sz="3000" baseline="-25000" dirty="0" smtClean="0">
                <a:sym typeface="Wingdings" pitchFamily="2" charset="2"/>
              </a:rPr>
              <a:t>2 </a:t>
            </a:r>
            <a:r>
              <a:rPr lang="en-US" altLang="zh-CN" sz="3000" dirty="0" smtClean="0">
                <a:sym typeface="Wingdings" pitchFamily="2" charset="2"/>
              </a:rPr>
              <a:t>&lt;--&gt;     </a:t>
            </a:r>
            <a:r>
              <a:rPr lang="en-US" altLang="zh-CN" sz="3000" dirty="0" smtClean="0"/>
              <a:t>CO +     H</a:t>
            </a:r>
            <a:r>
              <a:rPr lang="en-US" altLang="zh-CN" sz="3000" baseline="-25000" dirty="0" smtClean="0"/>
              <a:t>2</a:t>
            </a:r>
            <a:r>
              <a:rPr lang="en-US" altLang="zh-CN" sz="3000" dirty="0" smtClean="0"/>
              <a:t>O</a:t>
            </a:r>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0.01	0.01		0 	   0</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a:t>x</a:t>
            </a:r>
            <a:r>
              <a:rPr lang="en-US" altLang="zh-CN" sz="3000" dirty="0" smtClean="0"/>
              <a:t>		</a:t>
            </a:r>
            <a:r>
              <a:rPr lang="en-US" altLang="zh-CN" sz="3000" dirty="0" err="1" smtClean="0"/>
              <a:t>x</a:t>
            </a:r>
            <a:r>
              <a:rPr lang="en-US" altLang="zh-CN" sz="3000" dirty="0" smtClean="0"/>
              <a:t>	   </a:t>
            </a:r>
            <a:r>
              <a:rPr lang="en-US" altLang="zh-CN" sz="3000" dirty="0" err="1" smtClean="0"/>
              <a:t>x</a:t>
            </a:r>
            <a:endParaRPr lang="en-US" altLang="zh-CN" sz="3000" dirty="0" smtClean="0"/>
          </a:p>
          <a:p>
            <a:pPr>
              <a:buNone/>
            </a:pPr>
            <a:r>
              <a:rPr lang="en-US" altLang="zh-CN" sz="3000" dirty="0" smtClean="0"/>
              <a:t>[</a:t>
            </a:r>
            <a:r>
              <a:rPr lang="zh-CN" altLang="en-US" sz="3000" dirty="0"/>
              <a:t>平衡</a:t>
            </a:r>
            <a:r>
              <a:rPr lang="en-US" altLang="zh-CN" sz="3000" dirty="0" smtClean="0"/>
              <a:t>](mol/L)   0.01-x	</a:t>
            </a:r>
            <a:r>
              <a:rPr lang="en-US" altLang="zh-CN" sz="3000" dirty="0" err="1" smtClean="0"/>
              <a:t>0.01-x</a:t>
            </a:r>
            <a:r>
              <a:rPr lang="en-US" altLang="zh-CN" sz="3000" dirty="0" smtClean="0"/>
              <a:t>	x	   x</a:t>
            </a:r>
          </a:p>
          <a:p>
            <a:pPr>
              <a:buNone/>
            </a:pPr>
            <a:endParaRPr lang="en-US" altLang="zh-CN" sz="3000" dirty="0" smtClean="0"/>
          </a:p>
          <a:p>
            <a:pPr>
              <a:buNone/>
            </a:pPr>
            <a:endParaRPr lang="en-US" altLang="zh-CN" sz="3000" dirty="0" smtClean="0"/>
          </a:p>
          <a:p>
            <a:pPr>
              <a:buNone/>
            </a:pPr>
            <a:r>
              <a:rPr lang="en-US" altLang="zh-CN" sz="3000" dirty="0" smtClean="0"/>
              <a:t>  2.25 =</a:t>
            </a:r>
          </a:p>
          <a:p>
            <a:pPr>
              <a:lnSpc>
                <a:spcPct val="150000"/>
              </a:lnSpc>
              <a:buNone/>
            </a:pPr>
            <a:r>
              <a:rPr lang="en-US" altLang="zh-CN" sz="3000" dirty="0" smtClean="0"/>
              <a:t>        x =  0.006</a:t>
            </a:r>
          </a:p>
          <a:p>
            <a:pPr>
              <a:lnSpc>
                <a:spcPct val="150000"/>
              </a:lnSpc>
              <a:buNone/>
            </a:pPr>
            <a:r>
              <a:rPr lang="en-US" altLang="zh-CN" sz="3000" dirty="0" smtClean="0"/>
              <a:t>(2) </a:t>
            </a:r>
            <a:r>
              <a:rPr lang="zh-CN" altLang="en-US" sz="3000" dirty="0" smtClean="0"/>
              <a:t>转化率</a:t>
            </a:r>
            <a:r>
              <a:rPr lang="en-US" altLang="zh-CN" sz="3000" dirty="0" smtClean="0"/>
              <a:t>= 	     x 100% = 60%</a:t>
            </a:r>
          </a:p>
          <a:p>
            <a:pPr>
              <a:lnSpc>
                <a:spcPct val="150000"/>
              </a:lnSpc>
              <a:buNone/>
            </a:pPr>
            <a:endParaRPr lang="en-US" altLang="zh-CN" sz="3000" dirty="0" smtClean="0"/>
          </a:p>
        </p:txBody>
      </p:sp>
      <p:sp>
        <p:nvSpPr>
          <p:cNvPr id="8" name="Rounded Rectangle 7"/>
          <p:cNvSpPr/>
          <p:nvPr/>
        </p:nvSpPr>
        <p:spPr>
          <a:xfrm>
            <a:off x="28956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1910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8674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70104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8674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1628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867400" y="19812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7162800" y="1981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8956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19812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819400" y="25146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25146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3"/>
          <p:cNvGrpSpPr/>
          <p:nvPr/>
        </p:nvGrpSpPr>
        <p:grpSpPr>
          <a:xfrm>
            <a:off x="762000" y="2971800"/>
            <a:ext cx="4170896" cy="1194375"/>
            <a:chOff x="2068535" y="1385886"/>
            <a:chExt cx="3137150" cy="1194375"/>
          </a:xfrm>
        </p:grpSpPr>
        <p:grpSp>
          <p:nvGrpSpPr>
            <p:cNvPr id="5" name="Group 24"/>
            <p:cNvGrpSpPr/>
            <p:nvPr/>
          </p:nvGrpSpPr>
          <p:grpSpPr>
            <a:xfrm>
              <a:off x="2068535" y="1715511"/>
              <a:ext cx="3137150" cy="864750"/>
              <a:chOff x="2068535" y="1715511"/>
              <a:chExt cx="3137150" cy="864750"/>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895735" y="1995486"/>
                <a:ext cx="2309950" cy="584775"/>
              </a:xfrm>
              <a:prstGeom prst="rect">
                <a:avLst/>
              </a:prstGeom>
              <a:noFill/>
            </p:spPr>
            <p:txBody>
              <a:bodyPr wrap="square" rtlCol="0">
                <a:spAutoFit/>
              </a:bodyPr>
              <a:lstStyle/>
              <a:p>
                <a:r>
                  <a:rPr lang="en-US" sz="3200" dirty="0" smtClean="0"/>
                  <a:t>  [CO</a:t>
                </a:r>
                <a:r>
                  <a:rPr lang="en-US" sz="3200" baseline="-25000" dirty="0" smtClean="0"/>
                  <a:t>2</a:t>
                </a:r>
                <a:r>
                  <a:rPr lang="en-US" sz="3200" dirty="0" smtClean="0"/>
                  <a:t>][H</a:t>
                </a:r>
                <a:r>
                  <a:rPr lang="en-US" sz="3200" baseline="-25000" dirty="0" smtClean="0"/>
                  <a:t>2</a:t>
                </a:r>
                <a:r>
                  <a:rPr lang="en-US" sz="3200" dirty="0" smtClean="0"/>
                  <a:t>]</a:t>
                </a:r>
                <a:endParaRPr lang="en-US" sz="3200" dirty="0"/>
              </a:p>
            </p:txBody>
          </p:sp>
        </p:grpSp>
        <p:sp>
          <p:nvSpPr>
            <p:cNvPr id="24" name="TextBox 5"/>
            <p:cNvSpPr txBox="1"/>
            <p:nvPr/>
          </p:nvSpPr>
          <p:spPr>
            <a:xfrm>
              <a:off x="2723793" y="1385886"/>
              <a:ext cx="1861860" cy="584775"/>
            </a:xfrm>
            <a:prstGeom prst="rect">
              <a:avLst/>
            </a:prstGeom>
            <a:noFill/>
          </p:spPr>
          <p:txBody>
            <a:bodyPr wrap="square" rtlCol="0">
              <a:spAutoFit/>
            </a:bodyPr>
            <a:lstStyle/>
            <a:p>
              <a:r>
                <a:rPr lang="en-US" altLang="zh-CN" sz="3200" dirty="0" smtClean="0"/>
                <a:t>    [CO][H</a:t>
              </a:r>
              <a:r>
                <a:rPr lang="en-US" altLang="zh-CN" sz="3200" baseline="-25000" dirty="0" smtClean="0"/>
                <a:t>2</a:t>
              </a:r>
              <a:r>
                <a:rPr lang="en-US" altLang="zh-CN" sz="3200" dirty="0" smtClean="0"/>
                <a:t>O ]</a:t>
              </a:r>
              <a:endParaRPr lang="en-US" sz="3200" dirty="0"/>
            </a:p>
          </p:txBody>
        </p:sp>
      </p:grpSp>
      <p:grpSp>
        <p:nvGrpSpPr>
          <p:cNvPr id="6" name="Group 3"/>
          <p:cNvGrpSpPr/>
          <p:nvPr/>
        </p:nvGrpSpPr>
        <p:grpSpPr>
          <a:xfrm>
            <a:off x="1656294" y="3987225"/>
            <a:ext cx="3886202" cy="965775"/>
            <a:chOff x="3493605" y="1421487"/>
            <a:chExt cx="1004452" cy="965775"/>
          </a:xfrm>
        </p:grpSpPr>
        <p:grpSp>
          <p:nvGrpSpPr>
            <p:cNvPr id="7"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(x)(x)</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(0.01-x)(0.01-x)</a:t>
              </a:r>
              <a:endParaRPr lang="en-US" sz="3200" dirty="0"/>
            </a:p>
          </p:txBody>
        </p:sp>
      </p:grpSp>
      <p:sp>
        <p:nvSpPr>
          <p:cNvPr id="29" name="Title 1"/>
          <p:cNvSpPr>
            <a:spLocks noGrp="1"/>
          </p:cNvSpPr>
          <p:nvPr>
            <p:ph type="title"/>
          </p:nvPr>
        </p:nvSpPr>
        <p:spPr>
          <a:xfrm>
            <a:off x="0" y="1"/>
            <a:ext cx="9144000" cy="762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grpSp>
        <p:nvGrpSpPr>
          <p:cNvPr id="20" name="Group 3"/>
          <p:cNvGrpSpPr/>
          <p:nvPr/>
        </p:nvGrpSpPr>
        <p:grpSpPr>
          <a:xfrm>
            <a:off x="2057404" y="5358825"/>
            <a:ext cx="1752601" cy="965775"/>
            <a:chOff x="3454214" y="1421487"/>
            <a:chExt cx="452988" cy="965775"/>
          </a:xfrm>
        </p:grpSpPr>
        <p:grpSp>
          <p:nvGrpSpPr>
            <p:cNvPr id="21" name="Group 24"/>
            <p:cNvGrpSpPr/>
            <p:nvPr/>
          </p:nvGrpSpPr>
          <p:grpSpPr>
            <a:xfrm>
              <a:off x="3572385" y="1421487"/>
              <a:ext cx="334817" cy="584775"/>
              <a:chOff x="3572385" y="1421487"/>
              <a:chExt cx="334817" cy="584775"/>
            </a:xfrm>
          </p:grpSpPr>
          <p:cxnSp>
            <p:nvCxnSpPr>
              <p:cNvPr id="35" name="Straight Connector 8"/>
              <p:cNvCxnSpPr/>
              <p:nvPr/>
            </p:nvCxnSpPr>
            <p:spPr>
              <a:xfrm>
                <a:off x="3583657" y="1905000"/>
                <a:ext cx="28361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3572385" y="1421487"/>
                <a:ext cx="334817" cy="584775"/>
              </a:xfrm>
              <a:prstGeom prst="rect">
                <a:avLst/>
              </a:prstGeom>
              <a:noFill/>
            </p:spPr>
            <p:txBody>
              <a:bodyPr wrap="square" rtlCol="0">
                <a:spAutoFit/>
              </a:bodyPr>
              <a:lstStyle/>
              <a:p>
                <a:r>
                  <a:rPr lang="en-US" altLang="zh-CN" sz="3200" dirty="0" smtClean="0"/>
                  <a:t>0.006</a:t>
                </a:r>
                <a:endParaRPr lang="en-US" sz="3200" dirty="0"/>
              </a:p>
            </p:txBody>
          </p:sp>
        </p:grpSp>
        <p:sp>
          <p:nvSpPr>
            <p:cNvPr id="34" name="TextBox 5"/>
            <p:cNvSpPr txBox="1"/>
            <p:nvPr/>
          </p:nvSpPr>
          <p:spPr>
            <a:xfrm>
              <a:off x="3454214" y="1802487"/>
              <a:ext cx="393902" cy="584775"/>
            </a:xfrm>
            <a:prstGeom prst="rect">
              <a:avLst/>
            </a:prstGeom>
            <a:noFill/>
          </p:spPr>
          <p:txBody>
            <a:bodyPr wrap="square" rtlCol="0">
              <a:spAutoFit/>
            </a:bodyPr>
            <a:lstStyle/>
            <a:p>
              <a:r>
                <a:rPr lang="en-US" altLang="zh-CN" sz="3200" dirty="0" smtClean="0"/>
                <a:t>      0.01</a:t>
              </a:r>
              <a:endParaRPr lang="en-US" sz="3200" dirty="0"/>
            </a:p>
          </p:txBody>
        </p:sp>
      </p:grpSp>
      <p:sp>
        <p:nvSpPr>
          <p:cNvPr id="37" name="Rounded Rectangle 36"/>
          <p:cNvSpPr/>
          <p:nvPr/>
        </p:nvSpPr>
        <p:spPr>
          <a:xfrm>
            <a:off x="2514600" y="5486400"/>
            <a:ext cx="2514600" cy="7620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p:cNvSpPr/>
          <p:nvPr/>
        </p:nvSpPr>
        <p:spPr>
          <a:xfrm>
            <a:off x="5181600" y="57150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4495800" y="3581400"/>
            <a:ext cx="4535024" cy="1015663"/>
          </a:xfrm>
          <a:prstGeom prst="rect">
            <a:avLst/>
          </a:prstGeom>
        </p:spPr>
        <p:txBody>
          <a:bodyPr wrap="none">
            <a:spAutoFit/>
          </a:bodyPr>
          <a:lstStyle/>
          <a:p>
            <a:r>
              <a:rPr lang="zh-CN" altLang="en-US" sz="3000" dirty="0" smtClean="0"/>
              <a:t>平衡时，</a:t>
            </a:r>
            <a:r>
              <a:rPr lang="en-US" altLang="zh-CN" sz="3000" dirty="0" smtClean="0"/>
              <a:t>[CO</a:t>
            </a:r>
            <a:r>
              <a:rPr lang="en-US" altLang="zh-CN" sz="3000" baseline="-25000" dirty="0" smtClean="0"/>
              <a:t>2</a:t>
            </a:r>
            <a:r>
              <a:rPr lang="en-US" altLang="zh-CN" sz="3000" dirty="0" smtClean="0"/>
              <a:t>]=[H</a:t>
            </a:r>
            <a:r>
              <a:rPr lang="en-US" altLang="zh-CN" sz="3000" baseline="-25000" dirty="0" smtClean="0"/>
              <a:t>2</a:t>
            </a:r>
            <a:r>
              <a:rPr lang="en-US" altLang="zh-CN" sz="3000" dirty="0" smtClean="0"/>
              <a:t>]=0.004</a:t>
            </a:r>
          </a:p>
          <a:p>
            <a:r>
              <a:rPr lang="en-US" sz="3000" dirty="0" smtClean="0"/>
              <a:t>	       [CO]=[H</a:t>
            </a:r>
            <a:r>
              <a:rPr lang="en-US" sz="3000" baseline="-25000" dirty="0" smtClean="0"/>
              <a:t>2</a:t>
            </a:r>
            <a:r>
              <a:rPr lang="en-US" sz="3000" dirty="0" smtClean="0"/>
              <a:t>O]=0.</a:t>
            </a:r>
            <a:r>
              <a:rPr lang="en-US" altLang="zh-CN" sz="3000" dirty="0" smtClean="0"/>
              <a:t>006</a:t>
            </a:r>
            <a:endParaRPr lang="en-US" sz="3000" dirty="0"/>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xit" presetSubtype="4" fill="hold" grpId="0" nodeType="clickEffect">
                                  <p:stCondLst>
                                    <p:cond delay="0"/>
                                  </p:stCondLst>
                                  <p:childTnLst>
                                    <p:anim calcmode="lin" valueType="num">
                                      <p:cBhvr additive="base">
                                        <p:cTn id="21" dur="500"/>
                                        <p:tgtEl>
                                          <p:spTgt spid="8"/>
                                        </p:tgtEl>
                                        <p:attrNameLst>
                                          <p:attrName>ppt_x</p:attrName>
                                        </p:attrNameLst>
                                      </p:cBhvr>
                                      <p:tavLst>
                                        <p:tav tm="0">
                                          <p:val>
                                            <p:strVal val="ppt_x"/>
                                          </p:val>
                                        </p:tav>
                                        <p:tav tm="100000">
                                          <p:val>
                                            <p:strVal val="ppt_x"/>
                                          </p:val>
                                        </p:tav>
                                      </p:tavLst>
                                    </p:anim>
                                    <p:anim calcmode="lin" valueType="num">
                                      <p:cBhvr additive="base">
                                        <p:cTn id="22" dur="500"/>
                                        <p:tgtEl>
                                          <p:spTgt spid="8"/>
                                        </p:tgtEl>
                                        <p:attrNameLst>
                                          <p:attrName>ppt_y</p:attrName>
                                        </p:attrNameLst>
                                      </p:cBhvr>
                                      <p:tavLst>
                                        <p:tav tm="0">
                                          <p:val>
                                            <p:strVal val="ppt_y"/>
                                          </p:val>
                                        </p:tav>
                                        <p:tav tm="100000">
                                          <p:val>
                                            <p:strVal val="1+ppt_h/2"/>
                                          </p:val>
                                        </p:tav>
                                      </p:tavLst>
                                    </p:anim>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xit" presetSubtype="4" fill="hold" grpId="0" nodeType="clickEffect">
                                  <p:stCondLst>
                                    <p:cond delay="0"/>
                                  </p:stCondLst>
                                  <p:childTnLst>
                                    <p:anim calcmode="lin" valueType="num">
                                      <p:cBhvr additive="base">
                                        <p:cTn id="27" dur="500"/>
                                        <p:tgtEl>
                                          <p:spTgt spid="9"/>
                                        </p:tgtEl>
                                        <p:attrNameLst>
                                          <p:attrName>ppt_x</p:attrName>
                                        </p:attrNameLst>
                                      </p:cBhvr>
                                      <p:tavLst>
                                        <p:tav tm="0">
                                          <p:val>
                                            <p:strVal val="ppt_x"/>
                                          </p:val>
                                        </p:tav>
                                        <p:tav tm="100000">
                                          <p:val>
                                            <p:strVal val="ppt_x"/>
                                          </p:val>
                                        </p:tav>
                                      </p:tavLst>
                                    </p:anim>
                                    <p:anim calcmode="lin" valueType="num">
                                      <p:cBhvr additive="base">
                                        <p:cTn id="28" dur="500"/>
                                        <p:tgtEl>
                                          <p:spTgt spid="9"/>
                                        </p:tgtEl>
                                        <p:attrNameLst>
                                          <p:attrName>ppt_y</p:attrName>
                                        </p:attrNameLst>
                                      </p:cBhvr>
                                      <p:tavLst>
                                        <p:tav tm="0">
                                          <p:val>
                                            <p:strVal val="ppt_y"/>
                                          </p:val>
                                        </p:tav>
                                        <p:tav tm="100000">
                                          <p:val>
                                            <p:strVal val="1+ppt_h/2"/>
                                          </p:val>
                                        </p:tav>
                                      </p:tavLst>
                                    </p:anim>
                                    <p:set>
                                      <p:cBhvr>
                                        <p:cTn id="29" dur="1" fill="hold">
                                          <p:stCondLst>
                                            <p:cond delay="499"/>
                                          </p:stCondLst>
                                        </p:cTn>
                                        <p:tgtEl>
                                          <p:spTgt spid="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0" nodeType="clickEffect">
                                  <p:stCondLst>
                                    <p:cond delay="0"/>
                                  </p:stCondLst>
                                  <p:childTnLst>
                                    <p:anim calcmode="lin" valueType="num">
                                      <p:cBhvr additive="base">
                                        <p:cTn id="33" dur="500"/>
                                        <p:tgtEl>
                                          <p:spTgt spid="10"/>
                                        </p:tgtEl>
                                        <p:attrNameLst>
                                          <p:attrName>ppt_x</p:attrName>
                                        </p:attrNameLst>
                                      </p:cBhvr>
                                      <p:tavLst>
                                        <p:tav tm="0">
                                          <p:val>
                                            <p:strVal val="ppt_x"/>
                                          </p:val>
                                        </p:tav>
                                        <p:tav tm="100000">
                                          <p:val>
                                            <p:strVal val="ppt_x"/>
                                          </p:val>
                                        </p:tav>
                                      </p:tavLst>
                                    </p:anim>
                                    <p:anim calcmode="lin" valueType="num">
                                      <p:cBhvr additive="base">
                                        <p:cTn id="34" dur="500"/>
                                        <p:tgtEl>
                                          <p:spTgt spid="10"/>
                                        </p:tgtEl>
                                        <p:attrNameLst>
                                          <p:attrName>ppt_y</p:attrName>
                                        </p:attrNameLst>
                                      </p:cBhvr>
                                      <p:tavLst>
                                        <p:tav tm="0">
                                          <p:val>
                                            <p:strVal val="ppt_y"/>
                                          </p:val>
                                        </p:tav>
                                        <p:tav tm="100000">
                                          <p:val>
                                            <p:strVal val="1+ppt_h/2"/>
                                          </p:val>
                                        </p:tav>
                                      </p:tavLst>
                                    </p:anim>
                                    <p:set>
                                      <p:cBhvr>
                                        <p:cTn id="35" dur="1" fill="hold">
                                          <p:stCondLst>
                                            <p:cond delay="499"/>
                                          </p:stCondLst>
                                        </p:cTn>
                                        <p:tgtEl>
                                          <p:spTgt spid="1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xit" presetSubtype="4" fill="hold" grpId="0" nodeType="clickEffect">
                                  <p:stCondLst>
                                    <p:cond delay="0"/>
                                  </p:stCondLst>
                                  <p:childTnLst>
                                    <p:anim calcmode="lin" valueType="num">
                                      <p:cBhvr additive="base">
                                        <p:cTn id="39" dur="500"/>
                                        <p:tgtEl>
                                          <p:spTgt spid="11"/>
                                        </p:tgtEl>
                                        <p:attrNameLst>
                                          <p:attrName>ppt_x</p:attrName>
                                        </p:attrNameLst>
                                      </p:cBhvr>
                                      <p:tavLst>
                                        <p:tav tm="0">
                                          <p:val>
                                            <p:strVal val="ppt_x"/>
                                          </p:val>
                                        </p:tav>
                                        <p:tav tm="100000">
                                          <p:val>
                                            <p:strVal val="ppt_x"/>
                                          </p:val>
                                        </p:tav>
                                      </p:tavLst>
                                    </p:anim>
                                    <p:anim calcmode="lin" valueType="num">
                                      <p:cBhvr additive="base">
                                        <p:cTn id="40" dur="500"/>
                                        <p:tgtEl>
                                          <p:spTgt spid="11"/>
                                        </p:tgtEl>
                                        <p:attrNameLst>
                                          <p:attrName>ppt_y</p:attrName>
                                        </p:attrNameLst>
                                      </p:cBhvr>
                                      <p:tavLst>
                                        <p:tav tm="0">
                                          <p:val>
                                            <p:strVal val="ppt_y"/>
                                          </p:val>
                                        </p:tav>
                                        <p:tav tm="100000">
                                          <p:val>
                                            <p:strVal val="1+ppt_h/2"/>
                                          </p:val>
                                        </p:tav>
                                      </p:tavLst>
                                    </p:anim>
                                    <p:set>
                                      <p:cBhvr>
                                        <p:cTn id="41" dur="1" fill="hold">
                                          <p:stCondLst>
                                            <p:cond delay="499"/>
                                          </p:stCondLst>
                                        </p:cTn>
                                        <p:tgtEl>
                                          <p:spTgt spid="1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grpId="0" nodeType="clickEffect">
                                  <p:stCondLst>
                                    <p:cond delay="0"/>
                                  </p:stCondLst>
                                  <p:childTnLst>
                                    <p:anim calcmode="lin" valueType="num">
                                      <p:cBhvr additive="base">
                                        <p:cTn id="45" dur="500"/>
                                        <p:tgtEl>
                                          <p:spTgt spid="16"/>
                                        </p:tgtEl>
                                        <p:attrNameLst>
                                          <p:attrName>ppt_x</p:attrName>
                                        </p:attrNameLst>
                                      </p:cBhvr>
                                      <p:tavLst>
                                        <p:tav tm="0">
                                          <p:val>
                                            <p:strVal val="ppt_x"/>
                                          </p:val>
                                        </p:tav>
                                        <p:tav tm="100000">
                                          <p:val>
                                            <p:strVal val="ppt_x"/>
                                          </p:val>
                                        </p:tav>
                                      </p:tavLst>
                                    </p:anim>
                                    <p:anim calcmode="lin" valueType="num">
                                      <p:cBhvr additive="base">
                                        <p:cTn id="46" dur="500"/>
                                        <p:tgtEl>
                                          <p:spTgt spid="16"/>
                                        </p:tgtEl>
                                        <p:attrNameLst>
                                          <p:attrName>ppt_y</p:attrName>
                                        </p:attrNameLst>
                                      </p:cBhvr>
                                      <p:tavLst>
                                        <p:tav tm="0">
                                          <p:val>
                                            <p:strVal val="ppt_y"/>
                                          </p:val>
                                        </p:tav>
                                        <p:tav tm="100000">
                                          <p:val>
                                            <p:strVal val="1+ppt_h/2"/>
                                          </p:val>
                                        </p:tav>
                                      </p:tavLst>
                                    </p:anim>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 presetClass="exit" presetSubtype="4" fill="hold" grpId="0" nodeType="clickEffect">
                                  <p:stCondLst>
                                    <p:cond delay="0"/>
                                  </p:stCondLst>
                                  <p:childTnLst>
                                    <p:anim calcmode="lin" valueType="num">
                                      <p:cBhvr additive="base">
                                        <p:cTn id="51" dur="500"/>
                                        <p:tgtEl>
                                          <p:spTgt spid="17"/>
                                        </p:tgtEl>
                                        <p:attrNameLst>
                                          <p:attrName>ppt_x</p:attrName>
                                        </p:attrNameLst>
                                      </p:cBhvr>
                                      <p:tavLst>
                                        <p:tav tm="0">
                                          <p:val>
                                            <p:strVal val="ppt_x"/>
                                          </p:val>
                                        </p:tav>
                                        <p:tav tm="100000">
                                          <p:val>
                                            <p:strVal val="ppt_x"/>
                                          </p:val>
                                        </p:tav>
                                      </p:tavLst>
                                    </p:anim>
                                    <p:anim calcmode="lin" valueType="num">
                                      <p:cBhvr additive="base">
                                        <p:cTn id="52" dur="500"/>
                                        <p:tgtEl>
                                          <p:spTgt spid="17"/>
                                        </p:tgtEl>
                                        <p:attrNameLst>
                                          <p:attrName>ppt_y</p:attrName>
                                        </p:attrNameLst>
                                      </p:cBhvr>
                                      <p:tavLst>
                                        <p:tav tm="0">
                                          <p:val>
                                            <p:strVal val="ppt_y"/>
                                          </p:val>
                                        </p:tav>
                                        <p:tav tm="100000">
                                          <p:val>
                                            <p:strVal val="1+ppt_h/2"/>
                                          </p:val>
                                        </p:tav>
                                      </p:tavLst>
                                    </p:anim>
                                    <p:set>
                                      <p:cBhvr>
                                        <p:cTn id="53" dur="1" fill="hold">
                                          <p:stCondLst>
                                            <p:cond delay="499"/>
                                          </p:stCondLst>
                                        </p:cTn>
                                        <p:tgtEl>
                                          <p:spTgt spid="1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xit" presetSubtype="4" fill="hold" grpId="0" nodeType="clickEffect">
                                  <p:stCondLst>
                                    <p:cond delay="0"/>
                                  </p:stCondLst>
                                  <p:childTnLst>
                                    <p:anim calcmode="lin" valueType="num">
                                      <p:cBhvr additive="base">
                                        <p:cTn id="57" dur="500"/>
                                        <p:tgtEl>
                                          <p:spTgt spid="14"/>
                                        </p:tgtEl>
                                        <p:attrNameLst>
                                          <p:attrName>ppt_x</p:attrName>
                                        </p:attrNameLst>
                                      </p:cBhvr>
                                      <p:tavLst>
                                        <p:tav tm="0">
                                          <p:val>
                                            <p:strVal val="ppt_x"/>
                                          </p:val>
                                        </p:tav>
                                        <p:tav tm="100000">
                                          <p:val>
                                            <p:strVal val="ppt_x"/>
                                          </p:val>
                                        </p:tav>
                                      </p:tavLst>
                                    </p:anim>
                                    <p:anim calcmode="lin" valueType="num">
                                      <p:cBhvr additive="base">
                                        <p:cTn id="58" dur="500"/>
                                        <p:tgtEl>
                                          <p:spTgt spid="14"/>
                                        </p:tgtEl>
                                        <p:attrNameLst>
                                          <p:attrName>ppt_y</p:attrName>
                                        </p:attrNameLst>
                                      </p:cBhvr>
                                      <p:tavLst>
                                        <p:tav tm="0">
                                          <p:val>
                                            <p:strVal val="ppt_y"/>
                                          </p:val>
                                        </p:tav>
                                        <p:tav tm="100000">
                                          <p:val>
                                            <p:strVal val="1+ppt_h/2"/>
                                          </p:val>
                                        </p:tav>
                                      </p:tavLst>
                                    </p:anim>
                                    <p:set>
                                      <p:cBhvr>
                                        <p:cTn id="59" dur="1" fill="hold">
                                          <p:stCondLst>
                                            <p:cond delay="499"/>
                                          </p:stCondLst>
                                        </p:cTn>
                                        <p:tgtEl>
                                          <p:spTgt spid="1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0" nodeType="clickEffect">
                                  <p:stCondLst>
                                    <p:cond delay="0"/>
                                  </p:stCondLst>
                                  <p:childTnLst>
                                    <p:anim calcmode="lin" valueType="num">
                                      <p:cBhvr additive="base">
                                        <p:cTn id="63" dur="500"/>
                                        <p:tgtEl>
                                          <p:spTgt spid="15"/>
                                        </p:tgtEl>
                                        <p:attrNameLst>
                                          <p:attrName>ppt_x</p:attrName>
                                        </p:attrNameLst>
                                      </p:cBhvr>
                                      <p:tavLst>
                                        <p:tav tm="0">
                                          <p:val>
                                            <p:strVal val="ppt_x"/>
                                          </p:val>
                                        </p:tav>
                                        <p:tav tm="100000">
                                          <p:val>
                                            <p:strVal val="ppt_x"/>
                                          </p:val>
                                        </p:tav>
                                      </p:tavLst>
                                    </p:anim>
                                    <p:anim calcmode="lin" valueType="num">
                                      <p:cBhvr additive="base">
                                        <p:cTn id="64" dur="500"/>
                                        <p:tgtEl>
                                          <p:spTgt spid="15"/>
                                        </p:tgtEl>
                                        <p:attrNameLst>
                                          <p:attrName>ppt_y</p:attrName>
                                        </p:attrNameLst>
                                      </p:cBhvr>
                                      <p:tavLst>
                                        <p:tav tm="0">
                                          <p:val>
                                            <p:strVal val="ppt_y"/>
                                          </p:val>
                                        </p:tav>
                                        <p:tav tm="100000">
                                          <p:val>
                                            <p:strVal val="1+ppt_h/2"/>
                                          </p:val>
                                        </p:tav>
                                      </p:tavLst>
                                    </p:anim>
                                    <p:set>
                                      <p:cBhvr>
                                        <p:cTn id="65" dur="1" fill="hold">
                                          <p:stCondLst>
                                            <p:cond delay="499"/>
                                          </p:stCondLst>
                                        </p:cTn>
                                        <p:tgtEl>
                                          <p:spTgt spid="15"/>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 presetClass="exit" presetSubtype="4" fill="hold" grpId="0" nodeType="clickEffect">
                                  <p:stCondLst>
                                    <p:cond delay="0"/>
                                  </p:stCondLst>
                                  <p:childTnLst>
                                    <p:anim calcmode="lin" valueType="num">
                                      <p:cBhvr additive="base">
                                        <p:cTn id="69" dur="500"/>
                                        <p:tgtEl>
                                          <p:spTgt spid="18"/>
                                        </p:tgtEl>
                                        <p:attrNameLst>
                                          <p:attrName>ppt_x</p:attrName>
                                        </p:attrNameLst>
                                      </p:cBhvr>
                                      <p:tavLst>
                                        <p:tav tm="0">
                                          <p:val>
                                            <p:strVal val="ppt_x"/>
                                          </p:val>
                                        </p:tav>
                                        <p:tav tm="100000">
                                          <p:val>
                                            <p:strVal val="ppt_x"/>
                                          </p:val>
                                        </p:tav>
                                      </p:tavLst>
                                    </p:anim>
                                    <p:anim calcmode="lin" valueType="num">
                                      <p:cBhvr additive="base">
                                        <p:cTn id="70" dur="500"/>
                                        <p:tgtEl>
                                          <p:spTgt spid="18"/>
                                        </p:tgtEl>
                                        <p:attrNameLst>
                                          <p:attrName>ppt_y</p:attrName>
                                        </p:attrNameLst>
                                      </p:cBhvr>
                                      <p:tavLst>
                                        <p:tav tm="0">
                                          <p:val>
                                            <p:strVal val="ppt_y"/>
                                          </p:val>
                                        </p:tav>
                                        <p:tav tm="100000">
                                          <p:val>
                                            <p:strVal val="1+ppt_h/2"/>
                                          </p:val>
                                        </p:tav>
                                      </p:tavLst>
                                    </p:anim>
                                    <p:set>
                                      <p:cBhvr>
                                        <p:cTn id="71" dur="1" fill="hold">
                                          <p:stCondLst>
                                            <p:cond delay="499"/>
                                          </p:stCondLst>
                                        </p:cTn>
                                        <p:tgtEl>
                                          <p:spTgt spid="18"/>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 presetClass="exit" presetSubtype="4" fill="hold" grpId="0" nodeType="clickEffect">
                                  <p:stCondLst>
                                    <p:cond delay="0"/>
                                  </p:stCondLst>
                                  <p:childTnLst>
                                    <p:anim calcmode="lin" valueType="num">
                                      <p:cBhvr additive="base">
                                        <p:cTn id="75" dur="500"/>
                                        <p:tgtEl>
                                          <p:spTgt spid="19"/>
                                        </p:tgtEl>
                                        <p:attrNameLst>
                                          <p:attrName>ppt_x</p:attrName>
                                        </p:attrNameLst>
                                      </p:cBhvr>
                                      <p:tavLst>
                                        <p:tav tm="0">
                                          <p:val>
                                            <p:strVal val="ppt_x"/>
                                          </p:val>
                                        </p:tav>
                                        <p:tav tm="100000">
                                          <p:val>
                                            <p:strVal val="ppt_x"/>
                                          </p:val>
                                        </p:tav>
                                      </p:tavLst>
                                    </p:anim>
                                    <p:anim calcmode="lin" valueType="num">
                                      <p:cBhvr additive="base">
                                        <p:cTn id="76" dur="500"/>
                                        <p:tgtEl>
                                          <p:spTgt spid="19"/>
                                        </p:tgtEl>
                                        <p:attrNameLst>
                                          <p:attrName>ppt_y</p:attrName>
                                        </p:attrNameLst>
                                      </p:cBhvr>
                                      <p:tavLst>
                                        <p:tav tm="0">
                                          <p:val>
                                            <p:strVal val="ppt_y"/>
                                          </p:val>
                                        </p:tav>
                                        <p:tav tm="100000">
                                          <p:val>
                                            <p:strVal val="1+ppt_h/2"/>
                                          </p:val>
                                        </p:tav>
                                      </p:tavLst>
                                    </p:anim>
                                    <p:set>
                                      <p:cBhvr>
                                        <p:cTn id="77" dur="1" fill="hold">
                                          <p:stCondLst>
                                            <p:cond delay="499"/>
                                          </p:stCondLst>
                                        </p:cTn>
                                        <p:tgtEl>
                                          <p:spTgt spid="19"/>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 presetClass="exit" presetSubtype="4" fill="hold" grpId="0" nodeType="clickEffect">
                                  <p:stCondLst>
                                    <p:cond delay="0"/>
                                  </p:stCondLst>
                                  <p:childTnLst>
                                    <p:anim calcmode="lin" valueType="num">
                                      <p:cBhvr additive="base">
                                        <p:cTn id="81" dur="500"/>
                                        <p:tgtEl>
                                          <p:spTgt spid="12"/>
                                        </p:tgtEl>
                                        <p:attrNameLst>
                                          <p:attrName>ppt_x</p:attrName>
                                        </p:attrNameLst>
                                      </p:cBhvr>
                                      <p:tavLst>
                                        <p:tav tm="0">
                                          <p:val>
                                            <p:strVal val="ppt_x"/>
                                          </p:val>
                                        </p:tav>
                                        <p:tav tm="100000">
                                          <p:val>
                                            <p:strVal val="ppt_x"/>
                                          </p:val>
                                        </p:tav>
                                      </p:tavLst>
                                    </p:anim>
                                    <p:anim calcmode="lin" valueType="num">
                                      <p:cBhvr additive="base">
                                        <p:cTn id="82" dur="500"/>
                                        <p:tgtEl>
                                          <p:spTgt spid="12"/>
                                        </p:tgtEl>
                                        <p:attrNameLst>
                                          <p:attrName>ppt_y</p:attrName>
                                        </p:attrNameLst>
                                      </p:cBhvr>
                                      <p:tavLst>
                                        <p:tav tm="0">
                                          <p:val>
                                            <p:strVal val="ppt_y"/>
                                          </p:val>
                                        </p:tav>
                                        <p:tav tm="100000">
                                          <p:val>
                                            <p:strVal val="1+ppt_h/2"/>
                                          </p:val>
                                        </p:tav>
                                      </p:tavLst>
                                    </p:anim>
                                    <p:set>
                                      <p:cBhvr>
                                        <p:cTn id="83" dur="1" fill="hold">
                                          <p:stCondLst>
                                            <p:cond delay="499"/>
                                          </p:stCondLst>
                                        </p:cTn>
                                        <p:tgtEl>
                                          <p:spTgt spid="12"/>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2" presetClass="exit" presetSubtype="4" fill="hold" grpId="0" nodeType="clickEffect">
                                  <p:stCondLst>
                                    <p:cond delay="0"/>
                                  </p:stCondLst>
                                  <p:childTnLst>
                                    <p:anim calcmode="lin" valueType="num">
                                      <p:cBhvr additive="base">
                                        <p:cTn id="87" dur="500"/>
                                        <p:tgtEl>
                                          <p:spTgt spid="13"/>
                                        </p:tgtEl>
                                        <p:attrNameLst>
                                          <p:attrName>ppt_x</p:attrName>
                                        </p:attrNameLst>
                                      </p:cBhvr>
                                      <p:tavLst>
                                        <p:tav tm="0">
                                          <p:val>
                                            <p:strVal val="ppt_x"/>
                                          </p:val>
                                        </p:tav>
                                        <p:tav tm="100000">
                                          <p:val>
                                            <p:strVal val="ppt_x"/>
                                          </p:val>
                                        </p:tav>
                                      </p:tavLst>
                                    </p:anim>
                                    <p:anim calcmode="lin" valueType="num">
                                      <p:cBhvr additive="base">
                                        <p:cTn id="88" dur="500"/>
                                        <p:tgtEl>
                                          <p:spTgt spid="13"/>
                                        </p:tgtEl>
                                        <p:attrNameLst>
                                          <p:attrName>ppt_y</p:attrName>
                                        </p:attrNameLst>
                                      </p:cBhvr>
                                      <p:tavLst>
                                        <p:tav tm="0">
                                          <p:val>
                                            <p:strVal val="ppt_y"/>
                                          </p:val>
                                        </p:tav>
                                        <p:tav tm="100000">
                                          <p:val>
                                            <p:strVal val="1+ppt_h/2"/>
                                          </p:val>
                                        </p:tav>
                                      </p:tavLst>
                                    </p:anim>
                                    <p:set>
                                      <p:cBhvr>
                                        <p:cTn id="89" dur="1" fill="hold">
                                          <p:stCondLst>
                                            <p:cond delay="499"/>
                                          </p:stCondLst>
                                        </p:cTn>
                                        <p:tgtEl>
                                          <p:spTgt spid="13"/>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blinds(horizontal)">
                                      <p:cBhvr>
                                        <p:cTn id="94" dur="500"/>
                                        <p:tgtEl>
                                          <p:spTgt spid="2"/>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
                                            <p:txEl>
                                              <p:pRg st="6" end="6"/>
                                            </p:txEl>
                                          </p:spTgt>
                                        </p:tgtEl>
                                        <p:attrNameLst>
                                          <p:attrName>style.visibility</p:attrName>
                                        </p:attrNameLst>
                                      </p:cBhvr>
                                      <p:to>
                                        <p:strVal val="visible"/>
                                      </p:to>
                                    </p:set>
                                    <p:animEffect transition="in" filter="blinds(horizontal)">
                                      <p:cBhvr>
                                        <p:cTn id="99" dur="500"/>
                                        <p:tgtEl>
                                          <p:spTgt spid="3">
                                            <p:txEl>
                                              <p:pRg st="6" end="6"/>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nodeType="click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blinds(horizontal)">
                                      <p:cBhvr>
                                        <p:cTn id="104" dur="500"/>
                                        <p:tgtEl>
                                          <p:spTgt spid="6"/>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3">
                                            <p:txEl>
                                              <p:pRg st="7" end="7"/>
                                            </p:txEl>
                                          </p:spTgt>
                                        </p:tgtEl>
                                        <p:attrNameLst>
                                          <p:attrName>style.visibility</p:attrName>
                                        </p:attrNameLst>
                                      </p:cBhvr>
                                      <p:to>
                                        <p:strVal val="visible"/>
                                      </p:to>
                                    </p:set>
                                    <p:animEffect transition="in" filter="blinds(horizontal)">
                                      <p:cBhvr>
                                        <p:cTn id="109" dur="500"/>
                                        <p:tgtEl>
                                          <p:spTgt spid="3">
                                            <p:txEl>
                                              <p:pRg st="7" end="7"/>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blinds(horizontal)">
                                      <p:cBhvr>
                                        <p:cTn id="114" dur="500"/>
                                        <p:tgtEl>
                                          <p:spTgt spid="39"/>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3">
                                            <p:txEl>
                                              <p:pRg st="8" end="8"/>
                                            </p:txEl>
                                          </p:spTgt>
                                        </p:tgtEl>
                                        <p:attrNameLst>
                                          <p:attrName>style.visibility</p:attrName>
                                        </p:attrNameLst>
                                      </p:cBhvr>
                                      <p:to>
                                        <p:strVal val="visible"/>
                                      </p:to>
                                    </p:set>
                                    <p:animEffect transition="in" filter="blinds(horizontal)">
                                      <p:cBhvr>
                                        <p:cTn id="119" dur="500"/>
                                        <p:tgtEl>
                                          <p:spTgt spid="3">
                                            <p:txEl>
                                              <p:pRg st="8" end="8"/>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20"/>
                                        </p:tgtEl>
                                        <p:attrNameLst>
                                          <p:attrName>style.visibility</p:attrName>
                                        </p:attrNameLst>
                                      </p:cBhvr>
                                      <p:to>
                                        <p:strVal val="visible"/>
                                      </p:to>
                                    </p:set>
                                    <p:animEffect transition="in" filter="blinds(horizontal)">
                                      <p:cBhvr>
                                        <p:cTn id="124" dur="500"/>
                                        <p:tgtEl>
                                          <p:spTgt spid="20"/>
                                        </p:tgtEl>
                                      </p:cBhvr>
                                    </p:animEffect>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0" nodeType="clickEffect">
                                  <p:stCondLst>
                                    <p:cond delay="0"/>
                                  </p:stCondLst>
                                  <p:childTnLst>
                                    <p:anim calcmode="lin" valueType="num">
                                      <p:cBhvr additive="base">
                                        <p:cTn id="128" dur="500"/>
                                        <p:tgtEl>
                                          <p:spTgt spid="37"/>
                                        </p:tgtEl>
                                        <p:attrNameLst>
                                          <p:attrName>ppt_x</p:attrName>
                                        </p:attrNameLst>
                                      </p:cBhvr>
                                      <p:tavLst>
                                        <p:tav tm="0">
                                          <p:val>
                                            <p:strVal val="ppt_x"/>
                                          </p:val>
                                        </p:tav>
                                        <p:tav tm="100000">
                                          <p:val>
                                            <p:strVal val="ppt_x"/>
                                          </p:val>
                                        </p:tav>
                                      </p:tavLst>
                                    </p:anim>
                                    <p:anim calcmode="lin" valueType="num">
                                      <p:cBhvr additive="base">
                                        <p:cTn id="129" dur="500"/>
                                        <p:tgtEl>
                                          <p:spTgt spid="37"/>
                                        </p:tgtEl>
                                        <p:attrNameLst>
                                          <p:attrName>ppt_y</p:attrName>
                                        </p:attrNameLst>
                                      </p:cBhvr>
                                      <p:tavLst>
                                        <p:tav tm="0">
                                          <p:val>
                                            <p:strVal val="ppt_y"/>
                                          </p:val>
                                        </p:tav>
                                        <p:tav tm="100000">
                                          <p:val>
                                            <p:strVal val="1+ppt_h/2"/>
                                          </p:val>
                                        </p:tav>
                                      </p:tavLst>
                                    </p:anim>
                                    <p:set>
                                      <p:cBhvr>
                                        <p:cTn id="130" dur="1" fill="hold">
                                          <p:stCondLst>
                                            <p:cond delay="499"/>
                                          </p:stCondLst>
                                        </p:cTn>
                                        <p:tgtEl>
                                          <p:spTgt spid="37"/>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2" presetClass="exit" presetSubtype="4" fill="hold" grpId="0" nodeType="clickEffect">
                                  <p:stCondLst>
                                    <p:cond delay="0"/>
                                  </p:stCondLst>
                                  <p:childTnLst>
                                    <p:anim calcmode="lin" valueType="num">
                                      <p:cBhvr additive="base">
                                        <p:cTn id="134" dur="500"/>
                                        <p:tgtEl>
                                          <p:spTgt spid="38"/>
                                        </p:tgtEl>
                                        <p:attrNameLst>
                                          <p:attrName>ppt_x</p:attrName>
                                        </p:attrNameLst>
                                      </p:cBhvr>
                                      <p:tavLst>
                                        <p:tav tm="0">
                                          <p:val>
                                            <p:strVal val="ppt_x"/>
                                          </p:val>
                                        </p:tav>
                                        <p:tav tm="100000">
                                          <p:val>
                                            <p:strVal val="ppt_x"/>
                                          </p:val>
                                        </p:tav>
                                      </p:tavLst>
                                    </p:anim>
                                    <p:anim calcmode="lin" valueType="num">
                                      <p:cBhvr additive="base">
                                        <p:cTn id="135" dur="500"/>
                                        <p:tgtEl>
                                          <p:spTgt spid="38"/>
                                        </p:tgtEl>
                                        <p:attrNameLst>
                                          <p:attrName>ppt_y</p:attrName>
                                        </p:attrNameLst>
                                      </p:cBhvr>
                                      <p:tavLst>
                                        <p:tav tm="0">
                                          <p:val>
                                            <p:strVal val="ppt_y"/>
                                          </p:val>
                                        </p:tav>
                                        <p:tav tm="100000">
                                          <p:val>
                                            <p:strVal val="1+ppt_h/2"/>
                                          </p:val>
                                        </p:tav>
                                      </p:tavLst>
                                    </p:anim>
                                    <p:set>
                                      <p:cBhvr>
                                        <p:cTn id="136"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1" grpId="0" uiExpand="1" animBg="1"/>
      <p:bldP spid="12" grpId="0" uiExpand="1" animBg="1"/>
      <p:bldP spid="13" grpId="0" uiExpand="1" animBg="1"/>
      <p:bldP spid="14" grpId="0" uiExpand="1" animBg="1"/>
      <p:bldP spid="15" grpId="0" uiExpand="1" animBg="1"/>
      <p:bldP spid="16" grpId="0" uiExpand="1" animBg="1"/>
      <p:bldP spid="17" grpId="0" uiExpand="1" animBg="1"/>
      <p:bldP spid="18" grpId="0" uiExpand="1" animBg="1"/>
      <p:bldP spid="19" grpId="0" uiExpand="1" animBg="1"/>
      <p:bldP spid="37" grpId="0" animBg="1"/>
      <p:bldP spid="38" grpId="0" animBg="1"/>
      <p:bldP spid="3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202485"/>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838200"/>
            <a:ext cx="8077200" cy="5562600"/>
          </a:xfrm>
        </p:spPr>
        <p:txBody>
          <a:bodyPr>
            <a:noAutofit/>
          </a:bodyPr>
          <a:lstStyle/>
          <a:p>
            <a:pPr marL="0" indent="0">
              <a:buNone/>
            </a:pPr>
            <a:r>
              <a:rPr lang="en-US" altLang="zh-CN" sz="3000" dirty="0" smtClean="0"/>
              <a:t>2.(1)		      H</a:t>
            </a:r>
            <a:r>
              <a:rPr lang="en-US" altLang="zh-CN" sz="3000" baseline="-25000" dirty="0" smtClean="0"/>
              <a:t>2</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0.01	0.01		0 	   </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0.002	0.002		0.004</a:t>
            </a:r>
          </a:p>
          <a:p>
            <a:pPr>
              <a:buNone/>
            </a:pPr>
            <a:r>
              <a:rPr lang="en-US" altLang="zh-CN" sz="3000" dirty="0" smtClean="0"/>
              <a:t>[</a:t>
            </a:r>
            <a:r>
              <a:rPr lang="zh-CN" altLang="en-US" sz="3000" dirty="0"/>
              <a:t>平衡</a:t>
            </a:r>
            <a:r>
              <a:rPr lang="en-US" altLang="zh-CN" sz="3000" dirty="0" smtClean="0"/>
              <a:t>](mol/L)  0.008	0.008		0.004 	   </a:t>
            </a:r>
          </a:p>
          <a:p>
            <a:pPr>
              <a:buNone/>
            </a:pPr>
            <a:endParaRPr lang="en-US" altLang="zh-CN" sz="3000" dirty="0" smtClean="0"/>
          </a:p>
          <a:p>
            <a:pPr>
              <a:buNone/>
            </a:pPr>
            <a:endParaRPr lang="en-US" altLang="zh-CN" sz="3000" dirty="0" smtClean="0"/>
          </a:p>
          <a:p>
            <a:pPr>
              <a:buNone/>
            </a:pPr>
            <a:r>
              <a:rPr lang="en-US" altLang="zh-CN" sz="3000" dirty="0" smtClean="0"/>
              <a:t>			  	 =</a:t>
            </a:r>
          </a:p>
          <a:p>
            <a:pPr>
              <a:lnSpc>
                <a:spcPct val="150000"/>
              </a:lnSpc>
              <a:buNone/>
            </a:pPr>
            <a:r>
              <a:rPr lang="en-US" altLang="zh-CN" sz="3000" dirty="0"/>
              <a:t>	</a:t>
            </a:r>
            <a:r>
              <a:rPr lang="en-US" altLang="zh-CN" sz="3000" dirty="0" smtClean="0"/>
              <a:t>			 =  0.25</a:t>
            </a:r>
          </a:p>
        </p:txBody>
      </p:sp>
      <p:sp>
        <p:nvSpPr>
          <p:cNvPr id="8" name="Rounded Rectangle 7"/>
          <p:cNvSpPr/>
          <p:nvPr/>
        </p:nvSpPr>
        <p:spPr>
          <a:xfrm>
            <a:off x="2895600" y="13716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672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43600" y="13716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6019800" y="26670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114800" y="1981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819400" y="2590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819400" y="1981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6019800" y="20574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2590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3" y="2971801"/>
            <a:ext cx="3309577" cy="990599"/>
            <a:chOff x="2068535" y="1410711"/>
            <a:chExt cx="2463331" cy="1194375"/>
          </a:xfrm>
        </p:grpSpPr>
        <p:grpSp>
          <p:nvGrpSpPr>
            <p:cNvPr id="6" name="Group 24"/>
            <p:cNvGrpSpPr/>
            <p:nvPr/>
          </p:nvGrpSpPr>
          <p:grpSpPr>
            <a:xfrm>
              <a:off x="2068535" y="1410711"/>
              <a:ext cx="2463331" cy="889575"/>
              <a:chOff x="2068535" y="1410711"/>
              <a:chExt cx="246333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24" name="TextBox 5"/>
            <p:cNvSpPr txBox="1"/>
            <p:nvPr/>
          </p:nvSpPr>
          <p:spPr>
            <a:xfrm>
              <a:off x="2609165" y="2020311"/>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3505198" y="3962400"/>
            <a:ext cx="3886202" cy="965775"/>
            <a:chOff x="3493605" y="1421487"/>
            <a:chExt cx="1004452" cy="965775"/>
          </a:xfrm>
        </p:grpSpPr>
        <p:grpSp>
          <p:nvGrpSpPr>
            <p:cNvPr id="20"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a:t>
                </a:r>
                <a:r>
                  <a:rPr lang="en-US" altLang="zh-CN" sz="3200" dirty="0" smtClean="0"/>
                  <a:t>0.004</a:t>
                </a:r>
                <a:r>
                  <a:rPr lang="en-US" sz="3200" dirty="0" smtClean="0"/>
                  <a:t>)</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(0.008)(0.008)</a:t>
              </a:r>
              <a:endParaRPr lang="en-US" sz="3200" dirty="0"/>
            </a:p>
          </p:txBody>
        </p:sp>
      </p:gr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9"/>
                                        </p:tgtEl>
                                        <p:attrNameLst>
                                          <p:attrName>ppt_x</p:attrName>
                                        </p:attrNameLst>
                                      </p:cBhvr>
                                      <p:tavLst>
                                        <p:tav tm="0">
                                          <p:val>
                                            <p:strVal val="ppt_x"/>
                                          </p:val>
                                        </p:tav>
                                        <p:tav tm="100000">
                                          <p:val>
                                            <p:strVal val="ppt_x"/>
                                          </p:val>
                                        </p:tav>
                                      </p:tavLst>
                                    </p:anim>
                                    <p:anim calcmode="lin" valueType="num">
                                      <p:cBhvr additive="base">
                                        <p:cTn id="33" dur="500"/>
                                        <p:tgtEl>
                                          <p:spTgt spid="9"/>
                                        </p:tgtEl>
                                        <p:attrNameLst>
                                          <p:attrName>ppt_y</p:attrName>
                                        </p:attrNameLst>
                                      </p:cBhvr>
                                      <p:tavLst>
                                        <p:tav tm="0">
                                          <p:val>
                                            <p:strVal val="ppt_y"/>
                                          </p:val>
                                        </p:tav>
                                        <p:tav tm="100000">
                                          <p:val>
                                            <p:strVal val="1+ppt_h/2"/>
                                          </p:val>
                                        </p:tav>
                                      </p:tavLst>
                                    </p:anim>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0"/>
                                        </p:tgtEl>
                                        <p:attrNameLst>
                                          <p:attrName>ppt_x</p:attrName>
                                        </p:attrNameLst>
                                      </p:cBhvr>
                                      <p:tavLst>
                                        <p:tav tm="0">
                                          <p:val>
                                            <p:strVal val="ppt_x"/>
                                          </p:val>
                                        </p:tav>
                                        <p:tav tm="100000">
                                          <p:val>
                                            <p:strVal val="ppt_x"/>
                                          </p:val>
                                        </p:tav>
                                      </p:tavLst>
                                    </p:anim>
                                    <p:anim calcmode="lin" valueType="num">
                                      <p:cBhvr additive="base">
                                        <p:cTn id="39" dur="500"/>
                                        <p:tgtEl>
                                          <p:spTgt spid="10"/>
                                        </p:tgtEl>
                                        <p:attrNameLst>
                                          <p:attrName>ppt_y</p:attrName>
                                        </p:attrNameLst>
                                      </p:cBhvr>
                                      <p:tavLst>
                                        <p:tav tm="0">
                                          <p:val>
                                            <p:strVal val="ppt_y"/>
                                          </p:val>
                                        </p:tav>
                                        <p:tav tm="100000">
                                          <p:val>
                                            <p:strVal val="1+ppt_h/2"/>
                                          </p:val>
                                        </p:tav>
                                      </p:tavLst>
                                    </p:anim>
                                    <p:set>
                                      <p:cBhvr>
                                        <p:cTn id="40" dur="1" fill="hold">
                                          <p:stCondLst>
                                            <p:cond delay="499"/>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16"/>
                                        </p:tgtEl>
                                        <p:attrNameLst>
                                          <p:attrName>ppt_x</p:attrName>
                                        </p:attrNameLst>
                                      </p:cBhvr>
                                      <p:tavLst>
                                        <p:tav tm="0">
                                          <p:val>
                                            <p:strVal val="ppt_x"/>
                                          </p:val>
                                        </p:tav>
                                        <p:tav tm="100000">
                                          <p:val>
                                            <p:strVal val="ppt_x"/>
                                          </p:val>
                                        </p:tav>
                                      </p:tavLst>
                                    </p:anim>
                                    <p:anim calcmode="lin" valueType="num">
                                      <p:cBhvr additive="base">
                                        <p:cTn id="45" dur="500"/>
                                        <p:tgtEl>
                                          <p:spTgt spid="16"/>
                                        </p:tgtEl>
                                        <p:attrNameLst>
                                          <p:attrName>ppt_y</p:attrName>
                                        </p:attrNameLst>
                                      </p:cBhvr>
                                      <p:tavLst>
                                        <p:tav tm="0">
                                          <p:val>
                                            <p:strVal val="ppt_y"/>
                                          </p:val>
                                        </p:tav>
                                        <p:tav tm="100000">
                                          <p:val>
                                            <p:strVal val="1+ppt_h/2"/>
                                          </p:val>
                                        </p:tav>
                                      </p:tavLst>
                                    </p:anim>
                                    <p:set>
                                      <p:cBhvr>
                                        <p:cTn id="46" dur="1" fill="hold">
                                          <p:stCondLst>
                                            <p:cond delay="499"/>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0" nodeType="clickEffect">
                                  <p:stCondLst>
                                    <p:cond delay="0"/>
                                  </p:stCondLst>
                                  <p:childTnLst>
                                    <p:anim calcmode="lin" valueType="num">
                                      <p:cBhvr additive="base">
                                        <p:cTn id="50" dur="500"/>
                                        <p:tgtEl>
                                          <p:spTgt spid="17"/>
                                        </p:tgtEl>
                                        <p:attrNameLst>
                                          <p:attrName>ppt_x</p:attrName>
                                        </p:attrNameLst>
                                      </p:cBhvr>
                                      <p:tavLst>
                                        <p:tav tm="0">
                                          <p:val>
                                            <p:strVal val="ppt_x"/>
                                          </p:val>
                                        </p:tav>
                                        <p:tav tm="100000">
                                          <p:val>
                                            <p:strVal val="ppt_x"/>
                                          </p:val>
                                        </p:tav>
                                      </p:tavLst>
                                    </p:anim>
                                    <p:anim calcmode="lin" valueType="num">
                                      <p:cBhvr additive="base">
                                        <p:cTn id="51" dur="500"/>
                                        <p:tgtEl>
                                          <p:spTgt spid="17"/>
                                        </p:tgtEl>
                                        <p:attrNameLst>
                                          <p:attrName>ppt_y</p:attrName>
                                        </p:attrNameLst>
                                      </p:cBhvr>
                                      <p:tavLst>
                                        <p:tav tm="0">
                                          <p:val>
                                            <p:strVal val="ppt_y"/>
                                          </p:val>
                                        </p:tav>
                                        <p:tav tm="100000">
                                          <p:val>
                                            <p:strVal val="1+ppt_h/2"/>
                                          </p:val>
                                        </p:tav>
                                      </p:tavLst>
                                    </p:anim>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grpId="0" nodeType="clickEffect">
                                  <p:stCondLst>
                                    <p:cond delay="0"/>
                                  </p:stCondLst>
                                  <p:childTnLst>
                                    <p:anim calcmode="lin" valueType="num">
                                      <p:cBhvr additive="base">
                                        <p:cTn id="56" dur="500"/>
                                        <p:tgtEl>
                                          <p:spTgt spid="14"/>
                                        </p:tgtEl>
                                        <p:attrNameLst>
                                          <p:attrName>ppt_x</p:attrName>
                                        </p:attrNameLst>
                                      </p:cBhvr>
                                      <p:tavLst>
                                        <p:tav tm="0">
                                          <p:val>
                                            <p:strVal val="ppt_x"/>
                                          </p:val>
                                        </p:tav>
                                        <p:tav tm="100000">
                                          <p:val>
                                            <p:strVal val="ppt_x"/>
                                          </p:val>
                                        </p:tav>
                                      </p:tavLst>
                                    </p:anim>
                                    <p:anim calcmode="lin" valueType="num">
                                      <p:cBhvr additive="base">
                                        <p:cTn id="57" dur="500"/>
                                        <p:tgtEl>
                                          <p:spTgt spid="14"/>
                                        </p:tgtEl>
                                        <p:attrNameLst>
                                          <p:attrName>ppt_y</p:attrName>
                                        </p:attrNameLst>
                                      </p:cBhvr>
                                      <p:tavLst>
                                        <p:tav tm="0">
                                          <p:val>
                                            <p:strVal val="ppt_y"/>
                                          </p:val>
                                        </p:tav>
                                        <p:tav tm="100000">
                                          <p:val>
                                            <p:strVal val="1+ppt_h/2"/>
                                          </p:val>
                                        </p:tav>
                                      </p:tavLst>
                                    </p:anim>
                                    <p:set>
                                      <p:cBhvr>
                                        <p:cTn id="58" dur="1" fill="hold">
                                          <p:stCondLst>
                                            <p:cond delay="499"/>
                                          </p:stCondLst>
                                        </p:cTn>
                                        <p:tgtEl>
                                          <p:spTgt spid="1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grpId="0" nodeType="clickEffect">
                                  <p:stCondLst>
                                    <p:cond delay="0"/>
                                  </p:stCondLst>
                                  <p:childTnLst>
                                    <p:anim calcmode="lin" valueType="num">
                                      <p:cBhvr additive="base">
                                        <p:cTn id="62" dur="500"/>
                                        <p:tgtEl>
                                          <p:spTgt spid="18"/>
                                        </p:tgtEl>
                                        <p:attrNameLst>
                                          <p:attrName>ppt_x</p:attrName>
                                        </p:attrNameLst>
                                      </p:cBhvr>
                                      <p:tavLst>
                                        <p:tav tm="0">
                                          <p:val>
                                            <p:strVal val="ppt_x"/>
                                          </p:val>
                                        </p:tav>
                                        <p:tav tm="100000">
                                          <p:val>
                                            <p:strVal val="ppt_x"/>
                                          </p:val>
                                        </p:tav>
                                      </p:tavLst>
                                    </p:anim>
                                    <p:anim calcmode="lin" valueType="num">
                                      <p:cBhvr additive="base">
                                        <p:cTn id="63" dur="500"/>
                                        <p:tgtEl>
                                          <p:spTgt spid="18"/>
                                        </p:tgtEl>
                                        <p:attrNameLst>
                                          <p:attrName>ppt_y</p:attrName>
                                        </p:attrNameLst>
                                      </p:cBhvr>
                                      <p:tavLst>
                                        <p:tav tm="0">
                                          <p:val>
                                            <p:strVal val="ppt_y"/>
                                          </p:val>
                                        </p:tav>
                                        <p:tav tm="100000">
                                          <p:val>
                                            <p:strVal val="1+ppt_h/2"/>
                                          </p:val>
                                        </p:tav>
                                      </p:tavLst>
                                    </p:anim>
                                    <p:set>
                                      <p:cBhvr>
                                        <p:cTn id="64" dur="1" fill="hold">
                                          <p:stCondLst>
                                            <p:cond delay="499"/>
                                          </p:stCondLst>
                                        </p:cTn>
                                        <p:tgtEl>
                                          <p:spTgt spid="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grpId="0" nodeType="clickEffect">
                                  <p:stCondLst>
                                    <p:cond delay="0"/>
                                  </p:stCondLst>
                                  <p:childTnLst>
                                    <p:anim calcmode="lin" valueType="num">
                                      <p:cBhvr additive="base">
                                        <p:cTn id="68" dur="500"/>
                                        <p:tgtEl>
                                          <p:spTgt spid="19"/>
                                        </p:tgtEl>
                                        <p:attrNameLst>
                                          <p:attrName>ppt_x</p:attrName>
                                        </p:attrNameLst>
                                      </p:cBhvr>
                                      <p:tavLst>
                                        <p:tav tm="0">
                                          <p:val>
                                            <p:strVal val="ppt_x"/>
                                          </p:val>
                                        </p:tav>
                                        <p:tav tm="100000">
                                          <p:val>
                                            <p:strVal val="ppt_x"/>
                                          </p:val>
                                        </p:tav>
                                      </p:tavLst>
                                    </p:anim>
                                    <p:anim calcmode="lin" valueType="num">
                                      <p:cBhvr additive="base">
                                        <p:cTn id="69" dur="500"/>
                                        <p:tgtEl>
                                          <p:spTgt spid="19"/>
                                        </p:tgtEl>
                                        <p:attrNameLst>
                                          <p:attrName>ppt_y</p:attrName>
                                        </p:attrNameLst>
                                      </p:cBhvr>
                                      <p:tavLst>
                                        <p:tav tm="0">
                                          <p:val>
                                            <p:strVal val="ppt_y"/>
                                          </p:val>
                                        </p:tav>
                                        <p:tav tm="100000">
                                          <p:val>
                                            <p:strVal val="1+ppt_h/2"/>
                                          </p:val>
                                        </p:tav>
                                      </p:tavLst>
                                    </p:anim>
                                    <p:set>
                                      <p:cBhvr>
                                        <p:cTn id="70" dur="1" fill="hold">
                                          <p:stCondLst>
                                            <p:cond delay="499"/>
                                          </p:stCondLst>
                                        </p:cTn>
                                        <p:tgtEl>
                                          <p:spTgt spid="1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 presetClass="exit" presetSubtype="4" fill="hold" grpId="0" nodeType="clickEffect">
                                  <p:stCondLst>
                                    <p:cond delay="0"/>
                                  </p:stCondLst>
                                  <p:childTnLst>
                                    <p:anim calcmode="lin" valueType="num">
                                      <p:cBhvr additive="base">
                                        <p:cTn id="74" dur="500"/>
                                        <p:tgtEl>
                                          <p:spTgt spid="12"/>
                                        </p:tgtEl>
                                        <p:attrNameLst>
                                          <p:attrName>ppt_x</p:attrName>
                                        </p:attrNameLst>
                                      </p:cBhvr>
                                      <p:tavLst>
                                        <p:tav tm="0">
                                          <p:val>
                                            <p:strVal val="ppt_x"/>
                                          </p:val>
                                        </p:tav>
                                        <p:tav tm="100000">
                                          <p:val>
                                            <p:strVal val="ppt_x"/>
                                          </p:val>
                                        </p:tav>
                                      </p:tavLst>
                                    </p:anim>
                                    <p:anim calcmode="lin" valueType="num">
                                      <p:cBhvr additive="base">
                                        <p:cTn id="75" dur="500"/>
                                        <p:tgtEl>
                                          <p:spTgt spid="12"/>
                                        </p:tgtEl>
                                        <p:attrNameLst>
                                          <p:attrName>ppt_y</p:attrName>
                                        </p:attrNameLst>
                                      </p:cBhvr>
                                      <p:tavLst>
                                        <p:tav tm="0">
                                          <p:val>
                                            <p:strVal val="ppt_y"/>
                                          </p:val>
                                        </p:tav>
                                        <p:tav tm="100000">
                                          <p:val>
                                            <p:strVal val="1+ppt_h/2"/>
                                          </p:val>
                                        </p:tav>
                                      </p:tavLst>
                                    </p:anim>
                                    <p:set>
                                      <p:cBhvr>
                                        <p:cTn id="76" dur="1" fill="hold">
                                          <p:stCondLst>
                                            <p:cond delay="499"/>
                                          </p:stCondLst>
                                        </p:cTn>
                                        <p:tgtEl>
                                          <p:spTgt spid="12"/>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blinds(horizontal)">
                                      <p:cBhvr>
                                        <p:cTn id="81" dur="5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
                                            <p:txEl>
                                              <p:pRg st="6" end="6"/>
                                            </p:txEl>
                                          </p:spTgt>
                                        </p:tgtEl>
                                        <p:attrNameLst>
                                          <p:attrName>style.visibility</p:attrName>
                                        </p:attrNameLst>
                                      </p:cBhvr>
                                      <p:to>
                                        <p:strVal val="visible"/>
                                      </p:to>
                                    </p:set>
                                    <p:animEffect transition="in" filter="blinds(horizontal)">
                                      <p:cBhvr>
                                        <p:cTn id="86" dur="500"/>
                                        <p:tgtEl>
                                          <p:spTgt spid="3">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blinds(horizontal)">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
                                            <p:txEl>
                                              <p:pRg st="7" end="7"/>
                                            </p:txEl>
                                          </p:spTgt>
                                        </p:tgtEl>
                                        <p:attrNameLst>
                                          <p:attrName>style.visibility</p:attrName>
                                        </p:attrNameLst>
                                      </p:cBhvr>
                                      <p:to>
                                        <p:strVal val="visible"/>
                                      </p:to>
                                    </p:set>
                                    <p:animEffect transition="in" filter="blinds(horizontal)">
                                      <p:cBhvr>
                                        <p:cTn id="9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202485"/>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838200"/>
            <a:ext cx="8077200" cy="5562600"/>
          </a:xfrm>
        </p:spPr>
        <p:txBody>
          <a:bodyPr>
            <a:noAutofit/>
          </a:bodyPr>
          <a:lstStyle/>
          <a:p>
            <a:pPr marL="0" indent="0">
              <a:buNone/>
            </a:pPr>
            <a:r>
              <a:rPr lang="en-US" altLang="zh-CN" sz="3000" dirty="0" smtClean="0"/>
              <a:t>2.(2)		      H</a:t>
            </a:r>
            <a:r>
              <a:rPr lang="en-US" altLang="zh-CN" sz="3000" baseline="-25000" dirty="0" smtClean="0"/>
              <a:t>2</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0.2	0.2		0 	   </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a:t>x</a:t>
            </a:r>
            <a:r>
              <a:rPr lang="en-US" altLang="zh-CN" sz="3000" dirty="0" smtClean="0"/>
              <a:t>		2x	   </a:t>
            </a:r>
          </a:p>
          <a:p>
            <a:pPr>
              <a:buNone/>
            </a:pPr>
            <a:r>
              <a:rPr lang="en-US" altLang="zh-CN" sz="3000" dirty="0" smtClean="0"/>
              <a:t>[</a:t>
            </a:r>
            <a:r>
              <a:rPr lang="zh-CN" altLang="en-US" sz="3000" dirty="0"/>
              <a:t>平衡</a:t>
            </a:r>
            <a:r>
              <a:rPr lang="en-US" altLang="zh-CN" sz="3000" dirty="0" smtClean="0"/>
              <a:t>](mol/L)  0.2-x 	</a:t>
            </a:r>
            <a:r>
              <a:rPr lang="en-US" altLang="zh-CN" sz="3000" dirty="0" err="1" smtClean="0"/>
              <a:t>0.2-x</a:t>
            </a:r>
            <a:r>
              <a:rPr lang="en-US" altLang="zh-CN" sz="3000" dirty="0" smtClean="0"/>
              <a:t>   	2x</a:t>
            </a:r>
          </a:p>
          <a:p>
            <a:pPr>
              <a:buNone/>
            </a:pPr>
            <a:endParaRPr lang="en-US" altLang="zh-CN" sz="3000" dirty="0" smtClean="0"/>
          </a:p>
          <a:p>
            <a:pPr>
              <a:buNone/>
            </a:pPr>
            <a:endParaRPr lang="en-US" altLang="zh-CN" sz="3000" dirty="0" smtClean="0"/>
          </a:p>
          <a:p>
            <a:pPr>
              <a:buNone/>
            </a:pPr>
            <a:r>
              <a:rPr lang="en-US" altLang="zh-CN" sz="3000" dirty="0" smtClean="0"/>
              <a:t>			  0.25	 =</a:t>
            </a:r>
          </a:p>
          <a:p>
            <a:pPr>
              <a:lnSpc>
                <a:spcPct val="150000"/>
              </a:lnSpc>
              <a:buNone/>
            </a:pPr>
            <a:r>
              <a:rPr lang="en-US" altLang="zh-CN" sz="3000" dirty="0"/>
              <a:t>	</a:t>
            </a:r>
            <a:r>
              <a:rPr lang="en-US" altLang="zh-CN" sz="3000" dirty="0" smtClean="0"/>
              <a:t>			x =  0.04</a:t>
            </a:r>
          </a:p>
          <a:p>
            <a:pPr>
              <a:lnSpc>
                <a:spcPct val="150000"/>
              </a:lnSpc>
              <a:buNone/>
            </a:pPr>
            <a:r>
              <a:rPr lang="zh-CN" altLang="en-US" sz="3000" dirty="0"/>
              <a:t>平衡</a:t>
            </a:r>
            <a:r>
              <a:rPr lang="zh-CN" altLang="en-US" sz="3000" dirty="0" smtClean="0"/>
              <a:t>时</a:t>
            </a:r>
            <a:r>
              <a:rPr lang="en-US" altLang="zh-CN" sz="3000" dirty="0" smtClean="0"/>
              <a:t>[H</a:t>
            </a:r>
            <a:r>
              <a:rPr lang="en-US" altLang="zh-CN" sz="3000" baseline="-25000" dirty="0" smtClean="0"/>
              <a:t>2</a:t>
            </a:r>
            <a:r>
              <a:rPr lang="en-US" altLang="zh-CN" sz="3000" dirty="0" smtClean="0"/>
              <a:t>]=0.16M</a:t>
            </a:r>
            <a:r>
              <a:rPr lang="zh-CN" altLang="en-US" sz="3000" dirty="0" smtClean="0"/>
              <a:t>、</a:t>
            </a:r>
            <a:r>
              <a:rPr lang="en-US" altLang="zh-CN" sz="3000" dirty="0" smtClean="0"/>
              <a:t>[I</a:t>
            </a:r>
            <a:r>
              <a:rPr lang="en-US" altLang="zh-CN" sz="3000" baseline="-25000" dirty="0" smtClean="0"/>
              <a:t>2</a:t>
            </a:r>
            <a:r>
              <a:rPr lang="en-US" altLang="zh-CN" sz="3000" dirty="0" smtClean="0"/>
              <a:t>] = 0.16M</a:t>
            </a:r>
            <a:r>
              <a:rPr lang="zh-CN" altLang="en-US" sz="3000" dirty="0" smtClean="0"/>
              <a:t>、</a:t>
            </a:r>
            <a:r>
              <a:rPr lang="en-US" altLang="zh-CN" sz="3000" dirty="0" smtClean="0"/>
              <a:t>[HI]=0.08M</a:t>
            </a:r>
          </a:p>
        </p:txBody>
      </p:sp>
      <p:sp>
        <p:nvSpPr>
          <p:cNvPr id="8" name="Rounded Rectangle 7"/>
          <p:cNvSpPr/>
          <p:nvPr/>
        </p:nvSpPr>
        <p:spPr>
          <a:xfrm>
            <a:off x="28194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1910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791200" y="1447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791200" y="25146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791200" y="1981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819400" y="2057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14800" y="19812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743200" y="25908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14800" y="2590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3" y="2971801"/>
            <a:ext cx="3309577" cy="990599"/>
            <a:chOff x="2068535" y="1410711"/>
            <a:chExt cx="2463331" cy="1194375"/>
          </a:xfrm>
        </p:grpSpPr>
        <p:grpSp>
          <p:nvGrpSpPr>
            <p:cNvPr id="6" name="Group 24"/>
            <p:cNvGrpSpPr/>
            <p:nvPr/>
          </p:nvGrpSpPr>
          <p:grpSpPr>
            <a:xfrm>
              <a:off x="2068535" y="1410711"/>
              <a:ext cx="2463331" cy="889575"/>
              <a:chOff x="2068535" y="1410711"/>
              <a:chExt cx="246333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24" name="TextBox 5"/>
            <p:cNvSpPr txBox="1"/>
            <p:nvPr/>
          </p:nvSpPr>
          <p:spPr>
            <a:xfrm>
              <a:off x="2609165" y="2020311"/>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3505198" y="3962400"/>
            <a:ext cx="3886202" cy="965775"/>
            <a:chOff x="3493605" y="1421487"/>
            <a:chExt cx="1004452" cy="965775"/>
          </a:xfrm>
        </p:grpSpPr>
        <p:grpSp>
          <p:nvGrpSpPr>
            <p:cNvPr id="11"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(2x)</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(0.2-x)(0.2-x)</a:t>
              </a:r>
              <a:endParaRPr lang="en-US" sz="3200" dirty="0"/>
            </a:p>
          </p:txBody>
        </p:sp>
      </p:grpSp>
      <p:sp>
        <p:nvSpPr>
          <p:cNvPr id="28" name="Rounded Rectangle 27"/>
          <p:cNvSpPr/>
          <p:nvPr/>
        </p:nvSpPr>
        <p:spPr>
          <a:xfrm>
            <a:off x="2514600" y="5638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4724400" y="5638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6858000" y="56388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9"/>
                                        </p:tgtEl>
                                        <p:attrNameLst>
                                          <p:attrName>ppt_x</p:attrName>
                                        </p:attrNameLst>
                                      </p:cBhvr>
                                      <p:tavLst>
                                        <p:tav tm="0">
                                          <p:val>
                                            <p:strVal val="ppt_x"/>
                                          </p:val>
                                        </p:tav>
                                        <p:tav tm="100000">
                                          <p:val>
                                            <p:strVal val="ppt_x"/>
                                          </p:val>
                                        </p:tav>
                                      </p:tavLst>
                                    </p:anim>
                                    <p:anim calcmode="lin" valueType="num">
                                      <p:cBhvr additive="base">
                                        <p:cTn id="33" dur="500"/>
                                        <p:tgtEl>
                                          <p:spTgt spid="9"/>
                                        </p:tgtEl>
                                        <p:attrNameLst>
                                          <p:attrName>ppt_y</p:attrName>
                                        </p:attrNameLst>
                                      </p:cBhvr>
                                      <p:tavLst>
                                        <p:tav tm="0">
                                          <p:val>
                                            <p:strVal val="ppt_y"/>
                                          </p:val>
                                        </p:tav>
                                        <p:tav tm="100000">
                                          <p:val>
                                            <p:strVal val="1+ppt_h/2"/>
                                          </p:val>
                                        </p:tav>
                                      </p:tavLst>
                                    </p:anim>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0"/>
                                        </p:tgtEl>
                                        <p:attrNameLst>
                                          <p:attrName>ppt_x</p:attrName>
                                        </p:attrNameLst>
                                      </p:cBhvr>
                                      <p:tavLst>
                                        <p:tav tm="0">
                                          <p:val>
                                            <p:strVal val="ppt_x"/>
                                          </p:val>
                                        </p:tav>
                                        <p:tav tm="100000">
                                          <p:val>
                                            <p:strVal val="ppt_x"/>
                                          </p:val>
                                        </p:tav>
                                      </p:tavLst>
                                    </p:anim>
                                    <p:anim calcmode="lin" valueType="num">
                                      <p:cBhvr additive="base">
                                        <p:cTn id="39" dur="500"/>
                                        <p:tgtEl>
                                          <p:spTgt spid="10"/>
                                        </p:tgtEl>
                                        <p:attrNameLst>
                                          <p:attrName>ppt_y</p:attrName>
                                        </p:attrNameLst>
                                      </p:cBhvr>
                                      <p:tavLst>
                                        <p:tav tm="0">
                                          <p:val>
                                            <p:strVal val="ppt_y"/>
                                          </p:val>
                                        </p:tav>
                                        <p:tav tm="100000">
                                          <p:val>
                                            <p:strVal val="1+ppt_h/2"/>
                                          </p:val>
                                        </p:tav>
                                      </p:tavLst>
                                    </p:anim>
                                    <p:set>
                                      <p:cBhvr>
                                        <p:cTn id="40" dur="1" fill="hold">
                                          <p:stCondLst>
                                            <p:cond delay="499"/>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16"/>
                                        </p:tgtEl>
                                        <p:attrNameLst>
                                          <p:attrName>ppt_x</p:attrName>
                                        </p:attrNameLst>
                                      </p:cBhvr>
                                      <p:tavLst>
                                        <p:tav tm="0">
                                          <p:val>
                                            <p:strVal val="ppt_x"/>
                                          </p:val>
                                        </p:tav>
                                        <p:tav tm="100000">
                                          <p:val>
                                            <p:strVal val="ppt_x"/>
                                          </p:val>
                                        </p:tav>
                                      </p:tavLst>
                                    </p:anim>
                                    <p:anim calcmode="lin" valueType="num">
                                      <p:cBhvr additive="base">
                                        <p:cTn id="45" dur="500"/>
                                        <p:tgtEl>
                                          <p:spTgt spid="16"/>
                                        </p:tgtEl>
                                        <p:attrNameLst>
                                          <p:attrName>ppt_y</p:attrName>
                                        </p:attrNameLst>
                                      </p:cBhvr>
                                      <p:tavLst>
                                        <p:tav tm="0">
                                          <p:val>
                                            <p:strVal val="ppt_y"/>
                                          </p:val>
                                        </p:tav>
                                        <p:tav tm="100000">
                                          <p:val>
                                            <p:strVal val="1+ppt_h/2"/>
                                          </p:val>
                                        </p:tav>
                                      </p:tavLst>
                                    </p:anim>
                                    <p:set>
                                      <p:cBhvr>
                                        <p:cTn id="46" dur="1" fill="hold">
                                          <p:stCondLst>
                                            <p:cond delay="499"/>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0" nodeType="clickEffect">
                                  <p:stCondLst>
                                    <p:cond delay="0"/>
                                  </p:stCondLst>
                                  <p:childTnLst>
                                    <p:anim calcmode="lin" valueType="num">
                                      <p:cBhvr additive="base">
                                        <p:cTn id="50" dur="500"/>
                                        <p:tgtEl>
                                          <p:spTgt spid="17"/>
                                        </p:tgtEl>
                                        <p:attrNameLst>
                                          <p:attrName>ppt_x</p:attrName>
                                        </p:attrNameLst>
                                      </p:cBhvr>
                                      <p:tavLst>
                                        <p:tav tm="0">
                                          <p:val>
                                            <p:strVal val="ppt_x"/>
                                          </p:val>
                                        </p:tav>
                                        <p:tav tm="100000">
                                          <p:val>
                                            <p:strVal val="ppt_x"/>
                                          </p:val>
                                        </p:tav>
                                      </p:tavLst>
                                    </p:anim>
                                    <p:anim calcmode="lin" valueType="num">
                                      <p:cBhvr additive="base">
                                        <p:cTn id="51" dur="500"/>
                                        <p:tgtEl>
                                          <p:spTgt spid="17"/>
                                        </p:tgtEl>
                                        <p:attrNameLst>
                                          <p:attrName>ppt_y</p:attrName>
                                        </p:attrNameLst>
                                      </p:cBhvr>
                                      <p:tavLst>
                                        <p:tav tm="0">
                                          <p:val>
                                            <p:strVal val="ppt_y"/>
                                          </p:val>
                                        </p:tav>
                                        <p:tav tm="100000">
                                          <p:val>
                                            <p:strVal val="1+ppt_h/2"/>
                                          </p:val>
                                        </p:tav>
                                      </p:tavLst>
                                    </p:anim>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grpId="0" nodeType="clickEffect">
                                  <p:stCondLst>
                                    <p:cond delay="0"/>
                                  </p:stCondLst>
                                  <p:childTnLst>
                                    <p:anim calcmode="lin" valueType="num">
                                      <p:cBhvr additive="base">
                                        <p:cTn id="56" dur="500"/>
                                        <p:tgtEl>
                                          <p:spTgt spid="14"/>
                                        </p:tgtEl>
                                        <p:attrNameLst>
                                          <p:attrName>ppt_x</p:attrName>
                                        </p:attrNameLst>
                                      </p:cBhvr>
                                      <p:tavLst>
                                        <p:tav tm="0">
                                          <p:val>
                                            <p:strVal val="ppt_x"/>
                                          </p:val>
                                        </p:tav>
                                        <p:tav tm="100000">
                                          <p:val>
                                            <p:strVal val="ppt_x"/>
                                          </p:val>
                                        </p:tav>
                                      </p:tavLst>
                                    </p:anim>
                                    <p:anim calcmode="lin" valueType="num">
                                      <p:cBhvr additive="base">
                                        <p:cTn id="57" dur="500"/>
                                        <p:tgtEl>
                                          <p:spTgt spid="14"/>
                                        </p:tgtEl>
                                        <p:attrNameLst>
                                          <p:attrName>ppt_y</p:attrName>
                                        </p:attrNameLst>
                                      </p:cBhvr>
                                      <p:tavLst>
                                        <p:tav tm="0">
                                          <p:val>
                                            <p:strVal val="ppt_y"/>
                                          </p:val>
                                        </p:tav>
                                        <p:tav tm="100000">
                                          <p:val>
                                            <p:strVal val="1+ppt_h/2"/>
                                          </p:val>
                                        </p:tav>
                                      </p:tavLst>
                                    </p:anim>
                                    <p:set>
                                      <p:cBhvr>
                                        <p:cTn id="58" dur="1" fill="hold">
                                          <p:stCondLst>
                                            <p:cond delay="499"/>
                                          </p:stCondLst>
                                        </p:cTn>
                                        <p:tgtEl>
                                          <p:spTgt spid="1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grpId="0" nodeType="clickEffect">
                                  <p:stCondLst>
                                    <p:cond delay="0"/>
                                  </p:stCondLst>
                                  <p:childTnLst>
                                    <p:anim calcmode="lin" valueType="num">
                                      <p:cBhvr additive="base">
                                        <p:cTn id="62" dur="500"/>
                                        <p:tgtEl>
                                          <p:spTgt spid="18"/>
                                        </p:tgtEl>
                                        <p:attrNameLst>
                                          <p:attrName>ppt_x</p:attrName>
                                        </p:attrNameLst>
                                      </p:cBhvr>
                                      <p:tavLst>
                                        <p:tav tm="0">
                                          <p:val>
                                            <p:strVal val="ppt_x"/>
                                          </p:val>
                                        </p:tav>
                                        <p:tav tm="100000">
                                          <p:val>
                                            <p:strVal val="ppt_x"/>
                                          </p:val>
                                        </p:tav>
                                      </p:tavLst>
                                    </p:anim>
                                    <p:anim calcmode="lin" valueType="num">
                                      <p:cBhvr additive="base">
                                        <p:cTn id="63" dur="500"/>
                                        <p:tgtEl>
                                          <p:spTgt spid="18"/>
                                        </p:tgtEl>
                                        <p:attrNameLst>
                                          <p:attrName>ppt_y</p:attrName>
                                        </p:attrNameLst>
                                      </p:cBhvr>
                                      <p:tavLst>
                                        <p:tav tm="0">
                                          <p:val>
                                            <p:strVal val="ppt_y"/>
                                          </p:val>
                                        </p:tav>
                                        <p:tav tm="100000">
                                          <p:val>
                                            <p:strVal val="1+ppt_h/2"/>
                                          </p:val>
                                        </p:tav>
                                      </p:tavLst>
                                    </p:anim>
                                    <p:set>
                                      <p:cBhvr>
                                        <p:cTn id="64" dur="1" fill="hold">
                                          <p:stCondLst>
                                            <p:cond delay="499"/>
                                          </p:stCondLst>
                                        </p:cTn>
                                        <p:tgtEl>
                                          <p:spTgt spid="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grpId="0" nodeType="clickEffect">
                                  <p:stCondLst>
                                    <p:cond delay="0"/>
                                  </p:stCondLst>
                                  <p:childTnLst>
                                    <p:anim calcmode="lin" valueType="num">
                                      <p:cBhvr additive="base">
                                        <p:cTn id="68" dur="500"/>
                                        <p:tgtEl>
                                          <p:spTgt spid="19"/>
                                        </p:tgtEl>
                                        <p:attrNameLst>
                                          <p:attrName>ppt_x</p:attrName>
                                        </p:attrNameLst>
                                      </p:cBhvr>
                                      <p:tavLst>
                                        <p:tav tm="0">
                                          <p:val>
                                            <p:strVal val="ppt_x"/>
                                          </p:val>
                                        </p:tav>
                                        <p:tav tm="100000">
                                          <p:val>
                                            <p:strVal val="ppt_x"/>
                                          </p:val>
                                        </p:tav>
                                      </p:tavLst>
                                    </p:anim>
                                    <p:anim calcmode="lin" valueType="num">
                                      <p:cBhvr additive="base">
                                        <p:cTn id="69" dur="500"/>
                                        <p:tgtEl>
                                          <p:spTgt spid="19"/>
                                        </p:tgtEl>
                                        <p:attrNameLst>
                                          <p:attrName>ppt_y</p:attrName>
                                        </p:attrNameLst>
                                      </p:cBhvr>
                                      <p:tavLst>
                                        <p:tav tm="0">
                                          <p:val>
                                            <p:strVal val="ppt_y"/>
                                          </p:val>
                                        </p:tav>
                                        <p:tav tm="100000">
                                          <p:val>
                                            <p:strVal val="1+ppt_h/2"/>
                                          </p:val>
                                        </p:tav>
                                      </p:tavLst>
                                    </p:anim>
                                    <p:set>
                                      <p:cBhvr>
                                        <p:cTn id="70" dur="1" fill="hold">
                                          <p:stCondLst>
                                            <p:cond delay="499"/>
                                          </p:stCondLst>
                                        </p:cTn>
                                        <p:tgtEl>
                                          <p:spTgt spid="1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 presetClass="exit" presetSubtype="4" fill="hold" grpId="0" nodeType="clickEffect">
                                  <p:stCondLst>
                                    <p:cond delay="0"/>
                                  </p:stCondLst>
                                  <p:childTnLst>
                                    <p:anim calcmode="lin" valueType="num">
                                      <p:cBhvr additive="base">
                                        <p:cTn id="74" dur="500"/>
                                        <p:tgtEl>
                                          <p:spTgt spid="12"/>
                                        </p:tgtEl>
                                        <p:attrNameLst>
                                          <p:attrName>ppt_x</p:attrName>
                                        </p:attrNameLst>
                                      </p:cBhvr>
                                      <p:tavLst>
                                        <p:tav tm="0">
                                          <p:val>
                                            <p:strVal val="ppt_x"/>
                                          </p:val>
                                        </p:tav>
                                        <p:tav tm="100000">
                                          <p:val>
                                            <p:strVal val="ppt_x"/>
                                          </p:val>
                                        </p:tav>
                                      </p:tavLst>
                                    </p:anim>
                                    <p:anim calcmode="lin" valueType="num">
                                      <p:cBhvr additive="base">
                                        <p:cTn id="75" dur="500"/>
                                        <p:tgtEl>
                                          <p:spTgt spid="12"/>
                                        </p:tgtEl>
                                        <p:attrNameLst>
                                          <p:attrName>ppt_y</p:attrName>
                                        </p:attrNameLst>
                                      </p:cBhvr>
                                      <p:tavLst>
                                        <p:tav tm="0">
                                          <p:val>
                                            <p:strVal val="ppt_y"/>
                                          </p:val>
                                        </p:tav>
                                        <p:tav tm="100000">
                                          <p:val>
                                            <p:strVal val="1+ppt_h/2"/>
                                          </p:val>
                                        </p:tav>
                                      </p:tavLst>
                                    </p:anim>
                                    <p:set>
                                      <p:cBhvr>
                                        <p:cTn id="76" dur="1" fill="hold">
                                          <p:stCondLst>
                                            <p:cond delay="499"/>
                                          </p:stCondLst>
                                        </p:cTn>
                                        <p:tgtEl>
                                          <p:spTgt spid="12"/>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blinds(horizontal)">
                                      <p:cBhvr>
                                        <p:cTn id="81" dur="5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
                                            <p:txEl>
                                              <p:pRg st="6" end="6"/>
                                            </p:txEl>
                                          </p:spTgt>
                                        </p:tgtEl>
                                        <p:attrNameLst>
                                          <p:attrName>style.visibility</p:attrName>
                                        </p:attrNameLst>
                                      </p:cBhvr>
                                      <p:to>
                                        <p:strVal val="visible"/>
                                      </p:to>
                                    </p:set>
                                    <p:animEffect transition="in" filter="blinds(horizontal)">
                                      <p:cBhvr>
                                        <p:cTn id="86" dur="500"/>
                                        <p:tgtEl>
                                          <p:spTgt spid="3">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blinds(horizontal)">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
                                            <p:txEl>
                                              <p:pRg st="7" end="7"/>
                                            </p:txEl>
                                          </p:spTgt>
                                        </p:tgtEl>
                                        <p:attrNameLst>
                                          <p:attrName>style.visibility</p:attrName>
                                        </p:attrNameLst>
                                      </p:cBhvr>
                                      <p:to>
                                        <p:strVal val="visible"/>
                                      </p:to>
                                    </p:set>
                                    <p:animEffect transition="in" filter="blinds(horizontal)">
                                      <p:cBhvr>
                                        <p:cTn id="96" dur="500"/>
                                        <p:tgtEl>
                                          <p:spTgt spid="3">
                                            <p:txEl>
                                              <p:pRg st="7" end="7"/>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0" nodeType="clickEffect">
                                  <p:stCondLst>
                                    <p:cond delay="0"/>
                                  </p:stCondLst>
                                  <p:childTnLst>
                                    <p:anim calcmode="lin" valueType="num">
                                      <p:cBhvr additive="base">
                                        <p:cTn id="105" dur="500"/>
                                        <p:tgtEl>
                                          <p:spTgt spid="28"/>
                                        </p:tgtEl>
                                        <p:attrNameLst>
                                          <p:attrName>ppt_x</p:attrName>
                                        </p:attrNameLst>
                                      </p:cBhvr>
                                      <p:tavLst>
                                        <p:tav tm="0">
                                          <p:val>
                                            <p:strVal val="ppt_x"/>
                                          </p:val>
                                        </p:tav>
                                        <p:tav tm="100000">
                                          <p:val>
                                            <p:strVal val="ppt_x"/>
                                          </p:val>
                                        </p:tav>
                                      </p:tavLst>
                                    </p:anim>
                                    <p:anim calcmode="lin" valueType="num">
                                      <p:cBhvr additive="base">
                                        <p:cTn id="106" dur="500"/>
                                        <p:tgtEl>
                                          <p:spTgt spid="28"/>
                                        </p:tgtEl>
                                        <p:attrNameLst>
                                          <p:attrName>ppt_y</p:attrName>
                                        </p:attrNameLst>
                                      </p:cBhvr>
                                      <p:tavLst>
                                        <p:tav tm="0">
                                          <p:val>
                                            <p:strVal val="ppt_y"/>
                                          </p:val>
                                        </p:tav>
                                        <p:tav tm="100000">
                                          <p:val>
                                            <p:strVal val="1+ppt_h/2"/>
                                          </p:val>
                                        </p:tav>
                                      </p:tavLst>
                                    </p:anim>
                                    <p:set>
                                      <p:cBhvr>
                                        <p:cTn id="107" dur="1" fill="hold">
                                          <p:stCondLst>
                                            <p:cond delay="499"/>
                                          </p:stCondLst>
                                        </p:cTn>
                                        <p:tgtEl>
                                          <p:spTgt spid="28"/>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2" presetClass="exit" presetSubtype="4" fill="hold" grpId="0" nodeType="clickEffect">
                                  <p:stCondLst>
                                    <p:cond delay="0"/>
                                  </p:stCondLst>
                                  <p:childTnLst>
                                    <p:anim calcmode="lin" valueType="num">
                                      <p:cBhvr additive="base">
                                        <p:cTn id="111" dur="500"/>
                                        <p:tgtEl>
                                          <p:spTgt spid="29"/>
                                        </p:tgtEl>
                                        <p:attrNameLst>
                                          <p:attrName>ppt_x</p:attrName>
                                        </p:attrNameLst>
                                      </p:cBhvr>
                                      <p:tavLst>
                                        <p:tav tm="0">
                                          <p:val>
                                            <p:strVal val="ppt_x"/>
                                          </p:val>
                                        </p:tav>
                                        <p:tav tm="100000">
                                          <p:val>
                                            <p:strVal val="ppt_x"/>
                                          </p:val>
                                        </p:tav>
                                      </p:tavLst>
                                    </p:anim>
                                    <p:anim calcmode="lin" valueType="num">
                                      <p:cBhvr additive="base">
                                        <p:cTn id="112" dur="500"/>
                                        <p:tgtEl>
                                          <p:spTgt spid="29"/>
                                        </p:tgtEl>
                                        <p:attrNameLst>
                                          <p:attrName>ppt_y</p:attrName>
                                        </p:attrNameLst>
                                      </p:cBhvr>
                                      <p:tavLst>
                                        <p:tav tm="0">
                                          <p:val>
                                            <p:strVal val="ppt_y"/>
                                          </p:val>
                                        </p:tav>
                                        <p:tav tm="100000">
                                          <p:val>
                                            <p:strVal val="1+ppt_h/2"/>
                                          </p:val>
                                        </p:tav>
                                      </p:tavLst>
                                    </p:anim>
                                    <p:set>
                                      <p:cBhvr>
                                        <p:cTn id="113" dur="1" fill="hold">
                                          <p:stCondLst>
                                            <p:cond delay="499"/>
                                          </p:stCondLst>
                                        </p:cTn>
                                        <p:tgtEl>
                                          <p:spTgt spid="29"/>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 presetClass="exit" presetSubtype="4" fill="hold" grpId="0" nodeType="clickEffect">
                                  <p:stCondLst>
                                    <p:cond delay="0"/>
                                  </p:stCondLst>
                                  <p:childTnLst>
                                    <p:anim calcmode="lin" valueType="num">
                                      <p:cBhvr additive="base">
                                        <p:cTn id="117" dur="500"/>
                                        <p:tgtEl>
                                          <p:spTgt spid="30"/>
                                        </p:tgtEl>
                                        <p:attrNameLst>
                                          <p:attrName>ppt_x</p:attrName>
                                        </p:attrNameLst>
                                      </p:cBhvr>
                                      <p:tavLst>
                                        <p:tav tm="0">
                                          <p:val>
                                            <p:strVal val="ppt_x"/>
                                          </p:val>
                                        </p:tav>
                                        <p:tav tm="100000">
                                          <p:val>
                                            <p:strVal val="ppt_x"/>
                                          </p:val>
                                        </p:tav>
                                      </p:tavLst>
                                    </p:anim>
                                    <p:anim calcmode="lin" valueType="num">
                                      <p:cBhvr additive="base">
                                        <p:cTn id="118" dur="500"/>
                                        <p:tgtEl>
                                          <p:spTgt spid="30"/>
                                        </p:tgtEl>
                                        <p:attrNameLst>
                                          <p:attrName>ppt_y</p:attrName>
                                        </p:attrNameLst>
                                      </p:cBhvr>
                                      <p:tavLst>
                                        <p:tav tm="0">
                                          <p:val>
                                            <p:strVal val="ppt_y"/>
                                          </p:val>
                                        </p:tav>
                                        <p:tav tm="100000">
                                          <p:val>
                                            <p:strVal val="1+ppt_h/2"/>
                                          </p:val>
                                        </p:tav>
                                      </p:tavLst>
                                    </p:anim>
                                    <p:set>
                                      <p:cBhvr>
                                        <p:cTn id="119"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0" grpId="0" animBg="1"/>
      <p:bldP spid="12" grpId="0" animBg="1"/>
      <p:bldP spid="14" grpId="0" animBg="1"/>
      <p:bldP spid="16" grpId="0" animBg="1"/>
      <p:bldP spid="17" grpId="0" animBg="1"/>
      <p:bldP spid="18" grpId="0" animBg="1"/>
      <p:bldP spid="19" grpId="0" animBg="1"/>
      <p:bldP spid="28" grpId="0" animBg="1"/>
      <p:bldP spid="29" grpId="0" animBg="1"/>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3" name="Content Placeholder 2"/>
          <p:cNvSpPr>
            <a:spLocks noGrp="1"/>
          </p:cNvSpPr>
          <p:nvPr>
            <p:ph idx="1"/>
          </p:nvPr>
        </p:nvSpPr>
        <p:spPr>
          <a:xfrm>
            <a:off x="304800" y="304800"/>
            <a:ext cx="8839200" cy="6096000"/>
          </a:xfrm>
        </p:spPr>
        <p:txBody>
          <a:bodyPr>
            <a:noAutofit/>
          </a:bodyPr>
          <a:lstStyle/>
          <a:p>
            <a:pPr marL="0" indent="0">
              <a:buNone/>
            </a:pPr>
            <a:r>
              <a:rPr lang="en-US" altLang="zh-CN" sz="3000" dirty="0" smtClean="0"/>
              <a:t>2(3).</a:t>
            </a:r>
            <a:r>
              <a:rPr lang="zh-CN" altLang="en-US" sz="3000" dirty="0" smtClean="0"/>
              <a:t>如果反应开始时，</a:t>
            </a:r>
            <a:r>
              <a:rPr lang="en-US" altLang="zh-CN" sz="3000" dirty="0" smtClean="0"/>
              <a:t>[HI]=0.04M</a:t>
            </a:r>
            <a:r>
              <a:rPr lang="zh-CN" altLang="en-US" sz="3000" dirty="0" smtClean="0"/>
              <a:t>。计算平衡时各物质的浓度。</a:t>
            </a:r>
            <a:endParaRPr lang="en-US" altLang="zh-CN" sz="3000" dirty="0" smtClean="0"/>
          </a:p>
          <a:p>
            <a:pPr marL="0" indent="0">
              <a:buNone/>
            </a:pPr>
            <a:r>
              <a:rPr lang="en-US" altLang="zh-CN" sz="3000" dirty="0" smtClean="0"/>
              <a:t>		      H</a:t>
            </a:r>
            <a:r>
              <a:rPr lang="en-US" altLang="zh-CN" sz="3000" baseline="-25000" dirty="0" smtClean="0"/>
              <a:t>2</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		  0		0.04</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err="1" smtClean="0"/>
              <a:t>x</a:t>
            </a:r>
            <a:r>
              <a:rPr lang="en-US" altLang="zh-CN" sz="3000" dirty="0" smtClean="0"/>
              <a:t>		2x	   </a:t>
            </a:r>
          </a:p>
          <a:p>
            <a:pPr>
              <a:buNone/>
            </a:pPr>
            <a:r>
              <a:rPr lang="en-US" altLang="zh-CN" sz="3000" dirty="0" smtClean="0"/>
              <a:t>[</a:t>
            </a:r>
            <a:r>
              <a:rPr lang="zh-CN" altLang="en-US" sz="3000" dirty="0"/>
              <a:t>平衡</a:t>
            </a:r>
            <a:r>
              <a:rPr lang="en-US" altLang="zh-CN" sz="3000" dirty="0" smtClean="0"/>
              <a:t>](mol/L)   x		  </a:t>
            </a:r>
            <a:r>
              <a:rPr lang="en-US" altLang="zh-CN" sz="3000" dirty="0" err="1" smtClean="0"/>
              <a:t>x</a:t>
            </a:r>
            <a:r>
              <a:rPr lang="en-US" altLang="zh-CN" sz="3000" dirty="0" smtClean="0"/>
              <a:t>		0.04-2x</a:t>
            </a:r>
          </a:p>
          <a:p>
            <a:pPr>
              <a:buNone/>
            </a:pPr>
            <a:endParaRPr lang="en-US" altLang="zh-CN" sz="3000" dirty="0" smtClean="0"/>
          </a:p>
          <a:p>
            <a:pPr>
              <a:buNone/>
            </a:pPr>
            <a:endParaRPr lang="en-US" altLang="zh-CN" sz="3000" dirty="0" smtClean="0"/>
          </a:p>
          <a:p>
            <a:pPr>
              <a:buNone/>
            </a:pPr>
            <a:r>
              <a:rPr lang="en-US" altLang="zh-CN" sz="3000" dirty="0" smtClean="0"/>
              <a:t>			  0.25	 =</a:t>
            </a:r>
          </a:p>
          <a:p>
            <a:pPr>
              <a:lnSpc>
                <a:spcPct val="150000"/>
              </a:lnSpc>
              <a:buNone/>
            </a:pPr>
            <a:r>
              <a:rPr lang="en-US" altLang="zh-CN" sz="3000" dirty="0"/>
              <a:t>	</a:t>
            </a:r>
            <a:r>
              <a:rPr lang="en-US" altLang="zh-CN" sz="3000" dirty="0" smtClean="0"/>
              <a:t>			x =  0.016</a:t>
            </a:r>
          </a:p>
          <a:p>
            <a:pPr>
              <a:lnSpc>
                <a:spcPct val="150000"/>
              </a:lnSpc>
              <a:buNone/>
            </a:pPr>
            <a:r>
              <a:rPr lang="zh-CN" altLang="en-US" sz="3000" dirty="0"/>
              <a:t>平衡</a:t>
            </a:r>
            <a:r>
              <a:rPr lang="zh-CN" altLang="en-US" sz="3000" dirty="0" smtClean="0"/>
              <a:t>时</a:t>
            </a:r>
            <a:r>
              <a:rPr lang="en-US" altLang="zh-CN" sz="3000" dirty="0" smtClean="0"/>
              <a:t>[H</a:t>
            </a:r>
            <a:r>
              <a:rPr lang="en-US" altLang="zh-CN" sz="3000" baseline="-25000" dirty="0" smtClean="0"/>
              <a:t>2</a:t>
            </a:r>
            <a:r>
              <a:rPr lang="en-US" altLang="zh-CN" sz="3000" dirty="0" smtClean="0"/>
              <a:t>]=[I</a:t>
            </a:r>
            <a:r>
              <a:rPr lang="en-US" altLang="zh-CN" sz="3000" baseline="-25000" dirty="0" smtClean="0"/>
              <a:t>2</a:t>
            </a:r>
            <a:r>
              <a:rPr lang="en-US" altLang="zh-CN" sz="3000" dirty="0" smtClean="0"/>
              <a:t>] = 0.016</a:t>
            </a:r>
            <a:r>
              <a:rPr lang="en-US" altLang="zh-CN" sz="3000" baseline="30000" dirty="0" smtClean="0"/>
              <a:t> </a:t>
            </a:r>
            <a:r>
              <a:rPr lang="en-US" altLang="zh-CN" sz="3000" dirty="0" smtClean="0"/>
              <a:t>M</a:t>
            </a:r>
            <a:r>
              <a:rPr lang="zh-CN" altLang="en-US" sz="3000" dirty="0" smtClean="0"/>
              <a:t>、</a:t>
            </a:r>
            <a:r>
              <a:rPr lang="en-US" altLang="zh-CN" sz="3000" dirty="0" smtClean="0"/>
              <a:t>[HI]=0.008M</a:t>
            </a:r>
          </a:p>
        </p:txBody>
      </p:sp>
      <p:sp>
        <p:nvSpPr>
          <p:cNvPr id="8" name="Rounded Rectangle 7"/>
          <p:cNvSpPr/>
          <p:nvPr/>
        </p:nvSpPr>
        <p:spPr>
          <a:xfrm>
            <a:off x="2743200" y="1981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114800" y="1981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791200" y="1981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867400" y="3048000"/>
            <a:ext cx="1524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867400" y="25146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743200" y="2590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038600" y="25146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743200" y="3124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3124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2710222" y="3581401"/>
            <a:ext cx="3309578" cy="1066799"/>
            <a:chOff x="2068535" y="1410711"/>
            <a:chExt cx="2463331" cy="1194375"/>
          </a:xfrm>
        </p:grpSpPr>
        <p:grpSp>
          <p:nvGrpSpPr>
            <p:cNvPr id="6" name="Group 24"/>
            <p:cNvGrpSpPr/>
            <p:nvPr/>
          </p:nvGrpSpPr>
          <p:grpSpPr>
            <a:xfrm>
              <a:off x="2068535" y="1410711"/>
              <a:ext cx="2463331" cy="889575"/>
              <a:chOff x="2068535" y="1410711"/>
              <a:chExt cx="246333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24" name="TextBox 5"/>
            <p:cNvSpPr txBox="1"/>
            <p:nvPr/>
          </p:nvSpPr>
          <p:spPr>
            <a:xfrm>
              <a:off x="2609165" y="2020311"/>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3505198" y="4572000"/>
            <a:ext cx="3886202" cy="965775"/>
            <a:chOff x="3493605" y="1421487"/>
            <a:chExt cx="1004452" cy="965775"/>
          </a:xfrm>
        </p:grpSpPr>
        <p:grpSp>
          <p:nvGrpSpPr>
            <p:cNvPr id="11"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(0.04- 2x)</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(x)(x)</a:t>
              </a:r>
              <a:endParaRPr lang="en-US" sz="3200" dirty="0"/>
            </a:p>
          </p:txBody>
        </p:sp>
      </p:grpSp>
      <p:sp>
        <p:nvSpPr>
          <p:cNvPr id="29" name="Rounded Rectangle 28"/>
          <p:cNvSpPr/>
          <p:nvPr/>
        </p:nvSpPr>
        <p:spPr>
          <a:xfrm>
            <a:off x="3124200" y="6172200"/>
            <a:ext cx="1295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4724400" y="6172200"/>
            <a:ext cx="2133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8"/>
                                        </p:tgtEl>
                                        <p:attrNameLst>
                                          <p:attrName>ppt_x</p:attrName>
                                        </p:attrNameLst>
                                      </p:cBhvr>
                                      <p:tavLst>
                                        <p:tav tm="0">
                                          <p:val>
                                            <p:strVal val="ppt_x"/>
                                          </p:val>
                                        </p:tav>
                                        <p:tav tm="100000">
                                          <p:val>
                                            <p:strVal val="ppt_x"/>
                                          </p:val>
                                        </p:tav>
                                      </p:tavLst>
                                    </p:anim>
                                    <p:anim calcmode="lin" valueType="num">
                                      <p:cBhvr additive="base">
                                        <p:cTn id="32" dur="500"/>
                                        <p:tgtEl>
                                          <p:spTgt spid="8"/>
                                        </p:tgtEl>
                                        <p:attrNameLst>
                                          <p:attrName>ppt_y</p:attrName>
                                        </p:attrNameLst>
                                      </p:cBhvr>
                                      <p:tavLst>
                                        <p:tav tm="0">
                                          <p:val>
                                            <p:strVal val="ppt_y"/>
                                          </p:val>
                                        </p:tav>
                                        <p:tav tm="100000">
                                          <p:val>
                                            <p:strVal val="1+ppt_h/2"/>
                                          </p:val>
                                        </p:tav>
                                      </p:tavLst>
                                    </p:anim>
                                    <p:set>
                                      <p:cBhvr>
                                        <p:cTn id="33" dur="1" fill="hold">
                                          <p:stCondLst>
                                            <p:cond delay="499"/>
                                          </p:stCondLst>
                                        </p:cTn>
                                        <p:tgtEl>
                                          <p:spTgt spid="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9"/>
                                        </p:tgtEl>
                                        <p:attrNameLst>
                                          <p:attrName>ppt_x</p:attrName>
                                        </p:attrNameLst>
                                      </p:cBhvr>
                                      <p:tavLst>
                                        <p:tav tm="0">
                                          <p:val>
                                            <p:strVal val="ppt_x"/>
                                          </p:val>
                                        </p:tav>
                                        <p:tav tm="100000">
                                          <p:val>
                                            <p:strVal val="ppt_x"/>
                                          </p:val>
                                        </p:tav>
                                      </p:tavLst>
                                    </p:anim>
                                    <p:anim calcmode="lin" valueType="num">
                                      <p:cBhvr additive="base">
                                        <p:cTn id="38" dur="500"/>
                                        <p:tgtEl>
                                          <p:spTgt spid="9"/>
                                        </p:tgtEl>
                                        <p:attrNameLst>
                                          <p:attrName>ppt_y</p:attrName>
                                        </p:attrNameLst>
                                      </p:cBhvr>
                                      <p:tavLst>
                                        <p:tav tm="0">
                                          <p:val>
                                            <p:strVal val="ppt_y"/>
                                          </p:val>
                                        </p:tav>
                                        <p:tav tm="100000">
                                          <p:val>
                                            <p:strVal val="1+ppt_h/2"/>
                                          </p:val>
                                        </p:tav>
                                      </p:tavLst>
                                    </p:anim>
                                    <p:set>
                                      <p:cBhvr>
                                        <p:cTn id="39" dur="1" fill="hold">
                                          <p:stCondLst>
                                            <p:cond delay="499"/>
                                          </p:stCondLst>
                                        </p:cTn>
                                        <p:tgtEl>
                                          <p:spTgt spid="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10"/>
                                        </p:tgtEl>
                                        <p:attrNameLst>
                                          <p:attrName>ppt_x</p:attrName>
                                        </p:attrNameLst>
                                      </p:cBhvr>
                                      <p:tavLst>
                                        <p:tav tm="0">
                                          <p:val>
                                            <p:strVal val="ppt_x"/>
                                          </p:val>
                                        </p:tav>
                                        <p:tav tm="100000">
                                          <p:val>
                                            <p:strVal val="ppt_x"/>
                                          </p:val>
                                        </p:tav>
                                      </p:tavLst>
                                    </p:anim>
                                    <p:anim calcmode="lin" valueType="num">
                                      <p:cBhvr additive="base">
                                        <p:cTn id="44" dur="500"/>
                                        <p:tgtEl>
                                          <p:spTgt spid="10"/>
                                        </p:tgtEl>
                                        <p:attrNameLst>
                                          <p:attrName>ppt_y</p:attrName>
                                        </p:attrNameLst>
                                      </p:cBhvr>
                                      <p:tavLst>
                                        <p:tav tm="0">
                                          <p:val>
                                            <p:strVal val="ppt_y"/>
                                          </p:val>
                                        </p:tav>
                                        <p:tav tm="100000">
                                          <p:val>
                                            <p:strVal val="1+ppt_h/2"/>
                                          </p:val>
                                        </p:tav>
                                      </p:tavLst>
                                    </p:anim>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6"/>
                                        </p:tgtEl>
                                        <p:attrNameLst>
                                          <p:attrName>ppt_x</p:attrName>
                                        </p:attrNameLst>
                                      </p:cBhvr>
                                      <p:tavLst>
                                        <p:tav tm="0">
                                          <p:val>
                                            <p:strVal val="ppt_x"/>
                                          </p:val>
                                        </p:tav>
                                        <p:tav tm="100000">
                                          <p:val>
                                            <p:strVal val="ppt_x"/>
                                          </p:val>
                                        </p:tav>
                                      </p:tavLst>
                                    </p:anim>
                                    <p:anim calcmode="lin" valueType="num">
                                      <p:cBhvr additive="base">
                                        <p:cTn id="50" dur="500"/>
                                        <p:tgtEl>
                                          <p:spTgt spid="16"/>
                                        </p:tgtEl>
                                        <p:attrNameLst>
                                          <p:attrName>ppt_y</p:attrName>
                                        </p:attrNameLst>
                                      </p:cBhvr>
                                      <p:tavLst>
                                        <p:tav tm="0">
                                          <p:val>
                                            <p:strVal val="ppt_y"/>
                                          </p:val>
                                        </p:tav>
                                        <p:tav tm="100000">
                                          <p:val>
                                            <p:strVal val="1+ppt_h/2"/>
                                          </p:val>
                                        </p:tav>
                                      </p:tavLst>
                                    </p:anim>
                                    <p:set>
                                      <p:cBhvr>
                                        <p:cTn id="51" dur="1" fill="hold">
                                          <p:stCondLst>
                                            <p:cond delay="499"/>
                                          </p:stCondLst>
                                        </p:cTn>
                                        <p:tgtEl>
                                          <p:spTgt spid="1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0" nodeType="clickEffect">
                                  <p:stCondLst>
                                    <p:cond delay="0"/>
                                  </p:stCondLst>
                                  <p:childTnLst>
                                    <p:anim calcmode="lin" valueType="num">
                                      <p:cBhvr additive="base">
                                        <p:cTn id="55" dur="500"/>
                                        <p:tgtEl>
                                          <p:spTgt spid="17"/>
                                        </p:tgtEl>
                                        <p:attrNameLst>
                                          <p:attrName>ppt_x</p:attrName>
                                        </p:attrNameLst>
                                      </p:cBhvr>
                                      <p:tavLst>
                                        <p:tav tm="0">
                                          <p:val>
                                            <p:strVal val="ppt_x"/>
                                          </p:val>
                                        </p:tav>
                                        <p:tav tm="100000">
                                          <p:val>
                                            <p:strVal val="ppt_x"/>
                                          </p:val>
                                        </p:tav>
                                      </p:tavLst>
                                    </p:anim>
                                    <p:anim calcmode="lin" valueType="num">
                                      <p:cBhvr additive="base">
                                        <p:cTn id="56" dur="500"/>
                                        <p:tgtEl>
                                          <p:spTgt spid="17"/>
                                        </p:tgtEl>
                                        <p:attrNameLst>
                                          <p:attrName>ppt_y</p:attrName>
                                        </p:attrNameLst>
                                      </p:cBhvr>
                                      <p:tavLst>
                                        <p:tav tm="0">
                                          <p:val>
                                            <p:strVal val="ppt_y"/>
                                          </p:val>
                                        </p:tav>
                                        <p:tav tm="100000">
                                          <p:val>
                                            <p:strVal val="1+ppt_h/2"/>
                                          </p:val>
                                        </p:tav>
                                      </p:tavLst>
                                    </p:anim>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0" nodeType="clickEffect">
                                  <p:stCondLst>
                                    <p:cond delay="0"/>
                                  </p:stCondLst>
                                  <p:childTnLst>
                                    <p:anim calcmode="lin" valueType="num">
                                      <p:cBhvr additive="base">
                                        <p:cTn id="61" dur="500"/>
                                        <p:tgtEl>
                                          <p:spTgt spid="14"/>
                                        </p:tgtEl>
                                        <p:attrNameLst>
                                          <p:attrName>ppt_x</p:attrName>
                                        </p:attrNameLst>
                                      </p:cBhvr>
                                      <p:tavLst>
                                        <p:tav tm="0">
                                          <p:val>
                                            <p:strVal val="ppt_x"/>
                                          </p:val>
                                        </p:tav>
                                        <p:tav tm="100000">
                                          <p:val>
                                            <p:strVal val="ppt_x"/>
                                          </p:val>
                                        </p:tav>
                                      </p:tavLst>
                                    </p:anim>
                                    <p:anim calcmode="lin" valueType="num">
                                      <p:cBhvr additive="base">
                                        <p:cTn id="62" dur="500"/>
                                        <p:tgtEl>
                                          <p:spTgt spid="14"/>
                                        </p:tgtEl>
                                        <p:attrNameLst>
                                          <p:attrName>ppt_y</p:attrName>
                                        </p:attrNameLst>
                                      </p:cBhvr>
                                      <p:tavLst>
                                        <p:tav tm="0">
                                          <p:val>
                                            <p:strVal val="ppt_y"/>
                                          </p:val>
                                        </p:tav>
                                        <p:tav tm="100000">
                                          <p:val>
                                            <p:strVal val="1+ppt_h/2"/>
                                          </p:val>
                                        </p:tav>
                                      </p:tavLst>
                                    </p:anim>
                                    <p:set>
                                      <p:cBhvr>
                                        <p:cTn id="63" dur="1" fill="hold">
                                          <p:stCondLst>
                                            <p:cond delay="499"/>
                                          </p:stCondLst>
                                        </p:cTn>
                                        <p:tgtEl>
                                          <p:spTgt spid="1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grpId="0" nodeType="clickEffect">
                                  <p:stCondLst>
                                    <p:cond delay="0"/>
                                  </p:stCondLst>
                                  <p:childTnLst>
                                    <p:anim calcmode="lin" valueType="num">
                                      <p:cBhvr additive="base">
                                        <p:cTn id="67" dur="500"/>
                                        <p:tgtEl>
                                          <p:spTgt spid="18"/>
                                        </p:tgtEl>
                                        <p:attrNameLst>
                                          <p:attrName>ppt_x</p:attrName>
                                        </p:attrNameLst>
                                      </p:cBhvr>
                                      <p:tavLst>
                                        <p:tav tm="0">
                                          <p:val>
                                            <p:strVal val="ppt_x"/>
                                          </p:val>
                                        </p:tav>
                                        <p:tav tm="100000">
                                          <p:val>
                                            <p:strVal val="ppt_x"/>
                                          </p:val>
                                        </p:tav>
                                      </p:tavLst>
                                    </p:anim>
                                    <p:anim calcmode="lin" valueType="num">
                                      <p:cBhvr additive="base">
                                        <p:cTn id="68" dur="500"/>
                                        <p:tgtEl>
                                          <p:spTgt spid="18"/>
                                        </p:tgtEl>
                                        <p:attrNameLst>
                                          <p:attrName>ppt_y</p:attrName>
                                        </p:attrNameLst>
                                      </p:cBhvr>
                                      <p:tavLst>
                                        <p:tav tm="0">
                                          <p:val>
                                            <p:strVal val="ppt_y"/>
                                          </p:val>
                                        </p:tav>
                                        <p:tav tm="100000">
                                          <p:val>
                                            <p:strVal val="1+ppt_h/2"/>
                                          </p:val>
                                        </p:tav>
                                      </p:tavLst>
                                    </p:anim>
                                    <p:set>
                                      <p:cBhvr>
                                        <p:cTn id="69" dur="1" fill="hold">
                                          <p:stCondLst>
                                            <p:cond delay="499"/>
                                          </p:stCondLst>
                                        </p:cTn>
                                        <p:tgtEl>
                                          <p:spTgt spid="1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grpId="0" nodeType="clickEffect">
                                  <p:stCondLst>
                                    <p:cond delay="0"/>
                                  </p:stCondLst>
                                  <p:childTnLst>
                                    <p:anim calcmode="lin" valueType="num">
                                      <p:cBhvr additive="base">
                                        <p:cTn id="73" dur="500"/>
                                        <p:tgtEl>
                                          <p:spTgt spid="19"/>
                                        </p:tgtEl>
                                        <p:attrNameLst>
                                          <p:attrName>ppt_x</p:attrName>
                                        </p:attrNameLst>
                                      </p:cBhvr>
                                      <p:tavLst>
                                        <p:tav tm="0">
                                          <p:val>
                                            <p:strVal val="ppt_x"/>
                                          </p:val>
                                        </p:tav>
                                        <p:tav tm="100000">
                                          <p:val>
                                            <p:strVal val="ppt_x"/>
                                          </p:val>
                                        </p:tav>
                                      </p:tavLst>
                                    </p:anim>
                                    <p:anim calcmode="lin" valueType="num">
                                      <p:cBhvr additive="base">
                                        <p:cTn id="74" dur="500"/>
                                        <p:tgtEl>
                                          <p:spTgt spid="19"/>
                                        </p:tgtEl>
                                        <p:attrNameLst>
                                          <p:attrName>ppt_y</p:attrName>
                                        </p:attrNameLst>
                                      </p:cBhvr>
                                      <p:tavLst>
                                        <p:tav tm="0">
                                          <p:val>
                                            <p:strVal val="ppt_y"/>
                                          </p:val>
                                        </p:tav>
                                        <p:tav tm="100000">
                                          <p:val>
                                            <p:strVal val="1+ppt_h/2"/>
                                          </p:val>
                                        </p:tav>
                                      </p:tavLst>
                                    </p:anim>
                                    <p:set>
                                      <p:cBhvr>
                                        <p:cTn id="75" dur="1" fill="hold">
                                          <p:stCondLst>
                                            <p:cond delay="499"/>
                                          </p:stCondLst>
                                        </p:cTn>
                                        <p:tgtEl>
                                          <p:spTgt spid="1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xit" presetSubtype="4" fill="hold" grpId="0" nodeType="clickEffect">
                                  <p:stCondLst>
                                    <p:cond delay="0"/>
                                  </p:stCondLst>
                                  <p:childTnLst>
                                    <p:anim calcmode="lin" valueType="num">
                                      <p:cBhvr additive="base">
                                        <p:cTn id="79" dur="500"/>
                                        <p:tgtEl>
                                          <p:spTgt spid="12"/>
                                        </p:tgtEl>
                                        <p:attrNameLst>
                                          <p:attrName>ppt_x</p:attrName>
                                        </p:attrNameLst>
                                      </p:cBhvr>
                                      <p:tavLst>
                                        <p:tav tm="0">
                                          <p:val>
                                            <p:strVal val="ppt_x"/>
                                          </p:val>
                                        </p:tav>
                                        <p:tav tm="100000">
                                          <p:val>
                                            <p:strVal val="ppt_x"/>
                                          </p:val>
                                        </p:tav>
                                      </p:tavLst>
                                    </p:anim>
                                    <p:anim calcmode="lin" valueType="num">
                                      <p:cBhvr additive="base">
                                        <p:cTn id="80" dur="500"/>
                                        <p:tgtEl>
                                          <p:spTgt spid="12"/>
                                        </p:tgtEl>
                                        <p:attrNameLst>
                                          <p:attrName>ppt_y</p:attrName>
                                        </p:attrNameLst>
                                      </p:cBhvr>
                                      <p:tavLst>
                                        <p:tav tm="0">
                                          <p:val>
                                            <p:strVal val="ppt_y"/>
                                          </p:val>
                                        </p:tav>
                                        <p:tav tm="100000">
                                          <p:val>
                                            <p:strVal val="1+ppt_h/2"/>
                                          </p:val>
                                        </p:tav>
                                      </p:tavLst>
                                    </p:anim>
                                    <p:set>
                                      <p:cBhvr>
                                        <p:cTn id="81" dur="1" fill="hold">
                                          <p:stCondLst>
                                            <p:cond delay="499"/>
                                          </p:stCondLst>
                                        </p:cTn>
                                        <p:tgtEl>
                                          <p:spTgt spid="12"/>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linds(horizontal)">
                                      <p:cBhvr>
                                        <p:cTn id="86" dur="500"/>
                                        <p:tgtEl>
                                          <p:spTgt spid="5"/>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animEffect transition="in" filter="blinds(horizontal)">
                                      <p:cBhvr>
                                        <p:cTn id="91" dur="500"/>
                                        <p:tgtEl>
                                          <p:spTgt spid="3">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7"/>
                                        </p:tgtEl>
                                        <p:attrNameLst>
                                          <p:attrName>style.visibility</p:attrName>
                                        </p:attrNameLst>
                                      </p:cBhvr>
                                      <p:to>
                                        <p:strVal val="visible"/>
                                      </p:to>
                                    </p:set>
                                    <p:animEffect transition="in" filter="blinds(horizontal)">
                                      <p:cBhvr>
                                        <p:cTn id="96" dur="500"/>
                                        <p:tgtEl>
                                          <p:spTgt spid="7"/>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
                                            <p:txEl>
                                              <p:pRg st="9" end="9"/>
                                            </p:txEl>
                                          </p:spTgt>
                                        </p:tgtEl>
                                        <p:attrNameLst>
                                          <p:attrName>style.visibility</p:attrName>
                                        </p:attrNameLst>
                                      </p:cBhvr>
                                      <p:to>
                                        <p:strVal val="visible"/>
                                      </p:to>
                                    </p:set>
                                    <p:animEffect transition="in" filter="blinds(horizontal)">
                                      <p:cBhvr>
                                        <p:cTn id="106" dur="500"/>
                                        <p:tgtEl>
                                          <p:spTgt spid="3">
                                            <p:txEl>
                                              <p:pRg st="9" end="9"/>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xit" presetSubtype="4" fill="hold" grpId="0" nodeType="clickEffect">
                                  <p:stCondLst>
                                    <p:cond delay="0"/>
                                  </p:stCondLst>
                                  <p:childTnLst>
                                    <p:anim calcmode="lin" valueType="num">
                                      <p:cBhvr additive="base">
                                        <p:cTn id="110" dur="500"/>
                                        <p:tgtEl>
                                          <p:spTgt spid="29"/>
                                        </p:tgtEl>
                                        <p:attrNameLst>
                                          <p:attrName>ppt_x</p:attrName>
                                        </p:attrNameLst>
                                      </p:cBhvr>
                                      <p:tavLst>
                                        <p:tav tm="0">
                                          <p:val>
                                            <p:strVal val="ppt_x"/>
                                          </p:val>
                                        </p:tav>
                                        <p:tav tm="100000">
                                          <p:val>
                                            <p:strVal val="ppt_x"/>
                                          </p:val>
                                        </p:tav>
                                      </p:tavLst>
                                    </p:anim>
                                    <p:anim calcmode="lin" valueType="num">
                                      <p:cBhvr additive="base">
                                        <p:cTn id="111" dur="500"/>
                                        <p:tgtEl>
                                          <p:spTgt spid="29"/>
                                        </p:tgtEl>
                                        <p:attrNameLst>
                                          <p:attrName>ppt_y</p:attrName>
                                        </p:attrNameLst>
                                      </p:cBhvr>
                                      <p:tavLst>
                                        <p:tav tm="0">
                                          <p:val>
                                            <p:strVal val="ppt_y"/>
                                          </p:val>
                                        </p:tav>
                                        <p:tav tm="100000">
                                          <p:val>
                                            <p:strVal val="1+ppt_h/2"/>
                                          </p:val>
                                        </p:tav>
                                      </p:tavLst>
                                    </p:anim>
                                    <p:set>
                                      <p:cBhvr>
                                        <p:cTn id="112" dur="1" fill="hold">
                                          <p:stCondLst>
                                            <p:cond delay="499"/>
                                          </p:stCondLst>
                                        </p:cTn>
                                        <p:tgtEl>
                                          <p:spTgt spid="2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 presetClass="exit" presetSubtype="4" fill="hold" grpId="0" nodeType="clickEffect">
                                  <p:stCondLst>
                                    <p:cond delay="0"/>
                                  </p:stCondLst>
                                  <p:childTnLst>
                                    <p:anim calcmode="lin" valueType="num">
                                      <p:cBhvr additive="base">
                                        <p:cTn id="116" dur="500"/>
                                        <p:tgtEl>
                                          <p:spTgt spid="30"/>
                                        </p:tgtEl>
                                        <p:attrNameLst>
                                          <p:attrName>ppt_x</p:attrName>
                                        </p:attrNameLst>
                                      </p:cBhvr>
                                      <p:tavLst>
                                        <p:tav tm="0">
                                          <p:val>
                                            <p:strVal val="ppt_x"/>
                                          </p:val>
                                        </p:tav>
                                        <p:tav tm="100000">
                                          <p:val>
                                            <p:strVal val="ppt_x"/>
                                          </p:val>
                                        </p:tav>
                                      </p:tavLst>
                                    </p:anim>
                                    <p:anim calcmode="lin" valueType="num">
                                      <p:cBhvr additive="base">
                                        <p:cTn id="117" dur="500"/>
                                        <p:tgtEl>
                                          <p:spTgt spid="30"/>
                                        </p:tgtEl>
                                        <p:attrNameLst>
                                          <p:attrName>ppt_y</p:attrName>
                                        </p:attrNameLst>
                                      </p:cBhvr>
                                      <p:tavLst>
                                        <p:tav tm="0">
                                          <p:val>
                                            <p:strVal val="ppt_y"/>
                                          </p:val>
                                        </p:tav>
                                        <p:tav tm="100000">
                                          <p:val>
                                            <p:strVal val="1+ppt_h/2"/>
                                          </p:val>
                                        </p:tav>
                                      </p:tavLst>
                                    </p:anim>
                                    <p:set>
                                      <p:cBhvr>
                                        <p:cTn id="118"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P spid="29" grpId="0" animBg="1"/>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3" name="Content Placeholder 2"/>
          <p:cNvSpPr>
            <a:spLocks noGrp="1"/>
          </p:cNvSpPr>
          <p:nvPr>
            <p:ph idx="1"/>
          </p:nvPr>
        </p:nvSpPr>
        <p:spPr>
          <a:xfrm>
            <a:off x="533400" y="228600"/>
            <a:ext cx="8229600" cy="6629400"/>
          </a:xfrm>
        </p:spPr>
        <p:txBody>
          <a:bodyPr>
            <a:noAutofit/>
          </a:bodyPr>
          <a:lstStyle/>
          <a:p>
            <a:pPr marL="0" indent="0">
              <a:buNone/>
            </a:pPr>
            <a:r>
              <a:rPr lang="en-US" altLang="zh-CN" dirty="0" smtClean="0"/>
              <a:t>2(4).</a:t>
            </a:r>
            <a:r>
              <a:rPr lang="zh-CN" altLang="en-US" dirty="0" smtClean="0"/>
              <a:t>如果反应开始时，</a:t>
            </a:r>
            <a:r>
              <a:rPr lang="en-US" altLang="zh-CN" dirty="0" smtClean="0"/>
              <a:t>[H</a:t>
            </a:r>
            <a:r>
              <a:rPr lang="en-US" altLang="zh-CN" baseline="-25000" dirty="0" smtClean="0"/>
              <a:t>2</a:t>
            </a:r>
            <a:r>
              <a:rPr lang="en-US" altLang="zh-CN" dirty="0" smtClean="0"/>
              <a:t>]=0.6M</a:t>
            </a:r>
            <a:r>
              <a:rPr lang="zh-CN" altLang="en-US" dirty="0" smtClean="0"/>
              <a:t>，</a:t>
            </a:r>
            <a:r>
              <a:rPr lang="en-US" altLang="zh-CN" dirty="0" smtClean="0"/>
              <a:t>[I</a:t>
            </a:r>
            <a:r>
              <a:rPr lang="en-US" altLang="zh-CN" baseline="-25000" dirty="0" smtClean="0"/>
              <a:t>2</a:t>
            </a:r>
            <a:r>
              <a:rPr lang="en-US" altLang="zh-CN" dirty="0" smtClean="0"/>
              <a:t>]=0.4M</a:t>
            </a:r>
            <a:r>
              <a:rPr lang="zh-CN" altLang="en-US" dirty="0" smtClean="0"/>
              <a:t>，</a:t>
            </a:r>
            <a:r>
              <a:rPr lang="en-US" altLang="zh-CN" dirty="0" smtClean="0"/>
              <a:t>[HI]=2M</a:t>
            </a:r>
            <a:r>
              <a:rPr lang="zh-CN" altLang="en-US" dirty="0" smtClean="0"/>
              <a:t>，求平衡时各物质的浓度。</a:t>
            </a:r>
            <a:endParaRPr lang="en-US" altLang="zh-CN" dirty="0" smtClean="0"/>
          </a:p>
          <a:p>
            <a:pPr marL="0" indent="0">
              <a:buNone/>
            </a:pPr>
            <a:r>
              <a:rPr lang="en-US" altLang="zh-CN" sz="3000" dirty="0" smtClean="0"/>
              <a:t>		      H</a:t>
            </a:r>
            <a:r>
              <a:rPr lang="en-US" altLang="zh-CN" sz="3000" baseline="-25000" dirty="0" smtClean="0"/>
              <a:t>2</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0.6	  0.4		2</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err="1" smtClean="0"/>
              <a:t>x</a:t>
            </a:r>
            <a:r>
              <a:rPr lang="en-US" altLang="zh-CN" sz="3000" dirty="0" smtClean="0"/>
              <a:t>		2x	   </a:t>
            </a:r>
          </a:p>
          <a:p>
            <a:pPr>
              <a:buNone/>
            </a:pPr>
            <a:r>
              <a:rPr lang="en-US" altLang="zh-CN" sz="3000" dirty="0" smtClean="0"/>
              <a:t>[</a:t>
            </a:r>
            <a:r>
              <a:rPr lang="zh-CN" altLang="en-US" sz="3000" dirty="0"/>
              <a:t>平衡</a:t>
            </a:r>
            <a:r>
              <a:rPr lang="en-US" altLang="zh-CN" sz="3000" dirty="0" smtClean="0"/>
              <a:t>](mol/L)  0.6-x	 0.4-x		2+2x</a:t>
            </a:r>
          </a:p>
          <a:p>
            <a:pPr>
              <a:buNone/>
            </a:pPr>
            <a:endParaRPr lang="en-US" altLang="zh-CN" sz="3000" dirty="0" smtClean="0"/>
          </a:p>
          <a:p>
            <a:pPr>
              <a:buNone/>
            </a:pPr>
            <a:endParaRPr lang="en-US" altLang="zh-CN" sz="3000" dirty="0" smtClean="0"/>
          </a:p>
          <a:p>
            <a:pPr>
              <a:buNone/>
            </a:pPr>
            <a:r>
              <a:rPr lang="en-US" altLang="zh-CN" sz="3000" dirty="0" smtClean="0"/>
              <a:t>			 	 0.25	 =</a:t>
            </a:r>
          </a:p>
          <a:p>
            <a:pPr>
              <a:buNone/>
            </a:pPr>
            <a:r>
              <a:rPr lang="en-US" altLang="zh-CN" sz="3000" dirty="0" smtClean="0"/>
              <a:t>            15x</a:t>
            </a:r>
            <a:r>
              <a:rPr lang="en-US" altLang="zh-CN" sz="3000" baseline="30000" dirty="0" smtClean="0"/>
              <a:t>2</a:t>
            </a:r>
            <a:r>
              <a:rPr lang="en-US" altLang="zh-CN" sz="3000" dirty="0" smtClean="0"/>
              <a:t> +33x+ 15.76 =  0</a:t>
            </a:r>
          </a:p>
          <a:p>
            <a:pPr>
              <a:buNone/>
            </a:pPr>
            <a:r>
              <a:rPr lang="en-US" altLang="zh-CN" sz="3000" dirty="0" smtClean="0"/>
              <a:t>	              x	= -  0.70 	</a:t>
            </a:r>
            <a:r>
              <a:rPr lang="zh-CN" altLang="en-US" sz="3000" dirty="0" smtClean="0"/>
              <a:t>或 </a:t>
            </a:r>
            <a:r>
              <a:rPr lang="en-US" altLang="zh-CN" sz="3000" dirty="0" smtClean="0"/>
              <a:t>	x = -1.50 (</a:t>
            </a:r>
            <a:r>
              <a:rPr lang="zh-CN" altLang="en-US" sz="3000" dirty="0" smtClean="0"/>
              <a:t>不合</a:t>
            </a:r>
            <a:r>
              <a:rPr lang="en-US" altLang="zh-CN" sz="3000" dirty="0" smtClean="0"/>
              <a:t>)</a:t>
            </a:r>
          </a:p>
          <a:p>
            <a:pPr>
              <a:buNone/>
            </a:pPr>
            <a:r>
              <a:rPr lang="zh-CN" altLang="en-US" sz="3000" dirty="0"/>
              <a:t>平衡</a:t>
            </a:r>
            <a:r>
              <a:rPr lang="zh-CN" altLang="en-US" sz="3000" dirty="0" smtClean="0"/>
              <a:t>时</a:t>
            </a:r>
            <a:r>
              <a:rPr lang="en-US" altLang="zh-CN" sz="3000" dirty="0" smtClean="0"/>
              <a:t>[H</a:t>
            </a:r>
            <a:r>
              <a:rPr lang="en-US" altLang="zh-CN" sz="3000" baseline="-25000" dirty="0" smtClean="0"/>
              <a:t>2</a:t>
            </a:r>
            <a:r>
              <a:rPr lang="en-US" altLang="zh-CN" sz="3000" dirty="0" smtClean="0"/>
              <a:t>]= 1.3M</a:t>
            </a:r>
            <a:r>
              <a:rPr lang="zh-CN" altLang="en-US" sz="3000" dirty="0" smtClean="0"/>
              <a:t>、</a:t>
            </a:r>
            <a:r>
              <a:rPr lang="en-US" altLang="zh-CN" sz="3000" dirty="0" smtClean="0"/>
              <a:t>[I</a:t>
            </a:r>
            <a:r>
              <a:rPr lang="en-US" altLang="zh-CN" sz="3000" baseline="-25000" dirty="0" smtClean="0"/>
              <a:t>2</a:t>
            </a:r>
            <a:r>
              <a:rPr lang="en-US" altLang="zh-CN" sz="3000" dirty="0" smtClean="0"/>
              <a:t>] = 1.1M</a:t>
            </a:r>
            <a:r>
              <a:rPr lang="zh-CN" altLang="en-US" sz="3000" dirty="0" smtClean="0"/>
              <a:t>、</a:t>
            </a:r>
            <a:r>
              <a:rPr lang="en-US" altLang="zh-CN" sz="3000" dirty="0" smtClean="0"/>
              <a:t>[HI]=</a:t>
            </a:r>
            <a:r>
              <a:rPr lang="en-US" altLang="zh-CN" sz="3000" baseline="30000" dirty="0"/>
              <a:t> </a:t>
            </a:r>
            <a:r>
              <a:rPr lang="en-US" altLang="zh-CN" sz="3000" dirty="0" smtClean="0"/>
              <a:t> 0.6M</a:t>
            </a:r>
          </a:p>
        </p:txBody>
      </p:sp>
      <p:sp>
        <p:nvSpPr>
          <p:cNvPr id="8" name="Rounded Rectangle 7"/>
          <p:cNvSpPr/>
          <p:nvPr/>
        </p:nvSpPr>
        <p:spPr>
          <a:xfrm>
            <a:off x="2895600" y="1828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67200" y="1828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43600" y="1828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867400" y="2895600"/>
            <a:ext cx="1524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867400" y="23622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895600" y="2438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23622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819400" y="2971800"/>
            <a:ext cx="990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29718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3"/>
          <p:cNvGrpSpPr/>
          <p:nvPr/>
        </p:nvGrpSpPr>
        <p:grpSpPr>
          <a:xfrm>
            <a:off x="3548422" y="3352802"/>
            <a:ext cx="3309578" cy="979511"/>
            <a:chOff x="2068535" y="1410711"/>
            <a:chExt cx="2463331" cy="1096648"/>
          </a:xfrm>
        </p:grpSpPr>
        <p:grpSp>
          <p:nvGrpSpPr>
            <p:cNvPr id="6" name="Group 24"/>
            <p:cNvGrpSpPr/>
            <p:nvPr/>
          </p:nvGrpSpPr>
          <p:grpSpPr>
            <a:xfrm>
              <a:off x="2068535" y="1410711"/>
              <a:ext cx="2463331" cy="889575"/>
              <a:chOff x="2068535" y="1410711"/>
              <a:chExt cx="2463331" cy="889575"/>
            </a:xfrm>
          </p:grpSpPr>
          <p:sp>
            <p:nvSpPr>
              <p:cNvPr id="25" name="TextBox 24"/>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6"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24" name="TextBox 5"/>
            <p:cNvSpPr txBox="1"/>
            <p:nvPr/>
          </p:nvSpPr>
          <p:spPr>
            <a:xfrm>
              <a:off x="2700808" y="1922584"/>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grpSp>
        <p:nvGrpSpPr>
          <p:cNvPr id="7" name="Group 3"/>
          <p:cNvGrpSpPr/>
          <p:nvPr/>
        </p:nvGrpSpPr>
        <p:grpSpPr>
          <a:xfrm>
            <a:off x="4419598" y="4267200"/>
            <a:ext cx="3886202" cy="965775"/>
            <a:chOff x="3493605" y="1421487"/>
            <a:chExt cx="1004452" cy="965775"/>
          </a:xfrm>
        </p:grpSpPr>
        <p:grpSp>
          <p:nvGrpSpPr>
            <p:cNvPr id="11"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(2+2x)</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(0.6-x)(0.4-x)</a:t>
              </a:r>
              <a:endParaRPr lang="en-US" sz="3200" dirty="0"/>
            </a:p>
          </p:txBody>
        </p:sp>
      </p:grpSp>
      <p:sp>
        <p:nvSpPr>
          <p:cNvPr id="29" name="Rounded Rectangle 28"/>
          <p:cNvSpPr/>
          <p:nvPr/>
        </p:nvSpPr>
        <p:spPr>
          <a:xfrm>
            <a:off x="2590800" y="6172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4572000" y="6172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6705600" y="61722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8"/>
                                        </p:tgtEl>
                                        <p:attrNameLst>
                                          <p:attrName>ppt_x</p:attrName>
                                        </p:attrNameLst>
                                      </p:cBhvr>
                                      <p:tavLst>
                                        <p:tav tm="0">
                                          <p:val>
                                            <p:strVal val="ppt_x"/>
                                          </p:val>
                                        </p:tav>
                                        <p:tav tm="100000">
                                          <p:val>
                                            <p:strVal val="ppt_x"/>
                                          </p:val>
                                        </p:tav>
                                      </p:tavLst>
                                    </p:anim>
                                    <p:anim calcmode="lin" valueType="num">
                                      <p:cBhvr additive="base">
                                        <p:cTn id="32" dur="500"/>
                                        <p:tgtEl>
                                          <p:spTgt spid="8"/>
                                        </p:tgtEl>
                                        <p:attrNameLst>
                                          <p:attrName>ppt_y</p:attrName>
                                        </p:attrNameLst>
                                      </p:cBhvr>
                                      <p:tavLst>
                                        <p:tav tm="0">
                                          <p:val>
                                            <p:strVal val="ppt_y"/>
                                          </p:val>
                                        </p:tav>
                                        <p:tav tm="100000">
                                          <p:val>
                                            <p:strVal val="1+ppt_h/2"/>
                                          </p:val>
                                        </p:tav>
                                      </p:tavLst>
                                    </p:anim>
                                    <p:set>
                                      <p:cBhvr>
                                        <p:cTn id="33" dur="1" fill="hold">
                                          <p:stCondLst>
                                            <p:cond delay="499"/>
                                          </p:stCondLst>
                                        </p:cTn>
                                        <p:tgtEl>
                                          <p:spTgt spid="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9"/>
                                        </p:tgtEl>
                                        <p:attrNameLst>
                                          <p:attrName>ppt_x</p:attrName>
                                        </p:attrNameLst>
                                      </p:cBhvr>
                                      <p:tavLst>
                                        <p:tav tm="0">
                                          <p:val>
                                            <p:strVal val="ppt_x"/>
                                          </p:val>
                                        </p:tav>
                                        <p:tav tm="100000">
                                          <p:val>
                                            <p:strVal val="ppt_x"/>
                                          </p:val>
                                        </p:tav>
                                      </p:tavLst>
                                    </p:anim>
                                    <p:anim calcmode="lin" valueType="num">
                                      <p:cBhvr additive="base">
                                        <p:cTn id="38" dur="500"/>
                                        <p:tgtEl>
                                          <p:spTgt spid="9"/>
                                        </p:tgtEl>
                                        <p:attrNameLst>
                                          <p:attrName>ppt_y</p:attrName>
                                        </p:attrNameLst>
                                      </p:cBhvr>
                                      <p:tavLst>
                                        <p:tav tm="0">
                                          <p:val>
                                            <p:strVal val="ppt_y"/>
                                          </p:val>
                                        </p:tav>
                                        <p:tav tm="100000">
                                          <p:val>
                                            <p:strVal val="1+ppt_h/2"/>
                                          </p:val>
                                        </p:tav>
                                      </p:tavLst>
                                    </p:anim>
                                    <p:set>
                                      <p:cBhvr>
                                        <p:cTn id="39" dur="1" fill="hold">
                                          <p:stCondLst>
                                            <p:cond delay="499"/>
                                          </p:stCondLst>
                                        </p:cTn>
                                        <p:tgtEl>
                                          <p:spTgt spid="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10"/>
                                        </p:tgtEl>
                                        <p:attrNameLst>
                                          <p:attrName>ppt_x</p:attrName>
                                        </p:attrNameLst>
                                      </p:cBhvr>
                                      <p:tavLst>
                                        <p:tav tm="0">
                                          <p:val>
                                            <p:strVal val="ppt_x"/>
                                          </p:val>
                                        </p:tav>
                                        <p:tav tm="100000">
                                          <p:val>
                                            <p:strVal val="ppt_x"/>
                                          </p:val>
                                        </p:tav>
                                      </p:tavLst>
                                    </p:anim>
                                    <p:anim calcmode="lin" valueType="num">
                                      <p:cBhvr additive="base">
                                        <p:cTn id="44" dur="500"/>
                                        <p:tgtEl>
                                          <p:spTgt spid="10"/>
                                        </p:tgtEl>
                                        <p:attrNameLst>
                                          <p:attrName>ppt_y</p:attrName>
                                        </p:attrNameLst>
                                      </p:cBhvr>
                                      <p:tavLst>
                                        <p:tav tm="0">
                                          <p:val>
                                            <p:strVal val="ppt_y"/>
                                          </p:val>
                                        </p:tav>
                                        <p:tav tm="100000">
                                          <p:val>
                                            <p:strVal val="1+ppt_h/2"/>
                                          </p:val>
                                        </p:tav>
                                      </p:tavLst>
                                    </p:anim>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6"/>
                                        </p:tgtEl>
                                        <p:attrNameLst>
                                          <p:attrName>ppt_x</p:attrName>
                                        </p:attrNameLst>
                                      </p:cBhvr>
                                      <p:tavLst>
                                        <p:tav tm="0">
                                          <p:val>
                                            <p:strVal val="ppt_x"/>
                                          </p:val>
                                        </p:tav>
                                        <p:tav tm="100000">
                                          <p:val>
                                            <p:strVal val="ppt_x"/>
                                          </p:val>
                                        </p:tav>
                                      </p:tavLst>
                                    </p:anim>
                                    <p:anim calcmode="lin" valueType="num">
                                      <p:cBhvr additive="base">
                                        <p:cTn id="50" dur="500"/>
                                        <p:tgtEl>
                                          <p:spTgt spid="16"/>
                                        </p:tgtEl>
                                        <p:attrNameLst>
                                          <p:attrName>ppt_y</p:attrName>
                                        </p:attrNameLst>
                                      </p:cBhvr>
                                      <p:tavLst>
                                        <p:tav tm="0">
                                          <p:val>
                                            <p:strVal val="ppt_y"/>
                                          </p:val>
                                        </p:tav>
                                        <p:tav tm="100000">
                                          <p:val>
                                            <p:strVal val="1+ppt_h/2"/>
                                          </p:val>
                                        </p:tav>
                                      </p:tavLst>
                                    </p:anim>
                                    <p:set>
                                      <p:cBhvr>
                                        <p:cTn id="51" dur="1" fill="hold">
                                          <p:stCondLst>
                                            <p:cond delay="499"/>
                                          </p:stCondLst>
                                        </p:cTn>
                                        <p:tgtEl>
                                          <p:spTgt spid="1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0" nodeType="clickEffect">
                                  <p:stCondLst>
                                    <p:cond delay="0"/>
                                  </p:stCondLst>
                                  <p:childTnLst>
                                    <p:anim calcmode="lin" valueType="num">
                                      <p:cBhvr additive="base">
                                        <p:cTn id="55" dur="500"/>
                                        <p:tgtEl>
                                          <p:spTgt spid="17"/>
                                        </p:tgtEl>
                                        <p:attrNameLst>
                                          <p:attrName>ppt_x</p:attrName>
                                        </p:attrNameLst>
                                      </p:cBhvr>
                                      <p:tavLst>
                                        <p:tav tm="0">
                                          <p:val>
                                            <p:strVal val="ppt_x"/>
                                          </p:val>
                                        </p:tav>
                                        <p:tav tm="100000">
                                          <p:val>
                                            <p:strVal val="ppt_x"/>
                                          </p:val>
                                        </p:tav>
                                      </p:tavLst>
                                    </p:anim>
                                    <p:anim calcmode="lin" valueType="num">
                                      <p:cBhvr additive="base">
                                        <p:cTn id="56" dur="500"/>
                                        <p:tgtEl>
                                          <p:spTgt spid="17"/>
                                        </p:tgtEl>
                                        <p:attrNameLst>
                                          <p:attrName>ppt_y</p:attrName>
                                        </p:attrNameLst>
                                      </p:cBhvr>
                                      <p:tavLst>
                                        <p:tav tm="0">
                                          <p:val>
                                            <p:strVal val="ppt_y"/>
                                          </p:val>
                                        </p:tav>
                                        <p:tav tm="100000">
                                          <p:val>
                                            <p:strVal val="1+ppt_h/2"/>
                                          </p:val>
                                        </p:tav>
                                      </p:tavLst>
                                    </p:anim>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0" nodeType="clickEffect">
                                  <p:stCondLst>
                                    <p:cond delay="0"/>
                                  </p:stCondLst>
                                  <p:childTnLst>
                                    <p:anim calcmode="lin" valueType="num">
                                      <p:cBhvr additive="base">
                                        <p:cTn id="61" dur="500"/>
                                        <p:tgtEl>
                                          <p:spTgt spid="14"/>
                                        </p:tgtEl>
                                        <p:attrNameLst>
                                          <p:attrName>ppt_x</p:attrName>
                                        </p:attrNameLst>
                                      </p:cBhvr>
                                      <p:tavLst>
                                        <p:tav tm="0">
                                          <p:val>
                                            <p:strVal val="ppt_x"/>
                                          </p:val>
                                        </p:tav>
                                        <p:tav tm="100000">
                                          <p:val>
                                            <p:strVal val="ppt_x"/>
                                          </p:val>
                                        </p:tav>
                                      </p:tavLst>
                                    </p:anim>
                                    <p:anim calcmode="lin" valueType="num">
                                      <p:cBhvr additive="base">
                                        <p:cTn id="62" dur="500"/>
                                        <p:tgtEl>
                                          <p:spTgt spid="14"/>
                                        </p:tgtEl>
                                        <p:attrNameLst>
                                          <p:attrName>ppt_y</p:attrName>
                                        </p:attrNameLst>
                                      </p:cBhvr>
                                      <p:tavLst>
                                        <p:tav tm="0">
                                          <p:val>
                                            <p:strVal val="ppt_y"/>
                                          </p:val>
                                        </p:tav>
                                        <p:tav tm="100000">
                                          <p:val>
                                            <p:strVal val="1+ppt_h/2"/>
                                          </p:val>
                                        </p:tav>
                                      </p:tavLst>
                                    </p:anim>
                                    <p:set>
                                      <p:cBhvr>
                                        <p:cTn id="63" dur="1" fill="hold">
                                          <p:stCondLst>
                                            <p:cond delay="499"/>
                                          </p:stCondLst>
                                        </p:cTn>
                                        <p:tgtEl>
                                          <p:spTgt spid="1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grpId="0" nodeType="clickEffect">
                                  <p:stCondLst>
                                    <p:cond delay="0"/>
                                  </p:stCondLst>
                                  <p:childTnLst>
                                    <p:anim calcmode="lin" valueType="num">
                                      <p:cBhvr additive="base">
                                        <p:cTn id="67" dur="500"/>
                                        <p:tgtEl>
                                          <p:spTgt spid="18"/>
                                        </p:tgtEl>
                                        <p:attrNameLst>
                                          <p:attrName>ppt_x</p:attrName>
                                        </p:attrNameLst>
                                      </p:cBhvr>
                                      <p:tavLst>
                                        <p:tav tm="0">
                                          <p:val>
                                            <p:strVal val="ppt_x"/>
                                          </p:val>
                                        </p:tav>
                                        <p:tav tm="100000">
                                          <p:val>
                                            <p:strVal val="ppt_x"/>
                                          </p:val>
                                        </p:tav>
                                      </p:tavLst>
                                    </p:anim>
                                    <p:anim calcmode="lin" valueType="num">
                                      <p:cBhvr additive="base">
                                        <p:cTn id="68" dur="500"/>
                                        <p:tgtEl>
                                          <p:spTgt spid="18"/>
                                        </p:tgtEl>
                                        <p:attrNameLst>
                                          <p:attrName>ppt_y</p:attrName>
                                        </p:attrNameLst>
                                      </p:cBhvr>
                                      <p:tavLst>
                                        <p:tav tm="0">
                                          <p:val>
                                            <p:strVal val="ppt_y"/>
                                          </p:val>
                                        </p:tav>
                                        <p:tav tm="100000">
                                          <p:val>
                                            <p:strVal val="1+ppt_h/2"/>
                                          </p:val>
                                        </p:tav>
                                      </p:tavLst>
                                    </p:anim>
                                    <p:set>
                                      <p:cBhvr>
                                        <p:cTn id="69" dur="1" fill="hold">
                                          <p:stCondLst>
                                            <p:cond delay="499"/>
                                          </p:stCondLst>
                                        </p:cTn>
                                        <p:tgtEl>
                                          <p:spTgt spid="1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grpId="0" nodeType="clickEffect">
                                  <p:stCondLst>
                                    <p:cond delay="0"/>
                                  </p:stCondLst>
                                  <p:childTnLst>
                                    <p:anim calcmode="lin" valueType="num">
                                      <p:cBhvr additive="base">
                                        <p:cTn id="73" dur="500"/>
                                        <p:tgtEl>
                                          <p:spTgt spid="19"/>
                                        </p:tgtEl>
                                        <p:attrNameLst>
                                          <p:attrName>ppt_x</p:attrName>
                                        </p:attrNameLst>
                                      </p:cBhvr>
                                      <p:tavLst>
                                        <p:tav tm="0">
                                          <p:val>
                                            <p:strVal val="ppt_x"/>
                                          </p:val>
                                        </p:tav>
                                        <p:tav tm="100000">
                                          <p:val>
                                            <p:strVal val="ppt_x"/>
                                          </p:val>
                                        </p:tav>
                                      </p:tavLst>
                                    </p:anim>
                                    <p:anim calcmode="lin" valueType="num">
                                      <p:cBhvr additive="base">
                                        <p:cTn id="74" dur="500"/>
                                        <p:tgtEl>
                                          <p:spTgt spid="19"/>
                                        </p:tgtEl>
                                        <p:attrNameLst>
                                          <p:attrName>ppt_y</p:attrName>
                                        </p:attrNameLst>
                                      </p:cBhvr>
                                      <p:tavLst>
                                        <p:tav tm="0">
                                          <p:val>
                                            <p:strVal val="ppt_y"/>
                                          </p:val>
                                        </p:tav>
                                        <p:tav tm="100000">
                                          <p:val>
                                            <p:strVal val="1+ppt_h/2"/>
                                          </p:val>
                                        </p:tav>
                                      </p:tavLst>
                                    </p:anim>
                                    <p:set>
                                      <p:cBhvr>
                                        <p:cTn id="75" dur="1" fill="hold">
                                          <p:stCondLst>
                                            <p:cond delay="499"/>
                                          </p:stCondLst>
                                        </p:cTn>
                                        <p:tgtEl>
                                          <p:spTgt spid="1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xit" presetSubtype="4" fill="hold" grpId="0" nodeType="clickEffect">
                                  <p:stCondLst>
                                    <p:cond delay="0"/>
                                  </p:stCondLst>
                                  <p:childTnLst>
                                    <p:anim calcmode="lin" valueType="num">
                                      <p:cBhvr additive="base">
                                        <p:cTn id="79" dur="500"/>
                                        <p:tgtEl>
                                          <p:spTgt spid="12"/>
                                        </p:tgtEl>
                                        <p:attrNameLst>
                                          <p:attrName>ppt_x</p:attrName>
                                        </p:attrNameLst>
                                      </p:cBhvr>
                                      <p:tavLst>
                                        <p:tav tm="0">
                                          <p:val>
                                            <p:strVal val="ppt_x"/>
                                          </p:val>
                                        </p:tav>
                                        <p:tav tm="100000">
                                          <p:val>
                                            <p:strVal val="ppt_x"/>
                                          </p:val>
                                        </p:tav>
                                      </p:tavLst>
                                    </p:anim>
                                    <p:anim calcmode="lin" valueType="num">
                                      <p:cBhvr additive="base">
                                        <p:cTn id="80" dur="500"/>
                                        <p:tgtEl>
                                          <p:spTgt spid="12"/>
                                        </p:tgtEl>
                                        <p:attrNameLst>
                                          <p:attrName>ppt_y</p:attrName>
                                        </p:attrNameLst>
                                      </p:cBhvr>
                                      <p:tavLst>
                                        <p:tav tm="0">
                                          <p:val>
                                            <p:strVal val="ppt_y"/>
                                          </p:val>
                                        </p:tav>
                                        <p:tav tm="100000">
                                          <p:val>
                                            <p:strVal val="1+ppt_h/2"/>
                                          </p:val>
                                        </p:tav>
                                      </p:tavLst>
                                    </p:anim>
                                    <p:set>
                                      <p:cBhvr>
                                        <p:cTn id="81" dur="1" fill="hold">
                                          <p:stCondLst>
                                            <p:cond delay="499"/>
                                          </p:stCondLst>
                                        </p:cTn>
                                        <p:tgtEl>
                                          <p:spTgt spid="12"/>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linds(horizontal)">
                                      <p:cBhvr>
                                        <p:cTn id="86" dur="500"/>
                                        <p:tgtEl>
                                          <p:spTgt spid="5"/>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animEffect transition="in" filter="blinds(horizontal)">
                                      <p:cBhvr>
                                        <p:cTn id="91" dur="500"/>
                                        <p:tgtEl>
                                          <p:spTgt spid="3">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7"/>
                                        </p:tgtEl>
                                        <p:attrNameLst>
                                          <p:attrName>style.visibility</p:attrName>
                                        </p:attrNameLst>
                                      </p:cBhvr>
                                      <p:to>
                                        <p:strVal val="visible"/>
                                      </p:to>
                                    </p:set>
                                    <p:animEffect transition="in" filter="blinds(horizontal)">
                                      <p:cBhvr>
                                        <p:cTn id="96" dur="500"/>
                                        <p:tgtEl>
                                          <p:spTgt spid="7"/>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
                                            <p:txEl>
                                              <p:pRg st="9" end="9"/>
                                            </p:txEl>
                                          </p:spTgt>
                                        </p:tgtEl>
                                        <p:attrNameLst>
                                          <p:attrName>style.visibility</p:attrName>
                                        </p:attrNameLst>
                                      </p:cBhvr>
                                      <p:to>
                                        <p:strVal val="visible"/>
                                      </p:to>
                                    </p:set>
                                    <p:animEffect transition="in" filter="blinds(horizontal)">
                                      <p:cBhvr>
                                        <p:cTn id="106" dur="500"/>
                                        <p:tgtEl>
                                          <p:spTgt spid="3">
                                            <p:txEl>
                                              <p:pRg st="9" end="9"/>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3">
                                            <p:txEl>
                                              <p:pRg st="10" end="10"/>
                                            </p:txEl>
                                          </p:spTgt>
                                        </p:tgtEl>
                                        <p:attrNameLst>
                                          <p:attrName>style.visibility</p:attrName>
                                        </p:attrNameLst>
                                      </p:cBhvr>
                                      <p:to>
                                        <p:strVal val="visible"/>
                                      </p:to>
                                    </p:set>
                                    <p:animEffect transition="in" filter="blinds(horizontal)">
                                      <p:cBhvr>
                                        <p:cTn id="111" dur="500"/>
                                        <p:tgtEl>
                                          <p:spTgt spid="3">
                                            <p:txEl>
                                              <p:pRg st="10" end="1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xit" presetSubtype="4" fill="hold" grpId="0" nodeType="clickEffect">
                                  <p:stCondLst>
                                    <p:cond delay="0"/>
                                  </p:stCondLst>
                                  <p:childTnLst>
                                    <p:anim calcmode="lin" valueType="num">
                                      <p:cBhvr additive="base">
                                        <p:cTn id="115" dur="500"/>
                                        <p:tgtEl>
                                          <p:spTgt spid="29"/>
                                        </p:tgtEl>
                                        <p:attrNameLst>
                                          <p:attrName>ppt_x</p:attrName>
                                        </p:attrNameLst>
                                      </p:cBhvr>
                                      <p:tavLst>
                                        <p:tav tm="0">
                                          <p:val>
                                            <p:strVal val="ppt_x"/>
                                          </p:val>
                                        </p:tav>
                                        <p:tav tm="100000">
                                          <p:val>
                                            <p:strVal val="ppt_x"/>
                                          </p:val>
                                        </p:tav>
                                      </p:tavLst>
                                    </p:anim>
                                    <p:anim calcmode="lin" valueType="num">
                                      <p:cBhvr additive="base">
                                        <p:cTn id="116" dur="500"/>
                                        <p:tgtEl>
                                          <p:spTgt spid="29"/>
                                        </p:tgtEl>
                                        <p:attrNameLst>
                                          <p:attrName>ppt_y</p:attrName>
                                        </p:attrNameLst>
                                      </p:cBhvr>
                                      <p:tavLst>
                                        <p:tav tm="0">
                                          <p:val>
                                            <p:strVal val="ppt_y"/>
                                          </p:val>
                                        </p:tav>
                                        <p:tav tm="100000">
                                          <p:val>
                                            <p:strVal val="1+ppt_h/2"/>
                                          </p:val>
                                        </p:tav>
                                      </p:tavLst>
                                    </p:anim>
                                    <p:set>
                                      <p:cBhvr>
                                        <p:cTn id="117" dur="1" fill="hold">
                                          <p:stCondLst>
                                            <p:cond delay="499"/>
                                          </p:stCondLst>
                                        </p:cTn>
                                        <p:tgtEl>
                                          <p:spTgt spid="29"/>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2" presetClass="exit" presetSubtype="4" fill="hold" grpId="0" nodeType="clickEffect">
                                  <p:stCondLst>
                                    <p:cond delay="0"/>
                                  </p:stCondLst>
                                  <p:childTnLst>
                                    <p:anim calcmode="lin" valueType="num">
                                      <p:cBhvr additive="base">
                                        <p:cTn id="121" dur="500"/>
                                        <p:tgtEl>
                                          <p:spTgt spid="30"/>
                                        </p:tgtEl>
                                        <p:attrNameLst>
                                          <p:attrName>ppt_x</p:attrName>
                                        </p:attrNameLst>
                                      </p:cBhvr>
                                      <p:tavLst>
                                        <p:tav tm="0">
                                          <p:val>
                                            <p:strVal val="ppt_x"/>
                                          </p:val>
                                        </p:tav>
                                        <p:tav tm="100000">
                                          <p:val>
                                            <p:strVal val="ppt_x"/>
                                          </p:val>
                                        </p:tav>
                                      </p:tavLst>
                                    </p:anim>
                                    <p:anim calcmode="lin" valueType="num">
                                      <p:cBhvr additive="base">
                                        <p:cTn id="122" dur="500"/>
                                        <p:tgtEl>
                                          <p:spTgt spid="30"/>
                                        </p:tgtEl>
                                        <p:attrNameLst>
                                          <p:attrName>ppt_y</p:attrName>
                                        </p:attrNameLst>
                                      </p:cBhvr>
                                      <p:tavLst>
                                        <p:tav tm="0">
                                          <p:val>
                                            <p:strVal val="ppt_y"/>
                                          </p:val>
                                        </p:tav>
                                        <p:tav tm="100000">
                                          <p:val>
                                            <p:strVal val="1+ppt_h/2"/>
                                          </p:val>
                                        </p:tav>
                                      </p:tavLst>
                                    </p:anim>
                                    <p:set>
                                      <p:cBhvr>
                                        <p:cTn id="123" dur="1" fill="hold">
                                          <p:stCondLst>
                                            <p:cond delay="499"/>
                                          </p:stCondLst>
                                        </p:cTn>
                                        <p:tgtEl>
                                          <p:spTgt spid="30"/>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2" presetClass="exit" presetSubtype="4" fill="hold" grpId="0" nodeType="clickEffect">
                                  <p:stCondLst>
                                    <p:cond delay="0"/>
                                  </p:stCondLst>
                                  <p:childTnLst>
                                    <p:anim calcmode="lin" valueType="num">
                                      <p:cBhvr additive="base">
                                        <p:cTn id="127" dur="500"/>
                                        <p:tgtEl>
                                          <p:spTgt spid="28"/>
                                        </p:tgtEl>
                                        <p:attrNameLst>
                                          <p:attrName>ppt_x</p:attrName>
                                        </p:attrNameLst>
                                      </p:cBhvr>
                                      <p:tavLst>
                                        <p:tav tm="0">
                                          <p:val>
                                            <p:strVal val="ppt_x"/>
                                          </p:val>
                                        </p:tav>
                                        <p:tav tm="100000">
                                          <p:val>
                                            <p:strVal val="ppt_x"/>
                                          </p:val>
                                        </p:tav>
                                      </p:tavLst>
                                    </p:anim>
                                    <p:anim calcmode="lin" valueType="num">
                                      <p:cBhvr additive="base">
                                        <p:cTn id="128" dur="500"/>
                                        <p:tgtEl>
                                          <p:spTgt spid="28"/>
                                        </p:tgtEl>
                                        <p:attrNameLst>
                                          <p:attrName>ppt_y</p:attrName>
                                        </p:attrNameLst>
                                      </p:cBhvr>
                                      <p:tavLst>
                                        <p:tav tm="0">
                                          <p:val>
                                            <p:strVal val="ppt_y"/>
                                          </p:val>
                                        </p:tav>
                                        <p:tav tm="100000">
                                          <p:val>
                                            <p:strVal val="1+ppt_h/2"/>
                                          </p:val>
                                        </p:tav>
                                      </p:tavLst>
                                    </p:anim>
                                    <p:set>
                                      <p:cBhvr>
                                        <p:cTn id="129"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P spid="29" grpId="0" animBg="1"/>
      <p:bldP spid="30"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0" y="0"/>
            <a:ext cx="9144000" cy="1202485"/>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n-ea"/>
              </a:rPr>
              <a:t>21c</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533400" y="838200"/>
            <a:ext cx="8305800" cy="5562600"/>
          </a:xfrm>
        </p:spPr>
        <p:txBody>
          <a:bodyPr>
            <a:noAutofit/>
          </a:bodyPr>
          <a:lstStyle/>
          <a:p>
            <a:pPr marL="0" indent="0">
              <a:buNone/>
            </a:pPr>
            <a:r>
              <a:rPr lang="en-US" altLang="zh-CN" sz="3000" dirty="0" smtClean="0"/>
              <a:t>2(5).</a:t>
            </a:r>
            <a:r>
              <a:rPr lang="zh-CN" altLang="en-US" sz="3000" dirty="0" smtClean="0"/>
              <a:t>若在</a:t>
            </a:r>
            <a:r>
              <a:rPr lang="en-US" altLang="zh-CN" sz="3000" dirty="0" smtClean="0"/>
              <a:t>(2)</a:t>
            </a:r>
            <a:r>
              <a:rPr lang="zh-CN" altLang="en-US" sz="3000" dirty="0" smtClean="0"/>
              <a:t>达到平衡时加</a:t>
            </a:r>
            <a:r>
              <a:rPr lang="en-US" altLang="zh-CN" sz="3000" dirty="0" smtClean="0"/>
              <a:t>0.2mol</a:t>
            </a:r>
            <a:r>
              <a:rPr lang="zh-CN" altLang="en-US" sz="3000" dirty="0" smtClean="0"/>
              <a:t>的</a:t>
            </a:r>
            <a:r>
              <a:rPr lang="en-US" altLang="zh-CN" sz="3000" dirty="0" smtClean="0"/>
              <a:t>I</a:t>
            </a:r>
            <a:r>
              <a:rPr lang="en-US" altLang="zh-CN" sz="3000" baseline="-25000" dirty="0" smtClean="0"/>
              <a:t>2</a:t>
            </a:r>
            <a:r>
              <a:rPr lang="zh-CN" altLang="en-US" sz="3000" baseline="-25000" dirty="0"/>
              <a:t> </a:t>
            </a:r>
            <a:r>
              <a:rPr lang="zh-CN" altLang="en-US" sz="3000" dirty="0" smtClean="0"/>
              <a:t> 入容器中，则再次达到平衡时各物质的浓度分别是多少？</a:t>
            </a:r>
            <a:endParaRPr lang="en-US" altLang="zh-CN" sz="3000" dirty="0" smtClean="0"/>
          </a:p>
          <a:p>
            <a:pPr marL="0" indent="0">
              <a:buNone/>
            </a:pPr>
            <a:r>
              <a:rPr lang="en-US" altLang="zh-CN" sz="3000" dirty="0" smtClean="0"/>
              <a:t>	   	   H</a:t>
            </a:r>
            <a:r>
              <a:rPr lang="en-US" altLang="zh-CN" sz="3000" baseline="-25000" dirty="0" smtClean="0"/>
              <a:t>2</a:t>
            </a:r>
            <a:r>
              <a:rPr lang="en-US" altLang="zh-CN" sz="3000" dirty="0" smtClean="0"/>
              <a:t>    +    	  I</a:t>
            </a:r>
            <a:r>
              <a:rPr lang="en-US" altLang="zh-CN" sz="3000" baseline="-25000" dirty="0" smtClean="0"/>
              <a:t>2</a:t>
            </a:r>
            <a:r>
              <a:rPr lang="zh-CN" altLang="en-US" sz="3000" baseline="-25000" dirty="0" smtClean="0"/>
              <a:t> </a:t>
            </a:r>
            <a:r>
              <a:rPr lang="zh-CN" altLang="en-US" sz="3000" dirty="0" smtClean="0"/>
              <a:t>     </a:t>
            </a:r>
            <a:r>
              <a:rPr lang="en-US" altLang="zh-CN" sz="3000" dirty="0" smtClean="0">
                <a:sym typeface="Wingdings" pitchFamily="2" charset="2"/>
              </a:rPr>
              <a:t>&lt;--&gt;  	2HI</a:t>
            </a:r>
            <a:endParaRPr lang="en-US" altLang="zh-CN" sz="3000" dirty="0" smtClean="0"/>
          </a:p>
          <a:p>
            <a:pPr marL="0" indent="0">
              <a:buNone/>
            </a:pPr>
            <a:r>
              <a:rPr lang="en-US" altLang="zh-CN" sz="3000" dirty="0" smtClean="0"/>
              <a:t>[</a:t>
            </a:r>
            <a:r>
              <a:rPr lang="zh-CN" altLang="en-US" sz="3000" dirty="0" smtClean="0"/>
              <a:t>开始</a:t>
            </a:r>
            <a:r>
              <a:rPr lang="en-US" altLang="zh-CN" sz="3000" dirty="0" smtClean="0"/>
              <a:t>](mol/L)</a:t>
            </a:r>
            <a:r>
              <a:rPr lang="zh-CN" altLang="en-US" sz="3000" dirty="0" smtClean="0"/>
              <a:t>   </a:t>
            </a:r>
            <a:r>
              <a:rPr lang="en-US" altLang="zh-CN" sz="3000" dirty="0" smtClean="0"/>
              <a:t>0.16	0.18		0.08 	   </a:t>
            </a:r>
          </a:p>
          <a:p>
            <a:pPr>
              <a:buNone/>
            </a:pPr>
            <a:r>
              <a:rPr lang="en-US" altLang="zh-CN" sz="3000" dirty="0" smtClean="0"/>
              <a:t>[</a:t>
            </a:r>
            <a:r>
              <a:rPr lang="zh-CN" altLang="en-US" sz="3000" dirty="0" smtClean="0"/>
              <a:t>转</a:t>
            </a:r>
            <a:r>
              <a:rPr lang="zh-CN" altLang="en-US" sz="3000" dirty="0"/>
              <a:t>化</a:t>
            </a:r>
            <a:r>
              <a:rPr lang="en-US" altLang="zh-CN" sz="3000" dirty="0" smtClean="0"/>
              <a:t>](mol/L)</a:t>
            </a:r>
            <a:r>
              <a:rPr lang="zh-CN" altLang="en-US" sz="3000" dirty="0" smtClean="0"/>
              <a:t>   </a:t>
            </a:r>
            <a:r>
              <a:rPr lang="en-US" altLang="zh-CN" sz="3000" dirty="0" smtClean="0"/>
              <a:t>x		</a:t>
            </a:r>
            <a:r>
              <a:rPr lang="en-US" altLang="zh-CN" sz="3000" dirty="0"/>
              <a:t>x</a:t>
            </a:r>
            <a:r>
              <a:rPr lang="en-US" altLang="zh-CN" sz="3000" dirty="0" smtClean="0"/>
              <a:t>		2x	   </a:t>
            </a:r>
          </a:p>
          <a:p>
            <a:pPr>
              <a:buNone/>
            </a:pPr>
            <a:r>
              <a:rPr lang="en-US" altLang="zh-CN" sz="3000" dirty="0" smtClean="0"/>
              <a:t>[</a:t>
            </a:r>
            <a:r>
              <a:rPr lang="zh-CN" altLang="en-US" sz="3000" dirty="0"/>
              <a:t>平衡</a:t>
            </a:r>
            <a:r>
              <a:rPr lang="en-US" altLang="zh-CN" sz="3000" dirty="0" smtClean="0"/>
              <a:t>](mol/L)   0.16-x	0.18-x	0.08+2x	   </a:t>
            </a:r>
            <a:endParaRPr lang="en-US" altLang="zh-CN" sz="3000" dirty="0"/>
          </a:p>
          <a:p>
            <a:pPr>
              <a:lnSpc>
                <a:spcPct val="150000"/>
              </a:lnSpc>
              <a:buNone/>
            </a:pPr>
            <a:r>
              <a:rPr lang="en-US" altLang="zh-CN" sz="3000" dirty="0" smtClean="0"/>
              <a:t>			       0.25 =</a:t>
            </a:r>
          </a:p>
          <a:p>
            <a:pPr>
              <a:buNone/>
            </a:pPr>
            <a:r>
              <a:rPr lang="en-US" altLang="zh-CN" sz="3000" dirty="0" smtClean="0"/>
              <a:t> 15x</a:t>
            </a:r>
            <a:r>
              <a:rPr lang="en-US" altLang="zh-CN" sz="3000" baseline="30000" dirty="0" smtClean="0"/>
              <a:t>2</a:t>
            </a:r>
            <a:r>
              <a:rPr lang="en-US" altLang="zh-CN" sz="3000" dirty="0" smtClean="0"/>
              <a:t> +1.62x- 0.0032 =  0</a:t>
            </a:r>
          </a:p>
          <a:p>
            <a:pPr>
              <a:buNone/>
            </a:pPr>
            <a:r>
              <a:rPr lang="en-US" altLang="zh-CN" sz="3000" dirty="0"/>
              <a:t>	</a:t>
            </a:r>
            <a:r>
              <a:rPr lang="en-US" altLang="zh-CN" sz="3000" dirty="0" smtClean="0"/>
              <a:t>		x = 0.002  	  </a:t>
            </a:r>
            <a:r>
              <a:rPr lang="zh-CN" altLang="en-US" sz="3000" dirty="0" smtClean="0"/>
              <a:t>或 </a:t>
            </a:r>
            <a:r>
              <a:rPr lang="en-US" altLang="zh-CN" sz="3000" dirty="0" smtClean="0"/>
              <a:t>	 x=-0.11(</a:t>
            </a:r>
            <a:r>
              <a:rPr lang="zh-CN" altLang="en-US" sz="3000" dirty="0" smtClean="0"/>
              <a:t>不合</a:t>
            </a:r>
            <a:r>
              <a:rPr lang="en-US" altLang="zh-CN" sz="3000" dirty="0" smtClean="0"/>
              <a:t>)</a:t>
            </a:r>
          </a:p>
          <a:p>
            <a:pPr>
              <a:lnSpc>
                <a:spcPct val="150000"/>
              </a:lnSpc>
              <a:buNone/>
            </a:pPr>
            <a:r>
              <a:rPr lang="zh-CN" altLang="en-US" sz="3000" dirty="0"/>
              <a:t>平衡</a:t>
            </a:r>
            <a:r>
              <a:rPr lang="zh-CN" altLang="en-US" sz="3000" dirty="0" smtClean="0"/>
              <a:t>时</a:t>
            </a:r>
            <a:r>
              <a:rPr lang="en-US" altLang="zh-CN" sz="3000" dirty="0" smtClean="0"/>
              <a:t>[H</a:t>
            </a:r>
            <a:r>
              <a:rPr lang="en-US" altLang="zh-CN" sz="3000" baseline="-25000" dirty="0" smtClean="0"/>
              <a:t>2</a:t>
            </a:r>
            <a:r>
              <a:rPr lang="en-US" altLang="zh-CN" sz="3000" dirty="0" smtClean="0"/>
              <a:t>]=0.158M</a:t>
            </a:r>
            <a:r>
              <a:rPr lang="zh-CN" altLang="en-US" sz="3000" dirty="0" smtClean="0"/>
              <a:t>、</a:t>
            </a:r>
            <a:r>
              <a:rPr lang="en-US" altLang="zh-CN" sz="3000" dirty="0" smtClean="0"/>
              <a:t>[I</a:t>
            </a:r>
            <a:r>
              <a:rPr lang="en-US" altLang="zh-CN" sz="3000" baseline="-25000" dirty="0" smtClean="0"/>
              <a:t>2</a:t>
            </a:r>
            <a:r>
              <a:rPr lang="en-US" altLang="zh-CN" sz="3000" dirty="0" smtClean="0"/>
              <a:t>] = 0.178M</a:t>
            </a:r>
            <a:r>
              <a:rPr lang="zh-CN" altLang="en-US" sz="3000" dirty="0" smtClean="0"/>
              <a:t>、</a:t>
            </a:r>
            <a:r>
              <a:rPr lang="en-US" altLang="zh-CN" sz="3000" dirty="0" smtClean="0"/>
              <a:t>[HI]=0.084M</a:t>
            </a:r>
          </a:p>
        </p:txBody>
      </p:sp>
      <p:sp>
        <p:nvSpPr>
          <p:cNvPr id="8" name="Rounded Rectangle 7"/>
          <p:cNvSpPr/>
          <p:nvPr/>
        </p:nvSpPr>
        <p:spPr>
          <a:xfrm>
            <a:off x="2895600" y="2438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67200" y="2438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867400" y="2438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867400" y="3505200"/>
            <a:ext cx="1524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867400" y="2971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2895600" y="30480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29718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819400" y="35814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191000" y="3581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3"/>
          <p:cNvGrpSpPr/>
          <p:nvPr/>
        </p:nvGrpSpPr>
        <p:grpSpPr>
          <a:xfrm>
            <a:off x="3809998" y="3962400"/>
            <a:ext cx="3886202" cy="965775"/>
            <a:chOff x="3493605" y="1421487"/>
            <a:chExt cx="1004452" cy="965775"/>
          </a:xfrm>
        </p:grpSpPr>
        <p:grpSp>
          <p:nvGrpSpPr>
            <p:cNvPr id="11" name="Group 24"/>
            <p:cNvGrpSpPr/>
            <p:nvPr/>
          </p:nvGrpSpPr>
          <p:grpSpPr>
            <a:xfrm>
              <a:off x="3583657" y="1421487"/>
              <a:ext cx="914400" cy="584775"/>
              <a:chOff x="3583657" y="1421487"/>
              <a:chExt cx="914400" cy="584775"/>
            </a:xfrm>
          </p:grpSpPr>
          <p:cxnSp>
            <p:nvCxnSpPr>
              <p:cNvPr id="32" name="Straight Connector 8"/>
              <p:cNvCxnSpPr/>
              <p:nvPr/>
            </p:nvCxnSpPr>
            <p:spPr>
              <a:xfrm>
                <a:off x="3583657" y="19050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83657" y="1421487"/>
                <a:ext cx="914400" cy="584775"/>
              </a:xfrm>
              <a:prstGeom prst="rect">
                <a:avLst/>
              </a:prstGeom>
              <a:noFill/>
            </p:spPr>
            <p:txBody>
              <a:bodyPr wrap="square" rtlCol="0">
                <a:spAutoFit/>
              </a:bodyPr>
              <a:lstStyle/>
              <a:p>
                <a:r>
                  <a:rPr lang="en-US" sz="3200" dirty="0" smtClean="0"/>
                  <a:t>  (</a:t>
                </a:r>
                <a:r>
                  <a:rPr lang="en-US" altLang="zh-CN" sz="3200" dirty="0" smtClean="0"/>
                  <a:t>0.08+</a:t>
                </a:r>
                <a:r>
                  <a:rPr lang="en-US" sz="3200" dirty="0" smtClean="0"/>
                  <a:t>2x)</a:t>
                </a:r>
                <a:r>
                  <a:rPr lang="en-US" sz="3200" baseline="30000" dirty="0" smtClean="0"/>
                  <a:t>2</a:t>
                </a:r>
                <a:endParaRPr lang="en-US" sz="3200" dirty="0"/>
              </a:p>
            </p:txBody>
          </p:sp>
        </p:grpSp>
        <p:sp>
          <p:nvSpPr>
            <p:cNvPr id="31" name="TextBox 5"/>
            <p:cNvSpPr txBox="1"/>
            <p:nvPr/>
          </p:nvSpPr>
          <p:spPr>
            <a:xfrm>
              <a:off x="3493605" y="1802487"/>
              <a:ext cx="914401" cy="584775"/>
            </a:xfrm>
            <a:prstGeom prst="rect">
              <a:avLst/>
            </a:prstGeom>
            <a:noFill/>
          </p:spPr>
          <p:txBody>
            <a:bodyPr wrap="square" rtlCol="0">
              <a:spAutoFit/>
            </a:bodyPr>
            <a:lstStyle/>
            <a:p>
              <a:r>
                <a:rPr lang="en-US" altLang="zh-CN" sz="3200" dirty="0" smtClean="0"/>
                <a:t>  (0.16-x)(0.18-x)</a:t>
              </a:r>
              <a:endParaRPr lang="en-US" sz="3200" dirty="0"/>
            </a:p>
          </p:txBody>
        </p:sp>
      </p:grpSp>
      <p:sp>
        <p:nvSpPr>
          <p:cNvPr id="28" name="Rounded Rectangle 27"/>
          <p:cNvSpPr/>
          <p:nvPr/>
        </p:nvSpPr>
        <p:spPr>
          <a:xfrm>
            <a:off x="2590800" y="60960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4953000" y="60960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7315200" y="60960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8"/>
                                        </p:tgtEl>
                                        <p:attrNameLst>
                                          <p:attrName>ppt_x</p:attrName>
                                        </p:attrNameLst>
                                      </p:cBhvr>
                                      <p:tavLst>
                                        <p:tav tm="0">
                                          <p:val>
                                            <p:strVal val="ppt_x"/>
                                          </p:val>
                                        </p:tav>
                                        <p:tav tm="100000">
                                          <p:val>
                                            <p:strVal val="ppt_x"/>
                                          </p:val>
                                        </p:tav>
                                      </p:tavLst>
                                    </p:anim>
                                    <p:anim calcmode="lin" valueType="num">
                                      <p:cBhvr additive="base">
                                        <p:cTn id="32" dur="500"/>
                                        <p:tgtEl>
                                          <p:spTgt spid="8"/>
                                        </p:tgtEl>
                                        <p:attrNameLst>
                                          <p:attrName>ppt_y</p:attrName>
                                        </p:attrNameLst>
                                      </p:cBhvr>
                                      <p:tavLst>
                                        <p:tav tm="0">
                                          <p:val>
                                            <p:strVal val="ppt_y"/>
                                          </p:val>
                                        </p:tav>
                                        <p:tav tm="100000">
                                          <p:val>
                                            <p:strVal val="1+ppt_h/2"/>
                                          </p:val>
                                        </p:tav>
                                      </p:tavLst>
                                    </p:anim>
                                    <p:set>
                                      <p:cBhvr>
                                        <p:cTn id="33" dur="1" fill="hold">
                                          <p:stCondLst>
                                            <p:cond delay="499"/>
                                          </p:stCondLst>
                                        </p:cTn>
                                        <p:tgtEl>
                                          <p:spTgt spid="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9"/>
                                        </p:tgtEl>
                                        <p:attrNameLst>
                                          <p:attrName>ppt_x</p:attrName>
                                        </p:attrNameLst>
                                      </p:cBhvr>
                                      <p:tavLst>
                                        <p:tav tm="0">
                                          <p:val>
                                            <p:strVal val="ppt_x"/>
                                          </p:val>
                                        </p:tav>
                                        <p:tav tm="100000">
                                          <p:val>
                                            <p:strVal val="ppt_x"/>
                                          </p:val>
                                        </p:tav>
                                      </p:tavLst>
                                    </p:anim>
                                    <p:anim calcmode="lin" valueType="num">
                                      <p:cBhvr additive="base">
                                        <p:cTn id="38" dur="500"/>
                                        <p:tgtEl>
                                          <p:spTgt spid="9"/>
                                        </p:tgtEl>
                                        <p:attrNameLst>
                                          <p:attrName>ppt_y</p:attrName>
                                        </p:attrNameLst>
                                      </p:cBhvr>
                                      <p:tavLst>
                                        <p:tav tm="0">
                                          <p:val>
                                            <p:strVal val="ppt_y"/>
                                          </p:val>
                                        </p:tav>
                                        <p:tav tm="100000">
                                          <p:val>
                                            <p:strVal val="1+ppt_h/2"/>
                                          </p:val>
                                        </p:tav>
                                      </p:tavLst>
                                    </p:anim>
                                    <p:set>
                                      <p:cBhvr>
                                        <p:cTn id="39" dur="1" fill="hold">
                                          <p:stCondLst>
                                            <p:cond delay="499"/>
                                          </p:stCondLst>
                                        </p:cTn>
                                        <p:tgtEl>
                                          <p:spTgt spid="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10"/>
                                        </p:tgtEl>
                                        <p:attrNameLst>
                                          <p:attrName>ppt_x</p:attrName>
                                        </p:attrNameLst>
                                      </p:cBhvr>
                                      <p:tavLst>
                                        <p:tav tm="0">
                                          <p:val>
                                            <p:strVal val="ppt_x"/>
                                          </p:val>
                                        </p:tav>
                                        <p:tav tm="100000">
                                          <p:val>
                                            <p:strVal val="ppt_x"/>
                                          </p:val>
                                        </p:tav>
                                      </p:tavLst>
                                    </p:anim>
                                    <p:anim calcmode="lin" valueType="num">
                                      <p:cBhvr additive="base">
                                        <p:cTn id="44" dur="500"/>
                                        <p:tgtEl>
                                          <p:spTgt spid="10"/>
                                        </p:tgtEl>
                                        <p:attrNameLst>
                                          <p:attrName>ppt_y</p:attrName>
                                        </p:attrNameLst>
                                      </p:cBhvr>
                                      <p:tavLst>
                                        <p:tav tm="0">
                                          <p:val>
                                            <p:strVal val="ppt_y"/>
                                          </p:val>
                                        </p:tav>
                                        <p:tav tm="100000">
                                          <p:val>
                                            <p:strVal val="1+ppt_h/2"/>
                                          </p:val>
                                        </p:tav>
                                      </p:tavLst>
                                    </p:anim>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6"/>
                                        </p:tgtEl>
                                        <p:attrNameLst>
                                          <p:attrName>ppt_x</p:attrName>
                                        </p:attrNameLst>
                                      </p:cBhvr>
                                      <p:tavLst>
                                        <p:tav tm="0">
                                          <p:val>
                                            <p:strVal val="ppt_x"/>
                                          </p:val>
                                        </p:tav>
                                        <p:tav tm="100000">
                                          <p:val>
                                            <p:strVal val="ppt_x"/>
                                          </p:val>
                                        </p:tav>
                                      </p:tavLst>
                                    </p:anim>
                                    <p:anim calcmode="lin" valueType="num">
                                      <p:cBhvr additive="base">
                                        <p:cTn id="50" dur="500"/>
                                        <p:tgtEl>
                                          <p:spTgt spid="16"/>
                                        </p:tgtEl>
                                        <p:attrNameLst>
                                          <p:attrName>ppt_y</p:attrName>
                                        </p:attrNameLst>
                                      </p:cBhvr>
                                      <p:tavLst>
                                        <p:tav tm="0">
                                          <p:val>
                                            <p:strVal val="ppt_y"/>
                                          </p:val>
                                        </p:tav>
                                        <p:tav tm="100000">
                                          <p:val>
                                            <p:strVal val="1+ppt_h/2"/>
                                          </p:val>
                                        </p:tav>
                                      </p:tavLst>
                                    </p:anim>
                                    <p:set>
                                      <p:cBhvr>
                                        <p:cTn id="51" dur="1" fill="hold">
                                          <p:stCondLst>
                                            <p:cond delay="499"/>
                                          </p:stCondLst>
                                        </p:cTn>
                                        <p:tgtEl>
                                          <p:spTgt spid="1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0" nodeType="clickEffect">
                                  <p:stCondLst>
                                    <p:cond delay="0"/>
                                  </p:stCondLst>
                                  <p:childTnLst>
                                    <p:anim calcmode="lin" valueType="num">
                                      <p:cBhvr additive="base">
                                        <p:cTn id="55" dur="500"/>
                                        <p:tgtEl>
                                          <p:spTgt spid="17"/>
                                        </p:tgtEl>
                                        <p:attrNameLst>
                                          <p:attrName>ppt_x</p:attrName>
                                        </p:attrNameLst>
                                      </p:cBhvr>
                                      <p:tavLst>
                                        <p:tav tm="0">
                                          <p:val>
                                            <p:strVal val="ppt_x"/>
                                          </p:val>
                                        </p:tav>
                                        <p:tav tm="100000">
                                          <p:val>
                                            <p:strVal val="ppt_x"/>
                                          </p:val>
                                        </p:tav>
                                      </p:tavLst>
                                    </p:anim>
                                    <p:anim calcmode="lin" valueType="num">
                                      <p:cBhvr additive="base">
                                        <p:cTn id="56" dur="500"/>
                                        <p:tgtEl>
                                          <p:spTgt spid="17"/>
                                        </p:tgtEl>
                                        <p:attrNameLst>
                                          <p:attrName>ppt_y</p:attrName>
                                        </p:attrNameLst>
                                      </p:cBhvr>
                                      <p:tavLst>
                                        <p:tav tm="0">
                                          <p:val>
                                            <p:strVal val="ppt_y"/>
                                          </p:val>
                                        </p:tav>
                                        <p:tav tm="100000">
                                          <p:val>
                                            <p:strVal val="1+ppt_h/2"/>
                                          </p:val>
                                        </p:tav>
                                      </p:tavLst>
                                    </p:anim>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0" nodeType="clickEffect">
                                  <p:stCondLst>
                                    <p:cond delay="0"/>
                                  </p:stCondLst>
                                  <p:childTnLst>
                                    <p:anim calcmode="lin" valueType="num">
                                      <p:cBhvr additive="base">
                                        <p:cTn id="61" dur="500"/>
                                        <p:tgtEl>
                                          <p:spTgt spid="14"/>
                                        </p:tgtEl>
                                        <p:attrNameLst>
                                          <p:attrName>ppt_x</p:attrName>
                                        </p:attrNameLst>
                                      </p:cBhvr>
                                      <p:tavLst>
                                        <p:tav tm="0">
                                          <p:val>
                                            <p:strVal val="ppt_x"/>
                                          </p:val>
                                        </p:tav>
                                        <p:tav tm="100000">
                                          <p:val>
                                            <p:strVal val="ppt_x"/>
                                          </p:val>
                                        </p:tav>
                                      </p:tavLst>
                                    </p:anim>
                                    <p:anim calcmode="lin" valueType="num">
                                      <p:cBhvr additive="base">
                                        <p:cTn id="62" dur="500"/>
                                        <p:tgtEl>
                                          <p:spTgt spid="14"/>
                                        </p:tgtEl>
                                        <p:attrNameLst>
                                          <p:attrName>ppt_y</p:attrName>
                                        </p:attrNameLst>
                                      </p:cBhvr>
                                      <p:tavLst>
                                        <p:tav tm="0">
                                          <p:val>
                                            <p:strVal val="ppt_y"/>
                                          </p:val>
                                        </p:tav>
                                        <p:tav tm="100000">
                                          <p:val>
                                            <p:strVal val="1+ppt_h/2"/>
                                          </p:val>
                                        </p:tav>
                                      </p:tavLst>
                                    </p:anim>
                                    <p:set>
                                      <p:cBhvr>
                                        <p:cTn id="63" dur="1" fill="hold">
                                          <p:stCondLst>
                                            <p:cond delay="499"/>
                                          </p:stCondLst>
                                        </p:cTn>
                                        <p:tgtEl>
                                          <p:spTgt spid="1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grpId="0" nodeType="clickEffect">
                                  <p:stCondLst>
                                    <p:cond delay="0"/>
                                  </p:stCondLst>
                                  <p:childTnLst>
                                    <p:anim calcmode="lin" valueType="num">
                                      <p:cBhvr additive="base">
                                        <p:cTn id="67" dur="500"/>
                                        <p:tgtEl>
                                          <p:spTgt spid="18"/>
                                        </p:tgtEl>
                                        <p:attrNameLst>
                                          <p:attrName>ppt_x</p:attrName>
                                        </p:attrNameLst>
                                      </p:cBhvr>
                                      <p:tavLst>
                                        <p:tav tm="0">
                                          <p:val>
                                            <p:strVal val="ppt_x"/>
                                          </p:val>
                                        </p:tav>
                                        <p:tav tm="100000">
                                          <p:val>
                                            <p:strVal val="ppt_x"/>
                                          </p:val>
                                        </p:tav>
                                      </p:tavLst>
                                    </p:anim>
                                    <p:anim calcmode="lin" valueType="num">
                                      <p:cBhvr additive="base">
                                        <p:cTn id="68" dur="500"/>
                                        <p:tgtEl>
                                          <p:spTgt spid="18"/>
                                        </p:tgtEl>
                                        <p:attrNameLst>
                                          <p:attrName>ppt_y</p:attrName>
                                        </p:attrNameLst>
                                      </p:cBhvr>
                                      <p:tavLst>
                                        <p:tav tm="0">
                                          <p:val>
                                            <p:strVal val="ppt_y"/>
                                          </p:val>
                                        </p:tav>
                                        <p:tav tm="100000">
                                          <p:val>
                                            <p:strVal val="1+ppt_h/2"/>
                                          </p:val>
                                        </p:tav>
                                      </p:tavLst>
                                    </p:anim>
                                    <p:set>
                                      <p:cBhvr>
                                        <p:cTn id="69" dur="1" fill="hold">
                                          <p:stCondLst>
                                            <p:cond delay="499"/>
                                          </p:stCondLst>
                                        </p:cTn>
                                        <p:tgtEl>
                                          <p:spTgt spid="1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grpId="0" nodeType="clickEffect">
                                  <p:stCondLst>
                                    <p:cond delay="0"/>
                                  </p:stCondLst>
                                  <p:childTnLst>
                                    <p:anim calcmode="lin" valueType="num">
                                      <p:cBhvr additive="base">
                                        <p:cTn id="73" dur="500"/>
                                        <p:tgtEl>
                                          <p:spTgt spid="19"/>
                                        </p:tgtEl>
                                        <p:attrNameLst>
                                          <p:attrName>ppt_x</p:attrName>
                                        </p:attrNameLst>
                                      </p:cBhvr>
                                      <p:tavLst>
                                        <p:tav tm="0">
                                          <p:val>
                                            <p:strVal val="ppt_x"/>
                                          </p:val>
                                        </p:tav>
                                        <p:tav tm="100000">
                                          <p:val>
                                            <p:strVal val="ppt_x"/>
                                          </p:val>
                                        </p:tav>
                                      </p:tavLst>
                                    </p:anim>
                                    <p:anim calcmode="lin" valueType="num">
                                      <p:cBhvr additive="base">
                                        <p:cTn id="74" dur="500"/>
                                        <p:tgtEl>
                                          <p:spTgt spid="19"/>
                                        </p:tgtEl>
                                        <p:attrNameLst>
                                          <p:attrName>ppt_y</p:attrName>
                                        </p:attrNameLst>
                                      </p:cBhvr>
                                      <p:tavLst>
                                        <p:tav tm="0">
                                          <p:val>
                                            <p:strVal val="ppt_y"/>
                                          </p:val>
                                        </p:tav>
                                        <p:tav tm="100000">
                                          <p:val>
                                            <p:strVal val="1+ppt_h/2"/>
                                          </p:val>
                                        </p:tav>
                                      </p:tavLst>
                                    </p:anim>
                                    <p:set>
                                      <p:cBhvr>
                                        <p:cTn id="75" dur="1" fill="hold">
                                          <p:stCondLst>
                                            <p:cond delay="499"/>
                                          </p:stCondLst>
                                        </p:cTn>
                                        <p:tgtEl>
                                          <p:spTgt spid="1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 presetClass="exit" presetSubtype="4" fill="hold" grpId="0" nodeType="clickEffect">
                                  <p:stCondLst>
                                    <p:cond delay="0"/>
                                  </p:stCondLst>
                                  <p:childTnLst>
                                    <p:anim calcmode="lin" valueType="num">
                                      <p:cBhvr additive="base">
                                        <p:cTn id="79" dur="500"/>
                                        <p:tgtEl>
                                          <p:spTgt spid="12"/>
                                        </p:tgtEl>
                                        <p:attrNameLst>
                                          <p:attrName>ppt_x</p:attrName>
                                        </p:attrNameLst>
                                      </p:cBhvr>
                                      <p:tavLst>
                                        <p:tav tm="0">
                                          <p:val>
                                            <p:strVal val="ppt_x"/>
                                          </p:val>
                                        </p:tav>
                                        <p:tav tm="100000">
                                          <p:val>
                                            <p:strVal val="ppt_x"/>
                                          </p:val>
                                        </p:tav>
                                      </p:tavLst>
                                    </p:anim>
                                    <p:anim calcmode="lin" valueType="num">
                                      <p:cBhvr additive="base">
                                        <p:cTn id="80" dur="500"/>
                                        <p:tgtEl>
                                          <p:spTgt spid="12"/>
                                        </p:tgtEl>
                                        <p:attrNameLst>
                                          <p:attrName>ppt_y</p:attrName>
                                        </p:attrNameLst>
                                      </p:cBhvr>
                                      <p:tavLst>
                                        <p:tav tm="0">
                                          <p:val>
                                            <p:strVal val="ppt_y"/>
                                          </p:val>
                                        </p:tav>
                                        <p:tav tm="100000">
                                          <p:val>
                                            <p:strVal val="1+ppt_h/2"/>
                                          </p:val>
                                        </p:tav>
                                      </p:tavLst>
                                    </p:anim>
                                    <p:set>
                                      <p:cBhvr>
                                        <p:cTn id="81" dur="1" fill="hold">
                                          <p:stCondLst>
                                            <p:cond delay="499"/>
                                          </p:stCondLst>
                                        </p:cTn>
                                        <p:tgtEl>
                                          <p:spTgt spid="12"/>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
                                            <p:txEl>
                                              <p:pRg st="5" end="5"/>
                                            </p:txEl>
                                          </p:spTgt>
                                        </p:tgtEl>
                                        <p:attrNameLst>
                                          <p:attrName>style.visibility</p:attrName>
                                        </p:attrNameLst>
                                      </p:cBhvr>
                                      <p:to>
                                        <p:strVal val="visible"/>
                                      </p:to>
                                    </p:set>
                                    <p:animEffect transition="in" filter="blinds(horizontal)">
                                      <p:cBhvr>
                                        <p:cTn id="86" dur="500"/>
                                        <p:tgtEl>
                                          <p:spTgt spid="3">
                                            <p:txEl>
                                              <p:pRg st="5" end="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blinds(horizontal)">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
                                            <p:txEl>
                                              <p:pRg st="6" end="6"/>
                                            </p:txEl>
                                          </p:spTgt>
                                        </p:tgtEl>
                                        <p:attrNameLst>
                                          <p:attrName>style.visibility</p:attrName>
                                        </p:attrNameLst>
                                      </p:cBhvr>
                                      <p:to>
                                        <p:strVal val="visible"/>
                                      </p:to>
                                    </p:set>
                                    <p:animEffect transition="in" filter="blinds(horizontal)">
                                      <p:cBhvr>
                                        <p:cTn id="96" dur="500"/>
                                        <p:tgtEl>
                                          <p:spTgt spid="3">
                                            <p:txEl>
                                              <p:pRg st="6" end="6"/>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7" end="7"/>
                                            </p:txEl>
                                          </p:spTgt>
                                        </p:tgtEl>
                                        <p:attrNameLst>
                                          <p:attrName>style.visibility</p:attrName>
                                        </p:attrNameLst>
                                      </p:cBhvr>
                                      <p:to>
                                        <p:strVal val="visible"/>
                                      </p:to>
                                    </p:set>
                                    <p:animEffect transition="in" filter="blinds(horizontal)">
                                      <p:cBhvr>
                                        <p:cTn id="101" dur="500"/>
                                        <p:tgtEl>
                                          <p:spTgt spid="3">
                                            <p:txEl>
                                              <p:pRg st="7" end="7"/>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
                                            <p:txEl>
                                              <p:pRg st="8" end="8"/>
                                            </p:txEl>
                                          </p:spTgt>
                                        </p:tgtEl>
                                        <p:attrNameLst>
                                          <p:attrName>style.visibility</p:attrName>
                                        </p:attrNameLst>
                                      </p:cBhvr>
                                      <p:to>
                                        <p:strVal val="visible"/>
                                      </p:to>
                                    </p:set>
                                    <p:animEffect transition="in" filter="blinds(horizontal)">
                                      <p:cBhvr>
                                        <p:cTn id="106" dur="500"/>
                                        <p:tgtEl>
                                          <p:spTgt spid="3">
                                            <p:txEl>
                                              <p:pRg st="8" end="8"/>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xit" presetSubtype="4" fill="hold" grpId="0" nodeType="clickEffect">
                                  <p:stCondLst>
                                    <p:cond delay="0"/>
                                  </p:stCondLst>
                                  <p:childTnLst>
                                    <p:anim calcmode="lin" valueType="num">
                                      <p:cBhvr additive="base">
                                        <p:cTn id="110" dur="500"/>
                                        <p:tgtEl>
                                          <p:spTgt spid="28"/>
                                        </p:tgtEl>
                                        <p:attrNameLst>
                                          <p:attrName>ppt_x</p:attrName>
                                        </p:attrNameLst>
                                      </p:cBhvr>
                                      <p:tavLst>
                                        <p:tav tm="0">
                                          <p:val>
                                            <p:strVal val="ppt_x"/>
                                          </p:val>
                                        </p:tav>
                                        <p:tav tm="100000">
                                          <p:val>
                                            <p:strVal val="ppt_x"/>
                                          </p:val>
                                        </p:tav>
                                      </p:tavLst>
                                    </p:anim>
                                    <p:anim calcmode="lin" valueType="num">
                                      <p:cBhvr additive="base">
                                        <p:cTn id="111" dur="500"/>
                                        <p:tgtEl>
                                          <p:spTgt spid="28"/>
                                        </p:tgtEl>
                                        <p:attrNameLst>
                                          <p:attrName>ppt_y</p:attrName>
                                        </p:attrNameLst>
                                      </p:cBhvr>
                                      <p:tavLst>
                                        <p:tav tm="0">
                                          <p:val>
                                            <p:strVal val="ppt_y"/>
                                          </p:val>
                                        </p:tav>
                                        <p:tav tm="100000">
                                          <p:val>
                                            <p:strVal val="1+ppt_h/2"/>
                                          </p:val>
                                        </p:tav>
                                      </p:tavLst>
                                    </p:anim>
                                    <p:set>
                                      <p:cBhvr>
                                        <p:cTn id="112" dur="1" fill="hold">
                                          <p:stCondLst>
                                            <p:cond delay="499"/>
                                          </p:stCondLst>
                                        </p:cTn>
                                        <p:tgtEl>
                                          <p:spTgt spid="28"/>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 presetClass="exit" presetSubtype="4" fill="hold" grpId="0" nodeType="clickEffect">
                                  <p:stCondLst>
                                    <p:cond delay="0"/>
                                  </p:stCondLst>
                                  <p:childTnLst>
                                    <p:anim calcmode="lin" valueType="num">
                                      <p:cBhvr additive="base">
                                        <p:cTn id="116" dur="500"/>
                                        <p:tgtEl>
                                          <p:spTgt spid="29"/>
                                        </p:tgtEl>
                                        <p:attrNameLst>
                                          <p:attrName>ppt_x</p:attrName>
                                        </p:attrNameLst>
                                      </p:cBhvr>
                                      <p:tavLst>
                                        <p:tav tm="0">
                                          <p:val>
                                            <p:strVal val="ppt_x"/>
                                          </p:val>
                                        </p:tav>
                                        <p:tav tm="100000">
                                          <p:val>
                                            <p:strVal val="ppt_x"/>
                                          </p:val>
                                        </p:tav>
                                      </p:tavLst>
                                    </p:anim>
                                    <p:anim calcmode="lin" valueType="num">
                                      <p:cBhvr additive="base">
                                        <p:cTn id="117" dur="500"/>
                                        <p:tgtEl>
                                          <p:spTgt spid="29"/>
                                        </p:tgtEl>
                                        <p:attrNameLst>
                                          <p:attrName>ppt_y</p:attrName>
                                        </p:attrNameLst>
                                      </p:cBhvr>
                                      <p:tavLst>
                                        <p:tav tm="0">
                                          <p:val>
                                            <p:strVal val="ppt_y"/>
                                          </p:val>
                                        </p:tav>
                                        <p:tav tm="100000">
                                          <p:val>
                                            <p:strVal val="1+ppt_h/2"/>
                                          </p:val>
                                        </p:tav>
                                      </p:tavLst>
                                    </p:anim>
                                    <p:set>
                                      <p:cBhvr>
                                        <p:cTn id="118" dur="1" fill="hold">
                                          <p:stCondLst>
                                            <p:cond delay="499"/>
                                          </p:stCondLst>
                                        </p:cTn>
                                        <p:tgtEl>
                                          <p:spTgt spid="29"/>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2" presetClass="exit" presetSubtype="4" fill="hold" grpId="0" nodeType="clickEffect">
                                  <p:stCondLst>
                                    <p:cond delay="0"/>
                                  </p:stCondLst>
                                  <p:childTnLst>
                                    <p:anim calcmode="lin" valueType="num">
                                      <p:cBhvr additive="base">
                                        <p:cTn id="122" dur="500"/>
                                        <p:tgtEl>
                                          <p:spTgt spid="30"/>
                                        </p:tgtEl>
                                        <p:attrNameLst>
                                          <p:attrName>ppt_x</p:attrName>
                                        </p:attrNameLst>
                                      </p:cBhvr>
                                      <p:tavLst>
                                        <p:tav tm="0">
                                          <p:val>
                                            <p:strVal val="ppt_x"/>
                                          </p:val>
                                        </p:tav>
                                        <p:tav tm="100000">
                                          <p:val>
                                            <p:strVal val="ppt_x"/>
                                          </p:val>
                                        </p:tav>
                                      </p:tavLst>
                                    </p:anim>
                                    <p:anim calcmode="lin" valueType="num">
                                      <p:cBhvr additive="base">
                                        <p:cTn id="123" dur="500"/>
                                        <p:tgtEl>
                                          <p:spTgt spid="30"/>
                                        </p:tgtEl>
                                        <p:attrNameLst>
                                          <p:attrName>ppt_y</p:attrName>
                                        </p:attrNameLst>
                                      </p:cBhvr>
                                      <p:tavLst>
                                        <p:tav tm="0">
                                          <p:val>
                                            <p:strVal val="ppt_y"/>
                                          </p:val>
                                        </p:tav>
                                        <p:tav tm="100000">
                                          <p:val>
                                            <p:strVal val="1+ppt_h/2"/>
                                          </p:val>
                                        </p:tav>
                                      </p:tavLst>
                                    </p:anim>
                                    <p:set>
                                      <p:cBhvr>
                                        <p:cTn id="124"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animBg="1"/>
      <p:bldP spid="9" grpId="0" uiExpand="1" animBg="1"/>
      <p:bldP spid="10" grpId="0" uiExpand="1" animBg="1"/>
      <p:bldP spid="12" grpId="0" uiExpand="1" animBg="1"/>
      <p:bldP spid="14" grpId="0" uiExpand="1" animBg="1"/>
      <p:bldP spid="16" grpId="0" uiExpand="1" animBg="1"/>
      <p:bldP spid="17" grpId="0" uiExpand="1" animBg="1"/>
      <p:bldP spid="18" grpId="0" uiExpand="1" animBg="1"/>
      <p:bldP spid="19" grpId="0" uiExpand="1" animBg="1"/>
      <p:bldP spid="28" grpId="0" animBg="1"/>
      <p:bldP spid="29"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影响化学平衡移动的因素</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Font typeface="Wingdings" pitchFamily="2" charset="2"/>
              <a:buChar char="Ø"/>
            </a:pPr>
            <a:r>
              <a:rPr lang="zh-CN" altLang="en-US" dirty="0" smtClean="0"/>
              <a:t>化学平衡时动态平衡，当外界条件改变时，</a:t>
            </a:r>
            <a:r>
              <a:rPr lang="en-US" altLang="zh-CN" dirty="0" smtClean="0"/>
              <a:t>R</a:t>
            </a:r>
            <a:r>
              <a:rPr lang="zh-CN" altLang="en-US" baseline="-25000" dirty="0" smtClean="0"/>
              <a:t>正</a:t>
            </a:r>
            <a:r>
              <a:rPr lang="zh-CN" altLang="en-US" dirty="0" smtClean="0"/>
              <a:t> ≠ </a:t>
            </a:r>
            <a:r>
              <a:rPr lang="en-US" altLang="zh-CN" dirty="0" smtClean="0"/>
              <a:t>R</a:t>
            </a:r>
            <a:r>
              <a:rPr lang="zh-CN" altLang="en-US" baseline="-25000" dirty="0" smtClean="0"/>
              <a:t>逆</a:t>
            </a:r>
            <a:r>
              <a:rPr lang="zh-CN" altLang="en-US" dirty="0" smtClean="0"/>
              <a:t> 时，原平衡被破坏，一段时间后会达到新的平衡状态</a:t>
            </a:r>
            <a:r>
              <a:rPr lang="en-US" altLang="zh-CN" dirty="0" smtClean="0"/>
              <a:t>R</a:t>
            </a:r>
            <a:r>
              <a:rPr lang="zh-CN" altLang="en-US" baseline="-25000" dirty="0" smtClean="0"/>
              <a:t>正</a:t>
            </a:r>
            <a:r>
              <a:rPr lang="en-US" altLang="zh-CN" b="1" baseline="30000" dirty="0" smtClean="0">
                <a:effectLst>
                  <a:outerShdw blurRad="38100" dist="38100" dir="2700000" algn="tl">
                    <a:srgbClr val="000000">
                      <a:alpha val="43137"/>
                    </a:srgbClr>
                  </a:outerShdw>
                </a:effectLst>
              </a:rPr>
              <a:t>’</a:t>
            </a:r>
            <a:r>
              <a:rPr lang="zh-CN" altLang="en-US" dirty="0" smtClean="0"/>
              <a:t> </a:t>
            </a:r>
            <a:r>
              <a:rPr lang="en-US" altLang="zh-CN" dirty="0" smtClean="0"/>
              <a:t>=</a:t>
            </a:r>
            <a:r>
              <a:rPr lang="zh-CN" altLang="en-US" dirty="0" smtClean="0"/>
              <a:t> </a:t>
            </a:r>
            <a:r>
              <a:rPr lang="en-US" altLang="zh-CN" dirty="0" smtClean="0"/>
              <a:t>R</a:t>
            </a:r>
            <a:r>
              <a:rPr lang="zh-CN" altLang="en-US" baseline="-25000" dirty="0" smtClean="0"/>
              <a:t>逆</a:t>
            </a:r>
            <a:r>
              <a:rPr lang="en-US" altLang="zh-CN" b="1" baseline="30000" dirty="0" smtClean="0">
                <a:effectLst>
                  <a:outerShdw blurRad="38100" dist="38100" dir="2700000" algn="tl">
                    <a:srgbClr val="000000">
                      <a:alpha val="43137"/>
                    </a:srgbClr>
                  </a:outerShdw>
                </a:effectLst>
              </a:rPr>
              <a:t>’</a:t>
            </a:r>
            <a:r>
              <a:rPr lang="zh-CN" altLang="en-US" dirty="0" smtClean="0"/>
              <a:t>。</a:t>
            </a:r>
            <a:endParaRPr lang="en-US" altLang="zh-CN" dirty="0" smtClean="0"/>
          </a:p>
          <a:p>
            <a:pPr>
              <a:spcBef>
                <a:spcPts val="300"/>
              </a:spcBef>
              <a:buFont typeface="Wingdings" pitchFamily="2" charset="2"/>
              <a:buChar char="Ø"/>
            </a:pPr>
            <a:endParaRPr lang="en-US" dirty="0" smtClean="0"/>
          </a:p>
          <a:p>
            <a:pPr>
              <a:spcBef>
                <a:spcPts val="300"/>
              </a:spcBef>
              <a:buFont typeface="Wingdings" pitchFamily="2" charset="2"/>
              <a:buChar char="Ø"/>
            </a:pPr>
            <a:r>
              <a:rPr lang="zh-CN" altLang="en-US" dirty="0" smtClean="0"/>
              <a:t>研究目的：提高产量</a:t>
            </a:r>
            <a:endParaRPr lang="en-US" altLang="zh-CN" dirty="0" smtClean="0"/>
          </a:p>
          <a:p>
            <a:pPr>
              <a:spcBef>
                <a:spcPts val="300"/>
              </a:spcBef>
              <a:buNone/>
            </a:pPr>
            <a:endParaRPr lang="en-US" altLang="zh-CN" dirty="0" smtClean="0"/>
          </a:p>
          <a:p>
            <a:pPr>
              <a:spcBef>
                <a:spcPts val="300"/>
              </a:spcBef>
              <a:buNone/>
            </a:pPr>
            <a:r>
              <a:rPr lang="zh-CN" altLang="en-US" dirty="0" smtClean="0"/>
              <a:t>交流分享</a:t>
            </a:r>
            <a:endParaRPr lang="en-US" altLang="zh-CN" dirty="0" smtClean="0"/>
          </a:p>
          <a:p>
            <a:pPr>
              <a:spcBef>
                <a:spcPts val="300"/>
              </a:spcBef>
              <a:buNone/>
            </a:pPr>
            <a:r>
              <a:rPr lang="zh-CN" altLang="en-US" dirty="0" smtClean="0"/>
              <a:t>温度越低、压强越大，氨气的体积百分比越高。</a:t>
            </a:r>
            <a:endParaRPr lang="en-US" dirty="0"/>
          </a:p>
        </p:txBody>
      </p:sp>
      <p:sp>
        <p:nvSpPr>
          <p:cNvPr id="5" name="TextBox 4"/>
          <p:cNvSpPr txBox="1"/>
          <p:nvPr/>
        </p:nvSpPr>
        <p:spPr>
          <a:xfrm>
            <a:off x="5638800" y="2819400"/>
            <a:ext cx="3057247"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smtClean="0"/>
              <a:t>化学平衡的移动</a:t>
            </a:r>
            <a:endParaRPr lang="en-US" sz="3000" dirty="0"/>
          </a:p>
        </p:txBody>
      </p:sp>
      <p:cxnSp>
        <p:nvCxnSpPr>
          <p:cNvPr id="11" name="Curved Connector 10"/>
          <p:cNvCxnSpPr/>
          <p:nvPr/>
        </p:nvCxnSpPr>
        <p:spPr>
          <a:xfrm>
            <a:off x="6248400" y="2133600"/>
            <a:ext cx="1066800" cy="609600"/>
          </a:xfrm>
          <a:prstGeom prst="curvedConnector3">
            <a:avLst>
              <a:gd name="adj1" fmla="val 46104"/>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par>
                                <p:cTn id="28" presetID="3" presetClass="entr" presetSubtype="1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浓度对化学平衡的影响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zh-CN" altLang="en-US" dirty="0" smtClean="0"/>
              <a:t>可逆反应</a:t>
            </a:r>
            <a:r>
              <a:rPr lang="en-US" altLang="zh-CN" dirty="0" smtClean="0"/>
              <a:t>		A + 	B  </a:t>
            </a:r>
            <a:r>
              <a:rPr lang="en-US" altLang="zh-CN" dirty="0" smtClean="0">
                <a:sym typeface="Wingdings" pitchFamily="2" charset="2"/>
              </a:rPr>
              <a:t>&lt;--&gt; </a:t>
            </a:r>
            <a:r>
              <a:rPr lang="en-US" altLang="zh-CN" dirty="0" smtClean="0"/>
              <a:t> C + D</a:t>
            </a:r>
            <a:r>
              <a:rPr lang="zh-CN" altLang="en-US" dirty="0" smtClean="0"/>
              <a:t> </a:t>
            </a:r>
            <a:endParaRPr lang="en-US" altLang="zh-CN" dirty="0" smtClean="0"/>
          </a:p>
          <a:p>
            <a:pPr>
              <a:spcBef>
                <a:spcPts val="300"/>
              </a:spcBef>
              <a:buNone/>
            </a:pPr>
            <a:r>
              <a:rPr lang="zh-CN" altLang="en-US" dirty="0" smtClean="0"/>
              <a:t>当达到平衡时，在平衡体系中加入</a:t>
            </a:r>
            <a:r>
              <a:rPr lang="en-US" altLang="zh-CN" dirty="0" smtClean="0"/>
              <a:t>A</a:t>
            </a:r>
            <a:r>
              <a:rPr lang="zh-CN" altLang="en-US" dirty="0" smtClean="0"/>
              <a:t>，则平衡向正反应方向移动。</a:t>
            </a:r>
            <a:endParaRPr lang="en-US" altLang="zh-CN" dirty="0" smtClean="0"/>
          </a:p>
          <a:p>
            <a:pPr>
              <a:spcBef>
                <a:spcPts val="300"/>
              </a:spcBef>
              <a:buNone/>
            </a:pPr>
            <a:r>
              <a:rPr lang="zh-CN" altLang="en-US" dirty="0" smtClean="0"/>
              <a:t>思考：比较各物质的浓度在新平衡体系与原平衡体系的大小。</a:t>
            </a:r>
            <a:endParaRPr lang="en-US" altLang="zh-CN" dirty="0" smtClean="0"/>
          </a:p>
          <a:p>
            <a:pPr>
              <a:spcBef>
                <a:spcPts val="300"/>
              </a:spcBef>
              <a:buNone/>
            </a:pPr>
            <a:r>
              <a:rPr lang="en-US" altLang="zh-CN" dirty="0" smtClean="0"/>
              <a:t>[A] </a:t>
            </a:r>
            <a:r>
              <a:rPr lang="zh-CN" altLang="en-US" dirty="0" smtClean="0"/>
              <a:t>增加</a:t>
            </a:r>
            <a:endParaRPr lang="en-US" altLang="zh-CN" dirty="0" smtClean="0"/>
          </a:p>
          <a:p>
            <a:pPr>
              <a:spcBef>
                <a:spcPts val="300"/>
              </a:spcBef>
              <a:buNone/>
            </a:pPr>
            <a:r>
              <a:rPr lang="en-US" altLang="zh-CN" dirty="0" smtClean="0"/>
              <a:t>[B] </a:t>
            </a:r>
            <a:r>
              <a:rPr lang="zh-CN" altLang="en-US" dirty="0" smtClean="0"/>
              <a:t>减少</a:t>
            </a:r>
            <a:endParaRPr lang="en-US" altLang="zh-CN" dirty="0" smtClean="0"/>
          </a:p>
          <a:p>
            <a:pPr>
              <a:spcBef>
                <a:spcPts val="300"/>
              </a:spcBef>
              <a:buNone/>
            </a:pPr>
            <a:r>
              <a:rPr lang="en-US" altLang="zh-CN" dirty="0" smtClean="0"/>
              <a:t>[C] </a:t>
            </a:r>
            <a:r>
              <a:rPr lang="zh-CN" altLang="en-US" dirty="0" smtClean="0"/>
              <a:t>增加</a:t>
            </a:r>
            <a:endParaRPr lang="en-US" altLang="zh-CN" dirty="0" smtClean="0"/>
          </a:p>
          <a:p>
            <a:pPr>
              <a:spcBef>
                <a:spcPts val="300"/>
              </a:spcBef>
              <a:buNone/>
            </a:pPr>
            <a:r>
              <a:rPr lang="en-US" altLang="zh-CN" dirty="0" smtClean="0"/>
              <a:t>[D] </a:t>
            </a:r>
            <a:r>
              <a:rPr lang="zh-CN" altLang="en-US" dirty="0" smtClean="0"/>
              <a:t>增加</a:t>
            </a:r>
            <a:endParaRPr lang="en-US" altLang="zh-CN" dirty="0" smtClean="0"/>
          </a:p>
          <a:p>
            <a:pPr>
              <a:spcBef>
                <a:spcPts val="300"/>
              </a:spcBef>
              <a:buNone/>
            </a:pPr>
            <a:endParaRPr lang="en-US" altLang="zh-CN" dirty="0" smtClean="0"/>
          </a:p>
        </p:txBody>
      </p:sp>
      <p:grpSp>
        <p:nvGrpSpPr>
          <p:cNvPr id="6" name="Group 5"/>
          <p:cNvGrpSpPr/>
          <p:nvPr/>
        </p:nvGrpSpPr>
        <p:grpSpPr>
          <a:xfrm>
            <a:off x="609600" y="1143002"/>
            <a:ext cx="7848600" cy="4952998"/>
            <a:chOff x="2133600" y="3581399"/>
            <a:chExt cx="4082236" cy="2895599"/>
          </a:xfrm>
        </p:grpSpPr>
        <p:grpSp>
          <p:nvGrpSpPr>
            <p:cNvPr id="7" name="Group 9"/>
            <p:cNvGrpSpPr/>
            <p:nvPr/>
          </p:nvGrpSpPr>
          <p:grpSpPr>
            <a:xfrm>
              <a:off x="2133600" y="3581399"/>
              <a:ext cx="4082236" cy="2895599"/>
              <a:chOff x="2133600" y="3581399"/>
              <a:chExt cx="4082236" cy="2895599"/>
            </a:xfrm>
          </p:grpSpPr>
          <p:pic>
            <p:nvPicPr>
              <p:cNvPr id="9" name="Picture 8" descr="chap21pg188.jpg"/>
              <p:cNvPicPr>
                <a:picLocks noChangeAspect="1"/>
              </p:cNvPicPr>
              <p:nvPr/>
            </p:nvPicPr>
            <p:blipFill>
              <a:blip r:embed="rId3"/>
              <a:srcRect t="45591" r="48307" b="5521"/>
              <a:stretch>
                <a:fillRect/>
              </a:stretch>
            </p:blipFill>
            <p:spPr>
              <a:xfrm>
                <a:off x="2133600" y="3581399"/>
                <a:ext cx="4082236" cy="2895599"/>
              </a:xfrm>
              <a:prstGeom prst="rect">
                <a:avLst/>
              </a:prstGeom>
            </p:spPr>
          </p:pic>
          <p:sp>
            <p:nvSpPr>
              <p:cNvPr id="10" name="Rectangle 9"/>
              <p:cNvSpPr/>
              <p:nvPr/>
            </p:nvSpPr>
            <p:spPr>
              <a:xfrm>
                <a:off x="3075821" y="4503990"/>
                <a:ext cx="484580" cy="41384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1" name="Rectangle 10"/>
              <p:cNvSpPr/>
              <p:nvPr/>
            </p:nvSpPr>
            <p:spPr>
              <a:xfrm>
                <a:off x="3322601" y="5617682"/>
                <a:ext cx="484580" cy="413841"/>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2" name="Rectangle 11"/>
              <p:cNvSpPr/>
              <p:nvPr/>
            </p:nvSpPr>
            <p:spPr>
              <a:xfrm>
                <a:off x="4392701" y="3982329"/>
                <a:ext cx="530437" cy="41384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3" name="Rectangle 12"/>
              <p:cNvSpPr/>
              <p:nvPr/>
            </p:nvSpPr>
            <p:spPr>
              <a:xfrm>
                <a:off x="4419600" y="5029200"/>
                <a:ext cx="530437" cy="413841"/>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grpSp>
        <p:sp>
          <p:nvSpPr>
            <p:cNvPr id="8" name="Rectangle 7"/>
            <p:cNvSpPr/>
            <p:nvPr/>
          </p:nvSpPr>
          <p:spPr>
            <a:xfrm>
              <a:off x="2506600" y="3670495"/>
              <a:ext cx="261133" cy="449827"/>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400" b="1" dirty="0" smtClean="0">
                  <a:solidFill>
                    <a:schemeClr val="tx1"/>
                  </a:solidFill>
                  <a:effectLst>
                    <a:outerShdw blurRad="38100" dist="38100" dir="2700000" algn="tl">
                      <a:srgbClr val="000000">
                        <a:alpha val="43137"/>
                      </a:srgbClr>
                    </a:outerShdw>
                  </a:effectLst>
                </a:rPr>
                <a:t>R</a:t>
              </a:r>
              <a:endParaRPr lang="en-US" sz="4400" dirty="0">
                <a:solidFill>
                  <a:schemeClr val="tx1"/>
                </a:solidFill>
              </a:endParaRPr>
            </a:p>
          </p:txBody>
        </p:sp>
      </p:grpSp>
      <p:sp>
        <p:nvSpPr>
          <p:cNvPr id="14" name="Rectangle 13"/>
          <p:cNvSpPr/>
          <p:nvPr/>
        </p:nvSpPr>
        <p:spPr>
          <a:xfrm>
            <a:off x="6477000" y="2797314"/>
            <a:ext cx="1954586" cy="707886"/>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4000" b="1" dirty="0" smtClean="0">
                <a:solidFill>
                  <a:srgbClr val="002060"/>
                </a:solidFill>
                <a:effectLst>
                  <a:outerShdw blurRad="38100" dist="38100" dir="2700000" algn="tl">
                    <a:srgbClr val="000000">
                      <a:alpha val="43137"/>
                    </a:srgbClr>
                  </a:outerShdw>
                </a:effectLst>
              </a:rPr>
              <a:t>新平衡 </a:t>
            </a:r>
            <a:endParaRPr lang="en-US" sz="4000" dirty="0"/>
          </a:p>
        </p:txBody>
      </p:sp>
      <p:pic>
        <p:nvPicPr>
          <p:cNvPr id="15" name="Picture 14" descr="chap21188.jpg"/>
          <p:cNvPicPr>
            <a:picLocks noChangeAspect="1"/>
          </p:cNvPicPr>
          <p:nvPr/>
        </p:nvPicPr>
        <p:blipFill>
          <a:blip r:embed="rId4"/>
          <a:srcRect t="27200" b="4000"/>
          <a:stretch>
            <a:fillRect/>
          </a:stretch>
        </p:blipFill>
        <p:spPr>
          <a:xfrm>
            <a:off x="838200" y="1447800"/>
            <a:ext cx="7679070" cy="457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par>
                                <p:cTn id="13" presetID="3" presetClass="exit" presetSubtype="10" fill="hold" grpId="1" nodeType="withEffect">
                                  <p:stCondLst>
                                    <p:cond delay="0"/>
                                  </p:stCondLst>
                                  <p:childTnLst>
                                    <p:animEffect transition="out" filter="blinds(horizontal)">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linds(horizontal)">
                                      <p:cBhvr>
                                        <p:cTn id="20" dur="5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linds(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blinds(horizontal)">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blinds(horizontal)">
                                      <p:cBhvr>
                                        <p:cTn id="35" dur="5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blinds(horizontal)">
                                      <p:cBhvr>
                                        <p:cTn id="40" dur="500"/>
                                        <p:tgtEl>
                                          <p:spTgt spid="3">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blinds(horizontal)">
                                      <p:cBhvr>
                                        <p:cTn id="45" dur="500"/>
                                        <p:tgtEl>
                                          <p:spTgt spid="3">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blinds(horizontal)">
                                      <p:cBhvr>
                                        <p:cTn id="50" dur="5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linds(horizontal)">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P spid="14"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浓度对化学平衡的影响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endParaRPr lang="en-US" altLang="zh-CN" dirty="0" smtClean="0"/>
          </a:p>
        </p:txBody>
      </p:sp>
      <p:grpSp>
        <p:nvGrpSpPr>
          <p:cNvPr id="16" name="Group 15"/>
          <p:cNvGrpSpPr/>
          <p:nvPr/>
        </p:nvGrpSpPr>
        <p:grpSpPr>
          <a:xfrm>
            <a:off x="838200" y="973667"/>
            <a:ext cx="6858000" cy="5350933"/>
            <a:chOff x="838200" y="990600"/>
            <a:chExt cx="6858000" cy="5350933"/>
          </a:xfrm>
        </p:grpSpPr>
        <p:pic>
          <p:nvPicPr>
            <p:cNvPr id="15" name="Picture 14" descr="chap21pg188.jpg"/>
            <p:cNvPicPr>
              <a:picLocks noChangeAspect="1"/>
            </p:cNvPicPr>
            <p:nvPr/>
          </p:nvPicPr>
          <p:blipFill>
            <a:blip r:embed="rId3"/>
            <a:srcRect l="52893" t="47527" r="5713" b="3413"/>
            <a:stretch>
              <a:fillRect/>
            </a:stretch>
          </p:blipFill>
          <p:spPr>
            <a:xfrm>
              <a:off x="838200" y="990600"/>
              <a:ext cx="6858000" cy="5350933"/>
            </a:xfrm>
            <a:prstGeom prst="rect">
              <a:avLst/>
            </a:prstGeom>
          </p:spPr>
        </p:pic>
        <p:sp>
          <p:nvSpPr>
            <p:cNvPr id="10" name="Rectangle 9"/>
            <p:cNvSpPr/>
            <p:nvPr/>
          </p:nvSpPr>
          <p:spPr>
            <a:xfrm>
              <a:off x="2497335" y="2209800"/>
              <a:ext cx="931665" cy="70788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1" name="Rectangle 10"/>
            <p:cNvSpPr/>
            <p:nvPr/>
          </p:nvSpPr>
          <p:spPr>
            <a:xfrm>
              <a:off x="2649735" y="4267200"/>
              <a:ext cx="931665"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8" name="Rectangle 7"/>
            <p:cNvSpPr/>
            <p:nvPr/>
          </p:nvSpPr>
          <p:spPr>
            <a:xfrm>
              <a:off x="1021940" y="1219200"/>
              <a:ext cx="502060" cy="769441"/>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400" b="1" dirty="0" smtClean="0">
                  <a:solidFill>
                    <a:schemeClr val="tx1"/>
                  </a:solidFill>
                  <a:effectLst>
                    <a:outerShdw blurRad="38100" dist="38100" dir="2700000" algn="tl">
                      <a:srgbClr val="000000">
                        <a:alpha val="43137"/>
                      </a:srgbClr>
                    </a:outerShdw>
                  </a:effectLst>
                </a:rPr>
                <a:t>R</a:t>
              </a:r>
              <a:endParaRPr lang="en-US" sz="4400" dirty="0">
                <a:solidFill>
                  <a:schemeClr val="tx1"/>
                </a:solidFill>
              </a:endParaRPr>
            </a:p>
          </p:txBody>
        </p:sp>
        <p:sp>
          <p:nvSpPr>
            <p:cNvPr id="12" name="Rectangle 11"/>
            <p:cNvSpPr/>
            <p:nvPr/>
          </p:nvSpPr>
          <p:spPr>
            <a:xfrm>
              <a:off x="4618970" y="3025914"/>
              <a:ext cx="1019830" cy="70788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3" name="Rectangle 12"/>
            <p:cNvSpPr/>
            <p:nvPr/>
          </p:nvSpPr>
          <p:spPr>
            <a:xfrm>
              <a:off x="4623716" y="4626114"/>
              <a:ext cx="1019830"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grpSp>
      <p:sp>
        <p:nvSpPr>
          <p:cNvPr id="14" name="Rectangle 13"/>
          <p:cNvSpPr/>
          <p:nvPr/>
        </p:nvSpPr>
        <p:spPr>
          <a:xfrm>
            <a:off x="6122614" y="3787914"/>
            <a:ext cx="1954586" cy="707886"/>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4000" b="1" dirty="0" smtClean="0">
                <a:solidFill>
                  <a:srgbClr val="002060"/>
                </a:solidFill>
                <a:effectLst>
                  <a:outerShdw blurRad="38100" dist="38100" dir="2700000" algn="tl">
                    <a:srgbClr val="000000">
                      <a:alpha val="43137"/>
                    </a:srgbClr>
                  </a:outerShdw>
                </a:effectLst>
              </a:rPr>
              <a:t>新平衡 </a:t>
            </a:r>
            <a:endParaRPr 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浓度对化学平衡的影响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zh-CN" altLang="en-US" dirty="0" smtClean="0"/>
              <a:t>可逆反应</a:t>
            </a:r>
            <a:r>
              <a:rPr lang="en-US" altLang="zh-CN" dirty="0" smtClean="0"/>
              <a:t>		A + 	B  </a:t>
            </a:r>
            <a:r>
              <a:rPr lang="en-US" altLang="zh-CN" dirty="0" smtClean="0">
                <a:sym typeface="Wingdings" pitchFamily="2" charset="2"/>
              </a:rPr>
              <a:t>&lt;--&gt; </a:t>
            </a:r>
            <a:r>
              <a:rPr lang="en-US" altLang="zh-CN" dirty="0" smtClean="0"/>
              <a:t> C + D</a:t>
            </a:r>
            <a:r>
              <a:rPr lang="zh-CN" altLang="en-US" dirty="0" smtClean="0"/>
              <a:t> </a:t>
            </a:r>
            <a:endParaRPr lang="en-US" altLang="zh-CN" dirty="0" smtClean="0"/>
          </a:p>
          <a:p>
            <a:pPr>
              <a:spcBef>
                <a:spcPts val="300"/>
              </a:spcBef>
              <a:buNone/>
            </a:pPr>
            <a:r>
              <a:rPr lang="zh-CN" altLang="en-US" dirty="0" smtClean="0"/>
              <a:t>当达到平衡时，在平衡体系中减少</a:t>
            </a:r>
            <a:r>
              <a:rPr lang="en-US" altLang="zh-CN" dirty="0" smtClean="0"/>
              <a:t>C</a:t>
            </a:r>
            <a:r>
              <a:rPr lang="zh-CN" altLang="en-US" dirty="0" smtClean="0"/>
              <a:t>，则平衡向正反应方向移动。</a:t>
            </a:r>
            <a:endParaRPr lang="en-US" altLang="zh-CN" dirty="0" smtClean="0"/>
          </a:p>
          <a:p>
            <a:pPr>
              <a:spcBef>
                <a:spcPts val="300"/>
              </a:spcBef>
              <a:buNone/>
            </a:pPr>
            <a:r>
              <a:rPr lang="zh-CN" altLang="en-US" dirty="0" smtClean="0"/>
              <a:t>思考：比较各物质的浓度在新平衡体系与原平衡体系的大小。</a:t>
            </a:r>
            <a:endParaRPr lang="en-US" altLang="zh-CN" dirty="0" smtClean="0"/>
          </a:p>
          <a:p>
            <a:pPr>
              <a:spcBef>
                <a:spcPts val="300"/>
              </a:spcBef>
              <a:buNone/>
            </a:pPr>
            <a:r>
              <a:rPr lang="en-US" altLang="zh-CN" dirty="0" smtClean="0"/>
              <a:t>[A] </a:t>
            </a:r>
            <a:r>
              <a:rPr lang="zh-CN" altLang="en-US" dirty="0" smtClean="0"/>
              <a:t>减少</a:t>
            </a:r>
            <a:endParaRPr lang="en-US" altLang="zh-CN" dirty="0" smtClean="0"/>
          </a:p>
          <a:p>
            <a:pPr>
              <a:spcBef>
                <a:spcPts val="300"/>
              </a:spcBef>
              <a:buNone/>
            </a:pPr>
            <a:r>
              <a:rPr lang="en-US" altLang="zh-CN" dirty="0" smtClean="0"/>
              <a:t>[B] </a:t>
            </a:r>
            <a:r>
              <a:rPr lang="zh-CN" altLang="en-US" dirty="0" smtClean="0"/>
              <a:t>减少</a:t>
            </a:r>
            <a:endParaRPr lang="en-US" altLang="zh-CN" dirty="0" smtClean="0"/>
          </a:p>
          <a:p>
            <a:pPr>
              <a:spcBef>
                <a:spcPts val="300"/>
              </a:spcBef>
              <a:buNone/>
            </a:pPr>
            <a:r>
              <a:rPr lang="en-US" altLang="zh-CN" dirty="0" smtClean="0"/>
              <a:t>[C] </a:t>
            </a:r>
            <a:r>
              <a:rPr lang="zh-CN" altLang="en-US" dirty="0" smtClean="0"/>
              <a:t>减少</a:t>
            </a:r>
            <a:endParaRPr lang="en-US" altLang="zh-CN" dirty="0" smtClean="0"/>
          </a:p>
          <a:p>
            <a:pPr>
              <a:spcBef>
                <a:spcPts val="300"/>
              </a:spcBef>
              <a:buNone/>
            </a:pPr>
            <a:r>
              <a:rPr lang="en-US" altLang="zh-CN" dirty="0" smtClean="0"/>
              <a:t>[D] </a:t>
            </a:r>
            <a:r>
              <a:rPr lang="zh-CN" altLang="en-US" dirty="0" smtClean="0"/>
              <a:t>增加</a:t>
            </a:r>
            <a:endParaRPr lang="en-US" altLang="zh-CN" dirty="0" smtClean="0"/>
          </a:p>
          <a:p>
            <a:pPr>
              <a:spcBef>
                <a:spcPts val="300"/>
              </a:spcBef>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浓度对化学平衡的影响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zh-CN" altLang="en-US" dirty="0" smtClean="0"/>
              <a:t>可逆反应</a:t>
            </a:r>
            <a:r>
              <a:rPr lang="en-US" altLang="zh-CN" dirty="0" smtClean="0"/>
              <a:t>		A + 	B  </a:t>
            </a:r>
            <a:r>
              <a:rPr lang="en-US" altLang="zh-CN" dirty="0" smtClean="0">
                <a:sym typeface="Wingdings" pitchFamily="2" charset="2"/>
              </a:rPr>
              <a:t>&lt;--&gt; </a:t>
            </a:r>
            <a:r>
              <a:rPr lang="en-US" altLang="zh-CN" dirty="0" smtClean="0"/>
              <a:t> C + D</a:t>
            </a:r>
            <a:r>
              <a:rPr lang="zh-CN" altLang="en-US" dirty="0" smtClean="0"/>
              <a:t> </a:t>
            </a:r>
            <a:endParaRPr lang="en-US" altLang="zh-CN" dirty="0" smtClean="0"/>
          </a:p>
          <a:p>
            <a:pPr>
              <a:spcBef>
                <a:spcPts val="300"/>
              </a:spcBef>
              <a:buNone/>
            </a:pPr>
            <a:r>
              <a:rPr lang="zh-CN" altLang="en-US" dirty="0" smtClean="0"/>
              <a:t>当达到平衡时，在平衡体系中增加</a:t>
            </a:r>
            <a:r>
              <a:rPr lang="en-US" altLang="zh-CN" dirty="0" smtClean="0"/>
              <a:t>D</a:t>
            </a:r>
            <a:r>
              <a:rPr lang="zh-CN" altLang="en-US" dirty="0" smtClean="0"/>
              <a:t>，则平衡向逆反应方向移动。</a:t>
            </a:r>
            <a:endParaRPr lang="en-US" altLang="zh-CN" dirty="0" smtClean="0"/>
          </a:p>
          <a:p>
            <a:pPr>
              <a:spcBef>
                <a:spcPts val="300"/>
              </a:spcBef>
              <a:buNone/>
            </a:pPr>
            <a:r>
              <a:rPr lang="zh-CN" altLang="en-US" dirty="0" smtClean="0"/>
              <a:t>思考：比较各物质的浓度在新平衡体系与原平衡体系的大小。</a:t>
            </a:r>
            <a:endParaRPr lang="en-US" altLang="zh-CN" dirty="0" smtClean="0"/>
          </a:p>
          <a:p>
            <a:pPr>
              <a:spcBef>
                <a:spcPts val="300"/>
              </a:spcBef>
              <a:buNone/>
            </a:pPr>
            <a:r>
              <a:rPr lang="en-US" altLang="zh-CN" dirty="0" smtClean="0"/>
              <a:t>[A] </a:t>
            </a:r>
            <a:r>
              <a:rPr lang="zh-CN" altLang="en-US" dirty="0" smtClean="0"/>
              <a:t>增加</a:t>
            </a:r>
            <a:endParaRPr lang="en-US" altLang="zh-CN" dirty="0" smtClean="0"/>
          </a:p>
          <a:p>
            <a:pPr>
              <a:spcBef>
                <a:spcPts val="300"/>
              </a:spcBef>
              <a:buNone/>
            </a:pPr>
            <a:r>
              <a:rPr lang="en-US" altLang="zh-CN" dirty="0" smtClean="0"/>
              <a:t>[B] </a:t>
            </a:r>
            <a:r>
              <a:rPr lang="zh-CN" altLang="en-US" dirty="0" smtClean="0"/>
              <a:t>增加</a:t>
            </a:r>
            <a:endParaRPr lang="en-US" altLang="zh-CN" dirty="0" smtClean="0"/>
          </a:p>
          <a:p>
            <a:pPr>
              <a:spcBef>
                <a:spcPts val="300"/>
              </a:spcBef>
              <a:buNone/>
            </a:pPr>
            <a:r>
              <a:rPr lang="en-US" altLang="zh-CN" dirty="0" smtClean="0"/>
              <a:t>[C] </a:t>
            </a:r>
            <a:r>
              <a:rPr lang="zh-CN" altLang="en-US" dirty="0" smtClean="0"/>
              <a:t>减少</a:t>
            </a:r>
            <a:endParaRPr lang="en-US" altLang="zh-CN" dirty="0" smtClean="0"/>
          </a:p>
          <a:p>
            <a:pPr>
              <a:spcBef>
                <a:spcPts val="300"/>
              </a:spcBef>
              <a:buNone/>
            </a:pPr>
            <a:r>
              <a:rPr lang="en-US" altLang="zh-CN" dirty="0" smtClean="0"/>
              <a:t>[D] </a:t>
            </a:r>
            <a:r>
              <a:rPr lang="zh-CN" altLang="en-US" dirty="0" smtClean="0"/>
              <a:t>增加</a:t>
            </a:r>
            <a:endParaRPr lang="en-US" altLang="zh-CN" dirty="0" smtClean="0"/>
          </a:p>
          <a:p>
            <a:pPr>
              <a:spcBef>
                <a:spcPts val="300"/>
              </a:spcBef>
              <a:buNone/>
            </a:pPr>
            <a:endParaRPr lang="en-US" altLang="zh-CN" dirty="0" smtClean="0"/>
          </a:p>
        </p:txBody>
      </p:sp>
      <p:grpSp>
        <p:nvGrpSpPr>
          <p:cNvPr id="32" name="Group 31"/>
          <p:cNvGrpSpPr/>
          <p:nvPr/>
        </p:nvGrpSpPr>
        <p:grpSpPr>
          <a:xfrm>
            <a:off x="533400" y="838200"/>
            <a:ext cx="7848600" cy="5051284"/>
            <a:chOff x="457200" y="1143002"/>
            <a:chExt cx="7848600" cy="5051284"/>
          </a:xfrm>
        </p:grpSpPr>
        <p:grpSp>
          <p:nvGrpSpPr>
            <p:cNvPr id="16" name="Group 15"/>
            <p:cNvGrpSpPr/>
            <p:nvPr/>
          </p:nvGrpSpPr>
          <p:grpSpPr>
            <a:xfrm>
              <a:off x="457200" y="1143002"/>
              <a:ext cx="7848600" cy="4952998"/>
              <a:chOff x="2133600" y="3581399"/>
              <a:chExt cx="4082236" cy="2895599"/>
            </a:xfrm>
          </p:grpSpPr>
          <p:grpSp>
            <p:nvGrpSpPr>
              <p:cNvPr id="17" name="Group 9"/>
              <p:cNvGrpSpPr/>
              <p:nvPr/>
            </p:nvGrpSpPr>
            <p:grpSpPr>
              <a:xfrm>
                <a:off x="2133600" y="3581399"/>
                <a:ext cx="4082236" cy="2895599"/>
                <a:chOff x="2133600" y="3581399"/>
                <a:chExt cx="4082236" cy="2895599"/>
              </a:xfrm>
            </p:grpSpPr>
            <p:pic>
              <p:nvPicPr>
                <p:cNvPr id="19" name="Picture 18" descr="chap21pg188.jpg"/>
                <p:cNvPicPr>
                  <a:picLocks noChangeAspect="1"/>
                </p:cNvPicPr>
                <p:nvPr/>
              </p:nvPicPr>
              <p:blipFill>
                <a:blip r:embed="rId3"/>
                <a:srcRect t="45591" r="48307" b="5521"/>
                <a:stretch>
                  <a:fillRect/>
                </a:stretch>
              </p:blipFill>
              <p:spPr>
                <a:xfrm>
                  <a:off x="2133600" y="3581399"/>
                  <a:ext cx="4082236" cy="2895599"/>
                </a:xfrm>
                <a:prstGeom prst="rect">
                  <a:avLst/>
                </a:prstGeom>
              </p:spPr>
            </p:pic>
            <p:sp>
              <p:nvSpPr>
                <p:cNvPr id="21" name="Rectangle 20"/>
                <p:cNvSpPr/>
                <p:nvPr/>
              </p:nvSpPr>
              <p:spPr>
                <a:xfrm>
                  <a:off x="3075821" y="4503990"/>
                  <a:ext cx="484580" cy="41384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22" name="Rectangle 21"/>
                <p:cNvSpPr/>
                <p:nvPr/>
              </p:nvSpPr>
              <p:spPr>
                <a:xfrm>
                  <a:off x="3322601" y="5617682"/>
                  <a:ext cx="484580" cy="413841"/>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23" name="Rectangle 22"/>
                <p:cNvSpPr/>
                <p:nvPr/>
              </p:nvSpPr>
              <p:spPr>
                <a:xfrm>
                  <a:off x="4392701" y="5051472"/>
                  <a:ext cx="530437" cy="41384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25" name="Rectangle 24"/>
                <p:cNvSpPr/>
                <p:nvPr/>
              </p:nvSpPr>
              <p:spPr>
                <a:xfrm>
                  <a:off x="4392701" y="3969415"/>
                  <a:ext cx="530437" cy="413841"/>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grpSp>
          <p:sp>
            <p:nvSpPr>
              <p:cNvPr id="18" name="Rectangle 17"/>
              <p:cNvSpPr/>
              <p:nvPr/>
            </p:nvSpPr>
            <p:spPr>
              <a:xfrm>
                <a:off x="2506600" y="3670495"/>
                <a:ext cx="261133" cy="449827"/>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400" b="1" dirty="0" smtClean="0">
                    <a:solidFill>
                      <a:schemeClr val="tx1"/>
                    </a:solidFill>
                    <a:effectLst>
                      <a:outerShdw blurRad="38100" dist="38100" dir="2700000" algn="tl">
                        <a:srgbClr val="000000">
                          <a:alpha val="43137"/>
                        </a:srgbClr>
                      </a:outerShdw>
                    </a:effectLst>
                  </a:rPr>
                  <a:t>R</a:t>
                </a:r>
                <a:endParaRPr lang="en-US" sz="4400" dirty="0">
                  <a:solidFill>
                    <a:schemeClr val="tx1"/>
                  </a:solidFill>
                </a:endParaRPr>
              </a:p>
            </p:txBody>
          </p:sp>
        </p:grpSp>
        <p:sp>
          <p:nvSpPr>
            <p:cNvPr id="26" name="Rectangle 25"/>
            <p:cNvSpPr/>
            <p:nvPr/>
          </p:nvSpPr>
          <p:spPr>
            <a:xfrm>
              <a:off x="3200400" y="5486400"/>
              <a:ext cx="1828800"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4000" b="1" dirty="0" smtClean="0"/>
                <a:t>生成物</a:t>
              </a:r>
              <a:endParaRPr lang="en-US" sz="4000" b="1" dirty="0"/>
            </a:p>
          </p:txBody>
        </p:sp>
        <p:sp>
          <p:nvSpPr>
            <p:cNvPr id="30" name="Freeform 29"/>
            <p:cNvSpPr/>
            <p:nvPr/>
          </p:nvSpPr>
          <p:spPr>
            <a:xfrm>
              <a:off x="4281055" y="1884218"/>
              <a:ext cx="2286000" cy="1177636"/>
            </a:xfrm>
            <a:custGeom>
              <a:avLst/>
              <a:gdLst>
                <a:gd name="connsiteX0" fmla="*/ 0 w 2286000"/>
                <a:gd name="connsiteY0" fmla="*/ 0 h 1177636"/>
                <a:gd name="connsiteX1" fmla="*/ 457200 w 2286000"/>
                <a:gd name="connsiteY1" fmla="*/ 498764 h 1177636"/>
                <a:gd name="connsiteX2" fmla="*/ 845127 w 2286000"/>
                <a:gd name="connsiteY2" fmla="*/ 831273 h 1177636"/>
                <a:gd name="connsiteX3" fmla="*/ 1177636 w 2286000"/>
                <a:gd name="connsiteY3" fmla="*/ 1066800 h 1177636"/>
                <a:gd name="connsiteX4" fmla="*/ 1496290 w 2286000"/>
                <a:gd name="connsiteY4" fmla="*/ 1163782 h 1177636"/>
                <a:gd name="connsiteX5" fmla="*/ 2286000 w 2286000"/>
                <a:gd name="connsiteY5" fmla="*/ 1149927 h 117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00" h="1177636">
                  <a:moveTo>
                    <a:pt x="0" y="0"/>
                  </a:moveTo>
                  <a:cubicBezTo>
                    <a:pt x="158173" y="180109"/>
                    <a:pt x="316346" y="360219"/>
                    <a:pt x="457200" y="498764"/>
                  </a:cubicBezTo>
                  <a:cubicBezTo>
                    <a:pt x="598054" y="637309"/>
                    <a:pt x="725054" y="736600"/>
                    <a:pt x="845127" y="831273"/>
                  </a:cubicBezTo>
                  <a:cubicBezTo>
                    <a:pt x="965200" y="925946"/>
                    <a:pt x="1069109" y="1011382"/>
                    <a:pt x="1177636" y="1066800"/>
                  </a:cubicBezTo>
                  <a:cubicBezTo>
                    <a:pt x="1286163" y="1122218"/>
                    <a:pt x="1311563" y="1149928"/>
                    <a:pt x="1496290" y="1163782"/>
                  </a:cubicBezTo>
                  <a:cubicBezTo>
                    <a:pt x="1681017" y="1177636"/>
                    <a:pt x="1983508" y="1163781"/>
                    <a:pt x="2286000" y="1149927"/>
                  </a:cubicBezTo>
                </a:path>
              </a:pathLst>
            </a:custGeom>
            <a:ln w="444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Freeform 30"/>
            <p:cNvSpPr/>
            <p:nvPr/>
          </p:nvSpPr>
          <p:spPr>
            <a:xfrm>
              <a:off x="4281055" y="3020291"/>
              <a:ext cx="2355272" cy="1205345"/>
            </a:xfrm>
            <a:custGeom>
              <a:avLst/>
              <a:gdLst>
                <a:gd name="connsiteX0" fmla="*/ 0 w 2355272"/>
                <a:gd name="connsiteY0" fmla="*/ 1205345 h 1205345"/>
                <a:gd name="connsiteX1" fmla="*/ 360218 w 2355272"/>
                <a:gd name="connsiteY1" fmla="*/ 762000 h 1205345"/>
                <a:gd name="connsiteX2" fmla="*/ 831272 w 2355272"/>
                <a:gd name="connsiteY2" fmla="*/ 346364 h 1205345"/>
                <a:gd name="connsiteX3" fmla="*/ 1302327 w 2355272"/>
                <a:gd name="connsiteY3" fmla="*/ 55418 h 1205345"/>
                <a:gd name="connsiteX4" fmla="*/ 2355272 w 2355272"/>
                <a:gd name="connsiteY4" fmla="*/ 13854 h 1205345"/>
                <a:gd name="connsiteX5" fmla="*/ 2355272 w 2355272"/>
                <a:gd name="connsiteY5" fmla="*/ 13854 h 120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5272" h="1205345">
                  <a:moveTo>
                    <a:pt x="0" y="1205345"/>
                  </a:moveTo>
                  <a:cubicBezTo>
                    <a:pt x="110836" y="1055254"/>
                    <a:pt x="221673" y="905164"/>
                    <a:pt x="360218" y="762000"/>
                  </a:cubicBezTo>
                  <a:cubicBezTo>
                    <a:pt x="498763" y="618837"/>
                    <a:pt x="674254" y="464128"/>
                    <a:pt x="831272" y="346364"/>
                  </a:cubicBezTo>
                  <a:cubicBezTo>
                    <a:pt x="988290" y="228600"/>
                    <a:pt x="1048327" y="110836"/>
                    <a:pt x="1302327" y="55418"/>
                  </a:cubicBezTo>
                  <a:cubicBezTo>
                    <a:pt x="1556327" y="0"/>
                    <a:pt x="2355272" y="13854"/>
                    <a:pt x="2355272" y="13854"/>
                  </a:cubicBezTo>
                  <a:lnTo>
                    <a:pt x="2355272" y="13854"/>
                  </a:lnTo>
                </a:path>
              </a:pathLst>
            </a:cu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blinds(horizontal)">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21.3.1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浓度对化学平衡的影响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zh-CN" altLang="en-US" dirty="0" smtClean="0"/>
              <a:t>可逆反应</a:t>
            </a:r>
            <a:r>
              <a:rPr lang="en-US" altLang="zh-CN" dirty="0" smtClean="0"/>
              <a:t>		A + 	B  </a:t>
            </a:r>
            <a:r>
              <a:rPr lang="en-US" altLang="zh-CN" dirty="0" smtClean="0">
                <a:sym typeface="Wingdings" pitchFamily="2" charset="2"/>
              </a:rPr>
              <a:t>&lt;--&gt; </a:t>
            </a:r>
            <a:r>
              <a:rPr lang="en-US" altLang="zh-CN" dirty="0" smtClean="0"/>
              <a:t> C + D</a:t>
            </a:r>
            <a:r>
              <a:rPr lang="zh-CN" altLang="en-US" dirty="0" smtClean="0"/>
              <a:t> </a:t>
            </a:r>
            <a:endParaRPr lang="en-US" altLang="zh-CN" dirty="0" smtClean="0"/>
          </a:p>
          <a:p>
            <a:pPr>
              <a:spcBef>
                <a:spcPts val="300"/>
              </a:spcBef>
              <a:buNone/>
            </a:pPr>
            <a:r>
              <a:rPr lang="zh-CN" altLang="en-US" dirty="0" smtClean="0"/>
              <a:t>当达到平衡时，在平衡体系中减少</a:t>
            </a:r>
            <a:r>
              <a:rPr lang="en-US" altLang="zh-CN" dirty="0" smtClean="0"/>
              <a:t>B</a:t>
            </a:r>
            <a:r>
              <a:rPr lang="zh-CN" altLang="en-US" dirty="0" smtClean="0"/>
              <a:t>，则平衡向逆反应方向移动。</a:t>
            </a:r>
            <a:endParaRPr lang="en-US" altLang="zh-CN" dirty="0" smtClean="0"/>
          </a:p>
          <a:p>
            <a:pPr>
              <a:spcBef>
                <a:spcPts val="300"/>
              </a:spcBef>
              <a:buNone/>
            </a:pPr>
            <a:r>
              <a:rPr lang="zh-CN" altLang="en-US" dirty="0" smtClean="0"/>
              <a:t>思考：比较各物质的浓度在新平衡体系与原平衡体系的大小。</a:t>
            </a:r>
            <a:endParaRPr lang="en-US" altLang="zh-CN" dirty="0" smtClean="0"/>
          </a:p>
          <a:p>
            <a:pPr>
              <a:spcBef>
                <a:spcPts val="300"/>
              </a:spcBef>
              <a:buNone/>
            </a:pPr>
            <a:r>
              <a:rPr lang="en-US" altLang="zh-CN" dirty="0" smtClean="0"/>
              <a:t>[A] </a:t>
            </a:r>
            <a:r>
              <a:rPr lang="zh-CN" altLang="en-US" dirty="0" smtClean="0"/>
              <a:t>增加</a:t>
            </a:r>
            <a:endParaRPr lang="en-US" altLang="zh-CN" dirty="0" smtClean="0"/>
          </a:p>
          <a:p>
            <a:pPr>
              <a:spcBef>
                <a:spcPts val="300"/>
              </a:spcBef>
              <a:buNone/>
            </a:pPr>
            <a:r>
              <a:rPr lang="en-US" altLang="zh-CN" dirty="0" smtClean="0"/>
              <a:t>[B] </a:t>
            </a:r>
            <a:r>
              <a:rPr lang="zh-CN" altLang="en-US" dirty="0" smtClean="0"/>
              <a:t>减少</a:t>
            </a:r>
            <a:endParaRPr lang="en-US" altLang="zh-CN" dirty="0" smtClean="0"/>
          </a:p>
          <a:p>
            <a:pPr>
              <a:spcBef>
                <a:spcPts val="300"/>
              </a:spcBef>
              <a:buNone/>
            </a:pPr>
            <a:r>
              <a:rPr lang="en-US" altLang="zh-CN" dirty="0" smtClean="0"/>
              <a:t>[C] </a:t>
            </a:r>
            <a:r>
              <a:rPr lang="zh-CN" altLang="en-US" dirty="0" smtClean="0"/>
              <a:t>减少</a:t>
            </a:r>
            <a:endParaRPr lang="en-US" altLang="zh-CN" dirty="0" smtClean="0"/>
          </a:p>
          <a:p>
            <a:pPr>
              <a:spcBef>
                <a:spcPts val="300"/>
              </a:spcBef>
              <a:buNone/>
            </a:pPr>
            <a:r>
              <a:rPr lang="en-US" altLang="zh-CN" dirty="0" smtClean="0"/>
              <a:t>[D] </a:t>
            </a:r>
            <a:r>
              <a:rPr lang="zh-CN" altLang="en-US" dirty="0" smtClean="0"/>
              <a:t>减少</a:t>
            </a:r>
            <a:endParaRPr lang="en-US" altLang="zh-CN" dirty="0" smtClean="0"/>
          </a:p>
          <a:p>
            <a:pPr>
              <a:spcBef>
                <a:spcPts val="300"/>
              </a:spcBef>
              <a:buNone/>
            </a:pPr>
            <a:endParaRPr lang="en-US" altLang="zh-CN" dirty="0" smtClean="0"/>
          </a:p>
        </p:txBody>
      </p:sp>
      <p:grpSp>
        <p:nvGrpSpPr>
          <p:cNvPr id="25" name="Group 24"/>
          <p:cNvGrpSpPr/>
          <p:nvPr/>
        </p:nvGrpSpPr>
        <p:grpSpPr>
          <a:xfrm>
            <a:off x="609600" y="914400"/>
            <a:ext cx="7162800" cy="5350933"/>
            <a:chOff x="838200" y="973667"/>
            <a:chExt cx="6858000" cy="5350933"/>
          </a:xfrm>
        </p:grpSpPr>
        <p:grpSp>
          <p:nvGrpSpPr>
            <p:cNvPr id="5" name="Group 4"/>
            <p:cNvGrpSpPr/>
            <p:nvPr/>
          </p:nvGrpSpPr>
          <p:grpSpPr>
            <a:xfrm>
              <a:off x="838200" y="973667"/>
              <a:ext cx="6858000" cy="5350933"/>
              <a:chOff x="838200" y="990600"/>
              <a:chExt cx="6858000" cy="5350933"/>
            </a:xfrm>
          </p:grpSpPr>
          <p:pic>
            <p:nvPicPr>
              <p:cNvPr id="6" name="Picture 5" descr="chap21pg188.jpg"/>
              <p:cNvPicPr>
                <a:picLocks noChangeAspect="1"/>
              </p:cNvPicPr>
              <p:nvPr/>
            </p:nvPicPr>
            <p:blipFill>
              <a:blip r:embed="rId3"/>
              <a:srcRect l="52893" t="47527" r="5713" b="3413"/>
              <a:stretch>
                <a:fillRect/>
              </a:stretch>
            </p:blipFill>
            <p:spPr>
              <a:xfrm>
                <a:off x="838200" y="990600"/>
                <a:ext cx="6858000" cy="5350933"/>
              </a:xfrm>
              <a:prstGeom prst="rect">
                <a:avLst/>
              </a:prstGeom>
            </p:spPr>
          </p:pic>
          <p:sp>
            <p:nvSpPr>
              <p:cNvPr id="7" name="Rectangle 6"/>
              <p:cNvSpPr/>
              <p:nvPr/>
            </p:nvSpPr>
            <p:spPr>
              <a:xfrm>
                <a:off x="2497335" y="2209800"/>
                <a:ext cx="931665" cy="70788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8" name="Rectangle 7"/>
              <p:cNvSpPr/>
              <p:nvPr/>
            </p:nvSpPr>
            <p:spPr>
              <a:xfrm>
                <a:off x="2649735" y="4267200"/>
                <a:ext cx="931665"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9" name="Rectangle 8"/>
              <p:cNvSpPr/>
              <p:nvPr/>
            </p:nvSpPr>
            <p:spPr>
              <a:xfrm>
                <a:off x="1021940" y="1219200"/>
                <a:ext cx="502060" cy="769441"/>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400" b="1" dirty="0" smtClean="0">
                    <a:solidFill>
                      <a:schemeClr val="tx1"/>
                    </a:solidFill>
                    <a:effectLst>
                      <a:outerShdw blurRad="38100" dist="38100" dir="2700000" algn="tl">
                        <a:srgbClr val="000000">
                          <a:alpha val="43137"/>
                        </a:srgbClr>
                      </a:outerShdw>
                    </a:effectLst>
                  </a:rPr>
                  <a:t>R</a:t>
                </a:r>
                <a:endParaRPr lang="en-US" sz="4400" dirty="0">
                  <a:solidFill>
                    <a:schemeClr val="tx1"/>
                  </a:solidFill>
                </a:endParaRPr>
              </a:p>
            </p:txBody>
          </p:sp>
          <p:sp>
            <p:nvSpPr>
              <p:cNvPr id="10" name="Rectangle 9"/>
              <p:cNvSpPr/>
              <p:nvPr/>
            </p:nvSpPr>
            <p:spPr>
              <a:xfrm>
                <a:off x="4618970" y="4719247"/>
                <a:ext cx="1019830" cy="70788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正</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sp>
            <p:nvSpPr>
              <p:cNvPr id="11" name="Rectangle 10"/>
              <p:cNvSpPr/>
              <p:nvPr/>
            </p:nvSpPr>
            <p:spPr>
              <a:xfrm>
                <a:off x="4623716" y="3042847"/>
                <a:ext cx="1019830" cy="707886"/>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4000" b="1" dirty="0" smtClean="0">
                    <a:solidFill>
                      <a:srgbClr val="002060"/>
                    </a:solidFill>
                    <a:effectLst>
                      <a:outerShdw blurRad="38100" dist="38100" dir="2700000" algn="tl">
                        <a:srgbClr val="000000">
                          <a:alpha val="43137"/>
                        </a:srgbClr>
                      </a:outerShdw>
                    </a:effectLst>
                  </a:rPr>
                  <a:t>R</a:t>
                </a:r>
                <a:r>
                  <a:rPr lang="zh-CN" altLang="en-US" sz="4000" b="1" baseline="-25000" dirty="0" smtClean="0">
                    <a:solidFill>
                      <a:srgbClr val="002060"/>
                    </a:solidFill>
                    <a:effectLst>
                      <a:outerShdw blurRad="38100" dist="38100" dir="2700000" algn="tl">
                        <a:srgbClr val="000000">
                          <a:alpha val="43137"/>
                        </a:srgbClr>
                      </a:outerShdw>
                    </a:effectLst>
                  </a:rPr>
                  <a:t>逆</a:t>
                </a:r>
                <a:r>
                  <a:rPr lang="en-US" altLang="zh-CN" sz="4000" b="1" baseline="30000" dirty="0" smtClean="0">
                    <a:solidFill>
                      <a:srgbClr val="002060"/>
                    </a:solidFill>
                    <a:effectLst>
                      <a:outerShdw blurRad="38100" dist="38100" dir="2700000" algn="tl">
                        <a:srgbClr val="000000">
                          <a:alpha val="43137"/>
                        </a:srgbClr>
                      </a:outerShdw>
                    </a:effectLst>
                  </a:rPr>
                  <a:t>’</a:t>
                </a:r>
                <a:r>
                  <a:rPr lang="zh-CN" altLang="en-US" sz="4000" b="1" dirty="0" smtClean="0">
                    <a:solidFill>
                      <a:srgbClr val="002060"/>
                    </a:solidFill>
                    <a:effectLst>
                      <a:outerShdw blurRad="38100" dist="38100" dir="2700000" algn="tl">
                        <a:srgbClr val="000000">
                          <a:alpha val="43137"/>
                        </a:srgbClr>
                      </a:outerShdw>
                    </a:effectLst>
                  </a:rPr>
                  <a:t> </a:t>
                </a:r>
                <a:endParaRPr lang="en-US" sz="4000" dirty="0"/>
              </a:p>
            </p:txBody>
          </p:sp>
        </p:grpSp>
        <p:sp>
          <p:nvSpPr>
            <p:cNvPr id="14" name="Rectangle 13"/>
            <p:cNvSpPr/>
            <p:nvPr/>
          </p:nvSpPr>
          <p:spPr>
            <a:xfrm>
              <a:off x="3505200" y="5464314"/>
              <a:ext cx="1905000" cy="70788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4000" b="1" dirty="0" smtClean="0"/>
                <a:t>反应物</a:t>
              </a:r>
              <a:endParaRPr lang="en-US" sz="4000" b="1" dirty="0"/>
            </a:p>
          </p:txBody>
        </p:sp>
        <p:sp>
          <p:nvSpPr>
            <p:cNvPr id="20" name="Freeform 19"/>
            <p:cNvSpPr/>
            <p:nvPr/>
          </p:nvSpPr>
          <p:spPr>
            <a:xfrm>
              <a:off x="4447309" y="4158673"/>
              <a:ext cx="1817254" cy="648854"/>
            </a:xfrm>
            <a:custGeom>
              <a:avLst/>
              <a:gdLst>
                <a:gd name="connsiteX0" fmla="*/ 0 w 1817254"/>
                <a:gd name="connsiteY0" fmla="*/ 648854 h 648854"/>
                <a:gd name="connsiteX1" fmla="*/ 387927 w 1817254"/>
                <a:gd name="connsiteY1" fmla="*/ 330200 h 648854"/>
                <a:gd name="connsiteX2" fmla="*/ 914400 w 1817254"/>
                <a:gd name="connsiteY2" fmla="*/ 53109 h 648854"/>
                <a:gd name="connsiteX3" fmla="*/ 1399309 w 1817254"/>
                <a:gd name="connsiteY3" fmla="*/ 11545 h 648854"/>
                <a:gd name="connsiteX4" fmla="*/ 1759527 w 1817254"/>
                <a:gd name="connsiteY4" fmla="*/ 11545 h 648854"/>
                <a:gd name="connsiteX5" fmla="*/ 1745673 w 1817254"/>
                <a:gd name="connsiteY5" fmla="*/ 25400 h 648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254" h="648854">
                  <a:moveTo>
                    <a:pt x="0" y="648854"/>
                  </a:moveTo>
                  <a:cubicBezTo>
                    <a:pt x="117763" y="539172"/>
                    <a:pt x="235527" y="429491"/>
                    <a:pt x="387927" y="330200"/>
                  </a:cubicBezTo>
                  <a:cubicBezTo>
                    <a:pt x="540327" y="230909"/>
                    <a:pt x="745836" y="106218"/>
                    <a:pt x="914400" y="53109"/>
                  </a:cubicBezTo>
                  <a:cubicBezTo>
                    <a:pt x="1082964" y="0"/>
                    <a:pt x="1258455" y="18472"/>
                    <a:pt x="1399309" y="11545"/>
                  </a:cubicBezTo>
                  <a:cubicBezTo>
                    <a:pt x="1540164" y="4618"/>
                    <a:pt x="1701800" y="9236"/>
                    <a:pt x="1759527" y="11545"/>
                  </a:cubicBezTo>
                  <a:cubicBezTo>
                    <a:pt x="1817254" y="13854"/>
                    <a:pt x="1781463" y="19627"/>
                    <a:pt x="1745673" y="25400"/>
                  </a:cubicBezTo>
                </a:path>
              </a:pathLst>
            </a:custGeom>
            <a:ln w="444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4475018" y="3574473"/>
              <a:ext cx="1801091" cy="616527"/>
            </a:xfrm>
            <a:custGeom>
              <a:avLst/>
              <a:gdLst>
                <a:gd name="connsiteX0" fmla="*/ 0 w 1801091"/>
                <a:gd name="connsiteY0" fmla="*/ 0 h 616527"/>
                <a:gd name="connsiteX1" fmla="*/ 277091 w 1801091"/>
                <a:gd name="connsiteY1" fmla="*/ 235528 h 616527"/>
                <a:gd name="connsiteX2" fmla="*/ 554182 w 1801091"/>
                <a:gd name="connsiteY2" fmla="*/ 401782 h 616527"/>
                <a:gd name="connsiteX3" fmla="*/ 914400 w 1801091"/>
                <a:gd name="connsiteY3" fmla="*/ 581891 h 616527"/>
                <a:gd name="connsiteX4" fmla="*/ 1801091 w 1801091"/>
                <a:gd name="connsiteY4" fmla="*/ 609600 h 616527"/>
                <a:gd name="connsiteX5" fmla="*/ 1801091 w 1801091"/>
                <a:gd name="connsiteY5" fmla="*/ 609600 h 61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1091" h="616527">
                  <a:moveTo>
                    <a:pt x="0" y="0"/>
                  </a:moveTo>
                  <a:cubicBezTo>
                    <a:pt x="92363" y="84282"/>
                    <a:pt x="184727" y="168564"/>
                    <a:pt x="277091" y="235528"/>
                  </a:cubicBezTo>
                  <a:cubicBezTo>
                    <a:pt x="369455" y="302492"/>
                    <a:pt x="447964" y="344055"/>
                    <a:pt x="554182" y="401782"/>
                  </a:cubicBezTo>
                  <a:cubicBezTo>
                    <a:pt x="660400" y="459509"/>
                    <a:pt x="706582" y="547255"/>
                    <a:pt x="914400" y="581891"/>
                  </a:cubicBezTo>
                  <a:cubicBezTo>
                    <a:pt x="1122218" y="616527"/>
                    <a:pt x="1801091" y="609600"/>
                    <a:pt x="1801091" y="609600"/>
                  </a:cubicBezTo>
                  <a:lnTo>
                    <a:pt x="1801091" y="609600"/>
                  </a:lnTo>
                </a:path>
              </a:pathLst>
            </a:custGeom>
            <a:ln w="444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压强对化学平衡的影响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lnSpc>
                <a:spcPct val="150000"/>
              </a:lnSpc>
              <a:spcBef>
                <a:spcPts val="300"/>
              </a:spcBef>
              <a:buFont typeface="Wingdings" pitchFamily="2" charset="2"/>
              <a:buChar char="Ø"/>
            </a:pPr>
            <a:r>
              <a:rPr lang="zh-CN" altLang="en-US" dirty="0" smtClean="0"/>
              <a:t>平衡状态的反应混合物中</a:t>
            </a:r>
            <a:r>
              <a:rPr lang="zh-CN" altLang="en-US" b="1" dirty="0" smtClean="0">
                <a:solidFill>
                  <a:srgbClr val="002060"/>
                </a:solidFill>
                <a:effectLst>
                  <a:outerShdw blurRad="38100" dist="38100" dir="2700000" algn="tl">
                    <a:srgbClr val="000000">
                      <a:alpha val="43137"/>
                    </a:srgbClr>
                  </a:outerShdw>
                </a:effectLst>
              </a:rPr>
              <a:t>只要有气体</a:t>
            </a:r>
            <a:r>
              <a:rPr lang="zh-CN" altLang="en-US" dirty="0" smtClean="0"/>
              <a:t>，那么改变压强也常常会使化学平衡移动。</a:t>
            </a:r>
            <a:endParaRPr lang="en-US" altLang="zh-CN" dirty="0" smtClean="0"/>
          </a:p>
          <a:p>
            <a:pPr>
              <a:lnSpc>
                <a:spcPct val="150000"/>
              </a:lnSpc>
              <a:spcBef>
                <a:spcPts val="300"/>
              </a:spcBef>
              <a:buFont typeface="Wingdings" pitchFamily="2" charset="2"/>
              <a:buChar char="Ø"/>
            </a:pPr>
            <a:r>
              <a:rPr lang="zh-CN" altLang="en-US" dirty="0" smtClean="0"/>
              <a:t>其他条件不变，增大压强，会使平衡向气体体积缩小的方向移动。</a:t>
            </a:r>
            <a:endParaRPr lang="en-US" altLang="zh-CN" dirty="0" smtClean="0"/>
          </a:p>
          <a:p>
            <a:pPr>
              <a:lnSpc>
                <a:spcPct val="150000"/>
              </a:lnSpc>
              <a:spcBef>
                <a:spcPts val="300"/>
              </a:spcBef>
              <a:buFont typeface="Wingdings" pitchFamily="2" charset="2"/>
              <a:buChar char="Ø"/>
            </a:pPr>
            <a:r>
              <a:rPr lang="zh-CN" altLang="en-US" dirty="0" smtClean="0"/>
              <a:t>反应前后气体总体积没有变化的可逆反应，压强不影响平衡移动。</a:t>
            </a:r>
            <a:endParaRPr lang="en-US" altLang="zh-CN" dirty="0" smtClean="0"/>
          </a:p>
          <a:p>
            <a:pPr>
              <a:lnSpc>
                <a:spcPct val="150000"/>
              </a:lnSpc>
              <a:spcBef>
                <a:spcPts val="300"/>
              </a:spcBef>
              <a:buNone/>
            </a:pPr>
            <a:endParaRPr lang="en-US" altLang="zh-CN" dirty="0" smtClean="0"/>
          </a:p>
          <a:p>
            <a:pPr>
              <a:lnSpc>
                <a:spcPct val="150000"/>
              </a:lnSpc>
              <a:spcBef>
                <a:spcPts val="300"/>
              </a:spcBef>
              <a:buFont typeface="Wingdings" pitchFamily="2" charset="2"/>
              <a:buChar char="Ø"/>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压强对化学平衡的影响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686800" cy="5638800"/>
          </a:xfrm>
        </p:spPr>
        <p:txBody>
          <a:bodyPr/>
          <a:lstStyle/>
          <a:p>
            <a:pPr>
              <a:spcBef>
                <a:spcPts val="300"/>
              </a:spcBef>
              <a:buNone/>
            </a:pPr>
            <a:r>
              <a:rPr lang="en-US" altLang="zh-CN" dirty="0" smtClean="0"/>
              <a:t>		N</a:t>
            </a:r>
            <a:r>
              <a:rPr lang="en-US" altLang="zh-CN" baseline="-25000" dirty="0" smtClean="0"/>
              <a:t>2</a:t>
            </a:r>
            <a:r>
              <a:rPr lang="en-US" altLang="zh-CN" dirty="0" smtClean="0"/>
              <a:t> +  3 H</a:t>
            </a:r>
            <a:r>
              <a:rPr lang="en-US" altLang="zh-CN" baseline="-25000" dirty="0" smtClean="0"/>
              <a:t>2</a:t>
            </a:r>
            <a:r>
              <a:rPr lang="en-US" altLang="zh-CN" dirty="0" smtClean="0"/>
              <a:t> &lt;--&gt;  2NH</a:t>
            </a:r>
            <a:r>
              <a:rPr lang="en-US" altLang="zh-CN" baseline="-25000" dirty="0" smtClean="0"/>
              <a:t>3</a:t>
            </a:r>
            <a:r>
              <a:rPr lang="en-US" altLang="zh-CN" dirty="0" smtClean="0"/>
              <a:t> </a:t>
            </a:r>
          </a:p>
          <a:p>
            <a:pPr>
              <a:spcBef>
                <a:spcPts val="300"/>
              </a:spcBef>
              <a:buNone/>
            </a:pPr>
            <a:r>
              <a:rPr lang="en-US" altLang="zh-CN" dirty="0" smtClean="0"/>
              <a:t>R</a:t>
            </a:r>
            <a:r>
              <a:rPr lang="zh-CN" altLang="en-US" baseline="-25000" dirty="0" smtClean="0"/>
              <a:t>正</a:t>
            </a:r>
            <a:r>
              <a:rPr lang="zh-CN" altLang="en-US" dirty="0" smtClean="0"/>
              <a:t> </a:t>
            </a:r>
            <a:r>
              <a:rPr lang="en-US" altLang="zh-CN" dirty="0" smtClean="0"/>
              <a:t>=k</a:t>
            </a:r>
            <a:r>
              <a:rPr lang="en-US" altLang="zh-CN" baseline="-25000" dirty="0" smtClean="0"/>
              <a:t>1</a:t>
            </a:r>
            <a:r>
              <a:rPr lang="en-US" altLang="zh-CN" dirty="0" smtClean="0"/>
              <a:t> [N</a:t>
            </a:r>
            <a:r>
              <a:rPr lang="en-US" altLang="zh-CN" baseline="-25000" dirty="0" smtClean="0"/>
              <a:t>2</a:t>
            </a:r>
            <a:r>
              <a:rPr lang="en-US" altLang="zh-CN" dirty="0" smtClean="0"/>
              <a:t>][H</a:t>
            </a:r>
            <a:r>
              <a:rPr lang="en-US" altLang="zh-CN" baseline="-25000" dirty="0" smtClean="0"/>
              <a:t>2</a:t>
            </a:r>
            <a:r>
              <a:rPr lang="en-US" altLang="zh-CN" dirty="0" smtClean="0"/>
              <a:t>]</a:t>
            </a:r>
            <a:r>
              <a:rPr lang="en-US" altLang="zh-CN" baseline="30000" dirty="0" smtClean="0"/>
              <a:t>3</a:t>
            </a:r>
            <a:r>
              <a:rPr lang="en-US" altLang="zh-CN" dirty="0" smtClean="0"/>
              <a:t> </a:t>
            </a:r>
          </a:p>
          <a:p>
            <a:pPr>
              <a:spcBef>
                <a:spcPts val="300"/>
              </a:spcBef>
              <a:buNone/>
            </a:pPr>
            <a:r>
              <a:rPr lang="en-US" altLang="zh-CN" dirty="0" smtClean="0"/>
              <a:t>R</a:t>
            </a:r>
            <a:r>
              <a:rPr lang="zh-CN" altLang="en-US" baseline="-25000" dirty="0" smtClean="0"/>
              <a:t>逆</a:t>
            </a:r>
            <a:r>
              <a:rPr lang="zh-CN" altLang="en-US" dirty="0" smtClean="0"/>
              <a:t> </a:t>
            </a:r>
            <a:r>
              <a:rPr lang="en-US" altLang="zh-CN" dirty="0" smtClean="0"/>
              <a:t>=k</a:t>
            </a:r>
            <a:r>
              <a:rPr lang="en-US" altLang="zh-CN" baseline="-25000" dirty="0" smtClean="0"/>
              <a:t>2</a:t>
            </a:r>
            <a:r>
              <a:rPr lang="en-US" altLang="zh-CN" dirty="0" smtClean="0"/>
              <a:t> [NH</a:t>
            </a:r>
            <a:r>
              <a:rPr lang="en-US" altLang="zh-CN" baseline="-25000" dirty="0" smtClean="0"/>
              <a:t>3</a:t>
            </a:r>
            <a:r>
              <a:rPr lang="en-US" altLang="zh-CN" dirty="0" smtClean="0"/>
              <a:t>]</a:t>
            </a:r>
            <a:r>
              <a:rPr lang="en-US" altLang="zh-CN" baseline="30000" dirty="0" smtClean="0"/>
              <a:t>2</a:t>
            </a:r>
            <a:r>
              <a:rPr lang="en-US" altLang="zh-CN" dirty="0" smtClean="0"/>
              <a:t>  </a:t>
            </a:r>
          </a:p>
          <a:p>
            <a:pPr>
              <a:spcBef>
                <a:spcPts val="300"/>
              </a:spcBef>
              <a:buNone/>
            </a:pPr>
            <a:r>
              <a:rPr lang="zh-CN" altLang="en-US" dirty="0" smtClean="0"/>
              <a:t>当压强增加一倍，则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 k</a:t>
            </a:r>
            <a:r>
              <a:rPr lang="en-US" altLang="zh-CN" baseline="-25000" dirty="0" smtClean="0"/>
              <a:t>1</a:t>
            </a:r>
            <a:r>
              <a:rPr lang="en-US" altLang="zh-CN" dirty="0" smtClean="0"/>
              <a:t> [2N</a:t>
            </a:r>
            <a:r>
              <a:rPr lang="en-US" altLang="zh-CN" baseline="-25000" dirty="0" smtClean="0"/>
              <a:t>2</a:t>
            </a:r>
            <a:r>
              <a:rPr lang="en-US" altLang="zh-CN" dirty="0" smtClean="0"/>
              <a:t>][2H</a:t>
            </a:r>
            <a:r>
              <a:rPr lang="en-US" altLang="zh-CN" baseline="-25000" dirty="0" smtClean="0"/>
              <a:t>2</a:t>
            </a:r>
            <a:r>
              <a:rPr lang="en-US" altLang="zh-CN" dirty="0" smtClean="0"/>
              <a:t>]</a:t>
            </a:r>
            <a:r>
              <a:rPr lang="en-US" altLang="zh-CN" baseline="30000" dirty="0" smtClean="0"/>
              <a:t>3</a:t>
            </a:r>
            <a:r>
              <a:rPr lang="en-US" altLang="zh-CN" dirty="0" smtClean="0"/>
              <a:t>  = 16 R</a:t>
            </a:r>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 k</a:t>
            </a:r>
            <a:r>
              <a:rPr lang="en-US" altLang="zh-CN" baseline="-25000" dirty="0" smtClean="0"/>
              <a:t>2</a:t>
            </a:r>
            <a:r>
              <a:rPr lang="en-US" altLang="zh-CN" dirty="0" smtClean="0"/>
              <a:t> [2NH</a:t>
            </a:r>
            <a:r>
              <a:rPr lang="en-US" altLang="zh-CN" baseline="-25000" dirty="0" smtClean="0"/>
              <a:t>3</a:t>
            </a:r>
            <a:r>
              <a:rPr lang="en-US" altLang="zh-CN" dirty="0" smtClean="0"/>
              <a:t>]</a:t>
            </a:r>
            <a:r>
              <a:rPr lang="en-US" altLang="zh-CN" baseline="30000" dirty="0" smtClean="0"/>
              <a:t>2</a:t>
            </a:r>
            <a:r>
              <a:rPr lang="en-US" altLang="zh-CN" dirty="0" smtClean="0"/>
              <a:t>  = 4 R</a:t>
            </a:r>
            <a:r>
              <a:rPr lang="zh-CN" altLang="en-US" dirty="0" smtClean="0"/>
              <a:t> </a:t>
            </a:r>
            <a:endParaRPr lang="en-US" altLang="zh-CN" dirty="0" smtClean="0"/>
          </a:p>
          <a:p>
            <a:pPr>
              <a:spcBef>
                <a:spcPts val="300"/>
              </a:spcBef>
              <a:buNone/>
            </a:pPr>
            <a:r>
              <a:rPr lang="en-US" altLang="zh-CN" dirty="0" smtClean="0"/>
              <a:t>		R</a:t>
            </a:r>
            <a:r>
              <a:rPr lang="zh-CN" altLang="en-US" baseline="-25000" dirty="0" smtClean="0"/>
              <a:t>正</a:t>
            </a:r>
            <a:r>
              <a:rPr lang="en-US" altLang="zh-CN" baseline="30000" dirty="0" smtClean="0"/>
              <a:t>’</a:t>
            </a:r>
            <a:r>
              <a:rPr lang="zh-CN" altLang="en-US" dirty="0" smtClean="0"/>
              <a:t>  </a:t>
            </a:r>
            <a:r>
              <a:rPr lang="en-US" altLang="zh-CN" dirty="0" smtClean="0"/>
              <a:t>&gt;  R</a:t>
            </a:r>
            <a:r>
              <a:rPr lang="zh-CN" altLang="en-US" baseline="-25000" dirty="0" smtClean="0"/>
              <a:t>逆</a:t>
            </a:r>
            <a:r>
              <a:rPr lang="en-US" altLang="zh-CN" baseline="30000" dirty="0" smtClean="0"/>
              <a:t>’</a:t>
            </a:r>
            <a:r>
              <a:rPr lang="zh-CN" altLang="en-US" dirty="0" smtClean="0"/>
              <a:t>   平衡向正反应方向移动</a:t>
            </a:r>
            <a:endParaRPr lang="en-US" altLang="zh-CN" dirty="0" smtClean="0"/>
          </a:p>
          <a:p>
            <a:pPr>
              <a:spcBef>
                <a:spcPts val="300"/>
              </a:spcBef>
              <a:buNone/>
            </a:pPr>
            <a:r>
              <a:rPr lang="zh-CN" altLang="en-US" dirty="0" smtClean="0"/>
              <a:t>当压强减小一倍，则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=k</a:t>
            </a:r>
            <a:r>
              <a:rPr lang="en-US" altLang="zh-CN" baseline="-25000" dirty="0" smtClean="0"/>
              <a:t>1</a:t>
            </a:r>
            <a:r>
              <a:rPr lang="en-US" altLang="zh-CN" dirty="0" smtClean="0"/>
              <a:t> [½N</a:t>
            </a:r>
            <a:r>
              <a:rPr lang="en-US" altLang="zh-CN" baseline="-25000" dirty="0" smtClean="0"/>
              <a:t>2</a:t>
            </a:r>
            <a:r>
              <a:rPr lang="en-US" altLang="zh-CN" dirty="0" smtClean="0"/>
              <a:t>][½H</a:t>
            </a:r>
            <a:r>
              <a:rPr lang="en-US" altLang="zh-CN" baseline="-25000" dirty="0" smtClean="0"/>
              <a:t>2</a:t>
            </a:r>
            <a:r>
              <a:rPr lang="en-US" altLang="zh-CN" dirty="0" smtClean="0"/>
              <a:t>]</a:t>
            </a:r>
            <a:r>
              <a:rPr lang="en-US" altLang="zh-CN" baseline="30000" dirty="0" smtClean="0"/>
              <a:t>3</a:t>
            </a:r>
            <a:r>
              <a:rPr lang="en-US" altLang="zh-CN" dirty="0" smtClean="0"/>
              <a:t>  = 1/16 R</a:t>
            </a:r>
          </a:p>
          <a:p>
            <a:pPr>
              <a:spcBef>
                <a:spcPts val="300"/>
              </a:spcBef>
              <a:buNone/>
            </a:pPr>
            <a:r>
              <a:rPr lang="en-US" altLang="zh-CN" dirty="0" smtClean="0"/>
              <a:t>					 R</a:t>
            </a:r>
            <a:r>
              <a:rPr lang="zh-CN" altLang="en-US" baseline="-25000" dirty="0" smtClean="0"/>
              <a:t>逆</a:t>
            </a:r>
            <a:r>
              <a:rPr lang="en-US" altLang="zh-CN" baseline="30000" dirty="0" smtClean="0"/>
              <a:t>’</a:t>
            </a:r>
            <a:r>
              <a:rPr lang="en-US" altLang="zh-CN" dirty="0" smtClean="0"/>
              <a:t>=k</a:t>
            </a:r>
            <a:r>
              <a:rPr lang="en-US" altLang="zh-CN" baseline="-25000" dirty="0" smtClean="0"/>
              <a:t>2</a:t>
            </a:r>
            <a:r>
              <a:rPr lang="en-US" altLang="zh-CN" dirty="0" smtClean="0"/>
              <a:t>[ ½NH</a:t>
            </a:r>
            <a:r>
              <a:rPr lang="en-US" altLang="zh-CN" baseline="-25000" dirty="0" smtClean="0"/>
              <a:t>3</a:t>
            </a:r>
            <a:r>
              <a:rPr lang="en-US" altLang="zh-CN" dirty="0" smtClean="0"/>
              <a:t>]</a:t>
            </a:r>
            <a:r>
              <a:rPr lang="en-US" altLang="zh-CN" baseline="30000" dirty="0" smtClean="0"/>
              <a:t>2</a:t>
            </a:r>
            <a:r>
              <a:rPr lang="en-US" altLang="zh-CN" dirty="0" smtClean="0"/>
              <a:t>  = 1/4 R</a:t>
            </a:r>
            <a:r>
              <a:rPr lang="zh-CN" altLang="en-US" dirty="0" smtClean="0"/>
              <a:t> </a:t>
            </a:r>
            <a:endParaRPr lang="en-US" altLang="zh-CN" dirty="0" smtClean="0"/>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&gt;  R</a:t>
            </a:r>
            <a:r>
              <a:rPr lang="zh-CN" altLang="en-US" baseline="-25000" dirty="0" smtClean="0"/>
              <a:t>正</a:t>
            </a:r>
            <a:r>
              <a:rPr lang="en-US" altLang="zh-CN" baseline="30000" dirty="0" smtClean="0"/>
              <a:t>’</a:t>
            </a:r>
            <a:r>
              <a:rPr lang="zh-CN" altLang="en-US" dirty="0" smtClean="0"/>
              <a:t>   平衡向逆反应方向移动</a:t>
            </a:r>
            <a:endParaRPr lang="en-US" altLang="zh-CN" dirty="0" smtClean="0"/>
          </a:p>
          <a:p>
            <a:pPr>
              <a:spcBef>
                <a:spcPts val="300"/>
              </a:spcBef>
              <a:buNone/>
            </a:pPr>
            <a:endParaRPr lang="en-US" altLang="zh-CN" dirty="0" smtClean="0"/>
          </a:p>
        </p:txBody>
      </p:sp>
      <p:sp>
        <p:nvSpPr>
          <p:cNvPr id="6" name="Rounded Rectangle 5"/>
          <p:cNvSpPr/>
          <p:nvPr/>
        </p:nvSpPr>
        <p:spPr>
          <a:xfrm>
            <a:off x="5105400" y="2667000"/>
            <a:ext cx="2362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848600" y="26670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181600" y="3200400"/>
            <a:ext cx="1905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391400" y="3200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648200" y="3657600"/>
            <a:ext cx="1295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029200" y="4191000"/>
            <a:ext cx="2590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924800" y="4191000"/>
            <a:ext cx="1143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029200" y="4724400"/>
            <a:ext cx="1752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7239000" y="4724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4648200" y="52578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p21pg185.jpg"/>
          <p:cNvPicPr>
            <a:picLocks noChangeAspect="1"/>
          </p:cNvPicPr>
          <p:nvPr/>
        </p:nvPicPr>
        <p:blipFill>
          <a:blip r:embed="rId3"/>
          <a:srcRect b="46269"/>
          <a:stretch>
            <a:fillRect/>
          </a:stretch>
        </p:blipFill>
        <p:spPr>
          <a:xfrm>
            <a:off x="381000" y="990600"/>
            <a:ext cx="8229600" cy="55740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6"/>
                                        </p:tgtEl>
                                        <p:attrNameLst>
                                          <p:attrName>ppt_x</p:attrName>
                                        </p:attrNameLst>
                                      </p:cBhvr>
                                      <p:tavLst>
                                        <p:tav tm="0">
                                          <p:val>
                                            <p:strVal val="ppt_x"/>
                                          </p:val>
                                        </p:tav>
                                        <p:tav tm="100000">
                                          <p:val>
                                            <p:strVal val="ppt_x"/>
                                          </p:val>
                                        </p:tav>
                                      </p:tavLst>
                                    </p:anim>
                                    <p:anim calcmode="lin" valueType="num">
                                      <p:cBhvr additive="base">
                                        <p:cTn id="32" dur="500"/>
                                        <p:tgtEl>
                                          <p:spTgt spid="6"/>
                                        </p:tgtEl>
                                        <p:attrNameLst>
                                          <p:attrName>ppt_y</p:attrName>
                                        </p:attrNameLst>
                                      </p:cBhvr>
                                      <p:tavLst>
                                        <p:tav tm="0">
                                          <p:val>
                                            <p:strVal val="ppt_y"/>
                                          </p:val>
                                        </p:tav>
                                        <p:tav tm="100000">
                                          <p:val>
                                            <p:strVal val="1+ppt_h/2"/>
                                          </p:val>
                                        </p:tav>
                                      </p:tavLst>
                                    </p:anim>
                                    <p:set>
                                      <p:cBhvr>
                                        <p:cTn id="33" dur="1" fill="hold">
                                          <p:stCondLst>
                                            <p:cond delay="499"/>
                                          </p:stCondLst>
                                        </p:cTn>
                                        <p:tgtEl>
                                          <p:spTgt spid="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7"/>
                                        </p:tgtEl>
                                        <p:attrNameLst>
                                          <p:attrName>ppt_x</p:attrName>
                                        </p:attrNameLst>
                                      </p:cBhvr>
                                      <p:tavLst>
                                        <p:tav tm="0">
                                          <p:val>
                                            <p:strVal val="ppt_x"/>
                                          </p:val>
                                        </p:tav>
                                        <p:tav tm="100000">
                                          <p:val>
                                            <p:strVal val="ppt_x"/>
                                          </p:val>
                                        </p:tav>
                                      </p:tavLst>
                                    </p:anim>
                                    <p:anim calcmode="lin" valueType="num">
                                      <p:cBhvr additive="base">
                                        <p:cTn id="38" dur="500"/>
                                        <p:tgtEl>
                                          <p:spTgt spid="7"/>
                                        </p:tgtEl>
                                        <p:attrNameLst>
                                          <p:attrName>ppt_y</p:attrName>
                                        </p:attrNameLst>
                                      </p:cBhvr>
                                      <p:tavLst>
                                        <p:tav tm="0">
                                          <p:val>
                                            <p:strVal val="ppt_y"/>
                                          </p:val>
                                        </p:tav>
                                        <p:tav tm="100000">
                                          <p:val>
                                            <p:strVal val="1+ppt_h/2"/>
                                          </p:val>
                                        </p:tav>
                                      </p:tavLst>
                                    </p:anim>
                                    <p:set>
                                      <p:cBhvr>
                                        <p:cTn id="39" dur="1" fill="hold">
                                          <p:stCondLst>
                                            <p:cond delay="499"/>
                                          </p:stCondLst>
                                        </p:cTn>
                                        <p:tgtEl>
                                          <p:spTgt spid="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8"/>
                                        </p:tgtEl>
                                        <p:attrNameLst>
                                          <p:attrName>ppt_x</p:attrName>
                                        </p:attrNameLst>
                                      </p:cBhvr>
                                      <p:tavLst>
                                        <p:tav tm="0">
                                          <p:val>
                                            <p:strVal val="ppt_x"/>
                                          </p:val>
                                        </p:tav>
                                        <p:tav tm="100000">
                                          <p:val>
                                            <p:strVal val="ppt_x"/>
                                          </p:val>
                                        </p:tav>
                                      </p:tavLst>
                                    </p:anim>
                                    <p:anim calcmode="lin" valueType="num">
                                      <p:cBhvr additive="base">
                                        <p:cTn id="44" dur="500"/>
                                        <p:tgtEl>
                                          <p:spTgt spid="8"/>
                                        </p:tgtEl>
                                        <p:attrNameLst>
                                          <p:attrName>ppt_y</p:attrName>
                                        </p:attrNameLst>
                                      </p:cBhvr>
                                      <p:tavLst>
                                        <p:tav tm="0">
                                          <p:val>
                                            <p:strVal val="ppt_y"/>
                                          </p:val>
                                        </p:tav>
                                        <p:tav tm="100000">
                                          <p:val>
                                            <p:strVal val="1+ppt_h/2"/>
                                          </p:val>
                                        </p:tav>
                                      </p:tavLst>
                                    </p:anim>
                                    <p:set>
                                      <p:cBhvr>
                                        <p:cTn id="45" dur="1" fill="hold">
                                          <p:stCondLst>
                                            <p:cond delay="499"/>
                                          </p:stCondLst>
                                        </p:cTn>
                                        <p:tgtEl>
                                          <p:spTgt spid="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9"/>
                                        </p:tgtEl>
                                        <p:attrNameLst>
                                          <p:attrName>ppt_x</p:attrName>
                                        </p:attrNameLst>
                                      </p:cBhvr>
                                      <p:tavLst>
                                        <p:tav tm="0">
                                          <p:val>
                                            <p:strVal val="ppt_x"/>
                                          </p:val>
                                        </p:tav>
                                        <p:tav tm="100000">
                                          <p:val>
                                            <p:strVal val="ppt_x"/>
                                          </p:val>
                                        </p:tav>
                                      </p:tavLst>
                                    </p:anim>
                                    <p:anim calcmode="lin" valueType="num">
                                      <p:cBhvr additive="base">
                                        <p:cTn id="50" dur="500"/>
                                        <p:tgtEl>
                                          <p:spTgt spid="9"/>
                                        </p:tgtEl>
                                        <p:attrNameLst>
                                          <p:attrName>ppt_y</p:attrName>
                                        </p:attrNameLst>
                                      </p:cBhvr>
                                      <p:tavLst>
                                        <p:tav tm="0">
                                          <p:val>
                                            <p:strVal val="ppt_y"/>
                                          </p:val>
                                        </p:tav>
                                        <p:tav tm="100000">
                                          <p:val>
                                            <p:strVal val="1+ppt_h/2"/>
                                          </p:val>
                                        </p:tav>
                                      </p:tavLst>
                                    </p:anim>
                                    <p:set>
                                      <p:cBhvr>
                                        <p:cTn id="51" dur="1" fill="hold">
                                          <p:stCondLst>
                                            <p:cond delay="499"/>
                                          </p:stCondLst>
                                        </p:cTn>
                                        <p:tgtEl>
                                          <p:spTgt spid="9"/>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blinds(horizontal)">
                                      <p:cBhvr>
                                        <p:cTn id="56" dur="5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10"/>
                                        </p:tgtEl>
                                        <p:attrNameLst>
                                          <p:attrName>ppt_x</p:attrName>
                                        </p:attrNameLst>
                                      </p:cBhvr>
                                      <p:tavLst>
                                        <p:tav tm="0">
                                          <p:val>
                                            <p:strVal val="ppt_x"/>
                                          </p:val>
                                        </p:tav>
                                        <p:tav tm="100000">
                                          <p:val>
                                            <p:strVal val="ppt_x"/>
                                          </p:val>
                                        </p:tav>
                                      </p:tavLst>
                                    </p:anim>
                                    <p:anim calcmode="lin" valueType="num">
                                      <p:cBhvr additive="base">
                                        <p:cTn id="61" dur="500"/>
                                        <p:tgtEl>
                                          <p:spTgt spid="10"/>
                                        </p:tgtEl>
                                        <p:attrNameLst>
                                          <p:attrName>ppt_y</p:attrName>
                                        </p:attrNameLst>
                                      </p:cBhvr>
                                      <p:tavLst>
                                        <p:tav tm="0">
                                          <p:val>
                                            <p:strVal val="ppt_y"/>
                                          </p:val>
                                        </p:tav>
                                        <p:tav tm="100000">
                                          <p:val>
                                            <p:strVal val="1+ppt_h/2"/>
                                          </p:val>
                                        </p:tav>
                                      </p:tavLst>
                                    </p:anim>
                                    <p:set>
                                      <p:cBhvr>
                                        <p:cTn id="62" dur="1" fill="hold">
                                          <p:stCondLst>
                                            <p:cond delay="499"/>
                                          </p:stCondLst>
                                        </p:cTn>
                                        <p:tgtEl>
                                          <p:spTgt spid="1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blinds(horizontal)">
                                      <p:cBhvr>
                                        <p:cTn id="67" dur="500"/>
                                        <p:tgtEl>
                                          <p:spTgt spid="3">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blinds(horizontal)">
                                      <p:cBhvr>
                                        <p:cTn id="72" dur="500"/>
                                        <p:tgtEl>
                                          <p:spTgt spid="3">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xit" presetSubtype="4" fill="hold" grpId="0" nodeType="clickEffect">
                                  <p:stCondLst>
                                    <p:cond delay="0"/>
                                  </p:stCondLst>
                                  <p:childTnLst>
                                    <p:anim calcmode="lin" valueType="num">
                                      <p:cBhvr additive="base">
                                        <p:cTn id="76" dur="500"/>
                                        <p:tgtEl>
                                          <p:spTgt spid="11"/>
                                        </p:tgtEl>
                                        <p:attrNameLst>
                                          <p:attrName>ppt_x</p:attrName>
                                        </p:attrNameLst>
                                      </p:cBhvr>
                                      <p:tavLst>
                                        <p:tav tm="0">
                                          <p:val>
                                            <p:strVal val="ppt_x"/>
                                          </p:val>
                                        </p:tav>
                                        <p:tav tm="100000">
                                          <p:val>
                                            <p:strVal val="ppt_x"/>
                                          </p:val>
                                        </p:tav>
                                      </p:tavLst>
                                    </p:anim>
                                    <p:anim calcmode="lin" valueType="num">
                                      <p:cBhvr additive="base">
                                        <p:cTn id="77" dur="500"/>
                                        <p:tgtEl>
                                          <p:spTgt spid="11"/>
                                        </p:tgtEl>
                                        <p:attrNameLst>
                                          <p:attrName>ppt_y</p:attrName>
                                        </p:attrNameLst>
                                      </p:cBhvr>
                                      <p:tavLst>
                                        <p:tav tm="0">
                                          <p:val>
                                            <p:strVal val="ppt_y"/>
                                          </p:val>
                                        </p:tav>
                                        <p:tav tm="100000">
                                          <p:val>
                                            <p:strVal val="1+ppt_h/2"/>
                                          </p:val>
                                        </p:tav>
                                      </p:tavLst>
                                    </p:anim>
                                    <p:set>
                                      <p:cBhvr>
                                        <p:cTn id="78" dur="1" fill="hold">
                                          <p:stCondLst>
                                            <p:cond delay="499"/>
                                          </p:stCondLst>
                                        </p:cTn>
                                        <p:tgtEl>
                                          <p:spTgt spid="11"/>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2" presetClass="exit" presetSubtype="4" fill="hold" grpId="0" nodeType="clickEffect">
                                  <p:stCondLst>
                                    <p:cond delay="0"/>
                                  </p:stCondLst>
                                  <p:childTnLst>
                                    <p:anim calcmode="lin" valueType="num">
                                      <p:cBhvr additive="base">
                                        <p:cTn id="82" dur="500"/>
                                        <p:tgtEl>
                                          <p:spTgt spid="12"/>
                                        </p:tgtEl>
                                        <p:attrNameLst>
                                          <p:attrName>ppt_x</p:attrName>
                                        </p:attrNameLst>
                                      </p:cBhvr>
                                      <p:tavLst>
                                        <p:tav tm="0">
                                          <p:val>
                                            <p:strVal val="ppt_x"/>
                                          </p:val>
                                        </p:tav>
                                        <p:tav tm="100000">
                                          <p:val>
                                            <p:strVal val="ppt_x"/>
                                          </p:val>
                                        </p:tav>
                                      </p:tavLst>
                                    </p:anim>
                                    <p:anim calcmode="lin" valueType="num">
                                      <p:cBhvr additive="base">
                                        <p:cTn id="83" dur="500"/>
                                        <p:tgtEl>
                                          <p:spTgt spid="12"/>
                                        </p:tgtEl>
                                        <p:attrNameLst>
                                          <p:attrName>ppt_y</p:attrName>
                                        </p:attrNameLst>
                                      </p:cBhvr>
                                      <p:tavLst>
                                        <p:tav tm="0">
                                          <p:val>
                                            <p:strVal val="ppt_y"/>
                                          </p:val>
                                        </p:tav>
                                        <p:tav tm="100000">
                                          <p:val>
                                            <p:strVal val="1+ppt_h/2"/>
                                          </p:val>
                                        </p:tav>
                                      </p:tavLst>
                                    </p:anim>
                                    <p:set>
                                      <p:cBhvr>
                                        <p:cTn id="84" dur="1" fill="hold">
                                          <p:stCondLst>
                                            <p:cond delay="499"/>
                                          </p:stCondLst>
                                        </p:cTn>
                                        <p:tgtEl>
                                          <p:spTgt spid="12"/>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xit" presetSubtype="4" fill="hold" grpId="0" nodeType="clickEffect">
                                  <p:stCondLst>
                                    <p:cond delay="0"/>
                                  </p:stCondLst>
                                  <p:childTnLst>
                                    <p:anim calcmode="lin" valueType="num">
                                      <p:cBhvr additive="base">
                                        <p:cTn id="88" dur="500"/>
                                        <p:tgtEl>
                                          <p:spTgt spid="13"/>
                                        </p:tgtEl>
                                        <p:attrNameLst>
                                          <p:attrName>ppt_x</p:attrName>
                                        </p:attrNameLst>
                                      </p:cBhvr>
                                      <p:tavLst>
                                        <p:tav tm="0">
                                          <p:val>
                                            <p:strVal val="ppt_x"/>
                                          </p:val>
                                        </p:tav>
                                        <p:tav tm="100000">
                                          <p:val>
                                            <p:strVal val="ppt_x"/>
                                          </p:val>
                                        </p:tav>
                                      </p:tavLst>
                                    </p:anim>
                                    <p:anim calcmode="lin" valueType="num">
                                      <p:cBhvr additive="base">
                                        <p:cTn id="89" dur="500"/>
                                        <p:tgtEl>
                                          <p:spTgt spid="13"/>
                                        </p:tgtEl>
                                        <p:attrNameLst>
                                          <p:attrName>ppt_y</p:attrName>
                                        </p:attrNameLst>
                                      </p:cBhvr>
                                      <p:tavLst>
                                        <p:tav tm="0">
                                          <p:val>
                                            <p:strVal val="ppt_y"/>
                                          </p:val>
                                        </p:tav>
                                        <p:tav tm="100000">
                                          <p:val>
                                            <p:strVal val="1+ppt_h/2"/>
                                          </p:val>
                                        </p:tav>
                                      </p:tavLst>
                                    </p:anim>
                                    <p:set>
                                      <p:cBhvr>
                                        <p:cTn id="90" dur="1" fill="hold">
                                          <p:stCondLst>
                                            <p:cond delay="499"/>
                                          </p:stCondLst>
                                        </p:cTn>
                                        <p:tgtEl>
                                          <p:spTgt spid="1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 presetClass="exit" presetSubtype="4" fill="hold" grpId="0" nodeType="clickEffect">
                                  <p:stCondLst>
                                    <p:cond delay="0"/>
                                  </p:stCondLst>
                                  <p:childTnLst>
                                    <p:anim calcmode="lin" valueType="num">
                                      <p:cBhvr additive="base">
                                        <p:cTn id="94" dur="500"/>
                                        <p:tgtEl>
                                          <p:spTgt spid="14"/>
                                        </p:tgtEl>
                                        <p:attrNameLst>
                                          <p:attrName>ppt_x</p:attrName>
                                        </p:attrNameLst>
                                      </p:cBhvr>
                                      <p:tavLst>
                                        <p:tav tm="0">
                                          <p:val>
                                            <p:strVal val="ppt_x"/>
                                          </p:val>
                                        </p:tav>
                                        <p:tav tm="100000">
                                          <p:val>
                                            <p:strVal val="ppt_x"/>
                                          </p:val>
                                        </p:tav>
                                      </p:tavLst>
                                    </p:anim>
                                    <p:anim calcmode="lin" valueType="num">
                                      <p:cBhvr additive="base">
                                        <p:cTn id="95" dur="500"/>
                                        <p:tgtEl>
                                          <p:spTgt spid="14"/>
                                        </p:tgtEl>
                                        <p:attrNameLst>
                                          <p:attrName>ppt_y</p:attrName>
                                        </p:attrNameLst>
                                      </p:cBhvr>
                                      <p:tavLst>
                                        <p:tav tm="0">
                                          <p:val>
                                            <p:strVal val="ppt_y"/>
                                          </p:val>
                                        </p:tav>
                                        <p:tav tm="100000">
                                          <p:val>
                                            <p:strVal val="1+ppt_h/2"/>
                                          </p:val>
                                        </p:tav>
                                      </p:tavLst>
                                    </p:anim>
                                    <p:set>
                                      <p:cBhvr>
                                        <p:cTn id="96" dur="1" fill="hold">
                                          <p:stCondLst>
                                            <p:cond delay="499"/>
                                          </p:stCondLst>
                                        </p:cTn>
                                        <p:tgtEl>
                                          <p:spTgt spid="14"/>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0" nodeType="clickEffect">
                                  <p:stCondLst>
                                    <p:cond delay="0"/>
                                  </p:stCondLst>
                                  <p:childTnLst>
                                    <p:anim calcmode="lin" valueType="num">
                                      <p:cBhvr additive="base">
                                        <p:cTn id="105" dur="500"/>
                                        <p:tgtEl>
                                          <p:spTgt spid="15"/>
                                        </p:tgtEl>
                                        <p:attrNameLst>
                                          <p:attrName>ppt_x</p:attrName>
                                        </p:attrNameLst>
                                      </p:cBhvr>
                                      <p:tavLst>
                                        <p:tav tm="0">
                                          <p:val>
                                            <p:strVal val="ppt_x"/>
                                          </p:val>
                                        </p:tav>
                                        <p:tav tm="100000">
                                          <p:val>
                                            <p:strVal val="ppt_x"/>
                                          </p:val>
                                        </p:tav>
                                      </p:tavLst>
                                    </p:anim>
                                    <p:anim calcmode="lin" valueType="num">
                                      <p:cBhvr additive="base">
                                        <p:cTn id="106" dur="500"/>
                                        <p:tgtEl>
                                          <p:spTgt spid="15"/>
                                        </p:tgtEl>
                                        <p:attrNameLst>
                                          <p:attrName>ppt_y</p:attrName>
                                        </p:attrNameLst>
                                      </p:cBhvr>
                                      <p:tavLst>
                                        <p:tav tm="0">
                                          <p:val>
                                            <p:strVal val="ppt_y"/>
                                          </p:val>
                                        </p:tav>
                                        <p:tav tm="100000">
                                          <p:val>
                                            <p:strVal val="1+ppt_h/2"/>
                                          </p:val>
                                        </p:tav>
                                      </p:tavLst>
                                    </p:anim>
                                    <p:set>
                                      <p:cBhvr>
                                        <p:cTn id="107" dur="1" fill="hold">
                                          <p:stCondLst>
                                            <p:cond delay="499"/>
                                          </p:stCondLst>
                                        </p:cTn>
                                        <p:tgtEl>
                                          <p:spTgt spid="15"/>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blinds(horizontal)">
                                      <p:cBhvr>
                                        <p:cTn id="1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压强对化学平衡的影响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686800" cy="5638800"/>
          </a:xfrm>
        </p:spPr>
        <p:txBody>
          <a:bodyPr>
            <a:normAutofit/>
          </a:bodyPr>
          <a:lstStyle/>
          <a:p>
            <a:pPr>
              <a:spcBef>
                <a:spcPts val="300"/>
              </a:spcBef>
              <a:buNone/>
            </a:pPr>
            <a:r>
              <a:rPr lang="en-US" altLang="zh-CN" dirty="0" smtClean="0"/>
              <a:t>		N</a:t>
            </a:r>
            <a:r>
              <a:rPr lang="en-US" altLang="zh-CN" baseline="-25000" dirty="0" smtClean="0"/>
              <a:t>2</a:t>
            </a:r>
            <a:r>
              <a:rPr lang="en-US" altLang="zh-CN" dirty="0" smtClean="0"/>
              <a:t>O</a:t>
            </a:r>
            <a:r>
              <a:rPr lang="en-US" altLang="zh-CN" baseline="-25000" dirty="0" smtClean="0"/>
              <a:t>4</a:t>
            </a:r>
            <a:r>
              <a:rPr lang="en-US" altLang="zh-CN" dirty="0" smtClean="0"/>
              <a:t> &lt;--&gt;  2NO</a:t>
            </a:r>
            <a:r>
              <a:rPr lang="en-US" altLang="zh-CN" baseline="-25000" dirty="0" smtClean="0"/>
              <a:t>2</a:t>
            </a:r>
            <a:r>
              <a:rPr lang="en-US" altLang="zh-CN" dirty="0" smtClean="0"/>
              <a:t> </a:t>
            </a:r>
          </a:p>
          <a:p>
            <a:pPr>
              <a:spcBef>
                <a:spcPts val="300"/>
              </a:spcBef>
              <a:buNone/>
            </a:pPr>
            <a:r>
              <a:rPr lang="en-US" altLang="zh-CN" dirty="0" smtClean="0"/>
              <a:t>R</a:t>
            </a:r>
            <a:r>
              <a:rPr lang="zh-CN" altLang="en-US" baseline="-25000" dirty="0" smtClean="0"/>
              <a:t>正</a:t>
            </a:r>
            <a:r>
              <a:rPr lang="zh-CN" altLang="en-US" dirty="0" smtClean="0"/>
              <a:t> </a:t>
            </a:r>
            <a:r>
              <a:rPr lang="en-US" altLang="zh-CN" dirty="0" smtClean="0"/>
              <a:t>= k</a:t>
            </a:r>
            <a:r>
              <a:rPr lang="en-US" altLang="zh-CN" baseline="-25000" dirty="0" smtClean="0"/>
              <a:t>1</a:t>
            </a:r>
            <a:r>
              <a:rPr lang="en-US" altLang="zh-CN" dirty="0" smtClean="0"/>
              <a:t> [N</a:t>
            </a:r>
            <a:r>
              <a:rPr lang="en-US" altLang="zh-CN" baseline="-25000" dirty="0" smtClean="0"/>
              <a:t>2</a:t>
            </a:r>
            <a:r>
              <a:rPr lang="en-US" altLang="zh-CN" dirty="0" smtClean="0"/>
              <a:t>O</a:t>
            </a:r>
            <a:r>
              <a:rPr lang="en-US" altLang="zh-CN" baseline="-25000" dirty="0" smtClean="0"/>
              <a:t>4</a:t>
            </a:r>
            <a:r>
              <a:rPr lang="en-US" altLang="zh-CN" dirty="0" smtClean="0"/>
              <a:t>] </a:t>
            </a:r>
          </a:p>
          <a:p>
            <a:pPr>
              <a:spcBef>
                <a:spcPts val="300"/>
              </a:spcBef>
              <a:buNone/>
            </a:pPr>
            <a:r>
              <a:rPr lang="en-US" altLang="zh-CN" dirty="0" smtClean="0"/>
              <a:t>R</a:t>
            </a:r>
            <a:r>
              <a:rPr lang="zh-CN" altLang="en-US" baseline="-25000" dirty="0" smtClean="0"/>
              <a:t>逆</a:t>
            </a:r>
            <a:r>
              <a:rPr lang="zh-CN" altLang="en-US" dirty="0" smtClean="0"/>
              <a:t> </a:t>
            </a:r>
            <a:r>
              <a:rPr lang="en-US" altLang="zh-CN" dirty="0" smtClean="0"/>
              <a:t>= k</a:t>
            </a:r>
            <a:r>
              <a:rPr lang="en-US" altLang="zh-CN" baseline="-25000" dirty="0" smtClean="0"/>
              <a:t>2</a:t>
            </a:r>
            <a:r>
              <a:rPr lang="en-US" altLang="zh-CN" dirty="0" smtClean="0"/>
              <a:t> [NO</a:t>
            </a:r>
            <a:r>
              <a:rPr lang="en-US" altLang="zh-CN" baseline="-25000" dirty="0" smtClean="0"/>
              <a:t>2</a:t>
            </a:r>
            <a:r>
              <a:rPr lang="en-US" altLang="zh-CN" dirty="0" smtClean="0"/>
              <a:t>]</a:t>
            </a:r>
            <a:r>
              <a:rPr lang="en-US" altLang="zh-CN" baseline="30000" dirty="0" smtClean="0"/>
              <a:t>2</a:t>
            </a:r>
            <a:r>
              <a:rPr lang="en-US" altLang="zh-CN" dirty="0" smtClean="0"/>
              <a:t>  </a:t>
            </a:r>
          </a:p>
          <a:p>
            <a:pPr>
              <a:spcBef>
                <a:spcPts val="300"/>
              </a:spcBef>
              <a:buNone/>
            </a:pPr>
            <a:r>
              <a:rPr lang="zh-CN" altLang="en-US" dirty="0" smtClean="0"/>
              <a:t>当压强增加一倍，则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 k</a:t>
            </a:r>
            <a:r>
              <a:rPr lang="en-US" altLang="zh-CN" baseline="-25000" dirty="0" smtClean="0"/>
              <a:t>1</a:t>
            </a:r>
            <a:r>
              <a:rPr lang="en-US" altLang="zh-CN" dirty="0" smtClean="0"/>
              <a:t>[2N</a:t>
            </a:r>
            <a:r>
              <a:rPr lang="en-US" altLang="zh-CN" baseline="-25000" dirty="0" smtClean="0"/>
              <a:t>2</a:t>
            </a:r>
            <a:r>
              <a:rPr lang="en-US" altLang="zh-CN" dirty="0" smtClean="0"/>
              <a:t>O</a:t>
            </a:r>
            <a:r>
              <a:rPr lang="en-US" altLang="zh-CN" baseline="-25000" dirty="0" smtClean="0"/>
              <a:t>4</a:t>
            </a:r>
            <a:r>
              <a:rPr lang="en-US" altLang="zh-CN" dirty="0" smtClean="0"/>
              <a:t>] = 2 R</a:t>
            </a:r>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 k</a:t>
            </a:r>
            <a:r>
              <a:rPr lang="en-US" altLang="zh-CN" baseline="-25000" dirty="0" smtClean="0"/>
              <a:t>2</a:t>
            </a:r>
            <a:r>
              <a:rPr lang="en-US" altLang="zh-CN" dirty="0" smtClean="0"/>
              <a:t>[2NO</a:t>
            </a:r>
            <a:r>
              <a:rPr lang="en-US" altLang="zh-CN" baseline="-25000" dirty="0" smtClean="0"/>
              <a:t>2</a:t>
            </a:r>
            <a:r>
              <a:rPr lang="en-US" altLang="zh-CN" dirty="0" smtClean="0"/>
              <a:t>]</a:t>
            </a:r>
            <a:r>
              <a:rPr lang="en-US" altLang="zh-CN" baseline="30000" dirty="0" smtClean="0"/>
              <a:t>2</a:t>
            </a:r>
            <a:r>
              <a:rPr lang="en-US" altLang="zh-CN" dirty="0" smtClean="0"/>
              <a:t>  = 4 R</a:t>
            </a:r>
            <a:r>
              <a:rPr lang="zh-CN" altLang="en-US" dirty="0" smtClean="0"/>
              <a:t> </a:t>
            </a:r>
            <a:endParaRPr lang="en-US" altLang="zh-CN" dirty="0" smtClean="0"/>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&gt;  R</a:t>
            </a:r>
            <a:r>
              <a:rPr lang="zh-CN" altLang="en-US" baseline="-25000" dirty="0" smtClean="0"/>
              <a:t>正</a:t>
            </a:r>
            <a:r>
              <a:rPr lang="en-US" altLang="zh-CN" baseline="30000" dirty="0" smtClean="0"/>
              <a:t>’</a:t>
            </a:r>
            <a:r>
              <a:rPr lang="zh-CN" altLang="en-US" dirty="0" smtClean="0"/>
              <a:t>   平衡向逆反应方向移动</a:t>
            </a:r>
            <a:endParaRPr lang="en-US" altLang="zh-CN" dirty="0" smtClean="0"/>
          </a:p>
          <a:p>
            <a:pPr>
              <a:spcBef>
                <a:spcPts val="300"/>
              </a:spcBef>
              <a:buNone/>
            </a:pPr>
            <a:r>
              <a:rPr lang="zh-CN" altLang="en-US" dirty="0" smtClean="0"/>
              <a:t>当压强减小一倍，则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 k</a:t>
            </a:r>
            <a:r>
              <a:rPr lang="en-US" altLang="zh-CN" baseline="-25000" dirty="0" smtClean="0"/>
              <a:t>1</a:t>
            </a:r>
            <a:r>
              <a:rPr lang="en-US" altLang="zh-CN" dirty="0" smtClean="0"/>
              <a:t>[ ½N</a:t>
            </a:r>
            <a:r>
              <a:rPr lang="en-US" altLang="zh-CN" baseline="-25000" dirty="0" smtClean="0"/>
              <a:t>2</a:t>
            </a:r>
            <a:r>
              <a:rPr lang="en-US" altLang="zh-CN" dirty="0" smtClean="0"/>
              <a:t>O</a:t>
            </a:r>
            <a:r>
              <a:rPr lang="en-US" altLang="zh-CN" baseline="-25000" dirty="0" smtClean="0"/>
              <a:t>4</a:t>
            </a:r>
            <a:r>
              <a:rPr lang="en-US" altLang="zh-CN" dirty="0" smtClean="0"/>
              <a:t>] = 1/2 R</a:t>
            </a:r>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 k</a:t>
            </a:r>
            <a:r>
              <a:rPr lang="en-US" altLang="zh-CN" baseline="-25000" dirty="0" smtClean="0"/>
              <a:t>2</a:t>
            </a:r>
            <a:r>
              <a:rPr lang="en-US" altLang="zh-CN" dirty="0" smtClean="0"/>
              <a:t> [ ½NO</a:t>
            </a:r>
            <a:r>
              <a:rPr lang="en-US" altLang="zh-CN" baseline="-25000" dirty="0" smtClean="0"/>
              <a:t>2</a:t>
            </a:r>
            <a:r>
              <a:rPr lang="en-US" altLang="zh-CN" dirty="0" smtClean="0"/>
              <a:t>]</a:t>
            </a:r>
            <a:r>
              <a:rPr lang="en-US" altLang="zh-CN" baseline="30000" dirty="0" smtClean="0"/>
              <a:t>2</a:t>
            </a:r>
            <a:r>
              <a:rPr lang="en-US" altLang="zh-CN" dirty="0" smtClean="0"/>
              <a:t>   = 1/4 R</a:t>
            </a:r>
          </a:p>
          <a:p>
            <a:pPr>
              <a:spcBef>
                <a:spcPts val="300"/>
              </a:spcBef>
              <a:buNone/>
            </a:pPr>
            <a:r>
              <a:rPr lang="en-US" altLang="zh-CN" dirty="0" smtClean="0"/>
              <a:t>		R</a:t>
            </a:r>
            <a:r>
              <a:rPr lang="zh-CN" altLang="en-US" baseline="-25000" dirty="0" smtClean="0"/>
              <a:t>正</a:t>
            </a:r>
            <a:r>
              <a:rPr lang="en-US" altLang="zh-CN" baseline="30000" dirty="0" smtClean="0"/>
              <a:t>’</a:t>
            </a:r>
            <a:r>
              <a:rPr lang="zh-CN" altLang="en-US" dirty="0" smtClean="0"/>
              <a:t>  </a:t>
            </a:r>
            <a:r>
              <a:rPr lang="en-US" altLang="zh-CN" dirty="0" smtClean="0"/>
              <a:t>&gt; R</a:t>
            </a:r>
            <a:r>
              <a:rPr lang="zh-CN" altLang="en-US" baseline="-25000" dirty="0" smtClean="0"/>
              <a:t>逆</a:t>
            </a:r>
            <a:r>
              <a:rPr lang="en-US" altLang="zh-CN" baseline="30000" dirty="0" smtClean="0"/>
              <a:t>’</a:t>
            </a:r>
            <a:r>
              <a:rPr lang="zh-CN" altLang="en-US" dirty="0" smtClean="0"/>
              <a:t>   平衡向正反应方向移动</a:t>
            </a:r>
            <a:endParaRPr lang="en-US" altLang="zh-CN" dirty="0" smtClean="0"/>
          </a:p>
          <a:p>
            <a:pPr>
              <a:spcBef>
                <a:spcPts val="300"/>
              </a:spcBef>
              <a:buNone/>
            </a:pPr>
            <a:r>
              <a:rPr lang="en-US" altLang="zh-CN" dirty="0" smtClean="0"/>
              <a:t>		</a:t>
            </a:r>
          </a:p>
          <a:p>
            <a:pPr>
              <a:spcBef>
                <a:spcPts val="300"/>
              </a:spcBef>
              <a:buNone/>
            </a:pPr>
            <a:endParaRPr lang="en-US" altLang="zh-CN" dirty="0" smtClean="0"/>
          </a:p>
        </p:txBody>
      </p:sp>
      <p:sp>
        <p:nvSpPr>
          <p:cNvPr id="9" name="Rounded Rectangle 8"/>
          <p:cNvSpPr/>
          <p:nvPr/>
        </p:nvSpPr>
        <p:spPr>
          <a:xfrm>
            <a:off x="5105400" y="2667000"/>
            <a:ext cx="1600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7086600" y="2590800"/>
            <a:ext cx="685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105400" y="3200400"/>
            <a:ext cx="1828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239000" y="31242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648200" y="37338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5105400" y="4267200"/>
            <a:ext cx="1981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7315200" y="41910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181600" y="4800600"/>
            <a:ext cx="1981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7620000" y="4724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4572000" y="5257800"/>
            <a:ext cx="1219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381000" y="990600"/>
            <a:ext cx="8534400" cy="5486400"/>
            <a:chOff x="2362200" y="762000"/>
            <a:chExt cx="5638800" cy="2819400"/>
          </a:xfrm>
        </p:grpSpPr>
        <p:pic>
          <p:nvPicPr>
            <p:cNvPr id="6" name="Content Placeholder 4" descr="chap21pg185.jpg"/>
            <p:cNvPicPr>
              <a:picLocks noChangeAspect="1"/>
            </p:cNvPicPr>
            <p:nvPr/>
          </p:nvPicPr>
          <p:blipFill>
            <a:blip r:embed="rId3"/>
            <a:srcRect t="53731"/>
            <a:stretch>
              <a:fillRect/>
            </a:stretch>
          </p:blipFill>
          <p:spPr>
            <a:xfrm>
              <a:off x="2362200" y="1219200"/>
              <a:ext cx="5638800" cy="2362200"/>
            </a:xfrm>
            <a:prstGeom prst="rect">
              <a:avLst/>
            </a:prstGeom>
          </p:spPr>
        </p:pic>
        <p:pic>
          <p:nvPicPr>
            <p:cNvPr id="7" name="Content Placeholder 4" descr="chap21pg185.jpg"/>
            <p:cNvPicPr>
              <a:picLocks noChangeAspect="1"/>
            </p:cNvPicPr>
            <p:nvPr/>
          </p:nvPicPr>
          <p:blipFill>
            <a:blip r:embed="rId3"/>
            <a:srcRect b="89552"/>
            <a:stretch>
              <a:fillRect/>
            </a:stretch>
          </p:blipFill>
          <p:spPr>
            <a:xfrm>
              <a:off x="2362200" y="762000"/>
              <a:ext cx="5638800" cy="53340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9"/>
                                        </p:tgtEl>
                                        <p:attrNameLst>
                                          <p:attrName>ppt_x</p:attrName>
                                        </p:attrNameLst>
                                      </p:cBhvr>
                                      <p:tavLst>
                                        <p:tav tm="0">
                                          <p:val>
                                            <p:strVal val="ppt_x"/>
                                          </p:val>
                                        </p:tav>
                                        <p:tav tm="100000">
                                          <p:val>
                                            <p:strVal val="ppt_x"/>
                                          </p:val>
                                        </p:tav>
                                      </p:tavLst>
                                    </p:anim>
                                    <p:anim calcmode="lin" valueType="num">
                                      <p:cBhvr additive="base">
                                        <p:cTn id="32" dur="500"/>
                                        <p:tgtEl>
                                          <p:spTgt spid="9"/>
                                        </p:tgtEl>
                                        <p:attrNameLst>
                                          <p:attrName>ppt_y</p:attrName>
                                        </p:attrNameLst>
                                      </p:cBhvr>
                                      <p:tavLst>
                                        <p:tav tm="0">
                                          <p:val>
                                            <p:strVal val="ppt_y"/>
                                          </p:val>
                                        </p:tav>
                                        <p:tav tm="100000">
                                          <p:val>
                                            <p:strVal val="1+ppt_h/2"/>
                                          </p:val>
                                        </p:tav>
                                      </p:tavLst>
                                    </p:anim>
                                    <p:set>
                                      <p:cBhvr>
                                        <p:cTn id="33" dur="1" fill="hold">
                                          <p:stCondLst>
                                            <p:cond delay="499"/>
                                          </p:stCondLst>
                                        </p:cTn>
                                        <p:tgtEl>
                                          <p:spTgt spid="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10"/>
                                        </p:tgtEl>
                                        <p:attrNameLst>
                                          <p:attrName>ppt_x</p:attrName>
                                        </p:attrNameLst>
                                      </p:cBhvr>
                                      <p:tavLst>
                                        <p:tav tm="0">
                                          <p:val>
                                            <p:strVal val="ppt_x"/>
                                          </p:val>
                                        </p:tav>
                                        <p:tav tm="100000">
                                          <p:val>
                                            <p:strVal val="ppt_x"/>
                                          </p:val>
                                        </p:tav>
                                      </p:tavLst>
                                    </p:anim>
                                    <p:anim calcmode="lin" valueType="num">
                                      <p:cBhvr additive="base">
                                        <p:cTn id="38" dur="500"/>
                                        <p:tgtEl>
                                          <p:spTgt spid="10"/>
                                        </p:tgtEl>
                                        <p:attrNameLst>
                                          <p:attrName>ppt_y</p:attrName>
                                        </p:attrNameLst>
                                      </p:cBhvr>
                                      <p:tavLst>
                                        <p:tav tm="0">
                                          <p:val>
                                            <p:strVal val="ppt_y"/>
                                          </p:val>
                                        </p:tav>
                                        <p:tav tm="100000">
                                          <p:val>
                                            <p:strVal val="1+ppt_h/2"/>
                                          </p:val>
                                        </p:tav>
                                      </p:tavLst>
                                    </p:anim>
                                    <p:set>
                                      <p:cBhvr>
                                        <p:cTn id="39" dur="1" fill="hold">
                                          <p:stCondLst>
                                            <p:cond delay="499"/>
                                          </p:stCondLst>
                                        </p:cTn>
                                        <p:tgtEl>
                                          <p:spTgt spid="10"/>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11"/>
                                        </p:tgtEl>
                                        <p:attrNameLst>
                                          <p:attrName>ppt_x</p:attrName>
                                        </p:attrNameLst>
                                      </p:cBhvr>
                                      <p:tavLst>
                                        <p:tav tm="0">
                                          <p:val>
                                            <p:strVal val="ppt_x"/>
                                          </p:val>
                                        </p:tav>
                                        <p:tav tm="100000">
                                          <p:val>
                                            <p:strVal val="ppt_x"/>
                                          </p:val>
                                        </p:tav>
                                      </p:tavLst>
                                    </p:anim>
                                    <p:anim calcmode="lin" valueType="num">
                                      <p:cBhvr additive="base">
                                        <p:cTn id="44" dur="500"/>
                                        <p:tgtEl>
                                          <p:spTgt spid="11"/>
                                        </p:tgtEl>
                                        <p:attrNameLst>
                                          <p:attrName>ppt_y</p:attrName>
                                        </p:attrNameLst>
                                      </p:cBhvr>
                                      <p:tavLst>
                                        <p:tav tm="0">
                                          <p:val>
                                            <p:strVal val="ppt_y"/>
                                          </p:val>
                                        </p:tav>
                                        <p:tav tm="100000">
                                          <p:val>
                                            <p:strVal val="1+ppt_h/2"/>
                                          </p:val>
                                        </p:tav>
                                      </p:tavLst>
                                    </p:anim>
                                    <p:set>
                                      <p:cBhvr>
                                        <p:cTn id="45" dur="1" fill="hold">
                                          <p:stCondLst>
                                            <p:cond delay="499"/>
                                          </p:stCondLst>
                                        </p:cTn>
                                        <p:tgtEl>
                                          <p:spTgt spid="11"/>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2"/>
                                        </p:tgtEl>
                                        <p:attrNameLst>
                                          <p:attrName>ppt_x</p:attrName>
                                        </p:attrNameLst>
                                      </p:cBhvr>
                                      <p:tavLst>
                                        <p:tav tm="0">
                                          <p:val>
                                            <p:strVal val="ppt_x"/>
                                          </p:val>
                                        </p:tav>
                                        <p:tav tm="100000">
                                          <p:val>
                                            <p:strVal val="ppt_x"/>
                                          </p:val>
                                        </p:tav>
                                      </p:tavLst>
                                    </p:anim>
                                    <p:anim calcmode="lin" valueType="num">
                                      <p:cBhvr additive="base">
                                        <p:cTn id="50" dur="500"/>
                                        <p:tgtEl>
                                          <p:spTgt spid="12"/>
                                        </p:tgtEl>
                                        <p:attrNameLst>
                                          <p:attrName>ppt_y</p:attrName>
                                        </p:attrNameLst>
                                      </p:cBhvr>
                                      <p:tavLst>
                                        <p:tav tm="0">
                                          <p:val>
                                            <p:strVal val="ppt_y"/>
                                          </p:val>
                                        </p:tav>
                                        <p:tav tm="100000">
                                          <p:val>
                                            <p:strVal val="1+ppt_h/2"/>
                                          </p:val>
                                        </p:tav>
                                      </p:tavLst>
                                    </p:anim>
                                    <p:set>
                                      <p:cBhvr>
                                        <p:cTn id="51" dur="1" fill="hold">
                                          <p:stCondLst>
                                            <p:cond delay="499"/>
                                          </p:stCondLst>
                                        </p:cTn>
                                        <p:tgtEl>
                                          <p:spTgt spid="1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blinds(horizontal)">
                                      <p:cBhvr>
                                        <p:cTn id="56" dur="5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13"/>
                                        </p:tgtEl>
                                        <p:attrNameLst>
                                          <p:attrName>ppt_x</p:attrName>
                                        </p:attrNameLst>
                                      </p:cBhvr>
                                      <p:tavLst>
                                        <p:tav tm="0">
                                          <p:val>
                                            <p:strVal val="ppt_x"/>
                                          </p:val>
                                        </p:tav>
                                        <p:tav tm="100000">
                                          <p:val>
                                            <p:strVal val="ppt_x"/>
                                          </p:val>
                                        </p:tav>
                                      </p:tavLst>
                                    </p:anim>
                                    <p:anim calcmode="lin" valueType="num">
                                      <p:cBhvr additive="base">
                                        <p:cTn id="61" dur="500"/>
                                        <p:tgtEl>
                                          <p:spTgt spid="13"/>
                                        </p:tgtEl>
                                        <p:attrNameLst>
                                          <p:attrName>ppt_y</p:attrName>
                                        </p:attrNameLst>
                                      </p:cBhvr>
                                      <p:tavLst>
                                        <p:tav tm="0">
                                          <p:val>
                                            <p:strVal val="ppt_y"/>
                                          </p:val>
                                        </p:tav>
                                        <p:tav tm="100000">
                                          <p:val>
                                            <p:strVal val="1+ppt_h/2"/>
                                          </p:val>
                                        </p:tav>
                                      </p:tavLst>
                                    </p:anim>
                                    <p:set>
                                      <p:cBhvr>
                                        <p:cTn id="62" dur="1" fill="hold">
                                          <p:stCondLst>
                                            <p:cond delay="499"/>
                                          </p:stCondLst>
                                        </p:cTn>
                                        <p:tgtEl>
                                          <p:spTgt spid="1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blinds(horizontal)">
                                      <p:cBhvr>
                                        <p:cTn id="67" dur="500"/>
                                        <p:tgtEl>
                                          <p:spTgt spid="3">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blinds(horizontal)">
                                      <p:cBhvr>
                                        <p:cTn id="72" dur="500"/>
                                        <p:tgtEl>
                                          <p:spTgt spid="3">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xit" presetSubtype="4" fill="hold" grpId="0" nodeType="clickEffect">
                                  <p:stCondLst>
                                    <p:cond delay="0"/>
                                  </p:stCondLst>
                                  <p:childTnLst>
                                    <p:anim calcmode="lin" valueType="num">
                                      <p:cBhvr additive="base">
                                        <p:cTn id="76" dur="500"/>
                                        <p:tgtEl>
                                          <p:spTgt spid="14"/>
                                        </p:tgtEl>
                                        <p:attrNameLst>
                                          <p:attrName>ppt_x</p:attrName>
                                        </p:attrNameLst>
                                      </p:cBhvr>
                                      <p:tavLst>
                                        <p:tav tm="0">
                                          <p:val>
                                            <p:strVal val="ppt_x"/>
                                          </p:val>
                                        </p:tav>
                                        <p:tav tm="100000">
                                          <p:val>
                                            <p:strVal val="ppt_x"/>
                                          </p:val>
                                        </p:tav>
                                      </p:tavLst>
                                    </p:anim>
                                    <p:anim calcmode="lin" valueType="num">
                                      <p:cBhvr additive="base">
                                        <p:cTn id="77" dur="500"/>
                                        <p:tgtEl>
                                          <p:spTgt spid="14"/>
                                        </p:tgtEl>
                                        <p:attrNameLst>
                                          <p:attrName>ppt_y</p:attrName>
                                        </p:attrNameLst>
                                      </p:cBhvr>
                                      <p:tavLst>
                                        <p:tav tm="0">
                                          <p:val>
                                            <p:strVal val="ppt_y"/>
                                          </p:val>
                                        </p:tav>
                                        <p:tav tm="100000">
                                          <p:val>
                                            <p:strVal val="1+ppt_h/2"/>
                                          </p:val>
                                        </p:tav>
                                      </p:tavLst>
                                    </p:anim>
                                    <p:set>
                                      <p:cBhvr>
                                        <p:cTn id="78" dur="1" fill="hold">
                                          <p:stCondLst>
                                            <p:cond delay="499"/>
                                          </p:stCondLst>
                                        </p:cTn>
                                        <p:tgtEl>
                                          <p:spTgt spid="1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2" presetClass="exit" presetSubtype="4" fill="hold" grpId="0" nodeType="clickEffect">
                                  <p:stCondLst>
                                    <p:cond delay="0"/>
                                  </p:stCondLst>
                                  <p:childTnLst>
                                    <p:anim calcmode="lin" valueType="num">
                                      <p:cBhvr additive="base">
                                        <p:cTn id="82" dur="500"/>
                                        <p:tgtEl>
                                          <p:spTgt spid="15"/>
                                        </p:tgtEl>
                                        <p:attrNameLst>
                                          <p:attrName>ppt_x</p:attrName>
                                        </p:attrNameLst>
                                      </p:cBhvr>
                                      <p:tavLst>
                                        <p:tav tm="0">
                                          <p:val>
                                            <p:strVal val="ppt_x"/>
                                          </p:val>
                                        </p:tav>
                                        <p:tav tm="100000">
                                          <p:val>
                                            <p:strVal val="ppt_x"/>
                                          </p:val>
                                        </p:tav>
                                      </p:tavLst>
                                    </p:anim>
                                    <p:anim calcmode="lin" valueType="num">
                                      <p:cBhvr additive="base">
                                        <p:cTn id="83" dur="500"/>
                                        <p:tgtEl>
                                          <p:spTgt spid="15"/>
                                        </p:tgtEl>
                                        <p:attrNameLst>
                                          <p:attrName>ppt_y</p:attrName>
                                        </p:attrNameLst>
                                      </p:cBhvr>
                                      <p:tavLst>
                                        <p:tav tm="0">
                                          <p:val>
                                            <p:strVal val="ppt_y"/>
                                          </p:val>
                                        </p:tav>
                                        <p:tav tm="100000">
                                          <p:val>
                                            <p:strVal val="1+ppt_h/2"/>
                                          </p:val>
                                        </p:tav>
                                      </p:tavLst>
                                    </p:anim>
                                    <p:set>
                                      <p:cBhvr>
                                        <p:cTn id="84" dur="1" fill="hold">
                                          <p:stCondLst>
                                            <p:cond delay="499"/>
                                          </p:stCondLst>
                                        </p:cTn>
                                        <p:tgtEl>
                                          <p:spTgt spid="15"/>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xit" presetSubtype="4" fill="hold" grpId="0" nodeType="clickEffect">
                                  <p:stCondLst>
                                    <p:cond delay="0"/>
                                  </p:stCondLst>
                                  <p:childTnLst>
                                    <p:anim calcmode="lin" valueType="num">
                                      <p:cBhvr additive="base">
                                        <p:cTn id="88" dur="500"/>
                                        <p:tgtEl>
                                          <p:spTgt spid="16"/>
                                        </p:tgtEl>
                                        <p:attrNameLst>
                                          <p:attrName>ppt_x</p:attrName>
                                        </p:attrNameLst>
                                      </p:cBhvr>
                                      <p:tavLst>
                                        <p:tav tm="0">
                                          <p:val>
                                            <p:strVal val="ppt_x"/>
                                          </p:val>
                                        </p:tav>
                                        <p:tav tm="100000">
                                          <p:val>
                                            <p:strVal val="ppt_x"/>
                                          </p:val>
                                        </p:tav>
                                      </p:tavLst>
                                    </p:anim>
                                    <p:anim calcmode="lin" valueType="num">
                                      <p:cBhvr additive="base">
                                        <p:cTn id="89" dur="500"/>
                                        <p:tgtEl>
                                          <p:spTgt spid="16"/>
                                        </p:tgtEl>
                                        <p:attrNameLst>
                                          <p:attrName>ppt_y</p:attrName>
                                        </p:attrNameLst>
                                      </p:cBhvr>
                                      <p:tavLst>
                                        <p:tav tm="0">
                                          <p:val>
                                            <p:strVal val="ppt_y"/>
                                          </p:val>
                                        </p:tav>
                                        <p:tav tm="100000">
                                          <p:val>
                                            <p:strVal val="1+ppt_h/2"/>
                                          </p:val>
                                        </p:tav>
                                      </p:tavLst>
                                    </p:anim>
                                    <p:set>
                                      <p:cBhvr>
                                        <p:cTn id="90" dur="1" fill="hold">
                                          <p:stCondLst>
                                            <p:cond delay="499"/>
                                          </p:stCondLst>
                                        </p:cTn>
                                        <p:tgtEl>
                                          <p:spTgt spid="1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 presetClass="exit" presetSubtype="4" fill="hold" grpId="0" nodeType="clickEffect">
                                  <p:stCondLst>
                                    <p:cond delay="0"/>
                                  </p:stCondLst>
                                  <p:childTnLst>
                                    <p:anim calcmode="lin" valueType="num">
                                      <p:cBhvr additive="base">
                                        <p:cTn id="94" dur="500"/>
                                        <p:tgtEl>
                                          <p:spTgt spid="17"/>
                                        </p:tgtEl>
                                        <p:attrNameLst>
                                          <p:attrName>ppt_x</p:attrName>
                                        </p:attrNameLst>
                                      </p:cBhvr>
                                      <p:tavLst>
                                        <p:tav tm="0">
                                          <p:val>
                                            <p:strVal val="ppt_x"/>
                                          </p:val>
                                        </p:tav>
                                        <p:tav tm="100000">
                                          <p:val>
                                            <p:strVal val="ppt_x"/>
                                          </p:val>
                                        </p:tav>
                                      </p:tavLst>
                                    </p:anim>
                                    <p:anim calcmode="lin" valueType="num">
                                      <p:cBhvr additive="base">
                                        <p:cTn id="95" dur="500"/>
                                        <p:tgtEl>
                                          <p:spTgt spid="17"/>
                                        </p:tgtEl>
                                        <p:attrNameLst>
                                          <p:attrName>ppt_y</p:attrName>
                                        </p:attrNameLst>
                                      </p:cBhvr>
                                      <p:tavLst>
                                        <p:tav tm="0">
                                          <p:val>
                                            <p:strVal val="ppt_y"/>
                                          </p:val>
                                        </p:tav>
                                        <p:tav tm="100000">
                                          <p:val>
                                            <p:strVal val="1+ppt_h/2"/>
                                          </p:val>
                                        </p:tav>
                                      </p:tavLst>
                                    </p:anim>
                                    <p:set>
                                      <p:cBhvr>
                                        <p:cTn id="96" dur="1" fill="hold">
                                          <p:stCondLst>
                                            <p:cond delay="499"/>
                                          </p:stCondLst>
                                        </p:cTn>
                                        <p:tgtEl>
                                          <p:spTgt spid="17"/>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0" nodeType="clickEffect">
                                  <p:stCondLst>
                                    <p:cond delay="0"/>
                                  </p:stCondLst>
                                  <p:childTnLst>
                                    <p:anim calcmode="lin" valueType="num">
                                      <p:cBhvr additive="base">
                                        <p:cTn id="105" dur="500"/>
                                        <p:tgtEl>
                                          <p:spTgt spid="18"/>
                                        </p:tgtEl>
                                        <p:attrNameLst>
                                          <p:attrName>ppt_x</p:attrName>
                                        </p:attrNameLst>
                                      </p:cBhvr>
                                      <p:tavLst>
                                        <p:tav tm="0">
                                          <p:val>
                                            <p:strVal val="ppt_x"/>
                                          </p:val>
                                        </p:tav>
                                        <p:tav tm="100000">
                                          <p:val>
                                            <p:strVal val="ppt_x"/>
                                          </p:val>
                                        </p:tav>
                                      </p:tavLst>
                                    </p:anim>
                                    <p:anim calcmode="lin" valueType="num">
                                      <p:cBhvr additive="base">
                                        <p:cTn id="106" dur="500"/>
                                        <p:tgtEl>
                                          <p:spTgt spid="18"/>
                                        </p:tgtEl>
                                        <p:attrNameLst>
                                          <p:attrName>ppt_y</p:attrName>
                                        </p:attrNameLst>
                                      </p:cBhvr>
                                      <p:tavLst>
                                        <p:tav tm="0">
                                          <p:val>
                                            <p:strVal val="ppt_y"/>
                                          </p:val>
                                        </p:tav>
                                        <p:tav tm="100000">
                                          <p:val>
                                            <p:strVal val="1+ppt_h/2"/>
                                          </p:val>
                                        </p:tav>
                                      </p:tavLst>
                                    </p:anim>
                                    <p:set>
                                      <p:cBhvr>
                                        <p:cTn id="107" dur="1" fill="hold">
                                          <p:stCondLst>
                                            <p:cond delay="499"/>
                                          </p:stCondLst>
                                        </p:cTn>
                                        <p:tgtEl>
                                          <p:spTgt spid="18"/>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blinds(horizontal)">
                                      <p:cBhvr>
                                        <p:cTn id="1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压强对化学平衡的影响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686800" cy="5638800"/>
          </a:xfrm>
        </p:spPr>
        <p:txBody>
          <a:bodyPr>
            <a:normAutofit/>
          </a:bodyPr>
          <a:lstStyle/>
          <a:p>
            <a:pPr>
              <a:spcBef>
                <a:spcPts val="300"/>
              </a:spcBef>
              <a:buNone/>
            </a:pPr>
            <a:r>
              <a:rPr lang="en-US" altLang="zh-CN" dirty="0" smtClean="0"/>
              <a:t>		2HI (g) &lt;--&gt; H</a:t>
            </a:r>
            <a:r>
              <a:rPr lang="en-US" altLang="zh-CN" baseline="-25000" dirty="0" smtClean="0"/>
              <a:t>2</a:t>
            </a:r>
            <a:r>
              <a:rPr lang="en-US" altLang="zh-CN" dirty="0" smtClean="0"/>
              <a:t> (g) + I</a:t>
            </a:r>
            <a:r>
              <a:rPr lang="en-US" altLang="zh-CN" baseline="-25000" dirty="0" smtClean="0"/>
              <a:t>2</a:t>
            </a:r>
            <a:r>
              <a:rPr lang="en-US" altLang="zh-CN" dirty="0" smtClean="0"/>
              <a:t> (g)</a:t>
            </a:r>
          </a:p>
          <a:p>
            <a:pPr>
              <a:spcBef>
                <a:spcPts val="300"/>
              </a:spcBef>
              <a:buNone/>
            </a:pPr>
            <a:r>
              <a:rPr lang="en-US" altLang="zh-CN" dirty="0" smtClean="0"/>
              <a:t>R</a:t>
            </a:r>
            <a:r>
              <a:rPr lang="zh-CN" altLang="en-US" baseline="-25000" dirty="0" smtClean="0"/>
              <a:t>正</a:t>
            </a:r>
            <a:r>
              <a:rPr lang="zh-CN" altLang="en-US" dirty="0" smtClean="0"/>
              <a:t> </a:t>
            </a:r>
            <a:r>
              <a:rPr lang="en-US" altLang="zh-CN" dirty="0" smtClean="0"/>
              <a:t>= k</a:t>
            </a:r>
            <a:r>
              <a:rPr lang="en-US" altLang="zh-CN" baseline="-25000" dirty="0" smtClean="0"/>
              <a:t>1</a:t>
            </a:r>
            <a:r>
              <a:rPr lang="en-US" altLang="zh-CN" dirty="0" smtClean="0"/>
              <a:t> [HI]</a:t>
            </a:r>
            <a:r>
              <a:rPr lang="en-US" altLang="zh-CN" baseline="30000" dirty="0" smtClean="0"/>
              <a:t>2</a:t>
            </a:r>
            <a:r>
              <a:rPr lang="en-US" altLang="zh-CN" dirty="0" smtClean="0"/>
              <a:t> </a:t>
            </a:r>
          </a:p>
          <a:p>
            <a:pPr>
              <a:spcBef>
                <a:spcPts val="300"/>
              </a:spcBef>
              <a:buNone/>
            </a:pPr>
            <a:r>
              <a:rPr lang="en-US" altLang="zh-CN" dirty="0" smtClean="0"/>
              <a:t>R</a:t>
            </a:r>
            <a:r>
              <a:rPr lang="zh-CN" altLang="en-US" baseline="-25000" dirty="0" smtClean="0"/>
              <a:t>逆</a:t>
            </a:r>
            <a:r>
              <a:rPr lang="zh-CN" altLang="en-US" dirty="0" smtClean="0"/>
              <a:t> </a:t>
            </a:r>
            <a:r>
              <a:rPr lang="en-US" altLang="zh-CN" dirty="0" smtClean="0"/>
              <a:t>= k</a:t>
            </a:r>
            <a:r>
              <a:rPr lang="en-US" altLang="zh-CN" baseline="-25000" dirty="0" smtClean="0"/>
              <a:t>2</a:t>
            </a:r>
            <a:r>
              <a:rPr lang="en-US" altLang="zh-CN" dirty="0" smtClean="0"/>
              <a:t>[H</a:t>
            </a:r>
            <a:r>
              <a:rPr lang="en-US" altLang="zh-CN" baseline="-25000" dirty="0" smtClean="0"/>
              <a:t>2</a:t>
            </a:r>
            <a:r>
              <a:rPr lang="en-US" altLang="zh-CN" dirty="0" smtClean="0"/>
              <a:t>][I</a:t>
            </a:r>
            <a:r>
              <a:rPr lang="en-US" altLang="zh-CN" baseline="-25000" dirty="0" smtClean="0"/>
              <a:t>2</a:t>
            </a:r>
            <a:r>
              <a:rPr lang="en-US" altLang="zh-CN" dirty="0" smtClean="0"/>
              <a:t>]  </a:t>
            </a:r>
          </a:p>
          <a:p>
            <a:pPr>
              <a:spcBef>
                <a:spcPts val="300"/>
              </a:spcBef>
              <a:buNone/>
            </a:pPr>
            <a:r>
              <a:rPr lang="zh-CN" altLang="en-US" dirty="0" smtClean="0"/>
              <a:t>当压强增加一倍，则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 k</a:t>
            </a:r>
            <a:r>
              <a:rPr lang="en-US" altLang="zh-CN" baseline="-25000" dirty="0" smtClean="0"/>
              <a:t>1</a:t>
            </a:r>
            <a:r>
              <a:rPr lang="en-US" altLang="zh-CN" dirty="0" smtClean="0"/>
              <a:t> [2HI]</a:t>
            </a:r>
            <a:r>
              <a:rPr lang="en-US" altLang="zh-CN" baseline="30000" dirty="0" smtClean="0"/>
              <a:t>2</a:t>
            </a:r>
            <a:r>
              <a:rPr lang="en-US" altLang="zh-CN" dirty="0" smtClean="0"/>
              <a:t> = 4 R</a:t>
            </a:r>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 k</a:t>
            </a:r>
            <a:r>
              <a:rPr lang="en-US" altLang="zh-CN" baseline="-25000" dirty="0" smtClean="0"/>
              <a:t>2</a:t>
            </a:r>
            <a:r>
              <a:rPr lang="en-US" altLang="zh-CN" dirty="0" smtClean="0"/>
              <a:t> [2H</a:t>
            </a:r>
            <a:r>
              <a:rPr lang="en-US" altLang="zh-CN" baseline="-25000" dirty="0" smtClean="0"/>
              <a:t>2</a:t>
            </a:r>
            <a:r>
              <a:rPr lang="en-US" altLang="zh-CN" dirty="0" smtClean="0"/>
              <a:t>][2I</a:t>
            </a:r>
            <a:r>
              <a:rPr lang="en-US" altLang="zh-CN" baseline="-25000" dirty="0" smtClean="0"/>
              <a:t>2</a:t>
            </a:r>
            <a:r>
              <a:rPr lang="en-US" altLang="zh-CN" dirty="0" smtClean="0"/>
              <a:t>]  = 4 R</a:t>
            </a:r>
            <a:r>
              <a:rPr lang="zh-CN" altLang="en-US" dirty="0" smtClean="0"/>
              <a:t> </a:t>
            </a:r>
            <a:endParaRPr lang="en-US" altLang="zh-CN" dirty="0" smtClean="0"/>
          </a:p>
          <a:p>
            <a:pPr>
              <a:spcBef>
                <a:spcPts val="300"/>
              </a:spcBef>
              <a:buNone/>
            </a:pPr>
            <a:r>
              <a:rPr lang="en-US" altLang="zh-CN" dirty="0" smtClean="0"/>
              <a:t>		R</a:t>
            </a:r>
            <a:r>
              <a:rPr lang="zh-CN" altLang="en-US" baseline="-25000" dirty="0" smtClean="0"/>
              <a:t>逆</a:t>
            </a:r>
            <a:r>
              <a:rPr lang="en-US" altLang="zh-CN" baseline="30000" dirty="0" smtClean="0"/>
              <a:t>’</a:t>
            </a:r>
            <a:r>
              <a:rPr lang="zh-CN" altLang="en-US" dirty="0" smtClean="0"/>
              <a:t>  </a:t>
            </a:r>
            <a:r>
              <a:rPr lang="en-US" altLang="zh-CN" dirty="0" smtClean="0"/>
              <a:t>= R</a:t>
            </a:r>
            <a:r>
              <a:rPr lang="zh-CN" altLang="en-US" baseline="-25000" dirty="0" smtClean="0"/>
              <a:t>正</a:t>
            </a:r>
            <a:r>
              <a:rPr lang="en-US" altLang="zh-CN" baseline="30000" dirty="0" smtClean="0"/>
              <a:t>’</a:t>
            </a:r>
            <a:r>
              <a:rPr lang="zh-CN" altLang="en-US" dirty="0" smtClean="0"/>
              <a:t>   平衡不受影响</a:t>
            </a:r>
            <a:endParaRPr lang="en-US" altLang="zh-CN" dirty="0" smtClean="0"/>
          </a:p>
          <a:p>
            <a:pPr>
              <a:spcBef>
                <a:spcPts val="300"/>
              </a:spcBef>
              <a:buNone/>
            </a:pPr>
            <a:r>
              <a:rPr lang="zh-CN" altLang="en-US" dirty="0" smtClean="0"/>
              <a:t>当压强减小一倍，则</a:t>
            </a:r>
            <a:r>
              <a:rPr lang="en-US" altLang="zh-CN" dirty="0" smtClean="0"/>
              <a:t>R</a:t>
            </a:r>
            <a:r>
              <a:rPr lang="zh-CN" altLang="en-US" baseline="-25000" dirty="0" smtClean="0"/>
              <a:t>正</a:t>
            </a:r>
            <a:r>
              <a:rPr lang="en-US" altLang="zh-CN" baseline="30000" dirty="0" smtClean="0"/>
              <a:t>’</a:t>
            </a:r>
            <a:r>
              <a:rPr lang="zh-CN" altLang="en-US" dirty="0" smtClean="0"/>
              <a:t> </a:t>
            </a:r>
            <a:r>
              <a:rPr lang="en-US" altLang="zh-CN" dirty="0" smtClean="0"/>
              <a:t>= k</a:t>
            </a:r>
            <a:r>
              <a:rPr lang="en-US" altLang="zh-CN" baseline="-25000" dirty="0" smtClean="0"/>
              <a:t>1</a:t>
            </a:r>
            <a:r>
              <a:rPr lang="en-US" altLang="zh-CN" dirty="0" smtClean="0"/>
              <a:t> [ ½HI]</a:t>
            </a:r>
            <a:r>
              <a:rPr lang="en-US" altLang="zh-CN" baseline="30000" dirty="0" smtClean="0"/>
              <a:t>2</a:t>
            </a:r>
            <a:r>
              <a:rPr lang="en-US" altLang="zh-CN" dirty="0" smtClean="0"/>
              <a:t> = 1/4 R</a:t>
            </a:r>
          </a:p>
          <a:p>
            <a:pPr>
              <a:spcBef>
                <a:spcPts val="300"/>
              </a:spcBef>
              <a:buNone/>
            </a:pPr>
            <a:r>
              <a:rPr lang="en-US" altLang="zh-CN" dirty="0" smtClean="0"/>
              <a:t>					 R</a:t>
            </a:r>
            <a:r>
              <a:rPr lang="zh-CN" altLang="en-US" baseline="-25000" dirty="0" smtClean="0"/>
              <a:t>逆</a:t>
            </a:r>
            <a:r>
              <a:rPr lang="en-US" altLang="zh-CN" baseline="30000" dirty="0" smtClean="0"/>
              <a:t>’</a:t>
            </a:r>
            <a:r>
              <a:rPr lang="en-US" altLang="zh-CN" dirty="0" smtClean="0"/>
              <a:t>=k</a:t>
            </a:r>
            <a:r>
              <a:rPr lang="en-US" altLang="zh-CN" baseline="-25000" dirty="0" smtClean="0"/>
              <a:t>2</a:t>
            </a:r>
            <a:r>
              <a:rPr lang="en-US" altLang="zh-CN" dirty="0" smtClean="0"/>
              <a:t>[ ½H</a:t>
            </a:r>
            <a:r>
              <a:rPr lang="en-US" altLang="zh-CN" baseline="-25000" dirty="0" smtClean="0"/>
              <a:t>2</a:t>
            </a:r>
            <a:r>
              <a:rPr lang="en-US" altLang="zh-CN" dirty="0" smtClean="0"/>
              <a:t>]</a:t>
            </a:r>
            <a:r>
              <a:rPr lang="en-US" altLang="zh-CN" baseline="30000" dirty="0" smtClean="0"/>
              <a:t> </a:t>
            </a:r>
            <a:r>
              <a:rPr lang="en-US" altLang="zh-CN" dirty="0" smtClean="0"/>
              <a:t> [ ½I</a:t>
            </a:r>
            <a:r>
              <a:rPr lang="en-US" altLang="zh-CN" baseline="-25000" dirty="0" smtClean="0"/>
              <a:t>2</a:t>
            </a:r>
            <a:r>
              <a:rPr lang="en-US" altLang="zh-CN" dirty="0" smtClean="0"/>
              <a:t>]= 1/4 R</a:t>
            </a:r>
          </a:p>
          <a:p>
            <a:pPr>
              <a:spcBef>
                <a:spcPts val="300"/>
              </a:spcBef>
              <a:buNone/>
            </a:pPr>
            <a:r>
              <a:rPr lang="en-US" altLang="zh-CN" dirty="0" smtClean="0"/>
              <a:t>		R</a:t>
            </a:r>
            <a:r>
              <a:rPr lang="zh-CN" altLang="en-US" baseline="-25000" dirty="0" smtClean="0"/>
              <a:t>正</a:t>
            </a:r>
            <a:r>
              <a:rPr lang="en-US" altLang="zh-CN" baseline="30000" dirty="0" smtClean="0"/>
              <a:t>’</a:t>
            </a:r>
            <a:r>
              <a:rPr lang="zh-CN" altLang="en-US" dirty="0" smtClean="0"/>
              <a:t>  </a:t>
            </a:r>
            <a:r>
              <a:rPr lang="en-US" altLang="zh-CN" dirty="0" smtClean="0"/>
              <a:t>= R</a:t>
            </a:r>
            <a:r>
              <a:rPr lang="zh-CN" altLang="en-US" baseline="-25000" dirty="0" smtClean="0"/>
              <a:t>逆</a:t>
            </a:r>
            <a:r>
              <a:rPr lang="en-US" altLang="zh-CN" baseline="30000" dirty="0" smtClean="0"/>
              <a:t>’</a:t>
            </a:r>
            <a:r>
              <a:rPr lang="zh-CN" altLang="en-US" dirty="0" smtClean="0"/>
              <a:t>   平衡不受影响</a:t>
            </a:r>
            <a:endParaRPr lang="en-US" altLang="zh-CN" dirty="0" smtClean="0"/>
          </a:p>
          <a:p>
            <a:pPr>
              <a:spcBef>
                <a:spcPts val="300"/>
              </a:spcBef>
              <a:buNone/>
            </a:pPr>
            <a:r>
              <a:rPr lang="en-US" altLang="zh-CN" dirty="0" smtClean="0"/>
              <a:t>		</a:t>
            </a:r>
          </a:p>
          <a:p>
            <a:pPr>
              <a:spcBef>
                <a:spcPts val="300"/>
              </a:spcBef>
              <a:buNone/>
            </a:pPr>
            <a:endParaRPr lang="en-US" altLang="zh-CN" dirty="0" smtClean="0"/>
          </a:p>
        </p:txBody>
      </p:sp>
      <p:sp>
        <p:nvSpPr>
          <p:cNvPr id="8" name="Rounded Rectangle 7"/>
          <p:cNvSpPr/>
          <p:nvPr/>
        </p:nvSpPr>
        <p:spPr>
          <a:xfrm>
            <a:off x="5029200" y="2667000"/>
            <a:ext cx="1524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6934200" y="2667000"/>
            <a:ext cx="685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181600" y="3200400"/>
            <a:ext cx="2057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7696200" y="3200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191000" y="3733800"/>
            <a:ext cx="1600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5105400" y="4191000"/>
            <a:ext cx="1524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7010400" y="41910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5029200" y="4724400"/>
            <a:ext cx="2362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7696200" y="4724400"/>
            <a:ext cx="10668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191000" y="5257800"/>
            <a:ext cx="17526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381000" y="990600"/>
            <a:ext cx="8077200" cy="5212080"/>
            <a:chOff x="457200" y="838200"/>
            <a:chExt cx="7924800" cy="5364480"/>
          </a:xfrm>
        </p:grpSpPr>
        <p:pic>
          <p:nvPicPr>
            <p:cNvPr id="18" name="Picture 2"/>
            <p:cNvPicPr>
              <a:picLocks noChangeAspect="1" noChangeArrowheads="1"/>
            </p:cNvPicPr>
            <p:nvPr/>
          </p:nvPicPr>
          <p:blipFill>
            <a:blip r:embed="rId3">
              <a:extLst>
                <a:ext uri="{28A0092B-C50C-407E-A947-70E740481C1C}">
                  <a14:useLocalDpi xmlns="" xmlns:a14="http://schemas.microsoft.com/office/drawing/2010/main" val="0"/>
                </a:ext>
              </a:extLst>
            </a:blip>
            <a:srcRect b="13220"/>
            <a:stretch>
              <a:fillRect/>
            </a:stretch>
          </p:blipFill>
          <p:spPr bwMode="auto">
            <a:xfrm>
              <a:off x="457200" y="1447800"/>
              <a:ext cx="7924800" cy="47548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457200" y="838200"/>
              <a:ext cx="1826141"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3200" dirty="0" smtClean="0"/>
                <a:t>增加压强</a:t>
              </a:r>
              <a:endParaRPr lang="en-US" sz="3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8"/>
                                        </p:tgtEl>
                                        <p:attrNameLst>
                                          <p:attrName>ppt_x</p:attrName>
                                        </p:attrNameLst>
                                      </p:cBhvr>
                                      <p:tavLst>
                                        <p:tav tm="0">
                                          <p:val>
                                            <p:strVal val="ppt_x"/>
                                          </p:val>
                                        </p:tav>
                                        <p:tav tm="100000">
                                          <p:val>
                                            <p:strVal val="ppt_x"/>
                                          </p:val>
                                        </p:tav>
                                      </p:tavLst>
                                    </p:anim>
                                    <p:anim calcmode="lin" valueType="num">
                                      <p:cBhvr additive="base">
                                        <p:cTn id="32" dur="500"/>
                                        <p:tgtEl>
                                          <p:spTgt spid="8"/>
                                        </p:tgtEl>
                                        <p:attrNameLst>
                                          <p:attrName>ppt_y</p:attrName>
                                        </p:attrNameLst>
                                      </p:cBhvr>
                                      <p:tavLst>
                                        <p:tav tm="0">
                                          <p:val>
                                            <p:strVal val="ppt_y"/>
                                          </p:val>
                                        </p:tav>
                                        <p:tav tm="100000">
                                          <p:val>
                                            <p:strVal val="1+ppt_h/2"/>
                                          </p:val>
                                        </p:tav>
                                      </p:tavLst>
                                    </p:anim>
                                    <p:set>
                                      <p:cBhvr>
                                        <p:cTn id="33" dur="1" fill="hold">
                                          <p:stCondLst>
                                            <p:cond delay="499"/>
                                          </p:stCondLst>
                                        </p:cTn>
                                        <p:tgtEl>
                                          <p:spTgt spid="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9"/>
                                        </p:tgtEl>
                                        <p:attrNameLst>
                                          <p:attrName>ppt_x</p:attrName>
                                        </p:attrNameLst>
                                      </p:cBhvr>
                                      <p:tavLst>
                                        <p:tav tm="0">
                                          <p:val>
                                            <p:strVal val="ppt_x"/>
                                          </p:val>
                                        </p:tav>
                                        <p:tav tm="100000">
                                          <p:val>
                                            <p:strVal val="ppt_x"/>
                                          </p:val>
                                        </p:tav>
                                      </p:tavLst>
                                    </p:anim>
                                    <p:anim calcmode="lin" valueType="num">
                                      <p:cBhvr additive="base">
                                        <p:cTn id="38" dur="500"/>
                                        <p:tgtEl>
                                          <p:spTgt spid="9"/>
                                        </p:tgtEl>
                                        <p:attrNameLst>
                                          <p:attrName>ppt_y</p:attrName>
                                        </p:attrNameLst>
                                      </p:cBhvr>
                                      <p:tavLst>
                                        <p:tav tm="0">
                                          <p:val>
                                            <p:strVal val="ppt_y"/>
                                          </p:val>
                                        </p:tav>
                                        <p:tav tm="100000">
                                          <p:val>
                                            <p:strVal val="1+ppt_h/2"/>
                                          </p:val>
                                        </p:tav>
                                      </p:tavLst>
                                    </p:anim>
                                    <p:set>
                                      <p:cBhvr>
                                        <p:cTn id="39" dur="1" fill="hold">
                                          <p:stCondLst>
                                            <p:cond delay="499"/>
                                          </p:stCondLst>
                                        </p:cTn>
                                        <p:tgtEl>
                                          <p:spTgt spid="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xit" presetSubtype="4" fill="hold" grpId="0" nodeType="clickEffect">
                                  <p:stCondLst>
                                    <p:cond delay="0"/>
                                  </p:stCondLst>
                                  <p:childTnLst>
                                    <p:anim calcmode="lin" valueType="num">
                                      <p:cBhvr additive="base">
                                        <p:cTn id="43" dur="500"/>
                                        <p:tgtEl>
                                          <p:spTgt spid="10"/>
                                        </p:tgtEl>
                                        <p:attrNameLst>
                                          <p:attrName>ppt_x</p:attrName>
                                        </p:attrNameLst>
                                      </p:cBhvr>
                                      <p:tavLst>
                                        <p:tav tm="0">
                                          <p:val>
                                            <p:strVal val="ppt_x"/>
                                          </p:val>
                                        </p:tav>
                                        <p:tav tm="100000">
                                          <p:val>
                                            <p:strVal val="ppt_x"/>
                                          </p:val>
                                        </p:tav>
                                      </p:tavLst>
                                    </p:anim>
                                    <p:anim calcmode="lin" valueType="num">
                                      <p:cBhvr additive="base">
                                        <p:cTn id="44" dur="500"/>
                                        <p:tgtEl>
                                          <p:spTgt spid="10"/>
                                        </p:tgtEl>
                                        <p:attrNameLst>
                                          <p:attrName>ppt_y</p:attrName>
                                        </p:attrNameLst>
                                      </p:cBhvr>
                                      <p:tavLst>
                                        <p:tav tm="0">
                                          <p:val>
                                            <p:strVal val="ppt_y"/>
                                          </p:val>
                                        </p:tav>
                                        <p:tav tm="100000">
                                          <p:val>
                                            <p:strVal val="1+ppt_h/2"/>
                                          </p:val>
                                        </p:tav>
                                      </p:tavLst>
                                    </p:anim>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 presetClass="exit" presetSubtype="4" fill="hold" grpId="0" nodeType="clickEffect">
                                  <p:stCondLst>
                                    <p:cond delay="0"/>
                                  </p:stCondLst>
                                  <p:childTnLst>
                                    <p:anim calcmode="lin" valueType="num">
                                      <p:cBhvr additive="base">
                                        <p:cTn id="49" dur="500"/>
                                        <p:tgtEl>
                                          <p:spTgt spid="11"/>
                                        </p:tgtEl>
                                        <p:attrNameLst>
                                          <p:attrName>ppt_x</p:attrName>
                                        </p:attrNameLst>
                                      </p:cBhvr>
                                      <p:tavLst>
                                        <p:tav tm="0">
                                          <p:val>
                                            <p:strVal val="ppt_x"/>
                                          </p:val>
                                        </p:tav>
                                        <p:tav tm="100000">
                                          <p:val>
                                            <p:strVal val="ppt_x"/>
                                          </p:val>
                                        </p:tav>
                                      </p:tavLst>
                                    </p:anim>
                                    <p:anim calcmode="lin" valueType="num">
                                      <p:cBhvr additive="base">
                                        <p:cTn id="50" dur="500"/>
                                        <p:tgtEl>
                                          <p:spTgt spid="11"/>
                                        </p:tgtEl>
                                        <p:attrNameLst>
                                          <p:attrName>ppt_y</p:attrName>
                                        </p:attrNameLst>
                                      </p:cBhvr>
                                      <p:tavLst>
                                        <p:tav tm="0">
                                          <p:val>
                                            <p:strVal val="ppt_y"/>
                                          </p:val>
                                        </p:tav>
                                        <p:tav tm="100000">
                                          <p:val>
                                            <p:strVal val="1+ppt_h/2"/>
                                          </p:val>
                                        </p:tav>
                                      </p:tavLst>
                                    </p:anim>
                                    <p:set>
                                      <p:cBhvr>
                                        <p:cTn id="51" dur="1" fill="hold">
                                          <p:stCondLst>
                                            <p:cond delay="499"/>
                                          </p:stCondLst>
                                        </p:cTn>
                                        <p:tgtEl>
                                          <p:spTgt spid="1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blinds(horizontal)">
                                      <p:cBhvr>
                                        <p:cTn id="56" dur="5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12"/>
                                        </p:tgtEl>
                                        <p:attrNameLst>
                                          <p:attrName>ppt_x</p:attrName>
                                        </p:attrNameLst>
                                      </p:cBhvr>
                                      <p:tavLst>
                                        <p:tav tm="0">
                                          <p:val>
                                            <p:strVal val="ppt_x"/>
                                          </p:val>
                                        </p:tav>
                                        <p:tav tm="100000">
                                          <p:val>
                                            <p:strVal val="ppt_x"/>
                                          </p:val>
                                        </p:tav>
                                      </p:tavLst>
                                    </p:anim>
                                    <p:anim calcmode="lin" valueType="num">
                                      <p:cBhvr additive="base">
                                        <p:cTn id="61" dur="500"/>
                                        <p:tgtEl>
                                          <p:spTgt spid="12"/>
                                        </p:tgtEl>
                                        <p:attrNameLst>
                                          <p:attrName>ppt_y</p:attrName>
                                        </p:attrNameLst>
                                      </p:cBhvr>
                                      <p:tavLst>
                                        <p:tav tm="0">
                                          <p:val>
                                            <p:strVal val="ppt_y"/>
                                          </p:val>
                                        </p:tav>
                                        <p:tav tm="100000">
                                          <p:val>
                                            <p:strVal val="1+ppt_h/2"/>
                                          </p:val>
                                        </p:tav>
                                      </p:tavLst>
                                    </p:anim>
                                    <p:set>
                                      <p:cBhvr>
                                        <p:cTn id="62" dur="1" fill="hold">
                                          <p:stCondLst>
                                            <p:cond delay="499"/>
                                          </p:stCondLst>
                                        </p:cTn>
                                        <p:tgtEl>
                                          <p:spTgt spid="1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blinds(horizontal)">
                                      <p:cBhvr>
                                        <p:cTn id="67" dur="500"/>
                                        <p:tgtEl>
                                          <p:spTgt spid="3">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blinds(horizontal)">
                                      <p:cBhvr>
                                        <p:cTn id="72" dur="500"/>
                                        <p:tgtEl>
                                          <p:spTgt spid="3">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xit" presetSubtype="4" fill="hold" grpId="0" nodeType="clickEffect">
                                  <p:stCondLst>
                                    <p:cond delay="0"/>
                                  </p:stCondLst>
                                  <p:childTnLst>
                                    <p:anim calcmode="lin" valueType="num">
                                      <p:cBhvr additive="base">
                                        <p:cTn id="76" dur="500"/>
                                        <p:tgtEl>
                                          <p:spTgt spid="13"/>
                                        </p:tgtEl>
                                        <p:attrNameLst>
                                          <p:attrName>ppt_x</p:attrName>
                                        </p:attrNameLst>
                                      </p:cBhvr>
                                      <p:tavLst>
                                        <p:tav tm="0">
                                          <p:val>
                                            <p:strVal val="ppt_x"/>
                                          </p:val>
                                        </p:tav>
                                        <p:tav tm="100000">
                                          <p:val>
                                            <p:strVal val="ppt_x"/>
                                          </p:val>
                                        </p:tav>
                                      </p:tavLst>
                                    </p:anim>
                                    <p:anim calcmode="lin" valueType="num">
                                      <p:cBhvr additive="base">
                                        <p:cTn id="77" dur="500"/>
                                        <p:tgtEl>
                                          <p:spTgt spid="13"/>
                                        </p:tgtEl>
                                        <p:attrNameLst>
                                          <p:attrName>ppt_y</p:attrName>
                                        </p:attrNameLst>
                                      </p:cBhvr>
                                      <p:tavLst>
                                        <p:tav tm="0">
                                          <p:val>
                                            <p:strVal val="ppt_y"/>
                                          </p:val>
                                        </p:tav>
                                        <p:tav tm="100000">
                                          <p:val>
                                            <p:strVal val="1+ppt_h/2"/>
                                          </p:val>
                                        </p:tav>
                                      </p:tavLst>
                                    </p:anim>
                                    <p:set>
                                      <p:cBhvr>
                                        <p:cTn id="78" dur="1" fill="hold">
                                          <p:stCondLst>
                                            <p:cond delay="499"/>
                                          </p:stCondLst>
                                        </p:cTn>
                                        <p:tgtEl>
                                          <p:spTgt spid="13"/>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2" presetClass="exit" presetSubtype="4" fill="hold" grpId="0" nodeType="clickEffect">
                                  <p:stCondLst>
                                    <p:cond delay="0"/>
                                  </p:stCondLst>
                                  <p:childTnLst>
                                    <p:anim calcmode="lin" valueType="num">
                                      <p:cBhvr additive="base">
                                        <p:cTn id="82" dur="500"/>
                                        <p:tgtEl>
                                          <p:spTgt spid="14"/>
                                        </p:tgtEl>
                                        <p:attrNameLst>
                                          <p:attrName>ppt_x</p:attrName>
                                        </p:attrNameLst>
                                      </p:cBhvr>
                                      <p:tavLst>
                                        <p:tav tm="0">
                                          <p:val>
                                            <p:strVal val="ppt_x"/>
                                          </p:val>
                                        </p:tav>
                                        <p:tav tm="100000">
                                          <p:val>
                                            <p:strVal val="ppt_x"/>
                                          </p:val>
                                        </p:tav>
                                      </p:tavLst>
                                    </p:anim>
                                    <p:anim calcmode="lin" valueType="num">
                                      <p:cBhvr additive="base">
                                        <p:cTn id="83" dur="500"/>
                                        <p:tgtEl>
                                          <p:spTgt spid="14"/>
                                        </p:tgtEl>
                                        <p:attrNameLst>
                                          <p:attrName>ppt_y</p:attrName>
                                        </p:attrNameLst>
                                      </p:cBhvr>
                                      <p:tavLst>
                                        <p:tav tm="0">
                                          <p:val>
                                            <p:strVal val="ppt_y"/>
                                          </p:val>
                                        </p:tav>
                                        <p:tav tm="100000">
                                          <p:val>
                                            <p:strVal val="1+ppt_h/2"/>
                                          </p:val>
                                        </p:tav>
                                      </p:tavLst>
                                    </p:anim>
                                    <p:set>
                                      <p:cBhvr>
                                        <p:cTn id="84" dur="1" fill="hold">
                                          <p:stCondLst>
                                            <p:cond delay="499"/>
                                          </p:stCondLst>
                                        </p:cTn>
                                        <p:tgtEl>
                                          <p:spTgt spid="14"/>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xit" presetSubtype="4" fill="hold" grpId="0" nodeType="clickEffect">
                                  <p:stCondLst>
                                    <p:cond delay="0"/>
                                  </p:stCondLst>
                                  <p:childTnLst>
                                    <p:anim calcmode="lin" valueType="num">
                                      <p:cBhvr additive="base">
                                        <p:cTn id="88" dur="500"/>
                                        <p:tgtEl>
                                          <p:spTgt spid="15"/>
                                        </p:tgtEl>
                                        <p:attrNameLst>
                                          <p:attrName>ppt_x</p:attrName>
                                        </p:attrNameLst>
                                      </p:cBhvr>
                                      <p:tavLst>
                                        <p:tav tm="0">
                                          <p:val>
                                            <p:strVal val="ppt_x"/>
                                          </p:val>
                                        </p:tav>
                                        <p:tav tm="100000">
                                          <p:val>
                                            <p:strVal val="ppt_x"/>
                                          </p:val>
                                        </p:tav>
                                      </p:tavLst>
                                    </p:anim>
                                    <p:anim calcmode="lin" valueType="num">
                                      <p:cBhvr additive="base">
                                        <p:cTn id="89" dur="500"/>
                                        <p:tgtEl>
                                          <p:spTgt spid="15"/>
                                        </p:tgtEl>
                                        <p:attrNameLst>
                                          <p:attrName>ppt_y</p:attrName>
                                        </p:attrNameLst>
                                      </p:cBhvr>
                                      <p:tavLst>
                                        <p:tav tm="0">
                                          <p:val>
                                            <p:strVal val="ppt_y"/>
                                          </p:val>
                                        </p:tav>
                                        <p:tav tm="100000">
                                          <p:val>
                                            <p:strVal val="1+ppt_h/2"/>
                                          </p:val>
                                        </p:tav>
                                      </p:tavLst>
                                    </p:anim>
                                    <p:set>
                                      <p:cBhvr>
                                        <p:cTn id="90" dur="1" fill="hold">
                                          <p:stCondLst>
                                            <p:cond delay="499"/>
                                          </p:stCondLst>
                                        </p:cTn>
                                        <p:tgtEl>
                                          <p:spTgt spid="15"/>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 presetClass="exit" presetSubtype="4" fill="hold" grpId="0" nodeType="clickEffect">
                                  <p:stCondLst>
                                    <p:cond delay="0"/>
                                  </p:stCondLst>
                                  <p:childTnLst>
                                    <p:anim calcmode="lin" valueType="num">
                                      <p:cBhvr additive="base">
                                        <p:cTn id="94" dur="500"/>
                                        <p:tgtEl>
                                          <p:spTgt spid="16"/>
                                        </p:tgtEl>
                                        <p:attrNameLst>
                                          <p:attrName>ppt_x</p:attrName>
                                        </p:attrNameLst>
                                      </p:cBhvr>
                                      <p:tavLst>
                                        <p:tav tm="0">
                                          <p:val>
                                            <p:strVal val="ppt_x"/>
                                          </p:val>
                                        </p:tav>
                                        <p:tav tm="100000">
                                          <p:val>
                                            <p:strVal val="ppt_x"/>
                                          </p:val>
                                        </p:tav>
                                      </p:tavLst>
                                    </p:anim>
                                    <p:anim calcmode="lin" valueType="num">
                                      <p:cBhvr additive="base">
                                        <p:cTn id="95" dur="500"/>
                                        <p:tgtEl>
                                          <p:spTgt spid="16"/>
                                        </p:tgtEl>
                                        <p:attrNameLst>
                                          <p:attrName>ppt_y</p:attrName>
                                        </p:attrNameLst>
                                      </p:cBhvr>
                                      <p:tavLst>
                                        <p:tav tm="0">
                                          <p:val>
                                            <p:strVal val="ppt_y"/>
                                          </p:val>
                                        </p:tav>
                                        <p:tav tm="100000">
                                          <p:val>
                                            <p:strVal val="1+ppt_h/2"/>
                                          </p:val>
                                        </p:tav>
                                      </p:tavLst>
                                    </p:anim>
                                    <p:set>
                                      <p:cBhvr>
                                        <p:cTn id="96" dur="1" fill="hold">
                                          <p:stCondLst>
                                            <p:cond delay="499"/>
                                          </p:stCondLst>
                                        </p:cTn>
                                        <p:tgtEl>
                                          <p:spTgt spid="16"/>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3">
                                            <p:txEl>
                                              <p:pRg st="8" end="8"/>
                                            </p:txEl>
                                          </p:spTgt>
                                        </p:tgtEl>
                                        <p:attrNameLst>
                                          <p:attrName>style.visibility</p:attrName>
                                        </p:attrNameLst>
                                      </p:cBhvr>
                                      <p:to>
                                        <p:strVal val="visible"/>
                                      </p:to>
                                    </p:set>
                                    <p:animEffect transition="in" filter="blinds(horizontal)">
                                      <p:cBhvr>
                                        <p:cTn id="101" dur="500"/>
                                        <p:tgtEl>
                                          <p:spTgt spid="3">
                                            <p:txEl>
                                              <p:pRg st="8" end="8"/>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xit" presetSubtype="4" fill="hold" grpId="0" nodeType="clickEffect">
                                  <p:stCondLst>
                                    <p:cond delay="0"/>
                                  </p:stCondLst>
                                  <p:childTnLst>
                                    <p:anim calcmode="lin" valueType="num">
                                      <p:cBhvr additive="base">
                                        <p:cTn id="105" dur="500"/>
                                        <p:tgtEl>
                                          <p:spTgt spid="17"/>
                                        </p:tgtEl>
                                        <p:attrNameLst>
                                          <p:attrName>ppt_x</p:attrName>
                                        </p:attrNameLst>
                                      </p:cBhvr>
                                      <p:tavLst>
                                        <p:tav tm="0">
                                          <p:val>
                                            <p:strVal val="ppt_x"/>
                                          </p:val>
                                        </p:tav>
                                        <p:tav tm="100000">
                                          <p:val>
                                            <p:strVal val="ppt_x"/>
                                          </p:val>
                                        </p:tav>
                                      </p:tavLst>
                                    </p:anim>
                                    <p:anim calcmode="lin" valueType="num">
                                      <p:cBhvr additive="base">
                                        <p:cTn id="106" dur="500"/>
                                        <p:tgtEl>
                                          <p:spTgt spid="17"/>
                                        </p:tgtEl>
                                        <p:attrNameLst>
                                          <p:attrName>ppt_y</p:attrName>
                                        </p:attrNameLst>
                                      </p:cBhvr>
                                      <p:tavLst>
                                        <p:tav tm="0">
                                          <p:val>
                                            <p:strVal val="ppt_y"/>
                                          </p:val>
                                        </p:tav>
                                        <p:tav tm="100000">
                                          <p:val>
                                            <p:strVal val="1+ppt_h/2"/>
                                          </p:val>
                                        </p:tav>
                                      </p:tavLst>
                                    </p:anim>
                                    <p:set>
                                      <p:cBhvr>
                                        <p:cTn id="107" dur="1" fill="hold">
                                          <p:stCondLst>
                                            <p:cond delay="499"/>
                                          </p:stCondLst>
                                        </p:cTn>
                                        <p:tgtEl>
                                          <p:spTgt spid="17"/>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blinds(horizontal)">
                                      <p:cBhvr>
                                        <p:cTn id="1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21.3.2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压强对化学平衡的影响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a:bodyPr>
          <a:lstStyle/>
          <a:p>
            <a:pPr>
              <a:spcBef>
                <a:spcPts val="300"/>
              </a:spcBef>
              <a:buNone/>
            </a:pPr>
            <a:r>
              <a:rPr lang="zh-CN" altLang="en-US" sz="3000" dirty="0" smtClean="0"/>
              <a:t>问题解决</a:t>
            </a:r>
            <a:r>
              <a:rPr lang="en-US" altLang="zh-CN" sz="3000" dirty="0" smtClean="0"/>
              <a:t>				 </a:t>
            </a:r>
            <a:r>
              <a:rPr lang="zh-CN" altLang="en-US" sz="3000" dirty="0" smtClean="0"/>
              <a:t>增大</a:t>
            </a:r>
            <a:r>
              <a:rPr lang="en-US" altLang="zh-CN" sz="3000" dirty="0" smtClean="0"/>
              <a:t>P	</a:t>
            </a:r>
            <a:r>
              <a:rPr lang="zh-CN" altLang="en-US" sz="3000" dirty="0" smtClean="0"/>
              <a:t>减小</a:t>
            </a:r>
            <a:r>
              <a:rPr lang="en-US" altLang="zh-CN" sz="3000" dirty="0" smtClean="0"/>
              <a:t>P</a:t>
            </a:r>
          </a:p>
          <a:p>
            <a:pPr>
              <a:spcBef>
                <a:spcPts val="300"/>
              </a:spcBef>
              <a:buNone/>
            </a:pPr>
            <a:r>
              <a:rPr lang="en-US" altLang="zh-CN" sz="3000" dirty="0" smtClean="0"/>
              <a:t>1. </a:t>
            </a:r>
          </a:p>
          <a:p>
            <a:pPr>
              <a:spcBef>
                <a:spcPts val="300"/>
              </a:spcBef>
              <a:buNone/>
            </a:pPr>
            <a:r>
              <a:rPr lang="en-US" altLang="zh-CN" sz="3000" dirty="0" smtClean="0"/>
              <a:t>						 </a:t>
            </a:r>
            <a:r>
              <a:rPr lang="zh-CN" altLang="en-US" sz="3000" dirty="0" smtClean="0"/>
              <a:t>向正进行</a:t>
            </a:r>
            <a:r>
              <a:rPr lang="en-US" altLang="zh-CN" sz="3000" dirty="0" smtClean="0"/>
              <a:t>	</a:t>
            </a:r>
            <a:r>
              <a:rPr lang="zh-CN" altLang="en-US" sz="3000" dirty="0" smtClean="0"/>
              <a:t>向逆进行</a:t>
            </a:r>
            <a:endParaRPr lang="en-US" altLang="zh-CN" sz="3000" dirty="0" smtClean="0"/>
          </a:p>
          <a:p>
            <a:pPr>
              <a:spcBef>
                <a:spcPts val="300"/>
              </a:spcBef>
              <a:buNone/>
            </a:pPr>
            <a:r>
              <a:rPr lang="en-US" altLang="zh-CN" sz="3000" dirty="0" smtClean="0"/>
              <a:t>2. </a:t>
            </a:r>
          </a:p>
          <a:p>
            <a:pPr>
              <a:spcBef>
                <a:spcPts val="300"/>
              </a:spcBef>
              <a:buNone/>
            </a:pPr>
            <a:endParaRPr lang="en-US" altLang="zh-CN" sz="3000" dirty="0" smtClean="0"/>
          </a:p>
          <a:p>
            <a:pPr>
              <a:spcBef>
                <a:spcPts val="300"/>
              </a:spcBef>
              <a:buNone/>
            </a:pPr>
            <a:r>
              <a:rPr lang="en-US" altLang="zh-CN" sz="3000" dirty="0" smtClean="0"/>
              <a:t>						 </a:t>
            </a:r>
            <a:r>
              <a:rPr lang="zh-CN" altLang="en-US" sz="3000" dirty="0" smtClean="0"/>
              <a:t>向逆进行</a:t>
            </a:r>
            <a:r>
              <a:rPr lang="en-US" altLang="zh-CN" sz="3000" dirty="0" smtClean="0"/>
              <a:t>	</a:t>
            </a:r>
            <a:r>
              <a:rPr lang="zh-CN" altLang="en-US" sz="3000" dirty="0" smtClean="0"/>
              <a:t>向正进行</a:t>
            </a:r>
            <a:endParaRPr lang="en-US" altLang="zh-CN" sz="3000" dirty="0" smtClean="0"/>
          </a:p>
          <a:p>
            <a:pPr>
              <a:spcBef>
                <a:spcPts val="300"/>
              </a:spcBef>
              <a:buNone/>
            </a:pPr>
            <a:endParaRPr lang="en-US" altLang="zh-CN" sz="3000" dirty="0" smtClean="0"/>
          </a:p>
          <a:p>
            <a:pPr>
              <a:spcBef>
                <a:spcPts val="300"/>
              </a:spcBef>
              <a:buNone/>
            </a:pPr>
            <a:r>
              <a:rPr lang="en-US" altLang="zh-CN" sz="3000" dirty="0" smtClean="0"/>
              <a:t>3. </a:t>
            </a:r>
          </a:p>
          <a:p>
            <a:pPr>
              <a:spcBef>
                <a:spcPts val="300"/>
              </a:spcBef>
              <a:buNone/>
            </a:pPr>
            <a:r>
              <a:rPr lang="en-US" altLang="zh-CN" sz="3000" dirty="0" smtClean="0"/>
              <a:t>						 </a:t>
            </a:r>
            <a:r>
              <a:rPr lang="zh-CN" altLang="en-US" sz="3000" dirty="0" smtClean="0"/>
              <a:t>不受影响</a:t>
            </a:r>
            <a:r>
              <a:rPr lang="en-US" altLang="zh-CN" sz="3000" dirty="0" smtClean="0"/>
              <a:t>	</a:t>
            </a:r>
            <a:r>
              <a:rPr lang="zh-CN" altLang="en-US" sz="3000" dirty="0" smtClean="0"/>
              <a:t>不受影响</a:t>
            </a:r>
            <a:endParaRPr lang="en-US" altLang="zh-CN" sz="3000" dirty="0" smtClean="0"/>
          </a:p>
        </p:txBody>
      </p:sp>
      <p:grpSp>
        <p:nvGrpSpPr>
          <p:cNvPr id="5" name="Group 3"/>
          <p:cNvGrpSpPr/>
          <p:nvPr/>
        </p:nvGrpSpPr>
        <p:grpSpPr>
          <a:xfrm>
            <a:off x="1447800" y="1524000"/>
            <a:ext cx="3309577" cy="1166569"/>
            <a:chOff x="2068535" y="1318836"/>
            <a:chExt cx="2463331" cy="1406544"/>
          </a:xfrm>
        </p:grpSpPr>
        <p:grpSp>
          <p:nvGrpSpPr>
            <p:cNvPr id="6" name="Group 24"/>
            <p:cNvGrpSpPr/>
            <p:nvPr/>
          </p:nvGrpSpPr>
          <p:grpSpPr>
            <a:xfrm>
              <a:off x="2068535" y="1318836"/>
              <a:ext cx="2463331" cy="981450"/>
              <a:chOff x="2068535" y="1318836"/>
              <a:chExt cx="2463331" cy="98145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9"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992974" y="1318836"/>
                <a:ext cx="1163669" cy="705069"/>
              </a:xfrm>
              <a:prstGeom prst="rect">
                <a:avLst/>
              </a:prstGeom>
              <a:noFill/>
            </p:spPr>
            <p:txBody>
              <a:bodyPr wrap="square" rtlCol="0">
                <a:spAutoFit/>
              </a:bodyPr>
              <a:lstStyle/>
              <a:p>
                <a:r>
                  <a:rPr lang="en-US" sz="3200" dirty="0" smtClean="0"/>
                  <a:t>  [</a:t>
                </a:r>
                <a:r>
                  <a:rPr lang="en-US" altLang="zh-CN" sz="3200" dirty="0" smtClean="0"/>
                  <a:t>NH</a:t>
                </a:r>
                <a:r>
                  <a:rPr lang="en-US" altLang="zh-CN" sz="3200" baseline="-25000" dirty="0" smtClean="0"/>
                  <a:t>3</a:t>
                </a:r>
                <a:r>
                  <a:rPr lang="en-US" sz="3200" dirty="0" smtClean="0"/>
                  <a:t>]</a:t>
                </a:r>
                <a:r>
                  <a:rPr lang="en-US" sz="3200" baseline="30000" dirty="0" smtClean="0"/>
                  <a:t>2</a:t>
                </a:r>
                <a:endParaRPr lang="en-US" sz="3200" dirty="0"/>
              </a:p>
            </p:txBody>
          </p:sp>
        </p:grpSp>
        <p:sp>
          <p:nvSpPr>
            <p:cNvPr id="7" name="TextBox 5"/>
            <p:cNvSpPr txBox="1"/>
            <p:nvPr/>
          </p:nvSpPr>
          <p:spPr>
            <a:xfrm>
              <a:off x="2609165" y="2020311"/>
              <a:ext cx="1547479" cy="705069"/>
            </a:xfrm>
            <a:prstGeom prst="rect">
              <a:avLst/>
            </a:prstGeom>
            <a:noFill/>
          </p:spPr>
          <p:txBody>
            <a:bodyPr wrap="square" rtlCol="0">
              <a:spAutoFit/>
            </a:bodyPr>
            <a:lstStyle/>
            <a:p>
              <a:r>
                <a:rPr lang="en-US" altLang="zh-CN" sz="3200" dirty="0" smtClean="0"/>
                <a:t>    [N</a:t>
              </a:r>
              <a:r>
                <a:rPr lang="en-US" altLang="zh-CN" sz="3200" baseline="-25000" dirty="0" smtClean="0"/>
                <a:t>2</a:t>
              </a:r>
              <a:r>
                <a:rPr lang="en-US" altLang="zh-CN" sz="3200" dirty="0" smtClean="0"/>
                <a:t>][H</a:t>
              </a:r>
              <a:r>
                <a:rPr lang="en-US" altLang="zh-CN" sz="3200" baseline="-25000" dirty="0" smtClean="0"/>
                <a:t>2</a:t>
              </a:r>
              <a:r>
                <a:rPr lang="en-US" altLang="zh-CN" sz="3200" dirty="0" smtClean="0"/>
                <a:t>]</a:t>
              </a:r>
              <a:r>
                <a:rPr lang="en-US" altLang="zh-CN" sz="3200" baseline="30000" dirty="0" smtClean="0"/>
                <a:t>3</a:t>
              </a:r>
              <a:endParaRPr lang="en-US" sz="3200" dirty="0"/>
            </a:p>
          </p:txBody>
        </p:sp>
      </p:grpSp>
      <p:grpSp>
        <p:nvGrpSpPr>
          <p:cNvPr id="11" name="Group 3"/>
          <p:cNvGrpSpPr/>
          <p:nvPr/>
        </p:nvGrpSpPr>
        <p:grpSpPr>
          <a:xfrm>
            <a:off x="1447800" y="2795831"/>
            <a:ext cx="3309577" cy="1166569"/>
            <a:chOff x="2068535" y="1318836"/>
            <a:chExt cx="2463331" cy="1406544"/>
          </a:xfrm>
        </p:grpSpPr>
        <p:grpSp>
          <p:nvGrpSpPr>
            <p:cNvPr id="12" name="Group 24"/>
            <p:cNvGrpSpPr/>
            <p:nvPr/>
          </p:nvGrpSpPr>
          <p:grpSpPr>
            <a:xfrm>
              <a:off x="2068535" y="1318836"/>
              <a:ext cx="2463331" cy="981450"/>
              <a:chOff x="2068535" y="1318836"/>
              <a:chExt cx="2463331" cy="981450"/>
            </a:xfrm>
          </p:grpSpPr>
          <p:sp>
            <p:nvSpPr>
              <p:cNvPr id="14" name="TextBox 13"/>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15" name="Straight Connector 14"/>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92974" y="1318836"/>
                <a:ext cx="1163669" cy="705069"/>
              </a:xfrm>
              <a:prstGeom prst="rect">
                <a:avLst/>
              </a:prstGeom>
              <a:noFill/>
            </p:spPr>
            <p:txBody>
              <a:bodyPr wrap="square" rtlCol="0">
                <a:spAutoFit/>
              </a:bodyPr>
              <a:lstStyle/>
              <a:p>
                <a:r>
                  <a:rPr lang="en-US" sz="3200" dirty="0" smtClean="0"/>
                  <a:t>  [</a:t>
                </a:r>
                <a:r>
                  <a:rPr lang="en-US" altLang="zh-CN" sz="3200" dirty="0" smtClean="0"/>
                  <a:t>CO</a:t>
                </a:r>
                <a:r>
                  <a:rPr lang="en-US" sz="3200" dirty="0" smtClean="0"/>
                  <a:t>]</a:t>
                </a:r>
                <a:r>
                  <a:rPr lang="en-US" sz="3200" baseline="30000" dirty="0" smtClean="0"/>
                  <a:t>2</a:t>
                </a:r>
                <a:endParaRPr lang="en-US" sz="3200" dirty="0"/>
              </a:p>
            </p:txBody>
          </p:sp>
        </p:grpSp>
        <p:sp>
          <p:nvSpPr>
            <p:cNvPr id="13" name="TextBox 5"/>
            <p:cNvSpPr txBox="1"/>
            <p:nvPr/>
          </p:nvSpPr>
          <p:spPr>
            <a:xfrm>
              <a:off x="2789694" y="2020311"/>
              <a:ext cx="1547479" cy="705069"/>
            </a:xfrm>
            <a:prstGeom prst="rect">
              <a:avLst/>
            </a:prstGeom>
            <a:noFill/>
          </p:spPr>
          <p:txBody>
            <a:bodyPr wrap="square" rtlCol="0">
              <a:spAutoFit/>
            </a:bodyPr>
            <a:lstStyle/>
            <a:p>
              <a:r>
                <a:rPr lang="en-US" altLang="zh-CN" sz="3200" dirty="0" smtClean="0"/>
                <a:t>    [CO</a:t>
              </a:r>
              <a:r>
                <a:rPr lang="en-US" altLang="zh-CN" sz="3200" baseline="-25000" dirty="0" smtClean="0"/>
                <a:t>2</a:t>
              </a:r>
              <a:r>
                <a:rPr lang="en-US" altLang="zh-CN" sz="3200" dirty="0" smtClean="0"/>
                <a:t>]</a:t>
              </a:r>
              <a:endParaRPr lang="en-US" sz="3200" dirty="0"/>
            </a:p>
          </p:txBody>
        </p:sp>
      </p:grpSp>
      <p:grpSp>
        <p:nvGrpSpPr>
          <p:cNvPr id="17" name="Group 3"/>
          <p:cNvGrpSpPr/>
          <p:nvPr/>
        </p:nvGrpSpPr>
        <p:grpSpPr>
          <a:xfrm>
            <a:off x="1447800" y="4343400"/>
            <a:ext cx="3309577" cy="1166569"/>
            <a:chOff x="2068535" y="1318836"/>
            <a:chExt cx="2463331" cy="1406544"/>
          </a:xfrm>
        </p:grpSpPr>
        <p:grpSp>
          <p:nvGrpSpPr>
            <p:cNvPr id="18" name="Group 24"/>
            <p:cNvGrpSpPr/>
            <p:nvPr/>
          </p:nvGrpSpPr>
          <p:grpSpPr>
            <a:xfrm>
              <a:off x="2068535" y="1318836"/>
              <a:ext cx="2463331" cy="981450"/>
              <a:chOff x="2068535" y="1318836"/>
              <a:chExt cx="2463331" cy="981450"/>
            </a:xfrm>
          </p:grpSpPr>
          <p:sp>
            <p:nvSpPr>
              <p:cNvPr id="20" name="TextBox 19"/>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21" name="Straight Connector 20"/>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749126" y="1318836"/>
                <a:ext cx="1571063" cy="705069"/>
              </a:xfrm>
              <a:prstGeom prst="rect">
                <a:avLst/>
              </a:prstGeom>
              <a:noFill/>
            </p:spPr>
            <p:txBody>
              <a:bodyPr wrap="square" rtlCol="0">
                <a:spAutoFit/>
              </a:bodyPr>
              <a:lstStyle/>
              <a:p>
                <a:r>
                  <a:rPr lang="en-US" sz="3200" dirty="0" smtClean="0"/>
                  <a:t>  [</a:t>
                </a:r>
                <a:r>
                  <a:rPr lang="en-US" altLang="zh-CN" sz="3200" dirty="0" smtClean="0"/>
                  <a:t>CO</a:t>
                </a:r>
                <a:r>
                  <a:rPr lang="en-US" altLang="zh-CN" sz="3200" baseline="-25000" dirty="0" smtClean="0"/>
                  <a:t>2</a:t>
                </a:r>
                <a:r>
                  <a:rPr lang="en-US" sz="3200" dirty="0" smtClean="0"/>
                  <a:t>]</a:t>
                </a:r>
                <a:r>
                  <a:rPr lang="en-US" sz="3200" baseline="30000" dirty="0" smtClean="0"/>
                  <a:t> </a:t>
                </a:r>
                <a:r>
                  <a:rPr lang="en-US" sz="3200" dirty="0" smtClean="0"/>
                  <a:t> [H</a:t>
                </a:r>
                <a:r>
                  <a:rPr lang="en-US" sz="3200" baseline="-25000" dirty="0" smtClean="0"/>
                  <a:t>2</a:t>
                </a:r>
                <a:r>
                  <a:rPr lang="en-US" sz="3200" dirty="0" smtClean="0"/>
                  <a:t>]</a:t>
                </a:r>
                <a:endParaRPr lang="en-US" sz="3200" dirty="0"/>
              </a:p>
            </p:txBody>
          </p:sp>
        </p:grpSp>
        <p:sp>
          <p:nvSpPr>
            <p:cNvPr id="19" name="TextBox 5"/>
            <p:cNvSpPr txBox="1"/>
            <p:nvPr/>
          </p:nvSpPr>
          <p:spPr>
            <a:xfrm>
              <a:off x="2635695" y="2020311"/>
              <a:ext cx="1547479" cy="705069"/>
            </a:xfrm>
            <a:prstGeom prst="rect">
              <a:avLst/>
            </a:prstGeom>
            <a:noFill/>
          </p:spPr>
          <p:txBody>
            <a:bodyPr wrap="square" rtlCol="0">
              <a:spAutoFit/>
            </a:bodyPr>
            <a:lstStyle/>
            <a:p>
              <a:r>
                <a:rPr lang="en-US" altLang="zh-CN" sz="3200" dirty="0" smtClean="0"/>
                <a:t>    [CO][H</a:t>
              </a:r>
              <a:r>
                <a:rPr lang="en-US" altLang="zh-CN" sz="3200" baseline="-25000" dirty="0" smtClean="0"/>
                <a:t>2</a:t>
              </a:r>
              <a:r>
                <a:rPr lang="en-US" altLang="zh-CN" sz="3200" dirty="0" smtClean="0"/>
                <a:t>O]</a:t>
              </a:r>
              <a:endParaRPr lang="en-US" sz="3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linds(horizontal)">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linds(horizontal)">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21.3.3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温度对化学平衡的影响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a:bodyPr>
          <a:lstStyle/>
          <a:p>
            <a:pPr>
              <a:spcBef>
                <a:spcPts val="300"/>
              </a:spcBef>
              <a:buFont typeface="Wingdings" pitchFamily="2" charset="2"/>
              <a:buChar char="Ø"/>
            </a:pPr>
            <a:r>
              <a:rPr lang="zh-CN" altLang="en-US" sz="3000" dirty="0" smtClean="0"/>
              <a:t>其他条件不变下，温度升高</a:t>
            </a:r>
            <a:r>
              <a:rPr lang="en-US" altLang="zh-CN" sz="3000" dirty="0" smtClean="0"/>
              <a:t>(</a:t>
            </a:r>
            <a:r>
              <a:rPr lang="zh-CN" altLang="en-US" sz="3000" dirty="0" smtClean="0"/>
              <a:t>有利于吸热反应</a:t>
            </a:r>
            <a:r>
              <a:rPr lang="en-US" altLang="zh-CN" sz="3000" dirty="0" smtClean="0"/>
              <a:t>)</a:t>
            </a:r>
            <a:r>
              <a:rPr lang="zh-CN" altLang="en-US" sz="3000" dirty="0" smtClean="0"/>
              <a:t>，平衡向吸热反应方向进行。</a:t>
            </a:r>
            <a:endParaRPr lang="en-US" altLang="zh-CN" sz="3000" dirty="0" smtClean="0"/>
          </a:p>
          <a:p>
            <a:pPr>
              <a:spcBef>
                <a:spcPts val="300"/>
              </a:spcBef>
              <a:buNone/>
            </a:pPr>
            <a:r>
              <a:rPr lang="en-US" altLang="zh-CN" sz="3000" dirty="0" smtClean="0"/>
              <a:t>	2NO</a:t>
            </a:r>
            <a:r>
              <a:rPr lang="en-US" altLang="zh-CN" sz="3000" baseline="-25000" dirty="0" smtClean="0"/>
              <a:t>2</a:t>
            </a:r>
            <a:r>
              <a:rPr lang="en-US" altLang="zh-CN" sz="3000" dirty="0" smtClean="0"/>
              <a:t> (g) &lt;-- &gt; N</a:t>
            </a:r>
            <a:r>
              <a:rPr lang="en-US" altLang="zh-CN" sz="3000" baseline="-25000" dirty="0" smtClean="0"/>
              <a:t>2</a:t>
            </a:r>
            <a:r>
              <a:rPr lang="en-US" altLang="zh-CN" sz="3000" dirty="0" smtClean="0"/>
              <a:t>O</a:t>
            </a:r>
            <a:r>
              <a:rPr lang="en-US" altLang="zh-CN" sz="3000" baseline="-25000" dirty="0" smtClean="0"/>
              <a:t>4</a:t>
            </a:r>
            <a:r>
              <a:rPr lang="en-US" altLang="zh-CN" sz="3000" dirty="0" smtClean="0"/>
              <a:t> (g) 	</a:t>
            </a:r>
            <a:r>
              <a:rPr lang="en-US" altLang="zh-CN" sz="2800" dirty="0" smtClean="0"/>
              <a:t>∆</a:t>
            </a:r>
            <a:r>
              <a:rPr lang="en-US" altLang="zh-CN" sz="3000" dirty="0" smtClean="0"/>
              <a:t>H=-24.2kJ/mol </a:t>
            </a:r>
          </a:p>
          <a:p>
            <a:pPr>
              <a:spcBef>
                <a:spcPts val="300"/>
              </a:spcBef>
              <a:buNone/>
            </a:pPr>
            <a:r>
              <a:rPr lang="zh-CN" altLang="en-US" sz="3000" dirty="0" smtClean="0"/>
              <a:t>正反应：放热反应</a:t>
            </a:r>
            <a:endParaRPr lang="en-US" altLang="zh-CN" sz="3000" dirty="0" smtClean="0"/>
          </a:p>
          <a:p>
            <a:pPr>
              <a:spcBef>
                <a:spcPts val="300"/>
              </a:spcBef>
              <a:buNone/>
            </a:pPr>
            <a:r>
              <a:rPr lang="zh-CN" altLang="en-US" sz="3000" dirty="0" smtClean="0"/>
              <a:t>逆反应：吸热反应</a:t>
            </a:r>
            <a:endParaRPr lang="en-US" altLang="zh-CN" sz="3000" dirty="0" smtClean="0"/>
          </a:p>
        </p:txBody>
      </p:sp>
      <p:pic>
        <p:nvPicPr>
          <p:cNvPr id="5"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489199" y="3429000"/>
            <a:ext cx="4165601" cy="312420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Rounded Rectangle 5"/>
          <p:cNvSpPr/>
          <p:nvPr/>
        </p:nvSpPr>
        <p:spPr>
          <a:xfrm>
            <a:off x="2057400" y="2514600"/>
            <a:ext cx="1600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057400" y="2971800"/>
            <a:ext cx="1600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6"/>
                                        </p:tgtEl>
                                        <p:attrNameLst>
                                          <p:attrName>ppt_x</p:attrName>
                                        </p:attrNameLst>
                                      </p:cBhvr>
                                      <p:tavLst>
                                        <p:tav tm="0">
                                          <p:val>
                                            <p:strVal val="ppt_x"/>
                                          </p:val>
                                        </p:tav>
                                        <p:tav tm="100000">
                                          <p:val>
                                            <p:strVal val="ppt_x"/>
                                          </p:val>
                                        </p:tav>
                                      </p:tavLst>
                                    </p:anim>
                                    <p:anim calcmode="lin" valueType="num">
                                      <p:cBhvr additive="base">
                                        <p:cTn id="27" dur="500"/>
                                        <p:tgtEl>
                                          <p:spTgt spid="6"/>
                                        </p:tgtEl>
                                        <p:attrNameLst>
                                          <p:attrName>ppt_y</p:attrName>
                                        </p:attrNameLst>
                                      </p:cBhvr>
                                      <p:tavLst>
                                        <p:tav tm="0">
                                          <p:val>
                                            <p:strVal val="ppt_y"/>
                                          </p:val>
                                        </p:tav>
                                        <p:tav tm="100000">
                                          <p:val>
                                            <p:strVal val="1+ppt_h/2"/>
                                          </p:val>
                                        </p:tav>
                                      </p:tavLst>
                                    </p:anim>
                                    <p:set>
                                      <p:cBhvr>
                                        <p:cTn id="28" dur="1" fill="hold">
                                          <p:stCondLst>
                                            <p:cond delay="4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0" nodeType="clickEffect">
                                  <p:stCondLst>
                                    <p:cond delay="0"/>
                                  </p:stCondLst>
                                  <p:childTnLst>
                                    <p:anim calcmode="lin" valueType="num">
                                      <p:cBhvr additive="base">
                                        <p:cTn id="32" dur="500"/>
                                        <p:tgtEl>
                                          <p:spTgt spid="7"/>
                                        </p:tgtEl>
                                        <p:attrNameLst>
                                          <p:attrName>ppt_x</p:attrName>
                                        </p:attrNameLst>
                                      </p:cBhvr>
                                      <p:tavLst>
                                        <p:tav tm="0">
                                          <p:val>
                                            <p:strVal val="ppt_x"/>
                                          </p:val>
                                        </p:tav>
                                        <p:tav tm="100000">
                                          <p:val>
                                            <p:strVal val="ppt_x"/>
                                          </p:val>
                                        </p:tav>
                                      </p:tavLst>
                                    </p:anim>
                                    <p:anim calcmode="lin" valueType="num">
                                      <p:cBhvr additive="base">
                                        <p:cTn id="33" dur="500"/>
                                        <p:tgtEl>
                                          <p:spTgt spid="7"/>
                                        </p:tgtEl>
                                        <p:attrNameLst>
                                          <p:attrName>ppt_y</p:attrName>
                                        </p:attrNameLst>
                                      </p:cBhvr>
                                      <p:tavLst>
                                        <p:tav tm="0">
                                          <p:val>
                                            <p:strVal val="ppt_y"/>
                                          </p:val>
                                        </p:tav>
                                        <p:tav tm="100000">
                                          <p:val>
                                            <p:strVal val="1+ppt_h/2"/>
                                          </p:val>
                                        </p:tav>
                                      </p:tavLst>
                                    </p:anim>
                                    <p:set>
                                      <p:cBhvr>
                                        <p:cTn id="34" dur="1" fill="hold">
                                          <p:stCondLst>
                                            <p:cond delay="499"/>
                                          </p:stCondLst>
                                        </p:cTn>
                                        <p:tgtEl>
                                          <p:spTgt spid="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linds(horizontal)">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21.3.4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催化剂对化学平衡的影响</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pic>
        <p:nvPicPr>
          <p:cNvPr id="5" name="Picture 2"/>
          <p:cNvPicPr>
            <a:picLocks noGrp="1" noChangeAspect="1" noChangeArrowheads="1"/>
          </p:cNvPicPr>
          <p:nvPr>
            <p:ph idx="1"/>
          </p:nvPr>
        </p:nvPicPr>
        <p:blipFill>
          <a:blip r:embed="rId3">
            <a:extLst>
              <a:ext uri="{28A0092B-C50C-407E-A947-70E740481C1C}">
                <a14:useLocalDpi xmlns="" xmlns:a14="http://schemas.microsoft.com/office/drawing/2010/main" val="0"/>
              </a:ext>
            </a:extLst>
          </a:blip>
          <a:srcRect/>
          <a:stretch>
            <a:fillRect/>
          </a:stretch>
        </p:blipFill>
        <p:spPr bwMode="auto">
          <a:xfrm>
            <a:off x="2514600" y="3191770"/>
            <a:ext cx="4971940" cy="34376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457200" y="990600"/>
            <a:ext cx="8382000" cy="56388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50000"/>
              </a:lnSpc>
              <a:spcBef>
                <a:spcPts val="300"/>
              </a:spcBef>
              <a:spcAft>
                <a:spcPts val="0"/>
              </a:spcAft>
              <a:buClrTx/>
              <a:buSzTx/>
              <a:buFont typeface="Wingdings" pitchFamily="2" charset="2"/>
              <a:buChar char="Ø"/>
              <a:tabLst/>
              <a:defRPr/>
            </a:pPr>
            <a:r>
              <a:rPr lang="zh-CN" altLang="en-US" sz="3000" noProof="0" dirty="0" smtClean="0"/>
              <a:t>催化剂不影响化学平衡的移动。</a:t>
            </a:r>
            <a:endParaRPr lang="en-US" altLang="zh-CN" sz="3000" noProof="0" dirty="0" smtClean="0"/>
          </a:p>
          <a:p>
            <a:pPr marL="342900" marR="0" lvl="0" indent="-342900" algn="l" defTabSz="914400" rtl="0" eaLnBrk="1" fontAlgn="auto" latinLnBrk="0" hangingPunct="1">
              <a:lnSpc>
                <a:spcPct val="150000"/>
              </a:lnSpc>
              <a:spcBef>
                <a:spcPts val="300"/>
              </a:spcBef>
              <a:spcAft>
                <a:spcPts val="0"/>
              </a:spcAft>
              <a:buClrTx/>
              <a:buSzTx/>
              <a:buFont typeface="Wingdings" pitchFamily="2" charset="2"/>
              <a:buChar char="Ø"/>
              <a:tabLst/>
              <a:defRPr/>
            </a:pPr>
            <a:r>
              <a:rPr kumimoji="0" lang="zh-CN" altLang="en-US" sz="3000" b="0" i="0" u="none" strike="noStrike" kern="1200" cap="none" spc="0" normalizeH="0" baseline="0" dirty="0" smtClean="0">
                <a:ln>
                  <a:noFill/>
                </a:ln>
                <a:solidFill>
                  <a:schemeClr val="tx1"/>
                </a:solidFill>
                <a:effectLst/>
                <a:uLnTx/>
                <a:uFillTx/>
                <a:latin typeface="+mn-lt"/>
                <a:ea typeface="+mn-ea"/>
                <a:cs typeface="+mn-cs"/>
              </a:rPr>
              <a:t>催化剂同时加速</a:t>
            </a:r>
            <a:r>
              <a:rPr kumimoji="0" lang="en-US" altLang="zh-CN" sz="3000" b="0" i="0" u="none" strike="noStrike" kern="1200" cap="none" spc="0" normalizeH="0" baseline="0" dirty="0" smtClean="0">
                <a:ln>
                  <a:noFill/>
                </a:ln>
                <a:solidFill>
                  <a:schemeClr val="tx1"/>
                </a:solidFill>
                <a:effectLst/>
                <a:uLnTx/>
                <a:uFillTx/>
                <a:latin typeface="+mn-lt"/>
                <a:ea typeface="+mn-ea"/>
                <a:cs typeface="+mn-cs"/>
              </a:rPr>
              <a:t>R</a:t>
            </a:r>
            <a:r>
              <a:rPr kumimoji="0" lang="zh-CN" altLang="en-US" sz="3000" b="0" i="0" u="none" strike="noStrike" kern="1200" cap="none" spc="0" normalizeH="0" baseline="-25000" dirty="0" smtClean="0">
                <a:ln>
                  <a:noFill/>
                </a:ln>
                <a:solidFill>
                  <a:schemeClr val="tx1"/>
                </a:solidFill>
                <a:effectLst/>
                <a:uLnTx/>
                <a:uFillTx/>
                <a:latin typeface="+mn-lt"/>
                <a:ea typeface="+mn-ea"/>
                <a:cs typeface="+mn-cs"/>
              </a:rPr>
              <a:t>正</a:t>
            </a:r>
            <a:r>
              <a:rPr kumimoji="0" lang="zh-CN" altLang="en-US" sz="3000" b="0" i="0" u="none" strike="noStrike" kern="1200" cap="none" spc="0" normalizeH="0" dirty="0" smtClean="0">
                <a:ln>
                  <a:noFill/>
                </a:ln>
                <a:solidFill>
                  <a:schemeClr val="tx1"/>
                </a:solidFill>
                <a:effectLst/>
                <a:uLnTx/>
                <a:uFillTx/>
                <a:latin typeface="+mn-lt"/>
                <a:ea typeface="+mn-ea"/>
                <a:cs typeface="+mn-cs"/>
              </a:rPr>
              <a:t>与</a:t>
            </a:r>
            <a:r>
              <a:rPr kumimoji="0" lang="en-US" altLang="zh-CN" sz="3000" b="0" i="0" u="none" strike="noStrike" kern="1200" cap="none" spc="0" normalizeH="0" dirty="0" smtClean="0">
                <a:ln>
                  <a:noFill/>
                </a:ln>
                <a:solidFill>
                  <a:schemeClr val="tx1"/>
                </a:solidFill>
                <a:effectLst/>
                <a:uLnTx/>
                <a:uFillTx/>
                <a:latin typeface="+mn-lt"/>
                <a:ea typeface="+mn-ea"/>
                <a:cs typeface="+mn-cs"/>
              </a:rPr>
              <a:t>R</a:t>
            </a:r>
            <a:r>
              <a:rPr kumimoji="0" lang="zh-CN" altLang="en-US" sz="3000" b="0" i="0" u="none" strike="noStrike" kern="1200" cap="none" spc="0" normalizeH="0" baseline="-25000" dirty="0" smtClean="0">
                <a:ln>
                  <a:noFill/>
                </a:ln>
                <a:solidFill>
                  <a:schemeClr val="tx1"/>
                </a:solidFill>
                <a:effectLst/>
                <a:uLnTx/>
                <a:uFillTx/>
                <a:latin typeface="+mn-lt"/>
                <a:ea typeface="+mn-ea"/>
                <a:cs typeface="+mn-cs"/>
              </a:rPr>
              <a:t>逆</a:t>
            </a:r>
            <a:r>
              <a:rPr kumimoji="0" lang="zh-CN" altLang="en-US" sz="3000" b="0" i="0" u="none" strike="noStrike" kern="1200" cap="none" spc="0" normalizeH="0" baseline="0" dirty="0" smtClean="0">
                <a:ln>
                  <a:noFill/>
                </a:ln>
                <a:solidFill>
                  <a:schemeClr val="tx1"/>
                </a:solidFill>
                <a:effectLst/>
                <a:uLnTx/>
                <a:uFillTx/>
                <a:latin typeface="+mn-lt"/>
                <a:ea typeface="+mn-ea"/>
                <a:cs typeface="+mn-cs"/>
              </a:rPr>
              <a:t>。</a:t>
            </a:r>
            <a:endParaRPr kumimoji="0" lang="en-US" altLang="zh-CN" sz="3000" b="0" i="0" u="none" strike="noStrike" kern="1200" cap="none" spc="0" normalizeH="0" baseline="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50000"/>
              </a:lnSpc>
              <a:spcBef>
                <a:spcPts val="300"/>
              </a:spcBef>
              <a:spcAft>
                <a:spcPts val="0"/>
              </a:spcAft>
              <a:buClrTx/>
              <a:buSzTx/>
              <a:buFont typeface="Wingdings" pitchFamily="2" charset="2"/>
              <a:buChar char="Ø"/>
              <a:tabLst/>
              <a:defRPr/>
            </a:pPr>
            <a:r>
              <a:rPr lang="zh-CN" altLang="en-US" sz="3000" noProof="0" dirty="0" smtClean="0"/>
              <a:t>催化剂能缩短达到平衡所需的时间。</a:t>
            </a:r>
            <a:endParaRPr kumimoji="0" lang="en-US" altLang="zh-CN" sz="3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21d</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lnSpcReduction="10000"/>
          </a:bodyPr>
          <a:lstStyle/>
          <a:p>
            <a:pPr marL="514350" indent="-514350">
              <a:spcBef>
                <a:spcPts val="300"/>
              </a:spcBef>
              <a:buAutoNum type="arabicPeriod"/>
            </a:pPr>
            <a:r>
              <a:rPr lang="en-US" altLang="zh-CN" dirty="0" smtClean="0"/>
              <a:t>A </a:t>
            </a:r>
          </a:p>
          <a:p>
            <a:pPr marL="514350" indent="-514350">
              <a:spcBef>
                <a:spcPts val="300"/>
              </a:spcBef>
              <a:buNone/>
            </a:pPr>
            <a:r>
              <a:rPr lang="en-US" altLang="zh-CN" dirty="0" smtClean="0"/>
              <a:t>	B </a:t>
            </a:r>
            <a:r>
              <a:rPr lang="zh-CN" altLang="en-US" dirty="0" smtClean="0"/>
              <a:t>不知反应前后气体总体积</a:t>
            </a:r>
            <a:endParaRPr lang="en-US" altLang="zh-CN" dirty="0" smtClean="0"/>
          </a:p>
          <a:p>
            <a:pPr marL="514350" indent="-514350">
              <a:spcBef>
                <a:spcPts val="300"/>
              </a:spcBef>
              <a:buNone/>
            </a:pPr>
            <a:r>
              <a:rPr lang="en-US" altLang="zh-CN" dirty="0" smtClean="0"/>
              <a:t>	C </a:t>
            </a:r>
            <a:r>
              <a:rPr lang="zh-CN" altLang="en-US" dirty="0" smtClean="0"/>
              <a:t>向逆反应方向进行</a:t>
            </a:r>
            <a:endParaRPr lang="en-US" altLang="zh-CN" dirty="0" smtClean="0"/>
          </a:p>
          <a:p>
            <a:pPr marL="514350" indent="-514350">
              <a:spcBef>
                <a:spcPts val="300"/>
              </a:spcBef>
              <a:buNone/>
            </a:pPr>
            <a:r>
              <a:rPr lang="en-US" altLang="zh-CN" dirty="0" smtClean="0"/>
              <a:t>	D </a:t>
            </a:r>
            <a:r>
              <a:rPr lang="zh-CN" altLang="en-US" dirty="0" smtClean="0"/>
              <a:t>不知反应热</a:t>
            </a:r>
            <a:endParaRPr lang="en-US" altLang="zh-CN" dirty="0" smtClean="0"/>
          </a:p>
          <a:p>
            <a:pPr marL="514350" indent="-514350">
              <a:spcBef>
                <a:spcPts val="300"/>
              </a:spcBef>
              <a:buNone/>
            </a:pPr>
            <a:r>
              <a:rPr lang="en-US" altLang="zh-CN" dirty="0" smtClean="0"/>
              <a:t>2. 	</a:t>
            </a:r>
            <a:r>
              <a:rPr lang="zh-CN" altLang="en-US" dirty="0" smtClean="0"/>
              <a:t>温度低，</a:t>
            </a:r>
            <a:r>
              <a:rPr lang="en-US" altLang="zh-CN" dirty="0" smtClean="0"/>
              <a:t>R</a:t>
            </a:r>
            <a:r>
              <a:rPr lang="zh-CN" altLang="en-US" dirty="0" smtClean="0"/>
              <a:t>减小</a:t>
            </a:r>
            <a:endParaRPr lang="en-US" altLang="zh-CN" dirty="0" smtClean="0"/>
          </a:p>
          <a:p>
            <a:pPr marL="514350" indent="-514350">
              <a:spcBef>
                <a:spcPts val="300"/>
              </a:spcBef>
              <a:buNone/>
            </a:pPr>
            <a:r>
              <a:rPr lang="en-US" altLang="zh-CN" dirty="0" smtClean="0"/>
              <a:t>	</a:t>
            </a:r>
            <a:r>
              <a:rPr lang="zh-CN" altLang="en-US" dirty="0" smtClean="0"/>
              <a:t>温度低，向放热反应方向进行（正反应）</a:t>
            </a:r>
            <a:endParaRPr lang="en-US" altLang="zh-CN" dirty="0" smtClean="0"/>
          </a:p>
          <a:p>
            <a:pPr marL="514350" indent="-514350">
              <a:spcBef>
                <a:spcPts val="300"/>
              </a:spcBef>
              <a:buNone/>
            </a:pPr>
            <a:r>
              <a:rPr lang="en-US" altLang="zh-CN" dirty="0" smtClean="0"/>
              <a:t>	</a:t>
            </a:r>
            <a:r>
              <a:rPr lang="en-US" altLang="zh-CN" dirty="0" err="1" smtClean="0"/>
              <a:t>Ans:C</a:t>
            </a:r>
            <a:endParaRPr lang="en-US" altLang="zh-CN" dirty="0" smtClean="0"/>
          </a:p>
          <a:p>
            <a:pPr marL="514350" indent="-514350">
              <a:spcBef>
                <a:spcPts val="300"/>
              </a:spcBef>
              <a:buNone/>
            </a:pPr>
            <a:r>
              <a:rPr lang="en-US" altLang="zh-CN" dirty="0" smtClean="0"/>
              <a:t>3. 	</a:t>
            </a:r>
            <a:r>
              <a:rPr lang="zh-CN" altLang="en-US" dirty="0" smtClean="0"/>
              <a:t>增大压强，向气体总体积缩小方向进行，</a:t>
            </a:r>
            <a:endParaRPr lang="en-US" altLang="zh-CN" dirty="0" smtClean="0"/>
          </a:p>
          <a:p>
            <a:pPr marL="514350" indent="-514350">
              <a:spcBef>
                <a:spcPts val="300"/>
              </a:spcBef>
              <a:buNone/>
            </a:pPr>
            <a:r>
              <a:rPr lang="en-US" altLang="zh-CN" dirty="0" smtClean="0"/>
              <a:t>	</a:t>
            </a:r>
            <a:r>
              <a:rPr lang="zh-CN" altLang="en-US" dirty="0" smtClean="0"/>
              <a:t>题意：向逆反应方向进行，即反应物气体总体积小。</a:t>
            </a:r>
            <a:endParaRPr lang="en-US" altLang="zh-CN" dirty="0" smtClean="0"/>
          </a:p>
          <a:p>
            <a:pPr marL="514350" indent="-514350">
              <a:spcBef>
                <a:spcPts val="300"/>
              </a:spcBef>
              <a:buNone/>
            </a:pPr>
            <a:r>
              <a:rPr lang="en-US" altLang="zh-CN" dirty="0" smtClean="0"/>
              <a:t>	</a:t>
            </a:r>
            <a:r>
              <a:rPr lang="en-US" altLang="zh-CN" dirty="0" err="1" smtClean="0"/>
              <a:t>Ans</a:t>
            </a:r>
            <a:r>
              <a:rPr lang="en-US" altLang="zh-CN" dirty="0" smtClean="0"/>
              <a:t>: D</a:t>
            </a:r>
          </a:p>
        </p:txBody>
      </p:sp>
      <p:sp>
        <p:nvSpPr>
          <p:cNvPr id="5" name="Rounded Rectangle 4"/>
          <p:cNvSpPr/>
          <p:nvPr/>
        </p:nvSpPr>
        <p:spPr>
          <a:xfrm>
            <a:off x="2971800" y="28956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124200" y="33528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705600" y="3352800"/>
            <a:ext cx="533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562600" y="4343400"/>
            <a:ext cx="8382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5"/>
                                        </p:tgtEl>
                                        <p:attrNameLst>
                                          <p:attrName>ppt_x</p:attrName>
                                        </p:attrNameLst>
                                      </p:cBhvr>
                                      <p:tavLst>
                                        <p:tav tm="0">
                                          <p:val>
                                            <p:strVal val="ppt_x"/>
                                          </p:val>
                                        </p:tav>
                                        <p:tav tm="100000">
                                          <p:val>
                                            <p:strVal val="ppt_x"/>
                                          </p:val>
                                        </p:tav>
                                      </p:tavLst>
                                    </p:anim>
                                    <p:anim calcmode="lin" valueType="num">
                                      <p:cBhvr additive="base">
                                        <p:cTn id="32" dur="500"/>
                                        <p:tgtEl>
                                          <p:spTgt spid="5"/>
                                        </p:tgtEl>
                                        <p:attrNameLst>
                                          <p:attrName>ppt_y</p:attrName>
                                        </p:attrNameLst>
                                      </p:cBhvr>
                                      <p:tavLst>
                                        <p:tav tm="0">
                                          <p:val>
                                            <p:strVal val="ppt_y"/>
                                          </p:val>
                                        </p:tav>
                                        <p:tav tm="100000">
                                          <p:val>
                                            <p:strVal val="1+ppt_h/2"/>
                                          </p:val>
                                        </p:tav>
                                      </p:tavLst>
                                    </p:anim>
                                    <p:set>
                                      <p:cBhvr>
                                        <p:cTn id="33" dur="1" fill="hold">
                                          <p:stCondLst>
                                            <p:cond delay="499"/>
                                          </p:stCondLst>
                                        </p:cTn>
                                        <p:tgtEl>
                                          <p:spTgt spid="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6"/>
                                        </p:tgtEl>
                                        <p:attrNameLst>
                                          <p:attrName>ppt_x</p:attrName>
                                        </p:attrNameLst>
                                      </p:cBhvr>
                                      <p:tavLst>
                                        <p:tav tm="0">
                                          <p:val>
                                            <p:strVal val="ppt_x"/>
                                          </p:val>
                                        </p:tav>
                                        <p:tav tm="100000">
                                          <p:val>
                                            <p:strVal val="ppt_x"/>
                                          </p:val>
                                        </p:tav>
                                      </p:tavLst>
                                    </p:anim>
                                    <p:anim calcmode="lin" valueType="num">
                                      <p:cBhvr additive="base">
                                        <p:cTn id="43" dur="500"/>
                                        <p:tgtEl>
                                          <p:spTgt spid="6"/>
                                        </p:tgtEl>
                                        <p:attrNameLst>
                                          <p:attrName>ppt_y</p:attrName>
                                        </p:attrNameLst>
                                      </p:cBhvr>
                                      <p:tavLst>
                                        <p:tav tm="0">
                                          <p:val>
                                            <p:strVal val="ppt_y"/>
                                          </p:val>
                                        </p:tav>
                                        <p:tav tm="100000">
                                          <p:val>
                                            <p:strVal val="1+ppt_h/2"/>
                                          </p:val>
                                        </p:tav>
                                      </p:tavLst>
                                    </p:anim>
                                    <p:set>
                                      <p:cBhvr>
                                        <p:cTn id="44" dur="1" fill="hold">
                                          <p:stCondLst>
                                            <p:cond delay="499"/>
                                          </p:stCondLst>
                                        </p:cTn>
                                        <p:tgtEl>
                                          <p:spTgt spid="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7"/>
                                        </p:tgtEl>
                                        <p:attrNameLst>
                                          <p:attrName>ppt_x</p:attrName>
                                        </p:attrNameLst>
                                      </p:cBhvr>
                                      <p:tavLst>
                                        <p:tav tm="0">
                                          <p:val>
                                            <p:strVal val="ppt_x"/>
                                          </p:val>
                                        </p:tav>
                                        <p:tav tm="100000">
                                          <p:val>
                                            <p:strVal val="ppt_x"/>
                                          </p:val>
                                        </p:tav>
                                      </p:tavLst>
                                    </p:anim>
                                    <p:anim calcmode="lin" valueType="num">
                                      <p:cBhvr additive="base">
                                        <p:cTn id="49" dur="500"/>
                                        <p:tgtEl>
                                          <p:spTgt spid="7"/>
                                        </p:tgtEl>
                                        <p:attrNameLst>
                                          <p:attrName>ppt_y</p:attrName>
                                        </p:attrNameLst>
                                      </p:cBhvr>
                                      <p:tavLst>
                                        <p:tav tm="0">
                                          <p:val>
                                            <p:strVal val="ppt_y"/>
                                          </p:val>
                                        </p:tav>
                                        <p:tav tm="100000">
                                          <p:val>
                                            <p:strVal val="1+ppt_h/2"/>
                                          </p:val>
                                        </p:tav>
                                      </p:tavLst>
                                    </p:anim>
                                    <p:set>
                                      <p:cBhvr>
                                        <p:cTn id="50" dur="1" fill="hold">
                                          <p:stCondLst>
                                            <p:cond delay="499"/>
                                          </p:stCondLst>
                                        </p:cTn>
                                        <p:tgtEl>
                                          <p:spTgt spid="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blinds(horizontal)">
                                      <p:cBhvr>
                                        <p:cTn id="55" dur="500"/>
                                        <p:tgtEl>
                                          <p:spTgt spid="3">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7" end="7"/>
                                            </p:txEl>
                                          </p:spTgt>
                                        </p:tgtEl>
                                        <p:attrNameLst>
                                          <p:attrName>style.visibility</p:attrName>
                                        </p:attrNameLst>
                                      </p:cBhvr>
                                      <p:to>
                                        <p:strVal val="visible"/>
                                      </p:to>
                                    </p:set>
                                    <p:animEffect transition="in" filter="blinds(horizontal)">
                                      <p:cBhvr>
                                        <p:cTn id="60" dur="500"/>
                                        <p:tgtEl>
                                          <p:spTgt spid="3">
                                            <p:txEl>
                                              <p:pRg st="7" end="7"/>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4" fill="hold" grpId="0" nodeType="clickEffect">
                                  <p:stCondLst>
                                    <p:cond delay="0"/>
                                  </p:stCondLst>
                                  <p:childTnLst>
                                    <p:anim calcmode="lin" valueType="num">
                                      <p:cBhvr additive="base">
                                        <p:cTn id="64" dur="500"/>
                                        <p:tgtEl>
                                          <p:spTgt spid="8"/>
                                        </p:tgtEl>
                                        <p:attrNameLst>
                                          <p:attrName>ppt_x</p:attrName>
                                        </p:attrNameLst>
                                      </p:cBhvr>
                                      <p:tavLst>
                                        <p:tav tm="0">
                                          <p:val>
                                            <p:strVal val="ppt_x"/>
                                          </p:val>
                                        </p:tav>
                                        <p:tav tm="100000">
                                          <p:val>
                                            <p:strVal val="ppt_x"/>
                                          </p:val>
                                        </p:tav>
                                      </p:tavLst>
                                    </p:anim>
                                    <p:anim calcmode="lin" valueType="num">
                                      <p:cBhvr additive="base">
                                        <p:cTn id="65" dur="500"/>
                                        <p:tgtEl>
                                          <p:spTgt spid="8"/>
                                        </p:tgtEl>
                                        <p:attrNameLst>
                                          <p:attrName>ppt_y</p:attrName>
                                        </p:attrNameLst>
                                      </p:cBhvr>
                                      <p:tavLst>
                                        <p:tav tm="0">
                                          <p:val>
                                            <p:strVal val="ppt_y"/>
                                          </p:val>
                                        </p:tav>
                                        <p:tav tm="100000">
                                          <p:val>
                                            <p:strVal val="1+ppt_h/2"/>
                                          </p:val>
                                        </p:tav>
                                      </p:tavLst>
                                    </p:anim>
                                    <p:set>
                                      <p:cBhvr>
                                        <p:cTn id="66" dur="1" fill="hold">
                                          <p:stCondLst>
                                            <p:cond delay="499"/>
                                          </p:stCondLst>
                                        </p:cTn>
                                        <p:tgtEl>
                                          <p:spTgt spid="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animEffect transition="in" filter="blinds(horizontal)">
                                      <p:cBhvr>
                                        <p:cTn id="71" dur="500"/>
                                        <p:tgtEl>
                                          <p:spTgt spid="3">
                                            <p:txEl>
                                              <p:pRg st="8" end="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3">
                                            <p:txEl>
                                              <p:pRg st="9" end="9"/>
                                            </p:txEl>
                                          </p:spTgt>
                                        </p:tgtEl>
                                        <p:attrNameLst>
                                          <p:attrName>style.visibility</p:attrName>
                                        </p:attrNameLst>
                                      </p:cBhvr>
                                      <p:to>
                                        <p:strVal val="visible"/>
                                      </p:to>
                                    </p:set>
                                    <p:animEffect transition="in" filter="blinds(horizontal)">
                                      <p:cBhvr>
                                        <p:cTn id="7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21.4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勒沙特列原理及应用</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a:bodyPr>
          <a:lstStyle/>
          <a:p>
            <a:pPr>
              <a:lnSpc>
                <a:spcPct val="150000"/>
              </a:lnSpc>
              <a:spcBef>
                <a:spcPts val="300"/>
              </a:spcBef>
              <a:buFont typeface="Wingdings" pitchFamily="2" charset="2"/>
              <a:buChar char="Ø"/>
            </a:pPr>
            <a:r>
              <a:rPr lang="zh-CN" altLang="en-US" sz="3000" dirty="0" smtClean="0"/>
              <a:t>设一个体系已达到平衡，如果改变任何一个影响平衡的因素（如浓度、压强或温度），则反应将向可削弱这种外来影响的方向进行。</a:t>
            </a:r>
            <a:endParaRPr lang="en-US" altLang="zh-CN" sz="3000" dirty="0" smtClean="0"/>
          </a:p>
          <a:p>
            <a:pPr>
              <a:lnSpc>
                <a:spcPct val="150000"/>
              </a:lnSpc>
              <a:spcBef>
                <a:spcPts val="300"/>
              </a:spcBef>
              <a:buFont typeface="Wingdings" pitchFamily="2" charset="2"/>
              <a:buChar char="Ø"/>
            </a:pPr>
            <a:r>
              <a:rPr lang="zh-CN" altLang="en-US" sz="3000" dirty="0" smtClean="0"/>
              <a:t>又称平衡移动原理。</a:t>
            </a:r>
            <a:endParaRPr lang="en-US" altLang="zh-CN"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21.4 </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勒沙特列原理及应用</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304800" y="990600"/>
            <a:ext cx="8839200" cy="5638800"/>
          </a:xfrm>
        </p:spPr>
        <p:txBody>
          <a:bodyPr>
            <a:normAutofit/>
          </a:bodyPr>
          <a:lstStyle/>
          <a:p>
            <a:pPr>
              <a:spcBef>
                <a:spcPts val="1200"/>
              </a:spcBef>
              <a:buFont typeface="Wingdings" pitchFamily="2" charset="2"/>
              <a:buChar char="Ø"/>
            </a:pPr>
            <a:r>
              <a:rPr lang="en-US" altLang="zh-CN" sz="3000" dirty="0" smtClean="0"/>
              <a:t> N</a:t>
            </a:r>
            <a:r>
              <a:rPr lang="en-US" altLang="zh-CN" sz="3000" baseline="-25000" dirty="0" smtClean="0"/>
              <a:t>2</a:t>
            </a:r>
            <a:r>
              <a:rPr lang="en-US" altLang="zh-CN" sz="3000" dirty="0" smtClean="0"/>
              <a:t> (g) + 3H</a:t>
            </a:r>
            <a:r>
              <a:rPr lang="en-US" altLang="zh-CN" sz="3000" baseline="-25000" dirty="0" smtClean="0"/>
              <a:t>2</a:t>
            </a:r>
            <a:r>
              <a:rPr lang="en-US" altLang="zh-CN" sz="3000" dirty="0" smtClean="0"/>
              <a:t> (g) &lt;--&gt; 2NH</a:t>
            </a:r>
            <a:r>
              <a:rPr lang="en-US" altLang="zh-CN" sz="3000" baseline="-25000" dirty="0" smtClean="0"/>
              <a:t>3</a:t>
            </a:r>
            <a:r>
              <a:rPr lang="en-US" altLang="zh-CN" sz="3000" dirty="0" smtClean="0"/>
              <a:t> (g) 	 </a:t>
            </a:r>
            <a:r>
              <a:rPr lang="en-US" altLang="zh-CN" sz="3000" dirty="0" smtClean="0">
                <a:solidFill>
                  <a:srgbClr val="C00000"/>
                </a:solidFill>
              </a:rPr>
              <a:t>∆H=-92.4kJ</a:t>
            </a:r>
          </a:p>
          <a:p>
            <a:pPr>
              <a:spcBef>
                <a:spcPts val="1200"/>
              </a:spcBef>
              <a:buNone/>
            </a:pPr>
            <a:r>
              <a:rPr lang="zh-CN" altLang="en-US" sz="3000" dirty="0" smtClean="0"/>
              <a:t>压强：生成物气体总体积小，增加压强。</a:t>
            </a:r>
            <a:endParaRPr lang="en-US" altLang="zh-CN" sz="3000" dirty="0" smtClean="0"/>
          </a:p>
          <a:p>
            <a:pPr>
              <a:spcBef>
                <a:spcPts val="1200"/>
              </a:spcBef>
              <a:buNone/>
            </a:pPr>
            <a:r>
              <a:rPr lang="zh-CN" altLang="en-US" sz="3000" dirty="0" smtClean="0"/>
              <a:t>温度：正反应为放热反应，应降低温度，</a:t>
            </a:r>
            <a:endParaRPr lang="en-US" altLang="zh-CN" sz="3000" dirty="0" smtClean="0"/>
          </a:p>
          <a:p>
            <a:pPr>
              <a:spcBef>
                <a:spcPts val="1200"/>
              </a:spcBef>
              <a:buNone/>
            </a:pPr>
            <a:r>
              <a:rPr lang="en-US" altLang="zh-CN" sz="3000" dirty="0" smtClean="0"/>
              <a:t>		   </a:t>
            </a:r>
            <a:r>
              <a:rPr lang="zh-CN" altLang="en-US" sz="3000" dirty="0" smtClean="0"/>
              <a:t>但温度太低</a:t>
            </a:r>
            <a:r>
              <a:rPr lang="en-US" altLang="zh-CN" sz="3000" dirty="0" smtClean="0"/>
              <a:t>R</a:t>
            </a:r>
            <a:r>
              <a:rPr lang="zh-CN" altLang="en-US" sz="3000" dirty="0" smtClean="0"/>
              <a:t>减小。</a:t>
            </a:r>
            <a:endParaRPr lang="en-US" altLang="zh-CN" sz="3000" dirty="0" smtClean="0"/>
          </a:p>
          <a:p>
            <a:pPr>
              <a:spcBef>
                <a:spcPts val="1200"/>
              </a:spcBef>
              <a:buNone/>
            </a:pPr>
            <a:r>
              <a:rPr lang="en-US" altLang="zh-CN" sz="3000" dirty="0" smtClean="0"/>
              <a:t>		   </a:t>
            </a:r>
            <a:r>
              <a:rPr lang="zh-CN" altLang="en-US" sz="3000" dirty="0" smtClean="0"/>
              <a:t>选择</a:t>
            </a:r>
            <a:r>
              <a:rPr lang="en-US" altLang="zh-CN" sz="3000" dirty="0" smtClean="0"/>
              <a:t>500</a:t>
            </a:r>
            <a:r>
              <a:rPr lang="en-US" altLang="zh-CN" sz="3000" baseline="30000" dirty="0" smtClean="0"/>
              <a:t>o</a:t>
            </a:r>
            <a:r>
              <a:rPr lang="en-US" altLang="zh-CN" sz="3000" dirty="0" smtClean="0"/>
              <a:t>C</a:t>
            </a:r>
          </a:p>
          <a:p>
            <a:pPr>
              <a:spcBef>
                <a:spcPts val="1200"/>
              </a:spcBef>
              <a:buNone/>
            </a:pPr>
            <a:r>
              <a:rPr lang="zh-CN" altLang="en-US" sz="3000" dirty="0" smtClean="0"/>
              <a:t>浓度：增加</a:t>
            </a:r>
            <a:r>
              <a:rPr lang="en-US" altLang="zh-CN" sz="3000" dirty="0" smtClean="0"/>
              <a:t>N</a:t>
            </a:r>
            <a:r>
              <a:rPr lang="en-US" altLang="zh-CN" sz="3000" baseline="-25000" dirty="0" smtClean="0"/>
              <a:t>2</a:t>
            </a:r>
            <a:r>
              <a:rPr lang="en-US" altLang="zh-CN" sz="3000" dirty="0" smtClean="0"/>
              <a:t> </a:t>
            </a:r>
            <a:r>
              <a:rPr lang="zh-CN" altLang="en-US" sz="3000" dirty="0" smtClean="0"/>
              <a:t>与</a:t>
            </a:r>
            <a:r>
              <a:rPr lang="en-US" altLang="zh-CN" sz="3000" dirty="0" smtClean="0"/>
              <a:t>H</a:t>
            </a:r>
            <a:r>
              <a:rPr lang="en-US" altLang="zh-CN" sz="3000" baseline="-25000" dirty="0" smtClean="0"/>
              <a:t>2</a:t>
            </a:r>
            <a:r>
              <a:rPr lang="en-US" altLang="zh-CN" sz="3000" dirty="0" smtClean="0"/>
              <a:t> </a:t>
            </a:r>
          </a:p>
          <a:p>
            <a:pPr>
              <a:spcBef>
                <a:spcPts val="1200"/>
              </a:spcBef>
              <a:buNone/>
            </a:pPr>
            <a:r>
              <a:rPr lang="en-US" altLang="zh-CN" sz="3000" dirty="0" smtClean="0"/>
              <a:t>		   </a:t>
            </a:r>
            <a:r>
              <a:rPr lang="zh-CN" altLang="en-US" sz="3000" dirty="0" smtClean="0"/>
              <a:t>将生成的</a:t>
            </a:r>
            <a:r>
              <a:rPr lang="en-US" altLang="zh-CN" sz="3000" dirty="0" smtClean="0"/>
              <a:t>NH</a:t>
            </a:r>
            <a:r>
              <a:rPr lang="en-US" altLang="zh-CN" sz="3000" baseline="-25000" dirty="0" smtClean="0"/>
              <a:t>3</a:t>
            </a:r>
            <a:r>
              <a:rPr lang="zh-CN" altLang="en-US" sz="3000" dirty="0" smtClean="0"/>
              <a:t>从混合气体中分离出去。</a:t>
            </a:r>
            <a:endParaRPr lang="en-US" altLang="zh-CN" sz="3000" dirty="0" smtClean="0"/>
          </a:p>
          <a:p>
            <a:pPr>
              <a:spcBef>
                <a:spcPts val="1200"/>
              </a:spcBef>
              <a:buNone/>
            </a:pPr>
            <a:r>
              <a:rPr lang="zh-CN" altLang="en-US" sz="3000" dirty="0" smtClean="0"/>
              <a:t>催化剂：加速化学反应速率，缩短平衡所需的时间。</a:t>
            </a:r>
            <a:endParaRPr lang="en-US" altLang="zh-CN"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思考题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21e</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en-US" altLang="zh-CN" dirty="0" smtClean="0"/>
              <a:t>1.			H</a:t>
            </a:r>
            <a:r>
              <a:rPr lang="en-US" altLang="zh-CN" baseline="-25000" dirty="0" smtClean="0"/>
              <a:t>2</a:t>
            </a:r>
            <a:r>
              <a:rPr lang="en-US" altLang="zh-CN" dirty="0" smtClean="0"/>
              <a:t> (g) + I</a:t>
            </a:r>
            <a:r>
              <a:rPr lang="en-US" altLang="zh-CN" baseline="-25000" dirty="0" smtClean="0"/>
              <a:t>2</a:t>
            </a:r>
            <a:r>
              <a:rPr lang="en-US" altLang="zh-CN" dirty="0" smtClean="0"/>
              <a:t> (g) &lt;--&gt; 2HI(g)	</a:t>
            </a:r>
            <a:r>
              <a:rPr lang="en-US" altLang="zh-CN" dirty="0" smtClean="0">
                <a:solidFill>
                  <a:srgbClr val="C00000"/>
                </a:solidFill>
              </a:rPr>
              <a:t> ∆H</a:t>
            </a:r>
            <a:r>
              <a:rPr lang="en-US" altLang="zh-CN" b="1" dirty="0" smtClean="0">
                <a:solidFill>
                  <a:srgbClr val="C00000"/>
                </a:solidFill>
                <a:effectLst>
                  <a:outerShdw blurRad="38100" dist="38100" dir="2700000" algn="tl">
                    <a:srgbClr val="000000">
                      <a:alpha val="43137"/>
                    </a:srgbClr>
                  </a:outerShdw>
                </a:effectLst>
              </a:rPr>
              <a:t>&gt;</a:t>
            </a:r>
            <a:r>
              <a:rPr lang="en-US" altLang="zh-CN" dirty="0" smtClean="0">
                <a:solidFill>
                  <a:srgbClr val="C00000"/>
                </a:solidFill>
              </a:rPr>
              <a:t>0 </a:t>
            </a:r>
          </a:p>
          <a:p>
            <a:pPr>
              <a:spcBef>
                <a:spcPts val="300"/>
              </a:spcBef>
              <a:buNone/>
            </a:pPr>
            <a:r>
              <a:rPr lang="en-US" altLang="zh-CN" dirty="0" smtClean="0"/>
              <a:t>(1)</a:t>
            </a:r>
          </a:p>
          <a:p>
            <a:pPr>
              <a:spcBef>
                <a:spcPts val="300"/>
              </a:spcBef>
              <a:buNone/>
            </a:pPr>
            <a:endParaRPr lang="en-US" altLang="zh-CN" dirty="0" smtClean="0"/>
          </a:p>
          <a:p>
            <a:pPr>
              <a:spcBef>
                <a:spcPts val="300"/>
              </a:spcBef>
              <a:buNone/>
            </a:pPr>
            <a:r>
              <a:rPr lang="en-US" altLang="zh-CN" dirty="0" smtClean="0"/>
              <a:t>(2) a </a:t>
            </a:r>
            <a:r>
              <a:rPr lang="zh-CN" altLang="en-US" dirty="0" smtClean="0"/>
              <a:t>升高温度，利于吸热反应</a:t>
            </a:r>
            <a:endParaRPr lang="en-US" altLang="zh-CN" dirty="0" smtClean="0"/>
          </a:p>
          <a:p>
            <a:pPr>
              <a:spcBef>
                <a:spcPts val="300"/>
              </a:spcBef>
              <a:buNone/>
            </a:pPr>
            <a:r>
              <a:rPr lang="en-US" altLang="zh-CN" dirty="0" smtClean="0"/>
              <a:t>		</a:t>
            </a:r>
            <a:r>
              <a:rPr lang="zh-CN" altLang="en-US" dirty="0" smtClean="0"/>
              <a:t>向正反应方向进行</a:t>
            </a:r>
            <a:endParaRPr lang="en-US" altLang="zh-CN" dirty="0" smtClean="0"/>
          </a:p>
          <a:p>
            <a:pPr>
              <a:spcBef>
                <a:spcPts val="300"/>
              </a:spcBef>
              <a:buNone/>
            </a:pPr>
            <a:r>
              <a:rPr lang="en-US" altLang="zh-CN" dirty="0" smtClean="0"/>
              <a:t>	b </a:t>
            </a:r>
            <a:r>
              <a:rPr lang="zh-CN" altLang="en-US" dirty="0" smtClean="0"/>
              <a:t>缩小容器体积，压强增加</a:t>
            </a:r>
            <a:endParaRPr lang="en-US" altLang="zh-CN" dirty="0" smtClean="0"/>
          </a:p>
          <a:p>
            <a:pPr>
              <a:spcBef>
                <a:spcPts val="300"/>
              </a:spcBef>
              <a:buNone/>
            </a:pPr>
            <a:r>
              <a:rPr lang="en-US" altLang="zh-CN" dirty="0" smtClean="0"/>
              <a:t>	</a:t>
            </a:r>
            <a:r>
              <a:rPr lang="zh-CN" altLang="en-US" dirty="0" smtClean="0"/>
              <a:t>反应前后气体总体积相同，平衡不受影响</a:t>
            </a:r>
            <a:endParaRPr lang="en-US" altLang="zh-CN" dirty="0" smtClean="0"/>
          </a:p>
          <a:p>
            <a:pPr>
              <a:spcBef>
                <a:spcPts val="300"/>
              </a:spcBef>
              <a:buNone/>
            </a:pPr>
            <a:r>
              <a:rPr lang="en-US" altLang="zh-CN" dirty="0" smtClean="0"/>
              <a:t>	c </a:t>
            </a:r>
            <a:r>
              <a:rPr lang="zh-CN" altLang="en-US" dirty="0" smtClean="0"/>
              <a:t>通入氢气，增加反应物</a:t>
            </a:r>
            <a:endParaRPr lang="en-US" altLang="zh-CN" dirty="0" smtClean="0"/>
          </a:p>
          <a:p>
            <a:pPr>
              <a:spcBef>
                <a:spcPts val="300"/>
              </a:spcBef>
              <a:buNone/>
            </a:pPr>
            <a:r>
              <a:rPr lang="en-US" altLang="zh-CN" dirty="0" smtClean="0"/>
              <a:t>		</a:t>
            </a:r>
            <a:r>
              <a:rPr lang="zh-CN" altLang="en-US" dirty="0" smtClean="0"/>
              <a:t>向正反应方向进行</a:t>
            </a:r>
            <a:endParaRPr lang="en-US" altLang="zh-CN" dirty="0" smtClean="0"/>
          </a:p>
          <a:p>
            <a:pPr>
              <a:spcBef>
                <a:spcPts val="300"/>
              </a:spcBef>
              <a:buNone/>
            </a:pPr>
            <a:endParaRPr lang="en-US" altLang="zh-CN" dirty="0" smtClean="0"/>
          </a:p>
        </p:txBody>
      </p:sp>
      <p:grpSp>
        <p:nvGrpSpPr>
          <p:cNvPr id="6" name="Group 3"/>
          <p:cNvGrpSpPr/>
          <p:nvPr/>
        </p:nvGrpSpPr>
        <p:grpSpPr>
          <a:xfrm>
            <a:off x="1371600" y="1524001"/>
            <a:ext cx="3309578" cy="1066799"/>
            <a:chOff x="2068535" y="1410711"/>
            <a:chExt cx="2463331" cy="1194375"/>
          </a:xfrm>
        </p:grpSpPr>
        <p:grpSp>
          <p:nvGrpSpPr>
            <p:cNvPr id="7" name="Group 24"/>
            <p:cNvGrpSpPr/>
            <p:nvPr/>
          </p:nvGrpSpPr>
          <p:grpSpPr>
            <a:xfrm>
              <a:off x="2068535" y="1410711"/>
              <a:ext cx="2463331" cy="889575"/>
              <a:chOff x="2068535" y="1410711"/>
              <a:chExt cx="2463331" cy="889575"/>
            </a:xfrm>
          </p:grpSpPr>
          <p:sp>
            <p:nvSpPr>
              <p:cNvPr id="9" name="TextBox 8"/>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10"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992974" y="1410711"/>
                <a:ext cx="1163669" cy="584775"/>
              </a:xfrm>
              <a:prstGeom prst="rect">
                <a:avLst/>
              </a:prstGeom>
              <a:noFill/>
            </p:spPr>
            <p:txBody>
              <a:bodyPr wrap="square" rtlCol="0">
                <a:spAutoFit/>
              </a:bodyPr>
              <a:lstStyle/>
              <a:p>
                <a:r>
                  <a:rPr lang="en-US" sz="3200" dirty="0" smtClean="0"/>
                  <a:t>  [HI]</a:t>
                </a:r>
                <a:r>
                  <a:rPr lang="en-US" sz="3200" baseline="30000" dirty="0" smtClean="0"/>
                  <a:t>2</a:t>
                </a:r>
                <a:endParaRPr lang="en-US" sz="3200" dirty="0"/>
              </a:p>
            </p:txBody>
          </p:sp>
        </p:grpSp>
        <p:sp>
          <p:nvSpPr>
            <p:cNvPr id="8" name="TextBox 5"/>
            <p:cNvSpPr txBox="1"/>
            <p:nvPr/>
          </p:nvSpPr>
          <p:spPr>
            <a:xfrm>
              <a:off x="2609165" y="2020311"/>
              <a:ext cx="1547479" cy="584775"/>
            </a:xfrm>
            <a:prstGeom prst="rect">
              <a:avLst/>
            </a:prstGeom>
            <a:noFill/>
          </p:spPr>
          <p:txBody>
            <a:bodyPr wrap="square" rtlCol="0">
              <a:spAutoFit/>
            </a:bodyPr>
            <a:lstStyle/>
            <a:p>
              <a:r>
                <a:rPr lang="en-US" altLang="zh-CN" sz="3200" dirty="0" smtClean="0"/>
                <a:t>    [H</a:t>
              </a:r>
              <a:r>
                <a:rPr lang="en-US" altLang="zh-CN" sz="3200" baseline="-25000" dirty="0" smtClean="0"/>
                <a:t>2</a:t>
              </a:r>
              <a:r>
                <a:rPr lang="en-US" altLang="zh-CN" sz="3200" dirty="0" smtClean="0"/>
                <a:t>][I</a:t>
              </a:r>
              <a:r>
                <a:rPr lang="en-US" altLang="zh-CN" sz="3200" baseline="-25000" dirty="0" smtClean="0"/>
                <a:t>2</a:t>
              </a:r>
              <a:r>
                <a:rPr lang="en-US" altLang="zh-CN" sz="3200" dirty="0" smtClean="0"/>
                <a:t>]</a:t>
              </a:r>
              <a:endParaRPr lang="en-US" sz="3200" dirty="0"/>
            </a:p>
          </p:txBody>
        </p:sp>
      </p:grpSp>
      <p:sp>
        <p:nvSpPr>
          <p:cNvPr id="12" name="Rounded Rectangle 11"/>
          <p:cNvSpPr/>
          <p:nvPr/>
        </p:nvSpPr>
        <p:spPr>
          <a:xfrm>
            <a:off x="4267200" y="2590800"/>
            <a:ext cx="7620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876800" y="3657600"/>
            <a:ext cx="914400" cy="457200"/>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12"/>
                                        </p:tgtEl>
                                        <p:attrNameLst>
                                          <p:attrName>ppt_x</p:attrName>
                                        </p:attrNameLst>
                                      </p:cBhvr>
                                      <p:tavLst>
                                        <p:tav tm="0">
                                          <p:val>
                                            <p:strVal val="ppt_x"/>
                                          </p:val>
                                        </p:tav>
                                        <p:tav tm="100000">
                                          <p:val>
                                            <p:strVal val="ppt_x"/>
                                          </p:val>
                                        </p:tav>
                                      </p:tavLst>
                                    </p:anim>
                                    <p:anim calcmode="lin" valueType="num">
                                      <p:cBhvr additive="base">
                                        <p:cTn id="27" dur="500"/>
                                        <p:tgtEl>
                                          <p:spTgt spid="12"/>
                                        </p:tgtEl>
                                        <p:attrNameLst>
                                          <p:attrName>ppt_y</p:attrName>
                                        </p:attrNameLst>
                                      </p:cBhvr>
                                      <p:tavLst>
                                        <p:tav tm="0">
                                          <p:val>
                                            <p:strVal val="ppt_y"/>
                                          </p:val>
                                        </p:tav>
                                        <p:tav tm="100000">
                                          <p:val>
                                            <p:strVal val="1+ppt_h/2"/>
                                          </p:val>
                                        </p:tav>
                                      </p:tavLst>
                                    </p:anim>
                                    <p:set>
                                      <p:cBhvr>
                                        <p:cTn id="28" dur="1" fill="hold">
                                          <p:stCondLst>
                                            <p:cond delay="499"/>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3"/>
                                        </p:tgtEl>
                                        <p:attrNameLst>
                                          <p:attrName>ppt_x</p:attrName>
                                        </p:attrNameLst>
                                      </p:cBhvr>
                                      <p:tavLst>
                                        <p:tav tm="0">
                                          <p:val>
                                            <p:strVal val="ppt_x"/>
                                          </p:val>
                                        </p:tav>
                                        <p:tav tm="100000">
                                          <p:val>
                                            <p:strVal val="ppt_x"/>
                                          </p:val>
                                        </p:tav>
                                      </p:tavLst>
                                    </p:anim>
                                    <p:anim calcmode="lin" valueType="num">
                                      <p:cBhvr additive="base">
                                        <p:cTn id="43" dur="500"/>
                                        <p:tgtEl>
                                          <p:spTgt spid="13"/>
                                        </p:tgtEl>
                                        <p:attrNameLst>
                                          <p:attrName>ppt_y</p:attrName>
                                        </p:attrNameLst>
                                      </p:cBhvr>
                                      <p:tavLst>
                                        <p:tav tm="0">
                                          <p:val>
                                            <p:strVal val="ppt_y"/>
                                          </p:val>
                                        </p:tav>
                                        <p:tav tm="100000">
                                          <p:val>
                                            <p:strVal val="1+ppt_h/2"/>
                                          </p:val>
                                        </p:tav>
                                      </p:tavLst>
                                    </p:anim>
                                    <p:set>
                                      <p:cBhvr>
                                        <p:cTn id="44" dur="1" fill="hold">
                                          <p:stCondLst>
                                            <p:cond delay="499"/>
                                          </p:stCondLst>
                                        </p:cTn>
                                        <p:tgtEl>
                                          <p:spTgt spid="1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blinds(horizontal)">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blinds(horizontal)">
                                      <p:cBhvr>
                                        <p:cTn id="54" dur="500"/>
                                        <p:tgtEl>
                                          <p:spTgt spid="3">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blinds(horizontal)">
                                      <p:cBhvr>
                                        <p:cTn id="5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686800" cy="5638800"/>
          </a:xfrm>
        </p:spPr>
        <p:txBody>
          <a:bodyPr>
            <a:normAutofit fontScale="92500"/>
          </a:bodyPr>
          <a:lstStyle/>
          <a:p>
            <a:pPr marL="514350" indent="-514350">
              <a:spcBef>
                <a:spcPts val="300"/>
              </a:spcBef>
              <a:buAutoNum type="arabicPeriod"/>
            </a:pPr>
            <a:r>
              <a:rPr lang="en-US" altLang="zh-CN" sz="3000" dirty="0" smtClean="0"/>
              <a:t>D</a:t>
            </a:r>
          </a:p>
          <a:p>
            <a:pPr marL="514350" indent="-514350">
              <a:spcBef>
                <a:spcPts val="300"/>
              </a:spcBef>
              <a:buAutoNum type="arabicPeriod"/>
            </a:pPr>
            <a:r>
              <a:rPr lang="en-US" altLang="zh-CN" sz="3000" dirty="0" smtClean="0"/>
              <a:t>A  </a:t>
            </a:r>
            <a:r>
              <a:rPr lang="zh-CN" altLang="en-US" sz="3000" dirty="0" smtClean="0"/>
              <a:t>都是</a:t>
            </a:r>
            <a:r>
              <a:rPr lang="en-US" altLang="zh-CN" sz="3000" dirty="0" smtClean="0"/>
              <a:t>R</a:t>
            </a:r>
            <a:r>
              <a:rPr lang="zh-CN" altLang="en-US" sz="3000" baseline="-25000" dirty="0" smtClean="0"/>
              <a:t>正</a:t>
            </a:r>
            <a:r>
              <a:rPr lang="zh-CN" altLang="en-US" sz="3000" dirty="0" smtClean="0"/>
              <a:t> </a:t>
            </a:r>
            <a:endParaRPr lang="en-US" altLang="zh-CN" sz="3000" dirty="0" smtClean="0"/>
          </a:p>
          <a:p>
            <a:pPr marL="514350" indent="-514350">
              <a:spcBef>
                <a:spcPts val="300"/>
              </a:spcBef>
              <a:buNone/>
            </a:pPr>
            <a:r>
              <a:rPr lang="en-US" altLang="zh-CN" sz="3000" dirty="0" smtClean="0"/>
              <a:t>	B 	2 R</a:t>
            </a:r>
            <a:r>
              <a:rPr lang="zh-CN" altLang="en-US" sz="3000" baseline="-25000" dirty="0" smtClean="0"/>
              <a:t>正</a:t>
            </a:r>
            <a:r>
              <a:rPr lang="en-US" altLang="zh-CN" sz="3000" dirty="0" smtClean="0"/>
              <a:t>(N</a:t>
            </a:r>
            <a:r>
              <a:rPr lang="en-US" altLang="zh-CN" sz="3000" baseline="-25000" dirty="0" smtClean="0"/>
              <a:t>2</a:t>
            </a:r>
            <a:r>
              <a:rPr lang="en-US" altLang="zh-CN" sz="3000" dirty="0" smtClean="0"/>
              <a:t>)=R</a:t>
            </a:r>
            <a:r>
              <a:rPr lang="zh-CN" altLang="en-US" sz="3000" baseline="-25000" dirty="0" smtClean="0"/>
              <a:t>逆</a:t>
            </a:r>
            <a:r>
              <a:rPr lang="en-US" altLang="zh-CN" sz="3000" dirty="0" smtClean="0"/>
              <a:t>(NH</a:t>
            </a:r>
            <a:r>
              <a:rPr lang="en-US" altLang="zh-CN" sz="3000" baseline="-25000" dirty="0" smtClean="0"/>
              <a:t>3</a:t>
            </a:r>
            <a:r>
              <a:rPr lang="en-US" altLang="zh-CN" sz="3000" dirty="0" smtClean="0"/>
              <a:t>)</a:t>
            </a:r>
          </a:p>
          <a:p>
            <a:pPr marL="514350" indent="-514350">
              <a:spcBef>
                <a:spcPts val="300"/>
              </a:spcBef>
              <a:buNone/>
            </a:pPr>
            <a:r>
              <a:rPr lang="en-US" altLang="zh-CN" sz="3000" dirty="0" smtClean="0"/>
              <a:t>	D 	3 R</a:t>
            </a:r>
            <a:r>
              <a:rPr lang="zh-CN" altLang="en-US" sz="3000" baseline="-25000" dirty="0" smtClean="0"/>
              <a:t>正</a:t>
            </a:r>
            <a:r>
              <a:rPr lang="en-US" altLang="zh-CN" sz="3000" dirty="0" smtClean="0"/>
              <a:t>(N</a:t>
            </a:r>
            <a:r>
              <a:rPr lang="en-US" altLang="zh-CN" sz="3000" baseline="-25000" dirty="0" smtClean="0"/>
              <a:t>2</a:t>
            </a:r>
            <a:r>
              <a:rPr lang="en-US" altLang="zh-CN" sz="3000" dirty="0" smtClean="0"/>
              <a:t>)=R</a:t>
            </a:r>
            <a:r>
              <a:rPr lang="zh-CN" altLang="en-US" sz="3000" baseline="-25000" dirty="0" smtClean="0"/>
              <a:t>逆</a:t>
            </a:r>
            <a:r>
              <a:rPr lang="en-US" altLang="zh-CN" sz="3000" dirty="0" smtClean="0"/>
              <a:t>(H</a:t>
            </a:r>
            <a:r>
              <a:rPr lang="en-US" altLang="zh-CN" sz="3000" baseline="-25000" dirty="0" smtClean="0"/>
              <a:t>2</a:t>
            </a:r>
            <a:r>
              <a:rPr lang="en-US" altLang="zh-CN" sz="3000" dirty="0" smtClean="0"/>
              <a:t>)</a:t>
            </a:r>
          </a:p>
          <a:p>
            <a:pPr marL="514350" indent="-514350">
              <a:spcBef>
                <a:spcPts val="300"/>
              </a:spcBef>
              <a:buNone/>
            </a:pPr>
            <a:r>
              <a:rPr lang="en-US" altLang="zh-CN" sz="3000" dirty="0" smtClean="0"/>
              <a:t>	</a:t>
            </a:r>
            <a:r>
              <a:rPr lang="en-US" altLang="zh-CN" sz="3000" dirty="0" err="1" smtClean="0"/>
              <a:t>Ans:C</a:t>
            </a:r>
            <a:r>
              <a:rPr lang="en-US" altLang="zh-CN" sz="3000" dirty="0" smtClean="0"/>
              <a:t> </a:t>
            </a:r>
          </a:p>
          <a:p>
            <a:pPr marL="514350" indent="-514350">
              <a:spcBef>
                <a:spcPts val="300"/>
              </a:spcBef>
              <a:buNone/>
            </a:pPr>
            <a:r>
              <a:rPr lang="en-US" altLang="zh-CN" sz="3000" dirty="0" smtClean="0"/>
              <a:t>3. D</a:t>
            </a:r>
            <a:r>
              <a:rPr lang="zh-CN" altLang="en-US" sz="3000" dirty="0" smtClean="0"/>
              <a:t>气体压强不变即浓度不变</a:t>
            </a:r>
            <a:endParaRPr lang="en-US" altLang="zh-CN" sz="3000" dirty="0" smtClean="0"/>
          </a:p>
          <a:p>
            <a:pPr marL="514350" indent="-514350">
              <a:spcBef>
                <a:spcPts val="300"/>
              </a:spcBef>
              <a:buNone/>
            </a:pPr>
            <a:r>
              <a:rPr lang="en-US" altLang="zh-CN" sz="3000" dirty="0" smtClean="0"/>
              <a:t>4. </a:t>
            </a:r>
            <a:r>
              <a:rPr lang="zh-CN" altLang="en-US" sz="3000" dirty="0" smtClean="0"/>
              <a:t>正反应吸热，生成物气体总体积大</a:t>
            </a:r>
            <a:endParaRPr lang="en-US" altLang="zh-CN" sz="3000" dirty="0" smtClean="0"/>
          </a:p>
          <a:p>
            <a:pPr marL="514350" indent="-514350">
              <a:spcBef>
                <a:spcPts val="300"/>
              </a:spcBef>
              <a:buNone/>
            </a:pPr>
            <a:r>
              <a:rPr lang="en-US" altLang="zh-CN" sz="3000" dirty="0" smtClean="0"/>
              <a:t>	D </a:t>
            </a:r>
            <a:r>
              <a:rPr lang="zh-CN" altLang="en-US" sz="3000" dirty="0" smtClean="0"/>
              <a:t>升温、减压</a:t>
            </a:r>
            <a:endParaRPr lang="en-US" altLang="zh-CN" sz="3000" dirty="0" smtClean="0"/>
          </a:p>
          <a:p>
            <a:pPr marL="514350" indent="-514350">
              <a:spcBef>
                <a:spcPts val="300"/>
              </a:spcBef>
              <a:buNone/>
            </a:pPr>
            <a:r>
              <a:rPr lang="en-US" altLang="zh-CN" sz="3000" dirty="0" smtClean="0"/>
              <a:t>5. </a:t>
            </a:r>
            <a:r>
              <a:rPr lang="en-US" altLang="zh-CN" sz="3000" dirty="0" err="1" smtClean="0"/>
              <a:t>Ans</a:t>
            </a:r>
            <a:r>
              <a:rPr lang="en-US" altLang="zh-CN" sz="3000" dirty="0" smtClean="0"/>
              <a:t>: B</a:t>
            </a:r>
            <a:r>
              <a:rPr lang="zh-CN" altLang="en-US" sz="3000" dirty="0" smtClean="0"/>
              <a:t>增加反应物，反应向正反应方向移动</a:t>
            </a:r>
            <a:endParaRPr lang="en-US" altLang="zh-CN" sz="3000" dirty="0" smtClean="0"/>
          </a:p>
          <a:p>
            <a:pPr marL="514350" indent="-514350">
              <a:spcBef>
                <a:spcPts val="300"/>
              </a:spcBef>
              <a:buNone/>
            </a:pPr>
            <a:r>
              <a:rPr lang="en-US" altLang="zh-CN" sz="3000" dirty="0" smtClean="0"/>
              <a:t>A </a:t>
            </a:r>
            <a:r>
              <a:rPr lang="zh-CN" altLang="en-US" sz="3000" dirty="0" smtClean="0"/>
              <a:t>升高温度有利于吸热反应，反应向</a:t>
            </a:r>
            <a:r>
              <a:rPr lang="zh-CN" altLang="en-US" sz="3000" b="1" dirty="0" smtClean="0"/>
              <a:t>逆反应</a:t>
            </a:r>
            <a:r>
              <a:rPr lang="zh-CN" altLang="en-US" sz="3000" dirty="0" smtClean="0"/>
              <a:t>方向进行</a:t>
            </a:r>
            <a:r>
              <a:rPr lang="en-US" altLang="zh-CN" sz="3000" dirty="0" smtClean="0"/>
              <a:t>	</a:t>
            </a:r>
          </a:p>
          <a:p>
            <a:pPr marL="514350" indent="-514350">
              <a:spcBef>
                <a:spcPts val="300"/>
              </a:spcBef>
              <a:buNone/>
            </a:pPr>
            <a:r>
              <a:rPr lang="en-US" altLang="zh-CN" sz="3000" dirty="0" smtClean="0"/>
              <a:t>C</a:t>
            </a:r>
            <a:r>
              <a:rPr lang="zh-CN" altLang="en-US" sz="3000" dirty="0" smtClean="0"/>
              <a:t>增大容器即压强减小，反应向气体体积增大，往</a:t>
            </a:r>
            <a:r>
              <a:rPr lang="zh-CN" altLang="en-US" sz="3000" b="1" dirty="0" smtClean="0"/>
              <a:t>逆反</a:t>
            </a:r>
            <a:r>
              <a:rPr lang="zh-CN" altLang="en-US" sz="3000" dirty="0" smtClean="0"/>
              <a:t>应方向进行。</a:t>
            </a:r>
            <a:endParaRPr lang="en-US" altLang="zh-CN"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a:bodyPr>
          <a:lstStyle/>
          <a:p>
            <a:pPr marL="514350" indent="-514350">
              <a:spcBef>
                <a:spcPts val="300"/>
              </a:spcBef>
              <a:buNone/>
            </a:pPr>
            <a:r>
              <a:rPr lang="en-US" altLang="zh-CN" sz="3000" dirty="0" smtClean="0"/>
              <a:t>6. D </a:t>
            </a:r>
            <a:r>
              <a:rPr lang="zh-CN" altLang="en-US" sz="3000" dirty="0" smtClean="0"/>
              <a:t>原本</a:t>
            </a:r>
            <a:r>
              <a:rPr lang="en-US" altLang="zh-CN" sz="3000" dirty="0" smtClean="0"/>
              <a:t>p</a:t>
            </a:r>
            <a:r>
              <a:rPr lang="zh-CN" altLang="en-US" sz="3000" dirty="0" smtClean="0"/>
              <a:t>后来</a:t>
            </a:r>
            <a:r>
              <a:rPr lang="en-US" altLang="zh-CN" sz="3000" dirty="0" smtClean="0"/>
              <a:t>2p</a:t>
            </a:r>
            <a:r>
              <a:rPr lang="zh-CN" altLang="en-US" sz="3000" dirty="0" smtClean="0"/>
              <a:t>，平衡被破坏，向</a:t>
            </a:r>
            <a:r>
              <a:rPr lang="zh-CN" altLang="en-US" sz="3000" b="1" dirty="0" smtClean="0">
                <a:solidFill>
                  <a:srgbClr val="002060"/>
                </a:solidFill>
              </a:rPr>
              <a:t>削弱</a:t>
            </a:r>
            <a:r>
              <a:rPr lang="zh-CN" altLang="en-US" sz="3000" dirty="0" smtClean="0"/>
              <a:t>外来影响方向进行，达新平衡时小于</a:t>
            </a:r>
            <a:r>
              <a:rPr lang="en-US" altLang="zh-CN" sz="3000" dirty="0" smtClean="0"/>
              <a:t>2p</a:t>
            </a:r>
            <a:r>
              <a:rPr lang="zh-CN" altLang="en-US" sz="3000" dirty="0" smtClean="0"/>
              <a:t>。</a:t>
            </a:r>
            <a:endParaRPr lang="en-US" altLang="zh-CN" sz="3000" dirty="0" smtClean="0"/>
          </a:p>
          <a:p>
            <a:pPr marL="514350" indent="-514350">
              <a:spcBef>
                <a:spcPts val="300"/>
              </a:spcBef>
              <a:buNone/>
            </a:pPr>
            <a:r>
              <a:rPr lang="en-US" altLang="zh-CN" sz="3000" dirty="0" smtClean="0"/>
              <a:t>7. </a:t>
            </a:r>
            <a:r>
              <a:rPr lang="zh-CN" altLang="en-US" sz="3000" dirty="0" smtClean="0"/>
              <a:t>体积压缩，压强增加，向气体总体积减少</a:t>
            </a:r>
            <a:endParaRPr lang="en-US" altLang="zh-CN" sz="3000" dirty="0" smtClean="0"/>
          </a:p>
          <a:p>
            <a:pPr marL="514350" indent="-514350">
              <a:spcBef>
                <a:spcPts val="300"/>
              </a:spcBef>
              <a:buNone/>
            </a:pPr>
            <a:r>
              <a:rPr lang="en-US" altLang="zh-CN" sz="3000" dirty="0" smtClean="0"/>
              <a:t>	</a:t>
            </a:r>
            <a:r>
              <a:rPr lang="en-US" altLang="zh-CN" sz="3000" dirty="0" err="1" smtClean="0"/>
              <a:t>Ans</a:t>
            </a:r>
            <a:r>
              <a:rPr lang="zh-CN" altLang="en-US" sz="3000" dirty="0" smtClean="0"/>
              <a:t>：</a:t>
            </a:r>
            <a:r>
              <a:rPr lang="en-US" altLang="zh-CN" sz="3000" dirty="0" smtClean="0"/>
              <a:t>D</a:t>
            </a:r>
          </a:p>
          <a:p>
            <a:pPr marL="514350" indent="-514350">
              <a:spcBef>
                <a:spcPts val="300"/>
              </a:spcBef>
              <a:buNone/>
            </a:pPr>
            <a:r>
              <a:rPr lang="en-US" altLang="zh-CN" sz="3000" dirty="0" smtClean="0"/>
              <a:t>8. 	A </a:t>
            </a:r>
            <a:r>
              <a:rPr lang="zh-CN" altLang="en-US" sz="3000" dirty="0" smtClean="0"/>
              <a:t>对，浓度增加，颜色变深</a:t>
            </a:r>
            <a:endParaRPr lang="en-US" altLang="zh-CN" sz="3000" dirty="0" smtClean="0"/>
          </a:p>
          <a:p>
            <a:pPr marL="514350" indent="-514350">
              <a:spcBef>
                <a:spcPts val="300"/>
              </a:spcBef>
              <a:buNone/>
            </a:pPr>
            <a:r>
              <a:rPr lang="en-US" altLang="zh-CN" sz="3000" dirty="0" smtClean="0"/>
              <a:t>	B </a:t>
            </a:r>
            <a:r>
              <a:rPr lang="zh-CN" altLang="en-US" sz="3000" dirty="0" smtClean="0"/>
              <a:t>对，恒压充入</a:t>
            </a:r>
            <a:r>
              <a:rPr lang="en-US" altLang="zh-CN" sz="3000" dirty="0" smtClean="0"/>
              <a:t>HI</a:t>
            </a:r>
            <a:r>
              <a:rPr lang="zh-CN" altLang="en-US" sz="3000" dirty="0" smtClean="0"/>
              <a:t>即容器体积变大，</a:t>
            </a:r>
            <a:endParaRPr lang="en-US" altLang="zh-CN" sz="3000" dirty="0" smtClean="0"/>
          </a:p>
          <a:p>
            <a:pPr marL="514350" indent="-514350">
              <a:spcBef>
                <a:spcPts val="300"/>
              </a:spcBef>
              <a:buNone/>
            </a:pPr>
            <a:r>
              <a:rPr lang="en-US" altLang="zh-CN" sz="3000" dirty="0" smtClean="0"/>
              <a:t>		</a:t>
            </a:r>
            <a:r>
              <a:rPr lang="zh-CN" altLang="en-US" sz="3000" dirty="0" smtClean="0"/>
              <a:t>则</a:t>
            </a:r>
            <a:r>
              <a:rPr lang="en-US" altLang="zh-CN" sz="3000" dirty="0" smtClean="0"/>
              <a:t>H</a:t>
            </a:r>
            <a:r>
              <a:rPr lang="en-US" altLang="zh-CN" sz="3000" baseline="-25000" dirty="0" smtClean="0"/>
              <a:t>2</a:t>
            </a:r>
            <a:r>
              <a:rPr lang="en-US" altLang="zh-CN" sz="3000" dirty="0" smtClean="0"/>
              <a:t> </a:t>
            </a:r>
            <a:r>
              <a:rPr lang="zh-CN" altLang="en-US" sz="3000" dirty="0" smtClean="0"/>
              <a:t>与</a:t>
            </a:r>
            <a:r>
              <a:rPr lang="en-US" altLang="zh-CN" sz="3000" dirty="0" smtClean="0"/>
              <a:t>I</a:t>
            </a:r>
            <a:r>
              <a:rPr lang="en-US" altLang="zh-CN" sz="3000" baseline="-25000" dirty="0" smtClean="0"/>
              <a:t>2</a:t>
            </a:r>
            <a:r>
              <a:rPr lang="en-US" altLang="zh-CN" sz="3000" dirty="0" smtClean="0"/>
              <a:t> </a:t>
            </a:r>
            <a:r>
              <a:rPr lang="zh-CN" altLang="en-US" sz="3000" dirty="0" smtClean="0"/>
              <a:t>浓度下降，</a:t>
            </a:r>
            <a:r>
              <a:rPr lang="en-US" altLang="zh-CN" sz="3000" dirty="0" smtClean="0"/>
              <a:t>R</a:t>
            </a:r>
            <a:r>
              <a:rPr lang="zh-CN" altLang="en-US" sz="3000" baseline="-25000" dirty="0" smtClean="0"/>
              <a:t>正</a:t>
            </a:r>
            <a:r>
              <a:rPr lang="zh-CN" altLang="en-US" sz="3000" dirty="0" smtClean="0"/>
              <a:t>开始时减小。</a:t>
            </a:r>
            <a:endParaRPr lang="en-US" altLang="zh-CN" sz="3000" dirty="0" smtClean="0"/>
          </a:p>
          <a:p>
            <a:pPr marL="514350" indent="-514350">
              <a:spcBef>
                <a:spcPts val="300"/>
              </a:spcBef>
              <a:buNone/>
            </a:pPr>
            <a:r>
              <a:rPr lang="en-US" altLang="zh-CN" sz="3000" dirty="0" smtClean="0"/>
              <a:t>	C</a:t>
            </a:r>
            <a:r>
              <a:rPr lang="zh-CN" altLang="en-US" sz="3000" dirty="0" smtClean="0"/>
              <a:t>错，温度上升，</a:t>
            </a:r>
            <a:r>
              <a:rPr lang="en-US" altLang="zh-CN" sz="3000" dirty="0" smtClean="0"/>
              <a:t> R</a:t>
            </a:r>
            <a:r>
              <a:rPr lang="zh-CN" altLang="en-US" sz="3000" baseline="-25000" dirty="0" smtClean="0"/>
              <a:t>正</a:t>
            </a:r>
            <a:r>
              <a:rPr lang="en-US" altLang="zh-CN" sz="3000" dirty="0" smtClean="0"/>
              <a:t>R</a:t>
            </a:r>
            <a:r>
              <a:rPr lang="zh-CN" altLang="en-US" sz="3000" baseline="-25000" dirty="0" smtClean="0"/>
              <a:t>逆</a:t>
            </a:r>
            <a:r>
              <a:rPr lang="zh-CN" altLang="en-US" sz="3000" dirty="0" smtClean="0"/>
              <a:t>皆增大，但</a:t>
            </a:r>
            <a:r>
              <a:rPr lang="en-US" altLang="zh-CN" sz="3000" dirty="0" smtClean="0"/>
              <a:t>R</a:t>
            </a:r>
            <a:r>
              <a:rPr lang="zh-CN" altLang="en-US" sz="3000" baseline="-25000" dirty="0" smtClean="0"/>
              <a:t>正</a:t>
            </a:r>
            <a:r>
              <a:rPr lang="zh-CN" altLang="en-US" sz="3000" dirty="0" smtClean="0"/>
              <a:t>增大较多，所以平衡向正反应方向移动。</a:t>
            </a:r>
            <a:endParaRPr lang="en-US" altLang="zh-CN" sz="3000" dirty="0" smtClean="0"/>
          </a:p>
          <a:p>
            <a:pPr marL="514350" indent="-514350">
              <a:spcBef>
                <a:spcPts val="300"/>
              </a:spcBef>
              <a:buNone/>
            </a:pPr>
            <a:r>
              <a:rPr lang="en-US" altLang="zh-CN" sz="3000" dirty="0" smtClean="0"/>
              <a:t>	D</a:t>
            </a:r>
            <a:r>
              <a:rPr lang="zh-CN" altLang="en-US" sz="3000" dirty="0" smtClean="0"/>
              <a:t>对</a:t>
            </a:r>
            <a:endParaRPr lang="en-US" altLang="zh-CN"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选择题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763000" cy="5638800"/>
          </a:xfrm>
        </p:spPr>
        <p:txBody>
          <a:bodyPr>
            <a:normAutofit/>
          </a:bodyPr>
          <a:lstStyle/>
          <a:p>
            <a:pPr marL="514350" indent="-514350">
              <a:spcBef>
                <a:spcPts val="300"/>
              </a:spcBef>
              <a:buNone/>
            </a:pPr>
            <a:r>
              <a:rPr lang="en-US" altLang="zh-CN" sz="3000" dirty="0" smtClean="0"/>
              <a:t>9.   A </a:t>
            </a:r>
            <a:r>
              <a:rPr lang="zh-CN" altLang="en-US" sz="3000" dirty="0" smtClean="0"/>
              <a:t>温度上升利于吸热反应，向逆反应方向进行</a:t>
            </a:r>
            <a:endParaRPr lang="en-US" altLang="zh-CN" sz="3000" dirty="0" smtClean="0"/>
          </a:p>
          <a:p>
            <a:pPr marL="514350" indent="-514350">
              <a:spcBef>
                <a:spcPts val="300"/>
              </a:spcBef>
              <a:buNone/>
            </a:pPr>
            <a:r>
              <a:rPr lang="en-US" altLang="zh-CN" sz="3000" dirty="0" smtClean="0"/>
              <a:t>	B </a:t>
            </a:r>
            <a:r>
              <a:rPr lang="zh-CN" altLang="en-US" sz="3000" dirty="0" smtClean="0"/>
              <a:t>平衡不受影响，但各混合气体浓度增加</a:t>
            </a:r>
            <a:endParaRPr lang="en-US" altLang="zh-CN" sz="3000" dirty="0" smtClean="0"/>
          </a:p>
          <a:p>
            <a:pPr marL="514350" indent="-514350">
              <a:spcBef>
                <a:spcPts val="300"/>
              </a:spcBef>
              <a:buNone/>
            </a:pPr>
            <a:r>
              <a:rPr lang="en-US" altLang="zh-CN" sz="3000" dirty="0" smtClean="0"/>
              <a:t>	C </a:t>
            </a:r>
            <a:r>
              <a:rPr lang="zh-CN" altLang="en-US" sz="3000" dirty="0" smtClean="0"/>
              <a:t>体积不变，稀有气体不参与反应，</a:t>
            </a:r>
            <a:r>
              <a:rPr lang="en-US" altLang="zh-CN" sz="3000" dirty="0" smtClean="0"/>
              <a:t>[Y]</a:t>
            </a:r>
            <a:r>
              <a:rPr lang="zh-CN" altLang="en-US" sz="3000" dirty="0" smtClean="0"/>
              <a:t>不变</a:t>
            </a:r>
            <a:endParaRPr lang="en-US" altLang="zh-CN" sz="3000" dirty="0" smtClean="0"/>
          </a:p>
          <a:p>
            <a:pPr marL="514350" indent="-514350">
              <a:spcBef>
                <a:spcPts val="300"/>
              </a:spcBef>
              <a:buNone/>
            </a:pPr>
            <a:r>
              <a:rPr lang="en-US" altLang="zh-CN" sz="3000" dirty="0" smtClean="0"/>
              <a:t>	D</a:t>
            </a:r>
            <a:r>
              <a:rPr lang="zh-CN" altLang="en-US" sz="3000" dirty="0" smtClean="0"/>
              <a:t>因为反应前后气体体积不变，且生成物 只有 </a:t>
            </a:r>
            <a:r>
              <a:rPr lang="en-US" altLang="zh-CN" sz="3000" dirty="0" smtClean="0"/>
              <a:t>Z</a:t>
            </a:r>
            <a:r>
              <a:rPr lang="zh-CN" altLang="en-US" sz="3000" dirty="0" smtClean="0"/>
              <a:t>，所以再充入一定量的 </a:t>
            </a:r>
            <a:r>
              <a:rPr lang="en-US" altLang="zh-CN" sz="3000" dirty="0" smtClean="0"/>
              <a:t>Z</a:t>
            </a:r>
            <a:r>
              <a:rPr lang="zh-CN" altLang="en-US" sz="3000" dirty="0" smtClean="0"/>
              <a:t>，平衡是等效</a:t>
            </a:r>
            <a:r>
              <a:rPr lang="zh-CN" altLang="en-US" sz="3000" smtClean="0"/>
              <a:t>的</a:t>
            </a:r>
            <a:r>
              <a:rPr lang="zh-CN" altLang="en-US" sz="3000" smtClean="0"/>
              <a:t>，所</a:t>
            </a:r>
            <a:r>
              <a:rPr lang="zh-CN" altLang="en-US" sz="3000" dirty="0" smtClean="0"/>
              <a:t>以 </a:t>
            </a:r>
            <a:r>
              <a:rPr lang="en-US" altLang="zh-CN" sz="3000" dirty="0" smtClean="0"/>
              <a:t>X </a:t>
            </a:r>
            <a:r>
              <a:rPr lang="zh-CN" altLang="en-US" sz="3000" dirty="0" smtClean="0"/>
              <a:t>的摩尔分数 不变。 </a:t>
            </a:r>
            <a:endParaRPr lang="en-US" altLang="zh-CN" sz="3000" dirty="0" smtClean="0"/>
          </a:p>
          <a:p>
            <a:pPr marL="514350" indent="-514350">
              <a:spcBef>
                <a:spcPts val="300"/>
              </a:spcBef>
              <a:buNone/>
            </a:pPr>
            <a:r>
              <a:rPr lang="en-US" altLang="zh-CN" sz="3000" dirty="0" smtClean="0"/>
              <a:t>	</a:t>
            </a:r>
            <a:r>
              <a:rPr lang="en-US" altLang="zh-CN" sz="3000" dirty="0" err="1" smtClean="0"/>
              <a:t>Ans:A</a:t>
            </a:r>
            <a:endParaRPr lang="en-US" altLang="zh-CN" sz="3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3</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4</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5</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10</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en-US" altLang="zh-CN"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11</a:t>
            </a:r>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r>
              <a:rPr lang="en-US" altLang="zh-CN" b="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12</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marL="514350" indent="-514350">
              <a:spcBef>
                <a:spcPts val="300"/>
              </a:spcBef>
              <a:buAutoNum type="arabicPeriod"/>
            </a:pPr>
            <a:r>
              <a:rPr lang="zh-CN" altLang="en-US" dirty="0" smtClean="0"/>
              <a:t>温度升高：</a:t>
            </a:r>
            <a:r>
              <a:rPr lang="en-US" altLang="zh-CN" dirty="0" smtClean="0"/>
              <a:t>[CH</a:t>
            </a:r>
            <a:r>
              <a:rPr lang="en-US" altLang="zh-CN" baseline="-25000" dirty="0" smtClean="0"/>
              <a:t>3</a:t>
            </a:r>
            <a:r>
              <a:rPr lang="en-US" altLang="zh-CN" dirty="0" smtClean="0"/>
              <a:t>OH]</a:t>
            </a:r>
            <a:r>
              <a:rPr lang="zh-CN" altLang="en-US" dirty="0" smtClean="0"/>
              <a:t>减少</a:t>
            </a:r>
            <a:endParaRPr lang="en-US" altLang="zh-CN" dirty="0" smtClean="0"/>
          </a:p>
          <a:p>
            <a:pPr marL="514350" indent="-514350">
              <a:spcBef>
                <a:spcPts val="300"/>
              </a:spcBef>
              <a:buNone/>
            </a:pPr>
            <a:r>
              <a:rPr lang="en-US" altLang="zh-CN" dirty="0" smtClean="0"/>
              <a:t>	</a:t>
            </a:r>
            <a:r>
              <a:rPr lang="zh-CN" altLang="en-US" dirty="0" smtClean="0"/>
              <a:t>容器体积缩小：</a:t>
            </a:r>
            <a:r>
              <a:rPr lang="en-US" altLang="zh-CN" dirty="0" smtClean="0"/>
              <a:t> [CH</a:t>
            </a:r>
            <a:r>
              <a:rPr lang="en-US" altLang="zh-CN" baseline="-25000" dirty="0" smtClean="0"/>
              <a:t>3</a:t>
            </a:r>
            <a:r>
              <a:rPr lang="en-US" altLang="zh-CN" dirty="0" smtClean="0"/>
              <a:t>OH]</a:t>
            </a:r>
            <a:r>
              <a:rPr lang="zh-CN" altLang="en-US" dirty="0" smtClean="0"/>
              <a:t>增加</a:t>
            </a:r>
            <a:endParaRPr lang="en-US" altLang="zh-CN" dirty="0" smtClean="0"/>
          </a:p>
          <a:p>
            <a:pPr marL="514350" indent="-514350">
              <a:spcBef>
                <a:spcPts val="300"/>
              </a:spcBef>
              <a:buNone/>
            </a:pPr>
            <a:r>
              <a:rPr lang="en-US" altLang="zh-CN" dirty="0" smtClean="0"/>
              <a:t>2. 	(1)</a:t>
            </a:r>
            <a:r>
              <a:rPr lang="zh-CN" altLang="en-US" dirty="0" smtClean="0"/>
              <a:t>各混合气体浓度皆增加</a:t>
            </a:r>
            <a:endParaRPr lang="en-US" altLang="zh-CN" dirty="0" smtClean="0"/>
          </a:p>
          <a:p>
            <a:pPr marL="514350" indent="-514350">
              <a:spcBef>
                <a:spcPts val="300"/>
              </a:spcBef>
              <a:buNone/>
            </a:pPr>
            <a:r>
              <a:rPr lang="en-US" altLang="zh-CN" dirty="0" smtClean="0"/>
              <a:t>	(2) </a:t>
            </a:r>
            <a:r>
              <a:rPr lang="zh-CN" altLang="en-US" dirty="0" smtClean="0"/>
              <a:t>不变</a:t>
            </a:r>
            <a:endParaRPr lang="en-US" altLang="zh-CN" dirty="0" smtClean="0"/>
          </a:p>
          <a:p>
            <a:pPr marL="514350" indent="-514350">
              <a:spcBef>
                <a:spcPts val="300"/>
              </a:spcBef>
              <a:buNone/>
            </a:pPr>
            <a:r>
              <a:rPr lang="en-US" altLang="zh-CN" dirty="0" smtClean="0"/>
              <a:t>	(3) </a:t>
            </a:r>
            <a:r>
              <a:rPr lang="zh-CN" altLang="en-US" dirty="0" smtClean="0"/>
              <a:t>不变</a:t>
            </a:r>
            <a:endParaRPr lang="en-US" altLang="zh-CN" dirty="0" smtClean="0"/>
          </a:p>
          <a:p>
            <a:pPr marL="514350" indent="-514350">
              <a:spcBef>
                <a:spcPts val="300"/>
              </a:spcBef>
              <a:buNone/>
            </a:pPr>
            <a:r>
              <a:rPr lang="en-US" altLang="zh-CN" dirty="0" smtClean="0"/>
              <a:t>	(4) </a:t>
            </a:r>
            <a:r>
              <a:rPr lang="zh-CN" altLang="en-US" dirty="0" smtClean="0"/>
              <a:t>不变</a:t>
            </a:r>
            <a:endParaRPr lang="en-US" altLang="zh-CN" dirty="0" smtClean="0"/>
          </a:p>
          <a:p>
            <a:pPr marL="514350" indent="-514350">
              <a:spcBef>
                <a:spcPts val="300"/>
              </a:spcBef>
              <a:buNone/>
            </a:pPr>
            <a:r>
              <a:rPr lang="en-US" altLang="zh-CN" dirty="0" smtClean="0"/>
              <a:t>3. 	(1)</a:t>
            </a:r>
            <a:r>
              <a:rPr lang="zh-CN" altLang="en-US" dirty="0" smtClean="0"/>
              <a:t> 平衡不受影响，</a:t>
            </a:r>
            <a:r>
              <a:rPr lang="en-US" altLang="zh-CN" dirty="0" err="1" smtClean="0"/>
              <a:t>K</a:t>
            </a:r>
            <a:r>
              <a:rPr lang="en-US" altLang="zh-CN" baseline="-25000" dirty="0" err="1" smtClean="0"/>
              <a:t>c</a:t>
            </a:r>
            <a:r>
              <a:rPr lang="en-US" altLang="zh-CN" dirty="0" smtClean="0"/>
              <a:t> </a:t>
            </a:r>
            <a:r>
              <a:rPr lang="zh-CN" altLang="en-US" dirty="0" smtClean="0"/>
              <a:t>不变</a:t>
            </a:r>
            <a:endParaRPr lang="en-US" altLang="zh-CN" dirty="0" smtClean="0"/>
          </a:p>
          <a:p>
            <a:pPr marL="514350" indent="-514350">
              <a:spcBef>
                <a:spcPts val="300"/>
              </a:spcBef>
              <a:buNone/>
            </a:pPr>
            <a:r>
              <a:rPr lang="en-US" altLang="zh-CN" dirty="0" smtClean="0"/>
              <a:t>	(2) </a:t>
            </a:r>
            <a:r>
              <a:rPr lang="zh-CN" altLang="en-US" dirty="0" smtClean="0"/>
              <a:t>向逆反应方向进行，</a:t>
            </a:r>
            <a:r>
              <a:rPr lang="en-US" altLang="zh-CN" dirty="0" err="1" smtClean="0"/>
              <a:t>K</a:t>
            </a:r>
            <a:r>
              <a:rPr lang="en-US" altLang="zh-CN" baseline="-25000" dirty="0" err="1" smtClean="0"/>
              <a:t>c</a:t>
            </a:r>
            <a:r>
              <a:rPr lang="en-US" altLang="zh-CN" dirty="0" smtClean="0"/>
              <a:t> </a:t>
            </a:r>
            <a:r>
              <a:rPr lang="zh-CN" altLang="en-US" dirty="0" smtClean="0"/>
              <a:t>变小</a:t>
            </a:r>
            <a:endParaRPr lang="en-US" altLang="zh-CN" dirty="0" smtClean="0"/>
          </a:p>
          <a:p>
            <a:pPr marL="514350" indent="-514350">
              <a:spcBef>
                <a:spcPts val="300"/>
              </a:spcBef>
              <a:buNone/>
            </a:pPr>
            <a:r>
              <a:rPr lang="en-US" altLang="zh-CN" dirty="0" smtClean="0"/>
              <a:t>	(3)</a:t>
            </a:r>
            <a:r>
              <a:rPr lang="zh-CN" altLang="en-US" dirty="0" smtClean="0"/>
              <a:t>平衡不受影响，</a:t>
            </a:r>
            <a:r>
              <a:rPr lang="en-US" altLang="zh-CN" dirty="0" err="1" smtClean="0"/>
              <a:t>K</a:t>
            </a:r>
            <a:r>
              <a:rPr lang="en-US" altLang="zh-CN" baseline="-25000" dirty="0" err="1" smtClean="0"/>
              <a:t>c</a:t>
            </a:r>
            <a:r>
              <a:rPr lang="en-US" altLang="zh-CN" dirty="0" smtClean="0"/>
              <a:t> </a:t>
            </a:r>
            <a:r>
              <a:rPr lang="zh-CN" altLang="en-US" dirty="0" smtClean="0"/>
              <a:t>不变</a:t>
            </a:r>
            <a:endParaRPr lang="en-US" altLang="zh-CN" dirty="0" smtClean="0"/>
          </a:p>
          <a:p>
            <a:pPr marL="514350" indent="-514350">
              <a:spcBef>
                <a:spcPts val="300"/>
              </a:spcBef>
              <a:buNone/>
            </a:pPr>
            <a:r>
              <a:rPr lang="en-US" altLang="zh-CN" dirty="0" smtClean="0"/>
              <a:t>	(4)</a:t>
            </a:r>
            <a:r>
              <a:rPr lang="zh-CN" altLang="en-US" dirty="0" smtClean="0"/>
              <a:t>向逆反应方向进行，</a:t>
            </a:r>
            <a:r>
              <a:rPr lang="en-US" altLang="zh-CN" dirty="0" err="1" smtClean="0"/>
              <a:t>K</a:t>
            </a:r>
            <a:r>
              <a:rPr lang="en-US" altLang="zh-CN" baseline="-25000" dirty="0" err="1" smtClean="0"/>
              <a:t>c</a:t>
            </a:r>
            <a:r>
              <a:rPr lang="en-US" altLang="zh-CN" dirty="0" smtClean="0"/>
              <a:t> </a:t>
            </a:r>
            <a:r>
              <a:rPr lang="zh-CN" altLang="en-US" dirty="0" smtClean="0"/>
              <a:t>不变</a:t>
            </a:r>
            <a:endParaRPr lang="en-US" altLang="zh-CN" dirty="0" smtClean="0"/>
          </a:p>
          <a:p>
            <a:pPr marL="514350" indent="-514350">
              <a:spcBef>
                <a:spcPts val="300"/>
              </a:spcBef>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marL="514350" indent="-514350">
              <a:spcBef>
                <a:spcPts val="300"/>
              </a:spcBef>
              <a:buAutoNum type="arabicPeriod" startAt="4"/>
            </a:pPr>
            <a:r>
              <a:rPr lang="en-US" altLang="zh-CN" dirty="0" smtClean="0"/>
              <a:t>(1)</a:t>
            </a:r>
          </a:p>
          <a:p>
            <a:pPr marL="514350" indent="-514350">
              <a:spcBef>
                <a:spcPts val="300"/>
              </a:spcBef>
              <a:buNone/>
            </a:pPr>
            <a:r>
              <a:rPr lang="en-US" altLang="zh-CN" dirty="0" smtClean="0"/>
              <a:t> </a:t>
            </a:r>
          </a:p>
          <a:p>
            <a:pPr marL="514350" indent="-514350">
              <a:spcBef>
                <a:spcPts val="300"/>
              </a:spcBef>
              <a:buNone/>
            </a:pPr>
            <a:r>
              <a:rPr lang="en-US" altLang="zh-CN" dirty="0" smtClean="0"/>
              <a:t>	(2)   </a:t>
            </a:r>
            <a:r>
              <a:rPr lang="en-US" altLang="zh-CN" dirty="0" err="1" smtClean="0"/>
              <a:t>K</a:t>
            </a:r>
            <a:r>
              <a:rPr lang="en-US" altLang="zh-CN" baseline="-25000" dirty="0" err="1" smtClean="0"/>
              <a:t>c</a:t>
            </a:r>
            <a:r>
              <a:rPr lang="en-US" altLang="zh-CN" dirty="0" smtClean="0"/>
              <a:t> = [Ca</a:t>
            </a:r>
            <a:r>
              <a:rPr lang="en-US" altLang="zh-CN" baseline="30000" dirty="0" smtClean="0"/>
              <a:t>2+</a:t>
            </a:r>
            <a:r>
              <a:rPr lang="en-US" altLang="zh-CN" dirty="0" smtClean="0"/>
              <a:t>][F</a:t>
            </a:r>
            <a:r>
              <a:rPr lang="en-US" altLang="zh-CN" baseline="30000" dirty="0" smtClean="0"/>
              <a:t>-</a:t>
            </a:r>
            <a:r>
              <a:rPr lang="en-US" altLang="zh-CN" dirty="0" smtClean="0"/>
              <a:t>]</a:t>
            </a:r>
            <a:r>
              <a:rPr lang="en-US" altLang="zh-CN" baseline="30000" dirty="0" smtClean="0"/>
              <a:t>2</a:t>
            </a:r>
            <a:endParaRPr lang="en-US" altLang="zh-CN" dirty="0" smtClean="0"/>
          </a:p>
          <a:p>
            <a:pPr marL="514350" indent="-514350">
              <a:spcBef>
                <a:spcPts val="300"/>
              </a:spcBef>
              <a:buNone/>
            </a:pPr>
            <a:endParaRPr lang="en-US" altLang="zh-CN" dirty="0" smtClean="0"/>
          </a:p>
          <a:p>
            <a:pPr marL="514350" indent="-514350">
              <a:spcBef>
                <a:spcPts val="300"/>
              </a:spcBef>
              <a:buNone/>
            </a:pPr>
            <a:r>
              <a:rPr lang="en-US" altLang="zh-CN" dirty="0" smtClean="0"/>
              <a:t>	(3)</a:t>
            </a:r>
          </a:p>
        </p:txBody>
      </p:sp>
      <p:grpSp>
        <p:nvGrpSpPr>
          <p:cNvPr id="5" name="Group 3"/>
          <p:cNvGrpSpPr/>
          <p:nvPr/>
        </p:nvGrpSpPr>
        <p:grpSpPr>
          <a:xfrm>
            <a:off x="1828800" y="838200"/>
            <a:ext cx="3309577" cy="1166569"/>
            <a:chOff x="2068535" y="1318836"/>
            <a:chExt cx="2463331" cy="1406544"/>
          </a:xfrm>
        </p:grpSpPr>
        <p:grpSp>
          <p:nvGrpSpPr>
            <p:cNvPr id="6" name="Group 24"/>
            <p:cNvGrpSpPr/>
            <p:nvPr/>
          </p:nvGrpSpPr>
          <p:grpSpPr>
            <a:xfrm>
              <a:off x="2068535" y="1318836"/>
              <a:ext cx="2463331" cy="981450"/>
              <a:chOff x="2068535" y="1318836"/>
              <a:chExt cx="2463331" cy="981450"/>
            </a:xfrm>
          </p:grpSpPr>
          <p:sp>
            <p:nvSpPr>
              <p:cNvPr id="8" name="TextBox 7"/>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9" name="Straight Connector 8"/>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992974" y="1318836"/>
                <a:ext cx="1163669" cy="705069"/>
              </a:xfrm>
              <a:prstGeom prst="rect">
                <a:avLst/>
              </a:prstGeom>
              <a:noFill/>
            </p:spPr>
            <p:txBody>
              <a:bodyPr wrap="square" rtlCol="0">
                <a:spAutoFit/>
              </a:bodyPr>
              <a:lstStyle/>
              <a:p>
                <a:r>
                  <a:rPr lang="en-US" sz="3200" dirty="0" smtClean="0"/>
                  <a:t>  [</a:t>
                </a:r>
                <a:r>
                  <a:rPr lang="en-US" altLang="zh-CN" sz="3200" dirty="0" smtClean="0"/>
                  <a:t>CO</a:t>
                </a:r>
                <a:r>
                  <a:rPr lang="en-US" altLang="zh-CN" sz="3200" baseline="-25000" dirty="0" smtClean="0"/>
                  <a:t>2</a:t>
                </a:r>
                <a:r>
                  <a:rPr lang="en-US" sz="3200" dirty="0" smtClean="0"/>
                  <a:t>]</a:t>
                </a:r>
                <a:r>
                  <a:rPr lang="en-US" sz="3200" baseline="30000" dirty="0" smtClean="0"/>
                  <a:t>2</a:t>
                </a:r>
                <a:endParaRPr lang="en-US" sz="3200" dirty="0"/>
              </a:p>
            </p:txBody>
          </p:sp>
        </p:grpSp>
        <p:sp>
          <p:nvSpPr>
            <p:cNvPr id="7" name="TextBox 5"/>
            <p:cNvSpPr txBox="1"/>
            <p:nvPr/>
          </p:nvSpPr>
          <p:spPr>
            <a:xfrm>
              <a:off x="2789694" y="2020311"/>
              <a:ext cx="1547479" cy="705069"/>
            </a:xfrm>
            <a:prstGeom prst="rect">
              <a:avLst/>
            </a:prstGeom>
            <a:noFill/>
          </p:spPr>
          <p:txBody>
            <a:bodyPr wrap="square" rtlCol="0">
              <a:spAutoFit/>
            </a:bodyPr>
            <a:lstStyle/>
            <a:p>
              <a:r>
                <a:rPr lang="en-US" altLang="zh-CN" sz="3200" dirty="0" smtClean="0"/>
                <a:t>    [CO]</a:t>
              </a:r>
              <a:r>
                <a:rPr lang="en-US" altLang="zh-CN" sz="3200" baseline="30000" dirty="0" smtClean="0"/>
                <a:t>2</a:t>
              </a:r>
              <a:r>
                <a:rPr lang="en-US" altLang="zh-CN" sz="3200" dirty="0" smtClean="0"/>
                <a:t> [O</a:t>
              </a:r>
              <a:r>
                <a:rPr lang="en-US" altLang="zh-CN" sz="3200" baseline="-25000" dirty="0" smtClean="0"/>
                <a:t>2</a:t>
              </a:r>
              <a:r>
                <a:rPr lang="en-US" altLang="zh-CN" sz="3200" dirty="0" smtClean="0"/>
                <a:t>]</a:t>
              </a:r>
              <a:endParaRPr lang="en-US" sz="3200" dirty="0"/>
            </a:p>
          </p:txBody>
        </p:sp>
      </p:grpSp>
      <p:grpSp>
        <p:nvGrpSpPr>
          <p:cNvPr id="11" name="Group 3"/>
          <p:cNvGrpSpPr/>
          <p:nvPr/>
        </p:nvGrpSpPr>
        <p:grpSpPr>
          <a:xfrm>
            <a:off x="1828800" y="2872031"/>
            <a:ext cx="3309577" cy="1166569"/>
            <a:chOff x="2068535" y="1318836"/>
            <a:chExt cx="2463331" cy="1406544"/>
          </a:xfrm>
        </p:grpSpPr>
        <p:grpSp>
          <p:nvGrpSpPr>
            <p:cNvPr id="12" name="Group 24"/>
            <p:cNvGrpSpPr/>
            <p:nvPr/>
          </p:nvGrpSpPr>
          <p:grpSpPr>
            <a:xfrm>
              <a:off x="2068535" y="1318836"/>
              <a:ext cx="2463331" cy="981450"/>
              <a:chOff x="2068535" y="1318836"/>
              <a:chExt cx="2463331" cy="981450"/>
            </a:xfrm>
          </p:grpSpPr>
          <p:sp>
            <p:nvSpPr>
              <p:cNvPr id="14" name="TextBox 13"/>
              <p:cNvSpPr txBox="1"/>
              <p:nvPr/>
            </p:nvSpPr>
            <p:spPr>
              <a:xfrm>
                <a:off x="2068535" y="1715511"/>
                <a:ext cx="1113770" cy="584775"/>
              </a:xfrm>
              <a:prstGeom prst="rect">
                <a:avLst/>
              </a:prstGeom>
              <a:noFill/>
            </p:spPr>
            <p:txBody>
              <a:bodyPr wrap="square" rtlCol="0">
                <a:spAutoFit/>
              </a:bodyPr>
              <a:lstStyle/>
              <a:p>
                <a:r>
                  <a:rPr lang="en-US" altLang="zh-CN" sz="3200" dirty="0" smtClean="0"/>
                  <a:t> </a:t>
                </a:r>
                <a:r>
                  <a:rPr lang="en-US" altLang="zh-CN" sz="3200" dirty="0" err="1" smtClean="0"/>
                  <a:t>K</a:t>
                </a:r>
                <a:r>
                  <a:rPr lang="en-US" altLang="zh-CN" sz="3200" baseline="-25000" dirty="0" err="1" smtClean="0"/>
                  <a:t>c</a:t>
                </a:r>
                <a:r>
                  <a:rPr lang="en-US" altLang="zh-CN" sz="3200" dirty="0" smtClean="0"/>
                  <a:t>   =</a:t>
                </a:r>
                <a:endParaRPr lang="en-US" sz="3200" dirty="0"/>
              </a:p>
            </p:txBody>
          </p:sp>
          <p:cxnSp>
            <p:nvCxnSpPr>
              <p:cNvPr id="15" name="Straight Connector 14"/>
              <p:cNvCxnSpPr/>
              <p:nvPr/>
            </p:nvCxnSpPr>
            <p:spPr>
              <a:xfrm>
                <a:off x="2881222" y="2022478"/>
                <a:ext cx="1650644"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92974" y="1318836"/>
                <a:ext cx="1163669" cy="705069"/>
              </a:xfrm>
              <a:prstGeom prst="rect">
                <a:avLst/>
              </a:prstGeom>
              <a:noFill/>
            </p:spPr>
            <p:txBody>
              <a:bodyPr wrap="square" rtlCol="0">
                <a:spAutoFit/>
              </a:bodyPr>
              <a:lstStyle/>
              <a:p>
                <a:r>
                  <a:rPr lang="en-US" sz="3200" dirty="0" smtClean="0"/>
                  <a:t>  [</a:t>
                </a:r>
                <a:r>
                  <a:rPr lang="en-US" altLang="zh-CN" sz="3200" dirty="0" smtClean="0"/>
                  <a:t>Cu</a:t>
                </a:r>
                <a:r>
                  <a:rPr lang="en-US" altLang="zh-CN" sz="3200" baseline="30000" dirty="0" smtClean="0"/>
                  <a:t>2+</a:t>
                </a:r>
                <a:r>
                  <a:rPr lang="en-US" sz="3200" dirty="0" smtClean="0"/>
                  <a:t>]</a:t>
                </a:r>
                <a:endParaRPr lang="en-US" sz="3200" dirty="0"/>
              </a:p>
            </p:txBody>
          </p:sp>
        </p:grpSp>
        <p:sp>
          <p:nvSpPr>
            <p:cNvPr id="13" name="TextBox 5"/>
            <p:cNvSpPr txBox="1"/>
            <p:nvPr/>
          </p:nvSpPr>
          <p:spPr>
            <a:xfrm>
              <a:off x="2789694" y="2020311"/>
              <a:ext cx="1547479" cy="705069"/>
            </a:xfrm>
            <a:prstGeom prst="rect">
              <a:avLst/>
            </a:prstGeom>
            <a:noFill/>
          </p:spPr>
          <p:txBody>
            <a:bodyPr wrap="square" rtlCol="0">
              <a:spAutoFit/>
            </a:bodyPr>
            <a:lstStyle/>
            <a:p>
              <a:r>
                <a:rPr lang="en-US" altLang="zh-CN" sz="3200" dirty="0" smtClean="0"/>
                <a:t>    [Ag</a:t>
              </a:r>
              <a:r>
                <a:rPr lang="en-US" altLang="zh-CN" sz="3200" baseline="30000" dirty="0" smtClean="0"/>
                <a:t>+</a:t>
              </a:r>
              <a:r>
                <a:rPr lang="en-US" altLang="zh-CN" sz="3200" dirty="0" smtClean="0"/>
                <a:t>]</a:t>
              </a:r>
              <a:r>
                <a:rPr lang="en-US" altLang="zh-CN" sz="3200" baseline="30000" dirty="0" smtClean="0"/>
                <a:t>2</a:t>
              </a:r>
              <a:endParaRPr lang="en-US" sz="3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Autofit/>
          </a:bodyPr>
          <a:lstStyle/>
          <a:p>
            <a:pPr>
              <a:spcBef>
                <a:spcPts val="300"/>
              </a:spcBef>
              <a:buNone/>
            </a:pPr>
            <a:r>
              <a:rPr lang="en-US" altLang="zh-CN" sz="2800" dirty="0" smtClean="0">
                <a:latin typeface="+mn-ea"/>
              </a:rPr>
              <a:t>5.(1) t</a:t>
            </a:r>
            <a:r>
              <a:rPr lang="en-US" altLang="zh-CN" sz="2800" baseline="-25000" dirty="0" smtClean="0">
                <a:latin typeface="+mn-ea"/>
              </a:rPr>
              <a:t>0</a:t>
            </a:r>
            <a:r>
              <a:rPr lang="en-US" altLang="zh-CN" sz="2800" dirty="0" smtClean="0">
                <a:latin typeface="+mn-ea"/>
              </a:rPr>
              <a:t> </a:t>
            </a:r>
            <a:r>
              <a:rPr lang="zh-CN" altLang="en-US" sz="2800" dirty="0" smtClean="0">
                <a:latin typeface="+mn-ea"/>
              </a:rPr>
              <a:t>～ </a:t>
            </a:r>
            <a:r>
              <a:rPr lang="en-US" altLang="zh-CN" sz="2800" dirty="0" smtClean="0">
                <a:latin typeface="+mn-ea"/>
              </a:rPr>
              <a:t>t</a:t>
            </a:r>
            <a:r>
              <a:rPr lang="en-US" altLang="zh-CN" sz="2800" baseline="-25000" dirty="0" smtClean="0">
                <a:latin typeface="+mn-ea"/>
              </a:rPr>
              <a:t>1</a:t>
            </a:r>
            <a:r>
              <a:rPr lang="en-US" altLang="zh-CN" sz="2800" dirty="0" smtClean="0">
                <a:latin typeface="+mn-ea"/>
              </a:rPr>
              <a:t> </a:t>
            </a:r>
            <a:r>
              <a:rPr lang="zh-CN" altLang="en-US" sz="2800" dirty="0" smtClean="0">
                <a:latin typeface="+mn-ea"/>
              </a:rPr>
              <a:t>；</a:t>
            </a:r>
            <a:r>
              <a:rPr lang="en-US" altLang="zh-CN" sz="2800" dirty="0" smtClean="0">
                <a:latin typeface="+mn-ea"/>
              </a:rPr>
              <a:t>	t</a:t>
            </a:r>
            <a:r>
              <a:rPr lang="en-US" altLang="zh-CN" sz="2800" baseline="-25000" dirty="0" smtClean="0">
                <a:latin typeface="+mn-ea"/>
              </a:rPr>
              <a:t>2</a:t>
            </a:r>
            <a:r>
              <a:rPr lang="en-US" altLang="zh-CN" sz="2800" dirty="0" smtClean="0">
                <a:latin typeface="+mn-ea"/>
              </a:rPr>
              <a:t> </a:t>
            </a:r>
            <a:r>
              <a:rPr lang="zh-CN" altLang="en-US" sz="2800" dirty="0" smtClean="0">
                <a:latin typeface="+mn-ea"/>
              </a:rPr>
              <a:t>～ </a:t>
            </a:r>
            <a:r>
              <a:rPr lang="en-US" altLang="zh-CN" sz="2800" dirty="0" smtClean="0">
                <a:latin typeface="+mn-ea"/>
              </a:rPr>
              <a:t>t</a:t>
            </a:r>
            <a:r>
              <a:rPr lang="en-US" altLang="zh-CN" sz="2800" baseline="-25000" dirty="0" smtClean="0">
                <a:latin typeface="+mn-ea"/>
              </a:rPr>
              <a:t>4</a:t>
            </a:r>
            <a:r>
              <a:rPr lang="en-US" altLang="zh-CN" sz="2800" dirty="0" smtClean="0">
                <a:latin typeface="+mn-ea"/>
              </a:rPr>
              <a:t> </a:t>
            </a:r>
            <a:r>
              <a:rPr lang="zh-CN" altLang="en-US" sz="2800" dirty="0" smtClean="0">
                <a:latin typeface="+mn-ea"/>
              </a:rPr>
              <a:t>；</a:t>
            </a:r>
            <a:r>
              <a:rPr lang="en-US" altLang="zh-CN" sz="2800" dirty="0" smtClean="0">
                <a:latin typeface="+mn-ea"/>
              </a:rPr>
              <a:t>	t</a:t>
            </a:r>
            <a:r>
              <a:rPr lang="en-US" altLang="zh-CN" sz="2800" baseline="-25000" dirty="0" smtClean="0">
                <a:latin typeface="+mn-ea"/>
              </a:rPr>
              <a:t>5</a:t>
            </a:r>
            <a:r>
              <a:rPr lang="en-US" altLang="zh-CN" sz="2800" dirty="0" smtClean="0">
                <a:latin typeface="+mn-ea"/>
              </a:rPr>
              <a:t> </a:t>
            </a:r>
            <a:r>
              <a:rPr lang="zh-CN" altLang="en-US" sz="2800" dirty="0" smtClean="0">
                <a:latin typeface="+mn-ea"/>
              </a:rPr>
              <a:t>～</a:t>
            </a:r>
            <a:r>
              <a:rPr lang="en-US" altLang="zh-CN" sz="2800" dirty="0" smtClean="0">
                <a:latin typeface="+mn-ea"/>
              </a:rPr>
              <a:t> t</a:t>
            </a:r>
            <a:r>
              <a:rPr lang="en-US" altLang="zh-CN" sz="2800" baseline="-25000" dirty="0" smtClean="0">
                <a:latin typeface="+mn-ea"/>
              </a:rPr>
              <a:t>6</a:t>
            </a:r>
            <a:r>
              <a:rPr lang="en-US" altLang="zh-CN" sz="2800" dirty="0" smtClean="0">
                <a:latin typeface="+mn-ea"/>
              </a:rPr>
              <a:t> </a:t>
            </a:r>
          </a:p>
          <a:p>
            <a:pPr>
              <a:spcBef>
                <a:spcPts val="300"/>
              </a:spcBef>
              <a:buNone/>
            </a:pPr>
            <a:r>
              <a:rPr lang="en-US" altLang="zh-CN" sz="2800" dirty="0" smtClean="0">
                <a:latin typeface="+mn-ea"/>
              </a:rPr>
              <a:t>	(2)t</a:t>
            </a:r>
            <a:r>
              <a:rPr lang="en-US" altLang="zh-CN" sz="2800" baseline="-25000" dirty="0" smtClean="0">
                <a:latin typeface="+mn-ea"/>
              </a:rPr>
              <a:t>1</a:t>
            </a:r>
            <a:r>
              <a:rPr lang="en-US" altLang="zh-CN" sz="2800" dirty="0" smtClean="0">
                <a:latin typeface="+mn-ea"/>
              </a:rPr>
              <a:t>:</a:t>
            </a:r>
            <a:r>
              <a:rPr lang="zh-CN" altLang="en-US" sz="2800" dirty="0" smtClean="0">
                <a:latin typeface="+mn-ea"/>
              </a:rPr>
              <a:t>温度升高</a:t>
            </a:r>
            <a:r>
              <a:rPr lang="en-US" altLang="zh-CN" sz="2800" dirty="0" smtClean="0">
                <a:latin typeface="+mn-ea"/>
              </a:rPr>
              <a:t>  t</a:t>
            </a:r>
            <a:r>
              <a:rPr lang="en-US" altLang="zh-CN" sz="2800" baseline="-25000" dirty="0" smtClean="0">
                <a:latin typeface="+mn-ea"/>
              </a:rPr>
              <a:t>3</a:t>
            </a:r>
            <a:r>
              <a:rPr lang="en-US" altLang="zh-CN" sz="2800" dirty="0" smtClean="0">
                <a:latin typeface="+mn-ea"/>
              </a:rPr>
              <a:t>:</a:t>
            </a:r>
            <a:r>
              <a:rPr lang="zh-CN" altLang="en-US" sz="2800" dirty="0" smtClean="0">
                <a:latin typeface="+mn-ea"/>
              </a:rPr>
              <a:t>加入催化剂</a:t>
            </a:r>
            <a:r>
              <a:rPr lang="en-US" altLang="zh-CN" sz="2800" dirty="0" smtClean="0">
                <a:latin typeface="+mn-ea"/>
              </a:rPr>
              <a:t>	   t</a:t>
            </a:r>
            <a:r>
              <a:rPr lang="en-US" altLang="zh-CN" sz="2800" baseline="-25000" dirty="0" smtClean="0">
                <a:latin typeface="+mn-ea"/>
              </a:rPr>
              <a:t>4</a:t>
            </a:r>
            <a:r>
              <a:rPr lang="en-US" altLang="zh-CN" sz="2800" dirty="0" smtClean="0">
                <a:latin typeface="+mn-ea"/>
              </a:rPr>
              <a:t>:</a:t>
            </a:r>
            <a:r>
              <a:rPr lang="zh-CN" altLang="en-US" sz="2800" dirty="0" smtClean="0">
                <a:latin typeface="+mn-ea"/>
              </a:rPr>
              <a:t>压强减小</a:t>
            </a:r>
            <a:endParaRPr lang="en-US" altLang="zh-CN" sz="2800" dirty="0" smtClean="0">
              <a:latin typeface="+mn-ea"/>
            </a:endParaRPr>
          </a:p>
          <a:p>
            <a:pPr>
              <a:spcBef>
                <a:spcPts val="300"/>
              </a:spcBef>
              <a:buNone/>
            </a:pPr>
            <a:r>
              <a:rPr lang="en-US" altLang="zh-CN" sz="2800" dirty="0" smtClean="0">
                <a:latin typeface="+mn-ea"/>
              </a:rPr>
              <a:t>	(3) A</a:t>
            </a:r>
          </a:p>
          <a:p>
            <a:pPr>
              <a:buNone/>
            </a:pPr>
            <a:r>
              <a:rPr lang="zh-CN" altLang="en-US" sz="2600" dirty="0" smtClean="0">
                <a:latin typeface="+mn-ea"/>
              </a:rPr>
              <a:t>解析</a:t>
            </a:r>
            <a:r>
              <a:rPr lang="zh-CN" altLang="en-US" sz="2600" dirty="0" smtClean="0">
                <a:latin typeface="+mn-ea"/>
                <a:sym typeface="Wingdings" pitchFamily="2" charset="2"/>
              </a:rPr>
              <a:t>：</a:t>
            </a:r>
            <a:r>
              <a:rPr lang="en-US" altLang="zh-CN" sz="2600" dirty="0" smtClean="0">
                <a:latin typeface="+mn-ea"/>
                <a:sym typeface="Wingdings" pitchFamily="2" charset="2"/>
              </a:rPr>
              <a:t>(1)</a:t>
            </a:r>
            <a:r>
              <a:rPr lang="zh-CN" altLang="en-US" sz="2600" dirty="0" smtClean="0">
                <a:latin typeface="+mn-ea"/>
              </a:rPr>
              <a:t>平衡时正、逆反应速率相等。</a:t>
            </a:r>
            <a:endParaRPr lang="en-US" altLang="zh-CN" sz="2600" dirty="0" smtClean="0">
              <a:latin typeface="+mn-ea"/>
            </a:endParaRPr>
          </a:p>
          <a:p>
            <a:pPr>
              <a:buNone/>
            </a:pPr>
            <a:r>
              <a:rPr lang="en-US" altLang="zh-CN" sz="2600" dirty="0" smtClean="0">
                <a:latin typeface="+mn-ea"/>
              </a:rPr>
              <a:t>(2)t1</a:t>
            </a:r>
            <a:r>
              <a:rPr lang="en-US" sz="2600" dirty="0" smtClean="0">
                <a:latin typeface="+mn-ea"/>
              </a:rPr>
              <a:t> </a:t>
            </a:r>
            <a:r>
              <a:rPr lang="zh-CN" altLang="en-US" sz="2600" dirty="0" smtClean="0">
                <a:latin typeface="+mn-ea"/>
              </a:rPr>
              <a:t>时刻，</a:t>
            </a:r>
            <a:r>
              <a:rPr lang="en-US" altLang="zh-CN" sz="2600" dirty="0" smtClean="0">
                <a:latin typeface="+mn-ea"/>
              </a:rPr>
              <a:t> R</a:t>
            </a:r>
            <a:r>
              <a:rPr lang="zh-CN" altLang="en-US" sz="2600" baseline="-25000" dirty="0" smtClean="0">
                <a:latin typeface="+mn-ea"/>
              </a:rPr>
              <a:t>正</a:t>
            </a:r>
            <a:r>
              <a:rPr lang="zh-CN" altLang="en-US" sz="2600" dirty="0" smtClean="0">
                <a:latin typeface="+mn-ea"/>
              </a:rPr>
              <a:t>、</a:t>
            </a:r>
            <a:r>
              <a:rPr lang="en-US" altLang="zh-CN" sz="2600" dirty="0" smtClean="0">
                <a:latin typeface="+mn-ea"/>
              </a:rPr>
              <a:t>R</a:t>
            </a:r>
            <a:r>
              <a:rPr lang="zh-CN" altLang="en-US" sz="2600" baseline="-25000" dirty="0" smtClean="0">
                <a:latin typeface="+mn-ea"/>
              </a:rPr>
              <a:t>逆</a:t>
            </a:r>
            <a:r>
              <a:rPr lang="zh-CN" altLang="en-US" sz="2600" dirty="0" smtClean="0">
                <a:latin typeface="+mn-ea"/>
              </a:rPr>
              <a:t>都增大，且 </a:t>
            </a:r>
            <a:r>
              <a:rPr lang="en-US" altLang="zh-CN" sz="2600" dirty="0" smtClean="0">
                <a:latin typeface="+mn-ea"/>
              </a:rPr>
              <a:t>R</a:t>
            </a:r>
            <a:r>
              <a:rPr lang="zh-CN" altLang="en-US" sz="2600" baseline="-25000" dirty="0" smtClean="0">
                <a:latin typeface="+mn-ea"/>
              </a:rPr>
              <a:t>逆</a:t>
            </a:r>
            <a:r>
              <a:rPr lang="en-US" altLang="zh-CN" sz="2600" dirty="0" smtClean="0">
                <a:latin typeface="+mn-ea"/>
              </a:rPr>
              <a:t>&gt; R</a:t>
            </a:r>
            <a:r>
              <a:rPr lang="zh-CN" altLang="en-US" sz="2600" baseline="-25000" dirty="0" smtClean="0">
                <a:latin typeface="+mn-ea"/>
              </a:rPr>
              <a:t>正</a:t>
            </a:r>
            <a:r>
              <a:rPr lang="en-US" altLang="zh-CN" sz="2600" dirty="0" smtClean="0">
                <a:latin typeface="+mn-ea"/>
              </a:rPr>
              <a:t>,</a:t>
            </a:r>
            <a:r>
              <a:rPr lang="zh-CN" altLang="en-US" sz="2600" dirty="0" smtClean="0">
                <a:latin typeface="+mn-ea"/>
              </a:rPr>
              <a:t>即平衡逆向移动。该正反应为放热，所以是升高温度。</a:t>
            </a:r>
            <a:endParaRPr lang="en-US" altLang="zh-CN" sz="2600" dirty="0" smtClean="0">
              <a:latin typeface="+mn-ea"/>
            </a:endParaRPr>
          </a:p>
          <a:p>
            <a:pPr>
              <a:buNone/>
            </a:pPr>
            <a:r>
              <a:rPr lang="en-US" sz="2600" dirty="0" smtClean="0">
                <a:latin typeface="+mn-ea"/>
              </a:rPr>
              <a:t>	</a:t>
            </a:r>
            <a:r>
              <a:rPr lang="en-US" altLang="zh-CN" sz="2600" dirty="0" smtClean="0">
                <a:latin typeface="+mn-ea"/>
              </a:rPr>
              <a:t>t3</a:t>
            </a:r>
            <a:r>
              <a:rPr lang="en-US" sz="2600" dirty="0" smtClean="0">
                <a:latin typeface="+mn-ea"/>
              </a:rPr>
              <a:t> </a:t>
            </a:r>
            <a:r>
              <a:rPr lang="zh-CN" altLang="en-US" sz="2600" dirty="0" smtClean="0">
                <a:latin typeface="+mn-ea"/>
              </a:rPr>
              <a:t>时刻，</a:t>
            </a:r>
            <a:r>
              <a:rPr lang="en-US" altLang="zh-CN" sz="2600" dirty="0" smtClean="0">
                <a:latin typeface="+mn-ea"/>
              </a:rPr>
              <a:t> R</a:t>
            </a:r>
            <a:r>
              <a:rPr lang="zh-CN" altLang="en-US" sz="2600" baseline="-25000" dirty="0" smtClean="0">
                <a:latin typeface="+mn-ea"/>
              </a:rPr>
              <a:t>正</a:t>
            </a:r>
            <a:r>
              <a:rPr lang="zh-CN" altLang="en-US" sz="2600" dirty="0" smtClean="0">
                <a:latin typeface="+mn-ea"/>
              </a:rPr>
              <a:t>、</a:t>
            </a:r>
            <a:r>
              <a:rPr lang="en-US" altLang="zh-CN" sz="2600" dirty="0" smtClean="0">
                <a:latin typeface="+mn-ea"/>
              </a:rPr>
              <a:t>R</a:t>
            </a:r>
            <a:r>
              <a:rPr lang="zh-CN" altLang="en-US" sz="2600" baseline="-25000" dirty="0" smtClean="0">
                <a:latin typeface="+mn-ea"/>
              </a:rPr>
              <a:t>逆</a:t>
            </a:r>
            <a:r>
              <a:rPr lang="zh-CN" altLang="en-US" sz="2600" dirty="0" smtClean="0">
                <a:latin typeface="+mn-ea"/>
              </a:rPr>
              <a:t>都增大且相等，即平衡不移动，所以是加催化剂。</a:t>
            </a:r>
            <a:endParaRPr lang="en-US" altLang="zh-CN" sz="2600" dirty="0" smtClean="0">
              <a:latin typeface="+mn-ea"/>
            </a:endParaRPr>
          </a:p>
          <a:p>
            <a:pPr>
              <a:buNone/>
            </a:pPr>
            <a:r>
              <a:rPr lang="en-US" altLang="zh-CN" sz="2600" dirty="0" smtClean="0">
                <a:latin typeface="+mn-ea"/>
              </a:rPr>
              <a:t>	t4 </a:t>
            </a:r>
            <a:r>
              <a:rPr lang="zh-CN" altLang="en-US" sz="2600" dirty="0" smtClean="0">
                <a:latin typeface="+mn-ea"/>
              </a:rPr>
              <a:t>时刻，</a:t>
            </a:r>
            <a:r>
              <a:rPr lang="en-US" altLang="zh-CN" sz="2600" dirty="0" smtClean="0">
                <a:latin typeface="+mn-ea"/>
              </a:rPr>
              <a:t>R</a:t>
            </a:r>
            <a:r>
              <a:rPr lang="zh-CN" altLang="en-US" sz="2600" baseline="-25000" dirty="0" smtClean="0">
                <a:latin typeface="+mn-ea"/>
              </a:rPr>
              <a:t>正</a:t>
            </a:r>
            <a:r>
              <a:rPr lang="zh-CN" altLang="en-US" sz="2600" dirty="0" smtClean="0">
                <a:latin typeface="+mn-ea"/>
              </a:rPr>
              <a:t>、</a:t>
            </a:r>
            <a:r>
              <a:rPr lang="en-US" altLang="zh-CN" sz="2600" dirty="0" smtClean="0">
                <a:latin typeface="+mn-ea"/>
              </a:rPr>
              <a:t>R</a:t>
            </a:r>
            <a:r>
              <a:rPr lang="zh-CN" altLang="en-US" sz="2600" baseline="-25000" dirty="0" smtClean="0">
                <a:latin typeface="+mn-ea"/>
              </a:rPr>
              <a:t>逆</a:t>
            </a:r>
            <a:r>
              <a:rPr lang="zh-CN" altLang="en-US" sz="2600" dirty="0" smtClean="0">
                <a:latin typeface="+mn-ea"/>
              </a:rPr>
              <a:t>都减小，且 </a:t>
            </a:r>
            <a:r>
              <a:rPr lang="en-US" altLang="zh-CN" sz="2600" dirty="0" smtClean="0">
                <a:latin typeface="+mn-ea"/>
              </a:rPr>
              <a:t>R</a:t>
            </a:r>
            <a:r>
              <a:rPr lang="zh-CN" altLang="en-US" sz="2600" baseline="-25000" dirty="0" smtClean="0">
                <a:latin typeface="+mn-ea"/>
              </a:rPr>
              <a:t>逆</a:t>
            </a:r>
            <a:r>
              <a:rPr lang="en-US" altLang="zh-CN" sz="2600" dirty="0" smtClean="0">
                <a:latin typeface="+mn-ea"/>
              </a:rPr>
              <a:t>&gt; R</a:t>
            </a:r>
            <a:r>
              <a:rPr lang="zh-CN" altLang="en-US" sz="2600" baseline="-25000" dirty="0" smtClean="0">
                <a:latin typeface="+mn-ea"/>
              </a:rPr>
              <a:t>正</a:t>
            </a:r>
            <a:r>
              <a:rPr lang="zh-CN" altLang="en-US" sz="2600" dirty="0" smtClean="0">
                <a:latin typeface="+mn-ea"/>
              </a:rPr>
              <a:t>，即平衡逆向移动，该逆反应气体体积增大，故为减小压强，平衡逆向移动。</a:t>
            </a:r>
            <a:endParaRPr lang="en-US" altLang="zh-CN" sz="2600" dirty="0" smtClean="0">
              <a:latin typeface="+mn-ea"/>
            </a:endParaRPr>
          </a:p>
          <a:p>
            <a:pPr>
              <a:buNone/>
            </a:pPr>
            <a:r>
              <a:rPr lang="en-US" altLang="zh-CN" sz="2600" dirty="0" smtClean="0">
                <a:latin typeface="+mn-ea"/>
              </a:rPr>
              <a:t>(3)t1 </a:t>
            </a:r>
            <a:r>
              <a:rPr lang="zh-CN" altLang="en-US" sz="2600" dirty="0" smtClean="0">
                <a:latin typeface="+mn-ea"/>
              </a:rPr>
              <a:t>时刻平衡和</a:t>
            </a:r>
            <a:r>
              <a:rPr lang="en-US" altLang="zh-CN" sz="2600" dirty="0" smtClean="0">
                <a:latin typeface="+mn-ea"/>
              </a:rPr>
              <a:t>t4 </a:t>
            </a:r>
            <a:r>
              <a:rPr lang="zh-CN" altLang="en-US" sz="2600" dirty="0" smtClean="0">
                <a:latin typeface="+mn-ea"/>
              </a:rPr>
              <a:t>时刻，平衡都逆向移动，氨的百分含量减小， 所以氨的含量最大在开始时，即</a:t>
            </a:r>
            <a:r>
              <a:rPr lang="en-US" altLang="zh-CN" sz="2600" dirty="0" smtClean="0">
                <a:latin typeface="+mn-ea"/>
              </a:rPr>
              <a:t>t0 </a:t>
            </a:r>
            <a:r>
              <a:rPr lang="zh-CN" altLang="en-US" sz="2600" dirty="0" smtClean="0">
                <a:latin typeface="+mn-ea"/>
              </a:rPr>
              <a:t>～ </a:t>
            </a:r>
            <a:r>
              <a:rPr lang="en-US" altLang="zh-CN" sz="2600" dirty="0" smtClean="0">
                <a:latin typeface="+mn-ea"/>
              </a:rPr>
              <a:t>t1</a:t>
            </a:r>
            <a:r>
              <a:rPr lang="zh-CN" altLang="en-US" sz="2600" dirty="0" smtClean="0">
                <a:latin typeface="+mn-ea"/>
              </a:rPr>
              <a:t>。</a:t>
            </a:r>
          </a:p>
          <a:p>
            <a:pPr>
              <a:spcBef>
                <a:spcPts val="300"/>
              </a:spcBef>
              <a:buNone/>
            </a:pPr>
            <a:endParaRPr lang="en-US" altLang="zh-CN" sz="2800" dirty="0" smtClean="0">
              <a:latin typeface="+mn-ea"/>
            </a:endParaRPr>
          </a:p>
          <a:p>
            <a:pPr>
              <a:spcBef>
                <a:spcPts val="300"/>
              </a:spcBef>
              <a:buNone/>
            </a:pPr>
            <a:endParaRPr lang="en-US" altLang="zh-CN" sz="2800" dirty="0" smtClean="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fontScale="85000" lnSpcReduction="10000"/>
          </a:bodyPr>
          <a:lstStyle/>
          <a:p>
            <a:pPr>
              <a:spcBef>
                <a:spcPts val="300"/>
              </a:spcBef>
              <a:buNone/>
            </a:pPr>
            <a:r>
              <a:rPr lang="en-US" altLang="zh-CN" dirty="0" smtClean="0"/>
              <a:t>6. (1) </a:t>
            </a:r>
            <a:r>
              <a:rPr lang="zh-CN" altLang="en-US" dirty="0" smtClean="0"/>
              <a:t>非气态</a:t>
            </a:r>
            <a:endParaRPr lang="en-US" altLang="zh-CN" dirty="0" smtClean="0"/>
          </a:p>
          <a:p>
            <a:pPr>
              <a:spcBef>
                <a:spcPts val="300"/>
              </a:spcBef>
              <a:buNone/>
            </a:pPr>
            <a:r>
              <a:rPr lang="en-US" altLang="zh-CN" dirty="0" smtClean="0"/>
              <a:t>	(2)	</a:t>
            </a:r>
            <a:r>
              <a:rPr lang="zh-CN" altLang="en-US" dirty="0" smtClean="0"/>
              <a:t>气态、气态</a:t>
            </a:r>
            <a:endParaRPr lang="en-US" altLang="zh-CN" dirty="0" smtClean="0"/>
          </a:p>
          <a:p>
            <a:pPr>
              <a:spcBef>
                <a:spcPts val="300"/>
              </a:spcBef>
              <a:buNone/>
            </a:pPr>
            <a:r>
              <a:rPr lang="en-US" altLang="zh-CN" dirty="0" smtClean="0"/>
              <a:t>	(3) [A]</a:t>
            </a:r>
            <a:r>
              <a:rPr lang="zh-CN" altLang="en-US" dirty="0" smtClean="0"/>
              <a:t>增加，</a:t>
            </a:r>
            <a:r>
              <a:rPr lang="en-US" altLang="zh-CN" dirty="0" smtClean="0"/>
              <a:t>A</a:t>
            </a:r>
            <a:r>
              <a:rPr lang="zh-CN" altLang="en-US" dirty="0" smtClean="0"/>
              <a:t>转化率不变</a:t>
            </a:r>
            <a:endParaRPr lang="en-US" altLang="zh-CN" dirty="0" smtClean="0"/>
          </a:p>
          <a:p>
            <a:endParaRPr lang="en-US" dirty="0" smtClean="0"/>
          </a:p>
          <a:p>
            <a:pPr>
              <a:buNone/>
            </a:pPr>
            <a:r>
              <a:rPr lang="zh-CN" altLang="en-US" dirty="0" smtClean="0"/>
              <a:t>解析</a:t>
            </a:r>
            <a:r>
              <a:rPr lang="en-US" altLang="zh-CN" dirty="0" smtClean="0">
                <a:sym typeface="Wingdings" pitchFamily="2" charset="2"/>
              </a:rPr>
              <a:t>: (</a:t>
            </a:r>
            <a:r>
              <a:rPr lang="en-US" altLang="zh-CN" dirty="0" smtClean="0"/>
              <a:t>1)</a:t>
            </a:r>
            <a:r>
              <a:rPr lang="zh-CN" altLang="en-US" dirty="0" smtClean="0"/>
              <a:t> </a:t>
            </a:r>
            <a:r>
              <a:rPr lang="en-US" altLang="zh-CN" dirty="0" smtClean="0"/>
              <a:t>C </a:t>
            </a:r>
            <a:r>
              <a:rPr lang="zh-CN" altLang="en-US" dirty="0" smtClean="0"/>
              <a:t>的含量不影响平衡，则</a:t>
            </a:r>
            <a:r>
              <a:rPr lang="en-US" altLang="zh-CN" dirty="0" smtClean="0"/>
              <a:t>C </a:t>
            </a:r>
            <a:r>
              <a:rPr lang="zh-CN" altLang="en-US" dirty="0" smtClean="0"/>
              <a:t>是固态或液态，即非气态。</a:t>
            </a:r>
            <a:endParaRPr lang="en-US" altLang="zh-CN" dirty="0" smtClean="0"/>
          </a:p>
          <a:p>
            <a:pPr>
              <a:buNone/>
            </a:pPr>
            <a:r>
              <a:rPr lang="en-US" altLang="zh-CN" dirty="0" smtClean="0"/>
              <a:t>	(2)</a:t>
            </a:r>
            <a:r>
              <a:rPr lang="zh-CN" altLang="en-US" dirty="0" smtClean="0"/>
              <a:t> 增大压强， 平衡不移动，说明反应前后气体体积不变，若</a:t>
            </a:r>
            <a:r>
              <a:rPr lang="en-US" altLang="zh-CN" dirty="0" smtClean="0"/>
              <a:t>B </a:t>
            </a:r>
            <a:r>
              <a:rPr lang="zh-CN" altLang="en-US" dirty="0" smtClean="0"/>
              <a:t>为气态，则</a:t>
            </a:r>
            <a:r>
              <a:rPr lang="en-US" altLang="zh-CN" dirty="0" smtClean="0"/>
              <a:t>A</a:t>
            </a:r>
            <a:r>
              <a:rPr lang="zh-CN" altLang="en-US" dirty="0" smtClean="0"/>
              <a:t>、</a:t>
            </a:r>
            <a:r>
              <a:rPr lang="en-US" altLang="zh-CN" dirty="0" smtClean="0"/>
              <a:t>C </a:t>
            </a:r>
            <a:r>
              <a:rPr lang="zh-CN" altLang="en-US" dirty="0" smtClean="0"/>
              <a:t>同为气态， 才能使反应前后气体体积不变。</a:t>
            </a:r>
            <a:endParaRPr lang="en-US" altLang="zh-CN" dirty="0" smtClean="0"/>
          </a:p>
          <a:p>
            <a:pPr>
              <a:buNone/>
            </a:pPr>
            <a:r>
              <a:rPr lang="en-US" altLang="zh-CN" dirty="0" smtClean="0"/>
              <a:t>(3)</a:t>
            </a:r>
            <a:r>
              <a:rPr lang="zh-CN" altLang="en-US" dirty="0" smtClean="0"/>
              <a:t>增大</a:t>
            </a:r>
            <a:r>
              <a:rPr lang="en-US" altLang="zh-CN" dirty="0" smtClean="0"/>
              <a:t>B </a:t>
            </a:r>
            <a:r>
              <a:rPr lang="zh-CN" altLang="en-US" dirty="0" smtClean="0"/>
              <a:t>的浓度，平衡逆向移动，故</a:t>
            </a:r>
            <a:r>
              <a:rPr lang="en-US" altLang="zh-CN" dirty="0" smtClean="0"/>
              <a:t>A </a:t>
            </a:r>
            <a:r>
              <a:rPr lang="zh-CN" altLang="en-US" dirty="0" smtClean="0"/>
              <a:t>的浓度增大，</a:t>
            </a:r>
            <a:r>
              <a:rPr lang="en-US" altLang="zh-CN" dirty="0" smtClean="0"/>
              <a:t>C </a:t>
            </a:r>
            <a:r>
              <a:rPr lang="zh-CN" altLang="en-US" dirty="0" smtClean="0"/>
              <a:t>的浓度减小，两者的物质的量之比增大；因为反应前后气体体积不变，且反应物只有</a:t>
            </a:r>
            <a:r>
              <a:rPr lang="en-US" altLang="zh-CN" dirty="0" smtClean="0"/>
              <a:t>A</a:t>
            </a:r>
            <a:r>
              <a:rPr lang="zh-CN" altLang="en-US" dirty="0" smtClean="0"/>
              <a:t>，所以增大</a:t>
            </a:r>
            <a:r>
              <a:rPr lang="en-US" altLang="zh-CN" dirty="0" smtClean="0"/>
              <a:t>A </a:t>
            </a:r>
            <a:r>
              <a:rPr lang="zh-CN" altLang="en-US" dirty="0" smtClean="0"/>
              <a:t>的浓度，平衡是等效</a:t>
            </a:r>
            <a:r>
              <a:rPr lang="zh-CN" altLang="en-US" dirty="0" smtClean="0"/>
              <a:t>的，</a:t>
            </a:r>
            <a:r>
              <a:rPr lang="en-US" altLang="zh-CN" dirty="0" smtClean="0"/>
              <a:t>A </a:t>
            </a:r>
            <a:r>
              <a:rPr lang="zh-CN" altLang="en-US" dirty="0" smtClean="0"/>
              <a:t>的转化率不变。</a:t>
            </a:r>
          </a:p>
          <a:p>
            <a:pPr>
              <a:spcBef>
                <a:spcPts val="300"/>
              </a:spcBef>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lstStyle/>
          <a:p>
            <a:pPr>
              <a:spcBef>
                <a:spcPts val="300"/>
              </a:spcBef>
              <a:buNone/>
            </a:pPr>
            <a:r>
              <a:rPr lang="en-US" altLang="zh-CN" dirty="0" smtClean="0"/>
              <a:t>7. </a:t>
            </a:r>
            <a:r>
              <a:rPr lang="en-US" altLang="zh-CN" dirty="0" err="1" smtClean="0"/>
              <a:t>K</a:t>
            </a:r>
            <a:r>
              <a:rPr lang="en-US" altLang="zh-CN" baseline="-25000" dirty="0" err="1" smtClean="0"/>
              <a:t>c</a:t>
            </a:r>
            <a:r>
              <a:rPr lang="en-US" altLang="zh-CN" dirty="0" smtClean="0"/>
              <a:t> =9</a:t>
            </a:r>
          </a:p>
          <a:p>
            <a:pPr>
              <a:spcBef>
                <a:spcPts val="300"/>
              </a:spcBef>
              <a:buNone/>
            </a:pPr>
            <a:r>
              <a:rPr lang="en-US" altLang="zh-CN" dirty="0" smtClean="0"/>
              <a:t>8. 0.02</a:t>
            </a:r>
          </a:p>
          <a:p>
            <a:pPr>
              <a:spcBef>
                <a:spcPts val="300"/>
              </a:spcBef>
              <a:buNone/>
            </a:pPr>
            <a:r>
              <a:rPr lang="en-US" altLang="zh-CN" dirty="0" smtClean="0"/>
              <a:t>9. </a:t>
            </a:r>
            <a:r>
              <a:rPr lang="en-US" altLang="zh-CN" dirty="0" err="1" smtClean="0"/>
              <a:t>K</a:t>
            </a:r>
            <a:r>
              <a:rPr lang="en-US" altLang="zh-CN" baseline="-25000" dirty="0" err="1" smtClean="0"/>
              <a:t>c</a:t>
            </a:r>
            <a:r>
              <a:rPr lang="en-US" altLang="zh-CN" dirty="0" smtClean="0"/>
              <a:t> =1</a:t>
            </a:r>
          </a:p>
          <a:p>
            <a:pPr>
              <a:spcBef>
                <a:spcPts val="300"/>
              </a:spcBef>
              <a:buNone/>
            </a:pPr>
            <a:r>
              <a:rPr lang="en-US" altLang="zh-CN" dirty="0" smtClean="0"/>
              <a:t>10. x=1.29 </a:t>
            </a:r>
            <a:r>
              <a:rPr lang="zh-CN" altLang="en-US" dirty="0" smtClean="0"/>
              <a:t>或 </a:t>
            </a:r>
            <a:r>
              <a:rPr lang="en-US" altLang="zh-CN" dirty="0" smtClean="0"/>
              <a:t>x=1.75(</a:t>
            </a:r>
            <a:r>
              <a:rPr lang="zh-CN" altLang="en-US" dirty="0" smtClean="0"/>
              <a:t>不合</a:t>
            </a:r>
            <a:r>
              <a:rPr lang="en-US" altLang="zh-CN" dirty="0" smtClean="0"/>
              <a:t>)</a:t>
            </a:r>
          </a:p>
          <a:p>
            <a:pPr>
              <a:spcBef>
                <a:spcPts val="300"/>
              </a:spcBef>
              <a:buNone/>
            </a:pPr>
            <a:r>
              <a:rPr lang="en-US" altLang="zh-CN" dirty="0" smtClean="0"/>
              <a:t>	</a:t>
            </a:r>
            <a:r>
              <a:rPr lang="zh-CN" altLang="en-US" dirty="0" smtClean="0"/>
              <a:t>则平衡时</a:t>
            </a:r>
            <a:r>
              <a:rPr lang="en-US" altLang="zh-CN" dirty="0" smtClean="0"/>
              <a:t>n(NO</a:t>
            </a:r>
            <a:r>
              <a:rPr lang="en-US" altLang="zh-CN" baseline="-25000" dirty="0" smtClean="0"/>
              <a:t>2</a:t>
            </a:r>
            <a:r>
              <a:rPr lang="en-US" altLang="zh-CN" dirty="0" smtClean="0"/>
              <a:t>)= (3-2x1.29)M x 1L = 0.42mol</a:t>
            </a:r>
          </a:p>
          <a:p>
            <a:pPr>
              <a:spcBef>
                <a:spcPts val="300"/>
              </a:spcBef>
              <a:buNone/>
            </a:pPr>
            <a:r>
              <a:rPr lang="en-US" altLang="zh-CN" dirty="0" smtClean="0"/>
              <a:t>11. 	</a:t>
            </a:r>
            <a:r>
              <a:rPr lang="en-US" altLang="zh-CN" dirty="0" err="1" smtClean="0"/>
              <a:t>K</a:t>
            </a:r>
            <a:r>
              <a:rPr lang="en-US" altLang="zh-CN" baseline="-25000" dirty="0" err="1" smtClean="0"/>
              <a:t>c</a:t>
            </a:r>
            <a:r>
              <a:rPr lang="en-US" altLang="zh-CN" dirty="0" smtClean="0"/>
              <a:t> = 1.92 </a:t>
            </a:r>
          </a:p>
          <a:p>
            <a:pPr>
              <a:spcBef>
                <a:spcPts val="300"/>
              </a:spcBef>
              <a:buNone/>
            </a:pPr>
            <a:r>
              <a:rPr lang="en-US" altLang="zh-CN" dirty="0" smtClean="0"/>
              <a:t>		</a:t>
            </a:r>
            <a:r>
              <a:rPr lang="zh-CN" altLang="en-US" dirty="0" smtClean="0"/>
              <a:t>开始时</a:t>
            </a:r>
            <a:r>
              <a:rPr lang="en-US" altLang="zh-CN" dirty="0" smtClean="0"/>
              <a:t>[NO</a:t>
            </a:r>
            <a:r>
              <a:rPr lang="en-US" altLang="zh-CN" baseline="-25000" dirty="0" smtClean="0"/>
              <a:t>2</a:t>
            </a:r>
            <a:r>
              <a:rPr lang="en-US" altLang="zh-CN" dirty="0" smtClean="0"/>
              <a:t>]=0.3M</a:t>
            </a:r>
          </a:p>
          <a:p>
            <a:pPr>
              <a:spcBef>
                <a:spcPts val="300"/>
              </a:spcBef>
              <a:buNone/>
            </a:pP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a:bodyPr>
          <a:lstStyle/>
          <a:p>
            <a:pPr>
              <a:spcBef>
                <a:spcPts val="300"/>
              </a:spcBef>
              <a:buNone/>
            </a:pPr>
            <a:r>
              <a:rPr lang="en-US" altLang="zh-CN" sz="2800" dirty="0" smtClean="0"/>
              <a:t>12. p</a:t>
            </a:r>
            <a:r>
              <a:rPr lang="zh-CN" altLang="en-US" sz="2800" baseline="-25000" dirty="0" smtClean="0"/>
              <a:t>平</a:t>
            </a:r>
            <a:r>
              <a:rPr lang="en-US" altLang="zh-CN" sz="2800" dirty="0" smtClean="0"/>
              <a:t>V=n</a:t>
            </a:r>
            <a:r>
              <a:rPr lang="zh-CN" altLang="en-US" sz="2800" baseline="-25000" dirty="0" smtClean="0"/>
              <a:t>平</a:t>
            </a:r>
            <a:r>
              <a:rPr lang="en-US" altLang="zh-CN" sz="2800" dirty="0" smtClean="0"/>
              <a:t> RT  ----1		p</a:t>
            </a:r>
            <a:r>
              <a:rPr lang="zh-CN" altLang="en-US" sz="2800" baseline="-25000" dirty="0" smtClean="0"/>
              <a:t>前</a:t>
            </a:r>
            <a:r>
              <a:rPr lang="en-US" altLang="zh-CN" sz="2800" dirty="0" smtClean="0"/>
              <a:t>V=n</a:t>
            </a:r>
            <a:r>
              <a:rPr lang="zh-CN" altLang="en-US" sz="2800" baseline="-25000" dirty="0" smtClean="0"/>
              <a:t>前</a:t>
            </a:r>
            <a:r>
              <a:rPr lang="en-US" altLang="zh-CN" sz="2800" dirty="0" smtClean="0"/>
              <a:t> RT  ----2</a:t>
            </a:r>
          </a:p>
          <a:p>
            <a:pPr>
              <a:spcBef>
                <a:spcPts val="300"/>
              </a:spcBef>
              <a:buNone/>
            </a:pPr>
            <a:r>
              <a:rPr lang="en-US" altLang="zh-CN" sz="2800" dirty="0" smtClean="0"/>
              <a:t>		</a:t>
            </a:r>
            <a:r>
              <a:rPr lang="zh-CN" altLang="en-US" sz="2800" dirty="0" smtClean="0"/>
              <a:t>得 </a:t>
            </a:r>
            <a:endParaRPr lang="en-US" altLang="zh-CN" sz="2800" dirty="0" smtClean="0"/>
          </a:p>
          <a:p>
            <a:pPr>
              <a:spcBef>
                <a:spcPts val="300"/>
              </a:spcBef>
              <a:buNone/>
            </a:pPr>
            <a:endParaRPr lang="en-US" altLang="zh-CN" sz="2800" dirty="0" smtClean="0"/>
          </a:p>
          <a:p>
            <a:pPr>
              <a:spcBef>
                <a:spcPts val="300"/>
              </a:spcBef>
              <a:buNone/>
            </a:pPr>
            <a:r>
              <a:rPr lang="en-US" altLang="zh-CN" sz="2800" dirty="0" smtClean="0"/>
              <a:t>			n</a:t>
            </a:r>
            <a:r>
              <a:rPr lang="zh-CN" altLang="en-US" sz="2800" baseline="-25000" dirty="0" smtClean="0"/>
              <a:t>平 </a:t>
            </a:r>
            <a:r>
              <a:rPr lang="en-US" altLang="zh-CN" sz="2800" baseline="-25000" dirty="0" smtClean="0"/>
              <a:t> </a:t>
            </a:r>
            <a:r>
              <a:rPr lang="en-US" altLang="zh-CN" sz="2800" dirty="0" smtClean="0"/>
              <a:t> = </a:t>
            </a:r>
          </a:p>
          <a:p>
            <a:pPr>
              <a:spcBef>
                <a:spcPts val="300"/>
              </a:spcBef>
              <a:buNone/>
            </a:pPr>
            <a:r>
              <a:rPr lang="en-US" altLang="zh-CN" sz="2800" dirty="0" smtClean="0"/>
              <a:t>			        = 3.2mol</a:t>
            </a:r>
          </a:p>
          <a:p>
            <a:pPr>
              <a:spcBef>
                <a:spcPts val="300"/>
              </a:spcBef>
              <a:buNone/>
            </a:pPr>
            <a:r>
              <a:rPr lang="en-US" altLang="zh-CN" sz="2800" dirty="0" smtClean="0"/>
              <a:t>			   N</a:t>
            </a:r>
            <a:r>
              <a:rPr lang="en-US" altLang="zh-CN" sz="2800" baseline="-25000" dirty="0" smtClean="0"/>
              <a:t>2</a:t>
            </a:r>
            <a:r>
              <a:rPr lang="en-US" altLang="zh-CN" sz="2800" dirty="0" smtClean="0"/>
              <a:t> (g) +    3H</a:t>
            </a:r>
            <a:r>
              <a:rPr lang="en-US" altLang="zh-CN" sz="2800" baseline="-25000" dirty="0" smtClean="0"/>
              <a:t>2</a:t>
            </a:r>
            <a:r>
              <a:rPr lang="en-US" altLang="zh-CN" sz="2800" dirty="0" smtClean="0"/>
              <a:t> (g) &lt;--&gt; 2NH</a:t>
            </a:r>
            <a:r>
              <a:rPr lang="en-US" altLang="zh-CN" sz="2800" baseline="-25000" dirty="0" smtClean="0"/>
              <a:t>3</a:t>
            </a:r>
            <a:r>
              <a:rPr lang="en-US" altLang="zh-CN" sz="2800" dirty="0" smtClean="0"/>
              <a:t> (g)</a:t>
            </a:r>
          </a:p>
          <a:p>
            <a:pPr>
              <a:spcBef>
                <a:spcPts val="300"/>
              </a:spcBef>
              <a:buNone/>
            </a:pPr>
            <a:r>
              <a:rPr lang="en-US" altLang="zh-CN" sz="2800" dirty="0" smtClean="0"/>
              <a:t>n(</a:t>
            </a:r>
            <a:r>
              <a:rPr lang="zh-CN" altLang="en-US" sz="2800" dirty="0" smtClean="0"/>
              <a:t>开始</a:t>
            </a:r>
            <a:r>
              <a:rPr lang="en-US" altLang="zh-CN" sz="2800" dirty="0" smtClean="0"/>
              <a:t>)mol	   1		3		0</a:t>
            </a:r>
          </a:p>
          <a:p>
            <a:pPr>
              <a:spcBef>
                <a:spcPts val="300"/>
              </a:spcBef>
              <a:buNone/>
            </a:pPr>
            <a:r>
              <a:rPr lang="en-US" altLang="zh-CN" sz="2800" dirty="0" smtClean="0"/>
              <a:t>n(</a:t>
            </a:r>
            <a:r>
              <a:rPr lang="zh-CN" altLang="en-US" sz="2800" dirty="0" smtClean="0"/>
              <a:t>转化</a:t>
            </a:r>
            <a:r>
              <a:rPr lang="en-US" altLang="zh-CN" sz="2800" dirty="0" smtClean="0"/>
              <a:t>)mol	   x		3x		2x</a:t>
            </a:r>
          </a:p>
          <a:p>
            <a:pPr>
              <a:spcBef>
                <a:spcPts val="300"/>
              </a:spcBef>
              <a:buNone/>
            </a:pPr>
            <a:r>
              <a:rPr lang="en-US" altLang="zh-CN" sz="2800" dirty="0" smtClean="0"/>
              <a:t>n(</a:t>
            </a:r>
            <a:r>
              <a:rPr lang="zh-CN" altLang="en-US" sz="2800" dirty="0" smtClean="0"/>
              <a:t>平衡</a:t>
            </a:r>
            <a:r>
              <a:rPr lang="en-US" altLang="zh-CN" sz="2800" dirty="0" smtClean="0"/>
              <a:t>)mol	   1-x		3-3x		2x</a:t>
            </a:r>
          </a:p>
          <a:p>
            <a:pPr>
              <a:spcBef>
                <a:spcPts val="300"/>
              </a:spcBef>
              <a:buNone/>
            </a:pPr>
            <a:r>
              <a:rPr lang="en-US" altLang="zh-CN" sz="2800" dirty="0" smtClean="0"/>
              <a:t>			1-x + 3-3x + 2x = 3.2</a:t>
            </a:r>
          </a:p>
          <a:p>
            <a:pPr>
              <a:spcBef>
                <a:spcPts val="300"/>
              </a:spcBef>
              <a:buNone/>
            </a:pPr>
            <a:r>
              <a:rPr lang="en-US" altLang="zh-CN" sz="2800" dirty="0" smtClean="0"/>
              <a:t>					x  = 0.4</a:t>
            </a:r>
          </a:p>
          <a:p>
            <a:pPr>
              <a:spcBef>
                <a:spcPts val="300"/>
              </a:spcBef>
              <a:buNone/>
            </a:pPr>
            <a:endParaRPr lang="en-US" altLang="zh-CN" sz="2800" dirty="0" smtClean="0"/>
          </a:p>
        </p:txBody>
      </p:sp>
      <p:graphicFrame>
        <p:nvGraphicFramePr>
          <p:cNvPr id="5" name="Object 4"/>
          <p:cNvGraphicFramePr>
            <a:graphicFrameLocks noChangeAspect="1"/>
          </p:cNvGraphicFramePr>
          <p:nvPr/>
        </p:nvGraphicFramePr>
        <p:xfrm>
          <a:off x="914400" y="1447800"/>
          <a:ext cx="457200" cy="685800"/>
        </p:xfrm>
        <a:graphic>
          <a:graphicData uri="http://schemas.openxmlformats.org/presentationml/2006/ole">
            <p:oleObj spid="_x0000_s5122" name="Equation" r:id="rId4" imgW="152280" imgH="393480" progId="Equation.3">
              <p:embed/>
            </p:oleObj>
          </a:graphicData>
        </a:graphic>
      </p:graphicFrame>
      <p:graphicFrame>
        <p:nvGraphicFramePr>
          <p:cNvPr id="6" name="Object 5"/>
          <p:cNvGraphicFramePr>
            <a:graphicFrameLocks noChangeAspect="1"/>
          </p:cNvGraphicFramePr>
          <p:nvPr/>
        </p:nvGraphicFramePr>
        <p:xfrm>
          <a:off x="2199217" y="1295400"/>
          <a:ext cx="1763183" cy="1143000"/>
        </p:xfrm>
        <a:graphic>
          <a:graphicData uri="http://schemas.openxmlformats.org/presentationml/2006/ole">
            <p:oleObj spid="_x0000_s5123" name="Equation" r:id="rId5" imgW="622080" imgH="457200" progId="Equation.3">
              <p:embed/>
            </p:oleObj>
          </a:graphicData>
        </a:graphic>
      </p:graphicFrame>
      <p:graphicFrame>
        <p:nvGraphicFramePr>
          <p:cNvPr id="7" name="Object 6"/>
          <p:cNvGraphicFramePr>
            <a:graphicFrameLocks noChangeAspect="1"/>
          </p:cNvGraphicFramePr>
          <p:nvPr/>
        </p:nvGraphicFramePr>
        <p:xfrm>
          <a:off x="3200400" y="2241550"/>
          <a:ext cx="1422810" cy="730250"/>
        </p:xfrm>
        <a:graphic>
          <a:graphicData uri="http://schemas.openxmlformats.org/presentationml/2006/ole">
            <p:oleObj spid="_x0000_s5124" name="Equation" r:id="rId6" imgW="583920" imgH="393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blinds(horizontal)">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blinds(horizontal)">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blinds(horizontal)">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blinds(horizontal)">
                                      <p:cBhvr>
                                        <p:cTn id="62" dur="500"/>
                                        <p:tgtEl>
                                          <p:spTgt spid="3">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blinds(horizontal)">
                                      <p:cBhvr>
                                        <p:cTn id="6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er\Desktop\12.jpg"/>
          <p:cNvPicPr>
            <a:picLocks noChangeAspect="1" noChangeArrowheads="1"/>
          </p:cNvPicPr>
          <p:nvPr/>
        </p:nvPicPr>
        <p:blipFill>
          <a:blip r:embed="rId3">
            <a:duotone>
              <a:schemeClr val="accent1">
                <a:shade val="45000"/>
                <a:satMod val="135000"/>
              </a:schemeClr>
              <a:prstClr val="white"/>
            </a:duotone>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a:xfrm>
            <a:off x="457200" y="0"/>
            <a:ext cx="8229600" cy="1143000"/>
          </a:xfrm>
        </p:spPr>
        <p:txBody>
          <a:bodyPr>
            <a:normAutofit/>
          </a:bodyPr>
          <a:lstStyle/>
          <a:p>
            <a:r>
              <a:rPr lang="zh-CN" altLang="en-US"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作答题</a:t>
            </a:r>
            <a:endParaRPr lang="en-US"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3" name="Content Placeholder 2"/>
          <p:cNvSpPr>
            <a:spLocks noGrp="1"/>
          </p:cNvSpPr>
          <p:nvPr>
            <p:ph idx="1"/>
          </p:nvPr>
        </p:nvSpPr>
        <p:spPr>
          <a:xfrm>
            <a:off x="457200" y="990600"/>
            <a:ext cx="8382000" cy="5638800"/>
          </a:xfrm>
        </p:spPr>
        <p:txBody>
          <a:bodyPr>
            <a:normAutofit fontScale="92500"/>
          </a:bodyPr>
          <a:lstStyle/>
          <a:p>
            <a:pPr>
              <a:spcBef>
                <a:spcPts val="300"/>
              </a:spcBef>
              <a:buNone/>
            </a:pPr>
            <a:r>
              <a:rPr lang="en-US" altLang="zh-CN" dirty="0" smtClean="0"/>
              <a:t>12.(1) 3:9:4 </a:t>
            </a:r>
          </a:p>
          <a:p>
            <a:pPr>
              <a:spcBef>
                <a:spcPts val="300"/>
              </a:spcBef>
              <a:buNone/>
            </a:pPr>
            <a:r>
              <a:rPr lang="en-US" altLang="zh-CN" dirty="0" smtClean="0"/>
              <a:t>	(2) 40%</a:t>
            </a:r>
          </a:p>
          <a:p>
            <a:pPr>
              <a:spcBef>
                <a:spcPts val="300"/>
              </a:spcBef>
              <a:buNone/>
            </a:pPr>
            <a:r>
              <a:rPr lang="en-US" altLang="zh-CN" dirty="0" smtClean="0"/>
              <a:t>	(3) 0.2Mmin</a:t>
            </a:r>
            <a:r>
              <a:rPr lang="en-US" altLang="zh-CN" baseline="30000" dirty="0" smtClean="0"/>
              <a:t>-1</a:t>
            </a:r>
            <a:r>
              <a:rPr lang="en-US" altLang="zh-CN" dirty="0" smtClean="0"/>
              <a:t> </a:t>
            </a:r>
          </a:p>
          <a:p>
            <a:pPr>
              <a:spcBef>
                <a:spcPts val="300"/>
              </a:spcBef>
              <a:buNone/>
            </a:pPr>
            <a:endParaRPr lang="en-US" altLang="zh-CN" dirty="0" smtClean="0"/>
          </a:p>
          <a:p>
            <a:pPr>
              <a:spcBef>
                <a:spcPts val="300"/>
              </a:spcBef>
              <a:buNone/>
            </a:pPr>
            <a:r>
              <a:rPr lang="en-US" altLang="zh-CN" dirty="0" smtClean="0"/>
              <a:t>13. 			2SO</a:t>
            </a:r>
            <a:r>
              <a:rPr lang="en-US" altLang="zh-CN" baseline="-25000" dirty="0" smtClean="0"/>
              <a:t>2</a:t>
            </a:r>
            <a:r>
              <a:rPr lang="en-US" altLang="zh-CN" dirty="0" smtClean="0"/>
              <a:t> (g) + O</a:t>
            </a:r>
            <a:r>
              <a:rPr lang="en-US" altLang="zh-CN" baseline="-25000" dirty="0" smtClean="0"/>
              <a:t>2</a:t>
            </a:r>
            <a:r>
              <a:rPr lang="en-US" altLang="zh-CN" dirty="0" smtClean="0"/>
              <a:t> &lt;-- &gt; 2SO</a:t>
            </a:r>
            <a:r>
              <a:rPr lang="en-US" altLang="zh-CN" baseline="-25000" dirty="0" smtClean="0"/>
              <a:t>3</a:t>
            </a:r>
            <a:r>
              <a:rPr lang="en-US" altLang="zh-CN" dirty="0" smtClean="0"/>
              <a:t> (g) </a:t>
            </a:r>
          </a:p>
          <a:p>
            <a:pPr>
              <a:spcBef>
                <a:spcPts val="300"/>
              </a:spcBef>
              <a:buNone/>
            </a:pPr>
            <a:r>
              <a:rPr lang="en-US" altLang="zh-CN" dirty="0" smtClean="0"/>
              <a:t>[</a:t>
            </a:r>
            <a:r>
              <a:rPr lang="zh-CN" altLang="en-US" dirty="0" smtClean="0"/>
              <a:t>平衡</a:t>
            </a:r>
            <a:r>
              <a:rPr lang="en-US" altLang="zh-CN" dirty="0" smtClean="0"/>
              <a:t>]M		 0.4	        0.1	  0.1</a:t>
            </a:r>
          </a:p>
          <a:p>
            <a:pPr>
              <a:spcBef>
                <a:spcPts val="300"/>
              </a:spcBef>
              <a:buNone/>
            </a:pPr>
            <a:r>
              <a:rPr lang="en-US" altLang="zh-CN" dirty="0" smtClean="0"/>
              <a:t>[</a:t>
            </a:r>
            <a:r>
              <a:rPr lang="zh-CN" altLang="en-US" dirty="0" smtClean="0"/>
              <a:t>加压后瞬间</a:t>
            </a:r>
            <a:r>
              <a:rPr lang="en-US" altLang="zh-CN" dirty="0" smtClean="0"/>
              <a:t>]M	0.8	        0.2          0.2</a:t>
            </a:r>
          </a:p>
          <a:p>
            <a:pPr>
              <a:spcBef>
                <a:spcPts val="300"/>
              </a:spcBef>
              <a:buNone/>
            </a:pPr>
            <a:r>
              <a:rPr lang="en-US" altLang="zh-CN" dirty="0" err="1" smtClean="0"/>
              <a:t>K</a:t>
            </a:r>
            <a:r>
              <a:rPr lang="en-US" altLang="zh-CN" baseline="-25000" dirty="0" err="1" smtClean="0"/>
              <a:t>c</a:t>
            </a:r>
            <a:r>
              <a:rPr lang="en-US" altLang="zh-CN" baseline="-25000" dirty="0" smtClean="0"/>
              <a:t> </a:t>
            </a:r>
            <a:r>
              <a:rPr lang="en-US" altLang="zh-CN" dirty="0" smtClean="0"/>
              <a:t>=160</a:t>
            </a:r>
          </a:p>
          <a:p>
            <a:pPr>
              <a:spcBef>
                <a:spcPts val="300"/>
              </a:spcBef>
              <a:buNone/>
            </a:pPr>
            <a:endParaRPr lang="en-US" altLang="zh-CN" dirty="0" smtClean="0"/>
          </a:p>
          <a:p>
            <a:pPr>
              <a:spcBef>
                <a:spcPts val="300"/>
              </a:spcBef>
              <a:buNone/>
            </a:pPr>
            <a:r>
              <a:rPr lang="en-US" altLang="zh-CN" dirty="0" smtClean="0"/>
              <a:t>					Q= 80 </a:t>
            </a:r>
            <a:endParaRPr lang="en-US" dirty="0" smtClean="0"/>
          </a:p>
          <a:p>
            <a:r>
              <a:rPr lang="en-US" altLang="zh-CN" dirty="0" smtClean="0"/>
              <a:t>Q </a:t>
            </a:r>
            <a:r>
              <a:rPr lang="zh-CN" altLang="en-US" dirty="0" smtClean="0"/>
              <a:t>＜ </a:t>
            </a:r>
            <a:r>
              <a:rPr lang="en-US" altLang="zh-CN" dirty="0" err="1" smtClean="0"/>
              <a:t>Kc</a:t>
            </a:r>
            <a:r>
              <a:rPr lang="zh-CN" altLang="en-US" dirty="0" smtClean="0"/>
              <a:t>，故平衡正向移动。 答：平衡正向移动。</a:t>
            </a:r>
          </a:p>
          <a:p>
            <a:pPr>
              <a:spcBef>
                <a:spcPts val="300"/>
              </a:spcBef>
              <a:buNone/>
            </a:pPr>
            <a:endParaRPr lang="en-US" altLang="zh-CN" dirty="0" smtClean="0"/>
          </a:p>
          <a:p>
            <a:pPr>
              <a:spcBef>
                <a:spcPts val="300"/>
              </a:spcBef>
              <a:buNone/>
            </a:pPr>
            <a:endParaRPr lang="en-US" altLang="zh-CN" dirty="0" smtClean="0"/>
          </a:p>
          <a:p>
            <a:pPr>
              <a:spcBef>
                <a:spcPts val="300"/>
              </a:spcBef>
              <a:buNone/>
            </a:pPr>
            <a:endParaRPr lang="en-US" altLang="zh-CN" dirty="0" smtClean="0"/>
          </a:p>
        </p:txBody>
      </p:sp>
      <p:graphicFrame>
        <p:nvGraphicFramePr>
          <p:cNvPr id="5" name="Object 4"/>
          <p:cNvGraphicFramePr>
            <a:graphicFrameLocks noChangeAspect="1"/>
          </p:cNvGraphicFramePr>
          <p:nvPr/>
        </p:nvGraphicFramePr>
        <p:xfrm>
          <a:off x="4114800" y="4419600"/>
          <a:ext cx="2701925" cy="1212850"/>
        </p:xfrm>
        <a:graphic>
          <a:graphicData uri="http://schemas.openxmlformats.org/presentationml/2006/ole">
            <p:oleObj spid="_x0000_s6146" name="Equation" r:id="rId4" imgW="990360" imgH="4442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1056</TotalTime>
  <Words>2250</Words>
  <Application>Microsoft Office PowerPoint</Application>
  <PresentationFormat>On-screen Show (4:3)</PresentationFormat>
  <Paragraphs>549</Paragraphs>
  <Slides>53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55" baseType="lpstr">
      <vt:lpstr>Office Theme</vt:lpstr>
      <vt:lpstr>Equation</vt:lpstr>
      <vt:lpstr>第21章  化学平衡的移动</vt:lpstr>
      <vt:lpstr>前言</vt:lpstr>
      <vt:lpstr>21.1 化学平衡是动态平衡</vt:lpstr>
      <vt:lpstr>21.1 化学平衡是动态平衡</vt:lpstr>
      <vt:lpstr>21.1 化学平衡是动态平衡</vt:lpstr>
      <vt:lpstr>Slide 6</vt:lpstr>
      <vt:lpstr>21.1 化学平衡是动态平衡</vt:lpstr>
      <vt:lpstr>21.1 化学平衡是动态平衡</vt:lpstr>
      <vt:lpstr>21.2 化学平衡的定量研究</vt:lpstr>
      <vt:lpstr>21.2.1 化学平衡定律</vt:lpstr>
      <vt:lpstr>21.2.1 化学平衡定律</vt:lpstr>
      <vt:lpstr>问题解决</vt:lpstr>
      <vt:lpstr>21.2.1 化学平衡定律</vt:lpstr>
      <vt:lpstr>21.2.1 化学平衡定律</vt:lpstr>
      <vt:lpstr>思考题21b</vt:lpstr>
      <vt:lpstr>21.2.2 有关化学平衡的计算</vt:lpstr>
      <vt:lpstr>21.2.2 有关化学平衡的计算</vt:lpstr>
      <vt:lpstr>问题解决</vt:lpstr>
      <vt:lpstr>补充题</vt:lpstr>
      <vt:lpstr>补充题</vt:lpstr>
      <vt:lpstr>思考题21c</vt:lpstr>
      <vt:lpstr>思考题21c</vt:lpstr>
      <vt:lpstr>思考题21c</vt:lpstr>
      <vt:lpstr>Slide 24</vt:lpstr>
      <vt:lpstr>Slide 25</vt:lpstr>
      <vt:lpstr>思考题21c</vt:lpstr>
      <vt:lpstr>21.3 影响化学平衡移动的因素</vt:lpstr>
      <vt:lpstr>21.3.1 浓度对化学平衡的影响</vt:lpstr>
      <vt:lpstr>21.3.1 浓度对化学平衡的影响</vt:lpstr>
      <vt:lpstr>21.3.1 浓度对化学平衡的影响</vt:lpstr>
      <vt:lpstr>21.3.1 浓度对化学平衡的影响</vt:lpstr>
      <vt:lpstr>21.3.1 浓度对化学平衡的影响</vt:lpstr>
      <vt:lpstr>21.3.2 压强对化学平衡的影响</vt:lpstr>
      <vt:lpstr>21.3.2 压强对化学平衡的影响</vt:lpstr>
      <vt:lpstr>21.3.2 压强对化学平衡的影响</vt:lpstr>
      <vt:lpstr>21.3.2 压强对化学平衡的影响</vt:lpstr>
      <vt:lpstr>21.3.2 压强对化学平衡的影响</vt:lpstr>
      <vt:lpstr>21.3.3 温度对化学平衡的影响</vt:lpstr>
      <vt:lpstr>21.3.4 催化剂对化学平衡的影响</vt:lpstr>
      <vt:lpstr>思考题21d</vt:lpstr>
      <vt:lpstr>21.4 勒沙特列原理及应用</vt:lpstr>
      <vt:lpstr>21.4 勒沙特列原理及应用</vt:lpstr>
      <vt:lpstr>思考题21e</vt:lpstr>
      <vt:lpstr>选择题</vt:lpstr>
      <vt:lpstr>选择题</vt:lpstr>
      <vt:lpstr>选择题</vt:lpstr>
      <vt:lpstr>作答题3、4、5、10、11、12</vt:lpstr>
      <vt:lpstr>作答题</vt:lpstr>
      <vt:lpstr>作答题</vt:lpstr>
      <vt:lpstr>作答题</vt:lpstr>
      <vt:lpstr>作答题</vt:lpstr>
      <vt:lpstr>作答题</vt:lpstr>
      <vt:lpstr>作答题</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121</cp:revision>
  <dcterms:created xsi:type="dcterms:W3CDTF">2018-09-03T09:52:37Z</dcterms:created>
  <dcterms:modified xsi:type="dcterms:W3CDTF">2019-10-06T08:02:17Z</dcterms:modified>
</cp:coreProperties>
</file>