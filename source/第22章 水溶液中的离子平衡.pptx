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9" r:id="rId2"/>
    <p:sldId id="260" r:id="rId3"/>
    <p:sldId id="304" r:id="rId4"/>
    <p:sldId id="305" r:id="rId5"/>
    <p:sldId id="265" r:id="rId6"/>
    <p:sldId id="261" r:id="rId7"/>
    <p:sldId id="262" r:id="rId8"/>
    <p:sldId id="306" r:id="rId9"/>
    <p:sldId id="266" r:id="rId10"/>
    <p:sldId id="267" r:id="rId11"/>
    <p:sldId id="307" r:id="rId12"/>
    <p:sldId id="295" r:id="rId13"/>
    <p:sldId id="263" r:id="rId14"/>
    <p:sldId id="268" r:id="rId15"/>
    <p:sldId id="293" r:id="rId16"/>
    <p:sldId id="294" r:id="rId17"/>
    <p:sldId id="308" r:id="rId18"/>
    <p:sldId id="269" r:id="rId19"/>
    <p:sldId id="296" r:id="rId20"/>
    <p:sldId id="270" r:id="rId21"/>
    <p:sldId id="297" r:id="rId22"/>
    <p:sldId id="298" r:id="rId23"/>
    <p:sldId id="309" r:id="rId24"/>
    <p:sldId id="272" r:id="rId25"/>
    <p:sldId id="273" r:id="rId26"/>
    <p:sldId id="299" r:id="rId27"/>
    <p:sldId id="300" r:id="rId28"/>
    <p:sldId id="301" r:id="rId29"/>
    <p:sldId id="275" r:id="rId30"/>
    <p:sldId id="310" r:id="rId31"/>
    <p:sldId id="276" r:id="rId32"/>
    <p:sldId id="311" r:id="rId33"/>
    <p:sldId id="302" r:id="rId34"/>
    <p:sldId id="274" r:id="rId35"/>
    <p:sldId id="279" r:id="rId36"/>
    <p:sldId id="280" r:id="rId37"/>
    <p:sldId id="283" r:id="rId38"/>
    <p:sldId id="284" r:id="rId39"/>
    <p:sldId id="312" r:id="rId40"/>
    <p:sldId id="313" r:id="rId41"/>
    <p:sldId id="285" r:id="rId42"/>
    <p:sldId id="286" r:id="rId43"/>
    <p:sldId id="287" r:id="rId44"/>
    <p:sldId id="288" r:id="rId45"/>
    <p:sldId id="303" r:id="rId46"/>
    <p:sldId id="316" r:id="rId47"/>
    <p:sldId id="289" r:id="rId48"/>
    <p:sldId id="290" r:id="rId49"/>
    <p:sldId id="291" r:id="rId50"/>
    <p:sldId id="292" r:id="rId51"/>
    <p:sldId id="314" r:id="rId52"/>
    <p:sldId id="315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CFF1"/>
    <a:srgbClr val="B381D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54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3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0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3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10/1/2019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10/1/2019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10/1/2019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10/1/2019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10/1/2019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10/1/2019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10/1/2019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10/1/2019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10/1/2019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10/1/2019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10/1/2019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D6688-5DD1-44BC-B31A-EC1609157C8F}" type="datetimeFigureOut">
              <a:rPr lang="en-US" smtClean="0"/>
              <a:pPr/>
              <a:t>10/1/2019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4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7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0.bin"/><Relationship Id="rId5" Type="http://schemas.openxmlformats.org/officeDocument/2006/relationships/oleObject" Target="../embeddings/oleObject9.bin"/><Relationship Id="rId4" Type="http://schemas.openxmlformats.org/officeDocument/2006/relationships/oleObject" Target="../embeddings/oleObject8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oleObject" Target="../embeddings/oleObject14.bin"/><Relationship Id="rId4" Type="http://schemas.openxmlformats.org/officeDocument/2006/relationships/oleObject" Target="../embeddings/oleObject13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oleObject" Target="../embeddings/oleObject16.bin"/><Relationship Id="rId4" Type="http://schemas.openxmlformats.org/officeDocument/2006/relationships/oleObject" Target="../embeddings/oleObject15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oleObject" Target="../embeddings/oleObject18.bin"/><Relationship Id="rId4" Type="http://schemas.openxmlformats.org/officeDocument/2006/relationships/oleObject" Target="../embeddings/oleObject17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oleObject" Target="../embeddings/oleObject20.bin"/><Relationship Id="rId4" Type="http://schemas.openxmlformats.org/officeDocument/2006/relationships/oleObject" Target="../embeddings/oleObject19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oleObject" Target="../embeddings/oleObject21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oleObject" Target="../embeddings/oleObject22.bin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oleObject" Target="../embeddings/oleObject23.bin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oleObject" Target="../embeddings/oleObject25.bin"/><Relationship Id="rId4" Type="http://schemas.openxmlformats.org/officeDocument/2006/relationships/oleObject" Target="../embeddings/oleObject24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oleObject" Target="../embeddings/oleObject27.bin"/><Relationship Id="rId4" Type="http://schemas.openxmlformats.org/officeDocument/2006/relationships/oleObject" Target="../embeddings/oleObject26.bin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CN" altLang="en-US" sz="60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第</a:t>
            </a:r>
            <a:r>
              <a:rPr lang="en-US" altLang="zh-CN" sz="60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</a:t>
            </a:r>
            <a:r>
              <a:rPr lang="zh-CN" altLang="en-US" sz="60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章 </a:t>
            </a:r>
            <a:r>
              <a:rPr lang="en-US" altLang="zh-CN" sz="60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/>
            </a:r>
            <a:br>
              <a:rPr lang="en-US" altLang="zh-CN" sz="60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</a:br>
            <a:r>
              <a:rPr lang="zh-CN" altLang="en-US" sz="60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水溶液中的离子平衡</a:t>
            </a:r>
            <a:endParaRPr lang="en-US" sz="60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前言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有些物质在水溶液中以分子形式存在。</a:t>
            </a:r>
            <a:endParaRPr lang="en-US" altLang="zh-CN" sz="3000" dirty="0" smtClean="0"/>
          </a:p>
          <a:p>
            <a:pPr marL="400050" lvl="1" indent="0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600" dirty="0" smtClean="0"/>
              <a:t>蔗糖、酒精、尿素</a:t>
            </a:r>
            <a:endParaRPr lang="en-US" altLang="zh-CN" sz="2600" dirty="0" smtClean="0"/>
          </a:p>
          <a:p>
            <a:pPr marL="0" indent="0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有些物质在水溶液中以离子形式存在。</a:t>
            </a:r>
            <a:endParaRPr lang="en-US" altLang="zh-CN" sz="3000" dirty="0" smtClean="0"/>
          </a:p>
          <a:p>
            <a:pPr marL="400050" lvl="1" indent="0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en-US" altLang="zh-CN" sz="2600" dirty="0" err="1" smtClean="0"/>
              <a:t>NaCl</a:t>
            </a:r>
            <a:r>
              <a:rPr lang="zh-CN" altLang="en-US" sz="2600" dirty="0" smtClean="0"/>
              <a:t>、</a:t>
            </a:r>
            <a:r>
              <a:rPr lang="en-US" altLang="zh-CN" sz="2600" dirty="0" smtClean="0"/>
              <a:t>NH</a:t>
            </a:r>
            <a:r>
              <a:rPr lang="en-US" altLang="zh-CN" sz="2600" baseline="-25000" dirty="0" smtClean="0"/>
              <a:t>4</a:t>
            </a:r>
            <a:r>
              <a:rPr lang="en-US" altLang="zh-CN" sz="2600" dirty="0" smtClean="0"/>
              <a:t>NO</a:t>
            </a:r>
            <a:r>
              <a:rPr lang="en-US" altLang="zh-CN" sz="2600" baseline="-25000" dirty="0" smtClean="0"/>
              <a:t>3</a:t>
            </a:r>
            <a:r>
              <a:rPr lang="en-US" altLang="zh-CN" sz="2600" dirty="0" smtClean="0"/>
              <a:t> 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在水溶液中以离子形式存在的溶质有些易溶于水，有些难溶于水。</a:t>
            </a:r>
            <a:endParaRPr lang="en-US" altLang="zh-CN" sz="3000" dirty="0" smtClean="0"/>
          </a:p>
          <a:p>
            <a:pPr marL="400050" lvl="1" indent="0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en-US" altLang="zh-CN" sz="2600" dirty="0" err="1" smtClean="0"/>
              <a:t>KCl</a:t>
            </a:r>
            <a:r>
              <a:rPr lang="en-US" altLang="zh-CN" sz="2600" dirty="0" smtClean="0"/>
              <a:t> </a:t>
            </a:r>
            <a:r>
              <a:rPr lang="zh-CN" altLang="en-US" sz="2600" dirty="0" smtClean="0"/>
              <a:t>、</a:t>
            </a:r>
            <a:r>
              <a:rPr lang="en-US" altLang="zh-CN" sz="2600" dirty="0" smtClean="0"/>
              <a:t>MgCl</a:t>
            </a:r>
            <a:r>
              <a:rPr lang="en-US" altLang="zh-CN" sz="2600" baseline="-25000" dirty="0" smtClean="0"/>
              <a:t>2</a:t>
            </a:r>
            <a:r>
              <a:rPr lang="zh-CN" altLang="en-US" sz="2600" baseline="-25000" dirty="0" smtClean="0"/>
              <a:t> </a:t>
            </a:r>
            <a:r>
              <a:rPr lang="zh-CN" altLang="en-US" sz="2600" dirty="0" smtClean="0"/>
              <a:t> 、</a:t>
            </a:r>
            <a:r>
              <a:rPr lang="en-US" altLang="zh-CN" sz="2600" dirty="0" smtClean="0"/>
              <a:t> BaSO</a:t>
            </a:r>
            <a:r>
              <a:rPr lang="en-US" altLang="zh-CN" sz="2600" baseline="-25000" dirty="0" smtClean="0"/>
              <a:t>4</a:t>
            </a:r>
            <a:r>
              <a:rPr lang="en-US" altLang="zh-CN" sz="2600" dirty="0" smtClean="0"/>
              <a:t> </a:t>
            </a:r>
            <a:r>
              <a:rPr lang="zh-CN" altLang="en-US" sz="2600" dirty="0" smtClean="0"/>
              <a:t>、</a:t>
            </a:r>
            <a:r>
              <a:rPr lang="en-US" altLang="zh-CN" sz="2600" dirty="0" smtClean="0"/>
              <a:t>CaCO</a:t>
            </a:r>
            <a:r>
              <a:rPr lang="en-US" altLang="zh-CN" sz="2600" baseline="-25000" dirty="0" smtClean="0"/>
              <a:t>3</a:t>
            </a:r>
            <a:endParaRPr lang="en-US" altLang="zh-CN" sz="2600" dirty="0" smtClean="0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22.1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难溶电解质的溶解平衡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22.1.1 </a:t>
            </a:r>
            <a:r>
              <a:rPr lang="zh-CN" altLang="en-US" sz="3000" dirty="0" smtClean="0"/>
              <a:t>电解质与非电解质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u="sng" dirty="0" smtClean="0"/>
              <a:t>感知生活</a:t>
            </a:r>
            <a:r>
              <a:rPr lang="en-US" altLang="zh-CN" sz="3000" u="sng" dirty="0" smtClean="0"/>
              <a:t>pg210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（</a:t>
            </a:r>
            <a:r>
              <a:rPr lang="en-US" altLang="zh-CN" sz="3000" dirty="0" smtClean="0"/>
              <a:t>1</a:t>
            </a:r>
            <a:r>
              <a:rPr lang="zh-CN" altLang="en-US" sz="3000" dirty="0" smtClean="0"/>
              <a:t>） 因为水溶液中存在某些电解质，可以导电，所以用湿手接触正在工作的电器 容易触电。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（</a:t>
            </a:r>
            <a:r>
              <a:rPr lang="en-US" altLang="zh-CN" sz="3000" dirty="0" smtClean="0"/>
              <a:t>2</a:t>
            </a:r>
            <a:r>
              <a:rPr lang="zh-CN" altLang="en-US" sz="3000" dirty="0" smtClean="0"/>
              <a:t>） 雷雨天，室外的泳池容易导电，此时游泳有触电的危险。 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3000" dirty="0" smtClean="0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22.1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难溶电解质的溶解平衡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22.1.1 </a:t>
            </a:r>
            <a:r>
              <a:rPr lang="zh-CN" altLang="en-US" sz="3000" dirty="0" smtClean="0"/>
              <a:t>电解质与非电解质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活动</a:t>
            </a:r>
            <a:r>
              <a:rPr lang="en-US" altLang="zh-CN" sz="3000" dirty="0" smtClean="0"/>
              <a:t>1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现象：</a:t>
            </a:r>
            <a:r>
              <a:rPr lang="en-US" altLang="zh-CN" sz="3000" dirty="0" err="1" smtClean="0"/>
              <a:t>NaCl</a:t>
            </a:r>
            <a:r>
              <a:rPr lang="en-US" altLang="zh-CN" sz="3000" dirty="0" smtClean="0"/>
              <a:t>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</a:t>
            </a:r>
            <a:r>
              <a:rPr lang="zh-CN" altLang="en-US" sz="3000" dirty="0" smtClean="0"/>
              <a:t>的装置灯泡发亮。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原因：</a:t>
            </a:r>
            <a:r>
              <a:rPr lang="en-US" altLang="zh-CN" sz="3000" dirty="0" err="1" smtClean="0"/>
              <a:t>NaCl</a:t>
            </a:r>
            <a:r>
              <a:rPr lang="en-US" altLang="zh-CN" sz="2800" dirty="0" smtClean="0"/>
              <a:t>(</a:t>
            </a:r>
            <a:r>
              <a:rPr lang="en-US" altLang="zh-CN" sz="2800" dirty="0" err="1" smtClean="0"/>
              <a:t>aq</a:t>
            </a:r>
            <a:r>
              <a:rPr lang="en-US" altLang="zh-CN" sz="2800" dirty="0" smtClean="0"/>
              <a:t>)</a:t>
            </a:r>
            <a:r>
              <a:rPr lang="zh-CN" altLang="en-US" sz="2800" dirty="0" smtClean="0"/>
              <a:t>中存在自由移动的离子，能导电。</a:t>
            </a:r>
            <a:endParaRPr lang="en-US" altLang="zh-CN" sz="28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2800" dirty="0" smtClean="0"/>
              <a:t>结论：</a:t>
            </a:r>
            <a:r>
              <a:rPr lang="en-US" altLang="zh-CN" sz="2800" dirty="0" err="1" smtClean="0"/>
              <a:t>NaCl</a:t>
            </a:r>
            <a:r>
              <a:rPr lang="zh-CN" altLang="en-US" sz="3000" dirty="0" smtClean="0"/>
              <a:t>是电解质。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现象：葡萄糖</a:t>
            </a:r>
            <a:r>
              <a:rPr lang="en-US" altLang="zh-CN" sz="3000" dirty="0" smtClean="0"/>
              <a:t>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</a:t>
            </a:r>
            <a:r>
              <a:rPr lang="zh-CN" altLang="en-US" sz="3000" dirty="0" smtClean="0"/>
              <a:t>的装置灯泡没有发亮。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原因：葡萄糖</a:t>
            </a:r>
            <a:r>
              <a:rPr lang="en-US" altLang="zh-CN" sz="3000" dirty="0" smtClean="0"/>
              <a:t>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</a:t>
            </a:r>
            <a:r>
              <a:rPr lang="zh-CN" altLang="en-US" sz="2800" dirty="0" smtClean="0"/>
              <a:t>不存在自由移动的离子，不能导电。</a:t>
            </a:r>
            <a:endParaRPr lang="en-US" altLang="zh-CN" sz="28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2800" dirty="0" smtClean="0"/>
              <a:t>结论：</a:t>
            </a:r>
            <a:r>
              <a:rPr lang="zh-CN" altLang="en-US" sz="3000" dirty="0" smtClean="0"/>
              <a:t>葡萄糖是非电解质。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3000" dirty="0" smtClean="0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22.1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难溶电解质的溶解平衡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22.1.1 </a:t>
            </a:r>
            <a:r>
              <a:rPr lang="zh-CN" altLang="en-US" sz="3000" dirty="0" smtClean="0"/>
              <a:t>电解质与非电解质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电解质：在水溶液中或熔融状态下能产生自由移动的离子而导电的</a:t>
            </a:r>
            <a:r>
              <a:rPr lang="zh-CN" altLang="en-US" sz="3000" b="1" dirty="0" smtClean="0">
                <a:solidFill>
                  <a:srgbClr val="002060"/>
                </a:solidFill>
              </a:rPr>
              <a:t>化合物</a:t>
            </a:r>
            <a:r>
              <a:rPr lang="zh-CN" altLang="en-US" sz="3000" dirty="0" smtClean="0"/>
              <a:t>。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endParaRPr lang="en-US" altLang="zh-CN" sz="2600" dirty="0" smtClean="0"/>
          </a:p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非电解质：在水溶液中或熔融状态下都不能导电的</a:t>
            </a:r>
            <a:r>
              <a:rPr lang="zh-CN" altLang="en-US" sz="3000" b="1" dirty="0" smtClean="0">
                <a:solidFill>
                  <a:srgbClr val="002060"/>
                </a:solidFill>
              </a:rPr>
              <a:t>化合物</a:t>
            </a:r>
            <a:r>
              <a:rPr lang="zh-CN" altLang="en-US" sz="3000" dirty="0" smtClean="0"/>
              <a:t>。</a:t>
            </a:r>
            <a:endParaRPr lang="en-US" altLang="zh-CN" sz="2600" dirty="0" smtClean="0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22.1.1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电解质与非电解质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电离方程式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</a:t>
            </a:r>
            <a:r>
              <a:rPr lang="en-US" altLang="zh-CN" sz="3000" dirty="0" err="1" smtClean="0"/>
              <a:t>HCl</a:t>
            </a:r>
            <a:r>
              <a:rPr lang="en-US" altLang="zh-CN" sz="3000" dirty="0" smtClean="0"/>
              <a:t>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</a:t>
            </a:r>
            <a:r>
              <a:rPr lang="en-US" altLang="zh-CN" sz="3000" dirty="0" smtClean="0">
                <a:sym typeface="Wingdings" pitchFamily="2" charset="2"/>
              </a:rPr>
              <a:t> H</a:t>
            </a:r>
            <a:r>
              <a:rPr lang="en-US" altLang="zh-CN" sz="3000" baseline="30000" dirty="0" smtClean="0">
                <a:sym typeface="Wingdings" pitchFamily="2" charset="2"/>
              </a:rPr>
              <a:t>+</a:t>
            </a:r>
            <a:r>
              <a:rPr lang="en-US" altLang="zh-CN" sz="3000" dirty="0" smtClean="0">
                <a:sym typeface="Wingdings" pitchFamily="2" charset="2"/>
              </a:rPr>
              <a:t>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 + </a:t>
            </a:r>
            <a:r>
              <a:rPr lang="en-US" altLang="zh-CN" sz="3000" dirty="0" err="1" smtClean="0">
                <a:sym typeface="Wingdings" pitchFamily="2" charset="2"/>
              </a:rPr>
              <a:t>Cl</a:t>
            </a:r>
            <a:r>
              <a:rPr lang="en-US" altLang="zh-CN" sz="3000" baseline="30000" dirty="0" smtClean="0">
                <a:sym typeface="Wingdings" pitchFamily="2" charset="2"/>
              </a:rPr>
              <a:t>-</a:t>
            </a:r>
            <a:r>
              <a:rPr lang="en-US" altLang="zh-CN" sz="3000" dirty="0" smtClean="0">
                <a:sym typeface="Wingdings" pitchFamily="2" charset="2"/>
              </a:rPr>
              <a:t>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>
                <a:sym typeface="Wingdings" pitchFamily="2" charset="2"/>
              </a:rPr>
              <a:t>	</a:t>
            </a:r>
            <a:r>
              <a:rPr lang="en-US" altLang="zh-CN" sz="3000" dirty="0" err="1" smtClean="0">
                <a:sym typeface="Wingdings" pitchFamily="2" charset="2"/>
              </a:rPr>
              <a:t>Ba</a:t>
            </a:r>
            <a:r>
              <a:rPr lang="en-US" altLang="zh-CN" sz="3000" dirty="0" smtClean="0">
                <a:sym typeface="Wingdings" pitchFamily="2" charset="2"/>
              </a:rPr>
              <a:t>(OH)</a:t>
            </a:r>
            <a:r>
              <a:rPr lang="en-US" altLang="zh-CN" sz="3000" baseline="-25000" dirty="0" smtClean="0">
                <a:sym typeface="Wingdings" pitchFamily="2" charset="2"/>
              </a:rPr>
              <a:t>2</a:t>
            </a:r>
            <a:r>
              <a:rPr lang="en-US" altLang="zh-CN" sz="3000" dirty="0" smtClean="0">
                <a:sym typeface="Wingdings" pitchFamily="2" charset="2"/>
              </a:rPr>
              <a:t>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  Ba</a:t>
            </a:r>
            <a:r>
              <a:rPr lang="en-US" altLang="zh-CN" sz="3000" baseline="30000" dirty="0" smtClean="0">
                <a:sym typeface="Wingdings" pitchFamily="2" charset="2"/>
              </a:rPr>
              <a:t>2+</a:t>
            </a:r>
            <a:r>
              <a:rPr lang="en-US" altLang="zh-CN" sz="3000" dirty="0" smtClean="0">
                <a:sym typeface="Wingdings" pitchFamily="2" charset="2"/>
              </a:rPr>
              <a:t>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 + 2OH</a:t>
            </a:r>
            <a:r>
              <a:rPr lang="en-US" altLang="zh-CN" sz="3000" baseline="30000" dirty="0" smtClean="0">
                <a:sym typeface="Wingdings" pitchFamily="2" charset="2"/>
              </a:rPr>
              <a:t>-</a:t>
            </a:r>
            <a:r>
              <a:rPr lang="en-US" altLang="zh-CN" sz="3000" dirty="0" smtClean="0">
                <a:sym typeface="Wingdings" pitchFamily="2" charset="2"/>
              </a:rPr>
              <a:t>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>
                <a:sym typeface="Wingdings" pitchFamily="2" charset="2"/>
              </a:rPr>
              <a:t>	Na</a:t>
            </a:r>
            <a:r>
              <a:rPr lang="en-US" altLang="zh-CN" sz="3000" baseline="-25000" dirty="0" smtClean="0">
                <a:sym typeface="Wingdings" pitchFamily="2" charset="2"/>
              </a:rPr>
              <a:t>2</a:t>
            </a:r>
            <a:r>
              <a:rPr lang="en-US" altLang="zh-CN" sz="3000" dirty="0" smtClean="0">
                <a:sym typeface="Wingdings" pitchFamily="2" charset="2"/>
              </a:rPr>
              <a:t>SO</a:t>
            </a:r>
            <a:r>
              <a:rPr lang="en-US" altLang="zh-CN" sz="3000" baseline="-25000" dirty="0" smtClean="0">
                <a:sym typeface="Wingdings" pitchFamily="2" charset="2"/>
              </a:rPr>
              <a:t>4</a:t>
            </a:r>
            <a:r>
              <a:rPr lang="en-US" altLang="zh-CN" sz="3000" dirty="0" smtClean="0">
                <a:sym typeface="Wingdings" pitchFamily="2" charset="2"/>
              </a:rPr>
              <a:t>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  2Na</a:t>
            </a:r>
            <a:r>
              <a:rPr lang="en-US" altLang="zh-CN" sz="3000" baseline="30000" dirty="0" smtClean="0">
                <a:sym typeface="Wingdings" pitchFamily="2" charset="2"/>
              </a:rPr>
              <a:t>+</a:t>
            </a:r>
            <a:r>
              <a:rPr lang="en-US" altLang="zh-CN" sz="3000" dirty="0" smtClean="0">
                <a:sym typeface="Wingdings" pitchFamily="2" charset="2"/>
              </a:rPr>
              <a:t>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 + SO</a:t>
            </a:r>
            <a:r>
              <a:rPr lang="en-US" altLang="zh-CN" sz="3000" baseline="-25000" dirty="0" smtClean="0">
                <a:sym typeface="Wingdings" pitchFamily="2" charset="2"/>
              </a:rPr>
              <a:t>4</a:t>
            </a:r>
            <a:r>
              <a:rPr lang="en-US" altLang="zh-CN" sz="3000" baseline="30000" dirty="0" smtClean="0">
                <a:sym typeface="Wingdings" pitchFamily="2" charset="2"/>
              </a:rPr>
              <a:t>2-</a:t>
            </a:r>
            <a:r>
              <a:rPr lang="en-US" altLang="zh-CN" sz="3000" dirty="0" smtClean="0">
                <a:sym typeface="Wingdings" pitchFamily="2" charset="2"/>
              </a:rPr>
              <a:t>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>
                <a:sym typeface="Wingdings" pitchFamily="2" charset="2"/>
              </a:rPr>
              <a:t>思考题</a:t>
            </a:r>
            <a:r>
              <a:rPr lang="en-US" altLang="zh-CN" sz="3000" dirty="0" smtClean="0">
                <a:sym typeface="Wingdings" pitchFamily="2" charset="2"/>
              </a:rPr>
              <a:t>22a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>
                <a:sym typeface="Wingdings" pitchFamily="2" charset="2"/>
              </a:rPr>
              <a:t>电解质：</a:t>
            </a:r>
            <a:r>
              <a:rPr lang="en-US" altLang="zh-CN" sz="3000" dirty="0" err="1" smtClean="0">
                <a:sym typeface="Wingdings" pitchFamily="2" charset="2"/>
              </a:rPr>
              <a:t>NaCl</a:t>
            </a:r>
            <a:r>
              <a:rPr lang="zh-CN" altLang="en-US" sz="3000" dirty="0" smtClean="0">
                <a:sym typeface="Wingdings" pitchFamily="2" charset="2"/>
              </a:rPr>
              <a:t>、冰醋酸、</a:t>
            </a:r>
            <a:r>
              <a:rPr lang="en-US" altLang="zh-CN" sz="3000" dirty="0" smtClean="0">
                <a:sym typeface="Wingdings" pitchFamily="2" charset="2"/>
              </a:rPr>
              <a:t>BaSO</a:t>
            </a:r>
            <a:r>
              <a:rPr lang="en-US" altLang="zh-CN" sz="3000" baseline="-25000" dirty="0" smtClean="0">
                <a:sym typeface="Wingdings" pitchFamily="2" charset="2"/>
              </a:rPr>
              <a:t>4</a:t>
            </a:r>
            <a:r>
              <a:rPr lang="en-US" altLang="zh-CN" sz="3000" dirty="0" smtClean="0">
                <a:sym typeface="Wingdings" pitchFamily="2" charset="2"/>
              </a:rPr>
              <a:t> </a:t>
            </a:r>
            <a:r>
              <a:rPr lang="zh-CN" altLang="en-US" sz="3000" dirty="0" smtClean="0">
                <a:sym typeface="Wingdings" pitchFamily="2" charset="2"/>
              </a:rPr>
              <a:t>、</a:t>
            </a:r>
            <a:r>
              <a:rPr lang="en-US" altLang="zh-CN" sz="3000" dirty="0" smtClean="0">
                <a:sym typeface="Wingdings" pitchFamily="2" charset="2"/>
              </a:rPr>
              <a:t>NH</a:t>
            </a:r>
            <a:r>
              <a:rPr lang="en-US" altLang="zh-CN" sz="3000" baseline="-25000" dirty="0" smtClean="0">
                <a:sym typeface="Wingdings" pitchFamily="2" charset="2"/>
              </a:rPr>
              <a:t>4</a:t>
            </a:r>
            <a:r>
              <a:rPr lang="en-US" altLang="zh-CN" sz="3000" dirty="0" smtClean="0">
                <a:sym typeface="Wingdings" pitchFamily="2" charset="2"/>
              </a:rPr>
              <a:t>Cl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>
                <a:sym typeface="Wingdings" pitchFamily="2" charset="2"/>
              </a:rPr>
              <a:t>非电解质：酒精、葡萄糖、</a:t>
            </a:r>
            <a:endParaRPr lang="en-US" altLang="zh-CN" sz="3000" dirty="0" smtClean="0">
              <a:sym typeface="Wingdings" pitchFamily="2" charset="2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>
                <a:sym typeface="Wingdings" pitchFamily="2" charset="2"/>
              </a:rPr>
              <a:t>都不是：铜、</a:t>
            </a:r>
            <a:r>
              <a:rPr lang="en-US" altLang="zh-CN" sz="3000" dirty="0" smtClean="0">
                <a:sym typeface="Wingdings" pitchFamily="2" charset="2"/>
              </a:rPr>
              <a:t> </a:t>
            </a:r>
            <a:r>
              <a:rPr lang="en-US" altLang="zh-CN" sz="3000" dirty="0" err="1" smtClean="0">
                <a:sym typeface="Wingdings" pitchFamily="2" charset="2"/>
              </a:rPr>
              <a:t>NaOH</a:t>
            </a:r>
            <a:r>
              <a:rPr lang="en-US" altLang="zh-CN" sz="3000" dirty="0" smtClean="0">
                <a:sym typeface="Wingdings" pitchFamily="2" charset="2"/>
              </a:rPr>
              <a:t>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</a:t>
            </a:r>
            <a:r>
              <a:rPr lang="zh-CN" altLang="en-US" sz="3000" dirty="0" smtClean="0">
                <a:sym typeface="Wingdings" pitchFamily="2" charset="2"/>
              </a:rPr>
              <a:t>、碘酒、石墨</a:t>
            </a:r>
            <a:endParaRPr lang="en-US" altLang="zh-CN" sz="3000" dirty="0" smtClean="0">
              <a:sym typeface="Wingdings" pitchFamily="2" charset="2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</a:t>
            </a:r>
            <a:r>
              <a:rPr lang="zh-CN" altLang="en-US" sz="3000" dirty="0" smtClean="0"/>
              <a:t>（</a:t>
            </a:r>
            <a:r>
              <a:rPr lang="zh-CN" altLang="en-US" sz="3000" b="1" dirty="0" smtClean="0">
                <a:solidFill>
                  <a:srgbClr val="002060"/>
                </a:solidFill>
              </a:rPr>
              <a:t>混合物或单质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）</a:t>
            </a:r>
            <a:endParaRPr lang="en-US" altLang="zh-CN" sz="3000" dirty="0" smtClean="0"/>
          </a:p>
        </p:txBody>
      </p:sp>
      <p:sp>
        <p:nvSpPr>
          <p:cNvPr id="6" name="Rounded Rectangle 5"/>
          <p:cNvSpPr/>
          <p:nvPr/>
        </p:nvSpPr>
        <p:spPr>
          <a:xfrm>
            <a:off x="1752600" y="4114800"/>
            <a:ext cx="1066800" cy="457200"/>
          </a:xfrm>
          <a:prstGeom prst="roundRect">
            <a:avLst/>
          </a:prstGeom>
          <a:solidFill>
            <a:srgbClr val="B381D9"/>
          </a:solidFill>
          <a:ln>
            <a:solidFill>
              <a:srgbClr val="002060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2209800" y="4724400"/>
            <a:ext cx="1066800" cy="457200"/>
          </a:xfrm>
          <a:prstGeom prst="roundRect">
            <a:avLst/>
          </a:prstGeom>
          <a:solidFill>
            <a:srgbClr val="B381D9"/>
          </a:solidFill>
          <a:ln>
            <a:solidFill>
              <a:srgbClr val="002060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505200" y="4724400"/>
            <a:ext cx="1143000" cy="457200"/>
          </a:xfrm>
          <a:prstGeom prst="roundRect">
            <a:avLst/>
          </a:prstGeom>
          <a:solidFill>
            <a:srgbClr val="B381D9"/>
          </a:solidFill>
          <a:ln>
            <a:solidFill>
              <a:srgbClr val="002060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1828800" y="5334000"/>
            <a:ext cx="838200" cy="457200"/>
          </a:xfrm>
          <a:prstGeom prst="roundRect">
            <a:avLst/>
          </a:prstGeom>
          <a:solidFill>
            <a:srgbClr val="B381D9"/>
          </a:solidFill>
          <a:ln>
            <a:solidFill>
              <a:srgbClr val="002060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743200" y="5334000"/>
            <a:ext cx="1600200" cy="457200"/>
          </a:xfrm>
          <a:prstGeom prst="roundRect">
            <a:avLst/>
          </a:prstGeom>
          <a:solidFill>
            <a:srgbClr val="B381D9"/>
          </a:solidFill>
          <a:ln>
            <a:solidFill>
              <a:srgbClr val="002060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2971800" y="4114800"/>
            <a:ext cx="1219200" cy="457200"/>
          </a:xfrm>
          <a:prstGeom prst="roundRect">
            <a:avLst/>
          </a:prstGeom>
          <a:solidFill>
            <a:srgbClr val="B381D9"/>
          </a:solidFill>
          <a:ln>
            <a:solidFill>
              <a:srgbClr val="002060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4495800" y="5334000"/>
            <a:ext cx="1219200" cy="457200"/>
          </a:xfrm>
          <a:prstGeom prst="roundRect">
            <a:avLst/>
          </a:prstGeom>
          <a:solidFill>
            <a:srgbClr val="B381D9"/>
          </a:solidFill>
          <a:ln>
            <a:solidFill>
              <a:srgbClr val="002060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4495800" y="4114800"/>
            <a:ext cx="1219200" cy="457200"/>
          </a:xfrm>
          <a:prstGeom prst="roundRect">
            <a:avLst/>
          </a:prstGeom>
          <a:solidFill>
            <a:srgbClr val="B381D9"/>
          </a:solidFill>
          <a:ln>
            <a:solidFill>
              <a:srgbClr val="002060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5791200" y="5334000"/>
            <a:ext cx="838200" cy="457200"/>
          </a:xfrm>
          <a:prstGeom prst="roundRect">
            <a:avLst/>
          </a:prstGeom>
          <a:solidFill>
            <a:srgbClr val="B381D9"/>
          </a:solidFill>
          <a:ln>
            <a:solidFill>
              <a:srgbClr val="002060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5791200" y="4114800"/>
            <a:ext cx="1371600" cy="457200"/>
          </a:xfrm>
          <a:prstGeom prst="roundRect">
            <a:avLst/>
          </a:prstGeom>
          <a:solidFill>
            <a:srgbClr val="B381D9"/>
          </a:solidFill>
          <a:ln>
            <a:solidFill>
              <a:srgbClr val="002060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22.1.2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溶解</a:t>
            </a:r>
            <a:r>
              <a:rPr lang="zh-CN" altLang="en-US" sz="4800" b="1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平衡原理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u="sng" dirty="0" smtClean="0"/>
              <a:t>观察思考</a:t>
            </a:r>
            <a:r>
              <a:rPr lang="en-US" altLang="zh-CN" sz="3000" u="sng" dirty="0" smtClean="0"/>
              <a:t>pg213</a:t>
            </a:r>
          </a:p>
          <a:p>
            <a:pPr>
              <a:buNone/>
            </a:pPr>
            <a:r>
              <a:rPr lang="zh-CN" altLang="en-US" sz="3000" dirty="0" smtClean="0"/>
              <a:t>在饱和的</a:t>
            </a:r>
            <a:r>
              <a:rPr lang="en-US" altLang="zh-CN" sz="3000" dirty="0" smtClean="0"/>
              <a:t>CuSO</a:t>
            </a:r>
            <a:r>
              <a:rPr lang="en-US" altLang="zh-CN" sz="3000" baseline="-25000" dirty="0" smtClean="0"/>
              <a:t>4</a:t>
            </a:r>
            <a:r>
              <a:rPr lang="zh-CN" altLang="en-US" sz="3000" dirty="0" smtClean="0"/>
              <a:t>溶液中加入</a:t>
            </a:r>
            <a:r>
              <a:rPr lang="en-US" altLang="zh-CN" sz="3000" dirty="0" smtClean="0"/>
              <a:t>CuSO</a:t>
            </a:r>
            <a:r>
              <a:rPr lang="en-US" altLang="zh-CN" sz="3000" baseline="-25000" dirty="0" smtClean="0"/>
              <a:t>4</a:t>
            </a:r>
            <a:r>
              <a:rPr lang="zh-CN" altLang="en-US" sz="3000" dirty="0" smtClean="0"/>
              <a:t>晶体，</a:t>
            </a:r>
            <a:endParaRPr lang="en-US" altLang="zh-CN" sz="3000" dirty="0" smtClean="0"/>
          </a:p>
          <a:p>
            <a:pPr>
              <a:buNone/>
            </a:pPr>
            <a:r>
              <a:rPr lang="zh-CN" altLang="en-US" sz="3000" dirty="0" smtClean="0"/>
              <a:t>溶解和结晶同时进行，且溶解速率与结晶速率相等，</a:t>
            </a:r>
            <a:endParaRPr lang="en-US" altLang="zh-CN" sz="3000" dirty="0" smtClean="0"/>
          </a:p>
          <a:p>
            <a:pPr>
              <a:buNone/>
            </a:pPr>
            <a:r>
              <a:rPr lang="zh-CN" altLang="en-US" sz="3000" dirty="0" smtClean="0"/>
              <a:t>所以</a:t>
            </a:r>
            <a:r>
              <a:rPr lang="en-US" altLang="zh-CN" sz="3000" dirty="0" smtClean="0"/>
              <a:t>CuSO</a:t>
            </a:r>
            <a:r>
              <a:rPr lang="en-US" altLang="zh-CN" sz="3000" baseline="-25000" dirty="0" smtClean="0"/>
              <a:t>4</a:t>
            </a:r>
            <a:r>
              <a:rPr lang="zh-CN" altLang="en-US" sz="3000" dirty="0" smtClean="0"/>
              <a:t>晶体的形状变化，但是其质量保持不变。</a:t>
            </a:r>
            <a:endParaRPr lang="en-US" altLang="zh-CN" sz="3000" dirty="0" smtClean="0"/>
          </a:p>
          <a:p>
            <a:pPr>
              <a:buNone/>
            </a:pPr>
            <a:endParaRPr lang="en-US" altLang="zh-CN" sz="3000" b="1" dirty="0" smtClean="0"/>
          </a:p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b="1" dirty="0" smtClean="0"/>
              <a:t>溶解平衡</a:t>
            </a:r>
            <a:r>
              <a:rPr lang="zh-CN" altLang="en-US" sz="3000" dirty="0" smtClean="0"/>
              <a:t>：在饱和溶液中，溶质溶解的速率和结晶的速率相等时的动态平衡。</a:t>
            </a:r>
            <a:r>
              <a:rPr lang="en-US" altLang="zh-CN" sz="3000" dirty="0" smtClean="0"/>
              <a:t>	</a:t>
            </a:r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22.1.2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溶解</a:t>
            </a:r>
            <a:r>
              <a:rPr lang="zh-CN" altLang="en-US" sz="4800" b="1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平衡原理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难溶电解质：溶解度小于</a:t>
            </a:r>
            <a:r>
              <a:rPr lang="en-US" altLang="zh-CN" sz="3000" dirty="0" smtClean="0"/>
              <a:t>0.01g/100g</a:t>
            </a:r>
            <a:r>
              <a:rPr lang="zh-CN" altLang="en-US" sz="3000" dirty="0" smtClean="0"/>
              <a:t>水的电解质。</a:t>
            </a:r>
            <a:endParaRPr lang="en-US" altLang="zh-CN" sz="3000" dirty="0" smtClean="0"/>
          </a:p>
          <a:p>
            <a:pPr marL="0" indent="0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难溶物在水中仍有少量溶解。</a:t>
            </a:r>
            <a:endParaRPr lang="en-US" altLang="zh-CN" sz="3000" dirty="0" smtClean="0"/>
          </a:p>
          <a:p>
            <a:pPr marL="0" indent="0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难溶电解质的溶解平衡：在一定温度下，难溶电解质溶解的速率和结晶的速率相等时的动态平衡。</a:t>
            </a:r>
            <a:r>
              <a:rPr lang="en-US" altLang="zh-CN" sz="3000" dirty="0" smtClean="0"/>
              <a:t>	</a:t>
            </a:r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22.1.2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溶解</a:t>
            </a:r>
            <a:r>
              <a:rPr lang="zh-CN" altLang="en-US" sz="4800" b="1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平衡原理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溶解平衡常数</a:t>
            </a:r>
            <a:r>
              <a:rPr lang="en-US" altLang="zh-CN" sz="3000" dirty="0" smtClean="0"/>
              <a:t>=</a:t>
            </a:r>
            <a:r>
              <a:rPr lang="zh-CN" altLang="en-US" sz="3000" dirty="0" smtClean="0"/>
              <a:t>难溶电解质的溶度积常数</a:t>
            </a:r>
            <a:r>
              <a:rPr lang="en-US" altLang="zh-CN" sz="3000" dirty="0" smtClean="0"/>
              <a:t>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	</a:t>
            </a:r>
            <a:r>
              <a:rPr lang="en-US" altLang="zh-CN" sz="3000" dirty="0" err="1" smtClean="0"/>
              <a:t>AgCl</a:t>
            </a:r>
            <a:r>
              <a:rPr lang="en-US" altLang="zh-CN" sz="3000" dirty="0" smtClean="0"/>
              <a:t>(s) &lt;--&gt; Ag</a:t>
            </a:r>
            <a:r>
              <a:rPr lang="en-US" altLang="zh-CN" sz="3000" baseline="30000" dirty="0" smtClean="0"/>
              <a:t>+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+ </a:t>
            </a:r>
            <a:r>
              <a:rPr lang="en-US" altLang="zh-CN" sz="3000" dirty="0" err="1" smtClean="0"/>
              <a:t>Cl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=[Ag</a:t>
            </a:r>
            <a:r>
              <a:rPr lang="en-US" altLang="zh-CN" sz="3000" baseline="30000" dirty="0" smtClean="0"/>
              <a:t>+</a:t>
            </a:r>
            <a:r>
              <a:rPr lang="en-US" altLang="zh-CN" sz="3000" dirty="0" smtClean="0"/>
              <a:t>][</a:t>
            </a:r>
            <a:r>
              <a:rPr lang="en-US" altLang="zh-CN" sz="3000" dirty="0" err="1" smtClean="0"/>
              <a:t>Cl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 </a:t>
            </a:r>
          </a:p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溶度积：</a:t>
            </a:r>
            <a:r>
              <a:rPr lang="zh-CN" altLang="en-US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一定温度下</a:t>
            </a:r>
            <a:r>
              <a:rPr lang="zh-CN" altLang="en-US" sz="3000" dirty="0" smtClean="0"/>
              <a:t>，难溶电解质的饱和溶液中各离子浓度幂的乘积。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</a:t>
            </a:r>
            <a:r>
              <a:rPr lang="en-US" altLang="zh-CN" sz="3000" dirty="0" err="1" smtClean="0"/>
              <a:t>A</a:t>
            </a:r>
            <a:r>
              <a:rPr lang="en-US" altLang="zh-CN" sz="3000" baseline="-25000" dirty="0" err="1" smtClean="0"/>
              <a:t>m</a:t>
            </a:r>
            <a:r>
              <a:rPr lang="en-US" altLang="zh-CN" sz="3000" dirty="0" err="1" smtClean="0"/>
              <a:t>B</a:t>
            </a:r>
            <a:r>
              <a:rPr lang="en-US" altLang="zh-CN" sz="3000" baseline="-25000" dirty="0" err="1" smtClean="0"/>
              <a:t>n</a:t>
            </a:r>
            <a:r>
              <a:rPr lang="en-US" altLang="zh-CN" sz="3000" dirty="0" smtClean="0"/>
              <a:t> (s) &lt;--&gt; m A</a:t>
            </a:r>
            <a:r>
              <a:rPr lang="en-US" altLang="zh-CN" sz="3000" baseline="30000" dirty="0" smtClean="0"/>
              <a:t>n+ </a:t>
            </a:r>
            <a:r>
              <a:rPr lang="en-US" altLang="zh-CN" sz="3000" dirty="0" smtClean="0"/>
              <a:t>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+ n </a:t>
            </a:r>
            <a:r>
              <a:rPr lang="en-US" altLang="zh-CN" sz="3000" dirty="0" err="1" smtClean="0"/>
              <a:t>B</a:t>
            </a:r>
            <a:r>
              <a:rPr lang="en-US" altLang="zh-CN" sz="3000" baseline="30000" dirty="0" err="1" smtClean="0"/>
              <a:t>m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=[A</a:t>
            </a:r>
            <a:r>
              <a:rPr lang="en-US" altLang="zh-CN" sz="3000" baseline="30000" dirty="0" smtClean="0"/>
              <a:t>n+</a:t>
            </a:r>
            <a:r>
              <a:rPr lang="en-US" altLang="zh-CN" sz="3000" dirty="0" smtClean="0"/>
              <a:t>]</a:t>
            </a:r>
            <a:r>
              <a:rPr lang="en-US" altLang="zh-CN" sz="3000" baseline="30000" dirty="0" smtClean="0"/>
              <a:t>m</a:t>
            </a:r>
            <a:r>
              <a:rPr lang="en-US" altLang="zh-CN" sz="3000" dirty="0" smtClean="0"/>
              <a:t> [</a:t>
            </a:r>
            <a:r>
              <a:rPr lang="en-US" altLang="zh-CN" sz="3000" dirty="0" err="1" smtClean="0"/>
              <a:t>B</a:t>
            </a:r>
            <a:r>
              <a:rPr lang="en-US" altLang="zh-CN" sz="3000" baseline="30000" dirty="0" err="1" smtClean="0"/>
              <a:t>m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</a:t>
            </a:r>
            <a:r>
              <a:rPr lang="en-US" altLang="zh-CN" sz="3000" baseline="30000" dirty="0" smtClean="0"/>
              <a:t>n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只与难溶电解质的</a:t>
            </a:r>
            <a:r>
              <a:rPr lang="zh-CN" altLang="en-US" sz="3000" b="1" dirty="0" smtClean="0">
                <a:solidFill>
                  <a:srgbClr val="002060"/>
                </a:solidFill>
              </a:rPr>
              <a:t>本性和温度</a:t>
            </a:r>
            <a:r>
              <a:rPr lang="zh-CN" altLang="en-US" sz="3000" dirty="0" smtClean="0"/>
              <a:t>有关。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表</a:t>
            </a:r>
            <a:r>
              <a:rPr lang="en-US" altLang="zh-CN" sz="3000" dirty="0" smtClean="0"/>
              <a:t>22-2 </a:t>
            </a:r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22.1.2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溶解</a:t>
            </a:r>
            <a:r>
              <a:rPr lang="zh-CN" altLang="en-US" sz="4800" b="1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平衡原理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练习：写出下列难溶电解质的平衡常数表达式</a:t>
            </a:r>
            <a:endParaRPr lang="en-US" altLang="zh-CN" sz="3000" dirty="0" smtClean="0"/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zh-CN" altLang="en-US" sz="3000" dirty="0" smtClean="0"/>
              <a:t>碳酸钙</a:t>
            </a:r>
            <a:r>
              <a:rPr lang="en-US" altLang="zh-CN" sz="3000" dirty="0" smtClean="0"/>
              <a:t>	 2. </a:t>
            </a:r>
            <a:r>
              <a:rPr lang="zh-CN" altLang="en-US" sz="3000" dirty="0" smtClean="0"/>
              <a:t>氢氧化镁    </a:t>
            </a:r>
            <a:r>
              <a:rPr lang="en-US" altLang="zh-CN" sz="3000" dirty="0" smtClean="0"/>
              <a:t>3. </a:t>
            </a:r>
            <a:r>
              <a:rPr lang="zh-CN" altLang="en-US" sz="3000" dirty="0" smtClean="0"/>
              <a:t>氢氧化铝</a:t>
            </a:r>
            <a:r>
              <a:rPr lang="en-US" altLang="zh-CN" sz="3000" dirty="0" smtClean="0"/>
              <a:t>	4. </a:t>
            </a:r>
            <a:r>
              <a:rPr lang="zh-CN" altLang="en-US" sz="3000" dirty="0" smtClean="0"/>
              <a:t>磷酸钙</a:t>
            </a:r>
            <a:endParaRPr lang="en-US" altLang="zh-CN" sz="3000" dirty="0" smtClean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 smtClean="0"/>
              <a:t>1.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baseline="-25000" dirty="0" smtClean="0"/>
              <a:t> </a:t>
            </a:r>
            <a:r>
              <a:rPr lang="en-US" altLang="zh-CN" sz="3000" dirty="0" smtClean="0"/>
              <a:t> = [Ca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][CO</a:t>
            </a:r>
            <a:r>
              <a:rPr lang="en-US" altLang="zh-CN" sz="3000" baseline="-25000" dirty="0" smtClean="0"/>
              <a:t>3</a:t>
            </a:r>
            <a:r>
              <a:rPr lang="en-US" altLang="zh-CN" sz="3000" baseline="30000" dirty="0" smtClean="0"/>
              <a:t>2-</a:t>
            </a:r>
            <a:r>
              <a:rPr lang="en-US" altLang="zh-CN" sz="3000" dirty="0" smtClean="0"/>
              <a:t>]</a:t>
            </a:r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 smtClean="0"/>
              <a:t>2.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= [Mg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][OH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</a:t>
            </a:r>
            <a:r>
              <a:rPr lang="en-US" altLang="zh-CN" sz="3000" baseline="30000" dirty="0" smtClean="0"/>
              <a:t>2 </a:t>
            </a:r>
            <a:endParaRPr lang="en-US" altLang="zh-CN" sz="3000" dirty="0" smtClean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 smtClean="0"/>
              <a:t>3.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baseline="-25000" dirty="0" smtClean="0"/>
              <a:t> </a:t>
            </a:r>
            <a:r>
              <a:rPr lang="en-US" altLang="zh-CN" sz="3000" dirty="0" smtClean="0"/>
              <a:t> = [Al</a:t>
            </a:r>
            <a:r>
              <a:rPr lang="en-US" altLang="zh-CN" sz="3000" baseline="30000" dirty="0" smtClean="0"/>
              <a:t>3+</a:t>
            </a:r>
            <a:r>
              <a:rPr lang="en-US" altLang="zh-CN" sz="3000" dirty="0" smtClean="0"/>
              <a:t>][OH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</a:t>
            </a:r>
            <a:r>
              <a:rPr lang="en-US" altLang="zh-CN" sz="3000" baseline="30000" dirty="0" smtClean="0"/>
              <a:t>3</a:t>
            </a:r>
            <a:r>
              <a:rPr lang="en-US" altLang="zh-CN" sz="3000" dirty="0" smtClean="0"/>
              <a:t> </a:t>
            </a:r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 smtClean="0"/>
              <a:t>4.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= [Ca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]</a:t>
            </a:r>
            <a:r>
              <a:rPr lang="en-US" altLang="zh-CN" sz="3000" baseline="30000" dirty="0" smtClean="0"/>
              <a:t>3</a:t>
            </a:r>
            <a:r>
              <a:rPr lang="en-US" altLang="zh-CN" sz="3000" dirty="0" smtClean="0"/>
              <a:t> [PO</a:t>
            </a:r>
            <a:r>
              <a:rPr lang="en-US" altLang="zh-CN" sz="3000" baseline="-25000" dirty="0" smtClean="0"/>
              <a:t>4</a:t>
            </a:r>
            <a:r>
              <a:rPr lang="en-US" altLang="zh-CN" sz="3000" baseline="30000" dirty="0" smtClean="0"/>
              <a:t>3-</a:t>
            </a:r>
            <a:r>
              <a:rPr lang="en-US" altLang="zh-CN" sz="3000" dirty="0" smtClean="0"/>
              <a:t>]</a:t>
            </a:r>
            <a:r>
              <a:rPr lang="en-US" altLang="zh-CN" sz="3000" baseline="30000" dirty="0" smtClean="0"/>
              <a:t>2</a:t>
            </a:r>
            <a:r>
              <a:rPr lang="en-US" altLang="zh-CN" sz="3000" dirty="0" smtClean="0"/>
              <a:t> </a:t>
            </a:r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 smtClean="0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22.1.2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溶解</a:t>
            </a:r>
            <a:r>
              <a:rPr lang="zh-CN" altLang="en-US" sz="4800" b="1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平衡原理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u="sng" dirty="0" smtClean="0"/>
              <a:t>问题解决</a:t>
            </a:r>
            <a:r>
              <a:rPr lang="en-US" altLang="zh-CN" sz="3000" u="sng" dirty="0" smtClean="0"/>
              <a:t>pg215</a:t>
            </a:r>
          </a:p>
          <a:p>
            <a:pPr>
              <a:buNone/>
            </a:pPr>
            <a:r>
              <a:rPr lang="zh-CN" altLang="en-US" sz="3000" dirty="0" smtClean="0"/>
              <a:t>（</a:t>
            </a:r>
            <a:r>
              <a:rPr lang="en-US" altLang="zh-CN" sz="3000" dirty="0" smtClean="0"/>
              <a:t>1</a:t>
            </a:r>
            <a:r>
              <a:rPr lang="zh-CN" altLang="en-US" sz="3000" dirty="0" smtClean="0"/>
              <a:t>）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baseline="-25000" dirty="0" smtClean="0"/>
              <a:t> </a:t>
            </a:r>
            <a:r>
              <a:rPr lang="en-US" altLang="zh-CN" sz="3000" dirty="0" smtClean="0"/>
              <a:t> = [Ca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][CO</a:t>
            </a:r>
            <a:r>
              <a:rPr lang="en-US" altLang="zh-CN" sz="3000" baseline="-25000" dirty="0" smtClean="0"/>
              <a:t>3</a:t>
            </a:r>
            <a:r>
              <a:rPr lang="en-US" altLang="zh-CN" sz="3000" baseline="30000" dirty="0" smtClean="0"/>
              <a:t>2-</a:t>
            </a:r>
            <a:r>
              <a:rPr lang="en-US" altLang="zh-CN" sz="3000" dirty="0" smtClean="0"/>
              <a:t>] </a:t>
            </a:r>
          </a:p>
          <a:p>
            <a:pPr>
              <a:buNone/>
            </a:pPr>
            <a:r>
              <a:rPr lang="zh-CN" altLang="en-US" sz="3000" dirty="0" smtClean="0"/>
              <a:t>（</a:t>
            </a:r>
            <a:r>
              <a:rPr lang="en-US" altLang="zh-CN" sz="3000" dirty="0" smtClean="0"/>
              <a:t>2</a:t>
            </a:r>
            <a:r>
              <a:rPr lang="zh-CN" altLang="en-US" sz="3000" dirty="0" smtClean="0"/>
              <a:t>） 没有停止，溶解和沉淀都在进行，且两者速率相等，处于溶解平衡状态。</a:t>
            </a:r>
            <a:endParaRPr lang="en-US" altLang="zh-CN" sz="3000" dirty="0" smtClean="0"/>
          </a:p>
          <a:p>
            <a:pPr>
              <a:buNone/>
            </a:pPr>
            <a:r>
              <a:rPr lang="zh-CN" altLang="en-US" sz="3000" dirty="0" smtClean="0"/>
              <a:t>（</a:t>
            </a:r>
            <a:r>
              <a:rPr lang="en-US" altLang="zh-CN" sz="3000" dirty="0" smtClean="0"/>
              <a:t>3</a:t>
            </a:r>
            <a:r>
              <a:rPr lang="zh-CN" altLang="en-US" sz="3000" dirty="0" smtClean="0"/>
              <a:t>） 加热、加水、加稀盐酸。</a:t>
            </a:r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 smtClean="0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22.1.3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溶度积与溶解度的关系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表示物质溶解能力的大小：溶解度、溶度积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溶解度一般用于表示易溶物质的溶解能力。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溶度积一般用于表示难溶物质的溶解能力。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难溶电解质饱和溶液物质的量浓度可视为其溶解度。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难溶电解质的溶解度符号</a:t>
            </a:r>
            <a:r>
              <a:rPr lang="en-US" altLang="zh-CN" sz="3000" dirty="0" smtClean="0"/>
              <a:t>s</a:t>
            </a:r>
            <a:r>
              <a:rPr lang="zh-CN" altLang="en-US" sz="3000" dirty="0" smtClean="0"/>
              <a:t>，单位</a:t>
            </a:r>
            <a:r>
              <a:rPr lang="en-US" altLang="zh-CN" sz="3000" dirty="0" smtClean="0"/>
              <a:t>mol/L</a:t>
            </a:r>
            <a:r>
              <a:rPr lang="zh-CN" altLang="en-US" sz="3000" dirty="0" smtClean="0"/>
              <a:t>。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其饱和溶液浓度极稀，可视为</a:t>
            </a:r>
            <a:r>
              <a:rPr lang="en-US" altLang="zh-CN" sz="3000" dirty="0" smtClean="0"/>
              <a:t>1L</a:t>
            </a:r>
            <a:r>
              <a:rPr lang="zh-CN" altLang="en-US" sz="3000" dirty="0" smtClean="0"/>
              <a:t>水</a:t>
            </a:r>
            <a:r>
              <a:rPr lang="en-US" altLang="zh-CN" sz="3000" dirty="0" smtClean="0"/>
              <a:t>(1000g</a:t>
            </a:r>
            <a:r>
              <a:rPr lang="zh-CN" altLang="en-US" sz="3000" dirty="0" smtClean="0"/>
              <a:t>水</a:t>
            </a:r>
            <a:r>
              <a:rPr lang="en-US" altLang="zh-CN" sz="3000" dirty="0" smtClean="0"/>
              <a:t>)</a:t>
            </a:r>
            <a:r>
              <a:rPr lang="zh-CN" altLang="en-US" sz="3000" dirty="0" smtClean="0"/>
              <a:t>可溶解溶质的摩尔数。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3000" dirty="0" smtClean="0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22.1.3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溶度积与溶解度的关系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en-US" altLang="zh-CN" sz="3000" dirty="0" smtClean="0"/>
              <a:t>AB</a:t>
            </a:r>
            <a:r>
              <a:rPr lang="zh-CN" altLang="en-US" sz="3000" dirty="0" smtClean="0"/>
              <a:t>型难溶电解质，如</a:t>
            </a:r>
            <a:r>
              <a:rPr lang="en-US" altLang="zh-CN" sz="3000" dirty="0" err="1" smtClean="0"/>
              <a:t>AgCl</a:t>
            </a:r>
            <a:r>
              <a:rPr lang="zh-CN" altLang="en-US" sz="3000" dirty="0" smtClean="0"/>
              <a:t>、</a:t>
            </a:r>
            <a:r>
              <a:rPr lang="en-US" altLang="zh-CN" sz="3000" dirty="0" smtClean="0"/>
              <a:t>CaCO</a:t>
            </a:r>
            <a:r>
              <a:rPr lang="en-US" altLang="zh-CN" sz="3000" baseline="-25000" dirty="0" smtClean="0"/>
              <a:t>3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  </a:t>
            </a:r>
            <a:r>
              <a:rPr lang="en-US" altLang="zh-CN" sz="3000" dirty="0" err="1" smtClean="0"/>
              <a:t>AgCl</a:t>
            </a:r>
            <a:r>
              <a:rPr lang="en-US" altLang="zh-CN" sz="3000" dirty="0" smtClean="0"/>
              <a:t>(s) &lt;--&gt; Ag</a:t>
            </a:r>
            <a:r>
              <a:rPr lang="en-US" altLang="zh-CN" sz="3000" baseline="30000" dirty="0" smtClean="0"/>
              <a:t>+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+ </a:t>
            </a:r>
            <a:r>
              <a:rPr lang="en-US" altLang="zh-CN" sz="3000" dirty="0" err="1" smtClean="0"/>
              <a:t>Cl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mol/L	 		    s		</a:t>
            </a:r>
            <a:r>
              <a:rPr lang="en-US" altLang="zh-CN" sz="3000" dirty="0" err="1" smtClean="0"/>
              <a:t>s</a:t>
            </a:r>
            <a:r>
              <a:rPr lang="en-US" altLang="zh-CN" sz="3000" dirty="0" smtClean="0"/>
              <a:t>			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   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= [Ag</a:t>
            </a:r>
            <a:r>
              <a:rPr lang="en-US" altLang="zh-CN" sz="3000" baseline="30000" dirty="0" smtClean="0"/>
              <a:t>+</a:t>
            </a:r>
            <a:r>
              <a:rPr lang="en-US" altLang="zh-CN" sz="3000" dirty="0" smtClean="0"/>
              <a:t>][</a:t>
            </a:r>
            <a:r>
              <a:rPr lang="en-US" altLang="zh-CN" sz="3000" dirty="0" err="1" smtClean="0"/>
              <a:t>Cl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	= s</a:t>
            </a:r>
            <a:r>
              <a:rPr lang="en-US" altLang="zh-CN" sz="3000" baseline="30000" dirty="0" smtClean="0"/>
              <a:t>2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baseline="30000" dirty="0" smtClean="0"/>
              <a:t> 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则 </a:t>
            </a:r>
            <a:r>
              <a:rPr lang="en-US" altLang="zh-CN" sz="3000" dirty="0" smtClean="0"/>
              <a:t>	s = </a:t>
            </a:r>
          </a:p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</a:t>
            </a:r>
          </a:p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3000" dirty="0" smtClean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057400" y="3962400"/>
          <a:ext cx="917864" cy="673100"/>
        </p:xfrm>
        <a:graphic>
          <a:graphicData uri="http://schemas.openxmlformats.org/presentationml/2006/ole">
            <p:oleObj spid="_x0000_s1026" name="Equation" r:id="rId4" imgW="380880" imgH="279360" progId="Equation.3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22.1.3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溶度积与溶解度的关系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en-US" altLang="zh-CN" sz="3000" dirty="0" smtClean="0"/>
              <a:t>AB</a:t>
            </a:r>
            <a:r>
              <a:rPr lang="en-US" altLang="zh-CN" sz="3000" baseline="-25000" dirty="0" smtClean="0"/>
              <a:t>2</a:t>
            </a:r>
            <a:r>
              <a:rPr lang="zh-CN" altLang="en-US" sz="3000" dirty="0" smtClean="0"/>
              <a:t>型难溶电解质，如</a:t>
            </a:r>
            <a:r>
              <a:rPr lang="en-US" altLang="zh-CN" sz="3000" dirty="0" smtClean="0"/>
              <a:t>Mg(OH)</a:t>
            </a:r>
            <a:r>
              <a:rPr lang="en-US" altLang="zh-CN" sz="3000" baseline="-25000" dirty="0" smtClean="0"/>
              <a:t>2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  Mg(OH)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(s) &lt;--&gt; Mg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+ 2OH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mol/L	 			    s		2s		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   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= [Mg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][OH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</a:t>
            </a:r>
            <a:r>
              <a:rPr lang="en-US" altLang="zh-CN" sz="3000" baseline="30000" dirty="0" smtClean="0"/>
              <a:t>2 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	= s</a:t>
            </a:r>
            <a:r>
              <a:rPr lang="en-US" altLang="zh-CN" sz="3000" baseline="30000" dirty="0" smtClean="0"/>
              <a:t> </a:t>
            </a:r>
            <a:r>
              <a:rPr lang="en-US" altLang="zh-CN" sz="3000" dirty="0" smtClean="0"/>
              <a:t> (2s)</a:t>
            </a:r>
            <a:r>
              <a:rPr lang="en-US" altLang="zh-CN" sz="3000" baseline="30000" dirty="0" smtClean="0"/>
              <a:t>2 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baseline="30000" dirty="0" smtClean="0"/>
              <a:t>			</a:t>
            </a:r>
            <a:r>
              <a:rPr lang="en-US" altLang="zh-CN" sz="3000" dirty="0" smtClean="0"/>
              <a:t>= 4s</a:t>
            </a:r>
            <a:r>
              <a:rPr lang="en-US" altLang="zh-CN" sz="3000" baseline="30000" dirty="0" smtClean="0"/>
              <a:t>3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baseline="30000" dirty="0" smtClean="0"/>
              <a:t> 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则 </a:t>
            </a:r>
            <a:r>
              <a:rPr lang="en-US" altLang="zh-CN" sz="3000" dirty="0" smtClean="0"/>
              <a:t>	s = 	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981200" y="4495800"/>
          <a:ext cx="948266" cy="1066800"/>
        </p:xfrm>
        <a:graphic>
          <a:graphicData uri="http://schemas.openxmlformats.org/presentationml/2006/ole">
            <p:oleObj spid="_x0000_s2050" name="Equation" r:id="rId4" imgW="406080" imgH="457200" progId="Equation.3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22.1.3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溶度积与溶解度的关系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en-US" altLang="zh-CN" sz="3000" dirty="0" smtClean="0"/>
              <a:t>AB</a:t>
            </a:r>
            <a:r>
              <a:rPr lang="en-US" altLang="zh-CN" sz="3000" baseline="-25000" dirty="0" smtClean="0"/>
              <a:t>3</a:t>
            </a:r>
            <a:r>
              <a:rPr lang="zh-CN" altLang="en-US" sz="3000" dirty="0" smtClean="0"/>
              <a:t>型难溶电解质，如</a:t>
            </a:r>
            <a:r>
              <a:rPr lang="en-US" altLang="zh-CN" sz="3000" dirty="0" smtClean="0"/>
              <a:t>Al(OH)</a:t>
            </a:r>
            <a:r>
              <a:rPr lang="en-US" altLang="zh-CN" sz="3000" baseline="-25000" dirty="0" smtClean="0"/>
              <a:t>3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  Al(OH)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(s) &lt;--&gt; Al</a:t>
            </a:r>
            <a:r>
              <a:rPr lang="en-US" altLang="zh-CN" sz="3000" baseline="30000" dirty="0" smtClean="0"/>
              <a:t>3+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+ 3OH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mol/L	 			    s		3s		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   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= [Al</a:t>
            </a:r>
            <a:r>
              <a:rPr lang="en-US" altLang="zh-CN" sz="3000" baseline="30000" dirty="0" smtClean="0"/>
              <a:t>3+</a:t>
            </a:r>
            <a:r>
              <a:rPr lang="en-US" altLang="zh-CN" sz="3000" dirty="0" smtClean="0"/>
              <a:t>][OH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</a:t>
            </a:r>
            <a:r>
              <a:rPr lang="en-US" altLang="zh-CN" sz="3000" baseline="30000" dirty="0" smtClean="0"/>
              <a:t>3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	= s</a:t>
            </a:r>
            <a:r>
              <a:rPr lang="en-US" altLang="zh-CN" sz="3000" baseline="30000" dirty="0" smtClean="0"/>
              <a:t> </a:t>
            </a:r>
            <a:r>
              <a:rPr lang="en-US" altLang="zh-CN" sz="3000" dirty="0" smtClean="0"/>
              <a:t> (3s)</a:t>
            </a:r>
            <a:r>
              <a:rPr lang="en-US" altLang="zh-CN" sz="3000" baseline="30000" dirty="0" smtClean="0"/>
              <a:t>3 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baseline="30000" dirty="0" smtClean="0"/>
              <a:t>			</a:t>
            </a:r>
            <a:r>
              <a:rPr lang="en-US" altLang="zh-CN" sz="3000" dirty="0" smtClean="0"/>
              <a:t>= 27s</a:t>
            </a:r>
            <a:r>
              <a:rPr lang="en-US" altLang="zh-CN" sz="3000" baseline="30000" dirty="0" smtClean="0"/>
              <a:t>4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baseline="30000" dirty="0" smtClean="0"/>
              <a:t> 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则 </a:t>
            </a:r>
            <a:r>
              <a:rPr lang="en-US" altLang="zh-CN" sz="3000" dirty="0" smtClean="0"/>
              <a:t>	s = 	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981200" y="4495800"/>
          <a:ext cx="948266" cy="1066800"/>
        </p:xfrm>
        <a:graphic>
          <a:graphicData uri="http://schemas.openxmlformats.org/presentationml/2006/ole">
            <p:oleObj spid="_x0000_s3074" name="Equation" r:id="rId4" imgW="406080" imgH="457200" progId="Equation.3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22.1.3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溶度积与溶解度的关系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en-US" altLang="zh-CN" sz="3000" dirty="0" smtClean="0"/>
              <a:t>A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B</a:t>
            </a:r>
            <a:r>
              <a:rPr lang="en-US" altLang="zh-CN" sz="3000" baseline="-25000" dirty="0" smtClean="0"/>
              <a:t>2</a:t>
            </a:r>
            <a:r>
              <a:rPr lang="zh-CN" altLang="en-US" sz="3000" dirty="0" smtClean="0"/>
              <a:t>型难溶电解质，如</a:t>
            </a:r>
            <a:r>
              <a:rPr lang="en-US" altLang="zh-CN" sz="3000" dirty="0" smtClean="0"/>
              <a:t>Ca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(PO</a:t>
            </a:r>
            <a:r>
              <a:rPr lang="en-US" altLang="zh-CN" sz="3000" baseline="-25000" dirty="0" smtClean="0"/>
              <a:t>4</a:t>
            </a:r>
            <a:r>
              <a:rPr lang="en-US" altLang="zh-CN" sz="3000" dirty="0" smtClean="0"/>
              <a:t>)</a:t>
            </a:r>
            <a:r>
              <a:rPr lang="en-US" altLang="zh-CN" sz="3000" baseline="-25000" dirty="0" smtClean="0"/>
              <a:t>2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  Ca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(PO</a:t>
            </a:r>
            <a:r>
              <a:rPr lang="en-US" altLang="zh-CN" sz="3000" baseline="-25000" dirty="0" smtClean="0"/>
              <a:t>4</a:t>
            </a:r>
            <a:r>
              <a:rPr lang="en-US" altLang="zh-CN" sz="3000" dirty="0" smtClean="0"/>
              <a:t>)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(s) &lt;--&gt; 3Ca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+ 2PO</a:t>
            </a:r>
            <a:r>
              <a:rPr lang="en-US" altLang="zh-CN" sz="3000" baseline="-25000" dirty="0" smtClean="0"/>
              <a:t>4</a:t>
            </a:r>
            <a:r>
              <a:rPr lang="en-US" altLang="zh-CN" sz="3000" baseline="30000" dirty="0" smtClean="0"/>
              <a:t>3-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mol/L	 			    3s		2s		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   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= [Ca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]</a:t>
            </a:r>
            <a:r>
              <a:rPr lang="en-US" altLang="zh-CN" sz="3000" baseline="30000" dirty="0" smtClean="0"/>
              <a:t>3</a:t>
            </a:r>
            <a:r>
              <a:rPr lang="en-US" altLang="zh-CN" sz="3000" dirty="0" smtClean="0"/>
              <a:t> [PO</a:t>
            </a:r>
            <a:r>
              <a:rPr lang="en-US" altLang="zh-CN" sz="3000" baseline="-25000" dirty="0" smtClean="0"/>
              <a:t>4</a:t>
            </a:r>
            <a:r>
              <a:rPr lang="en-US" altLang="zh-CN" sz="3000" baseline="30000" dirty="0" smtClean="0"/>
              <a:t>3-</a:t>
            </a:r>
            <a:r>
              <a:rPr lang="en-US" altLang="zh-CN" sz="3000" dirty="0" smtClean="0"/>
              <a:t>]</a:t>
            </a:r>
            <a:r>
              <a:rPr lang="en-US" altLang="zh-CN" sz="3000" baseline="30000" dirty="0" smtClean="0"/>
              <a:t>2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	= (3s)</a:t>
            </a:r>
            <a:r>
              <a:rPr lang="en-US" altLang="zh-CN" sz="3000" baseline="30000" dirty="0" smtClean="0"/>
              <a:t>3 </a:t>
            </a:r>
            <a:r>
              <a:rPr lang="en-US" altLang="zh-CN" sz="3000" dirty="0" smtClean="0"/>
              <a:t> (2s)</a:t>
            </a:r>
            <a:r>
              <a:rPr lang="en-US" altLang="zh-CN" sz="3000" baseline="30000" dirty="0" smtClean="0"/>
              <a:t>2 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baseline="30000" dirty="0" smtClean="0"/>
              <a:t>			</a:t>
            </a:r>
            <a:r>
              <a:rPr lang="en-US" altLang="zh-CN" sz="3000" dirty="0" smtClean="0"/>
              <a:t>= 108s</a:t>
            </a:r>
            <a:r>
              <a:rPr lang="en-US" altLang="zh-CN" sz="3000" baseline="30000" dirty="0" smtClean="0"/>
              <a:t>5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baseline="30000" dirty="0" smtClean="0"/>
              <a:t> 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则 </a:t>
            </a:r>
            <a:r>
              <a:rPr lang="en-US" altLang="zh-CN" sz="3000" dirty="0" smtClean="0"/>
              <a:t>	s = 	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981200" y="4495800"/>
          <a:ext cx="948266" cy="1066800"/>
        </p:xfrm>
        <a:graphic>
          <a:graphicData uri="http://schemas.openxmlformats.org/presentationml/2006/ole">
            <p:oleObj spid="_x0000_s4098" name="Equation" r:id="rId4" imgW="406080" imgH="457200" progId="Equation.3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22.1.3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溶度积与溶解度的关系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同类型的难溶电解质，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baseline="-25000" dirty="0" smtClean="0"/>
              <a:t> 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越小，其在水中的溶解度也越小。</a:t>
            </a:r>
            <a:endParaRPr lang="en-US" altLang="zh-CN" sz="3000" dirty="0" smtClean="0"/>
          </a:p>
          <a:p>
            <a:pPr marL="0" indent="0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不同类的难溶电解质，溶解度大小不能通过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baseline="-25000" dirty="0" smtClean="0"/>
              <a:t> 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直接比较。</a:t>
            </a:r>
            <a:endParaRPr lang="en-US" altLang="zh-CN" sz="3000" dirty="0" smtClean="0"/>
          </a:p>
          <a:p>
            <a:pPr marL="0" indent="0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baseline="-25000" dirty="0" smtClean="0"/>
              <a:t> 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与 </a:t>
            </a:r>
            <a:r>
              <a:rPr lang="en-US" altLang="zh-CN" sz="3000" dirty="0" smtClean="0"/>
              <a:t>s</a:t>
            </a:r>
            <a:r>
              <a:rPr lang="zh-CN" altLang="en-US" sz="3000" dirty="0" smtClean="0"/>
              <a:t>之间的相互换算条件：</a:t>
            </a:r>
            <a:endParaRPr lang="en-US" altLang="zh-CN" sz="3000" dirty="0" smtClean="0"/>
          </a:p>
          <a:p>
            <a:pPr marL="400050" lvl="1" indent="0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dirty="0" smtClean="0"/>
              <a:t>只适用于溶解度很小的难溶电解质</a:t>
            </a:r>
            <a:endParaRPr lang="en-US" altLang="zh-CN" dirty="0" smtClean="0"/>
          </a:p>
          <a:p>
            <a:pPr marL="400050" lvl="1" indent="0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dirty="0" smtClean="0"/>
              <a:t>只有当难溶电解质溶解部分完全电离时才有效。</a:t>
            </a:r>
            <a:endParaRPr lang="en-US" altLang="zh-CN" dirty="0" smtClean="0"/>
          </a:p>
          <a:p>
            <a:pPr marL="0" indent="0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3000" dirty="0" smtClean="0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22.1.3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溶度积与溶解度的关系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例</a:t>
            </a:r>
            <a:r>
              <a:rPr lang="en-US" altLang="zh-CN" sz="3000" dirty="0" smtClean="0"/>
              <a:t>1</a:t>
            </a:r>
            <a:r>
              <a:rPr lang="zh-CN" altLang="en-US" sz="3000" dirty="0" smtClean="0"/>
              <a:t>：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[Mg(OH)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]= 5.61x10</a:t>
            </a:r>
            <a:r>
              <a:rPr lang="en-US" altLang="zh-CN" sz="3000" baseline="30000" dirty="0" smtClean="0"/>
              <a:t>-12</a:t>
            </a:r>
            <a:r>
              <a:rPr lang="en-US" altLang="zh-CN" sz="3000" dirty="0" smtClean="0"/>
              <a:t>     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M[Mg(OH)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]=58g/mol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公式： </a:t>
            </a:r>
            <a:r>
              <a:rPr lang="en-US" altLang="zh-CN" sz="3000" dirty="0" smtClean="0"/>
              <a:t>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= 4s</a:t>
            </a:r>
            <a:r>
              <a:rPr lang="en-US" altLang="zh-CN" sz="3000" baseline="30000" dirty="0" smtClean="0"/>
              <a:t>3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baseline="30000" dirty="0" smtClean="0"/>
              <a:t> 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则 </a:t>
            </a:r>
            <a:r>
              <a:rPr lang="en-US" altLang="zh-CN" sz="3000" dirty="0" smtClean="0"/>
              <a:t>	s = 		=		         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	= 1.12x10</a:t>
            </a:r>
            <a:r>
              <a:rPr lang="en-US" altLang="zh-CN" sz="3000" baseline="30000" dirty="0" smtClean="0"/>
              <a:t>-4</a:t>
            </a:r>
            <a:r>
              <a:rPr lang="en-US" altLang="zh-CN" sz="3000" dirty="0" smtClean="0"/>
              <a:t> mol/L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1.12 x10</a:t>
            </a:r>
            <a:r>
              <a:rPr lang="en-US" altLang="zh-CN" sz="3000" baseline="30000" dirty="0" smtClean="0"/>
              <a:t>-5</a:t>
            </a:r>
            <a:r>
              <a:rPr lang="en-US" altLang="zh-CN" sz="3000" dirty="0" smtClean="0"/>
              <a:t> mol/100g</a:t>
            </a:r>
            <a:r>
              <a:rPr lang="zh-CN" altLang="en-US" sz="3000" dirty="0" smtClean="0"/>
              <a:t>水</a:t>
            </a:r>
            <a:r>
              <a:rPr lang="en-US" altLang="zh-CN" sz="3000" dirty="0" smtClean="0"/>
              <a:t> x 58g/mol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= 6.50x10</a:t>
            </a:r>
            <a:r>
              <a:rPr lang="en-US" altLang="zh-CN" sz="3000" baseline="30000" dirty="0" smtClean="0"/>
              <a:t>-4</a:t>
            </a:r>
            <a:r>
              <a:rPr lang="en-US" altLang="zh-CN" sz="3000" dirty="0" smtClean="0"/>
              <a:t> g/100g</a:t>
            </a:r>
            <a:r>
              <a:rPr lang="zh-CN" altLang="en-US" sz="3000" dirty="0" smtClean="0"/>
              <a:t>水</a:t>
            </a:r>
            <a:endParaRPr lang="en-US" altLang="zh-CN" sz="3000" dirty="0" smtClean="0"/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2100262" y="2743200"/>
          <a:ext cx="947738" cy="1066800"/>
        </p:xfrm>
        <a:graphic>
          <a:graphicData uri="http://schemas.openxmlformats.org/presentationml/2006/ole">
            <p:oleObj spid="_x0000_s6148" name="Equation" r:id="rId4" imgW="406080" imgH="457200" progId="Equation.3">
              <p:embed/>
            </p:oleObj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3611562" y="2743200"/>
          <a:ext cx="2103438" cy="1066800"/>
        </p:xfrm>
        <a:graphic>
          <a:graphicData uri="http://schemas.openxmlformats.org/presentationml/2006/ole">
            <p:oleObj spid="_x0000_s6149" name="Equation" r:id="rId5" imgW="901440" imgH="457200" progId="Equation.3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22.1.3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溶度积与溶解度的关系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990600"/>
            <a:ext cx="88392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例</a:t>
            </a:r>
            <a:r>
              <a:rPr lang="en-US" altLang="zh-CN" sz="3000" dirty="0" smtClean="0"/>
              <a:t>2:	s(BaSO</a:t>
            </a:r>
            <a:r>
              <a:rPr lang="en-US" altLang="zh-CN" sz="3000" baseline="-25000" dirty="0" smtClean="0"/>
              <a:t>4</a:t>
            </a:r>
            <a:r>
              <a:rPr lang="en-US" altLang="zh-CN" sz="3000" dirty="0" smtClean="0"/>
              <a:t>)= 2.42x10</a:t>
            </a:r>
            <a:r>
              <a:rPr lang="en-US" altLang="zh-CN" sz="3000" baseline="30000" dirty="0" smtClean="0"/>
              <a:t>-4</a:t>
            </a:r>
            <a:r>
              <a:rPr lang="en-US" altLang="zh-CN" sz="3000" dirty="0" smtClean="0"/>
              <a:t> g/100g</a:t>
            </a:r>
            <a:r>
              <a:rPr lang="zh-CN" altLang="en-US" sz="3000" dirty="0" smtClean="0"/>
              <a:t>水</a:t>
            </a:r>
            <a:r>
              <a:rPr lang="en-US" altLang="zh-CN" sz="3000" dirty="0" smtClean="0"/>
              <a:t> 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M(BaSO</a:t>
            </a:r>
            <a:r>
              <a:rPr lang="en-US" altLang="zh-CN" sz="3000" baseline="-25000" dirty="0" smtClean="0"/>
              <a:t>4</a:t>
            </a:r>
            <a:r>
              <a:rPr lang="en-US" altLang="zh-CN" sz="3000" dirty="0" smtClean="0"/>
              <a:t>)=233g/mol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[BaSO</a:t>
            </a:r>
            <a:r>
              <a:rPr lang="en-US" altLang="zh-CN" sz="3000" baseline="-25000" dirty="0" smtClean="0"/>
              <a:t>4</a:t>
            </a:r>
            <a:r>
              <a:rPr lang="en-US" altLang="zh-CN" sz="3000" dirty="0" smtClean="0"/>
              <a:t>]= 			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   = 1.04 x 10</a:t>
            </a:r>
            <a:r>
              <a:rPr lang="en-US" altLang="zh-CN" sz="3000" baseline="30000" dirty="0" smtClean="0"/>
              <a:t>-5</a:t>
            </a:r>
            <a:r>
              <a:rPr lang="en-US" altLang="zh-CN" sz="3000" dirty="0" smtClean="0"/>
              <a:t> mol/L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公式： </a:t>
            </a:r>
            <a:r>
              <a:rPr lang="en-US" altLang="zh-CN" sz="3000" dirty="0" smtClean="0"/>
              <a:t>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= s</a:t>
            </a:r>
            <a:r>
              <a:rPr lang="en-US" altLang="zh-CN" sz="3000" baseline="30000" dirty="0" smtClean="0"/>
              <a:t>2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= (1.04 x 10</a:t>
            </a:r>
            <a:r>
              <a:rPr lang="en-US" altLang="zh-CN" sz="3000" baseline="30000" dirty="0" smtClean="0"/>
              <a:t>-5</a:t>
            </a:r>
            <a:r>
              <a:rPr lang="en-US" altLang="zh-CN" sz="3000" dirty="0" smtClean="0"/>
              <a:t> )</a:t>
            </a:r>
            <a:r>
              <a:rPr lang="en-US" altLang="zh-CN" sz="3000" baseline="30000" dirty="0" smtClean="0"/>
              <a:t>2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= 1.08 x10</a:t>
            </a:r>
            <a:r>
              <a:rPr lang="en-US" altLang="zh-CN" sz="3000" baseline="30000" dirty="0" smtClean="0"/>
              <a:t>-10</a:t>
            </a:r>
            <a:r>
              <a:rPr lang="en-US" altLang="zh-CN" sz="3000" dirty="0" smtClean="0"/>
              <a:t> 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362200" y="2209800"/>
          <a:ext cx="1714500" cy="1272886"/>
        </p:xfrm>
        <a:graphic>
          <a:graphicData uri="http://schemas.openxmlformats.org/presentationml/2006/ole">
            <p:oleObj spid="_x0000_s7172" name="Equation" r:id="rId4" imgW="838080" imgH="622080" progId="Equation.3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思考题</a:t>
            </a:r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22b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1</a:t>
            </a:r>
            <a:r>
              <a:rPr lang="zh-CN" altLang="en-US" sz="3000" dirty="0" smtClean="0"/>
              <a:t>：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[Ag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CO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]= 8.10x10</a:t>
            </a:r>
            <a:r>
              <a:rPr lang="en-US" altLang="zh-CN" sz="3000" baseline="30000" dirty="0" smtClean="0"/>
              <a:t>-12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公式： </a:t>
            </a:r>
            <a:r>
              <a:rPr lang="en-US" altLang="zh-CN" sz="3000" dirty="0" smtClean="0"/>
              <a:t>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= 4s</a:t>
            </a:r>
            <a:r>
              <a:rPr lang="en-US" altLang="zh-CN" sz="3000" baseline="30000" dirty="0" smtClean="0"/>
              <a:t>3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baseline="30000" dirty="0" smtClean="0"/>
              <a:t> 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则 </a:t>
            </a:r>
            <a:r>
              <a:rPr lang="en-US" altLang="zh-CN" sz="3000" dirty="0" smtClean="0"/>
              <a:t>	s = 		=		        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	= 1.27x10</a:t>
            </a:r>
            <a:r>
              <a:rPr lang="en-US" altLang="zh-CN" sz="3000" baseline="30000" dirty="0" smtClean="0"/>
              <a:t>-4</a:t>
            </a:r>
            <a:r>
              <a:rPr lang="en-US" altLang="zh-CN" sz="3000" dirty="0" smtClean="0"/>
              <a:t> mol/L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2. M(PbSO</a:t>
            </a:r>
            <a:r>
              <a:rPr lang="en-US" altLang="zh-CN" sz="3000" baseline="-25000" dirty="0" smtClean="0"/>
              <a:t>4</a:t>
            </a:r>
            <a:r>
              <a:rPr lang="en-US" altLang="zh-CN" sz="3000" dirty="0" smtClean="0"/>
              <a:t>)= 303gmol</a:t>
            </a:r>
            <a:r>
              <a:rPr lang="en-US" altLang="zh-CN" sz="3000" baseline="30000" dirty="0" smtClean="0"/>
              <a:t>-1 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 s= </a:t>
            </a:r>
            <a:r>
              <a:rPr lang="en-US" altLang="zh-CN" sz="3000" baseline="30000" dirty="0" smtClean="0"/>
              <a:t>			</a:t>
            </a:r>
            <a:r>
              <a:rPr lang="en-US" altLang="zh-CN" sz="3000" dirty="0" smtClean="0"/>
              <a:t>  = 1.16x10</a:t>
            </a:r>
            <a:r>
              <a:rPr lang="en-US" altLang="zh-CN" sz="3000" baseline="30000" dirty="0" smtClean="0"/>
              <a:t>-4</a:t>
            </a:r>
            <a:r>
              <a:rPr lang="en-US" altLang="zh-CN" sz="3000" dirty="0" smtClean="0"/>
              <a:t>mol/L 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= s</a:t>
            </a:r>
            <a:r>
              <a:rPr lang="en-US" altLang="zh-CN" sz="3000" baseline="30000" dirty="0" smtClean="0"/>
              <a:t>2</a:t>
            </a:r>
            <a:r>
              <a:rPr lang="en-US" altLang="zh-CN" sz="3000" dirty="0" smtClean="0"/>
              <a:t> = (1.16x10</a:t>
            </a:r>
            <a:r>
              <a:rPr lang="en-US" altLang="zh-CN" sz="3000" baseline="30000" dirty="0" smtClean="0"/>
              <a:t>-4</a:t>
            </a:r>
            <a:r>
              <a:rPr lang="en-US" altLang="zh-CN" sz="3000" dirty="0" smtClean="0"/>
              <a:t> )</a:t>
            </a:r>
            <a:r>
              <a:rPr lang="en-US" altLang="zh-CN" sz="3000" baseline="30000" dirty="0" smtClean="0"/>
              <a:t>2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   = 1.35x10</a:t>
            </a:r>
            <a:r>
              <a:rPr lang="en-US" altLang="zh-CN" sz="3000" baseline="30000" dirty="0" smtClean="0"/>
              <a:t>-8</a:t>
            </a:r>
            <a:endParaRPr lang="en-US" altLang="zh-CN" sz="3000" dirty="0" smtClean="0"/>
          </a:p>
        </p:txBody>
      </p:sp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1905001" y="2057400"/>
          <a:ext cx="838200" cy="762000"/>
        </p:xfrm>
        <a:graphic>
          <a:graphicData uri="http://schemas.openxmlformats.org/presentationml/2006/ole">
            <p:oleObj spid="_x0000_s8194" name="Equation" r:id="rId4" imgW="406080" imgH="457200" progId="Equation.3">
              <p:embed/>
            </p:oleObj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3402013" y="1905000"/>
          <a:ext cx="2133600" cy="1066800"/>
        </p:xfrm>
        <a:graphic>
          <a:graphicData uri="http://schemas.openxmlformats.org/presentationml/2006/ole">
            <p:oleObj spid="_x0000_s8195" name="Equation" r:id="rId5" imgW="914400" imgH="457200" progId="Equation.3">
              <p:embed/>
            </p:oleObj>
          </a:graphicData>
        </a:graphic>
      </p:graphicFrame>
      <p:graphicFrame>
        <p:nvGraphicFramePr>
          <p:cNvPr id="8198" name="Object 6"/>
          <p:cNvGraphicFramePr>
            <a:graphicFrameLocks noChangeAspect="1"/>
          </p:cNvGraphicFramePr>
          <p:nvPr/>
        </p:nvGraphicFramePr>
        <p:xfrm>
          <a:off x="1233488" y="3886200"/>
          <a:ext cx="1531937" cy="1220788"/>
        </p:xfrm>
        <a:graphic>
          <a:graphicData uri="http://schemas.openxmlformats.org/presentationml/2006/ole">
            <p:oleObj spid="_x0000_s8198" name="Equation" r:id="rId6" imgW="749160" imgH="596880" progId="Equation.3">
              <p:embed/>
            </p:oleObj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581400" y="4038600"/>
            <a:ext cx="2438400" cy="457200"/>
          </a:xfrm>
          <a:prstGeom prst="roundRect">
            <a:avLst/>
          </a:prstGeom>
          <a:solidFill>
            <a:srgbClr val="B381D9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思考题</a:t>
            </a:r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22b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3.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(BaSO</a:t>
            </a:r>
            <a:r>
              <a:rPr lang="en-US" altLang="zh-CN" sz="3000" baseline="-25000" dirty="0" smtClean="0"/>
              <a:t>4</a:t>
            </a:r>
            <a:r>
              <a:rPr lang="en-US" altLang="zh-CN" sz="3000" dirty="0" smtClean="0"/>
              <a:t>)=1.07x10</a:t>
            </a:r>
            <a:r>
              <a:rPr lang="en-US" altLang="zh-CN" sz="3000" baseline="30000" dirty="0" smtClean="0"/>
              <a:t>-10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	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= s</a:t>
            </a:r>
            <a:r>
              <a:rPr lang="en-US" altLang="zh-CN" sz="3000" baseline="30000" dirty="0" smtClean="0"/>
              <a:t>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[Ba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]=</a:t>
            </a:r>
            <a:r>
              <a:rPr lang="en-US" altLang="zh-CN" sz="3000" baseline="30000" dirty="0" smtClean="0"/>
              <a:t> </a:t>
            </a:r>
            <a:r>
              <a:rPr lang="en-US" altLang="zh-CN" sz="3000" dirty="0" smtClean="0"/>
              <a:t> s = 	       =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		       = 1.03x10</a:t>
            </a:r>
            <a:r>
              <a:rPr lang="en-US" altLang="zh-CN" sz="3000" baseline="30000" dirty="0" smtClean="0"/>
              <a:t>-5</a:t>
            </a:r>
            <a:r>
              <a:rPr lang="en-US" altLang="zh-CN" sz="3000" dirty="0" smtClean="0"/>
              <a:t> mol/L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	Na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SO</a:t>
            </a:r>
            <a:r>
              <a:rPr lang="en-US" altLang="zh-CN" sz="3000" baseline="-25000" dirty="0" smtClean="0"/>
              <a:t>4</a:t>
            </a:r>
            <a:r>
              <a:rPr lang="en-US" altLang="zh-CN" sz="3000" dirty="0" smtClean="0"/>
              <a:t>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</a:t>
            </a:r>
            <a:r>
              <a:rPr lang="en-US" altLang="zh-CN" sz="3000" dirty="0" smtClean="0">
                <a:sym typeface="Wingdings" pitchFamily="2" charset="2"/>
              </a:rPr>
              <a:t>   2Na</a:t>
            </a:r>
            <a:r>
              <a:rPr lang="en-US" altLang="zh-CN" sz="3000" baseline="30000" dirty="0" smtClean="0">
                <a:sym typeface="Wingdings" pitchFamily="2" charset="2"/>
              </a:rPr>
              <a:t>+</a:t>
            </a:r>
            <a:r>
              <a:rPr lang="en-US" altLang="zh-CN" sz="3000" dirty="0" smtClean="0">
                <a:sym typeface="Wingdings" pitchFamily="2" charset="2"/>
              </a:rPr>
              <a:t> 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 + </a:t>
            </a:r>
            <a:r>
              <a:rPr lang="en-US" altLang="zh-CN" sz="3000" dirty="0" smtClean="0"/>
              <a:t>SO</a:t>
            </a:r>
            <a:r>
              <a:rPr lang="en-US" altLang="zh-CN" sz="3000" baseline="-25000" dirty="0" smtClean="0"/>
              <a:t>4</a:t>
            </a:r>
            <a:r>
              <a:rPr lang="en-US" altLang="zh-CN" sz="3000" baseline="30000" dirty="0" smtClean="0"/>
              <a:t>2-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	0.5M			1M 		0.5M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	BaSO</a:t>
            </a:r>
            <a:r>
              <a:rPr lang="en-US" altLang="zh-CN" sz="3000" baseline="-25000" dirty="0" smtClean="0"/>
              <a:t>4</a:t>
            </a:r>
            <a:r>
              <a:rPr lang="en-US" altLang="zh-CN" sz="3000" dirty="0" smtClean="0"/>
              <a:t> (s)   &lt;--&gt;   Ba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+  SO</a:t>
            </a:r>
            <a:r>
              <a:rPr lang="en-US" altLang="zh-CN" sz="3000" baseline="-25000" dirty="0" smtClean="0"/>
              <a:t>4</a:t>
            </a:r>
            <a:r>
              <a:rPr lang="en-US" altLang="zh-CN" sz="3000" baseline="30000" dirty="0" smtClean="0"/>
              <a:t>2-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			   	 s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		   </a:t>
            </a:r>
            <a:r>
              <a:rPr lang="en-US" altLang="zh-CN" sz="3000" dirty="0" err="1" smtClean="0"/>
              <a:t>s</a:t>
            </a:r>
            <a:r>
              <a:rPr lang="en-US" altLang="zh-CN" sz="3000" baseline="-25000" dirty="0" err="1" smtClean="0"/>
              <a:t>2</a:t>
            </a:r>
            <a:endParaRPr lang="en-US" altLang="zh-CN" sz="30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 		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= [Ba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][SO</a:t>
            </a:r>
            <a:r>
              <a:rPr lang="en-US" altLang="zh-CN" sz="3000" baseline="-25000" dirty="0" smtClean="0"/>
              <a:t>4</a:t>
            </a:r>
            <a:r>
              <a:rPr lang="en-US" altLang="zh-CN" sz="3000" baseline="30000" dirty="0" smtClean="0"/>
              <a:t>2-</a:t>
            </a:r>
            <a:r>
              <a:rPr lang="en-US" altLang="zh-CN" sz="3000" dirty="0" smtClean="0"/>
              <a:t>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        1.07x10</a:t>
            </a:r>
            <a:r>
              <a:rPr lang="en-US" altLang="zh-CN" sz="3000" baseline="30000" dirty="0" smtClean="0"/>
              <a:t>-10</a:t>
            </a:r>
            <a:r>
              <a:rPr lang="en-US" altLang="zh-CN" sz="3000" dirty="0" smtClean="0"/>
              <a:t> = (s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)(0.5+s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        1.07x10</a:t>
            </a:r>
            <a:r>
              <a:rPr lang="en-US" altLang="zh-CN" sz="3000" baseline="30000" dirty="0" smtClean="0"/>
              <a:t>-10</a:t>
            </a:r>
            <a:r>
              <a:rPr lang="en-US" altLang="zh-CN" sz="3000" dirty="0" smtClean="0"/>
              <a:t> = 0.5s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		  s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= 2.14x10</a:t>
            </a:r>
            <a:r>
              <a:rPr lang="en-US" altLang="zh-CN" sz="3000" baseline="30000" dirty="0" smtClean="0"/>
              <a:t>-10</a:t>
            </a:r>
            <a:r>
              <a:rPr lang="en-US" altLang="zh-CN" sz="3000" dirty="0" smtClean="0"/>
              <a:t> mol/L</a:t>
            </a:r>
          </a:p>
        </p:txBody>
      </p:sp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1930400" y="1874838"/>
          <a:ext cx="785813" cy="639762"/>
        </p:xfrm>
        <a:graphic>
          <a:graphicData uri="http://schemas.openxmlformats.org/presentationml/2006/ole">
            <p:oleObj spid="_x0000_s9218" name="Equation" r:id="rId4" imgW="380880" imgH="279360" progId="Equation.3">
              <p:embed/>
            </p:oleObj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959100" y="1828800"/>
          <a:ext cx="2146300" cy="609600"/>
        </p:xfrm>
        <a:graphic>
          <a:graphicData uri="http://schemas.openxmlformats.org/presentationml/2006/ole">
            <p:oleObj spid="_x0000_s9221" name="Equation" r:id="rId5" imgW="825480" imgH="253800" progId="Equation.3">
              <p:embed/>
            </p:oleObj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962400" y="3352800"/>
            <a:ext cx="838200" cy="457200"/>
          </a:xfrm>
          <a:prstGeom prst="roundRect">
            <a:avLst/>
          </a:prstGeom>
          <a:solidFill>
            <a:srgbClr val="B381D9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5867400" y="3352800"/>
            <a:ext cx="838200" cy="457200"/>
          </a:xfrm>
          <a:prstGeom prst="roundRect">
            <a:avLst/>
          </a:prstGeom>
          <a:solidFill>
            <a:srgbClr val="B381D9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4191000" y="5181600"/>
            <a:ext cx="1143000" cy="457200"/>
            <a:chOff x="4191000" y="5181600"/>
            <a:chExt cx="1143000" cy="457200"/>
          </a:xfrm>
        </p:grpSpPr>
        <p:sp>
          <p:nvSpPr>
            <p:cNvPr id="13" name="Oval 12"/>
            <p:cNvSpPr/>
            <p:nvPr/>
          </p:nvSpPr>
          <p:spPr>
            <a:xfrm>
              <a:off x="4191000" y="5181600"/>
              <a:ext cx="457200" cy="4572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Curved Connector 14"/>
            <p:cNvCxnSpPr>
              <a:stCxn id="13" idx="6"/>
            </p:cNvCxnSpPr>
            <p:nvPr/>
          </p:nvCxnSpPr>
          <p:spPr>
            <a:xfrm flipV="1">
              <a:off x="4648200" y="5257800"/>
              <a:ext cx="685800" cy="152400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5334000" y="4876800"/>
            <a:ext cx="1826141" cy="584775"/>
          </a:xfrm>
          <a:prstGeom prst="rect">
            <a:avLst/>
          </a:prstGeom>
          <a:solidFill>
            <a:srgbClr val="E2CFF1"/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 dirty="0" smtClean="0"/>
              <a:t>忽略不计</a:t>
            </a:r>
            <a:endParaRPr lang="en-US" sz="3000" dirty="0"/>
          </a:p>
        </p:txBody>
      </p:sp>
      <p:sp>
        <p:nvSpPr>
          <p:cNvPr id="18" name="Rounded Rectangle 17"/>
          <p:cNvSpPr/>
          <p:nvPr/>
        </p:nvSpPr>
        <p:spPr>
          <a:xfrm>
            <a:off x="5638800" y="2819400"/>
            <a:ext cx="1447800" cy="1981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764490" y="2209800"/>
            <a:ext cx="2236510" cy="584775"/>
          </a:xfrm>
          <a:prstGeom prst="rect">
            <a:avLst/>
          </a:prstGeom>
          <a:solidFill>
            <a:srgbClr val="E2CFF1"/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 dirty="0" smtClean="0"/>
              <a:t>同离子效应</a:t>
            </a:r>
            <a:endParaRPr lang="en-US" sz="3000" dirty="0"/>
          </a:p>
        </p:txBody>
      </p:sp>
      <p:sp>
        <p:nvSpPr>
          <p:cNvPr id="20" name="Rectangle 19"/>
          <p:cNvSpPr/>
          <p:nvPr/>
        </p:nvSpPr>
        <p:spPr>
          <a:xfrm>
            <a:off x="304800" y="990600"/>
            <a:ext cx="8458200" cy="1384995"/>
          </a:xfrm>
          <a:prstGeom prst="rect">
            <a:avLst/>
          </a:prstGeom>
          <a:solidFill>
            <a:srgbClr val="E2CFF1"/>
          </a:solidFill>
          <a:ln>
            <a:solidFill>
              <a:srgbClr val="00206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 smtClean="0"/>
              <a:t>同离子效应：溶液中存在于难溶电解质相同的离子，使难溶电解质</a:t>
            </a: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溶解度降低</a:t>
            </a:r>
            <a:r>
              <a:rPr lang="zh-CN" altLang="en-US" sz="2800" dirty="0" smtClean="0"/>
              <a:t>的情况。</a:t>
            </a:r>
            <a:endParaRPr lang="en-US" altLang="zh-CN" sz="2800" dirty="0" smtClean="0"/>
          </a:p>
        </p:txBody>
      </p:sp>
      <p:sp>
        <p:nvSpPr>
          <p:cNvPr id="21" name="Rounded Rectangle 20"/>
          <p:cNvSpPr/>
          <p:nvPr/>
        </p:nvSpPr>
        <p:spPr>
          <a:xfrm>
            <a:off x="3048000" y="2362200"/>
            <a:ext cx="2667000" cy="533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2895600" y="6019800"/>
            <a:ext cx="2667000" cy="533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animBg="1"/>
      <p:bldP spid="12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(CaCO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)=4.96x10</a:t>
            </a:r>
            <a:r>
              <a:rPr lang="en-US" altLang="zh-CN" sz="3000" baseline="30000" dirty="0" smtClean="0"/>
              <a:t>-9</a:t>
            </a:r>
            <a:endParaRPr lang="en-US" altLang="zh-CN" sz="30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	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= s</a:t>
            </a:r>
            <a:r>
              <a:rPr lang="en-US" altLang="zh-CN" sz="3000" baseline="30000" dirty="0" smtClean="0"/>
              <a:t>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	 s = 	       =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		       = 7.04x10</a:t>
            </a:r>
            <a:r>
              <a:rPr lang="en-US" altLang="zh-CN" sz="3000" baseline="30000" dirty="0" smtClean="0"/>
              <a:t>-5</a:t>
            </a:r>
            <a:r>
              <a:rPr lang="en-US" altLang="zh-CN" sz="3000" dirty="0" smtClean="0"/>
              <a:t> mol/L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	Na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CO</a:t>
            </a:r>
            <a:r>
              <a:rPr lang="en-US" altLang="zh-CN" sz="3000" baseline="-25000" dirty="0" smtClean="0"/>
              <a:t> 3</a:t>
            </a:r>
            <a:r>
              <a:rPr lang="en-US" altLang="zh-CN" sz="3000" dirty="0" smtClean="0"/>
              <a:t>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</a:t>
            </a:r>
            <a:r>
              <a:rPr lang="en-US" altLang="zh-CN" sz="3000" dirty="0" smtClean="0">
                <a:sym typeface="Wingdings" pitchFamily="2" charset="2"/>
              </a:rPr>
              <a:t>   2Na</a:t>
            </a:r>
            <a:r>
              <a:rPr lang="en-US" altLang="zh-CN" sz="3000" baseline="30000" dirty="0" smtClean="0">
                <a:sym typeface="Wingdings" pitchFamily="2" charset="2"/>
              </a:rPr>
              <a:t>+</a:t>
            </a:r>
            <a:r>
              <a:rPr lang="en-US" altLang="zh-CN" sz="3000" dirty="0" smtClean="0">
                <a:sym typeface="Wingdings" pitchFamily="2" charset="2"/>
              </a:rPr>
              <a:t> 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 + C</a:t>
            </a:r>
            <a:r>
              <a:rPr lang="en-US" altLang="zh-CN" sz="3000" dirty="0" smtClean="0"/>
              <a:t>O</a:t>
            </a:r>
            <a:r>
              <a:rPr lang="en-US" altLang="zh-CN" sz="3000" baseline="-25000" dirty="0" smtClean="0"/>
              <a:t>3</a:t>
            </a:r>
            <a:r>
              <a:rPr lang="en-US" altLang="zh-CN" sz="3000" baseline="30000" dirty="0" smtClean="0"/>
              <a:t>2-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	0.1M		        0.2M 		0.1M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	CaCO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 (s)   &lt;--&gt;   Ca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+  CO</a:t>
            </a:r>
            <a:r>
              <a:rPr lang="en-US" altLang="zh-CN" sz="3000" baseline="-25000" dirty="0" smtClean="0"/>
              <a:t>3</a:t>
            </a:r>
            <a:r>
              <a:rPr lang="en-US" altLang="zh-CN" sz="3000" baseline="30000" dirty="0" smtClean="0"/>
              <a:t>2-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			   	 s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		   </a:t>
            </a:r>
            <a:r>
              <a:rPr lang="en-US" altLang="zh-CN" sz="3000" dirty="0" err="1" smtClean="0"/>
              <a:t>s</a:t>
            </a:r>
            <a:r>
              <a:rPr lang="en-US" altLang="zh-CN" sz="3000" baseline="-25000" dirty="0" err="1" smtClean="0"/>
              <a:t>2</a:t>
            </a:r>
            <a:endParaRPr lang="en-US" altLang="zh-CN" sz="30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 		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= [Ca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][CO</a:t>
            </a:r>
            <a:r>
              <a:rPr lang="en-US" altLang="zh-CN" sz="3000" baseline="-25000" dirty="0" smtClean="0"/>
              <a:t>3</a:t>
            </a:r>
            <a:r>
              <a:rPr lang="en-US" altLang="zh-CN" sz="3000" baseline="30000" dirty="0" smtClean="0"/>
              <a:t>2-</a:t>
            </a:r>
            <a:r>
              <a:rPr lang="en-US" altLang="zh-CN" sz="3000" dirty="0" smtClean="0"/>
              <a:t>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        4.96x10</a:t>
            </a:r>
            <a:r>
              <a:rPr lang="en-US" altLang="zh-CN" sz="3000" baseline="30000" dirty="0" smtClean="0"/>
              <a:t>-9</a:t>
            </a:r>
            <a:r>
              <a:rPr lang="en-US" altLang="zh-CN" sz="3000" dirty="0" smtClean="0"/>
              <a:t> = (s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)(0.1+s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        4.96x10</a:t>
            </a:r>
            <a:r>
              <a:rPr lang="en-US" altLang="zh-CN" sz="3000" baseline="30000" dirty="0" smtClean="0"/>
              <a:t>-9</a:t>
            </a:r>
            <a:r>
              <a:rPr lang="en-US" altLang="zh-CN" sz="3000" dirty="0" smtClean="0"/>
              <a:t> = 0.1s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 smtClean="0"/>
              <a:t>		  s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= 4.96x10</a:t>
            </a:r>
            <a:r>
              <a:rPr lang="en-US" altLang="zh-CN" sz="3000" baseline="30000" dirty="0" smtClean="0"/>
              <a:t>-8</a:t>
            </a:r>
            <a:r>
              <a:rPr lang="en-US" altLang="zh-CN" sz="3000" dirty="0" smtClean="0"/>
              <a:t> mol/L</a:t>
            </a:r>
          </a:p>
        </p:txBody>
      </p:sp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1930400" y="1874838"/>
          <a:ext cx="785813" cy="639762"/>
        </p:xfrm>
        <a:graphic>
          <a:graphicData uri="http://schemas.openxmlformats.org/presentationml/2006/ole">
            <p:oleObj spid="_x0000_s10242" name="Equation" r:id="rId4" imgW="380880" imgH="279360" progId="Equation.3">
              <p:embed/>
            </p:oleObj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2992438" y="1828800"/>
          <a:ext cx="2079625" cy="609600"/>
        </p:xfrm>
        <a:graphic>
          <a:graphicData uri="http://schemas.openxmlformats.org/presentationml/2006/ole">
            <p:oleObj spid="_x0000_s10243" name="Equation" r:id="rId5" imgW="799920" imgH="253800" progId="Equation.3">
              <p:embed/>
            </p:oleObj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733800" y="3276600"/>
            <a:ext cx="990600" cy="457200"/>
          </a:xfrm>
          <a:prstGeom prst="roundRect">
            <a:avLst/>
          </a:prstGeom>
          <a:solidFill>
            <a:srgbClr val="B381D9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5867400" y="3276600"/>
            <a:ext cx="838200" cy="457200"/>
          </a:xfrm>
          <a:prstGeom prst="roundRect">
            <a:avLst/>
          </a:prstGeom>
          <a:solidFill>
            <a:srgbClr val="B381D9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15"/>
          <p:cNvGrpSpPr/>
          <p:nvPr/>
        </p:nvGrpSpPr>
        <p:grpSpPr>
          <a:xfrm>
            <a:off x="4191000" y="5181600"/>
            <a:ext cx="1143000" cy="457200"/>
            <a:chOff x="4191000" y="5181600"/>
            <a:chExt cx="1143000" cy="457200"/>
          </a:xfrm>
        </p:grpSpPr>
        <p:sp>
          <p:nvSpPr>
            <p:cNvPr id="13" name="Oval 12"/>
            <p:cNvSpPr/>
            <p:nvPr/>
          </p:nvSpPr>
          <p:spPr>
            <a:xfrm>
              <a:off x="4191000" y="5181600"/>
              <a:ext cx="457200" cy="4572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Curved Connector 14"/>
            <p:cNvCxnSpPr>
              <a:stCxn id="13" idx="6"/>
            </p:cNvCxnSpPr>
            <p:nvPr/>
          </p:nvCxnSpPr>
          <p:spPr>
            <a:xfrm flipV="1">
              <a:off x="4648200" y="5257800"/>
              <a:ext cx="685800" cy="152400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5334000" y="4876800"/>
            <a:ext cx="1826141" cy="584775"/>
          </a:xfrm>
          <a:prstGeom prst="rect">
            <a:avLst/>
          </a:prstGeom>
          <a:solidFill>
            <a:srgbClr val="E2CFF1"/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 dirty="0" smtClean="0"/>
              <a:t>忽略不计</a:t>
            </a:r>
            <a:endParaRPr lang="en-US" sz="3000" dirty="0"/>
          </a:p>
        </p:txBody>
      </p:sp>
      <p:sp>
        <p:nvSpPr>
          <p:cNvPr id="18" name="Rounded Rectangle 17"/>
          <p:cNvSpPr/>
          <p:nvPr/>
        </p:nvSpPr>
        <p:spPr>
          <a:xfrm>
            <a:off x="5638800" y="2819400"/>
            <a:ext cx="1447800" cy="1981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764490" y="2209800"/>
            <a:ext cx="2236510" cy="584775"/>
          </a:xfrm>
          <a:prstGeom prst="rect">
            <a:avLst/>
          </a:prstGeom>
          <a:solidFill>
            <a:srgbClr val="E2CFF1"/>
          </a:solidFill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3200" dirty="0" smtClean="0"/>
              <a:t>同离子效应</a:t>
            </a:r>
            <a:endParaRPr lang="en-US" sz="3000" dirty="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22.2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影响难溶电解质溶解的因素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04800" y="990600"/>
            <a:ext cx="8458200" cy="1384995"/>
          </a:xfrm>
          <a:prstGeom prst="rect">
            <a:avLst/>
          </a:prstGeom>
          <a:solidFill>
            <a:srgbClr val="E2CFF1"/>
          </a:solidFill>
          <a:ln>
            <a:solidFill>
              <a:srgbClr val="00206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2800" dirty="0" smtClean="0"/>
              <a:t>同离子效应：溶液中存在于难溶电解质相同的离子，使难溶电解质</a:t>
            </a:r>
            <a:r>
              <a:rPr lang="zh-CN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溶解度降低</a:t>
            </a:r>
            <a:r>
              <a:rPr lang="zh-CN" altLang="en-US" sz="2800" dirty="0" smtClean="0"/>
              <a:t>的情况。</a:t>
            </a:r>
            <a:endParaRPr lang="en-US" altLang="zh-CN" sz="2800" dirty="0" smtClean="0"/>
          </a:p>
        </p:txBody>
      </p:sp>
      <p:sp>
        <p:nvSpPr>
          <p:cNvPr id="22" name="Rounded Rectangle 21"/>
          <p:cNvSpPr/>
          <p:nvPr/>
        </p:nvSpPr>
        <p:spPr>
          <a:xfrm>
            <a:off x="3048000" y="2362200"/>
            <a:ext cx="2667000" cy="533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2895600" y="6019800"/>
            <a:ext cx="2667000" cy="533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uiExpand="1" animBg="1"/>
      <p:bldP spid="12" grpId="0" uiExpand="1" animBg="1"/>
      <p:bldP spid="17" grpId="0" uiExpand="1" animBg="1"/>
      <p:bldP spid="18" grpId="0" uiExpand="1" animBg="1"/>
      <p:bldP spid="19" grpId="0" uiExpand="1" animBg="1"/>
      <p:bldP spid="21" grpId="0" animBg="1"/>
      <p:bldP spid="21" grpId="1" animBg="1"/>
      <p:bldP spid="21" grpId="2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22.2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影响难溶电解质溶解的因素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8392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3000" u="sng" dirty="0" smtClean="0"/>
              <a:t>感知生活</a:t>
            </a:r>
            <a:r>
              <a:rPr lang="en-US" altLang="zh-CN" sz="3000" u="sng" dirty="0" smtClean="0"/>
              <a:t>pg220</a:t>
            </a:r>
          </a:p>
          <a:p>
            <a:pPr>
              <a:buNone/>
            </a:pPr>
            <a:r>
              <a:rPr lang="zh-CN" altLang="en-US" sz="3000" dirty="0" smtClean="0"/>
              <a:t>因为胃酸中的</a:t>
            </a:r>
            <a:r>
              <a:rPr lang="en-US" altLang="zh-CN" sz="3000" dirty="0" smtClean="0"/>
              <a:t>H</a:t>
            </a:r>
            <a:r>
              <a:rPr lang="en-US" altLang="zh-CN" sz="3000" baseline="30000" dirty="0" smtClean="0"/>
              <a:t>+</a:t>
            </a:r>
            <a:r>
              <a:rPr lang="zh-CN" altLang="en-US" sz="3000" dirty="0" smtClean="0"/>
              <a:t>结合了</a:t>
            </a:r>
            <a:r>
              <a:rPr lang="en-US" altLang="zh-CN" sz="3000" dirty="0" smtClean="0"/>
              <a:t>BaCO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溶解的极少量的</a:t>
            </a:r>
            <a:r>
              <a:rPr lang="en-US" altLang="zh-CN" sz="3000" dirty="0" smtClean="0"/>
              <a:t>CO</a:t>
            </a:r>
            <a:r>
              <a:rPr lang="en-US" altLang="zh-CN" sz="3000" baseline="-25000" dirty="0" smtClean="0"/>
              <a:t>3</a:t>
            </a:r>
            <a:r>
              <a:rPr lang="en-US" altLang="zh-CN" sz="3000" baseline="30000" dirty="0" smtClean="0"/>
              <a:t>2-</a:t>
            </a:r>
            <a:r>
              <a:rPr lang="zh-CN" altLang="en-US" sz="3000" dirty="0" smtClean="0"/>
              <a:t>，</a:t>
            </a:r>
            <a:endParaRPr lang="en-US" altLang="zh-CN" sz="3000" dirty="0" smtClean="0"/>
          </a:p>
          <a:p>
            <a:pPr>
              <a:buNone/>
            </a:pPr>
            <a:r>
              <a:rPr lang="zh-CN" altLang="en-US" sz="3000" dirty="0" smtClean="0"/>
              <a:t>从而促进了</a:t>
            </a:r>
            <a:r>
              <a:rPr lang="en-US" altLang="zh-CN" sz="3000" dirty="0" smtClean="0"/>
              <a:t>BaCO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的溶解。</a:t>
            </a:r>
            <a:endParaRPr lang="en-US" altLang="zh-CN" sz="3000" dirty="0" smtClean="0"/>
          </a:p>
          <a:p>
            <a:pPr>
              <a:buNone/>
            </a:pPr>
            <a:r>
              <a:rPr lang="zh-CN" altLang="en-US" sz="3000" dirty="0" smtClean="0"/>
              <a:t>而胃酸不能破坏</a:t>
            </a:r>
            <a:r>
              <a:rPr lang="en-US" altLang="zh-CN" sz="3000" dirty="0" smtClean="0"/>
              <a:t>BaSO</a:t>
            </a:r>
            <a:r>
              <a:rPr lang="en-US" altLang="zh-CN" sz="3000" baseline="-25000" dirty="0" smtClean="0"/>
              <a:t>4</a:t>
            </a:r>
            <a:r>
              <a:rPr lang="zh-CN" altLang="en-US" sz="3000" dirty="0" smtClean="0"/>
              <a:t>的溶解平衡。</a:t>
            </a:r>
            <a:endParaRPr lang="en-US" altLang="zh-CN" sz="3000" dirty="0" smtClean="0"/>
          </a:p>
          <a:p>
            <a:pPr>
              <a:buNone/>
            </a:pPr>
            <a:endParaRPr lang="en-US" altLang="zh-CN" sz="3000" dirty="0" smtClean="0"/>
          </a:p>
          <a:p>
            <a:pPr>
              <a:buNone/>
            </a:pPr>
            <a:r>
              <a:rPr lang="zh-CN" altLang="en-US" sz="3000" u="sng" dirty="0" smtClean="0"/>
              <a:t>交流分享</a:t>
            </a:r>
            <a:r>
              <a:rPr lang="en-US" altLang="zh-CN" sz="3000" u="sng" dirty="0" smtClean="0"/>
              <a:t>pg220</a:t>
            </a:r>
          </a:p>
          <a:p>
            <a:pPr>
              <a:buNone/>
            </a:pPr>
            <a:r>
              <a:rPr lang="en-US" altLang="zh-CN" sz="3000" dirty="0" smtClean="0"/>
              <a:t>CaCO</a:t>
            </a:r>
            <a:r>
              <a:rPr lang="en-US" altLang="zh-CN" sz="3000" baseline="-25000" dirty="0" smtClean="0"/>
              <a:t>3</a:t>
            </a:r>
            <a:r>
              <a:rPr lang="zh-CN" altLang="en-US" sz="3000" dirty="0" smtClean="0"/>
              <a:t>在纯水中的溶解度较大。</a:t>
            </a:r>
            <a:endParaRPr lang="en-US" altLang="zh-CN" sz="3000" dirty="0" smtClean="0"/>
          </a:p>
          <a:p>
            <a:pPr>
              <a:buNone/>
            </a:pPr>
            <a:r>
              <a:rPr lang="zh-CN" altLang="en-US" sz="3000" dirty="0" smtClean="0"/>
              <a:t>在</a:t>
            </a:r>
            <a:r>
              <a:rPr lang="en-US" altLang="zh-CN" sz="3000" dirty="0" smtClean="0"/>
              <a:t>Na</a:t>
            </a:r>
            <a:r>
              <a:rPr lang="en-US" altLang="zh-CN" sz="3000" baseline="-25000" dirty="0" smtClean="0"/>
              <a:t>2</a:t>
            </a:r>
            <a:r>
              <a:rPr lang="en-US" altLang="zh-CN" sz="3000" b="1" dirty="0" smtClean="0">
                <a:solidFill>
                  <a:srgbClr val="C00000"/>
                </a:solidFill>
              </a:rPr>
              <a:t>CO</a:t>
            </a:r>
            <a:r>
              <a:rPr lang="en-US" altLang="zh-CN" sz="30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CN" sz="3000" dirty="0" smtClean="0"/>
              <a:t>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</a:t>
            </a:r>
            <a:r>
              <a:rPr lang="zh-CN" altLang="en-US" sz="3000" dirty="0" smtClean="0"/>
              <a:t>及</a:t>
            </a:r>
            <a:r>
              <a:rPr lang="en-US" altLang="zh-CN" sz="3000" b="1" dirty="0" smtClean="0">
                <a:solidFill>
                  <a:srgbClr val="C00000"/>
                </a:solidFill>
              </a:rPr>
              <a:t>Ca</a:t>
            </a:r>
            <a:r>
              <a:rPr lang="en-US" altLang="zh-CN" sz="3000" dirty="0" smtClean="0"/>
              <a:t>Cl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</a:t>
            </a:r>
            <a:r>
              <a:rPr lang="zh-CN" altLang="en-US" sz="3000" dirty="0" smtClean="0"/>
              <a:t>中的溶解度都降低。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 </a:t>
            </a:r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22.2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影响难溶电解质溶解的因素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影响难溶电解质溶解平衡的因素：</a:t>
            </a:r>
            <a:endParaRPr lang="en-US" altLang="zh-CN" sz="3000" dirty="0" smtClean="0"/>
          </a:p>
          <a:p>
            <a:pPr marL="400050" lvl="1" indent="0"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600" dirty="0" smtClean="0"/>
              <a:t>同离子效应</a:t>
            </a:r>
            <a:endParaRPr lang="en-US" altLang="zh-CN" sz="2600" dirty="0" smtClean="0"/>
          </a:p>
          <a:p>
            <a:pPr marL="400050" lvl="1" indent="0"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600" dirty="0" smtClean="0"/>
              <a:t>温度（</a:t>
            </a:r>
            <a:r>
              <a:rPr lang="en-US" altLang="zh-CN" sz="2600" dirty="0" err="1" smtClean="0"/>
              <a:t>K</a:t>
            </a:r>
            <a:r>
              <a:rPr lang="en-US" altLang="zh-CN" sz="2600" baseline="-25000" dirty="0" err="1" smtClean="0"/>
              <a:t>sp</a:t>
            </a:r>
            <a:r>
              <a:rPr lang="en-US" altLang="zh-CN" sz="2600" baseline="-25000" dirty="0" smtClean="0"/>
              <a:t> </a:t>
            </a:r>
            <a:r>
              <a:rPr lang="en-US" altLang="zh-CN" sz="2600" dirty="0" smtClean="0"/>
              <a:t> </a:t>
            </a:r>
            <a:r>
              <a:rPr lang="zh-CN" altLang="en-US" sz="2600" dirty="0" smtClean="0"/>
              <a:t>随温度而改变）</a:t>
            </a:r>
            <a:endParaRPr lang="en-US" altLang="zh-CN" sz="2600" dirty="0" smtClean="0"/>
          </a:p>
          <a:p>
            <a:pPr marL="400050" lvl="1" indent="0"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600" dirty="0" smtClean="0"/>
              <a:t>离子浓度、其他溶质等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溶解过程吸热的溶解平衡：</a:t>
            </a:r>
            <a:r>
              <a:rPr lang="en-US" altLang="zh-CN" sz="28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2800" dirty="0" smtClean="0"/>
              <a:t>	AB(s) &lt;--&gt; A</a:t>
            </a:r>
            <a:r>
              <a:rPr lang="en-US" altLang="zh-CN" sz="2800" baseline="30000" dirty="0" smtClean="0"/>
              <a:t>+</a:t>
            </a:r>
            <a:r>
              <a:rPr lang="en-US" altLang="zh-CN" sz="2800" dirty="0" smtClean="0"/>
              <a:t> (</a:t>
            </a:r>
            <a:r>
              <a:rPr lang="en-US" altLang="zh-CN" sz="2800" dirty="0" err="1" smtClean="0"/>
              <a:t>aq</a:t>
            </a:r>
            <a:r>
              <a:rPr lang="en-US" altLang="zh-CN" sz="2800" dirty="0" smtClean="0"/>
              <a:t>) + B</a:t>
            </a:r>
            <a:r>
              <a:rPr lang="en-US" altLang="zh-CN" sz="2800" baseline="30000" dirty="0" smtClean="0"/>
              <a:t>-</a:t>
            </a:r>
            <a:r>
              <a:rPr lang="en-US" altLang="zh-CN" sz="2800" dirty="0" smtClean="0"/>
              <a:t> (</a:t>
            </a:r>
            <a:r>
              <a:rPr lang="en-US" altLang="zh-CN" sz="2800" dirty="0" err="1" smtClean="0"/>
              <a:t>aq</a:t>
            </a:r>
            <a:r>
              <a:rPr lang="en-US" altLang="zh-CN" sz="2800" dirty="0" smtClean="0"/>
              <a:t>) 	∆H&gt;0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2800" dirty="0" smtClean="0"/>
              <a:t> </a:t>
            </a:r>
            <a:r>
              <a:rPr lang="zh-CN" altLang="en-US" sz="2800" dirty="0" smtClean="0"/>
              <a:t>温度上升，向正反应方向移动，</a:t>
            </a:r>
            <a:r>
              <a:rPr lang="en-US" altLang="zh-CN" sz="2800" dirty="0" err="1" smtClean="0"/>
              <a:t>K</a:t>
            </a:r>
            <a:r>
              <a:rPr lang="en-US" altLang="zh-CN" sz="2800" baseline="-25000" dirty="0" err="1" smtClean="0"/>
              <a:t>sp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增大，</a:t>
            </a:r>
            <a:r>
              <a:rPr lang="en-US" altLang="zh-CN" sz="2800" dirty="0" smtClean="0"/>
              <a:t>s</a:t>
            </a:r>
            <a:r>
              <a:rPr lang="zh-CN" altLang="en-US" sz="2800" dirty="0" smtClean="0"/>
              <a:t>增大</a:t>
            </a:r>
            <a:endParaRPr lang="en-US" altLang="zh-CN" sz="2800" dirty="0" smtClean="0"/>
          </a:p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溶解过程放热的溶解平衡：</a:t>
            </a:r>
            <a:r>
              <a:rPr lang="en-US" altLang="zh-CN" sz="28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2800" dirty="0" smtClean="0"/>
              <a:t>	AB(s) &lt;--&gt; A</a:t>
            </a:r>
            <a:r>
              <a:rPr lang="en-US" altLang="zh-CN" sz="2800" baseline="30000" dirty="0" smtClean="0"/>
              <a:t>+</a:t>
            </a:r>
            <a:r>
              <a:rPr lang="en-US" altLang="zh-CN" sz="2800" dirty="0" smtClean="0"/>
              <a:t> (</a:t>
            </a:r>
            <a:r>
              <a:rPr lang="en-US" altLang="zh-CN" sz="2800" dirty="0" err="1" smtClean="0"/>
              <a:t>aq</a:t>
            </a:r>
            <a:r>
              <a:rPr lang="en-US" altLang="zh-CN" sz="2800" dirty="0" smtClean="0"/>
              <a:t>) + B</a:t>
            </a:r>
            <a:r>
              <a:rPr lang="en-US" altLang="zh-CN" sz="2800" baseline="30000" dirty="0" smtClean="0"/>
              <a:t>-</a:t>
            </a:r>
            <a:r>
              <a:rPr lang="en-US" altLang="zh-CN" sz="2800" dirty="0" smtClean="0"/>
              <a:t> (</a:t>
            </a:r>
            <a:r>
              <a:rPr lang="en-US" altLang="zh-CN" sz="2800" dirty="0" err="1" smtClean="0"/>
              <a:t>aq</a:t>
            </a:r>
            <a:r>
              <a:rPr lang="en-US" altLang="zh-CN" sz="2800" dirty="0" smtClean="0"/>
              <a:t>) </a:t>
            </a:r>
            <a:r>
              <a:rPr lang="en-US" altLang="zh-CN" sz="2600" dirty="0" smtClean="0"/>
              <a:t>	</a:t>
            </a:r>
            <a:r>
              <a:rPr lang="en-US" altLang="zh-CN" sz="2800" dirty="0" smtClean="0"/>
              <a:t>∆</a:t>
            </a:r>
            <a:r>
              <a:rPr lang="en-US" altLang="zh-CN" sz="2600" dirty="0" smtClean="0"/>
              <a:t>H&lt;0 </a:t>
            </a:r>
            <a:endParaRPr lang="en-US" sz="28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2800" dirty="0" smtClean="0"/>
              <a:t> </a:t>
            </a:r>
            <a:r>
              <a:rPr lang="zh-CN" altLang="en-US" sz="2800" dirty="0" smtClean="0"/>
              <a:t>温度上升，向逆反应方向移动，</a:t>
            </a:r>
            <a:r>
              <a:rPr lang="en-US" altLang="zh-CN" sz="2800" dirty="0" err="1" smtClean="0"/>
              <a:t>K</a:t>
            </a:r>
            <a:r>
              <a:rPr lang="en-US" altLang="zh-CN" sz="2800" baseline="-25000" dirty="0" err="1" smtClean="0"/>
              <a:t>sp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减小，</a:t>
            </a:r>
            <a:r>
              <a:rPr lang="en-US" altLang="zh-CN" sz="2800" dirty="0" smtClean="0"/>
              <a:t>s</a:t>
            </a:r>
            <a:r>
              <a:rPr lang="zh-CN" altLang="en-US" sz="2800" dirty="0" smtClean="0"/>
              <a:t>减小</a:t>
            </a:r>
            <a:endParaRPr lang="en-US" sz="2800" dirty="0" smtClean="0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问题解决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1. M(BaSO</a:t>
            </a:r>
            <a:r>
              <a:rPr lang="en-US" altLang="zh-CN" sz="3000" baseline="-25000" dirty="0" smtClean="0"/>
              <a:t>4</a:t>
            </a:r>
            <a:r>
              <a:rPr lang="en-US" altLang="zh-CN" sz="3000" dirty="0" smtClean="0"/>
              <a:t>)=233g/mol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s(BaSO</a:t>
            </a:r>
            <a:r>
              <a:rPr lang="en-US" altLang="zh-CN" sz="3000" baseline="-25000" dirty="0" smtClean="0"/>
              <a:t>4</a:t>
            </a:r>
            <a:r>
              <a:rPr lang="en-US" altLang="zh-CN" sz="3000" dirty="0" smtClean="0"/>
              <a:t>)= 2.4x10</a:t>
            </a:r>
            <a:r>
              <a:rPr lang="en-US" altLang="zh-CN" sz="3000" baseline="30000" dirty="0" smtClean="0"/>
              <a:t>-3</a:t>
            </a:r>
            <a:r>
              <a:rPr lang="en-US" altLang="zh-CN" sz="3000" dirty="0" smtClean="0"/>
              <a:t> g/L 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   = 1.03 x 10</a:t>
            </a:r>
            <a:r>
              <a:rPr lang="en-US" altLang="zh-CN" sz="3000" baseline="30000" dirty="0" smtClean="0"/>
              <a:t>-5</a:t>
            </a:r>
            <a:r>
              <a:rPr lang="en-US" altLang="zh-CN" sz="3000" dirty="0" smtClean="0"/>
              <a:t> mol/L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公式： </a:t>
            </a:r>
            <a:r>
              <a:rPr lang="en-US" altLang="zh-CN" sz="3000" dirty="0" smtClean="0"/>
              <a:t>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= s</a:t>
            </a:r>
            <a:r>
              <a:rPr lang="en-US" altLang="zh-CN" sz="3000" baseline="30000" dirty="0" smtClean="0"/>
              <a:t>2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= (1.03 x 10</a:t>
            </a:r>
            <a:r>
              <a:rPr lang="en-US" altLang="zh-CN" sz="3000" baseline="30000" dirty="0" smtClean="0"/>
              <a:t>-5</a:t>
            </a:r>
            <a:r>
              <a:rPr lang="en-US" altLang="zh-CN" sz="3000" dirty="0" smtClean="0"/>
              <a:t> )</a:t>
            </a:r>
            <a:r>
              <a:rPr lang="en-US" altLang="zh-CN" sz="3000" baseline="30000" dirty="0" smtClean="0"/>
              <a:t>2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= 1.06x10</a:t>
            </a:r>
            <a:r>
              <a:rPr lang="en-US" altLang="zh-CN" sz="3000" baseline="30000" dirty="0" smtClean="0"/>
              <a:t>-10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2. [Ba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] = 1.03 x 10</a:t>
            </a:r>
            <a:r>
              <a:rPr lang="en-US" altLang="zh-CN" sz="3000" baseline="30000" dirty="0" smtClean="0"/>
              <a:t>-5</a:t>
            </a:r>
            <a:r>
              <a:rPr lang="en-US" altLang="zh-CN" sz="3000" dirty="0" smtClean="0"/>
              <a:t> M &lt; 2x10</a:t>
            </a:r>
            <a:r>
              <a:rPr lang="en-US" altLang="zh-CN" sz="3000" baseline="30000" dirty="0" smtClean="0"/>
              <a:t>-3</a:t>
            </a:r>
            <a:r>
              <a:rPr lang="en-US" altLang="zh-CN" sz="3000" dirty="0" smtClean="0"/>
              <a:t> M 	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所以不会中毒，可用</a:t>
            </a:r>
            <a:r>
              <a:rPr lang="en-US" altLang="zh-CN" sz="3000" dirty="0" smtClean="0"/>
              <a:t>BaSO</a:t>
            </a:r>
            <a:r>
              <a:rPr lang="en-US" altLang="zh-CN" sz="3000" baseline="-25000" dirty="0" smtClean="0"/>
              <a:t>4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为钡餐。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 </a:t>
            </a:r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问题解决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3.  BaCO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 (s)   &lt;--&gt;   Ba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+   CO</a:t>
            </a:r>
            <a:r>
              <a:rPr lang="en-US" altLang="zh-CN" sz="3000" baseline="-25000" dirty="0" smtClean="0"/>
              <a:t>3</a:t>
            </a:r>
            <a:r>
              <a:rPr lang="en-US" altLang="zh-CN" sz="3000" baseline="30000" dirty="0" smtClean="0"/>
              <a:t>2</a:t>
            </a:r>
            <a:r>
              <a:rPr lang="en-US" altLang="zh-CN" sz="3000" dirty="0" smtClean="0"/>
              <a:t> 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 					      +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			    2H</a:t>
            </a:r>
            <a:r>
              <a:rPr lang="en-US" altLang="zh-CN" sz="3000" baseline="30000" dirty="0" smtClean="0"/>
              <a:t>+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			CO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(g) + H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O(l)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2800" dirty="0" smtClean="0"/>
              <a:t>由于胃液是酸性的，如果服下 </a:t>
            </a:r>
            <a:r>
              <a:rPr lang="en-US" sz="2800" dirty="0" smtClean="0"/>
              <a:t>BaCO</a:t>
            </a:r>
            <a:r>
              <a:rPr lang="en-US" sz="2800" baseline="-25000" dirty="0" smtClean="0"/>
              <a:t>3</a:t>
            </a:r>
            <a:r>
              <a:rPr lang="en-US" sz="2800" dirty="0" smtClean="0"/>
              <a:t>，</a:t>
            </a:r>
            <a:r>
              <a:rPr lang="zh-CN" altLang="en-US" sz="2800" dirty="0" smtClean="0"/>
              <a:t>胃酸可与 </a:t>
            </a:r>
            <a:r>
              <a:rPr lang="en-US" sz="2800" dirty="0" smtClean="0"/>
              <a:t>CO</a:t>
            </a:r>
            <a:r>
              <a:rPr lang="en-US" sz="2800" baseline="-25000" dirty="0" smtClean="0"/>
              <a:t>3</a:t>
            </a:r>
            <a:r>
              <a:rPr lang="en-US" sz="2800" baseline="30000" dirty="0" smtClean="0"/>
              <a:t>2-</a:t>
            </a:r>
            <a:r>
              <a:rPr lang="zh-CN" altLang="en-US" sz="2800" dirty="0" smtClean="0"/>
              <a:t>反应生成二氧化碳和水，导致 </a:t>
            </a:r>
            <a:r>
              <a:rPr lang="en-US" sz="2800" dirty="0" smtClean="0"/>
              <a:t>BaCO</a:t>
            </a:r>
            <a:r>
              <a:rPr lang="en-US" sz="2800" baseline="-25000" dirty="0" smtClean="0"/>
              <a:t>3</a:t>
            </a:r>
            <a:r>
              <a:rPr lang="en-US" sz="2800" dirty="0" smtClean="0"/>
              <a:t> </a:t>
            </a:r>
            <a:r>
              <a:rPr lang="zh-CN" altLang="en-US" sz="2800" dirty="0" smtClean="0"/>
              <a:t>的溶解平衡向右移动，使 </a:t>
            </a:r>
            <a:r>
              <a:rPr lang="en-US" altLang="zh-CN" sz="2800" dirty="0" smtClean="0"/>
              <a:t>[</a:t>
            </a:r>
            <a:r>
              <a:rPr lang="en-US" sz="2800" dirty="0" smtClean="0"/>
              <a:t>Ba</a:t>
            </a:r>
            <a:r>
              <a:rPr lang="en-US" altLang="zh-CN" sz="2800" baseline="30000" dirty="0" smtClean="0"/>
              <a:t>2+</a:t>
            </a:r>
            <a:r>
              <a:rPr lang="en-US" altLang="zh-CN" sz="2800" dirty="0" smtClean="0"/>
              <a:t>]</a:t>
            </a:r>
            <a:r>
              <a:rPr lang="zh-CN" altLang="en-US" sz="2800" dirty="0" smtClean="0"/>
              <a:t> 增大而引起人体中毒。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endParaRPr lang="en-US" altLang="zh-CN" sz="3000" dirty="0" smtClean="0"/>
          </a:p>
        </p:txBody>
      </p:sp>
      <p:cxnSp>
        <p:nvCxnSpPr>
          <p:cNvPr id="8" name="Straight Arrow Connector 7"/>
          <p:cNvCxnSpPr/>
          <p:nvPr/>
        </p:nvCxnSpPr>
        <p:spPr>
          <a:xfrm rot="5400000">
            <a:off x="5198587" y="3107213"/>
            <a:ext cx="731520" cy="3494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181600" y="838200"/>
            <a:ext cx="1752600" cy="914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思考题</a:t>
            </a:r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22c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2.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[PbBr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]= 8.9x10</a:t>
            </a:r>
            <a:r>
              <a:rPr lang="en-US" altLang="zh-CN" sz="3000" baseline="30000" dirty="0" smtClean="0"/>
              <a:t>-6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(1) 	 s=		=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			= 1.31x10</a:t>
            </a:r>
            <a:r>
              <a:rPr lang="en-US" altLang="zh-CN" sz="3000" baseline="30000" dirty="0" smtClean="0"/>
              <a:t>-2</a:t>
            </a:r>
            <a:r>
              <a:rPr lang="en-US" altLang="zh-CN" sz="3000" dirty="0" smtClean="0"/>
              <a:t> M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(2) </a:t>
            </a:r>
            <a:r>
              <a:rPr lang="en-US" altLang="zh-CN" sz="3000" dirty="0" err="1" smtClean="0"/>
              <a:t>KBr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</a:t>
            </a:r>
            <a:r>
              <a:rPr lang="en-US" altLang="zh-CN" sz="3000" dirty="0" smtClean="0">
                <a:sym typeface="Wingdings" pitchFamily="2" charset="2"/>
              </a:rPr>
              <a:t>   K </a:t>
            </a:r>
            <a:r>
              <a:rPr lang="en-US" altLang="zh-CN" sz="3000" baseline="30000" dirty="0" smtClean="0">
                <a:sym typeface="Wingdings" pitchFamily="2" charset="2"/>
              </a:rPr>
              <a:t>+</a:t>
            </a:r>
            <a:r>
              <a:rPr lang="en-US" altLang="zh-CN" sz="3000" dirty="0" smtClean="0">
                <a:sym typeface="Wingdings" pitchFamily="2" charset="2"/>
              </a:rPr>
              <a:t> 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 +  	Br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      0.2M	     0.2M 	     	</a:t>
            </a:r>
            <a:r>
              <a:rPr lang="en-US" altLang="zh-CN" sz="3000" dirty="0" err="1" smtClean="0"/>
              <a:t>0.2M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PbBr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(s)   &lt;--&gt;   Pb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+ 	 2Br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			s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		2s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	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baseline="-25000" dirty="0" smtClean="0"/>
              <a:t> </a:t>
            </a:r>
            <a:r>
              <a:rPr lang="en-US" altLang="zh-CN" sz="3000" dirty="0" smtClean="0"/>
              <a:t> = (s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)(0.2+2s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)</a:t>
            </a:r>
            <a:r>
              <a:rPr lang="en-US" altLang="zh-CN" sz="3000" baseline="30000" dirty="0" smtClean="0"/>
              <a:t>2 </a:t>
            </a:r>
            <a:r>
              <a:rPr lang="en-US" altLang="zh-CN" sz="3000" dirty="0" smtClean="0"/>
              <a:t> 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8.9x10</a:t>
            </a:r>
            <a:r>
              <a:rPr lang="en-US" altLang="zh-CN" sz="3000" baseline="30000" dirty="0" smtClean="0"/>
              <a:t>-6</a:t>
            </a:r>
            <a:r>
              <a:rPr lang="en-US" altLang="zh-CN" sz="3000" dirty="0" smtClean="0"/>
              <a:t>   = 0.04s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	s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 = 2.23x10</a:t>
            </a:r>
            <a:r>
              <a:rPr lang="en-US" altLang="zh-CN" sz="3000" baseline="30000" dirty="0" smtClean="0"/>
              <a:t>-4</a:t>
            </a:r>
            <a:r>
              <a:rPr lang="en-US" altLang="zh-CN" sz="3000" dirty="0" smtClean="0"/>
              <a:t> M</a:t>
            </a:r>
          </a:p>
        </p:txBody>
      </p:sp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1905000" y="1524000"/>
          <a:ext cx="838200" cy="762000"/>
        </p:xfrm>
        <a:graphic>
          <a:graphicData uri="http://schemas.openxmlformats.org/presentationml/2006/ole">
            <p:oleObj spid="_x0000_s11266" name="Equation" r:id="rId4" imgW="406080" imgH="457200" progId="Equation.3">
              <p:embed/>
            </p:oleObj>
          </a:graphicData>
        </a:graphic>
      </p:graphicFrame>
      <p:graphicFrame>
        <p:nvGraphicFramePr>
          <p:cNvPr id="11267" name="Object 3"/>
          <p:cNvGraphicFramePr>
            <a:graphicFrameLocks noChangeAspect="1"/>
          </p:cNvGraphicFramePr>
          <p:nvPr/>
        </p:nvGraphicFramePr>
        <p:xfrm>
          <a:off x="3352800" y="1371600"/>
          <a:ext cx="1836737" cy="914400"/>
        </p:xfrm>
        <a:graphic>
          <a:graphicData uri="http://schemas.openxmlformats.org/presentationml/2006/ole">
            <p:oleObj spid="_x0000_s11267" name="Equation" r:id="rId5" imgW="787320" imgH="457200" progId="Equation.3">
              <p:embed/>
            </p:oleObj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3429000" y="4495800"/>
            <a:ext cx="3048000" cy="762000"/>
            <a:chOff x="3429000" y="4495800"/>
            <a:chExt cx="3048000" cy="762000"/>
          </a:xfrm>
        </p:grpSpPr>
        <p:grpSp>
          <p:nvGrpSpPr>
            <p:cNvPr id="7" name="Group 6"/>
            <p:cNvGrpSpPr/>
            <p:nvPr/>
          </p:nvGrpSpPr>
          <p:grpSpPr>
            <a:xfrm>
              <a:off x="3429000" y="4800600"/>
              <a:ext cx="1295400" cy="457200"/>
              <a:chOff x="4191000" y="5181600"/>
              <a:chExt cx="1143000" cy="457200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4191000" y="5181600"/>
                <a:ext cx="457200" cy="457200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" name="Curved Connector 8"/>
              <p:cNvCxnSpPr>
                <a:stCxn id="8" idx="6"/>
              </p:cNvCxnSpPr>
              <p:nvPr/>
            </p:nvCxnSpPr>
            <p:spPr>
              <a:xfrm flipV="1">
                <a:off x="4648200" y="5257800"/>
                <a:ext cx="685800" cy="152400"/>
              </a:xfrm>
              <a:prstGeom prst="curvedConnector3">
                <a:avLst>
                  <a:gd name="adj1" fmla="val 50000"/>
                </a:avLst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/>
            <p:cNvSpPr txBox="1"/>
            <p:nvPr/>
          </p:nvSpPr>
          <p:spPr>
            <a:xfrm>
              <a:off x="4650859" y="4495800"/>
              <a:ext cx="1826141" cy="584775"/>
            </a:xfrm>
            <a:prstGeom prst="rect">
              <a:avLst/>
            </a:prstGeom>
            <a:solidFill>
              <a:srgbClr val="E2CFF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sz="3200" dirty="0" smtClean="0"/>
                <a:t>忽略不计</a:t>
              </a:r>
              <a:endParaRPr lang="en-US" sz="3000" dirty="0"/>
            </a:p>
          </p:txBody>
        </p:sp>
      </p:grp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思考题</a:t>
            </a:r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22c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2.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[PbBr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]= 8.9x10</a:t>
            </a:r>
            <a:r>
              <a:rPr lang="en-US" altLang="zh-CN" sz="3000" baseline="30000" dirty="0" smtClean="0"/>
              <a:t>-6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(2) </a:t>
            </a:r>
            <a:r>
              <a:rPr lang="en-US" altLang="zh-CN" sz="3000" dirty="0" err="1" smtClean="0"/>
              <a:t>Pb</a:t>
            </a:r>
            <a:r>
              <a:rPr lang="en-US" altLang="zh-CN" sz="3000" dirty="0" smtClean="0"/>
              <a:t>(NO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)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</a:t>
            </a:r>
            <a:r>
              <a:rPr lang="en-US" altLang="zh-CN" sz="3000" dirty="0" smtClean="0">
                <a:sym typeface="Wingdings" pitchFamily="2" charset="2"/>
              </a:rPr>
              <a:t>   	Pb</a:t>
            </a:r>
            <a:r>
              <a:rPr lang="en-US" altLang="zh-CN" sz="3000" baseline="30000" dirty="0" smtClean="0">
                <a:sym typeface="Wingdings" pitchFamily="2" charset="2"/>
              </a:rPr>
              <a:t>2+</a:t>
            </a:r>
            <a:r>
              <a:rPr lang="en-US" altLang="zh-CN" sz="3000" dirty="0" smtClean="0">
                <a:sym typeface="Wingdings" pitchFamily="2" charset="2"/>
              </a:rPr>
              <a:t> 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 +  2NO</a:t>
            </a:r>
            <a:r>
              <a:rPr lang="en-US" altLang="zh-CN" sz="3000" baseline="-25000" dirty="0" smtClean="0">
                <a:sym typeface="Wingdings" pitchFamily="2" charset="2"/>
              </a:rPr>
              <a:t>3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      0.2M	     	    	</a:t>
            </a:r>
            <a:r>
              <a:rPr lang="en-US" altLang="zh-CN" sz="3000" dirty="0" err="1" smtClean="0"/>
              <a:t>0.2M</a:t>
            </a:r>
            <a:r>
              <a:rPr lang="en-US" altLang="zh-CN" sz="3000" dirty="0" smtClean="0"/>
              <a:t> 	     	0.4M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	PbBr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(s)   &lt;--&gt;   	Pb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+ 	 2Br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				s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		 2s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	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baseline="-25000" dirty="0" smtClean="0"/>
              <a:t> </a:t>
            </a:r>
            <a:r>
              <a:rPr lang="en-US" altLang="zh-CN" sz="3000" dirty="0" smtClean="0"/>
              <a:t> = (s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 + 0.2)(2s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)</a:t>
            </a:r>
            <a:r>
              <a:rPr lang="en-US" altLang="zh-CN" sz="3000" baseline="30000" dirty="0" smtClean="0"/>
              <a:t>2 </a:t>
            </a:r>
            <a:r>
              <a:rPr lang="en-US" altLang="zh-CN" sz="3000" dirty="0" smtClean="0"/>
              <a:t> 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8.9x10</a:t>
            </a:r>
            <a:r>
              <a:rPr lang="en-US" altLang="zh-CN" sz="3000" baseline="30000" dirty="0" smtClean="0"/>
              <a:t>-6</a:t>
            </a:r>
            <a:r>
              <a:rPr lang="en-US" altLang="zh-CN" sz="3000" dirty="0" smtClean="0"/>
              <a:t>   = 0.8s</a:t>
            </a:r>
            <a:r>
              <a:rPr lang="en-US" altLang="zh-CN" sz="3000" baseline="-25000" dirty="0" smtClean="0"/>
              <a:t>3</a:t>
            </a:r>
            <a:r>
              <a:rPr lang="en-US" altLang="zh-CN" sz="3000" baseline="30000" dirty="0" smtClean="0"/>
              <a:t>2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	s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  = 3.34x10</a:t>
            </a:r>
            <a:r>
              <a:rPr lang="en-US" altLang="zh-CN" sz="3000" baseline="30000" dirty="0" smtClean="0"/>
              <a:t>-3</a:t>
            </a:r>
            <a:r>
              <a:rPr lang="en-US" altLang="zh-CN" sz="3000" dirty="0" smtClean="0"/>
              <a:t> M</a:t>
            </a:r>
          </a:p>
        </p:txBody>
      </p:sp>
      <p:grpSp>
        <p:nvGrpSpPr>
          <p:cNvPr id="4" name="Group 10"/>
          <p:cNvGrpSpPr/>
          <p:nvPr/>
        </p:nvGrpSpPr>
        <p:grpSpPr>
          <a:xfrm>
            <a:off x="2133602" y="3581400"/>
            <a:ext cx="4629434" cy="609600"/>
            <a:chOff x="3429002" y="4572000"/>
            <a:chExt cx="3493913" cy="609600"/>
          </a:xfrm>
        </p:grpSpPr>
        <p:grpSp>
          <p:nvGrpSpPr>
            <p:cNvPr id="6" name="Group 6"/>
            <p:cNvGrpSpPr/>
            <p:nvPr/>
          </p:nvGrpSpPr>
          <p:grpSpPr>
            <a:xfrm>
              <a:off x="3429002" y="4572000"/>
              <a:ext cx="2070339" cy="609600"/>
              <a:chOff x="4191003" y="4953000"/>
              <a:chExt cx="1826770" cy="609600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4191003" y="5105400"/>
                <a:ext cx="457200" cy="457200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" name="Curved Connector 8"/>
              <p:cNvCxnSpPr>
                <a:stCxn id="8" idx="6"/>
              </p:cNvCxnSpPr>
              <p:nvPr/>
            </p:nvCxnSpPr>
            <p:spPr>
              <a:xfrm flipV="1">
                <a:off x="4648202" y="4953000"/>
                <a:ext cx="1369571" cy="381000"/>
              </a:xfrm>
              <a:prstGeom prst="curvedConnector3">
                <a:avLst>
                  <a:gd name="adj1" fmla="val 2317"/>
                </a:avLst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/>
            <p:cNvSpPr txBox="1"/>
            <p:nvPr/>
          </p:nvSpPr>
          <p:spPr>
            <a:xfrm>
              <a:off x="5499340" y="4572000"/>
              <a:ext cx="1423575" cy="584775"/>
            </a:xfrm>
            <a:prstGeom prst="rect">
              <a:avLst/>
            </a:prstGeom>
            <a:solidFill>
              <a:srgbClr val="E2CFF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zh-CN" altLang="en-US" sz="3200" dirty="0" smtClean="0"/>
                <a:t>忽略不计</a:t>
              </a:r>
              <a:endParaRPr lang="en-US" sz="3000" dirty="0"/>
            </a:p>
          </p:txBody>
        </p:sp>
      </p:grp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22.3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沉淀的预测和选择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zh-CN" altLang="en-US" sz="2800" dirty="0" smtClean="0"/>
              <a:t>溶度积原理：</a:t>
            </a:r>
            <a:endParaRPr lang="en-US" altLang="zh-CN" sz="28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2800" dirty="0" smtClean="0"/>
              <a:t>		AB(s) &lt;--&gt; A</a:t>
            </a:r>
            <a:r>
              <a:rPr lang="en-US" altLang="zh-CN" sz="2800" baseline="30000" dirty="0" smtClean="0"/>
              <a:t>+</a:t>
            </a:r>
            <a:r>
              <a:rPr lang="en-US" altLang="zh-CN" sz="2800" dirty="0" smtClean="0"/>
              <a:t> (</a:t>
            </a:r>
            <a:r>
              <a:rPr lang="en-US" altLang="zh-CN" sz="2800" dirty="0" err="1" smtClean="0"/>
              <a:t>aq</a:t>
            </a:r>
            <a:r>
              <a:rPr lang="en-US" altLang="zh-CN" sz="2800" dirty="0" smtClean="0"/>
              <a:t>) + B</a:t>
            </a:r>
            <a:r>
              <a:rPr lang="en-US" altLang="zh-CN" sz="2800" baseline="30000" dirty="0" smtClean="0"/>
              <a:t>-</a:t>
            </a:r>
            <a:r>
              <a:rPr lang="en-US" altLang="zh-CN" sz="2800" dirty="0" smtClean="0"/>
              <a:t> (</a:t>
            </a:r>
            <a:r>
              <a:rPr lang="en-US" altLang="zh-CN" sz="2800" dirty="0" err="1" smtClean="0"/>
              <a:t>aq</a:t>
            </a:r>
            <a:r>
              <a:rPr lang="en-US" altLang="zh-CN" sz="2800" dirty="0" smtClean="0"/>
              <a:t>)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 		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= [A</a:t>
            </a:r>
            <a:r>
              <a:rPr lang="en-US" altLang="zh-CN" sz="3000" baseline="30000" dirty="0" smtClean="0"/>
              <a:t>+</a:t>
            </a:r>
            <a:r>
              <a:rPr lang="en-US" altLang="zh-CN" sz="3000" dirty="0" smtClean="0"/>
              <a:t>][B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当</a:t>
            </a:r>
            <a:r>
              <a:rPr lang="en-US" altLang="zh-CN" sz="3000" dirty="0" smtClean="0"/>
              <a:t>[A</a:t>
            </a:r>
            <a:r>
              <a:rPr lang="en-US" altLang="zh-CN" sz="3000" baseline="30000" dirty="0" smtClean="0"/>
              <a:t>+</a:t>
            </a:r>
            <a:r>
              <a:rPr lang="en-US" altLang="zh-CN" sz="3000" dirty="0" smtClean="0"/>
              <a:t>][B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 =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，沉淀与溶解处于平衡状态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当</a:t>
            </a:r>
            <a:r>
              <a:rPr lang="en-US" altLang="zh-CN" sz="3000" dirty="0" smtClean="0"/>
              <a:t>[A</a:t>
            </a:r>
            <a:r>
              <a:rPr lang="en-US" altLang="zh-CN" sz="3000" baseline="30000" dirty="0" smtClean="0"/>
              <a:t>+</a:t>
            </a:r>
            <a:r>
              <a:rPr lang="en-US" altLang="zh-CN" sz="3000" dirty="0" smtClean="0"/>
              <a:t>][B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 &gt;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zh-CN" altLang="en-US" sz="3000" dirty="0" smtClean="0"/>
              <a:t>，往逆反应方向移动</a:t>
            </a:r>
            <a:r>
              <a:rPr lang="en-US" altLang="zh-CN" sz="3000" dirty="0" smtClean="0"/>
              <a:t>(</a:t>
            </a:r>
            <a:r>
              <a:rPr lang="zh-CN" altLang="en-US" sz="3000" dirty="0" smtClean="0"/>
              <a:t>沉淀</a:t>
            </a:r>
            <a:r>
              <a:rPr lang="en-US" altLang="zh-CN" sz="3000" dirty="0" smtClean="0"/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当</a:t>
            </a:r>
            <a:r>
              <a:rPr lang="en-US" altLang="zh-CN" sz="3000" dirty="0" smtClean="0"/>
              <a:t>[A</a:t>
            </a:r>
            <a:r>
              <a:rPr lang="en-US" altLang="zh-CN" sz="3000" baseline="30000" dirty="0" smtClean="0"/>
              <a:t>+</a:t>
            </a:r>
            <a:r>
              <a:rPr lang="en-US" altLang="zh-CN" sz="3000" dirty="0" smtClean="0"/>
              <a:t>][B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 &lt;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zh-CN" altLang="en-US" sz="3000" dirty="0" smtClean="0"/>
              <a:t>，往正反应方向移动</a:t>
            </a:r>
            <a:r>
              <a:rPr lang="en-US" altLang="zh-CN" sz="3000" dirty="0" smtClean="0"/>
              <a:t>(</a:t>
            </a:r>
            <a:r>
              <a:rPr lang="zh-CN" altLang="en-US" sz="3000" dirty="0" smtClean="0"/>
              <a:t>溶解</a:t>
            </a:r>
            <a:r>
              <a:rPr lang="en-US" altLang="zh-CN" sz="3000" dirty="0" smtClean="0"/>
              <a:t>)</a:t>
            </a:r>
          </a:p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endParaRPr lang="en-US" altLang="zh-CN" sz="3000" dirty="0" smtClean="0"/>
          </a:p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可用于判断溶液是否饱和、是否有沉淀析出。</a:t>
            </a:r>
            <a:endParaRPr lang="en-US" altLang="zh-CN" sz="3000" dirty="0" smtClean="0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22.3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沉淀的预测和选择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000" dirty="0" smtClean="0"/>
              <a:t>交流分享</a:t>
            </a:r>
            <a:r>
              <a:rPr lang="en-US" altLang="zh-CN" sz="3000" dirty="0" smtClean="0"/>
              <a:t>pg224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 smtClean="0"/>
              <a:t>1. </a:t>
            </a:r>
            <a:r>
              <a:rPr lang="zh-CN" altLang="en-US" sz="3000" dirty="0" smtClean="0"/>
              <a:t> </a:t>
            </a:r>
            <a:r>
              <a:rPr lang="en-US" altLang="zh-CN" sz="3000" dirty="0" smtClean="0"/>
              <a:t>[</a:t>
            </a:r>
            <a:r>
              <a:rPr lang="en-US" sz="3000" dirty="0" smtClean="0"/>
              <a:t>Ag</a:t>
            </a:r>
            <a:r>
              <a:rPr lang="en-US" sz="3000" baseline="30000" dirty="0" smtClean="0"/>
              <a:t>+</a:t>
            </a:r>
            <a:r>
              <a:rPr lang="en-US" sz="3000" dirty="0" smtClean="0"/>
              <a:t>]= 0.1 M，[</a:t>
            </a:r>
            <a:r>
              <a:rPr lang="en-US" sz="3000" dirty="0" err="1" smtClean="0"/>
              <a:t>Cl</a:t>
            </a:r>
            <a:r>
              <a:rPr lang="en-US" sz="3000" dirty="0" smtClean="0"/>
              <a:t> </a:t>
            </a:r>
            <a:r>
              <a:rPr lang="en-US" sz="3000" baseline="30000" dirty="0" smtClean="0"/>
              <a:t>-</a:t>
            </a:r>
            <a:r>
              <a:rPr lang="en-US" sz="3000" dirty="0" smtClean="0"/>
              <a:t>]＝ 2.5×10</a:t>
            </a:r>
            <a:r>
              <a:rPr lang="en-US" sz="3000" baseline="30000" dirty="0" smtClean="0"/>
              <a:t>-6 </a:t>
            </a:r>
            <a:r>
              <a:rPr lang="en-US" sz="3000" dirty="0" smtClean="0"/>
              <a:t> M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 smtClean="0"/>
              <a:t>	</a:t>
            </a:r>
            <a:r>
              <a:rPr lang="zh-CN" altLang="en-US" sz="3000" dirty="0" smtClean="0"/>
              <a:t>  </a:t>
            </a:r>
            <a:r>
              <a:rPr lang="en-US" altLang="zh-CN" sz="3000" dirty="0" smtClean="0"/>
              <a:t>[</a:t>
            </a:r>
            <a:r>
              <a:rPr lang="en-US" sz="3000" dirty="0" smtClean="0"/>
              <a:t>Ag</a:t>
            </a:r>
            <a:r>
              <a:rPr lang="en-US" sz="3000" baseline="30000" dirty="0" smtClean="0"/>
              <a:t>+</a:t>
            </a:r>
            <a:r>
              <a:rPr lang="en-US" sz="3000" dirty="0" smtClean="0"/>
              <a:t>][</a:t>
            </a:r>
            <a:r>
              <a:rPr lang="en-US" sz="3000" dirty="0" err="1" smtClean="0"/>
              <a:t>Cl</a:t>
            </a:r>
            <a:r>
              <a:rPr lang="en-US" sz="3000" dirty="0" smtClean="0"/>
              <a:t> </a:t>
            </a:r>
            <a:r>
              <a:rPr lang="en-US" sz="3000" baseline="30000" dirty="0" smtClean="0"/>
              <a:t>-</a:t>
            </a:r>
            <a:r>
              <a:rPr lang="en-US" sz="3000" dirty="0" smtClean="0"/>
              <a:t>]  =2.5×10</a:t>
            </a:r>
            <a:r>
              <a:rPr lang="en-US" sz="3000" baseline="30000" dirty="0" smtClean="0"/>
              <a:t>-7</a:t>
            </a:r>
            <a:r>
              <a:rPr lang="en-US" sz="3000" dirty="0" smtClean="0"/>
              <a:t> &gt; </a:t>
            </a:r>
            <a:r>
              <a:rPr lang="en-US" sz="3000" dirty="0" err="1" smtClean="0"/>
              <a:t>Ksp</a:t>
            </a:r>
            <a:r>
              <a:rPr lang="en-US" sz="3000" dirty="0" smtClean="0"/>
              <a:t>(</a:t>
            </a:r>
            <a:r>
              <a:rPr lang="en-US" sz="3000" dirty="0" err="1" smtClean="0"/>
              <a:t>AgCl</a:t>
            </a:r>
            <a:r>
              <a:rPr lang="en-US" sz="3000" dirty="0" smtClean="0"/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3000" dirty="0" smtClean="0"/>
              <a:t>		</a:t>
            </a:r>
            <a:r>
              <a:rPr lang="zh-CN" altLang="en-US" sz="3000" dirty="0" smtClean="0"/>
              <a:t>因此出现沉淀。</a:t>
            </a:r>
            <a:endParaRPr lang="en-US" altLang="zh-CN" sz="3000" dirty="0" smtClean="0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22.3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沉淀的预测和选择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8392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zh-CN" altLang="en-US" sz="2400" dirty="0" smtClean="0"/>
              <a:t>活动</a:t>
            </a:r>
            <a:r>
              <a:rPr lang="en-US" altLang="zh-CN" sz="2400" dirty="0" smtClean="0"/>
              <a:t>2  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[</a:t>
            </a:r>
            <a:r>
              <a:rPr lang="en-US" altLang="zh-CN" sz="3000" dirty="0" err="1" smtClean="0"/>
              <a:t>AgCl</a:t>
            </a:r>
            <a:r>
              <a:rPr lang="en-US" altLang="zh-CN" sz="3000" dirty="0" smtClean="0"/>
              <a:t>]= 1.77x10</a:t>
            </a:r>
            <a:r>
              <a:rPr lang="en-US" altLang="zh-CN" sz="3000" baseline="30000" dirty="0" smtClean="0"/>
              <a:t>-10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；</a:t>
            </a:r>
            <a:r>
              <a:rPr lang="en-US" altLang="zh-CN" sz="3000" dirty="0" smtClean="0"/>
              <a:t>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[Ag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CrO</a:t>
            </a:r>
            <a:r>
              <a:rPr lang="en-US" altLang="zh-CN" sz="3000" baseline="-25000" dirty="0" smtClean="0"/>
              <a:t>4</a:t>
            </a:r>
            <a:r>
              <a:rPr lang="en-US" altLang="zh-CN" sz="3000" dirty="0" smtClean="0"/>
              <a:t> ]= 9.0x10</a:t>
            </a:r>
            <a:r>
              <a:rPr lang="en-US" altLang="zh-CN" sz="3000" baseline="30000" dirty="0" smtClean="0"/>
              <a:t>-12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[</a:t>
            </a:r>
            <a:r>
              <a:rPr lang="en-US" altLang="zh-CN" sz="3000" dirty="0" err="1" smtClean="0"/>
              <a:t>Cl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 ]= 5x10</a:t>
            </a:r>
            <a:r>
              <a:rPr lang="en-US" altLang="zh-CN" sz="3000" baseline="30000" dirty="0" smtClean="0"/>
              <a:t>-3</a:t>
            </a:r>
            <a:r>
              <a:rPr lang="en-US" altLang="zh-CN" sz="3000" dirty="0" smtClean="0"/>
              <a:t> M</a:t>
            </a:r>
            <a:r>
              <a:rPr lang="zh-CN" altLang="en-US" sz="3000" dirty="0" smtClean="0"/>
              <a:t>；</a:t>
            </a:r>
            <a:r>
              <a:rPr lang="en-US" altLang="zh-CN" sz="3000" dirty="0" smtClean="0"/>
              <a:t>[CrO</a:t>
            </a:r>
            <a:r>
              <a:rPr lang="en-US" altLang="zh-CN" sz="3000" baseline="-25000" dirty="0" smtClean="0"/>
              <a:t>4</a:t>
            </a:r>
            <a:r>
              <a:rPr lang="en-US" altLang="zh-CN" sz="3000" baseline="30000" dirty="0" smtClean="0"/>
              <a:t>2-</a:t>
            </a:r>
            <a:r>
              <a:rPr lang="en-US" altLang="zh-CN" sz="3000" dirty="0" smtClean="0"/>
              <a:t>]= 0.01M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err="1" smtClean="0"/>
              <a:t>AgCl</a:t>
            </a:r>
            <a:r>
              <a:rPr lang="zh-CN" altLang="en-US" sz="3000" dirty="0" smtClean="0"/>
              <a:t>沉淀条件：</a:t>
            </a:r>
            <a:r>
              <a:rPr lang="en-US" altLang="zh-CN" sz="3000" dirty="0" smtClean="0"/>
              <a:t>[Ag</a:t>
            </a:r>
            <a:r>
              <a:rPr lang="en-US" altLang="zh-CN" sz="3000" baseline="30000" dirty="0" smtClean="0"/>
              <a:t>+</a:t>
            </a:r>
            <a:r>
              <a:rPr lang="en-US" altLang="zh-CN" sz="3000" dirty="0" smtClean="0"/>
              <a:t>][</a:t>
            </a:r>
            <a:r>
              <a:rPr lang="en-US" altLang="zh-CN" sz="3000" dirty="0" err="1" smtClean="0"/>
              <a:t>Cl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 &gt;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	      [Ag</a:t>
            </a:r>
            <a:r>
              <a:rPr lang="en-US" altLang="zh-CN" sz="3000" baseline="30000" dirty="0" smtClean="0"/>
              <a:t>+</a:t>
            </a:r>
            <a:r>
              <a:rPr lang="en-US" altLang="zh-CN" sz="3000" dirty="0" smtClean="0"/>
              <a:t>]&gt;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	      [Ag</a:t>
            </a:r>
            <a:r>
              <a:rPr lang="en-US" altLang="zh-CN" sz="3000" baseline="30000" dirty="0" smtClean="0"/>
              <a:t>+</a:t>
            </a:r>
            <a:r>
              <a:rPr lang="en-US" altLang="zh-CN" sz="3000" dirty="0" smtClean="0"/>
              <a:t>]&gt; 3.54 x10</a:t>
            </a:r>
            <a:r>
              <a:rPr lang="en-US" altLang="zh-CN" sz="3000" baseline="30000" dirty="0" smtClean="0"/>
              <a:t>-8</a:t>
            </a:r>
            <a:r>
              <a:rPr lang="en-US" altLang="zh-CN" sz="3000" dirty="0" smtClean="0"/>
              <a:t> M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Ag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CrO</a:t>
            </a:r>
            <a:r>
              <a:rPr lang="en-US" altLang="zh-CN" sz="3000" baseline="-25000" dirty="0" smtClean="0"/>
              <a:t>4</a:t>
            </a:r>
            <a:r>
              <a:rPr lang="zh-CN" altLang="en-US" sz="3000" dirty="0" smtClean="0"/>
              <a:t>沉淀条件：</a:t>
            </a:r>
            <a:r>
              <a:rPr lang="en-US" altLang="zh-CN" sz="3000" dirty="0" smtClean="0"/>
              <a:t>[Ag</a:t>
            </a:r>
            <a:r>
              <a:rPr lang="en-US" altLang="zh-CN" sz="3000" baseline="30000" dirty="0" smtClean="0"/>
              <a:t>+</a:t>
            </a:r>
            <a:r>
              <a:rPr lang="en-US" altLang="zh-CN" sz="3000" dirty="0" smtClean="0"/>
              <a:t>]</a:t>
            </a:r>
            <a:r>
              <a:rPr lang="en-US" altLang="zh-CN" sz="3000" baseline="30000" dirty="0" smtClean="0"/>
              <a:t>2</a:t>
            </a:r>
            <a:r>
              <a:rPr lang="en-US" altLang="zh-CN" sz="3000" dirty="0" smtClean="0"/>
              <a:t> [CrO</a:t>
            </a:r>
            <a:r>
              <a:rPr lang="en-US" altLang="zh-CN" sz="3000" baseline="-25000" dirty="0" smtClean="0"/>
              <a:t>4</a:t>
            </a:r>
            <a:r>
              <a:rPr lang="en-US" altLang="zh-CN" sz="3000" dirty="0" smtClean="0"/>
              <a:t> </a:t>
            </a:r>
            <a:r>
              <a:rPr lang="en-US" altLang="zh-CN" sz="3000" baseline="30000" dirty="0" smtClean="0"/>
              <a:t>2-</a:t>
            </a:r>
            <a:r>
              <a:rPr lang="en-US" altLang="zh-CN" sz="3000" dirty="0" smtClean="0"/>
              <a:t>] &gt;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			[Ag</a:t>
            </a:r>
            <a:r>
              <a:rPr lang="en-US" altLang="zh-CN" sz="3000" baseline="30000" dirty="0" smtClean="0"/>
              <a:t>+</a:t>
            </a:r>
            <a:r>
              <a:rPr lang="en-US" altLang="zh-CN" sz="3000" dirty="0" smtClean="0"/>
              <a:t>]&gt;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	       		[Ag</a:t>
            </a:r>
            <a:r>
              <a:rPr lang="en-US" altLang="zh-CN" sz="3000" baseline="30000" dirty="0" smtClean="0"/>
              <a:t>+</a:t>
            </a:r>
            <a:r>
              <a:rPr lang="en-US" altLang="zh-CN" sz="3000" dirty="0" smtClean="0"/>
              <a:t>]&gt; 3.0 x10</a:t>
            </a:r>
            <a:r>
              <a:rPr lang="en-US" altLang="zh-CN" sz="3000" baseline="30000" dirty="0" smtClean="0"/>
              <a:t>-5</a:t>
            </a:r>
            <a:r>
              <a:rPr lang="en-US" altLang="zh-CN" sz="3000" dirty="0" smtClean="0"/>
              <a:t>M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err="1" smtClean="0"/>
              <a:t>AgCl</a:t>
            </a:r>
            <a:r>
              <a:rPr lang="zh-CN" altLang="en-US" sz="3000" dirty="0" smtClean="0"/>
              <a:t>沉淀较</a:t>
            </a:r>
            <a:r>
              <a:rPr lang="en-US" altLang="zh-CN" sz="3000" dirty="0" smtClean="0"/>
              <a:t>Ag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CrO</a:t>
            </a:r>
            <a:r>
              <a:rPr lang="en-US" altLang="zh-CN" sz="3000" baseline="-25000" dirty="0" smtClean="0"/>
              <a:t>4</a:t>
            </a:r>
            <a:r>
              <a:rPr lang="zh-CN" altLang="en-US" sz="3000" dirty="0" smtClean="0"/>
              <a:t>沉淀需的</a:t>
            </a:r>
            <a:r>
              <a:rPr lang="en-US" altLang="zh-CN" sz="3000" dirty="0" smtClean="0"/>
              <a:t>[Ag</a:t>
            </a:r>
            <a:r>
              <a:rPr lang="en-US" altLang="zh-CN" sz="3000" baseline="30000" dirty="0" smtClean="0"/>
              <a:t>+</a:t>
            </a:r>
            <a:r>
              <a:rPr lang="en-US" altLang="zh-CN" sz="3000" dirty="0" smtClean="0"/>
              <a:t>]</a:t>
            </a:r>
            <a:r>
              <a:rPr lang="zh-CN" altLang="en-US" sz="3000" dirty="0" smtClean="0"/>
              <a:t>较少，</a:t>
            </a:r>
            <a:r>
              <a:rPr lang="en-US" altLang="zh-CN" sz="3000" dirty="0" err="1" smtClean="0"/>
              <a:t>AgCl</a:t>
            </a:r>
            <a:r>
              <a:rPr lang="zh-CN" altLang="en-US" sz="3000" dirty="0" smtClean="0"/>
              <a:t>先沉淀。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endParaRPr lang="en-US" altLang="zh-CN" sz="3000" dirty="0" smtClean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800599" y="2743200"/>
          <a:ext cx="1340427" cy="762657"/>
        </p:xfrm>
        <a:graphic>
          <a:graphicData uri="http://schemas.openxmlformats.org/presentationml/2006/ole">
            <p:oleObj spid="_x0000_s13314" name="Equation" r:id="rId4" imgW="736560" imgH="419040" progId="Equation.3">
              <p:embed/>
            </p:oleObj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019800" y="4572000"/>
          <a:ext cx="1752600" cy="838200"/>
        </p:xfrm>
        <a:graphic>
          <a:graphicData uri="http://schemas.openxmlformats.org/presentationml/2006/ole">
            <p:oleObj spid="_x0000_s13315" name="Equation" r:id="rId5" imgW="787320" imgH="457200" progId="Equation.3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22.3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沉淀的预测和选择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3000" u="sng" dirty="0" smtClean="0"/>
              <a:t>分步沉淀</a:t>
            </a:r>
            <a:endParaRPr lang="en-US" altLang="zh-CN" sz="3000" u="sng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3000" dirty="0" smtClean="0"/>
              <a:t>同一种离子</a:t>
            </a:r>
            <a:r>
              <a:rPr lang="en-US" altLang="zh-CN" sz="3000" dirty="0" smtClean="0"/>
              <a:t>(</a:t>
            </a:r>
            <a:r>
              <a:rPr lang="zh-CN" altLang="en-US" sz="3000" dirty="0" smtClean="0"/>
              <a:t>如</a:t>
            </a:r>
            <a:r>
              <a:rPr lang="en-US" altLang="zh-CN" sz="3000" dirty="0" smtClean="0"/>
              <a:t>Ag</a:t>
            </a:r>
            <a:r>
              <a:rPr lang="en-US" altLang="zh-CN" sz="3000" baseline="30000" dirty="0" smtClean="0"/>
              <a:t>+ </a:t>
            </a:r>
            <a:r>
              <a:rPr lang="en-US" altLang="zh-CN" sz="3000" dirty="0" smtClean="0"/>
              <a:t>)</a:t>
            </a:r>
            <a:r>
              <a:rPr lang="zh-CN" altLang="en-US" sz="3000" dirty="0" smtClean="0"/>
              <a:t>可能与多种不同离子</a:t>
            </a:r>
            <a:r>
              <a:rPr lang="en-US" altLang="zh-CN" sz="3000" dirty="0" smtClean="0"/>
              <a:t>(</a:t>
            </a:r>
            <a:r>
              <a:rPr lang="zh-CN" altLang="en-US" sz="3000" dirty="0" smtClean="0"/>
              <a:t>如</a:t>
            </a:r>
            <a:r>
              <a:rPr lang="en-US" altLang="zh-CN" sz="3000" dirty="0" err="1" smtClean="0"/>
              <a:t>Cl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、</a:t>
            </a:r>
            <a:r>
              <a:rPr lang="en-US" altLang="zh-CN" sz="3000" dirty="0" smtClean="0"/>
              <a:t>CrO</a:t>
            </a:r>
            <a:r>
              <a:rPr lang="en-US" altLang="zh-CN" sz="3000" baseline="-25000" dirty="0" smtClean="0"/>
              <a:t>4</a:t>
            </a:r>
            <a:r>
              <a:rPr lang="en-US" altLang="zh-CN" sz="3000" baseline="30000" dirty="0" smtClean="0"/>
              <a:t>2-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等</a:t>
            </a:r>
            <a:r>
              <a:rPr lang="en-US" altLang="zh-CN" sz="3000" dirty="0" smtClean="0"/>
              <a:t>)</a:t>
            </a:r>
            <a:r>
              <a:rPr lang="zh-CN" altLang="en-US" sz="3000" dirty="0" smtClean="0"/>
              <a:t>反应生成沉淀。</a:t>
            </a:r>
            <a:endParaRPr lang="en-US" altLang="zh-CN" sz="3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3000" dirty="0" smtClean="0"/>
              <a:t>在溶液中离子浓度幂的乘积首先达到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的难溶电解质先沉淀出来，后达到后沉淀。</a:t>
            </a:r>
            <a:endParaRPr lang="en-US" altLang="zh-CN" sz="3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3000" dirty="0" smtClean="0"/>
              <a:t>这种分次沉淀现象称分步沉淀。</a:t>
            </a:r>
            <a:endParaRPr lang="en-US" altLang="zh-CN" sz="3000" dirty="0" smtClean="0"/>
          </a:p>
          <a:p>
            <a:pPr>
              <a:lnSpc>
                <a:spcPct val="150000"/>
              </a:lnSpc>
              <a:buNone/>
            </a:pPr>
            <a:endParaRPr lang="en-US" altLang="zh-CN" sz="3000" dirty="0" smtClean="0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问题解决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839200" cy="60198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zh-CN" altLang="en-US" sz="2400" dirty="0" smtClean="0"/>
              <a:t>查表</a:t>
            </a:r>
            <a:r>
              <a:rPr lang="en-US" altLang="zh-CN" sz="2400" dirty="0" smtClean="0"/>
              <a:t>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[Fe(OH)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]=2.64x10</a:t>
            </a:r>
            <a:r>
              <a:rPr lang="en-US" altLang="zh-CN" sz="3000" baseline="30000" dirty="0" smtClean="0"/>
              <a:t>-39</a:t>
            </a:r>
            <a:r>
              <a:rPr lang="en-US" altLang="zh-CN" sz="3000" dirty="0" smtClean="0"/>
              <a:t> ;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[Mg(OH)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]= 5.61x10</a:t>
            </a:r>
            <a:r>
              <a:rPr lang="en-US" altLang="zh-CN" sz="3000" baseline="30000" dirty="0" smtClean="0"/>
              <a:t>-12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[Fe</a:t>
            </a:r>
            <a:r>
              <a:rPr lang="en-US" altLang="zh-CN" sz="3000" baseline="30000" dirty="0" smtClean="0"/>
              <a:t>3+</a:t>
            </a:r>
            <a:r>
              <a:rPr lang="en-US" altLang="zh-CN" sz="3000" dirty="0" smtClean="0"/>
              <a:t> ]= 0.001 M</a:t>
            </a:r>
            <a:r>
              <a:rPr lang="zh-CN" altLang="en-US" sz="3000" dirty="0" smtClean="0"/>
              <a:t>；</a:t>
            </a:r>
            <a:r>
              <a:rPr lang="en-US" altLang="zh-CN" sz="3000" dirty="0" smtClean="0"/>
              <a:t>[Mg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]= 0.05M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Fe(OH)</a:t>
            </a:r>
            <a:r>
              <a:rPr lang="en-US" altLang="zh-CN" sz="3000" baseline="-25000" dirty="0" smtClean="0"/>
              <a:t>3</a:t>
            </a:r>
            <a:r>
              <a:rPr lang="zh-CN" altLang="en-US" sz="3000" dirty="0" smtClean="0"/>
              <a:t>沉淀条件：</a:t>
            </a:r>
            <a:r>
              <a:rPr lang="en-US" altLang="zh-CN" sz="3000" dirty="0" smtClean="0"/>
              <a:t>[Fe</a:t>
            </a:r>
            <a:r>
              <a:rPr lang="en-US" altLang="zh-CN" sz="3000" baseline="30000" dirty="0" smtClean="0"/>
              <a:t>3+</a:t>
            </a:r>
            <a:r>
              <a:rPr lang="en-US" altLang="zh-CN" sz="3000" dirty="0" smtClean="0"/>
              <a:t>][OH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</a:t>
            </a:r>
            <a:r>
              <a:rPr lang="en-US" altLang="zh-CN" sz="3000" baseline="30000" dirty="0" smtClean="0"/>
              <a:t>3</a:t>
            </a:r>
            <a:r>
              <a:rPr lang="en-US" altLang="zh-CN" sz="3000" dirty="0" smtClean="0"/>
              <a:t> &gt;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	      	     [OH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 &gt;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	      	      [OH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]&gt; 1.39 x10</a:t>
            </a:r>
            <a:r>
              <a:rPr lang="en-US" altLang="zh-CN" sz="3000" baseline="30000" dirty="0" smtClean="0"/>
              <a:t>-12</a:t>
            </a:r>
            <a:r>
              <a:rPr lang="en-US" altLang="zh-CN" sz="3000" dirty="0" smtClean="0"/>
              <a:t> M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Mg(OH)</a:t>
            </a:r>
            <a:r>
              <a:rPr lang="en-US" altLang="zh-CN" sz="3000" baseline="-25000" dirty="0" smtClean="0"/>
              <a:t>2</a:t>
            </a:r>
            <a:r>
              <a:rPr lang="zh-CN" altLang="en-US" sz="3000" dirty="0" smtClean="0"/>
              <a:t>沉淀条件：</a:t>
            </a:r>
            <a:r>
              <a:rPr lang="en-US" altLang="zh-CN" sz="3000" dirty="0" smtClean="0"/>
              <a:t>[Mg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] [OH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</a:t>
            </a:r>
            <a:r>
              <a:rPr lang="en-US" altLang="zh-CN" sz="3000" baseline="30000" dirty="0" smtClean="0"/>
              <a:t>2</a:t>
            </a:r>
            <a:r>
              <a:rPr lang="en-US" altLang="zh-CN" sz="3000" dirty="0" smtClean="0"/>
              <a:t> &gt;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			[OH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]&gt;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	       		[OH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]&gt; 1.06 x10</a:t>
            </a:r>
            <a:r>
              <a:rPr lang="en-US" altLang="zh-CN" sz="3000" baseline="30000" dirty="0" smtClean="0"/>
              <a:t>-5</a:t>
            </a:r>
            <a:r>
              <a:rPr lang="en-US" altLang="zh-CN" sz="3000" dirty="0" smtClean="0"/>
              <a:t>M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Fe(OH)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先沉淀。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endParaRPr lang="en-US" altLang="zh-CN" sz="3000" dirty="0" smtClean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5511800" y="2590800"/>
          <a:ext cx="1593850" cy="831850"/>
        </p:xfrm>
        <a:graphic>
          <a:graphicData uri="http://schemas.openxmlformats.org/presentationml/2006/ole">
            <p:oleObj spid="_x0000_s14338" name="Equation" r:id="rId4" imgW="876240" imgH="457200" progId="Equation.3">
              <p:embed/>
            </p:oleObj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5949950" y="4419600"/>
          <a:ext cx="1893888" cy="838200"/>
        </p:xfrm>
        <a:graphic>
          <a:graphicData uri="http://schemas.openxmlformats.org/presentationml/2006/ole">
            <p:oleObj spid="_x0000_s14339" name="Equation" r:id="rId5" imgW="850680" imgH="457200" progId="Equation.3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问题解决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1. </a:t>
            </a:r>
            <a:r>
              <a:rPr lang="zh-CN" altLang="en-US" sz="3000" dirty="0" smtClean="0"/>
              <a:t>原本</a:t>
            </a:r>
            <a:r>
              <a:rPr lang="en-US" altLang="zh-CN" sz="3000" dirty="0" smtClean="0"/>
              <a:t>[Fe</a:t>
            </a:r>
            <a:r>
              <a:rPr lang="en-US" altLang="zh-CN" sz="3000" baseline="30000" dirty="0" smtClean="0"/>
              <a:t>3+</a:t>
            </a:r>
            <a:r>
              <a:rPr lang="en-US" altLang="zh-CN" sz="3000" dirty="0" smtClean="0"/>
              <a:t> ]= 0.001 M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当</a:t>
            </a:r>
            <a:r>
              <a:rPr lang="en-US" altLang="zh-CN" sz="3000" dirty="0" smtClean="0"/>
              <a:t>[Fe</a:t>
            </a:r>
            <a:r>
              <a:rPr lang="en-US" altLang="zh-CN" sz="3000" baseline="30000" dirty="0" smtClean="0"/>
              <a:t>3+</a:t>
            </a:r>
            <a:r>
              <a:rPr lang="en-US" altLang="zh-CN" sz="3000" dirty="0" smtClean="0"/>
              <a:t>]=10</a:t>
            </a:r>
            <a:r>
              <a:rPr lang="en-US" altLang="zh-CN" sz="3000" baseline="30000" dirty="0" smtClean="0"/>
              <a:t>-6 </a:t>
            </a:r>
            <a:r>
              <a:rPr lang="en-US" altLang="zh-CN" sz="3000" dirty="0" smtClean="0"/>
              <a:t> M </a:t>
            </a:r>
            <a:r>
              <a:rPr lang="zh-CN" altLang="en-US" sz="3000" dirty="0" smtClean="0"/>
              <a:t>时，即有</a:t>
            </a:r>
            <a:r>
              <a:rPr lang="en-US" altLang="zh-CN" sz="3000" dirty="0" smtClean="0"/>
              <a:t>Fe(OH)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沉淀出来，此时</a:t>
            </a:r>
            <a:r>
              <a:rPr lang="en-US" altLang="zh-CN" sz="3000" dirty="0" smtClean="0"/>
              <a:t>Fe(OH)</a:t>
            </a:r>
            <a:r>
              <a:rPr lang="en-US" altLang="zh-CN" sz="3000" baseline="-25000" dirty="0" smtClean="0"/>
              <a:t>3</a:t>
            </a:r>
            <a:r>
              <a:rPr lang="zh-CN" altLang="en-US" sz="3000" baseline="-25000" dirty="0" smtClean="0"/>
              <a:t> </a:t>
            </a:r>
            <a:r>
              <a:rPr lang="zh-CN" altLang="en-US" sz="3000" dirty="0" smtClean="0"/>
              <a:t> 处于溶解平衡。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此时</a:t>
            </a:r>
            <a:r>
              <a:rPr lang="en-US" altLang="zh-CN" sz="3000" dirty="0" smtClean="0"/>
              <a:t> [Fe</a:t>
            </a:r>
            <a:r>
              <a:rPr lang="en-US" altLang="zh-CN" sz="3000" baseline="30000" dirty="0" smtClean="0"/>
              <a:t>3+</a:t>
            </a:r>
            <a:r>
              <a:rPr lang="en-US" altLang="zh-CN" sz="3000" dirty="0" smtClean="0"/>
              <a:t>][OH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</a:t>
            </a:r>
            <a:r>
              <a:rPr lang="en-US" altLang="zh-CN" sz="3000" baseline="30000" dirty="0" smtClean="0"/>
              <a:t>3</a:t>
            </a:r>
            <a:r>
              <a:rPr lang="en-US" altLang="zh-CN" sz="3000" dirty="0" smtClean="0"/>
              <a:t> =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    	     	[OH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 =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[OH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]= 1.39 x10</a:t>
            </a:r>
            <a:r>
              <a:rPr lang="en-US" altLang="zh-CN" sz="3000" baseline="30000" dirty="0" smtClean="0"/>
              <a:t>-11</a:t>
            </a:r>
            <a:r>
              <a:rPr lang="en-US" altLang="zh-CN" sz="3000" dirty="0" smtClean="0"/>
              <a:t> M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2800" dirty="0" smtClean="0"/>
              <a:t>还未达到 </a:t>
            </a:r>
            <a:r>
              <a:rPr lang="en-US" altLang="zh-CN" sz="2800" dirty="0" smtClean="0"/>
              <a:t>Mg(OH)</a:t>
            </a:r>
            <a:r>
              <a:rPr lang="en-US" altLang="zh-CN" sz="2800" baseline="-25000" dirty="0" smtClean="0"/>
              <a:t>2</a:t>
            </a:r>
            <a:r>
              <a:rPr lang="zh-CN" altLang="en-US" sz="2800" dirty="0" smtClean="0"/>
              <a:t>沉淀时所需的</a:t>
            </a:r>
            <a:r>
              <a:rPr lang="en-US" altLang="zh-CN" sz="2800" dirty="0" smtClean="0"/>
              <a:t>[OH</a:t>
            </a:r>
            <a:r>
              <a:rPr lang="en-US" altLang="zh-CN" sz="2800" baseline="30000" dirty="0" smtClean="0"/>
              <a:t>-</a:t>
            </a:r>
            <a:r>
              <a:rPr lang="en-US" altLang="zh-CN" sz="2800" dirty="0" smtClean="0"/>
              <a:t>]</a:t>
            </a:r>
            <a:r>
              <a:rPr lang="zh-CN" altLang="en-US" sz="2800" dirty="0" smtClean="0"/>
              <a:t>，故溶液中</a:t>
            </a:r>
            <a:r>
              <a:rPr lang="en-US" altLang="zh-CN" sz="3000" dirty="0" smtClean="0"/>
              <a:t>[Mg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]= 0.05M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2. </a:t>
            </a:r>
            <a:r>
              <a:rPr lang="en-US" sz="2800" dirty="0" err="1" smtClean="0"/>
              <a:t>PbS</a:t>
            </a:r>
            <a:r>
              <a:rPr lang="en-US" sz="2800" dirty="0" smtClean="0"/>
              <a:t> </a:t>
            </a:r>
            <a:r>
              <a:rPr lang="zh-CN" altLang="en-US" sz="2800" dirty="0" smtClean="0"/>
              <a:t>的 </a:t>
            </a:r>
            <a:r>
              <a:rPr lang="en-US" sz="2800" dirty="0" err="1" smtClean="0"/>
              <a:t>Ksp</a:t>
            </a:r>
            <a:r>
              <a:rPr lang="en-US" sz="2800" dirty="0" smtClean="0"/>
              <a:t> </a:t>
            </a:r>
            <a:r>
              <a:rPr lang="zh-CN" altLang="en-US" sz="2800" dirty="0" smtClean="0"/>
              <a:t>最小，所以用含有</a:t>
            </a:r>
            <a:r>
              <a:rPr lang="en-US" sz="2800" dirty="0" smtClean="0"/>
              <a:t>S</a:t>
            </a:r>
            <a:r>
              <a:rPr lang="en-US" sz="2800" baseline="30000" dirty="0" smtClean="0"/>
              <a:t>2</a:t>
            </a:r>
            <a:r>
              <a:rPr lang="en-US" altLang="zh-CN" sz="2800" baseline="30000" dirty="0" smtClean="0"/>
              <a:t>-</a:t>
            </a:r>
            <a:r>
              <a:rPr lang="en-US" sz="2800" dirty="0" smtClean="0"/>
              <a:t> </a:t>
            </a:r>
            <a:r>
              <a:rPr lang="zh-CN" altLang="en-US" sz="2800" dirty="0" smtClean="0"/>
              <a:t>的试剂沉淀效果最好。 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</a:t>
            </a:r>
          </a:p>
        </p:txBody>
      </p:sp>
      <p:graphicFrame>
        <p:nvGraphicFramePr>
          <p:cNvPr id="30721" name="Object 1"/>
          <p:cNvGraphicFramePr>
            <a:graphicFrameLocks noChangeAspect="1"/>
          </p:cNvGraphicFramePr>
          <p:nvPr/>
        </p:nvGraphicFramePr>
        <p:xfrm>
          <a:off x="3352800" y="3206750"/>
          <a:ext cx="1593850" cy="831850"/>
        </p:xfrm>
        <a:graphic>
          <a:graphicData uri="http://schemas.openxmlformats.org/presentationml/2006/ole">
            <p:oleObj spid="_x0000_s30721" name="Equation" r:id="rId4" imgW="876240" imgH="457200" progId="Equation.3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思考题</a:t>
            </a:r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22d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[Mg(OH)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]= 5.61x10</a:t>
            </a:r>
            <a:r>
              <a:rPr lang="en-US" altLang="zh-CN" sz="3000" baseline="30000" dirty="0" smtClean="0"/>
              <a:t>-12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混合后</a:t>
            </a:r>
            <a:r>
              <a:rPr lang="en-US" altLang="zh-CN" sz="3000" dirty="0" smtClean="0"/>
              <a:t>[MgCl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]= 0.05M </a:t>
            </a:r>
            <a:r>
              <a:rPr lang="zh-CN" altLang="en-US" sz="3000" dirty="0" smtClean="0"/>
              <a:t>，</a:t>
            </a:r>
            <a:r>
              <a:rPr lang="en-US" altLang="zh-CN" sz="3000" dirty="0" smtClean="0"/>
              <a:t>[</a:t>
            </a:r>
            <a:r>
              <a:rPr lang="en-US" altLang="zh-CN" sz="3000" dirty="0" err="1" smtClean="0"/>
              <a:t>NaOH</a:t>
            </a:r>
            <a:r>
              <a:rPr lang="en-US" altLang="zh-CN" sz="3000" dirty="0" smtClean="0"/>
              <a:t>]=0.1M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则</a:t>
            </a:r>
            <a:r>
              <a:rPr lang="en-US" altLang="zh-CN" sz="3000" dirty="0" smtClean="0"/>
              <a:t>[Mg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 ] =0.05M</a:t>
            </a:r>
            <a:r>
              <a:rPr lang="zh-CN" altLang="en-US" sz="3000" dirty="0" smtClean="0"/>
              <a:t>，</a:t>
            </a:r>
            <a:r>
              <a:rPr lang="en-US" altLang="zh-CN" sz="3000" dirty="0" smtClean="0"/>
              <a:t>[OH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]=0.1M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[Mg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 ] [OH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</a:t>
            </a:r>
            <a:r>
              <a:rPr lang="en-US" altLang="zh-CN" sz="3000" baseline="30000" dirty="0" smtClean="0"/>
              <a:t>2</a:t>
            </a:r>
            <a:r>
              <a:rPr lang="en-US" altLang="zh-CN" sz="3000" dirty="0" smtClean="0"/>
              <a:t> = 0.05x0.1</a:t>
            </a:r>
            <a:r>
              <a:rPr lang="en-US" altLang="zh-CN" sz="3000" baseline="30000" dirty="0" smtClean="0"/>
              <a:t>2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    = 5x10</a:t>
            </a:r>
            <a:r>
              <a:rPr lang="en-US" altLang="zh-CN" sz="3000" baseline="30000" dirty="0" smtClean="0"/>
              <a:t>-4</a:t>
            </a:r>
            <a:r>
              <a:rPr lang="en-US" altLang="zh-CN" sz="3000" dirty="0" smtClean="0"/>
              <a:t>  &gt;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有</a:t>
            </a:r>
            <a:r>
              <a:rPr lang="en-US" altLang="zh-CN" sz="3000" dirty="0" smtClean="0"/>
              <a:t>Mg(OH)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沉淀。</a:t>
            </a:r>
            <a:endParaRPr lang="en-US" altLang="zh-CN" sz="3000" dirty="0" smtClean="0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22.4 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沉淀的转化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沉淀的相互转化实质是溶解平衡的移动。</a:t>
            </a:r>
            <a:r>
              <a:rPr lang="en-US" altLang="zh-CN" sz="3000" dirty="0" smtClean="0"/>
              <a:t>	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000" dirty="0" smtClean="0">
                <a:sym typeface="Wingdings" pitchFamily="2" charset="2"/>
              </a:rPr>
              <a:t>	</a:t>
            </a:r>
            <a:r>
              <a:rPr lang="en-US" altLang="zh-CN" sz="3000" dirty="0" err="1" smtClean="0">
                <a:sym typeface="Wingdings" pitchFamily="2" charset="2"/>
              </a:rPr>
              <a:t>AgCl</a:t>
            </a:r>
            <a:r>
              <a:rPr lang="en-US" altLang="zh-CN" sz="3000" dirty="0" smtClean="0">
                <a:sym typeface="Wingdings" pitchFamily="2" charset="2"/>
              </a:rPr>
              <a:t> (s)	&lt;--&gt;  Ag</a:t>
            </a:r>
            <a:r>
              <a:rPr lang="en-US" altLang="zh-CN" sz="3000" baseline="30000" dirty="0" smtClean="0">
                <a:sym typeface="Wingdings" pitchFamily="2" charset="2"/>
              </a:rPr>
              <a:t>+</a:t>
            </a:r>
            <a:r>
              <a:rPr lang="en-US" altLang="zh-CN" sz="3000" dirty="0" smtClean="0">
                <a:sym typeface="Wingdings" pitchFamily="2" charset="2"/>
              </a:rPr>
              <a:t>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 + </a:t>
            </a:r>
            <a:r>
              <a:rPr lang="en-US" altLang="zh-CN" sz="3000" dirty="0" err="1" smtClean="0">
                <a:sym typeface="Wingdings" pitchFamily="2" charset="2"/>
              </a:rPr>
              <a:t>Cl</a:t>
            </a:r>
            <a:r>
              <a:rPr lang="en-US" altLang="zh-CN" sz="3000" baseline="30000" dirty="0" smtClean="0">
                <a:sym typeface="Wingdings" pitchFamily="2" charset="2"/>
              </a:rPr>
              <a:t>-</a:t>
            </a:r>
            <a:r>
              <a:rPr lang="en-US" altLang="zh-CN" sz="3000" dirty="0" smtClean="0">
                <a:sym typeface="Wingdings" pitchFamily="2" charset="2"/>
              </a:rPr>
              <a:t>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000" dirty="0" smtClean="0">
                <a:sym typeface="Wingdings" pitchFamily="2" charset="2"/>
              </a:rPr>
              <a:t>	KI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 	  	I</a:t>
            </a:r>
            <a:r>
              <a:rPr lang="en-US" altLang="zh-CN" sz="3000" baseline="30000" dirty="0" smtClean="0">
                <a:sym typeface="Wingdings" pitchFamily="2" charset="2"/>
              </a:rPr>
              <a:t>-</a:t>
            </a:r>
            <a:r>
              <a:rPr lang="en-US" altLang="zh-CN" sz="3000" dirty="0" smtClean="0">
                <a:sym typeface="Wingdings" pitchFamily="2" charset="2"/>
              </a:rPr>
              <a:t>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 +    K</a:t>
            </a:r>
            <a:r>
              <a:rPr lang="en-US" altLang="zh-CN" sz="3000" baseline="30000" dirty="0" smtClean="0">
                <a:sym typeface="Wingdings" pitchFamily="2" charset="2"/>
              </a:rPr>
              <a:t>+</a:t>
            </a:r>
            <a:r>
              <a:rPr lang="en-US" altLang="zh-CN" sz="3000" dirty="0" smtClean="0">
                <a:sym typeface="Wingdings" pitchFamily="2" charset="2"/>
              </a:rPr>
              <a:t>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000" dirty="0" smtClean="0">
                <a:sym typeface="Wingdings" pitchFamily="2" charset="2"/>
              </a:rPr>
              <a:t>			      </a:t>
            </a:r>
            <a:r>
              <a:rPr lang="en-US" altLang="zh-CN" sz="3000" dirty="0" err="1" smtClean="0">
                <a:sym typeface="Wingdings" pitchFamily="2" charset="2"/>
              </a:rPr>
              <a:t>AgI</a:t>
            </a:r>
            <a:r>
              <a:rPr lang="en-US" altLang="zh-CN" sz="3000" dirty="0" smtClean="0">
                <a:sym typeface="Wingdings" pitchFamily="2" charset="2"/>
              </a:rPr>
              <a:t> (s) </a:t>
            </a:r>
            <a:r>
              <a:rPr lang="en-US" altLang="zh-CN" sz="3000" dirty="0" smtClean="0"/>
              <a:t>		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000" dirty="0" smtClean="0">
                <a:sym typeface="Wingdings" pitchFamily="2" charset="2"/>
              </a:rPr>
              <a:t>	BaSO</a:t>
            </a:r>
            <a:r>
              <a:rPr lang="en-US" altLang="zh-CN" sz="3000" baseline="-25000" dirty="0" smtClean="0">
                <a:sym typeface="Wingdings" pitchFamily="2" charset="2"/>
              </a:rPr>
              <a:t>4</a:t>
            </a:r>
            <a:r>
              <a:rPr lang="en-US" altLang="zh-CN" sz="3000" dirty="0" smtClean="0">
                <a:sym typeface="Wingdings" pitchFamily="2" charset="2"/>
              </a:rPr>
              <a:t> (s)	&lt;--&gt;  Ba</a:t>
            </a:r>
            <a:r>
              <a:rPr lang="en-US" altLang="zh-CN" sz="3000" baseline="30000" dirty="0" smtClean="0">
                <a:sym typeface="Wingdings" pitchFamily="2" charset="2"/>
              </a:rPr>
              <a:t>2+</a:t>
            </a:r>
            <a:r>
              <a:rPr lang="en-US" altLang="zh-CN" sz="3000" dirty="0" smtClean="0">
                <a:sym typeface="Wingdings" pitchFamily="2" charset="2"/>
              </a:rPr>
              <a:t>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 +SO</a:t>
            </a:r>
            <a:r>
              <a:rPr lang="en-US" altLang="zh-CN" sz="3000" baseline="-25000" dirty="0" smtClean="0">
                <a:sym typeface="Wingdings" pitchFamily="2" charset="2"/>
              </a:rPr>
              <a:t>4</a:t>
            </a:r>
            <a:r>
              <a:rPr lang="en-US" altLang="zh-CN" sz="3000" baseline="30000" dirty="0" smtClean="0">
                <a:sym typeface="Wingdings" pitchFamily="2" charset="2"/>
              </a:rPr>
              <a:t>2-</a:t>
            </a:r>
            <a:r>
              <a:rPr lang="en-US" altLang="zh-CN" sz="3000" dirty="0" smtClean="0">
                <a:sym typeface="Wingdings" pitchFamily="2" charset="2"/>
              </a:rPr>
              <a:t>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000" dirty="0" smtClean="0">
                <a:sym typeface="Wingdings" pitchFamily="2" charset="2"/>
              </a:rPr>
              <a:t>	Na</a:t>
            </a:r>
            <a:r>
              <a:rPr lang="en-US" altLang="zh-CN" sz="3000" baseline="-25000" dirty="0" smtClean="0">
                <a:sym typeface="Wingdings" pitchFamily="2" charset="2"/>
              </a:rPr>
              <a:t>2</a:t>
            </a:r>
            <a:r>
              <a:rPr lang="en-US" altLang="zh-CN" sz="3000" dirty="0" smtClean="0">
                <a:sym typeface="Wingdings" pitchFamily="2" charset="2"/>
              </a:rPr>
              <a:t>CO</a:t>
            </a:r>
            <a:r>
              <a:rPr lang="en-US" altLang="zh-CN" sz="3000" baseline="-25000" dirty="0" smtClean="0">
                <a:sym typeface="Wingdings" pitchFamily="2" charset="2"/>
              </a:rPr>
              <a:t>3</a:t>
            </a:r>
            <a:r>
              <a:rPr lang="en-US" altLang="zh-CN" sz="3000" dirty="0" smtClean="0">
                <a:sym typeface="Wingdings" pitchFamily="2" charset="2"/>
              </a:rPr>
              <a:t>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   CO</a:t>
            </a:r>
            <a:r>
              <a:rPr lang="en-US" altLang="zh-CN" sz="3000" baseline="-25000" dirty="0" smtClean="0">
                <a:sym typeface="Wingdings" pitchFamily="2" charset="2"/>
              </a:rPr>
              <a:t>3</a:t>
            </a:r>
            <a:r>
              <a:rPr lang="en-US" altLang="zh-CN" sz="3000" baseline="30000" dirty="0" smtClean="0">
                <a:sym typeface="Wingdings" pitchFamily="2" charset="2"/>
              </a:rPr>
              <a:t>2-</a:t>
            </a:r>
            <a:r>
              <a:rPr lang="en-US" altLang="zh-CN" sz="3000" dirty="0" smtClean="0">
                <a:sym typeface="Wingdings" pitchFamily="2" charset="2"/>
              </a:rPr>
              <a:t>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 +    2Na</a:t>
            </a:r>
            <a:r>
              <a:rPr lang="en-US" altLang="zh-CN" sz="3000" baseline="30000" dirty="0" smtClean="0">
                <a:sym typeface="Wingdings" pitchFamily="2" charset="2"/>
              </a:rPr>
              <a:t>+</a:t>
            </a:r>
            <a:r>
              <a:rPr lang="en-US" altLang="zh-CN" sz="3000" dirty="0" smtClean="0">
                <a:sym typeface="Wingdings" pitchFamily="2" charset="2"/>
              </a:rPr>
              <a:t>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000" dirty="0" smtClean="0">
                <a:sym typeface="Wingdings" pitchFamily="2" charset="2"/>
              </a:rPr>
              <a:t>			        BaCO</a:t>
            </a:r>
            <a:r>
              <a:rPr lang="en-US" altLang="zh-CN" sz="3000" baseline="-25000" dirty="0" smtClean="0">
                <a:sym typeface="Wingdings" pitchFamily="2" charset="2"/>
              </a:rPr>
              <a:t>3</a:t>
            </a:r>
            <a:r>
              <a:rPr lang="en-US" altLang="zh-CN" sz="3000" dirty="0" smtClean="0">
                <a:sym typeface="Wingdings" pitchFamily="2" charset="2"/>
              </a:rPr>
              <a:t> (s) </a:t>
            </a:r>
            <a:r>
              <a:rPr lang="en-US" altLang="zh-CN" sz="3000" dirty="0" smtClean="0"/>
              <a:t>	</a:t>
            </a:r>
          </a:p>
        </p:txBody>
      </p:sp>
      <p:grpSp>
        <p:nvGrpSpPr>
          <p:cNvPr id="9" name="Group 11"/>
          <p:cNvGrpSpPr/>
          <p:nvPr/>
        </p:nvGrpSpPr>
        <p:grpSpPr>
          <a:xfrm rot="5400000">
            <a:off x="3017520" y="2758440"/>
            <a:ext cx="274320" cy="91440"/>
            <a:chOff x="2895600" y="6324600"/>
            <a:chExt cx="2133600" cy="76199"/>
          </a:xfrm>
        </p:grpSpPr>
        <p:cxnSp>
          <p:nvCxnSpPr>
            <p:cNvPr id="10" name="Straight Arrow Connector 9"/>
            <p:cNvCxnSpPr/>
            <p:nvPr/>
          </p:nvCxnSpPr>
          <p:spPr>
            <a:xfrm rot="10800000">
              <a:off x="2895600" y="6399210"/>
              <a:ext cx="2057400" cy="1589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2895600" y="6324600"/>
              <a:ext cx="21336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048000" y="1960602"/>
            <a:ext cx="3770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smtClean="0"/>
              <a:t>+</a:t>
            </a:r>
            <a:endParaRPr lang="en-US" sz="3000" dirty="0"/>
          </a:p>
        </p:txBody>
      </p:sp>
      <p:grpSp>
        <p:nvGrpSpPr>
          <p:cNvPr id="13" name="Group 11"/>
          <p:cNvGrpSpPr/>
          <p:nvPr/>
        </p:nvGrpSpPr>
        <p:grpSpPr>
          <a:xfrm rot="5400000">
            <a:off x="3169920" y="4541520"/>
            <a:ext cx="274320" cy="91440"/>
            <a:chOff x="2895600" y="6324600"/>
            <a:chExt cx="2133600" cy="76199"/>
          </a:xfrm>
        </p:grpSpPr>
        <p:cxnSp>
          <p:nvCxnSpPr>
            <p:cNvPr id="14" name="Straight Arrow Connector 13"/>
            <p:cNvCxnSpPr/>
            <p:nvPr/>
          </p:nvCxnSpPr>
          <p:spPr>
            <a:xfrm rot="10800000">
              <a:off x="2895600" y="6399210"/>
              <a:ext cx="2057400" cy="1589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2895600" y="6324600"/>
              <a:ext cx="21336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3048000" y="3743682"/>
            <a:ext cx="3770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smtClean="0"/>
              <a:t>+</a:t>
            </a:r>
            <a:endParaRPr lang="en-US" sz="3000" dirty="0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/>
      <p:bldP spid="1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问题解决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3000" dirty="0" smtClean="0">
                <a:sym typeface="Wingdings" pitchFamily="2" charset="2"/>
              </a:rPr>
              <a:t>	CaSO</a:t>
            </a:r>
            <a:r>
              <a:rPr lang="en-US" altLang="zh-CN" sz="3000" baseline="-25000" dirty="0" smtClean="0">
                <a:sym typeface="Wingdings" pitchFamily="2" charset="2"/>
              </a:rPr>
              <a:t>4</a:t>
            </a:r>
            <a:r>
              <a:rPr lang="en-US" altLang="zh-CN" sz="3000" dirty="0" smtClean="0">
                <a:sym typeface="Wingdings" pitchFamily="2" charset="2"/>
              </a:rPr>
              <a:t> (s)	&lt;--&gt;  Ca</a:t>
            </a:r>
            <a:r>
              <a:rPr lang="en-US" altLang="zh-CN" sz="3000" baseline="30000" dirty="0" smtClean="0">
                <a:sym typeface="Wingdings" pitchFamily="2" charset="2"/>
              </a:rPr>
              <a:t>2+</a:t>
            </a:r>
            <a:r>
              <a:rPr lang="en-US" altLang="zh-CN" sz="3000" dirty="0" smtClean="0">
                <a:sym typeface="Wingdings" pitchFamily="2" charset="2"/>
              </a:rPr>
              <a:t>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 +SO</a:t>
            </a:r>
            <a:r>
              <a:rPr lang="en-US" altLang="zh-CN" sz="3000" baseline="-25000" dirty="0" smtClean="0">
                <a:sym typeface="Wingdings" pitchFamily="2" charset="2"/>
              </a:rPr>
              <a:t>4</a:t>
            </a:r>
            <a:r>
              <a:rPr lang="en-US" altLang="zh-CN" sz="3000" baseline="30000" dirty="0" smtClean="0">
                <a:sym typeface="Wingdings" pitchFamily="2" charset="2"/>
              </a:rPr>
              <a:t>2-</a:t>
            </a:r>
            <a:r>
              <a:rPr lang="en-US" altLang="zh-CN" sz="3000" dirty="0" smtClean="0">
                <a:sym typeface="Wingdings" pitchFamily="2" charset="2"/>
              </a:rPr>
              <a:t>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000" dirty="0" smtClean="0">
                <a:sym typeface="Wingdings" pitchFamily="2" charset="2"/>
              </a:rPr>
              <a:t>	Na</a:t>
            </a:r>
            <a:r>
              <a:rPr lang="en-US" altLang="zh-CN" sz="3000" baseline="-25000" dirty="0" smtClean="0">
                <a:sym typeface="Wingdings" pitchFamily="2" charset="2"/>
              </a:rPr>
              <a:t>2</a:t>
            </a:r>
            <a:r>
              <a:rPr lang="en-US" altLang="zh-CN" sz="3000" dirty="0" smtClean="0">
                <a:sym typeface="Wingdings" pitchFamily="2" charset="2"/>
              </a:rPr>
              <a:t>CO</a:t>
            </a:r>
            <a:r>
              <a:rPr lang="en-US" altLang="zh-CN" sz="3000" baseline="-25000" dirty="0" smtClean="0">
                <a:sym typeface="Wingdings" pitchFamily="2" charset="2"/>
              </a:rPr>
              <a:t>3</a:t>
            </a:r>
            <a:r>
              <a:rPr lang="en-US" altLang="zh-CN" sz="3000" dirty="0" smtClean="0">
                <a:sym typeface="Wingdings" pitchFamily="2" charset="2"/>
              </a:rPr>
              <a:t>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   CO</a:t>
            </a:r>
            <a:r>
              <a:rPr lang="en-US" altLang="zh-CN" sz="3000" baseline="-25000" dirty="0" smtClean="0">
                <a:sym typeface="Wingdings" pitchFamily="2" charset="2"/>
              </a:rPr>
              <a:t>3</a:t>
            </a:r>
            <a:r>
              <a:rPr lang="en-US" altLang="zh-CN" sz="3000" baseline="30000" dirty="0" smtClean="0">
                <a:sym typeface="Wingdings" pitchFamily="2" charset="2"/>
              </a:rPr>
              <a:t>2-</a:t>
            </a:r>
            <a:r>
              <a:rPr lang="en-US" altLang="zh-CN" sz="3000" dirty="0" smtClean="0">
                <a:sym typeface="Wingdings" pitchFamily="2" charset="2"/>
              </a:rPr>
              <a:t>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 +    2Na</a:t>
            </a:r>
            <a:r>
              <a:rPr lang="en-US" altLang="zh-CN" sz="3000" baseline="30000" dirty="0" smtClean="0">
                <a:sym typeface="Wingdings" pitchFamily="2" charset="2"/>
              </a:rPr>
              <a:t>+</a:t>
            </a:r>
            <a:r>
              <a:rPr lang="en-US" altLang="zh-CN" sz="3000" dirty="0" smtClean="0">
                <a:sym typeface="Wingdings" pitchFamily="2" charset="2"/>
              </a:rPr>
              <a:t>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000" dirty="0" smtClean="0">
                <a:sym typeface="Wingdings" pitchFamily="2" charset="2"/>
              </a:rPr>
              <a:t>			        CaCO</a:t>
            </a:r>
            <a:r>
              <a:rPr lang="en-US" altLang="zh-CN" sz="3000" baseline="-25000" dirty="0" smtClean="0">
                <a:sym typeface="Wingdings" pitchFamily="2" charset="2"/>
              </a:rPr>
              <a:t>3</a:t>
            </a:r>
            <a:r>
              <a:rPr lang="en-US" altLang="zh-CN" sz="3000" dirty="0" smtClean="0">
                <a:sym typeface="Wingdings" pitchFamily="2" charset="2"/>
              </a:rPr>
              <a:t> (s) </a:t>
            </a:r>
            <a:r>
              <a:rPr lang="en-US" altLang="zh-CN" sz="3000" dirty="0" smtClean="0"/>
              <a:t>	</a:t>
            </a:r>
          </a:p>
          <a:p>
            <a:pPr>
              <a:spcBef>
                <a:spcPts val="1200"/>
              </a:spcBef>
              <a:buNone/>
            </a:pPr>
            <a:endParaRPr lang="en-US" altLang="zh-CN" sz="3000" dirty="0" smtClean="0"/>
          </a:p>
          <a:p>
            <a:pPr>
              <a:spcBef>
                <a:spcPts val="1200"/>
              </a:spcBef>
              <a:buNone/>
            </a:pPr>
            <a:r>
              <a:rPr lang="zh-CN" altLang="en-US" sz="3000" dirty="0" smtClean="0"/>
              <a:t>总反应的离子方程式：</a:t>
            </a:r>
            <a:endParaRPr lang="en-US" altLang="zh-CN" sz="3000" dirty="0" smtClean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 smtClean="0"/>
              <a:t>	</a:t>
            </a:r>
            <a:r>
              <a:rPr lang="en-US" altLang="zh-CN" sz="3000" dirty="0" smtClean="0">
                <a:sym typeface="Wingdings" pitchFamily="2" charset="2"/>
              </a:rPr>
              <a:t> CaSO</a:t>
            </a:r>
            <a:r>
              <a:rPr lang="en-US" altLang="zh-CN" sz="3000" baseline="-25000" dirty="0" smtClean="0">
                <a:sym typeface="Wingdings" pitchFamily="2" charset="2"/>
              </a:rPr>
              <a:t>4</a:t>
            </a:r>
            <a:r>
              <a:rPr lang="en-US" altLang="zh-CN" sz="3000" dirty="0" smtClean="0">
                <a:sym typeface="Wingdings" pitchFamily="2" charset="2"/>
              </a:rPr>
              <a:t> (s) + CO</a:t>
            </a:r>
            <a:r>
              <a:rPr lang="en-US" altLang="zh-CN" sz="3000" baseline="-25000" dirty="0" smtClean="0">
                <a:sym typeface="Wingdings" pitchFamily="2" charset="2"/>
              </a:rPr>
              <a:t>3</a:t>
            </a:r>
            <a:r>
              <a:rPr lang="en-US" altLang="zh-CN" sz="3000" baseline="30000" dirty="0" smtClean="0">
                <a:sym typeface="Wingdings" pitchFamily="2" charset="2"/>
              </a:rPr>
              <a:t>2-</a:t>
            </a:r>
            <a:r>
              <a:rPr lang="en-US" altLang="zh-CN" sz="3000" dirty="0" smtClean="0">
                <a:sym typeface="Wingdings" pitchFamily="2" charset="2"/>
              </a:rPr>
              <a:t>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 &lt;--&gt; CaCO</a:t>
            </a:r>
            <a:r>
              <a:rPr lang="en-US" altLang="zh-CN" sz="3000" baseline="-25000" dirty="0" smtClean="0">
                <a:sym typeface="Wingdings" pitchFamily="2" charset="2"/>
              </a:rPr>
              <a:t>3</a:t>
            </a:r>
            <a:r>
              <a:rPr lang="en-US" altLang="zh-CN" sz="3000" dirty="0" smtClean="0">
                <a:sym typeface="Wingdings" pitchFamily="2" charset="2"/>
              </a:rPr>
              <a:t> (s) + SO</a:t>
            </a:r>
            <a:r>
              <a:rPr lang="en-US" altLang="zh-CN" sz="3000" baseline="-25000" dirty="0" smtClean="0">
                <a:sym typeface="Wingdings" pitchFamily="2" charset="2"/>
              </a:rPr>
              <a:t>4</a:t>
            </a:r>
            <a:r>
              <a:rPr lang="en-US" altLang="zh-CN" sz="3000" baseline="30000" dirty="0" smtClean="0">
                <a:sym typeface="Wingdings" pitchFamily="2" charset="2"/>
              </a:rPr>
              <a:t>2-</a:t>
            </a:r>
            <a:r>
              <a:rPr lang="en-US" altLang="zh-CN" sz="3000" dirty="0" smtClean="0">
                <a:sym typeface="Wingdings" pitchFamily="2" charset="2"/>
              </a:rPr>
              <a:t>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</a:t>
            </a:r>
            <a:endParaRPr lang="en-US" altLang="zh-CN" sz="3000" dirty="0" smtClean="0"/>
          </a:p>
        </p:txBody>
      </p:sp>
      <p:grpSp>
        <p:nvGrpSpPr>
          <p:cNvPr id="6" name="Group 11"/>
          <p:cNvGrpSpPr/>
          <p:nvPr/>
        </p:nvGrpSpPr>
        <p:grpSpPr>
          <a:xfrm rot="5400000">
            <a:off x="3169920" y="2103120"/>
            <a:ext cx="274320" cy="91440"/>
            <a:chOff x="2895600" y="6324600"/>
            <a:chExt cx="2133600" cy="76199"/>
          </a:xfrm>
        </p:grpSpPr>
        <p:cxnSp>
          <p:nvCxnSpPr>
            <p:cNvPr id="7" name="Straight Arrow Connector 6"/>
            <p:cNvCxnSpPr/>
            <p:nvPr/>
          </p:nvCxnSpPr>
          <p:spPr>
            <a:xfrm rot="10800000">
              <a:off x="2895600" y="6399210"/>
              <a:ext cx="2057400" cy="1589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2895600" y="6324600"/>
              <a:ext cx="213360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/>
          <p:cNvSpPr txBox="1"/>
          <p:nvPr/>
        </p:nvSpPr>
        <p:spPr>
          <a:xfrm>
            <a:off x="3048000" y="1305282"/>
            <a:ext cx="3770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 smtClean="0"/>
              <a:t>+</a:t>
            </a:r>
            <a:endParaRPr lang="en-US" sz="3000" dirty="0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思考题</a:t>
            </a:r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22e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AutoNum type="arabicPeriod"/>
            </a:pP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=[Cu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][OH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 ]</a:t>
            </a:r>
            <a:r>
              <a:rPr lang="en-US" altLang="zh-CN" sz="3000" baseline="30000" dirty="0" smtClean="0"/>
              <a:t>2</a:t>
            </a:r>
            <a:r>
              <a:rPr lang="en-US" altLang="zh-CN" sz="3000" dirty="0" smtClean="0"/>
              <a:t> </a:t>
            </a:r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 smtClean="0"/>
              <a:t>	[OH] =</a:t>
            </a:r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 smtClean="0"/>
              <a:t>		     = 1x10</a:t>
            </a:r>
            <a:r>
              <a:rPr lang="en-US" altLang="zh-CN" sz="3000" baseline="30000" dirty="0" smtClean="0"/>
              <a:t>-9</a:t>
            </a:r>
            <a:r>
              <a:rPr lang="en-US" altLang="zh-CN" sz="3000" dirty="0" smtClean="0"/>
              <a:t> M </a:t>
            </a:r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 err="1" smtClean="0"/>
              <a:t>Ans:D</a:t>
            </a:r>
            <a:r>
              <a:rPr lang="en-US" altLang="zh-CN" sz="3000" dirty="0" smtClean="0"/>
              <a:t>  </a:t>
            </a:r>
          </a:p>
          <a:p>
            <a:pPr>
              <a:buNone/>
            </a:pPr>
            <a:r>
              <a:rPr lang="en-US" altLang="zh-CN" sz="3000" dirty="0" smtClean="0"/>
              <a:t>2. 	(1)</a:t>
            </a:r>
            <a:r>
              <a:rPr lang="en-US" sz="2800" dirty="0" smtClean="0"/>
              <a:t> </a:t>
            </a:r>
            <a:r>
              <a:rPr lang="en-US" sz="2800" dirty="0" err="1" smtClean="0"/>
              <a:t>FeS</a:t>
            </a:r>
            <a:r>
              <a:rPr lang="en-US" sz="2800" dirty="0" smtClean="0"/>
              <a:t>(s)</a:t>
            </a:r>
            <a:r>
              <a:rPr lang="en-US" altLang="zh-CN" sz="2800" dirty="0" smtClean="0"/>
              <a:t> &lt;--&gt; </a:t>
            </a:r>
            <a:r>
              <a:rPr lang="en-US" sz="2800" dirty="0" smtClean="0"/>
              <a:t>Fe</a:t>
            </a:r>
            <a:r>
              <a:rPr lang="en-US" sz="2800" baseline="30000" dirty="0" smtClean="0"/>
              <a:t>2+</a:t>
            </a:r>
            <a:r>
              <a:rPr lang="en-US" sz="2800" dirty="0" smtClean="0"/>
              <a:t> (</a:t>
            </a:r>
            <a:r>
              <a:rPr lang="en-US" sz="2800" dirty="0" err="1" smtClean="0"/>
              <a:t>aq</a:t>
            </a:r>
            <a:r>
              <a:rPr lang="en-US" sz="2800" dirty="0" smtClean="0"/>
              <a:t>) + S</a:t>
            </a:r>
            <a:r>
              <a:rPr lang="en-US" sz="2800" baseline="30000" dirty="0" smtClean="0"/>
              <a:t>2-</a:t>
            </a:r>
            <a:r>
              <a:rPr lang="en-US" sz="2800" dirty="0" smtClean="0"/>
              <a:t> (</a:t>
            </a:r>
            <a:r>
              <a:rPr lang="en-US" sz="2800" dirty="0" err="1" smtClean="0"/>
              <a:t>aq</a:t>
            </a:r>
            <a:r>
              <a:rPr lang="en-US" sz="2800" dirty="0" smtClean="0"/>
              <a:t>) </a:t>
            </a:r>
          </a:p>
          <a:p>
            <a:pPr>
              <a:buNone/>
            </a:pPr>
            <a:r>
              <a:rPr lang="zh-CN" altLang="en-US" sz="2800" dirty="0" smtClean="0"/>
              <a:t>加入稀盐酸后，</a:t>
            </a:r>
            <a:r>
              <a:rPr lang="en-US" sz="2800" dirty="0" smtClean="0"/>
              <a:t>S</a:t>
            </a:r>
            <a:r>
              <a:rPr lang="en-US" sz="2800" baseline="30000" dirty="0" smtClean="0"/>
              <a:t>2-</a:t>
            </a:r>
            <a:r>
              <a:rPr lang="en-US" sz="2800" dirty="0" smtClean="0"/>
              <a:t> (</a:t>
            </a:r>
            <a:r>
              <a:rPr lang="en-US" sz="2800" dirty="0" err="1" smtClean="0"/>
              <a:t>aq</a:t>
            </a:r>
            <a:r>
              <a:rPr lang="en-US" sz="2800" dirty="0" smtClean="0"/>
              <a:t>) </a:t>
            </a:r>
            <a:r>
              <a:rPr lang="en-US" altLang="zh-CN" sz="2800" dirty="0" smtClean="0"/>
              <a:t>+ 2H</a:t>
            </a:r>
            <a:r>
              <a:rPr lang="en-US" altLang="zh-CN" sz="2800" baseline="30000" dirty="0" smtClean="0"/>
              <a:t>+</a:t>
            </a:r>
            <a:r>
              <a:rPr lang="zh-CN" altLang="en-US" sz="2800" baseline="30000" dirty="0" smtClean="0"/>
              <a:t> 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(</a:t>
            </a:r>
            <a:r>
              <a:rPr lang="en-US" altLang="zh-CN" sz="2800" dirty="0" err="1" smtClean="0"/>
              <a:t>aq</a:t>
            </a:r>
            <a:r>
              <a:rPr lang="en-US" altLang="zh-CN" sz="2800" dirty="0" smtClean="0"/>
              <a:t>) </a:t>
            </a:r>
            <a:r>
              <a:rPr lang="en-US" altLang="zh-CN" sz="2800" dirty="0" smtClean="0">
                <a:sym typeface="Wingdings" pitchFamily="2" charset="2"/>
              </a:rPr>
              <a:t></a:t>
            </a:r>
            <a:r>
              <a:rPr lang="en-US" sz="2800" dirty="0" smtClean="0"/>
              <a:t>H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S (g)，</a:t>
            </a:r>
          </a:p>
          <a:p>
            <a:pPr>
              <a:buNone/>
            </a:pPr>
            <a:r>
              <a:rPr lang="zh-CN" altLang="en-US" sz="2800" dirty="0" smtClean="0"/>
              <a:t>破坏了 </a:t>
            </a:r>
            <a:r>
              <a:rPr lang="en-US" sz="2800" dirty="0" err="1" smtClean="0"/>
              <a:t>FeS</a:t>
            </a:r>
            <a:r>
              <a:rPr lang="en-US" sz="2800" dirty="0" smtClean="0"/>
              <a:t> </a:t>
            </a:r>
            <a:r>
              <a:rPr lang="zh-CN" altLang="en-US" sz="2800" dirty="0" smtClean="0"/>
              <a:t>的溶解平衡，使平衡向 </a:t>
            </a:r>
            <a:r>
              <a:rPr lang="en-US" sz="2800" dirty="0" err="1" smtClean="0"/>
              <a:t>FeS</a:t>
            </a:r>
            <a:r>
              <a:rPr lang="en-US" sz="2800" dirty="0" smtClean="0"/>
              <a:t> </a:t>
            </a:r>
            <a:r>
              <a:rPr lang="zh-CN" altLang="en-US" sz="2800" dirty="0" smtClean="0"/>
              <a:t>溶解的方向移动， 故 </a:t>
            </a:r>
            <a:r>
              <a:rPr lang="en-US" sz="2800" dirty="0" err="1" smtClean="0"/>
              <a:t>FeS</a:t>
            </a:r>
            <a:r>
              <a:rPr lang="en-US" sz="2800" dirty="0" smtClean="0"/>
              <a:t> </a:t>
            </a:r>
            <a:r>
              <a:rPr lang="zh-CN" altLang="en-US" sz="2800" dirty="0" smtClean="0"/>
              <a:t>溶解。 </a:t>
            </a:r>
            <a:endParaRPr lang="en-US" altLang="zh-CN" sz="2800" dirty="0" smtClean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905000" y="1524000"/>
          <a:ext cx="1524000" cy="762000"/>
        </p:xfrm>
        <a:graphic>
          <a:graphicData uri="http://schemas.openxmlformats.org/presentationml/2006/ole">
            <p:oleObj spid="_x0000_s15362" name="Equation" r:id="rId4" imgW="685800" imgH="457200" progId="Equation.3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思考题</a:t>
            </a:r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22e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8392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2800" dirty="0" smtClean="0"/>
              <a:t>2. (2)</a:t>
            </a:r>
            <a:r>
              <a:rPr lang="zh-CN" altLang="en-US" sz="2800" dirty="0" smtClean="0"/>
              <a:t> </a:t>
            </a:r>
            <a:r>
              <a:rPr lang="en-US" altLang="zh-CN" sz="2800" dirty="0" smtClean="0">
                <a:sym typeface="Wingdings" pitchFamily="2" charset="2"/>
              </a:rPr>
              <a:t>CaCO</a:t>
            </a:r>
            <a:r>
              <a:rPr lang="en-US" altLang="zh-CN" sz="2800" baseline="-25000" dirty="0" smtClean="0">
                <a:sym typeface="Wingdings" pitchFamily="2" charset="2"/>
              </a:rPr>
              <a:t>3</a:t>
            </a:r>
            <a:r>
              <a:rPr lang="en-US" altLang="zh-CN" sz="2800" dirty="0" smtClean="0">
                <a:sym typeface="Wingdings" pitchFamily="2" charset="2"/>
              </a:rPr>
              <a:t> (s)&lt;--&gt;  Ca</a:t>
            </a:r>
            <a:r>
              <a:rPr lang="en-US" altLang="zh-CN" sz="2800" baseline="30000" dirty="0" smtClean="0">
                <a:sym typeface="Wingdings" pitchFamily="2" charset="2"/>
              </a:rPr>
              <a:t>2+</a:t>
            </a:r>
            <a:r>
              <a:rPr lang="en-US" altLang="zh-CN" sz="2800" dirty="0" smtClean="0">
                <a:sym typeface="Wingdings" pitchFamily="2" charset="2"/>
              </a:rPr>
              <a:t> (</a:t>
            </a:r>
            <a:r>
              <a:rPr lang="en-US" altLang="zh-CN" sz="2800" dirty="0" err="1" smtClean="0">
                <a:sym typeface="Wingdings" pitchFamily="2" charset="2"/>
              </a:rPr>
              <a:t>aq</a:t>
            </a:r>
            <a:r>
              <a:rPr lang="en-US" altLang="zh-CN" sz="2800" dirty="0" smtClean="0">
                <a:sym typeface="Wingdings" pitchFamily="2" charset="2"/>
              </a:rPr>
              <a:t>) +CO</a:t>
            </a:r>
            <a:r>
              <a:rPr lang="en-US" altLang="zh-CN" sz="2800" baseline="-25000" dirty="0" smtClean="0">
                <a:sym typeface="Wingdings" pitchFamily="2" charset="2"/>
              </a:rPr>
              <a:t>3</a:t>
            </a:r>
            <a:r>
              <a:rPr lang="en-US" altLang="zh-CN" sz="2800" baseline="30000" dirty="0" smtClean="0">
                <a:sym typeface="Wingdings" pitchFamily="2" charset="2"/>
              </a:rPr>
              <a:t>2-</a:t>
            </a:r>
            <a:r>
              <a:rPr lang="en-US" altLang="zh-CN" sz="2800" dirty="0" smtClean="0">
                <a:sym typeface="Wingdings" pitchFamily="2" charset="2"/>
              </a:rPr>
              <a:t> (</a:t>
            </a:r>
            <a:r>
              <a:rPr lang="en-US" altLang="zh-CN" sz="2800" dirty="0" err="1" smtClean="0">
                <a:sym typeface="Wingdings" pitchFamily="2" charset="2"/>
              </a:rPr>
              <a:t>aq</a:t>
            </a:r>
            <a:r>
              <a:rPr lang="en-US" altLang="zh-CN" sz="2800" dirty="0" smtClean="0">
                <a:sym typeface="Wingdings" pitchFamily="2" charset="2"/>
              </a:rPr>
              <a:t>)</a:t>
            </a:r>
            <a:r>
              <a:rPr lang="zh-CN" altLang="en-US" sz="2800" dirty="0" smtClean="0"/>
              <a:t>在水中存在溶解平衡，难溶于水；</a:t>
            </a:r>
            <a:endParaRPr lang="en-US" altLang="zh-CN" sz="2800" dirty="0" smtClean="0"/>
          </a:p>
          <a:p>
            <a:pPr>
              <a:buNone/>
            </a:pPr>
            <a:r>
              <a:rPr lang="zh-CN" altLang="en-US" sz="2800" dirty="0" smtClean="0"/>
              <a:t> 而在醋酸中，</a:t>
            </a:r>
            <a:r>
              <a:rPr lang="en-US" altLang="zh-CN" sz="2800" dirty="0" smtClean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sz="2800" dirty="0" smtClean="0">
                <a:sym typeface="Wingdings" pitchFamily="2" charset="2"/>
              </a:rPr>
              <a:t>CO</a:t>
            </a:r>
            <a:r>
              <a:rPr lang="en-US" altLang="zh-CN" sz="2800" baseline="-25000" dirty="0" smtClean="0">
                <a:sym typeface="Wingdings" pitchFamily="2" charset="2"/>
              </a:rPr>
              <a:t>3</a:t>
            </a:r>
            <a:r>
              <a:rPr lang="en-US" altLang="zh-CN" sz="2800" baseline="30000" dirty="0" smtClean="0">
                <a:sym typeface="Wingdings" pitchFamily="2" charset="2"/>
              </a:rPr>
              <a:t>2-</a:t>
            </a:r>
            <a:r>
              <a:rPr lang="en-US" altLang="zh-CN" sz="2800" dirty="0" smtClean="0">
                <a:sym typeface="Wingdings" pitchFamily="2" charset="2"/>
              </a:rPr>
              <a:t>(</a:t>
            </a:r>
            <a:r>
              <a:rPr lang="en-US" altLang="zh-CN" sz="2800" dirty="0" err="1" smtClean="0">
                <a:sym typeface="Wingdings" pitchFamily="2" charset="2"/>
              </a:rPr>
              <a:t>aq</a:t>
            </a:r>
            <a:r>
              <a:rPr lang="en-US" altLang="zh-CN" sz="2800" dirty="0" smtClean="0">
                <a:sym typeface="Wingdings" pitchFamily="2" charset="2"/>
              </a:rPr>
              <a:t>)+</a:t>
            </a:r>
            <a:r>
              <a:rPr lang="en-US" sz="2800" dirty="0" smtClean="0"/>
              <a:t>2CH</a:t>
            </a:r>
            <a:r>
              <a:rPr lang="en-US" sz="2800" baseline="-25000" dirty="0" smtClean="0"/>
              <a:t>3</a:t>
            </a:r>
            <a:r>
              <a:rPr lang="en-US" sz="2800" dirty="0" smtClean="0"/>
              <a:t>COOH(</a:t>
            </a:r>
            <a:r>
              <a:rPr lang="en-US" sz="2800" dirty="0" err="1" smtClean="0"/>
              <a:t>aq</a:t>
            </a:r>
            <a:r>
              <a:rPr lang="en-US" sz="2800" dirty="0" smtClean="0"/>
              <a:t>)</a:t>
            </a:r>
            <a:r>
              <a:rPr lang="en-US" sz="2800" dirty="0" smtClean="0">
                <a:sym typeface="Wingdings" pitchFamily="2" charset="2"/>
              </a:rPr>
              <a:t></a:t>
            </a:r>
            <a:r>
              <a:rPr lang="en-US" sz="2800" dirty="0" smtClean="0"/>
              <a:t>2CH</a:t>
            </a:r>
            <a:r>
              <a:rPr lang="en-US" sz="2800" baseline="-25000" dirty="0" smtClean="0"/>
              <a:t>3</a:t>
            </a:r>
            <a:r>
              <a:rPr lang="en-US" sz="2800" dirty="0" smtClean="0"/>
              <a:t>COO</a:t>
            </a:r>
            <a:r>
              <a:rPr lang="en-US" sz="2800" baseline="30000" dirty="0" smtClean="0"/>
              <a:t>-</a:t>
            </a:r>
            <a:r>
              <a:rPr lang="en-US" sz="2800" dirty="0" smtClean="0"/>
              <a:t> (</a:t>
            </a:r>
            <a:r>
              <a:rPr lang="en-US" sz="2800" dirty="0" err="1" smtClean="0"/>
              <a:t>aq</a:t>
            </a:r>
            <a:r>
              <a:rPr lang="en-US" sz="2800" dirty="0" smtClean="0"/>
              <a:t>) + H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O(l) + CO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 (g)</a:t>
            </a:r>
          </a:p>
          <a:p>
            <a:pPr>
              <a:buNone/>
            </a:pPr>
            <a:r>
              <a:rPr lang="zh-CN" altLang="en-US" sz="2800" dirty="0" smtClean="0"/>
              <a:t>破坏了</a:t>
            </a:r>
            <a:r>
              <a:rPr lang="en-US" sz="2800" dirty="0" smtClean="0"/>
              <a:t>CaCO</a:t>
            </a:r>
            <a:r>
              <a:rPr lang="en-US" sz="2800" baseline="-25000" dirty="0" smtClean="0"/>
              <a:t>3</a:t>
            </a:r>
            <a:r>
              <a:rPr lang="en-US" sz="2800" dirty="0" smtClean="0"/>
              <a:t> </a:t>
            </a:r>
            <a:r>
              <a:rPr lang="zh-CN" altLang="en-US" sz="2800" dirty="0" smtClean="0"/>
              <a:t>的溶解平衡，故</a:t>
            </a:r>
            <a:r>
              <a:rPr lang="en-US" sz="2800" dirty="0" smtClean="0"/>
              <a:t>CaCO</a:t>
            </a:r>
            <a:r>
              <a:rPr lang="en-US" sz="2800" baseline="-25000" dirty="0" smtClean="0"/>
              <a:t>3</a:t>
            </a:r>
            <a:r>
              <a:rPr lang="en-US" sz="2800" dirty="0" smtClean="0"/>
              <a:t> </a:t>
            </a:r>
            <a:r>
              <a:rPr lang="zh-CN" altLang="en-US" sz="2800" dirty="0" smtClean="0"/>
              <a:t>能溶于醋酸。</a:t>
            </a:r>
          </a:p>
          <a:p>
            <a:pPr>
              <a:buNone/>
            </a:pPr>
            <a:r>
              <a:rPr lang="en-US" altLang="zh-CN" sz="3000" dirty="0" smtClean="0"/>
              <a:t>(3)</a:t>
            </a:r>
            <a:r>
              <a:rPr lang="zh-CN" altLang="en-US" sz="2800" dirty="0" smtClean="0"/>
              <a:t> </a:t>
            </a:r>
            <a:r>
              <a:rPr lang="en-US" altLang="zh-CN" sz="2800" dirty="0" smtClean="0">
                <a:sym typeface="Wingdings" pitchFamily="2" charset="2"/>
              </a:rPr>
              <a:t>BaSO</a:t>
            </a:r>
            <a:r>
              <a:rPr lang="en-US" altLang="zh-CN" sz="2800" baseline="-25000" dirty="0" smtClean="0">
                <a:sym typeface="Wingdings" pitchFamily="2" charset="2"/>
              </a:rPr>
              <a:t>4</a:t>
            </a:r>
            <a:r>
              <a:rPr lang="en-US" altLang="zh-CN" sz="2800" dirty="0" smtClean="0">
                <a:sym typeface="Wingdings" pitchFamily="2" charset="2"/>
              </a:rPr>
              <a:t>(s)&lt;--&gt;Ba</a:t>
            </a:r>
            <a:r>
              <a:rPr lang="en-US" altLang="zh-CN" sz="2800" baseline="30000" dirty="0" smtClean="0">
                <a:sym typeface="Wingdings" pitchFamily="2" charset="2"/>
              </a:rPr>
              <a:t>2+</a:t>
            </a:r>
            <a:r>
              <a:rPr lang="en-US" altLang="zh-CN" sz="2800" dirty="0" smtClean="0">
                <a:sym typeface="Wingdings" pitchFamily="2" charset="2"/>
              </a:rPr>
              <a:t> (</a:t>
            </a:r>
            <a:r>
              <a:rPr lang="en-US" altLang="zh-CN" sz="2800" dirty="0" err="1" smtClean="0">
                <a:sym typeface="Wingdings" pitchFamily="2" charset="2"/>
              </a:rPr>
              <a:t>aq</a:t>
            </a:r>
            <a:r>
              <a:rPr lang="en-US" altLang="zh-CN" sz="2800" dirty="0" smtClean="0">
                <a:sym typeface="Wingdings" pitchFamily="2" charset="2"/>
              </a:rPr>
              <a:t>) +SO</a:t>
            </a:r>
            <a:r>
              <a:rPr lang="en-US" altLang="zh-CN" sz="2800" baseline="-25000" dirty="0" smtClean="0">
                <a:sym typeface="Wingdings" pitchFamily="2" charset="2"/>
              </a:rPr>
              <a:t>4</a:t>
            </a:r>
            <a:r>
              <a:rPr lang="en-US" altLang="zh-CN" sz="2800" baseline="30000" dirty="0" smtClean="0">
                <a:sym typeface="Wingdings" pitchFamily="2" charset="2"/>
              </a:rPr>
              <a:t>2-</a:t>
            </a:r>
            <a:r>
              <a:rPr lang="en-US" altLang="zh-CN" sz="2800" dirty="0" smtClean="0">
                <a:sym typeface="Wingdings" pitchFamily="2" charset="2"/>
              </a:rPr>
              <a:t> (</a:t>
            </a:r>
            <a:r>
              <a:rPr lang="en-US" altLang="zh-CN" sz="2800" dirty="0" err="1" smtClean="0">
                <a:sym typeface="Wingdings" pitchFamily="2" charset="2"/>
              </a:rPr>
              <a:t>aq</a:t>
            </a:r>
            <a:r>
              <a:rPr lang="en-US" altLang="zh-CN" sz="2800" dirty="0" smtClean="0">
                <a:sym typeface="Wingdings" pitchFamily="2" charset="2"/>
              </a:rPr>
              <a:t>)</a:t>
            </a:r>
            <a:r>
              <a:rPr lang="zh-CN" altLang="en-US" sz="2800" dirty="0" smtClean="0"/>
              <a:t>用水洗涤时，</a:t>
            </a:r>
            <a:r>
              <a:rPr lang="en-US" altLang="zh-CN" sz="2800" dirty="0" smtClean="0"/>
              <a:t>BaSO</a:t>
            </a:r>
            <a:r>
              <a:rPr lang="en-US" altLang="zh-CN" sz="2800" baseline="-25000" dirty="0" smtClean="0"/>
              <a:t>4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的溶解平衡向</a:t>
            </a:r>
            <a:r>
              <a:rPr lang="en-US" altLang="zh-CN" sz="2800" dirty="0" smtClean="0"/>
              <a:t>BaSO</a:t>
            </a:r>
            <a:r>
              <a:rPr lang="en-US" altLang="zh-CN" sz="2800" baseline="-25000" dirty="0" smtClean="0"/>
              <a:t>4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溶解的方向移动，造成</a:t>
            </a:r>
            <a:r>
              <a:rPr lang="en-US" altLang="zh-CN" sz="2800" dirty="0" smtClean="0"/>
              <a:t>BaSO</a:t>
            </a:r>
            <a:r>
              <a:rPr lang="en-US" altLang="zh-CN" sz="2800" baseline="-25000" dirty="0" smtClean="0"/>
              <a:t>4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损失；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	</a:t>
            </a:r>
            <a:r>
              <a:rPr lang="zh-CN" altLang="en-US" sz="2800" dirty="0" smtClean="0"/>
              <a:t>而用硫酸洗涤时，硫酸电离出的</a:t>
            </a:r>
            <a:r>
              <a:rPr lang="en-US" altLang="zh-CN" sz="2800" dirty="0" smtClean="0">
                <a:sym typeface="Wingdings" pitchFamily="2" charset="2"/>
              </a:rPr>
              <a:t> SO</a:t>
            </a:r>
            <a:r>
              <a:rPr lang="en-US" altLang="zh-CN" sz="2800" baseline="-25000" dirty="0" smtClean="0">
                <a:sym typeface="Wingdings" pitchFamily="2" charset="2"/>
              </a:rPr>
              <a:t>4</a:t>
            </a:r>
            <a:r>
              <a:rPr lang="en-US" altLang="zh-CN" sz="2800" baseline="30000" dirty="0" smtClean="0">
                <a:sym typeface="Wingdings" pitchFamily="2" charset="2"/>
              </a:rPr>
              <a:t>2-</a:t>
            </a:r>
            <a:r>
              <a:rPr lang="en-US" altLang="zh-CN" sz="2800" dirty="0" smtClean="0">
                <a:sym typeface="Wingdings" pitchFamily="2" charset="2"/>
              </a:rPr>
              <a:t> </a:t>
            </a:r>
            <a:r>
              <a:rPr lang="zh-CN" altLang="en-US" sz="2800" dirty="0" smtClean="0"/>
              <a:t>抑制了</a:t>
            </a:r>
            <a:r>
              <a:rPr lang="en-US" altLang="zh-CN" sz="2800" dirty="0" smtClean="0"/>
              <a:t>BaSO</a:t>
            </a:r>
            <a:r>
              <a:rPr lang="en-US" altLang="zh-CN" sz="2800" baseline="-25000" dirty="0" smtClean="0"/>
              <a:t>4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的溶解（同离子效应），故</a:t>
            </a:r>
            <a:r>
              <a:rPr lang="en-US" altLang="zh-CN" sz="2800" dirty="0" smtClean="0"/>
              <a:t>BaSO4 </a:t>
            </a:r>
            <a:r>
              <a:rPr lang="zh-CN" altLang="en-US" sz="2800" dirty="0" smtClean="0"/>
              <a:t>损失量少。</a:t>
            </a:r>
            <a:endParaRPr lang="en-US" altLang="zh-CN" sz="2800" dirty="0" smtClean="0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思考题</a:t>
            </a:r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22e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8392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2800" dirty="0" smtClean="0"/>
              <a:t>2. (4)</a:t>
            </a:r>
            <a:r>
              <a:rPr lang="zh-CN" altLang="en-US" sz="2800" dirty="0" smtClean="0"/>
              <a:t>  牙齿表面的矿物质</a:t>
            </a:r>
            <a:r>
              <a:rPr lang="en-US" altLang="zh-CN" sz="2800" dirty="0" smtClean="0"/>
              <a:t>——</a:t>
            </a:r>
            <a:r>
              <a:rPr lang="zh-CN" altLang="en-US" sz="2800" dirty="0" smtClean="0"/>
              <a:t>羟基磷灰石</a:t>
            </a:r>
            <a:r>
              <a:rPr lang="en-US" altLang="zh-CN" sz="2800" dirty="0" smtClean="0"/>
              <a:t>Ca</a:t>
            </a:r>
            <a:r>
              <a:rPr lang="en-US" altLang="zh-CN" sz="2800" baseline="-25000" dirty="0" smtClean="0"/>
              <a:t>5</a:t>
            </a:r>
            <a:r>
              <a:rPr lang="en-US" altLang="zh-CN" sz="2800" dirty="0" smtClean="0"/>
              <a:t>(PO</a:t>
            </a:r>
            <a:r>
              <a:rPr lang="en-US" altLang="zh-CN" sz="2800" baseline="-25000" dirty="0" smtClean="0"/>
              <a:t>4</a:t>
            </a:r>
            <a:r>
              <a:rPr lang="en-US" altLang="zh-CN" sz="2800" dirty="0" smtClean="0"/>
              <a:t>)</a:t>
            </a:r>
            <a:r>
              <a:rPr lang="en-US" altLang="zh-CN" sz="2800" baseline="-25000" dirty="0" smtClean="0"/>
              <a:t>3</a:t>
            </a:r>
            <a:r>
              <a:rPr lang="en-US" altLang="zh-CN" sz="2800" dirty="0" smtClean="0"/>
              <a:t>(OH)</a:t>
            </a:r>
            <a:r>
              <a:rPr lang="zh-CN" altLang="en-US" sz="2800" dirty="0" smtClean="0"/>
              <a:t>存在溶解平衡： 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Ca</a:t>
            </a:r>
            <a:r>
              <a:rPr lang="en-US" altLang="zh-CN" sz="2800" baseline="-25000" dirty="0" smtClean="0"/>
              <a:t>5</a:t>
            </a:r>
            <a:r>
              <a:rPr lang="en-US" altLang="zh-CN" sz="2800" dirty="0" smtClean="0"/>
              <a:t>(PO</a:t>
            </a:r>
            <a:r>
              <a:rPr lang="en-US" altLang="zh-CN" sz="2800" baseline="-25000" dirty="0" smtClean="0"/>
              <a:t>4</a:t>
            </a:r>
            <a:r>
              <a:rPr lang="en-US" altLang="zh-CN" sz="2800" dirty="0" smtClean="0"/>
              <a:t>)</a:t>
            </a:r>
            <a:r>
              <a:rPr lang="en-US" altLang="zh-CN" sz="2800" baseline="-25000" dirty="0" smtClean="0"/>
              <a:t>3</a:t>
            </a:r>
            <a:r>
              <a:rPr lang="en-US" altLang="zh-CN" sz="2800" dirty="0" smtClean="0"/>
              <a:t>(OH) (s)</a:t>
            </a:r>
            <a:r>
              <a:rPr lang="en-US" altLang="zh-CN" sz="2800" dirty="0" smtClean="0">
                <a:sym typeface="Wingdings" pitchFamily="2" charset="2"/>
              </a:rPr>
              <a:t>&lt;--&gt;</a:t>
            </a:r>
            <a:r>
              <a:rPr lang="en-US" altLang="zh-CN" sz="2800" dirty="0" smtClean="0"/>
              <a:t>5Ca</a:t>
            </a:r>
            <a:r>
              <a:rPr lang="en-US" altLang="zh-CN" sz="2800" baseline="30000" dirty="0" smtClean="0"/>
              <a:t>2+</a:t>
            </a:r>
            <a:r>
              <a:rPr lang="en-US" altLang="zh-CN" sz="2800" dirty="0" smtClean="0"/>
              <a:t> (</a:t>
            </a:r>
            <a:r>
              <a:rPr lang="en-US" altLang="zh-CN" sz="2800" dirty="0" err="1" smtClean="0"/>
              <a:t>aq</a:t>
            </a:r>
            <a:r>
              <a:rPr lang="en-US" altLang="zh-CN" sz="2800" dirty="0" smtClean="0"/>
              <a:t>)+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3PO</a:t>
            </a:r>
            <a:r>
              <a:rPr lang="en-US" altLang="zh-CN" sz="2800" baseline="-25000" dirty="0" smtClean="0"/>
              <a:t>4</a:t>
            </a:r>
            <a:r>
              <a:rPr lang="en-US" altLang="zh-CN" sz="2800" baseline="30000" dirty="0" smtClean="0"/>
              <a:t>3-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(</a:t>
            </a:r>
            <a:r>
              <a:rPr lang="en-US" altLang="zh-CN" sz="2800" dirty="0" err="1" smtClean="0"/>
              <a:t>aq</a:t>
            </a:r>
            <a:r>
              <a:rPr lang="en-US" altLang="zh-CN" sz="2800" dirty="0" smtClean="0"/>
              <a:t>)+</a:t>
            </a:r>
            <a:r>
              <a:rPr lang="zh-CN" altLang="en-US" sz="2800" dirty="0" smtClean="0"/>
              <a:t> </a:t>
            </a:r>
            <a:r>
              <a:rPr lang="en-US" altLang="zh-CN" sz="2800" dirty="0" smtClean="0"/>
              <a:t>OH</a:t>
            </a:r>
            <a:r>
              <a:rPr lang="en-US" altLang="zh-CN" sz="2800" baseline="30000" dirty="0" smtClean="0"/>
              <a:t>-</a:t>
            </a:r>
            <a:r>
              <a:rPr lang="zh-CN" altLang="en-US" sz="2800" dirty="0" smtClean="0"/>
              <a:t>  </a:t>
            </a:r>
            <a:r>
              <a:rPr lang="en-US" altLang="zh-CN" sz="2800" dirty="0" smtClean="0"/>
              <a:t>(</a:t>
            </a:r>
            <a:r>
              <a:rPr lang="en-US" altLang="zh-CN" sz="2800" dirty="0" err="1" smtClean="0"/>
              <a:t>aq</a:t>
            </a:r>
            <a:r>
              <a:rPr lang="en-US" altLang="zh-CN" sz="2800" dirty="0" smtClean="0"/>
              <a:t>)</a:t>
            </a:r>
          </a:p>
          <a:p>
            <a:pPr>
              <a:buNone/>
            </a:pPr>
            <a:r>
              <a:rPr lang="zh-CN" altLang="en-US" sz="2800" dirty="0" smtClean="0"/>
              <a:t>含氟牙膏中的氟离子会与羟基磷灰石发生反应，生成更难溶的氟磷灰石 </a:t>
            </a:r>
            <a:r>
              <a:rPr lang="en-US" altLang="zh-CN" sz="2800" dirty="0" smtClean="0"/>
              <a:t>Ca</a:t>
            </a:r>
            <a:r>
              <a:rPr lang="en-US" altLang="zh-CN" sz="2800" baseline="-25000" dirty="0" smtClean="0"/>
              <a:t>5</a:t>
            </a:r>
            <a:r>
              <a:rPr lang="en-US" altLang="zh-CN" sz="2800" dirty="0" smtClean="0"/>
              <a:t>(PO</a:t>
            </a:r>
            <a:r>
              <a:rPr lang="en-US" altLang="zh-CN" sz="2800" baseline="-25000" dirty="0" smtClean="0"/>
              <a:t>4</a:t>
            </a:r>
            <a:r>
              <a:rPr lang="en-US" altLang="zh-CN" sz="2800" dirty="0" smtClean="0"/>
              <a:t>)</a:t>
            </a:r>
            <a:r>
              <a:rPr lang="en-US" altLang="zh-CN" sz="2800" baseline="-25000" dirty="0" smtClean="0"/>
              <a:t>3</a:t>
            </a:r>
            <a:r>
              <a:rPr lang="en-US" altLang="zh-CN" sz="2800" dirty="0" smtClean="0"/>
              <a:t>F</a:t>
            </a:r>
            <a:r>
              <a:rPr lang="zh-CN" altLang="en-US" sz="2800" dirty="0" smtClean="0"/>
              <a:t>，对牙齿起到了一定的保护作用。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Ca</a:t>
            </a:r>
            <a:r>
              <a:rPr lang="en-US" altLang="zh-CN" sz="2800" baseline="-25000" dirty="0" smtClean="0"/>
              <a:t>5</a:t>
            </a:r>
            <a:r>
              <a:rPr lang="en-US" altLang="zh-CN" sz="2800" dirty="0" smtClean="0"/>
              <a:t>(PO</a:t>
            </a:r>
            <a:r>
              <a:rPr lang="en-US" altLang="zh-CN" sz="2800" baseline="-25000" dirty="0" smtClean="0"/>
              <a:t>4</a:t>
            </a:r>
            <a:r>
              <a:rPr lang="en-US" altLang="zh-CN" sz="2800" dirty="0" smtClean="0"/>
              <a:t>)</a:t>
            </a:r>
            <a:r>
              <a:rPr lang="en-US" altLang="zh-CN" sz="2800" baseline="-25000" dirty="0" smtClean="0"/>
              <a:t>3</a:t>
            </a:r>
            <a:r>
              <a:rPr lang="en-US" altLang="zh-CN" sz="2800" dirty="0" smtClean="0"/>
              <a:t>(OH) (s) + F</a:t>
            </a:r>
            <a:r>
              <a:rPr lang="en-US" altLang="zh-CN" sz="2800" baseline="30000" dirty="0" smtClean="0"/>
              <a:t>-</a:t>
            </a:r>
            <a:r>
              <a:rPr lang="en-US" altLang="zh-CN" sz="2800" dirty="0" smtClean="0"/>
              <a:t> (</a:t>
            </a:r>
            <a:r>
              <a:rPr lang="en-US" altLang="zh-CN" sz="2800" dirty="0" err="1" smtClean="0"/>
              <a:t>aq</a:t>
            </a:r>
            <a:r>
              <a:rPr lang="en-US" altLang="zh-CN" sz="2800" dirty="0" smtClean="0"/>
              <a:t>) &lt;--&gt; Ca</a:t>
            </a:r>
            <a:r>
              <a:rPr lang="en-US" altLang="zh-CN" sz="2800" baseline="-25000" dirty="0" smtClean="0"/>
              <a:t>5</a:t>
            </a:r>
            <a:r>
              <a:rPr lang="en-US" altLang="zh-CN" sz="2800" dirty="0" smtClean="0"/>
              <a:t>(PO</a:t>
            </a:r>
            <a:r>
              <a:rPr lang="en-US" altLang="zh-CN" sz="2800" baseline="-25000" dirty="0" smtClean="0"/>
              <a:t>4</a:t>
            </a:r>
            <a:r>
              <a:rPr lang="en-US" altLang="zh-CN" sz="2800" dirty="0" smtClean="0"/>
              <a:t>)</a:t>
            </a:r>
            <a:r>
              <a:rPr lang="en-US" altLang="zh-CN" sz="2800" baseline="-25000" dirty="0" smtClean="0"/>
              <a:t>3</a:t>
            </a:r>
            <a:r>
              <a:rPr lang="en-US" altLang="zh-CN" sz="2800" dirty="0" smtClean="0"/>
              <a:t>F (s) + OH</a:t>
            </a:r>
            <a:r>
              <a:rPr lang="en-US" altLang="zh-CN" sz="2800" baseline="30000" dirty="0" smtClean="0"/>
              <a:t>-</a:t>
            </a:r>
            <a:r>
              <a:rPr lang="zh-CN" altLang="en-US" sz="2800" dirty="0" smtClean="0"/>
              <a:t>  </a:t>
            </a:r>
            <a:r>
              <a:rPr lang="en-US" altLang="zh-CN" sz="2800" dirty="0" smtClean="0"/>
              <a:t>(</a:t>
            </a:r>
            <a:r>
              <a:rPr lang="en-US" altLang="zh-CN" sz="2800" dirty="0" err="1" smtClean="0"/>
              <a:t>aq</a:t>
            </a:r>
            <a:r>
              <a:rPr lang="en-US" altLang="zh-CN" sz="2800" dirty="0" smtClean="0"/>
              <a:t>)</a:t>
            </a:r>
            <a:endParaRPr lang="zh-CN" altLang="en-US" sz="2800" dirty="0" smtClean="0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选择题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AutoNum type="arabicPeriod"/>
            </a:pPr>
            <a:r>
              <a:rPr lang="en-US" altLang="zh-CN" sz="3000" dirty="0" smtClean="0"/>
              <a:t>A</a:t>
            </a:r>
            <a:r>
              <a:rPr lang="zh-CN" altLang="en-US" sz="3000" dirty="0" smtClean="0"/>
              <a:t>单质</a:t>
            </a:r>
            <a:r>
              <a:rPr lang="en-US" altLang="zh-CN" sz="3000" dirty="0" smtClean="0"/>
              <a:t>	B </a:t>
            </a:r>
            <a:r>
              <a:rPr lang="zh-CN" altLang="en-US" sz="3000" dirty="0" smtClean="0"/>
              <a:t>混合物</a:t>
            </a:r>
            <a:endParaRPr lang="en-US" altLang="zh-CN" sz="3000" dirty="0" smtClean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3000" dirty="0" smtClean="0"/>
              <a:t>	</a:t>
            </a:r>
            <a:r>
              <a:rPr lang="en-US" altLang="zh-CN" sz="3000" dirty="0" err="1" smtClean="0"/>
              <a:t>Ans</a:t>
            </a:r>
            <a:r>
              <a:rPr lang="en-US" altLang="zh-CN" sz="3000" dirty="0" smtClean="0"/>
              <a:t>: C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3000" dirty="0" smtClean="0"/>
              <a:t>2. 			BaCl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  +   Na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SO</a:t>
            </a:r>
            <a:r>
              <a:rPr lang="en-US" altLang="zh-CN" sz="3000" baseline="-25000" dirty="0" smtClean="0"/>
              <a:t>4</a:t>
            </a:r>
            <a:r>
              <a:rPr lang="en-US" altLang="zh-CN" sz="3000" dirty="0" smtClean="0"/>
              <a:t>  </a:t>
            </a:r>
            <a:r>
              <a:rPr lang="en-US" altLang="zh-CN" sz="3000" dirty="0" smtClean="0">
                <a:sym typeface="Wingdings" pitchFamily="2" charset="2"/>
              </a:rPr>
              <a:t> BaSO</a:t>
            </a:r>
            <a:r>
              <a:rPr lang="en-US" altLang="zh-CN" sz="3000" baseline="-25000" dirty="0" smtClean="0">
                <a:sym typeface="Wingdings" pitchFamily="2" charset="2"/>
              </a:rPr>
              <a:t>4</a:t>
            </a:r>
            <a:r>
              <a:rPr lang="en-US" altLang="zh-CN" sz="3000" dirty="0" smtClean="0">
                <a:sym typeface="Wingdings" pitchFamily="2" charset="2"/>
              </a:rPr>
              <a:t> + 2NaCl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zh-CN" altLang="en-US" sz="3000" dirty="0" smtClean="0">
                <a:sym typeface="Wingdings" pitchFamily="2" charset="2"/>
              </a:rPr>
              <a:t>开始</a:t>
            </a:r>
            <a:r>
              <a:rPr lang="en-US" altLang="zh-CN" sz="3000" dirty="0" smtClean="0">
                <a:sym typeface="Wingdings" pitchFamily="2" charset="2"/>
              </a:rPr>
              <a:t>mol	0.02		0.03		0	   0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zh-CN" altLang="en-US" sz="3000" dirty="0" smtClean="0">
                <a:sym typeface="Wingdings" pitchFamily="2" charset="2"/>
              </a:rPr>
              <a:t>反应</a:t>
            </a:r>
            <a:r>
              <a:rPr lang="en-US" altLang="zh-CN" sz="3000" dirty="0" smtClean="0">
                <a:sym typeface="Wingdings" pitchFamily="2" charset="2"/>
              </a:rPr>
              <a:t>mol	0.02		0.02		0.02	    </a:t>
            </a:r>
            <a:r>
              <a:rPr lang="en-US" altLang="zh-CN" sz="3000" dirty="0" smtClean="0">
                <a:sym typeface="Wingdings" pitchFamily="2" charset="2"/>
              </a:rPr>
              <a:t>0.04</a:t>
            </a:r>
            <a:endParaRPr lang="en-US" altLang="zh-CN" sz="3000" dirty="0" smtClean="0"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buNone/>
            </a:pPr>
            <a:r>
              <a:rPr lang="zh-CN" altLang="en-US" sz="3000" dirty="0" smtClean="0">
                <a:sym typeface="Wingdings" pitchFamily="2" charset="2"/>
              </a:rPr>
              <a:t>结束</a:t>
            </a:r>
            <a:r>
              <a:rPr lang="en-US" altLang="zh-CN" sz="3000" dirty="0" smtClean="0">
                <a:sym typeface="Wingdings" pitchFamily="2" charset="2"/>
              </a:rPr>
              <a:t>mol	0		0.01		0.02	    </a:t>
            </a:r>
            <a:r>
              <a:rPr lang="en-US" altLang="zh-CN" sz="3000" dirty="0" smtClean="0">
                <a:sym typeface="Wingdings" pitchFamily="2" charset="2"/>
              </a:rPr>
              <a:t>0.04</a:t>
            </a:r>
            <a:endParaRPr lang="en-US" altLang="zh-CN" sz="3000" dirty="0" smtClean="0"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3000" dirty="0" err="1" smtClean="0">
                <a:sym typeface="Wingdings" pitchFamily="2" charset="2"/>
              </a:rPr>
              <a:t>Ans</a:t>
            </a:r>
            <a:r>
              <a:rPr lang="en-US" altLang="zh-CN" sz="3000" dirty="0" smtClean="0">
                <a:sym typeface="Wingdings" pitchFamily="2" charset="2"/>
              </a:rPr>
              <a:t>: B 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3000" dirty="0" smtClean="0">
                <a:sym typeface="Wingdings" pitchFamily="2" charset="2"/>
              </a:rPr>
              <a:t>3.B 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3000" dirty="0" smtClean="0">
                <a:sym typeface="Wingdings" pitchFamily="2" charset="2"/>
              </a:rPr>
              <a:t>4. D </a:t>
            </a:r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3000" dirty="0" smtClean="0">
                <a:sym typeface="Wingdings" pitchFamily="2" charset="2"/>
              </a:rPr>
              <a:t>5. D</a:t>
            </a:r>
          </a:p>
          <a:p>
            <a:pPr marL="514350" indent="-514350">
              <a:spcBef>
                <a:spcPts val="600"/>
              </a:spcBef>
              <a:buNone/>
            </a:pPr>
            <a:endParaRPr lang="en-US" altLang="zh-CN" sz="3000" dirty="0" smtClean="0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选择题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6. Rb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SO</a:t>
            </a:r>
            <a:r>
              <a:rPr lang="en-US" altLang="zh-CN" sz="3000" baseline="-25000" dirty="0" smtClean="0"/>
              <a:t>4</a:t>
            </a:r>
            <a:r>
              <a:rPr lang="en-US" altLang="zh-CN" sz="3000" dirty="0" smtClean="0"/>
              <a:t> + BaCl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</a:t>
            </a:r>
            <a:r>
              <a:rPr lang="en-US" altLang="zh-CN" sz="3000" dirty="0" smtClean="0">
                <a:sym typeface="Wingdings" pitchFamily="2" charset="2"/>
              </a:rPr>
              <a:t> BaSO</a:t>
            </a:r>
            <a:r>
              <a:rPr lang="en-US" altLang="zh-CN" sz="3000" baseline="-25000" dirty="0" smtClean="0">
                <a:sym typeface="Wingdings" pitchFamily="2" charset="2"/>
              </a:rPr>
              <a:t>4</a:t>
            </a:r>
            <a:r>
              <a:rPr lang="en-US" altLang="zh-CN" sz="3000" dirty="0" smtClean="0">
                <a:sym typeface="Wingdings" pitchFamily="2" charset="2"/>
              </a:rPr>
              <a:t> + 2RbCl</a:t>
            </a:r>
            <a:endParaRPr lang="en-US" altLang="zh-CN" sz="30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 </a:t>
            </a:r>
            <a:r>
              <a:rPr lang="en-US" altLang="zh-CN" sz="3000" dirty="0" err="1" smtClean="0"/>
              <a:t>Ans</a:t>
            </a:r>
            <a:r>
              <a:rPr lang="en-US" altLang="zh-CN" sz="3000" dirty="0" smtClean="0"/>
              <a:t>: A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7. 	</a:t>
            </a:r>
            <a:r>
              <a:rPr lang="en-US" altLang="zh-CN" sz="3000" dirty="0" err="1" smtClean="0"/>
              <a:t>Pb</a:t>
            </a:r>
            <a:r>
              <a:rPr lang="en-US" altLang="zh-CN" sz="3000" dirty="0" smtClean="0"/>
              <a:t>(OH)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	Cu(OH)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	Mg(OH)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	</a:t>
            </a:r>
            <a:r>
              <a:rPr lang="en-US" altLang="zh-CN" sz="3000" dirty="0" err="1" smtClean="0"/>
              <a:t>PbS</a:t>
            </a:r>
            <a:r>
              <a:rPr lang="en-US" altLang="zh-CN" sz="3000" dirty="0" smtClean="0"/>
              <a:t> 		</a:t>
            </a:r>
            <a:r>
              <a:rPr lang="en-US" altLang="zh-CN" sz="3000" dirty="0" err="1" smtClean="0"/>
              <a:t>CuS</a:t>
            </a:r>
            <a:r>
              <a:rPr lang="en-US" altLang="zh-CN" sz="3000" dirty="0" smtClean="0"/>
              <a:t>		</a:t>
            </a:r>
            <a:r>
              <a:rPr lang="en-US" altLang="zh-CN" sz="3000" dirty="0" err="1" smtClean="0"/>
              <a:t>MgS</a:t>
            </a:r>
            <a:endParaRPr lang="en-US" altLang="zh-CN" sz="30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	PbCl</a:t>
            </a:r>
            <a:r>
              <a:rPr lang="en-US" altLang="zh-CN" sz="3000" baseline="-25000" dirty="0" smtClean="0"/>
              <a:t>2	</a:t>
            </a:r>
            <a:r>
              <a:rPr lang="en-US" altLang="zh-CN" sz="3000" dirty="0" smtClean="0"/>
              <a:t>  	CuCl</a:t>
            </a:r>
            <a:r>
              <a:rPr lang="en-US" altLang="zh-CN" sz="3000" baseline="-25000" dirty="0" smtClean="0"/>
              <a:t>2	</a:t>
            </a:r>
            <a:r>
              <a:rPr lang="en-US" altLang="zh-CN" sz="3000" dirty="0" smtClean="0"/>
              <a:t>  	MgCl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err="1" smtClean="0"/>
              <a:t>Ans</a:t>
            </a:r>
            <a:r>
              <a:rPr lang="en-US" altLang="zh-CN" sz="3000" dirty="0" smtClean="0"/>
              <a:t>: A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8. Cr(OH)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 (s)   &lt;--&gt;   Cr</a:t>
            </a:r>
            <a:r>
              <a:rPr lang="en-US" altLang="zh-CN" sz="3000" baseline="30000" dirty="0" smtClean="0"/>
              <a:t>3+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+ 3OH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			      s		    3s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					      s = 2.1 x10</a:t>
            </a:r>
            <a:r>
              <a:rPr lang="en-US" altLang="zh-CN" sz="3000" baseline="30000" dirty="0" smtClean="0"/>
              <a:t>-8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err="1" smtClean="0"/>
              <a:t>Ans:A</a:t>
            </a:r>
            <a:r>
              <a:rPr lang="en-US" altLang="zh-CN" sz="30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8800" y="4724400"/>
            <a:ext cx="163217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dirty="0" smtClean="0">
                <a:sym typeface="Wingdings" pitchFamily="2" charset="2"/>
              </a:rPr>
              <a:t>=6.3x10</a:t>
            </a:r>
            <a:r>
              <a:rPr lang="en-US" sz="3000" baseline="30000" dirty="0" smtClean="0">
                <a:sym typeface="Wingdings" pitchFamily="2" charset="2"/>
              </a:rPr>
              <a:t>-8</a:t>
            </a:r>
            <a:endParaRPr lang="en-US" sz="3000" dirty="0"/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2561157" y="2391843"/>
            <a:ext cx="365760" cy="167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4313757" y="2391843"/>
            <a:ext cx="365760" cy="167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5400000">
            <a:off x="6218757" y="2391843"/>
            <a:ext cx="365760" cy="167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5400000">
            <a:off x="1875357" y="2925243"/>
            <a:ext cx="365760" cy="167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5400000">
            <a:off x="3704157" y="2925243"/>
            <a:ext cx="365760" cy="167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rot="5400000">
            <a:off x="2103957" y="3458643"/>
            <a:ext cx="365760" cy="167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选择题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9.  A</a:t>
            </a:r>
            <a:r>
              <a:rPr lang="zh-CN" altLang="en-US" sz="3000" dirty="0" smtClean="0"/>
              <a:t>沉淀速率</a:t>
            </a:r>
            <a:r>
              <a:rPr lang="en-US" altLang="zh-CN" sz="3000" dirty="0" smtClean="0"/>
              <a:t>=</a:t>
            </a:r>
            <a:r>
              <a:rPr lang="zh-CN" altLang="en-US" sz="3000" dirty="0" smtClean="0"/>
              <a:t>溶解速率，没有停止。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     B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=[Pb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][I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 ]</a:t>
            </a:r>
            <a:r>
              <a:rPr lang="en-US" altLang="zh-CN" sz="3000" baseline="30000" dirty="0" smtClean="0"/>
              <a:t>2</a:t>
            </a:r>
            <a:r>
              <a:rPr lang="en-US" altLang="zh-CN" sz="3000" dirty="0" smtClean="0"/>
              <a:t> 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     C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baseline="-25000" dirty="0" smtClean="0"/>
              <a:t>  </a:t>
            </a:r>
            <a:r>
              <a:rPr lang="en-US" altLang="zh-CN" sz="3000" dirty="0" smtClean="0"/>
              <a:t>= 4s</a:t>
            </a:r>
            <a:r>
              <a:rPr lang="en-US" altLang="zh-CN" sz="3000" baseline="30000" dirty="0" smtClean="0"/>
              <a:t>3</a:t>
            </a:r>
            <a:r>
              <a:rPr lang="en-US" altLang="zh-CN" sz="3000" dirty="0" smtClean="0"/>
              <a:t>  ,  s=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     D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随温度而改变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err="1" smtClean="0"/>
              <a:t>Ans</a:t>
            </a:r>
            <a:r>
              <a:rPr lang="en-US" altLang="zh-CN" sz="3000" dirty="0" smtClean="0"/>
              <a:t>: C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10. </a:t>
            </a:r>
            <a:r>
              <a:rPr lang="zh-CN" altLang="en-US" sz="3000" dirty="0" smtClean="0"/>
              <a:t>温度固定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和 </a:t>
            </a:r>
            <a:r>
              <a:rPr lang="en-US" altLang="zh-CN" sz="3000" dirty="0" smtClean="0"/>
              <a:t>s </a:t>
            </a:r>
            <a:r>
              <a:rPr lang="zh-CN" altLang="en-US" sz="3000" dirty="0" smtClean="0"/>
              <a:t>均不变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err="1" smtClean="0"/>
              <a:t>Ans:B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11. [Ag</a:t>
            </a:r>
            <a:r>
              <a:rPr lang="en-US" altLang="zh-CN" sz="3000" baseline="30000" dirty="0" smtClean="0"/>
              <a:t>+</a:t>
            </a:r>
            <a:r>
              <a:rPr lang="en-US" altLang="zh-CN" sz="3000" dirty="0" smtClean="0"/>
              <a:t>][</a:t>
            </a:r>
            <a:r>
              <a:rPr lang="en-US" altLang="zh-CN" sz="3000" dirty="0" err="1" smtClean="0"/>
              <a:t>Cl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 &gt;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baseline="-25000" dirty="0" smtClean="0"/>
              <a:t> 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有沉淀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err="1" smtClean="0"/>
              <a:t>Ans:A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endParaRPr lang="en-US" altLang="zh-CN" sz="3000" dirty="0" smtClean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352800" y="2057400"/>
          <a:ext cx="1490133" cy="838200"/>
        </p:xfrm>
        <a:graphic>
          <a:graphicData uri="http://schemas.openxmlformats.org/presentationml/2006/ole">
            <p:oleObj spid="_x0000_s16386" name="Equation" r:id="rId4" imgW="812520" imgH="457200" progId="Equation.3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选择题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12.</a:t>
            </a:r>
            <a:r>
              <a:rPr lang="zh-CN" altLang="en-US" sz="3000" dirty="0" smtClean="0"/>
              <a:t>同离子效应使难溶电解质溶解度下降。</a:t>
            </a:r>
            <a:endParaRPr lang="en-US" altLang="zh-CN" sz="30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	</a:t>
            </a:r>
            <a:r>
              <a:rPr lang="en-US" altLang="zh-CN" sz="3000" dirty="0" err="1" smtClean="0"/>
              <a:t>Ans</a:t>
            </a:r>
            <a:r>
              <a:rPr lang="en-US" altLang="zh-CN" sz="3000" dirty="0" smtClean="0"/>
              <a:t>: C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13. C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D </a:t>
            </a:r>
            <a:r>
              <a:rPr lang="zh-CN" altLang="en-US" sz="3000" dirty="0" smtClean="0"/>
              <a:t>酸中</a:t>
            </a:r>
            <a:r>
              <a:rPr lang="en-US" altLang="zh-CN" sz="3000" dirty="0" smtClean="0"/>
              <a:t>H</a:t>
            </a:r>
            <a:r>
              <a:rPr lang="en-US" altLang="zh-CN" sz="3000" baseline="30000" dirty="0" smtClean="0"/>
              <a:t>+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与</a:t>
            </a:r>
            <a:r>
              <a:rPr lang="en-US" altLang="zh-CN" sz="3000" dirty="0" smtClean="0"/>
              <a:t>OH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结合生成水，使</a:t>
            </a:r>
            <a:r>
              <a:rPr lang="en-US" altLang="zh-CN" sz="3000" dirty="0" smtClean="0"/>
              <a:t>[OH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</a:t>
            </a:r>
            <a:r>
              <a:rPr lang="zh-CN" altLang="en-US" sz="3000" dirty="0" smtClean="0"/>
              <a:t>降低，</a:t>
            </a:r>
            <a:endParaRPr lang="en-US" altLang="zh-CN" sz="30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	</a:t>
            </a:r>
            <a:r>
              <a:rPr lang="zh-CN" altLang="en-US" sz="3000" dirty="0" smtClean="0"/>
              <a:t>溶解平衡向溶解方向移动</a:t>
            </a:r>
            <a:endParaRPr lang="en-US" altLang="zh-CN" sz="30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14. 	A</a:t>
            </a:r>
            <a:r>
              <a:rPr lang="zh-CN" altLang="en-US" sz="3000" dirty="0" smtClean="0"/>
              <a:t>沉淀转化为</a:t>
            </a:r>
            <a:r>
              <a:rPr lang="en-US" altLang="zh-CN" sz="3000" dirty="0" smtClean="0"/>
              <a:t>Mg(OH)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	B </a:t>
            </a:r>
            <a:r>
              <a:rPr lang="zh-CN" altLang="en-US" sz="3000" dirty="0" smtClean="0"/>
              <a:t>沉淀转化为</a:t>
            </a:r>
            <a:r>
              <a:rPr lang="en-US" altLang="zh-CN" sz="3000" dirty="0" smtClean="0"/>
              <a:t>CaCO</a:t>
            </a:r>
            <a:r>
              <a:rPr lang="en-US" altLang="zh-CN" sz="3000" baseline="-25000" dirty="0" smtClean="0"/>
              <a:t>3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baseline="-25000" dirty="0" smtClean="0"/>
              <a:t>	</a:t>
            </a:r>
            <a:r>
              <a:rPr lang="en-US" altLang="zh-CN" sz="3000" dirty="0" smtClean="0"/>
              <a:t>C </a:t>
            </a:r>
            <a:r>
              <a:rPr lang="zh-CN" altLang="en-US" sz="3000" dirty="0" smtClean="0"/>
              <a:t>没影响</a:t>
            </a:r>
            <a:endParaRPr lang="en-US" altLang="zh-CN" sz="30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	D </a:t>
            </a:r>
            <a:r>
              <a:rPr lang="zh-CN" altLang="en-US" sz="3000" dirty="0" smtClean="0"/>
              <a:t>同离子效应</a:t>
            </a:r>
            <a:endParaRPr lang="en-US" altLang="zh-CN" sz="30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err="1" smtClean="0"/>
              <a:t>Ans:D</a:t>
            </a:r>
            <a:endParaRPr lang="en-US" altLang="zh-CN" sz="3000" dirty="0" smtClean="0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选择题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15. 		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3000" dirty="0" smtClean="0"/>
              <a:t>由图可知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=</a:t>
            </a:r>
            <a:r>
              <a:rPr lang="en-US" altLang="zh-CN" sz="3000" dirty="0" smtClean="0"/>
              <a:t> [Ca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][SO</a:t>
            </a:r>
            <a:r>
              <a:rPr lang="en-US" altLang="zh-CN" sz="3000" baseline="-25000" dirty="0" smtClean="0"/>
              <a:t>4</a:t>
            </a:r>
            <a:r>
              <a:rPr lang="en-US" altLang="zh-CN" sz="3000" baseline="30000" dirty="0" smtClean="0"/>
              <a:t>2-</a:t>
            </a:r>
            <a:r>
              <a:rPr lang="en-US" altLang="zh-CN" sz="3000" dirty="0" smtClean="0"/>
              <a:t> </a:t>
            </a:r>
            <a:r>
              <a:rPr lang="en-US" altLang="zh-CN" sz="3000" dirty="0" smtClean="0"/>
              <a:t>]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	</a:t>
            </a:r>
            <a:r>
              <a:rPr lang="en-US" altLang="zh-CN" sz="3000" dirty="0" smtClean="0"/>
              <a:t>	=</a:t>
            </a:r>
            <a:r>
              <a:rPr lang="en-US" sz="2800" dirty="0" smtClean="0"/>
              <a:t> 3.0×10</a:t>
            </a:r>
            <a:r>
              <a:rPr lang="en-US" altLang="zh-CN" sz="2800" baseline="30000" dirty="0" smtClean="0"/>
              <a:t>-3</a:t>
            </a:r>
            <a:r>
              <a:rPr lang="en-US" sz="2800" dirty="0" smtClean="0"/>
              <a:t> ×</a:t>
            </a:r>
            <a:r>
              <a:rPr lang="en-US" sz="2800" dirty="0" smtClean="0"/>
              <a:t> </a:t>
            </a:r>
            <a:r>
              <a:rPr lang="en-US" sz="2800" dirty="0" smtClean="0"/>
              <a:t>3.0×10</a:t>
            </a:r>
            <a:r>
              <a:rPr lang="en-US" altLang="zh-CN" sz="2800" baseline="30000" dirty="0" smtClean="0"/>
              <a:t>-3 </a:t>
            </a:r>
            <a:r>
              <a:rPr lang="en-US" altLang="zh-CN" sz="2800" dirty="0" smtClean="0"/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800" dirty="0" smtClean="0"/>
              <a:t>	</a:t>
            </a:r>
            <a:r>
              <a:rPr lang="en-US" altLang="zh-CN" sz="2800" dirty="0" smtClean="0"/>
              <a:t>	= 9</a:t>
            </a:r>
            <a:r>
              <a:rPr lang="en-US" sz="2800" dirty="0" smtClean="0"/>
              <a:t> </a:t>
            </a:r>
            <a:r>
              <a:rPr lang="en-US" sz="2800" dirty="0" smtClean="0"/>
              <a:t>×10</a:t>
            </a:r>
            <a:r>
              <a:rPr lang="en-US" altLang="zh-CN" sz="2800" baseline="30000" dirty="0" smtClean="0"/>
              <a:t>-6</a:t>
            </a:r>
            <a:r>
              <a:rPr lang="en-US" altLang="zh-CN" sz="2800" dirty="0" smtClean="0"/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800" dirty="0" smtClean="0"/>
              <a:t>混合</a:t>
            </a:r>
            <a:r>
              <a:rPr lang="zh-CN" altLang="en-US" sz="2800" dirty="0" smtClean="0"/>
              <a:t>后</a:t>
            </a:r>
            <a:r>
              <a:rPr lang="en-US" altLang="zh-CN" sz="3000" dirty="0" smtClean="0"/>
              <a:t>[</a:t>
            </a:r>
            <a:r>
              <a:rPr lang="en-US" altLang="zh-CN" sz="3000" dirty="0" smtClean="0"/>
              <a:t>Ca</a:t>
            </a:r>
            <a:r>
              <a:rPr lang="en-US" altLang="zh-CN" sz="3000" baseline="30000" dirty="0" smtClean="0"/>
              <a:t>2</a:t>
            </a:r>
            <a:r>
              <a:rPr lang="en-US" altLang="zh-CN" sz="3000" baseline="30000" dirty="0" smtClean="0"/>
              <a:t>+</a:t>
            </a:r>
            <a:r>
              <a:rPr lang="en-US" altLang="zh-CN" sz="3000" dirty="0" smtClean="0"/>
              <a:t>]=			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		  = 6</a:t>
            </a:r>
            <a:r>
              <a:rPr lang="en-US" sz="2800" dirty="0" smtClean="0"/>
              <a:t> ×</a:t>
            </a:r>
            <a:r>
              <a:rPr lang="en-US" sz="2800" dirty="0" smtClean="0"/>
              <a:t>10</a:t>
            </a:r>
            <a:r>
              <a:rPr lang="en-US" altLang="zh-CN" sz="2800" baseline="30000" dirty="0" smtClean="0"/>
              <a:t>-4</a:t>
            </a:r>
            <a:r>
              <a:rPr lang="en-US" altLang="zh-CN" sz="2800" dirty="0" smtClean="0"/>
              <a:t> M</a:t>
            </a:r>
            <a:endParaRPr lang="en-US" altLang="zh-CN" sz="30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[</a:t>
            </a:r>
            <a:r>
              <a:rPr lang="en-US" altLang="zh-CN" sz="3000" dirty="0" smtClean="0"/>
              <a:t>SO</a:t>
            </a:r>
            <a:r>
              <a:rPr lang="en-US" altLang="zh-CN" sz="3000" baseline="-25000" dirty="0" smtClean="0"/>
              <a:t>4</a:t>
            </a:r>
            <a:r>
              <a:rPr lang="en-US" altLang="zh-CN" sz="3000" baseline="30000" dirty="0" smtClean="0"/>
              <a:t>2-</a:t>
            </a:r>
            <a:r>
              <a:rPr lang="en-US" altLang="zh-CN" sz="3000" dirty="0" smtClean="0"/>
              <a:t> </a:t>
            </a:r>
            <a:r>
              <a:rPr lang="en-US" altLang="zh-CN" sz="3000" dirty="0" smtClean="0"/>
              <a:t>]=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	= 8.6</a:t>
            </a:r>
            <a:r>
              <a:rPr lang="en-US" sz="2800" dirty="0" smtClean="0"/>
              <a:t> ×10</a:t>
            </a:r>
            <a:r>
              <a:rPr lang="en-US" altLang="zh-CN" sz="2800" baseline="30000" dirty="0" smtClean="0"/>
              <a:t>-6</a:t>
            </a:r>
            <a:r>
              <a:rPr lang="en-US" altLang="zh-CN" sz="2800" dirty="0" smtClean="0"/>
              <a:t> </a:t>
            </a:r>
            <a:r>
              <a:rPr lang="en-US" altLang="zh-CN" sz="2800" dirty="0" smtClean="0"/>
              <a:t>M</a:t>
            </a:r>
            <a:endParaRPr lang="en-US" altLang="zh-CN" sz="30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[</a:t>
            </a:r>
            <a:r>
              <a:rPr lang="en-US" altLang="zh-CN" sz="3000" dirty="0" smtClean="0"/>
              <a:t>Ca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][SO</a:t>
            </a:r>
            <a:r>
              <a:rPr lang="en-US" altLang="zh-CN" sz="3000" baseline="-25000" dirty="0" smtClean="0"/>
              <a:t>4</a:t>
            </a:r>
            <a:r>
              <a:rPr lang="en-US" altLang="zh-CN" sz="3000" baseline="30000" dirty="0" smtClean="0"/>
              <a:t>2-</a:t>
            </a:r>
            <a:r>
              <a:rPr lang="en-US" altLang="zh-CN" sz="3000" dirty="0" smtClean="0"/>
              <a:t> </a:t>
            </a:r>
            <a:r>
              <a:rPr lang="en-US" altLang="zh-CN" sz="3000" dirty="0" smtClean="0"/>
              <a:t>]=5.16 </a:t>
            </a:r>
            <a:r>
              <a:rPr lang="en-US" sz="2800" dirty="0" smtClean="0"/>
              <a:t>×10</a:t>
            </a:r>
            <a:r>
              <a:rPr lang="en-US" altLang="zh-CN" sz="2800" baseline="30000" dirty="0" smtClean="0"/>
              <a:t>-6</a:t>
            </a:r>
            <a:r>
              <a:rPr lang="en-US" altLang="zh-CN" sz="2800" dirty="0" smtClean="0"/>
              <a:t> </a:t>
            </a:r>
            <a:r>
              <a:rPr lang="en-US" altLang="zh-CN" sz="3000" dirty="0" smtClean="0"/>
              <a:t>&lt;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</a:t>
            </a:r>
            <a:endParaRPr lang="en-US" altLang="zh-CN" sz="30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err="1" smtClean="0"/>
              <a:t>Ans:D</a:t>
            </a:r>
            <a:endParaRPr lang="en-US" altLang="zh-CN" sz="3000" dirty="0" smtClean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590800" y="2971800"/>
          <a:ext cx="2277806" cy="882650"/>
        </p:xfrm>
        <a:graphic>
          <a:graphicData uri="http://schemas.openxmlformats.org/presentationml/2006/ole">
            <p:oleObj spid="_x0000_s58369" name="Equation" r:id="rId4" imgW="1015920" imgH="393480" progId="Equation.3">
              <p:embed/>
            </p:oleObj>
          </a:graphicData>
        </a:graphic>
      </p:graphicFrame>
      <p:graphicFrame>
        <p:nvGraphicFramePr>
          <p:cNvPr id="58370" name="Object 2"/>
          <p:cNvGraphicFramePr>
            <a:graphicFrameLocks noChangeAspect="1"/>
          </p:cNvGraphicFramePr>
          <p:nvPr/>
        </p:nvGraphicFramePr>
        <p:xfrm>
          <a:off x="1828800" y="4038600"/>
          <a:ext cx="4357687" cy="882650"/>
        </p:xfrm>
        <a:graphic>
          <a:graphicData uri="http://schemas.openxmlformats.org/presentationml/2006/ole">
            <p:oleObj spid="_x0000_s58370" name="Equation" r:id="rId5" imgW="1942920" imgH="393480" progId="Equation.3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选择题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16</a:t>
            </a:r>
            <a:r>
              <a:rPr lang="en-US" altLang="zh-CN" sz="3000" dirty="0" smtClean="0"/>
              <a:t>. </a:t>
            </a:r>
            <a:r>
              <a:rPr lang="en-US" altLang="zh-CN" sz="3000" dirty="0" smtClean="0"/>
              <a:t>A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800" dirty="0" smtClean="0"/>
              <a:t>溶</a:t>
            </a:r>
            <a:r>
              <a:rPr lang="zh-CN" altLang="en-US" sz="2800" dirty="0" smtClean="0"/>
              <a:t>解度大的沉淀可以转化为溶解度小的沉淀，溶解度小的沉淀也可 以转化为溶解度大的沉淀，所以 </a:t>
            </a:r>
            <a:r>
              <a:rPr lang="en-US" altLang="zh-CN" sz="2800" dirty="0" err="1" smtClean="0"/>
              <a:t>AgCl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和 </a:t>
            </a:r>
            <a:r>
              <a:rPr lang="en-US" altLang="zh-CN" sz="2800" dirty="0" err="1" smtClean="0"/>
              <a:t>AgI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在一定条件下可以相互转化，</a:t>
            </a:r>
            <a:endParaRPr lang="en-US" altLang="zh-CN" sz="30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17. 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18. A 	1.33x10</a:t>
            </a:r>
            <a:r>
              <a:rPr lang="en-US" altLang="zh-CN" sz="3000" baseline="30000" dirty="0" smtClean="0"/>
              <a:t>-5</a:t>
            </a:r>
            <a:r>
              <a:rPr lang="en-US" altLang="zh-CN" sz="3000" dirty="0" smtClean="0"/>
              <a:t> 	1.5x10</a:t>
            </a:r>
            <a:r>
              <a:rPr lang="en-US" altLang="zh-CN" sz="3000" baseline="30000" dirty="0" smtClean="0"/>
              <a:t>-2</a:t>
            </a:r>
            <a:r>
              <a:rPr lang="en-US" altLang="zh-CN" sz="3000" dirty="0" smtClean="0"/>
              <a:t> 	2.51x10</a:t>
            </a:r>
            <a:r>
              <a:rPr lang="en-US" altLang="zh-CN" sz="3000" baseline="30000" dirty="0" smtClean="0"/>
              <a:t>-17</a:t>
            </a:r>
            <a:r>
              <a:rPr lang="en-US" altLang="zh-CN" sz="3000" dirty="0" smtClean="0"/>
              <a:t> 	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	7.3x10</a:t>
            </a:r>
            <a:r>
              <a:rPr lang="en-US" altLang="zh-CN" sz="3000" baseline="30000" dirty="0" smtClean="0"/>
              <a:t>-7</a:t>
            </a:r>
            <a:r>
              <a:rPr lang="en-US" altLang="zh-CN" sz="3000" dirty="0" smtClean="0"/>
              <a:t> 	9.22x10</a:t>
            </a:r>
            <a:r>
              <a:rPr lang="en-US" altLang="zh-CN" sz="3000" baseline="30000" dirty="0" smtClean="0"/>
              <a:t>-9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err="1" smtClean="0"/>
              <a:t>Ans:C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在</a:t>
            </a:r>
            <a:r>
              <a:rPr lang="en-US" altLang="zh-CN" sz="3000" dirty="0" smtClean="0"/>
              <a:t>CaCl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中的溶解度会较小</a:t>
            </a:r>
            <a:endParaRPr lang="en-US" altLang="zh-CN" sz="3000" dirty="0" smtClean="0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作答题</a:t>
            </a:r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90600"/>
            <a:ext cx="8001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1.Ag=108</a:t>
            </a:r>
            <a:r>
              <a:rPr lang="zh-CN" altLang="en-US" sz="3000" dirty="0" smtClean="0"/>
              <a:t>，</a:t>
            </a:r>
            <a:r>
              <a:rPr lang="en-US" altLang="zh-CN" sz="3000" dirty="0" smtClean="0"/>
              <a:t>Cr=52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s= 9.94 x10</a:t>
            </a:r>
            <a:r>
              <a:rPr lang="en-US" altLang="zh-CN" sz="3000" baseline="30000" dirty="0" smtClean="0"/>
              <a:t>-5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= 3.93x10</a:t>
            </a:r>
            <a:r>
              <a:rPr lang="en-US" altLang="zh-CN" sz="3000" baseline="30000" dirty="0" smtClean="0"/>
              <a:t>-12</a:t>
            </a:r>
            <a:r>
              <a:rPr lang="en-US" altLang="zh-CN" sz="3000" dirty="0" smtClean="0"/>
              <a:t>	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2. s= 5.08 x10</a:t>
            </a:r>
            <a:r>
              <a:rPr lang="en-US" altLang="zh-CN" sz="3000" baseline="30000" dirty="0" smtClean="0"/>
              <a:t>-5</a:t>
            </a:r>
            <a:r>
              <a:rPr lang="en-US" altLang="zh-CN" sz="3000" dirty="0" smtClean="0"/>
              <a:t> M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1mL </a:t>
            </a:r>
            <a:r>
              <a:rPr lang="zh-CN" altLang="en-US" sz="3000" dirty="0" smtClean="0"/>
              <a:t>饱和溶液中</a:t>
            </a:r>
            <a:r>
              <a:rPr lang="en-US" altLang="zh-CN" sz="3000" dirty="0" smtClean="0"/>
              <a:t>m(Ba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 )=6.96x10</a:t>
            </a:r>
            <a:r>
              <a:rPr lang="en-US" altLang="zh-CN" sz="3000" baseline="30000" dirty="0" smtClean="0"/>
              <a:t>-6</a:t>
            </a:r>
            <a:r>
              <a:rPr lang="en-US" altLang="zh-CN" sz="3000" dirty="0" smtClean="0"/>
              <a:t> g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3. 	s(BaSO</a:t>
            </a:r>
            <a:r>
              <a:rPr lang="en-US" altLang="zh-CN" sz="3000" baseline="-25000" dirty="0" smtClean="0"/>
              <a:t>4</a:t>
            </a:r>
            <a:r>
              <a:rPr lang="en-US" altLang="zh-CN" sz="3000" dirty="0" smtClean="0"/>
              <a:t>)= 1.03 x10</a:t>
            </a:r>
            <a:r>
              <a:rPr lang="en-US" altLang="zh-CN" sz="3000" baseline="30000" dirty="0" smtClean="0"/>
              <a:t>-5</a:t>
            </a:r>
            <a:r>
              <a:rPr lang="en-US" altLang="zh-CN" sz="3000" dirty="0" smtClean="0"/>
              <a:t> M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s(CaF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)= 2.14x10</a:t>
            </a:r>
            <a:r>
              <a:rPr lang="en-US" altLang="zh-CN" sz="3000" baseline="30000" dirty="0" smtClean="0"/>
              <a:t>-4</a:t>
            </a:r>
            <a:r>
              <a:rPr lang="en-US" altLang="zh-CN" sz="3000" dirty="0" smtClean="0"/>
              <a:t> M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s(Ag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CO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)= 1.15 x10</a:t>
            </a:r>
            <a:r>
              <a:rPr lang="en-US" altLang="zh-CN" sz="3000" baseline="30000" dirty="0" smtClean="0"/>
              <a:t>-4</a:t>
            </a:r>
            <a:r>
              <a:rPr lang="en-US" altLang="zh-CN" sz="3000" dirty="0" smtClean="0"/>
              <a:t> M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溶解度：</a:t>
            </a:r>
            <a:r>
              <a:rPr lang="en-US" altLang="zh-CN" sz="3000" dirty="0" smtClean="0"/>
              <a:t>CaF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&gt; Ag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CO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 &gt; BaSO</a:t>
            </a:r>
            <a:r>
              <a:rPr lang="en-US" altLang="zh-CN" sz="3000" baseline="-25000" dirty="0" smtClean="0"/>
              <a:t>4</a:t>
            </a:r>
            <a:endParaRPr lang="en-US" altLang="zh-CN" sz="3000" dirty="0" smtClean="0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作答题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4. (1)	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baseline="-25000" dirty="0" smtClean="0"/>
              <a:t> </a:t>
            </a:r>
            <a:r>
              <a:rPr lang="en-US" altLang="zh-CN" sz="3000" dirty="0" smtClean="0"/>
              <a:t>(PbCl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)= 1.64x10</a:t>
            </a:r>
            <a:r>
              <a:rPr lang="en-US" altLang="zh-CN" sz="3000" baseline="30000" dirty="0" smtClean="0"/>
              <a:t>-5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baseline="30000" dirty="0" smtClean="0"/>
              <a:t> </a:t>
            </a:r>
            <a:r>
              <a:rPr lang="en-US" altLang="zh-CN" sz="3000" dirty="0" smtClean="0"/>
              <a:t>    (2) 4.1 x10</a:t>
            </a:r>
            <a:r>
              <a:rPr lang="en-US" altLang="zh-CN" sz="3000" baseline="30000" dirty="0" smtClean="0"/>
              <a:t>-6</a:t>
            </a:r>
            <a:r>
              <a:rPr lang="en-US" altLang="zh-CN" sz="3000" dirty="0" smtClean="0"/>
              <a:t> M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5. (2) s=2x10</a:t>
            </a:r>
            <a:r>
              <a:rPr lang="en-US" altLang="zh-CN" sz="3000" baseline="30000" dirty="0" smtClean="0"/>
              <a:t>-6</a:t>
            </a:r>
            <a:r>
              <a:rPr lang="en-US" altLang="zh-CN" sz="3000" dirty="0" smtClean="0"/>
              <a:t> M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    (1)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baseline="-25000" dirty="0" smtClean="0"/>
              <a:t> </a:t>
            </a:r>
            <a:r>
              <a:rPr lang="en-US" altLang="zh-CN" sz="3000" dirty="0" smtClean="0"/>
              <a:t>[Zn(OH)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]= 3.2x10</a:t>
            </a:r>
            <a:r>
              <a:rPr lang="en-US" altLang="zh-CN" sz="3000" baseline="30000" dirty="0" smtClean="0"/>
              <a:t>-17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6.    MgSO</a:t>
            </a:r>
            <a:r>
              <a:rPr lang="en-US" altLang="zh-CN" sz="3000" baseline="-25000" dirty="0" smtClean="0"/>
              <a:t>4</a:t>
            </a:r>
            <a:r>
              <a:rPr lang="en-US" altLang="zh-CN" sz="3000" dirty="0" smtClean="0"/>
              <a:t> + BaCl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</a:t>
            </a:r>
            <a:r>
              <a:rPr lang="en-US" altLang="zh-CN" sz="3000" dirty="0" smtClean="0">
                <a:sym typeface="Wingdings" pitchFamily="2" charset="2"/>
              </a:rPr>
              <a:t> BaSO</a:t>
            </a:r>
            <a:r>
              <a:rPr lang="en-US" altLang="zh-CN" sz="3000" baseline="-25000" dirty="0" smtClean="0">
                <a:sym typeface="Wingdings" pitchFamily="2" charset="2"/>
              </a:rPr>
              <a:t>4</a:t>
            </a:r>
            <a:r>
              <a:rPr lang="en-US" altLang="zh-CN" sz="3000" dirty="0" smtClean="0">
                <a:sym typeface="Wingdings" pitchFamily="2" charset="2"/>
              </a:rPr>
              <a:t> + MgCl</a:t>
            </a:r>
            <a:r>
              <a:rPr lang="en-US" altLang="zh-CN" sz="3000" baseline="-25000" dirty="0" smtClean="0">
                <a:sym typeface="Wingdings" pitchFamily="2" charset="2"/>
              </a:rPr>
              <a:t>2</a:t>
            </a:r>
            <a:r>
              <a:rPr lang="en-US" altLang="zh-CN" sz="3000" dirty="0" smtClean="0">
                <a:sym typeface="Wingdings" pitchFamily="2" charset="2"/>
              </a:rPr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>
                <a:sym typeface="Wingdings" pitchFamily="2" charset="2"/>
              </a:rPr>
              <a:t>	</a:t>
            </a:r>
            <a:r>
              <a:rPr lang="en-US" altLang="zh-CN" sz="3000" dirty="0" err="1" smtClean="0">
                <a:sym typeface="Wingdings" pitchFamily="2" charset="2"/>
              </a:rPr>
              <a:t>xg</a:t>
            </a:r>
            <a:r>
              <a:rPr lang="en-US" altLang="zh-CN" sz="3000" dirty="0" smtClean="0">
                <a:sym typeface="Wingdings" pitchFamily="2" charset="2"/>
              </a:rPr>
              <a:t>			0.93g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>
                <a:sym typeface="Wingdings" pitchFamily="2" charset="2"/>
              </a:rPr>
              <a:t>	120g			233g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>
                <a:sym typeface="Wingdings" pitchFamily="2" charset="2"/>
              </a:rPr>
              <a:t>		x=0.48g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>
                <a:sym typeface="Wingdings" pitchFamily="2" charset="2"/>
              </a:rPr>
              <a:t>样品中</a:t>
            </a:r>
            <a:r>
              <a:rPr lang="en-US" altLang="zh-CN" sz="3000" dirty="0" smtClean="0">
                <a:sym typeface="Wingdings" pitchFamily="2" charset="2"/>
              </a:rPr>
              <a:t>MgSO</a:t>
            </a:r>
            <a:r>
              <a:rPr lang="en-US" altLang="zh-CN" sz="3000" baseline="-25000" dirty="0" smtClean="0">
                <a:sym typeface="Wingdings" pitchFamily="2" charset="2"/>
              </a:rPr>
              <a:t>4</a:t>
            </a:r>
            <a:r>
              <a:rPr lang="en-US" altLang="zh-CN" sz="3000" dirty="0" smtClean="0">
                <a:sym typeface="Wingdings" pitchFamily="2" charset="2"/>
              </a:rPr>
              <a:t> </a:t>
            </a:r>
            <a:r>
              <a:rPr lang="zh-CN" altLang="en-US" sz="3000" dirty="0" smtClean="0">
                <a:sym typeface="Wingdings" pitchFamily="2" charset="2"/>
              </a:rPr>
              <a:t>质量百分比</a:t>
            </a:r>
            <a:r>
              <a:rPr lang="en-US" altLang="zh-CN" sz="3000" dirty="0" smtClean="0">
                <a:sym typeface="Wingdings" pitchFamily="2" charset="2"/>
              </a:rPr>
              <a:t>= </a:t>
            </a:r>
            <a:endParaRPr lang="en-US" altLang="zh-CN" sz="3000" dirty="0" smtClean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800600" y="5562600"/>
          <a:ext cx="1948631" cy="958850"/>
        </p:xfrm>
        <a:graphic>
          <a:graphicData uri="http://schemas.openxmlformats.org/presentationml/2006/ole">
            <p:oleObj spid="_x0000_s17410" name="Equation" r:id="rId4" imgW="799920" imgH="393480" progId="Equation.3">
              <p:embed/>
            </p:oleObj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858000" y="5791200"/>
          <a:ext cx="1852839" cy="546100"/>
        </p:xfrm>
        <a:graphic>
          <a:graphicData uri="http://schemas.openxmlformats.org/presentationml/2006/ole">
            <p:oleObj spid="_x0000_s17411" name="Equation" r:id="rId5" imgW="444240" imgH="177480" progId="Equation.3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作答题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7. </a:t>
            </a:r>
            <a:r>
              <a:rPr lang="en-US" altLang="zh-CN" sz="3000" dirty="0" err="1" smtClean="0"/>
              <a:t>Pb</a:t>
            </a:r>
            <a:r>
              <a:rPr lang="en-US" altLang="zh-CN" sz="3000" dirty="0" smtClean="0"/>
              <a:t>(NO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)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</a:t>
            </a:r>
            <a:r>
              <a:rPr lang="en-US" altLang="zh-CN" sz="3000" dirty="0" smtClean="0">
                <a:sym typeface="Wingdings" pitchFamily="2" charset="2"/>
              </a:rPr>
              <a:t>   	Pb</a:t>
            </a:r>
            <a:r>
              <a:rPr lang="en-US" altLang="zh-CN" sz="3000" baseline="30000" dirty="0" smtClean="0">
                <a:sym typeface="Wingdings" pitchFamily="2" charset="2"/>
              </a:rPr>
              <a:t>2+</a:t>
            </a:r>
            <a:r>
              <a:rPr lang="en-US" altLang="zh-CN" sz="3000" dirty="0" smtClean="0">
                <a:sym typeface="Wingdings" pitchFamily="2" charset="2"/>
              </a:rPr>
              <a:t>  (</a:t>
            </a:r>
            <a:r>
              <a:rPr lang="en-US" altLang="zh-CN" sz="3000" dirty="0" err="1" smtClean="0">
                <a:sym typeface="Wingdings" pitchFamily="2" charset="2"/>
              </a:rPr>
              <a:t>aq</a:t>
            </a:r>
            <a:r>
              <a:rPr lang="en-US" altLang="zh-CN" sz="3000" dirty="0" smtClean="0">
                <a:sym typeface="Wingdings" pitchFamily="2" charset="2"/>
              </a:rPr>
              <a:t>) +  2NO</a:t>
            </a:r>
            <a:r>
              <a:rPr lang="en-US" altLang="zh-CN" sz="3000" baseline="-25000" dirty="0" smtClean="0">
                <a:sym typeface="Wingdings" pitchFamily="2" charset="2"/>
              </a:rPr>
              <a:t>3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      0.1M	     	    	</a:t>
            </a:r>
            <a:r>
              <a:rPr lang="en-US" altLang="zh-CN" sz="3000" dirty="0" err="1" smtClean="0"/>
              <a:t>0.1M</a:t>
            </a:r>
            <a:r>
              <a:rPr lang="en-US" altLang="zh-CN" sz="3000" dirty="0" smtClean="0"/>
              <a:t> 	     	0.2M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	PbBr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(s)   &lt;--&gt;   	Pb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 + 	 2Br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				3.4x10</a:t>
            </a:r>
            <a:r>
              <a:rPr lang="en-US" altLang="zh-CN" sz="3000" baseline="30000" dirty="0" smtClean="0"/>
              <a:t>-3</a:t>
            </a:r>
            <a:r>
              <a:rPr lang="en-US" altLang="zh-CN" sz="3000" dirty="0" smtClean="0"/>
              <a:t> M	2(3.4x10</a:t>
            </a:r>
            <a:r>
              <a:rPr lang="en-US" altLang="zh-CN" sz="3000" baseline="30000" dirty="0" smtClean="0"/>
              <a:t>-3</a:t>
            </a:r>
            <a:r>
              <a:rPr lang="en-US" altLang="zh-CN" sz="3000" dirty="0" smtClean="0"/>
              <a:t>) M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 smtClean="0"/>
              <a:t>	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= [Pb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][Br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</a:t>
            </a:r>
            <a:r>
              <a:rPr lang="en-US" altLang="zh-CN" sz="3000" baseline="30000" dirty="0" smtClean="0"/>
              <a:t>2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baseline="30000" dirty="0" smtClean="0"/>
              <a:t>	 </a:t>
            </a:r>
            <a:r>
              <a:rPr lang="en-US" altLang="zh-CN" sz="3000" dirty="0" smtClean="0"/>
              <a:t>     = (0.1+3.4x10</a:t>
            </a:r>
            <a:r>
              <a:rPr lang="en-US" altLang="zh-CN" sz="3000" baseline="30000" dirty="0" smtClean="0"/>
              <a:t>-3</a:t>
            </a:r>
            <a:r>
              <a:rPr lang="en-US" altLang="zh-CN" sz="3000" dirty="0" smtClean="0"/>
              <a:t>) (6.8x10</a:t>
            </a:r>
            <a:r>
              <a:rPr lang="en-US" altLang="zh-CN" sz="3000" baseline="30000" dirty="0" smtClean="0"/>
              <a:t>-3</a:t>
            </a:r>
            <a:r>
              <a:rPr lang="en-US" altLang="zh-CN" sz="3000" dirty="0" smtClean="0"/>
              <a:t>)</a:t>
            </a:r>
            <a:r>
              <a:rPr lang="en-US" altLang="zh-CN" sz="3000" baseline="30000" dirty="0" smtClean="0"/>
              <a:t>2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baseline="30000" dirty="0" smtClean="0"/>
              <a:t> </a:t>
            </a:r>
            <a:r>
              <a:rPr lang="en-US" altLang="zh-CN" sz="3000" dirty="0" smtClean="0"/>
              <a:t> 	      = 4.78 x10</a:t>
            </a:r>
            <a:r>
              <a:rPr lang="en-US" altLang="zh-CN" sz="3000" baseline="30000" dirty="0" smtClean="0"/>
              <a:t>-6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</a:t>
            </a:r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作答题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8. </a:t>
            </a:r>
            <a:r>
              <a:rPr lang="zh-CN" altLang="en-US" sz="3000" dirty="0" smtClean="0"/>
              <a:t>混合后</a:t>
            </a:r>
            <a:r>
              <a:rPr lang="en-US" altLang="zh-CN" sz="3000" dirty="0" smtClean="0"/>
              <a:t>	[CaCl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]= 0.001M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[AgNO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]=5x10</a:t>
            </a:r>
            <a:r>
              <a:rPr lang="en-US" altLang="zh-CN" sz="3000" baseline="30000" dirty="0" smtClean="0"/>
              <a:t>-4</a:t>
            </a:r>
            <a:r>
              <a:rPr lang="en-US" altLang="zh-CN" sz="3000" dirty="0" smtClean="0"/>
              <a:t> M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[</a:t>
            </a:r>
            <a:r>
              <a:rPr lang="en-US" altLang="zh-CN" sz="3000" dirty="0" err="1" smtClean="0"/>
              <a:t>Cl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 = 0.002M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[Ag</a:t>
            </a:r>
            <a:r>
              <a:rPr lang="en-US" altLang="zh-CN" sz="3000" baseline="30000" dirty="0" smtClean="0"/>
              <a:t>+</a:t>
            </a:r>
            <a:r>
              <a:rPr lang="en-US" altLang="zh-CN" sz="3000" dirty="0" smtClean="0"/>
              <a:t>]= 5x10</a:t>
            </a:r>
            <a:r>
              <a:rPr lang="en-US" altLang="zh-CN" sz="3000" baseline="30000" dirty="0" smtClean="0"/>
              <a:t>-4</a:t>
            </a:r>
            <a:r>
              <a:rPr lang="en-US" altLang="zh-CN" sz="3000" dirty="0" smtClean="0"/>
              <a:t> M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[Ag</a:t>
            </a:r>
            <a:r>
              <a:rPr lang="en-US" altLang="zh-CN" sz="3000" baseline="30000" dirty="0" smtClean="0"/>
              <a:t>+</a:t>
            </a:r>
            <a:r>
              <a:rPr lang="en-US" altLang="zh-CN" sz="3000" dirty="0" smtClean="0"/>
              <a:t>][</a:t>
            </a:r>
            <a:r>
              <a:rPr lang="en-US" altLang="zh-CN" sz="3000" dirty="0" err="1" smtClean="0"/>
              <a:t>Cl</a:t>
            </a:r>
            <a:r>
              <a:rPr lang="en-US" altLang="zh-CN" sz="3000" baseline="30000" dirty="0" smtClean="0"/>
              <a:t>-</a:t>
            </a:r>
            <a:r>
              <a:rPr lang="en-US" altLang="zh-CN" sz="3000" dirty="0" smtClean="0"/>
              <a:t>]=1x10</a:t>
            </a:r>
            <a:r>
              <a:rPr lang="en-US" altLang="zh-CN" sz="3000" baseline="30000" dirty="0" smtClean="0"/>
              <a:t>-6</a:t>
            </a:r>
            <a:r>
              <a:rPr lang="en-US" altLang="zh-CN" sz="3000" dirty="0" smtClean="0"/>
              <a:t> &gt; </a:t>
            </a:r>
            <a:r>
              <a:rPr lang="en-US" altLang="zh-CN" sz="3000" dirty="0" err="1" smtClean="0"/>
              <a:t>K</a:t>
            </a:r>
            <a:r>
              <a:rPr lang="en-US" altLang="zh-CN" sz="3000" baseline="-25000" dirty="0" err="1" smtClean="0"/>
              <a:t>sp</a:t>
            </a:r>
            <a:r>
              <a:rPr lang="en-US" altLang="zh-CN" sz="3000" dirty="0" smtClean="0"/>
              <a:t> 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zh-CN" sz="3000" dirty="0" smtClean="0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作答题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9</a:t>
            </a:r>
            <a:r>
              <a:rPr lang="en-US" altLang="zh-CN" sz="3000" dirty="0" smtClean="0"/>
              <a:t>. 3&gt; </a:t>
            </a:r>
            <a:r>
              <a:rPr lang="en-US" altLang="zh-CN" sz="3000" dirty="0" smtClean="0"/>
              <a:t>4&gt;1&gt;2</a:t>
            </a:r>
          </a:p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 smtClean="0"/>
              <a:t>纯</a:t>
            </a:r>
            <a:r>
              <a:rPr lang="zh-CN" altLang="en-US" sz="3000" dirty="0" smtClean="0"/>
              <a:t>水中</a:t>
            </a:r>
            <a:r>
              <a:rPr lang="en-US" altLang="zh-CN" sz="3000" dirty="0" smtClean="0"/>
              <a:t>[Ba</a:t>
            </a:r>
            <a:r>
              <a:rPr lang="en-US" altLang="zh-CN" sz="3000" baseline="30000" dirty="0" smtClean="0"/>
              <a:t>2+ </a:t>
            </a:r>
            <a:r>
              <a:rPr lang="en-US" altLang="zh-CN" sz="3000" dirty="0" smtClean="0"/>
              <a:t>] = </a:t>
            </a:r>
            <a:r>
              <a:rPr lang="en-US" altLang="zh-CN" sz="3000" dirty="0" smtClean="0"/>
              <a:t>s= </a:t>
            </a:r>
            <a:r>
              <a:rPr lang="en-US" altLang="zh-CN" sz="3000" dirty="0" smtClean="0"/>
              <a:t>5.08x10</a:t>
            </a:r>
            <a:r>
              <a:rPr lang="en-US" altLang="zh-CN" sz="3000" baseline="30000" dirty="0" smtClean="0"/>
              <a:t>-5</a:t>
            </a:r>
            <a:r>
              <a:rPr lang="en-US" altLang="zh-CN" sz="3000" dirty="0" smtClean="0"/>
              <a:t> </a:t>
            </a:r>
            <a:r>
              <a:rPr lang="en-US" altLang="zh-CN" sz="3000" dirty="0" smtClean="0"/>
              <a:t>M 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Font typeface="Wingdings" pitchFamily="2" charset="2"/>
              <a:buChar char="Ø"/>
            </a:pPr>
            <a:r>
              <a:rPr lang="en-US" altLang="zh-CN" sz="3000" dirty="0" smtClean="0"/>
              <a:t>Na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CO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</a:t>
            </a:r>
            <a:r>
              <a:rPr lang="zh-CN" altLang="en-US" sz="3000" dirty="0" smtClean="0"/>
              <a:t>中 </a:t>
            </a:r>
            <a:r>
              <a:rPr lang="zh-CN" altLang="en-US" sz="3000" dirty="0" smtClean="0"/>
              <a:t>同离子效</a:t>
            </a:r>
            <a:r>
              <a:rPr lang="zh-CN" altLang="en-US" sz="3000" dirty="0" smtClean="0"/>
              <a:t>应造成</a:t>
            </a:r>
            <a:r>
              <a:rPr lang="en-US" altLang="zh-CN" sz="3000" dirty="0" smtClean="0"/>
              <a:t>[Ba</a:t>
            </a:r>
            <a:r>
              <a:rPr lang="en-US" altLang="zh-CN" sz="3000" baseline="30000" dirty="0" smtClean="0"/>
              <a:t>2</a:t>
            </a:r>
            <a:r>
              <a:rPr lang="en-US" altLang="zh-CN" sz="3000" baseline="30000" dirty="0" smtClean="0"/>
              <a:t>+ </a:t>
            </a:r>
            <a:r>
              <a:rPr lang="en-US" altLang="zh-CN" sz="3000" dirty="0" smtClean="0"/>
              <a:t>] </a:t>
            </a:r>
            <a:r>
              <a:rPr lang="zh-CN" altLang="en-US" sz="3000" dirty="0" smtClean="0"/>
              <a:t>下</a:t>
            </a:r>
            <a:r>
              <a:rPr lang="zh-CN" altLang="en-US" sz="3000" dirty="0" smtClean="0"/>
              <a:t>降</a:t>
            </a:r>
            <a:endParaRPr lang="en-US" altLang="zh-CN" sz="3000" dirty="0" smtClean="0"/>
          </a:p>
          <a:p>
            <a:pPr>
              <a:buFont typeface="Wingdings" pitchFamily="2" charset="2"/>
              <a:buChar char="Ø"/>
            </a:pPr>
            <a:r>
              <a:rPr lang="en-US" altLang="zh-CN" sz="3000" dirty="0" smtClean="0"/>
              <a:t>BaCl</a:t>
            </a:r>
            <a:r>
              <a:rPr lang="en-US" altLang="zh-CN" sz="3000" baseline="-25000" dirty="0" smtClean="0"/>
              <a:t>2</a:t>
            </a:r>
            <a:r>
              <a:rPr lang="en-US" altLang="zh-CN" sz="3000" dirty="0" smtClean="0"/>
              <a:t> (</a:t>
            </a:r>
            <a:r>
              <a:rPr lang="en-US" altLang="zh-CN" sz="3000" dirty="0" err="1" smtClean="0"/>
              <a:t>aq</a:t>
            </a:r>
            <a:r>
              <a:rPr lang="en-US" altLang="zh-CN" sz="3000" dirty="0" smtClean="0"/>
              <a:t>)</a:t>
            </a:r>
            <a:r>
              <a:rPr lang="zh-CN" altLang="en-US" sz="3000" dirty="0" smtClean="0"/>
              <a:t>中</a:t>
            </a:r>
            <a:r>
              <a:rPr lang="en-US" altLang="zh-CN" sz="2800" dirty="0" smtClean="0"/>
              <a:t>BaCl</a:t>
            </a:r>
            <a:r>
              <a:rPr lang="en-US" altLang="zh-CN" sz="2800" baseline="-25000" dirty="0" smtClean="0"/>
              <a:t>2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完全电离生成的</a:t>
            </a:r>
            <a:r>
              <a:rPr lang="en-US" altLang="zh-CN" sz="2800" dirty="0" smtClean="0"/>
              <a:t>Ba</a:t>
            </a:r>
            <a:r>
              <a:rPr lang="en-US" altLang="zh-CN" sz="2800" baseline="30000" dirty="0" smtClean="0"/>
              <a:t>2+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浓</a:t>
            </a:r>
            <a:r>
              <a:rPr lang="zh-CN" altLang="en-US" sz="2800" dirty="0" smtClean="0"/>
              <a:t>度大</a:t>
            </a:r>
            <a:r>
              <a:rPr lang="zh-CN" altLang="en-US" sz="2800" dirty="0" smtClean="0"/>
              <a:t>，</a:t>
            </a:r>
            <a:endParaRPr lang="en-US" sz="2800" dirty="0" smtClean="0"/>
          </a:p>
          <a:p>
            <a:pPr>
              <a:buNone/>
            </a:pPr>
            <a:r>
              <a:rPr lang="zh-CN" altLang="en-US" sz="2800" dirty="0" smtClean="0"/>
              <a:t>抑制了</a:t>
            </a:r>
            <a:r>
              <a:rPr lang="en-US" sz="2800" dirty="0" smtClean="0"/>
              <a:t>BaCO</a:t>
            </a:r>
            <a:r>
              <a:rPr lang="en-US" sz="2800" baseline="-25000" dirty="0" smtClean="0"/>
              <a:t>3</a:t>
            </a:r>
            <a:r>
              <a:rPr lang="en-US" sz="2800" dirty="0" smtClean="0"/>
              <a:t> </a:t>
            </a:r>
            <a:r>
              <a:rPr lang="zh-CN" altLang="en-US" sz="2800" dirty="0" smtClean="0"/>
              <a:t>溶</a:t>
            </a:r>
            <a:r>
              <a:rPr lang="zh-CN" altLang="en-US" sz="2800" dirty="0" smtClean="0"/>
              <a:t>解， 故可以忽略</a:t>
            </a:r>
            <a:r>
              <a:rPr lang="en-US" sz="2800" dirty="0" smtClean="0"/>
              <a:t>BaCO</a:t>
            </a:r>
            <a:r>
              <a:rPr lang="en-US" sz="2800" baseline="-25000" dirty="0" smtClean="0"/>
              <a:t>3</a:t>
            </a:r>
            <a:r>
              <a:rPr lang="en-US" sz="2800" dirty="0" smtClean="0"/>
              <a:t> </a:t>
            </a:r>
            <a:r>
              <a:rPr lang="zh-CN" altLang="en-US" sz="2800" dirty="0" smtClean="0"/>
              <a:t>溶解电离出的</a:t>
            </a:r>
            <a:r>
              <a:rPr lang="en-US" sz="2800" dirty="0" smtClean="0"/>
              <a:t>Ba</a:t>
            </a:r>
            <a:r>
              <a:rPr lang="en-US" sz="2800" baseline="30000" dirty="0" smtClean="0"/>
              <a:t>2+</a:t>
            </a:r>
            <a:r>
              <a:rPr lang="en-US" sz="2800" dirty="0" smtClean="0"/>
              <a:t>，</a:t>
            </a:r>
            <a:r>
              <a:rPr lang="zh-CN" altLang="en-US" sz="2800" dirty="0" smtClean="0"/>
              <a:t>溶液</a:t>
            </a:r>
            <a:r>
              <a:rPr lang="zh-CN" altLang="en-US" sz="2800" dirty="0" smtClean="0"/>
              <a:t>中</a:t>
            </a:r>
            <a:r>
              <a:rPr lang="zh-CN" altLang="en-US" sz="3000" dirty="0" smtClean="0"/>
              <a:t> </a:t>
            </a:r>
            <a:r>
              <a:rPr lang="en-US" altLang="zh-CN" sz="3000" dirty="0" smtClean="0"/>
              <a:t>[Ba</a:t>
            </a:r>
            <a:r>
              <a:rPr lang="en-US" altLang="zh-CN" sz="3000" baseline="30000" dirty="0" smtClean="0"/>
              <a:t>2+ </a:t>
            </a:r>
            <a:r>
              <a:rPr lang="en-US" altLang="zh-CN" sz="3000" dirty="0" smtClean="0"/>
              <a:t>] </a:t>
            </a:r>
            <a:r>
              <a:rPr lang="en-US" altLang="zh-CN" sz="3000" dirty="0" smtClean="0"/>
              <a:t>=0.01M</a:t>
            </a:r>
          </a:p>
          <a:p>
            <a:pPr>
              <a:buFont typeface="Wingdings" pitchFamily="2" charset="2"/>
              <a:buChar char="Ø"/>
            </a:pPr>
            <a:r>
              <a:rPr lang="en-US" altLang="zh-CN" sz="3000" dirty="0" smtClean="0"/>
              <a:t>BaCO</a:t>
            </a:r>
            <a:r>
              <a:rPr lang="en-US" altLang="zh-CN" sz="3000" baseline="-25000" dirty="0" smtClean="0"/>
              <a:t>3</a:t>
            </a:r>
            <a:r>
              <a:rPr lang="en-US" altLang="zh-CN" sz="3000" dirty="0" smtClean="0"/>
              <a:t> +   2 </a:t>
            </a:r>
            <a:r>
              <a:rPr lang="en-US" altLang="zh-CN" sz="3000" dirty="0" err="1" smtClean="0"/>
              <a:t>HCl</a:t>
            </a:r>
            <a:r>
              <a:rPr lang="en-US" altLang="zh-CN" sz="3000" dirty="0" smtClean="0"/>
              <a:t> </a:t>
            </a:r>
            <a:r>
              <a:rPr lang="en-US" altLang="zh-CN" sz="3000" dirty="0" smtClean="0">
                <a:sym typeface="Wingdings" pitchFamily="2" charset="2"/>
              </a:rPr>
              <a:t>  BaCl</a:t>
            </a:r>
            <a:r>
              <a:rPr lang="en-US" altLang="zh-CN" sz="3000" baseline="-25000" dirty="0" smtClean="0">
                <a:sym typeface="Wingdings" pitchFamily="2" charset="2"/>
              </a:rPr>
              <a:t>2</a:t>
            </a:r>
            <a:r>
              <a:rPr lang="en-US" altLang="zh-CN" sz="3000" dirty="0" smtClean="0">
                <a:sym typeface="Wingdings" pitchFamily="2" charset="2"/>
              </a:rPr>
              <a:t> +   H</a:t>
            </a:r>
            <a:r>
              <a:rPr lang="en-US" altLang="zh-CN" sz="3000" baseline="-25000" dirty="0" smtClean="0">
                <a:sym typeface="Wingdings" pitchFamily="2" charset="2"/>
              </a:rPr>
              <a:t>2</a:t>
            </a:r>
            <a:r>
              <a:rPr lang="en-US" altLang="zh-CN" sz="3000" dirty="0" smtClean="0">
                <a:sym typeface="Wingdings" pitchFamily="2" charset="2"/>
              </a:rPr>
              <a:t>O + CO</a:t>
            </a:r>
            <a:r>
              <a:rPr lang="en-US" altLang="zh-CN" sz="3000" baseline="-25000" dirty="0" smtClean="0">
                <a:sym typeface="Wingdings" pitchFamily="2" charset="2"/>
              </a:rPr>
              <a:t>2</a:t>
            </a:r>
            <a:r>
              <a:rPr lang="en-US" altLang="zh-CN" sz="3000" dirty="0" smtClean="0">
                <a:sym typeface="Wingdings" pitchFamily="2" charset="2"/>
              </a:rPr>
              <a:t> </a:t>
            </a:r>
          </a:p>
          <a:p>
            <a:pPr>
              <a:buNone/>
            </a:pPr>
            <a:r>
              <a:rPr lang="en-US" altLang="zh-CN" sz="3000" dirty="0" smtClean="0">
                <a:sym typeface="Wingdings" pitchFamily="2" charset="2"/>
              </a:rPr>
              <a:t>	</a:t>
            </a:r>
            <a:r>
              <a:rPr lang="en-US" altLang="zh-CN" sz="3000" dirty="0" smtClean="0">
                <a:sym typeface="Wingdings" pitchFamily="2" charset="2"/>
              </a:rPr>
              <a:t>		0.01M     0.005M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 </a:t>
            </a:r>
            <a:r>
              <a:rPr lang="en-US" altLang="zh-CN" sz="3000" dirty="0" smtClean="0"/>
              <a:t>[Ba</a:t>
            </a:r>
            <a:r>
              <a:rPr lang="en-US" altLang="zh-CN" sz="3000" baseline="30000" dirty="0" smtClean="0"/>
              <a:t>2+ </a:t>
            </a:r>
            <a:r>
              <a:rPr lang="en-US" altLang="zh-CN" sz="3000" dirty="0" smtClean="0"/>
              <a:t>] =</a:t>
            </a:r>
            <a:r>
              <a:rPr lang="en-US" altLang="zh-CN" sz="3000" dirty="0" smtClean="0"/>
              <a:t>0.005M</a:t>
            </a:r>
            <a:endParaRPr lang="en-US" altLang="zh-CN" sz="3000" dirty="0" smtClean="0"/>
          </a:p>
        </p:txBody>
      </p:sp>
      <p:sp>
        <p:nvSpPr>
          <p:cNvPr id="7" name="Rounded Rectangle 6"/>
          <p:cNvSpPr/>
          <p:nvPr/>
        </p:nvSpPr>
        <p:spPr>
          <a:xfrm>
            <a:off x="3581400" y="4876800"/>
            <a:ext cx="1447800" cy="533400"/>
          </a:xfrm>
          <a:prstGeom prst="roundRect">
            <a:avLst/>
          </a:prstGeom>
          <a:solidFill>
            <a:srgbClr val="B381D9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ln w="10541" cmpd="sng">
                  <a:solidFill>
                    <a:srgbClr val="002060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作答题</a:t>
            </a:r>
            <a:endParaRPr lang="en-US" sz="4800" b="1" dirty="0">
              <a:ln w="10541" cmpd="sng">
                <a:solidFill>
                  <a:srgbClr val="002060"/>
                </a:solidFill>
                <a:prstDash val="solid"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10</a:t>
            </a:r>
            <a:r>
              <a:rPr lang="en-US" altLang="zh-CN" sz="3000" dirty="0" smtClean="0"/>
              <a:t>. </a:t>
            </a:r>
            <a:r>
              <a:rPr lang="zh-CN" altLang="en-US" sz="3000" dirty="0" smtClean="0"/>
              <a:t>先</a:t>
            </a:r>
            <a:r>
              <a:rPr lang="en-US" altLang="zh-CN" sz="3000" dirty="0" err="1" smtClean="0"/>
              <a:t>AgI</a:t>
            </a:r>
            <a:r>
              <a:rPr lang="en-US" altLang="zh-CN" sz="3000" dirty="0" smtClean="0"/>
              <a:t> </a:t>
            </a:r>
            <a:r>
              <a:rPr lang="zh-CN" altLang="en-US" sz="3000" dirty="0" smtClean="0"/>
              <a:t>，</a:t>
            </a:r>
            <a:r>
              <a:rPr lang="zh-CN" altLang="en-US" sz="3000" dirty="0" smtClean="0"/>
              <a:t>后</a:t>
            </a:r>
            <a:r>
              <a:rPr lang="en-US" altLang="zh-CN" sz="3000" dirty="0" err="1" smtClean="0"/>
              <a:t>AgCl</a:t>
            </a:r>
            <a:r>
              <a:rPr lang="zh-CN" altLang="en-US" sz="3000" dirty="0" smtClean="0"/>
              <a:t>，</a:t>
            </a:r>
            <a:r>
              <a:rPr lang="en-US" altLang="zh-CN" sz="3000" dirty="0" smtClean="0"/>
              <a:t>5.35x10</a:t>
            </a:r>
            <a:r>
              <a:rPr lang="en-US" altLang="zh-CN" sz="3000" baseline="30000" dirty="0" smtClean="0"/>
              <a:t>-12</a:t>
            </a:r>
            <a:r>
              <a:rPr lang="en-US" altLang="zh-CN" sz="3000" dirty="0" smtClean="0"/>
              <a:t> M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11. </a:t>
            </a:r>
            <a:r>
              <a:rPr lang="zh-CN" altLang="en-US" sz="3000" dirty="0" smtClean="0"/>
              <a:t>当</a:t>
            </a:r>
            <a:r>
              <a:rPr lang="en-US" altLang="zh-CN" sz="3000" dirty="0" err="1" smtClean="0"/>
              <a:t>PbS</a:t>
            </a:r>
            <a:r>
              <a:rPr lang="zh-CN" altLang="en-US" sz="3000" dirty="0" smtClean="0"/>
              <a:t>完全沉淀时，</a:t>
            </a:r>
            <a:r>
              <a:rPr lang="en-US" altLang="zh-CN" sz="3000" dirty="0" smtClean="0"/>
              <a:t>[Pb</a:t>
            </a:r>
            <a:r>
              <a:rPr lang="en-US" altLang="zh-CN" sz="3000" baseline="30000" dirty="0" smtClean="0"/>
              <a:t>2+</a:t>
            </a:r>
            <a:r>
              <a:rPr lang="en-US" altLang="zh-CN" sz="3000" dirty="0" smtClean="0"/>
              <a:t>]=10</a:t>
            </a:r>
            <a:r>
              <a:rPr lang="en-US" altLang="zh-CN" sz="3000" baseline="30000" dirty="0" smtClean="0"/>
              <a:t>-6</a:t>
            </a:r>
            <a:r>
              <a:rPr lang="en-US" altLang="zh-CN" sz="3000" dirty="0" smtClean="0"/>
              <a:t> M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 smtClean="0"/>
              <a:t>则 </a:t>
            </a:r>
            <a:r>
              <a:rPr lang="en-US" altLang="zh-CN" sz="3000" dirty="0" smtClean="0"/>
              <a:t>[Pb</a:t>
            </a:r>
            <a:r>
              <a:rPr lang="en-US" altLang="zh-CN" sz="3000" baseline="30000" dirty="0" smtClean="0"/>
              <a:t>2</a:t>
            </a:r>
            <a:r>
              <a:rPr lang="en-US" altLang="zh-CN" sz="3000" baseline="30000" dirty="0" smtClean="0"/>
              <a:t>+</a:t>
            </a:r>
            <a:r>
              <a:rPr lang="en-US" altLang="zh-CN" sz="3000" dirty="0" smtClean="0"/>
              <a:t>]</a:t>
            </a:r>
            <a:r>
              <a:rPr lang="en-US" altLang="zh-CN" sz="3000" dirty="0" smtClean="0"/>
              <a:t> [S</a:t>
            </a:r>
            <a:r>
              <a:rPr lang="en-US" altLang="zh-CN" sz="3000" baseline="30000" dirty="0" smtClean="0"/>
              <a:t>2-</a:t>
            </a:r>
            <a:r>
              <a:rPr lang="en-US" altLang="zh-CN" sz="3000" dirty="0" smtClean="0"/>
              <a:t>] </a:t>
            </a:r>
            <a:r>
              <a:rPr lang="en-US" altLang="zh-CN" sz="3000" dirty="0" smtClean="0"/>
              <a:t>&gt; </a:t>
            </a:r>
            <a:r>
              <a:rPr lang="en-US" altLang="zh-CN" sz="3000" dirty="0" err="1" smtClean="0"/>
              <a:t>Ksp</a:t>
            </a:r>
            <a:r>
              <a:rPr lang="en-US" altLang="zh-CN" sz="3000" dirty="0" smtClean="0"/>
              <a:t>(</a:t>
            </a:r>
            <a:r>
              <a:rPr lang="en-US" altLang="zh-CN" sz="3000" dirty="0" err="1" smtClean="0"/>
              <a:t>PbS</a:t>
            </a:r>
            <a:r>
              <a:rPr lang="en-US" altLang="zh-CN" sz="3000" dirty="0" smtClean="0"/>
              <a:t>)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      [S</a:t>
            </a:r>
            <a:r>
              <a:rPr lang="en-US" altLang="zh-CN" sz="3000" baseline="30000" dirty="0" smtClean="0"/>
              <a:t>2-</a:t>
            </a:r>
            <a:r>
              <a:rPr lang="en-US" altLang="zh-CN" sz="3000" dirty="0" smtClean="0"/>
              <a:t>] &gt; 9.04x10</a:t>
            </a:r>
            <a:r>
              <a:rPr lang="en-US" altLang="zh-CN" sz="3000" baseline="30000" dirty="0" smtClean="0"/>
              <a:t>-23</a:t>
            </a:r>
            <a:r>
              <a:rPr lang="en-US" altLang="zh-CN" sz="3000" dirty="0" smtClean="0"/>
              <a:t> M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err="1" smtClean="0"/>
              <a:t>FeS</a:t>
            </a:r>
            <a:r>
              <a:rPr lang="zh-CN" altLang="en-US" sz="3000" dirty="0" smtClean="0"/>
              <a:t>不沉</a:t>
            </a:r>
            <a:r>
              <a:rPr lang="zh-CN" altLang="en-US" sz="3000" dirty="0" smtClean="0"/>
              <a:t>淀则 </a:t>
            </a:r>
            <a:r>
              <a:rPr lang="en-US" altLang="zh-CN" sz="3000" dirty="0" smtClean="0"/>
              <a:t>[</a:t>
            </a:r>
            <a:r>
              <a:rPr lang="en-US" altLang="zh-CN" sz="3000" dirty="0" smtClean="0"/>
              <a:t>Fe</a:t>
            </a:r>
            <a:r>
              <a:rPr lang="en-US" altLang="zh-CN" sz="3000" baseline="30000" dirty="0" smtClean="0"/>
              <a:t>2</a:t>
            </a:r>
            <a:r>
              <a:rPr lang="en-US" altLang="zh-CN" sz="3000" baseline="30000" dirty="0" smtClean="0"/>
              <a:t>+</a:t>
            </a:r>
            <a:r>
              <a:rPr lang="en-US" altLang="zh-CN" sz="3000" dirty="0" smtClean="0"/>
              <a:t>] [S</a:t>
            </a:r>
            <a:r>
              <a:rPr lang="en-US" altLang="zh-CN" sz="3000" baseline="30000" dirty="0" smtClean="0"/>
              <a:t>2-</a:t>
            </a:r>
            <a:r>
              <a:rPr lang="en-US" altLang="zh-CN" sz="3000" dirty="0" smtClean="0"/>
              <a:t>] </a:t>
            </a:r>
            <a:r>
              <a:rPr lang="en-US" altLang="zh-CN" sz="3000" dirty="0" smtClean="0"/>
              <a:t>&lt; </a:t>
            </a:r>
            <a:r>
              <a:rPr lang="en-US" altLang="zh-CN" sz="3000" dirty="0" err="1" smtClean="0"/>
              <a:t>Ksp</a:t>
            </a:r>
            <a:r>
              <a:rPr lang="en-US" altLang="zh-CN" sz="3000" dirty="0" smtClean="0"/>
              <a:t>(</a:t>
            </a:r>
            <a:r>
              <a:rPr lang="en-US" altLang="zh-CN" sz="3000" dirty="0" err="1" smtClean="0"/>
              <a:t>FeS</a:t>
            </a:r>
            <a:r>
              <a:rPr lang="en-US" altLang="zh-CN" sz="3000" dirty="0" smtClean="0"/>
              <a:t>)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 smtClean="0"/>
              <a:t>			    </a:t>
            </a:r>
            <a:r>
              <a:rPr lang="en-US" altLang="zh-CN" sz="3000" dirty="0" smtClean="0"/>
              <a:t>[</a:t>
            </a:r>
            <a:r>
              <a:rPr lang="en-US" altLang="zh-CN" sz="3000" dirty="0" smtClean="0"/>
              <a:t>S</a:t>
            </a:r>
            <a:r>
              <a:rPr lang="en-US" altLang="zh-CN" sz="3000" baseline="30000" dirty="0" smtClean="0"/>
              <a:t>2-</a:t>
            </a:r>
            <a:r>
              <a:rPr lang="en-US" altLang="zh-CN" sz="3000" dirty="0" smtClean="0"/>
              <a:t>]&lt; 6.36x10</a:t>
            </a:r>
            <a:r>
              <a:rPr lang="en-US" altLang="zh-CN" sz="3000" baseline="30000" dirty="0" smtClean="0"/>
              <a:t>-18</a:t>
            </a:r>
            <a:endParaRPr lang="en-US" altLang="zh-CN" sz="3000" dirty="0" smtClean="0"/>
          </a:p>
          <a:p>
            <a:pPr marL="0" indent="0">
              <a:spcBef>
                <a:spcPts val="1200"/>
              </a:spcBef>
              <a:buNone/>
            </a:pPr>
            <a:endParaRPr lang="en-US" altLang="zh-CN" sz="3000" dirty="0" smtClean="0"/>
          </a:p>
        </p:txBody>
      </p:sp>
    </p:spTree>
    <p:extLst>
      <p:ext uri="{BB962C8B-B14F-4D97-AF65-F5344CB8AC3E}">
        <p14:creationId xmlns=""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1099</TotalTime>
  <Words>2427</Words>
  <Application>Microsoft Office PowerPoint</Application>
  <PresentationFormat>On-screen Show (4:3)</PresentationFormat>
  <Paragraphs>440</Paragraphs>
  <Slides>52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Office Theme</vt:lpstr>
      <vt:lpstr>Equation</vt:lpstr>
      <vt:lpstr>Microsoft Equation 3.0</vt:lpstr>
      <vt:lpstr>第22章  水溶液中的离子平衡</vt:lpstr>
      <vt:lpstr>前言</vt:lpstr>
      <vt:lpstr>22.1 难溶电解质的溶解平衡</vt:lpstr>
      <vt:lpstr>22.1 难溶电解质的溶解平衡</vt:lpstr>
      <vt:lpstr>22.1 难溶电解质的溶解平衡</vt:lpstr>
      <vt:lpstr>22.1.1电解质与非电解质</vt:lpstr>
      <vt:lpstr>22.1.2 溶解平衡原理</vt:lpstr>
      <vt:lpstr>22.1.2 溶解平衡原理</vt:lpstr>
      <vt:lpstr>22.1.2 溶解平衡原理</vt:lpstr>
      <vt:lpstr>22.1.2 溶解平衡原理</vt:lpstr>
      <vt:lpstr>22.1.2 溶解平衡原理</vt:lpstr>
      <vt:lpstr>22.1.3 溶度积与溶解度的关系</vt:lpstr>
      <vt:lpstr>22.1.3 溶度积与溶解度的关系</vt:lpstr>
      <vt:lpstr>22.1.3 溶度积与溶解度的关系</vt:lpstr>
      <vt:lpstr>22.1.3 溶度积与溶解度的关系</vt:lpstr>
      <vt:lpstr>22.1.3 溶度积与溶解度的关系</vt:lpstr>
      <vt:lpstr>22.1.3 溶度积与溶解度的关系</vt:lpstr>
      <vt:lpstr>22.1.3 溶度积与溶解度的关系</vt:lpstr>
      <vt:lpstr>22.1.3 溶度积与溶解度的关系</vt:lpstr>
      <vt:lpstr>思考题22b</vt:lpstr>
      <vt:lpstr>思考题22b</vt:lpstr>
      <vt:lpstr>22.2 影响难溶电解质溶解的因素</vt:lpstr>
      <vt:lpstr>22.2 影响难溶电解质溶解的因素</vt:lpstr>
      <vt:lpstr>22.2 影响难溶电解质溶解的因素</vt:lpstr>
      <vt:lpstr>问题解决</vt:lpstr>
      <vt:lpstr>问题解决</vt:lpstr>
      <vt:lpstr>思考题22c</vt:lpstr>
      <vt:lpstr>思考题22c</vt:lpstr>
      <vt:lpstr>22.3 沉淀的预测和选择</vt:lpstr>
      <vt:lpstr>22.3 沉淀的预测和选择</vt:lpstr>
      <vt:lpstr>22.3 沉淀的预测和选择</vt:lpstr>
      <vt:lpstr>22.3 沉淀的预测和选择</vt:lpstr>
      <vt:lpstr>问题解决</vt:lpstr>
      <vt:lpstr>问题解决</vt:lpstr>
      <vt:lpstr>思考题22d</vt:lpstr>
      <vt:lpstr>22.4 沉淀的转化</vt:lpstr>
      <vt:lpstr>问题解决</vt:lpstr>
      <vt:lpstr>思考题22e</vt:lpstr>
      <vt:lpstr>思考题22e</vt:lpstr>
      <vt:lpstr>思考题22e</vt:lpstr>
      <vt:lpstr>选择题</vt:lpstr>
      <vt:lpstr>选择题</vt:lpstr>
      <vt:lpstr>选择题</vt:lpstr>
      <vt:lpstr>选择题</vt:lpstr>
      <vt:lpstr>选择题</vt:lpstr>
      <vt:lpstr>选择题</vt:lpstr>
      <vt:lpstr>作答题1、3、4、5、7、8</vt:lpstr>
      <vt:lpstr>作答题</vt:lpstr>
      <vt:lpstr>作答题</vt:lpstr>
      <vt:lpstr>作答题</vt:lpstr>
      <vt:lpstr>作答题</vt:lpstr>
      <vt:lpstr>作答题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106</cp:revision>
  <dcterms:created xsi:type="dcterms:W3CDTF">2018-09-03T09:52:37Z</dcterms:created>
  <dcterms:modified xsi:type="dcterms:W3CDTF">2019-10-01T12:29:43Z</dcterms:modified>
</cp:coreProperties>
</file>