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8" r:id="rId2"/>
    <p:sldId id="261" r:id="rId3"/>
    <p:sldId id="262" r:id="rId4"/>
    <p:sldId id="336" r:id="rId5"/>
    <p:sldId id="268" r:id="rId6"/>
    <p:sldId id="269" r:id="rId7"/>
    <p:sldId id="271" r:id="rId8"/>
    <p:sldId id="270" r:id="rId9"/>
    <p:sldId id="337" r:id="rId10"/>
    <p:sldId id="263" r:id="rId11"/>
    <p:sldId id="338" r:id="rId12"/>
    <p:sldId id="272" r:id="rId13"/>
    <p:sldId id="266" r:id="rId14"/>
    <p:sldId id="267" r:id="rId15"/>
    <p:sldId id="275" r:id="rId16"/>
    <p:sldId id="276" r:id="rId17"/>
    <p:sldId id="339" r:id="rId18"/>
    <p:sldId id="340" r:id="rId19"/>
    <p:sldId id="278" r:id="rId20"/>
    <p:sldId id="280" r:id="rId21"/>
    <p:sldId id="277" r:id="rId22"/>
    <p:sldId id="281" r:id="rId23"/>
    <p:sldId id="341" r:id="rId24"/>
    <p:sldId id="279" r:id="rId25"/>
    <p:sldId id="345" r:id="rId26"/>
    <p:sldId id="282" r:id="rId27"/>
    <p:sldId id="283" r:id="rId28"/>
    <p:sldId id="342" r:id="rId29"/>
    <p:sldId id="286" r:id="rId30"/>
    <p:sldId id="287" r:id="rId31"/>
    <p:sldId id="288" r:id="rId32"/>
    <p:sldId id="289" r:id="rId33"/>
    <p:sldId id="343" r:id="rId34"/>
    <p:sldId id="290" r:id="rId35"/>
    <p:sldId id="309" r:id="rId36"/>
    <p:sldId id="335" r:id="rId37"/>
    <p:sldId id="344" r:id="rId38"/>
    <p:sldId id="347" r:id="rId39"/>
    <p:sldId id="284" r:id="rId40"/>
    <p:sldId id="346" r:id="rId41"/>
    <p:sldId id="348" r:id="rId42"/>
    <p:sldId id="326" r:id="rId43"/>
    <p:sldId id="349" r:id="rId44"/>
    <p:sldId id="350" r:id="rId45"/>
    <p:sldId id="328" r:id="rId46"/>
    <p:sldId id="329" r:id="rId47"/>
    <p:sldId id="330" r:id="rId48"/>
    <p:sldId id="351" r:id="rId49"/>
    <p:sldId id="352" r:id="rId50"/>
    <p:sldId id="353" r:id="rId51"/>
    <p:sldId id="354" r:id="rId52"/>
    <p:sldId id="355" r:id="rId53"/>
    <p:sldId id="358" r:id="rId54"/>
    <p:sldId id="356" r:id="rId55"/>
    <p:sldId id="357" r:id="rId56"/>
    <p:sldId id="359"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1A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4" autoAdjust="0"/>
    <p:restoredTop sz="94660"/>
  </p:normalViewPr>
  <p:slideViewPr>
    <p:cSldViewPr>
      <p:cViewPr varScale="1">
        <p:scale>
          <a:sx n="68" d="100"/>
          <a:sy n="68"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6D6688-5DD1-44BC-B31A-EC1609157C8F}" type="datetimeFigureOut">
              <a:rPr lang="en-US" smtClean="0"/>
              <a:pPr/>
              <a:t>6/18/2020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6/18/2020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D6688-5DD1-44BC-B31A-EC1609157C8F}" type="datetimeFigureOut">
              <a:rPr lang="en-US" smtClean="0"/>
              <a:pPr/>
              <a:t>6/18/2020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6D6688-5DD1-44BC-B31A-EC1609157C8F}" type="datetimeFigureOut">
              <a:rPr lang="en-US" smtClean="0"/>
              <a:pPr/>
              <a:t>6/18/2020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6D6688-5DD1-44BC-B31A-EC1609157C8F}" type="datetimeFigureOut">
              <a:rPr lang="en-US" smtClean="0"/>
              <a:pPr/>
              <a:t>6/18/2020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6D6688-5DD1-44BC-B31A-EC1609157C8F}" type="datetimeFigureOut">
              <a:rPr lang="en-US" smtClean="0"/>
              <a:pPr/>
              <a:t>6/18/2020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D6688-5DD1-44BC-B31A-EC1609157C8F}" type="datetimeFigureOut">
              <a:rPr lang="en-US" smtClean="0"/>
              <a:pPr/>
              <a:t>6/18/2020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6/18/2020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6/18/2020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6/18/2020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6/18/2020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6D6688-5DD1-44BC-B31A-EC1609157C8F}" type="datetimeFigureOut">
              <a:rPr lang="en-US" smtClean="0"/>
              <a:pPr/>
              <a:t>6/18/2020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60CB-55F0-4242-8A56-5BB902E408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image" Target="../media/image1.jpeg"/><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6858000"/>
          </a:xfrm>
        </p:spPr>
        <p:txBody>
          <a:bodyPr>
            <a:noAutofit/>
          </a:bodyPr>
          <a:lstStyle/>
          <a:p>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第</a:t>
            </a:r>
            <a:r>
              <a:rPr lang="en-US" altLang="zh-CN"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29</a:t>
            </a:r>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章 </a:t>
            </a:r>
            <a:br>
              <a:rPr lang="en-US" altLang="zh-CN"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br>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炔烃</a:t>
            </a:r>
            <a:endPar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400143892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第</a:t>
            </a:r>
            <a:r>
              <a:rPr lang="en-US" altLang="zh-CN" sz="4800" b="1" dirty="0">
                <a:latin typeface="+mn-ea"/>
              </a:rPr>
              <a:t>29</a:t>
            </a:r>
            <a:r>
              <a:rPr lang="zh-CN" altLang="en-US" sz="4800" b="1" dirty="0">
                <a:latin typeface="+mn-ea"/>
              </a:rPr>
              <a:t>章</a:t>
            </a:r>
            <a:r>
              <a:rPr lang="en-US" altLang="zh-CN" sz="4800" b="1" dirty="0">
                <a:latin typeface="+mn-ea"/>
              </a:rPr>
              <a:t> </a:t>
            </a:r>
            <a:r>
              <a:rPr lang="zh-CN" altLang="en-US" sz="4800" b="1" dirty="0">
                <a:latin typeface="+mn-ea"/>
              </a:rPr>
              <a:t>炔烃</a:t>
            </a:r>
            <a:endParaRPr lang="en-US" sz="48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氧炔焰：乙炔在氧气中燃烧产生的火焰</a:t>
            </a:r>
            <a:endParaRPr lang="en-US" altLang="zh-CN" sz="3000" dirty="0"/>
          </a:p>
          <a:p>
            <a:pPr lvl="1">
              <a:lnSpc>
                <a:spcPct val="150000"/>
              </a:lnSpc>
              <a:buFont typeface="Wingdings" pitchFamily="2" charset="2"/>
              <a:buChar char="Ø"/>
            </a:pPr>
            <a:r>
              <a:rPr lang="zh-CN" altLang="en-US" sz="3000" dirty="0"/>
              <a:t>温度：</a:t>
            </a:r>
            <a:r>
              <a:rPr lang="en-US" altLang="zh-CN" sz="3000" dirty="0"/>
              <a:t>3500</a:t>
            </a:r>
            <a:r>
              <a:rPr lang="en-US" altLang="zh-CN" sz="3000" baseline="30000" dirty="0"/>
              <a:t>o</a:t>
            </a:r>
            <a:r>
              <a:rPr lang="en-US" altLang="zh-CN" sz="3000" dirty="0"/>
              <a:t>C</a:t>
            </a:r>
          </a:p>
          <a:p>
            <a:pPr lvl="1">
              <a:lnSpc>
                <a:spcPct val="150000"/>
              </a:lnSpc>
              <a:buFont typeface="Wingdings" pitchFamily="2" charset="2"/>
              <a:buChar char="Ø"/>
            </a:pPr>
            <a:r>
              <a:rPr lang="zh-CN" altLang="en-US" sz="3000" dirty="0"/>
              <a:t>用途：焊接或切割金属</a:t>
            </a:r>
            <a:endParaRPr lang="en-US" altLang="zh-CN" sz="3000" dirty="0"/>
          </a:p>
          <a:p>
            <a:pPr lvl="1">
              <a:lnSpc>
                <a:spcPct val="150000"/>
              </a:lnSpc>
              <a:buNone/>
            </a:pPr>
            <a:endParaRPr lang="en-US" altLang="zh-CN" sz="3000" dirty="0"/>
          </a:p>
        </p:txBody>
      </p:sp>
      <p:pic>
        <p:nvPicPr>
          <p:cNvPr id="8" name="Picture 7" descr="乙炔熔接課程.JPG"/>
          <p:cNvPicPr>
            <a:picLocks noChangeAspect="1"/>
          </p:cNvPicPr>
          <p:nvPr/>
        </p:nvPicPr>
        <p:blipFill>
          <a:blip r:embed="rId3"/>
          <a:stretch>
            <a:fillRect/>
          </a:stretch>
        </p:blipFill>
        <p:spPr>
          <a:xfrm>
            <a:off x="304800" y="1157249"/>
            <a:ext cx="6781800" cy="5086351"/>
          </a:xfrm>
          <a:prstGeom prst="rect">
            <a:avLst/>
          </a:prstGeom>
        </p:spPr>
      </p:pic>
      <p:pic>
        <p:nvPicPr>
          <p:cNvPr id="6" name="Picture 5" descr="38.jpg"/>
          <p:cNvPicPr>
            <a:picLocks noChangeAspect="1"/>
          </p:cNvPicPr>
          <p:nvPr/>
        </p:nvPicPr>
        <p:blipFill>
          <a:blip r:embed="rId4"/>
          <a:stretch>
            <a:fillRect/>
          </a:stretch>
        </p:blipFill>
        <p:spPr>
          <a:xfrm>
            <a:off x="304800" y="952196"/>
            <a:ext cx="6781800" cy="5677204"/>
          </a:xfrm>
          <a:prstGeom prst="rect">
            <a:avLst/>
          </a:prstGeom>
        </p:spPr>
      </p:pic>
      <p:pic>
        <p:nvPicPr>
          <p:cNvPr id="7" name="Picture 6" descr="hanjie.jpg"/>
          <p:cNvPicPr>
            <a:picLocks noChangeAspect="1"/>
          </p:cNvPicPr>
          <p:nvPr/>
        </p:nvPicPr>
        <p:blipFill>
          <a:blip r:embed="rId5"/>
          <a:stretch>
            <a:fillRect/>
          </a:stretch>
        </p:blipFill>
        <p:spPr>
          <a:xfrm>
            <a:off x="304800" y="1143000"/>
            <a:ext cx="7162800" cy="5423154"/>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3"/>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最简单的炔烃：乙炔</a:t>
            </a:r>
            <a:r>
              <a:rPr lang="en-US" altLang="zh-CN" sz="3000" dirty="0"/>
              <a:t>C</a:t>
            </a:r>
            <a:r>
              <a:rPr lang="en-US" altLang="zh-CN" sz="3000" baseline="-25000" dirty="0"/>
              <a:t>2</a:t>
            </a:r>
            <a:r>
              <a:rPr lang="en-US" altLang="zh-CN" sz="3000" dirty="0"/>
              <a:t>H</a:t>
            </a:r>
            <a:r>
              <a:rPr lang="en-US" altLang="zh-CN" sz="3000" baseline="-25000" dirty="0"/>
              <a:t>2</a:t>
            </a:r>
            <a:r>
              <a:rPr lang="en-US" altLang="zh-CN" sz="3000" dirty="0"/>
              <a:t> </a:t>
            </a:r>
          </a:p>
          <a:p>
            <a:pPr>
              <a:lnSpc>
                <a:spcPct val="150000"/>
              </a:lnSpc>
              <a:buFont typeface="Wingdings" pitchFamily="2" charset="2"/>
              <a:buChar char="Ø"/>
            </a:pPr>
            <a:r>
              <a:rPr lang="zh-CN" altLang="en-US" sz="3000" dirty="0"/>
              <a:t>炔烃：链烃分子中含有</a:t>
            </a:r>
            <a:r>
              <a:rPr lang="en-US" altLang="zh-CN" sz="3000" dirty="0"/>
              <a:t>C≡C</a:t>
            </a:r>
            <a:r>
              <a:rPr lang="zh-CN" altLang="en-US" sz="3000" dirty="0"/>
              <a:t>三键的不饱和烃</a:t>
            </a:r>
            <a:endParaRPr lang="en-US" altLang="zh-CN" sz="3000" dirty="0"/>
          </a:p>
          <a:p>
            <a:pPr>
              <a:lnSpc>
                <a:spcPct val="150000"/>
              </a:lnSpc>
              <a:buFont typeface="Wingdings" pitchFamily="2" charset="2"/>
              <a:buChar char="Ø"/>
            </a:pPr>
            <a:r>
              <a:rPr lang="zh-CN" altLang="en-US" sz="3000" dirty="0"/>
              <a:t>通式：</a:t>
            </a:r>
            <a:r>
              <a:rPr lang="en-US" altLang="zh-CN" sz="3000" dirty="0" err="1"/>
              <a:t>C</a:t>
            </a:r>
            <a:r>
              <a:rPr lang="en-US" altLang="zh-CN" sz="3000" baseline="-25000" dirty="0" err="1"/>
              <a:t>n</a:t>
            </a:r>
            <a:r>
              <a:rPr lang="en-US" altLang="zh-CN" sz="3000" baseline="-25000" dirty="0"/>
              <a:t> </a:t>
            </a:r>
            <a:r>
              <a:rPr lang="en-US" altLang="zh-CN" sz="3000" dirty="0"/>
              <a:t>H</a:t>
            </a:r>
            <a:r>
              <a:rPr lang="en-US" altLang="zh-CN" sz="3000" baseline="-25000" dirty="0"/>
              <a:t>2n -2</a:t>
            </a:r>
            <a:r>
              <a:rPr lang="en-US" altLang="zh-CN" sz="3000" dirty="0"/>
              <a:t>  </a:t>
            </a:r>
            <a:r>
              <a:rPr lang="zh-CN" altLang="en-US" sz="3000" dirty="0"/>
              <a:t>，</a:t>
            </a:r>
            <a:r>
              <a:rPr lang="en-US" altLang="zh-CN" sz="3000" dirty="0"/>
              <a:t>n      2</a:t>
            </a:r>
          </a:p>
          <a:p>
            <a:pPr>
              <a:lnSpc>
                <a:spcPct val="150000"/>
              </a:lnSpc>
              <a:buFont typeface="Wingdings" pitchFamily="2" charset="2"/>
              <a:buChar char="Ø"/>
            </a:pPr>
            <a:endParaRPr lang="en-US" altLang="zh-CN" sz="3000" dirty="0"/>
          </a:p>
          <a:p>
            <a:pPr lvl="1">
              <a:lnSpc>
                <a:spcPct val="150000"/>
              </a:lnSpc>
              <a:buNone/>
            </a:pPr>
            <a:endParaRPr lang="en-US" altLang="zh-CN" sz="3000" dirty="0"/>
          </a:p>
        </p:txBody>
      </p:sp>
      <p:pic>
        <p:nvPicPr>
          <p:cNvPr id="6" name="Picture 5" descr="C2H2.jpg"/>
          <p:cNvPicPr>
            <a:picLocks noChangeAspect="1"/>
          </p:cNvPicPr>
          <p:nvPr/>
        </p:nvPicPr>
        <p:blipFill>
          <a:blip r:embed="rId4"/>
          <a:srcRect/>
          <a:stretch>
            <a:fillRect/>
          </a:stretch>
        </p:blipFill>
        <p:spPr>
          <a:xfrm>
            <a:off x="304800" y="3505200"/>
            <a:ext cx="4934858" cy="1905000"/>
          </a:xfrm>
          <a:prstGeom prst="rect">
            <a:avLst/>
          </a:prstGeom>
        </p:spPr>
      </p:pic>
      <p:pic>
        <p:nvPicPr>
          <p:cNvPr id="7" name="Picture 6" descr="C2H2.jpg"/>
          <p:cNvPicPr>
            <a:picLocks noChangeAspect="1"/>
          </p:cNvPicPr>
          <p:nvPr/>
        </p:nvPicPr>
        <p:blipFill>
          <a:blip r:embed="rId5"/>
          <a:srcRect r="-14287"/>
          <a:stretch>
            <a:fillRect/>
          </a:stretch>
        </p:blipFill>
        <p:spPr>
          <a:xfrm>
            <a:off x="5257800" y="4425043"/>
            <a:ext cx="3429000" cy="2204357"/>
          </a:xfrm>
          <a:prstGeom prst="rect">
            <a:avLst/>
          </a:prstGeom>
        </p:spPr>
      </p:pic>
      <p:pic>
        <p:nvPicPr>
          <p:cNvPr id="9" name="Picture 8" descr="C2H2.jpg"/>
          <p:cNvPicPr>
            <a:picLocks noChangeAspect="1"/>
          </p:cNvPicPr>
          <p:nvPr/>
        </p:nvPicPr>
        <p:blipFill>
          <a:blip r:embed="rId6"/>
          <a:srcRect/>
          <a:stretch>
            <a:fillRect/>
          </a:stretch>
        </p:blipFill>
        <p:spPr>
          <a:xfrm>
            <a:off x="5257800" y="2514600"/>
            <a:ext cx="3368040" cy="1981200"/>
          </a:xfrm>
          <a:prstGeom prst="rect">
            <a:avLst/>
          </a:prstGeom>
        </p:spPr>
      </p:pic>
      <p:graphicFrame>
        <p:nvGraphicFramePr>
          <p:cNvPr id="8" name="Object 7"/>
          <p:cNvGraphicFramePr>
            <a:graphicFrameLocks noChangeAspect="1"/>
          </p:cNvGraphicFramePr>
          <p:nvPr/>
        </p:nvGraphicFramePr>
        <p:xfrm>
          <a:off x="3898900" y="2819400"/>
          <a:ext cx="520700" cy="381000"/>
        </p:xfrm>
        <a:graphic>
          <a:graphicData uri="http://schemas.openxmlformats.org/presentationml/2006/ole">
            <mc:AlternateContent xmlns:mc="http://schemas.openxmlformats.org/markup-compatibility/2006">
              <mc:Choice xmlns:v="urn:schemas-microsoft-com:vml" Requires="v">
                <p:oleObj spid="_x0000_s2115" name="Equation" r:id="rId7" imgW="126720" imgH="152280" progId="Equation.3">
                  <p:embed/>
                </p:oleObj>
              </mc:Choice>
              <mc:Fallback>
                <p:oleObj name="Equation" r:id="rId7" imgW="126720" imgH="152280" progId="Equation.3">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8900" y="2819400"/>
                        <a:ext cx="5207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None/>
            </a:pPr>
            <a:r>
              <a:rPr lang="zh-CN" altLang="en-US" sz="3000" dirty="0"/>
              <a:t>炔烃的官能团异构为：</a:t>
            </a:r>
            <a:endParaRPr lang="en-US" altLang="zh-CN" sz="3000" dirty="0"/>
          </a:p>
          <a:p>
            <a:pPr lvl="1">
              <a:lnSpc>
                <a:spcPct val="150000"/>
              </a:lnSpc>
              <a:buFont typeface="Wingdings" pitchFamily="2" charset="2"/>
              <a:buChar char="Ø"/>
            </a:pPr>
            <a:r>
              <a:rPr lang="zh-CN" altLang="en-US" sz="2600" dirty="0"/>
              <a:t>二烯烃：含有两个</a:t>
            </a:r>
            <a:r>
              <a:rPr lang="en-US" altLang="zh-CN" sz="2600" dirty="0"/>
              <a:t>C=C</a:t>
            </a:r>
            <a:r>
              <a:rPr lang="zh-CN" altLang="en-US" sz="2600" dirty="0"/>
              <a:t>双键的烃类</a:t>
            </a:r>
            <a:r>
              <a:rPr lang="zh-CN" altLang="en-US" sz="2400" dirty="0"/>
              <a:t>。</a:t>
            </a:r>
            <a:endParaRPr lang="en-US" altLang="zh-CN" sz="2600" dirty="0"/>
          </a:p>
          <a:p>
            <a:pPr lvl="1">
              <a:lnSpc>
                <a:spcPct val="150000"/>
              </a:lnSpc>
              <a:buFont typeface="Wingdings" pitchFamily="2" charset="2"/>
              <a:buChar char="Ø"/>
            </a:pPr>
            <a:r>
              <a:rPr lang="zh-CN" altLang="en-US" sz="2600" dirty="0"/>
              <a:t>环烯烃：具有环内</a:t>
            </a:r>
            <a:r>
              <a:rPr lang="en-US" altLang="zh-CN" sz="2600" dirty="0"/>
              <a:t>C=C</a:t>
            </a:r>
            <a:r>
              <a:rPr lang="zh-CN" altLang="en-US" sz="2600" dirty="0"/>
              <a:t>双键的环状烃</a:t>
            </a:r>
            <a:endParaRPr lang="en-MY" altLang="zh-CN" sz="2600" dirty="0"/>
          </a:p>
          <a:p>
            <a:pPr>
              <a:lnSpc>
                <a:spcPct val="150000"/>
              </a:lnSpc>
              <a:buFont typeface="Wingdings" pitchFamily="2" charset="2"/>
              <a:buChar char="Ø"/>
            </a:pPr>
            <a:r>
              <a:rPr lang="zh-CN" altLang="en-US" sz="3000" dirty="0"/>
              <a:t>开链单炔烃、二烯烃、环烯烃具有相同的通式</a:t>
            </a:r>
            <a:endParaRPr lang="en-US" altLang="zh-CN" sz="3000" dirty="0"/>
          </a:p>
          <a:p>
            <a:pPr>
              <a:lnSpc>
                <a:spcPct val="150000"/>
              </a:lnSpc>
              <a:buFont typeface="Wingdings" pitchFamily="2" charset="2"/>
              <a:buChar char="Ø"/>
            </a:pPr>
            <a:r>
              <a:rPr lang="zh-CN" altLang="en-US" sz="3000" dirty="0"/>
              <a:t>单炔烃通式：</a:t>
            </a:r>
            <a:r>
              <a:rPr lang="en-US" altLang="zh-CN" sz="3000" dirty="0" err="1"/>
              <a:t>C</a:t>
            </a:r>
            <a:r>
              <a:rPr lang="en-US" altLang="zh-CN" sz="3000" baseline="-25000" dirty="0" err="1"/>
              <a:t>n</a:t>
            </a:r>
            <a:r>
              <a:rPr lang="en-US" altLang="zh-CN" sz="3000" baseline="-25000" dirty="0"/>
              <a:t> </a:t>
            </a:r>
            <a:r>
              <a:rPr lang="en-US" altLang="zh-CN" sz="3000" dirty="0"/>
              <a:t>H</a:t>
            </a:r>
            <a:r>
              <a:rPr lang="en-US" altLang="zh-CN" sz="3000" baseline="-25000" dirty="0"/>
              <a:t>2n -2</a:t>
            </a:r>
            <a:r>
              <a:rPr lang="en-US" altLang="zh-CN" sz="3000" dirty="0"/>
              <a:t>  </a:t>
            </a:r>
            <a:r>
              <a:rPr lang="zh-CN" altLang="en-US" sz="3000" dirty="0"/>
              <a:t>，</a:t>
            </a:r>
            <a:r>
              <a:rPr lang="en-US" altLang="zh-CN" sz="3000" dirty="0"/>
              <a:t>n  ≥  2</a:t>
            </a:r>
          </a:p>
          <a:p>
            <a:pPr>
              <a:lnSpc>
                <a:spcPct val="150000"/>
              </a:lnSpc>
              <a:buFont typeface="Wingdings" pitchFamily="2" charset="2"/>
              <a:buChar char="Ø"/>
            </a:pPr>
            <a:r>
              <a:rPr lang="zh-CN" altLang="en-US" sz="3000" dirty="0"/>
              <a:t>二烯烃、环烯烃通式：</a:t>
            </a:r>
            <a:r>
              <a:rPr lang="en-US" altLang="zh-CN" sz="3000" dirty="0"/>
              <a:t>C</a:t>
            </a:r>
            <a:r>
              <a:rPr lang="en-US" altLang="zh-CN" sz="3000" baseline="-25000" dirty="0"/>
              <a:t>n </a:t>
            </a:r>
            <a:r>
              <a:rPr lang="en-US" altLang="zh-CN" sz="3000" dirty="0"/>
              <a:t>H</a:t>
            </a:r>
            <a:r>
              <a:rPr lang="en-US" altLang="zh-CN" sz="3000" baseline="-25000" dirty="0"/>
              <a:t>2n -2</a:t>
            </a:r>
            <a:r>
              <a:rPr lang="en-US" altLang="zh-CN" sz="3000" dirty="0"/>
              <a:t>  </a:t>
            </a:r>
            <a:r>
              <a:rPr lang="zh-CN" altLang="en-US" sz="3000" dirty="0"/>
              <a:t>，</a:t>
            </a:r>
            <a:r>
              <a:rPr lang="en-US" altLang="zh-CN" sz="3000" dirty="0"/>
              <a:t>n  ≥  3</a:t>
            </a:r>
          </a:p>
          <a:p>
            <a:pPr>
              <a:lnSpc>
                <a:spcPct val="150000"/>
              </a:lnSpc>
              <a:buFont typeface="Wingdings" pitchFamily="2" charset="2"/>
              <a:buChar char="Ø"/>
            </a:pPr>
            <a:r>
              <a:rPr lang="zh-CN" altLang="en-US" sz="3000" dirty="0"/>
              <a:t>具有相同碳原子数的开链单炔烃、二烯烃、环烯烃互为同分异构体。</a:t>
            </a:r>
            <a:endParaRPr lang="en-US" altLang="zh-CN" sz="3000" dirty="0"/>
          </a:p>
          <a:p>
            <a:pPr lvl="1">
              <a:lnSpc>
                <a:spcPct val="150000"/>
              </a:lnSpc>
              <a:buNone/>
            </a:pPr>
            <a:endParaRPr lang="en-US" altLang="zh-CN" sz="3000" dirty="0"/>
          </a:p>
        </p:txBody>
      </p:sp>
    </p:spTree>
    <p:extLst>
      <p:ext uri="{BB962C8B-B14F-4D97-AF65-F5344CB8AC3E}">
        <p14:creationId xmlns:p14="http://schemas.microsoft.com/office/powerpoint/2010/main" val="3457503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linds(horizontal)">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几种炔烃的结构与名称</a:t>
            </a:r>
            <a:endParaRPr lang="en-US" altLang="zh-CN" sz="3000" dirty="0"/>
          </a:p>
          <a:p>
            <a:pPr lvl="1">
              <a:lnSpc>
                <a:spcPct val="150000"/>
              </a:lnSpc>
              <a:buNone/>
            </a:pPr>
            <a:endParaRPr lang="en-US" altLang="zh-CN" sz="3000" dirty="0"/>
          </a:p>
        </p:txBody>
      </p:sp>
      <p:grpSp>
        <p:nvGrpSpPr>
          <p:cNvPr id="7" name="Group 6"/>
          <p:cNvGrpSpPr/>
          <p:nvPr/>
        </p:nvGrpSpPr>
        <p:grpSpPr>
          <a:xfrm>
            <a:off x="914400" y="1752600"/>
            <a:ext cx="4724400" cy="4876800"/>
            <a:chOff x="914400" y="1752600"/>
            <a:chExt cx="4724400" cy="4876800"/>
          </a:xfrm>
        </p:grpSpPr>
        <p:pic>
          <p:nvPicPr>
            <p:cNvPr id="8" name="Picture 7" descr="炔烃.jpg"/>
            <p:cNvPicPr>
              <a:picLocks noChangeAspect="1"/>
            </p:cNvPicPr>
            <p:nvPr/>
          </p:nvPicPr>
          <p:blipFill>
            <a:blip r:embed="rId3"/>
            <a:srcRect/>
            <a:stretch>
              <a:fillRect/>
            </a:stretch>
          </p:blipFill>
          <p:spPr>
            <a:xfrm>
              <a:off x="914400" y="1752600"/>
              <a:ext cx="4724400" cy="4876800"/>
            </a:xfrm>
            <a:prstGeom prst="rect">
              <a:avLst/>
            </a:prstGeom>
          </p:spPr>
        </p:pic>
        <p:sp>
          <p:nvSpPr>
            <p:cNvPr id="6" name="Rectangle 5"/>
            <p:cNvSpPr/>
            <p:nvPr/>
          </p:nvSpPr>
          <p:spPr>
            <a:xfrm>
              <a:off x="3124200" y="2057400"/>
              <a:ext cx="1620957" cy="523220"/>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CN" altLang="en-US" sz="2800" dirty="0"/>
                <a:t>结构简式</a:t>
              </a:r>
              <a:endParaRPr lang="en-US" sz="2800" dirty="0"/>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990600"/>
            <a:ext cx="8686800" cy="5867400"/>
          </a:xfrm>
        </p:spPr>
        <p:txBody>
          <a:bodyPr>
            <a:noAutofit/>
          </a:bodyPr>
          <a:lstStyle/>
          <a:p>
            <a:pPr>
              <a:buNone/>
            </a:pPr>
            <a:r>
              <a:rPr lang="zh-CN" altLang="en-US" sz="3000" dirty="0"/>
              <a:t>系统命名法</a:t>
            </a:r>
            <a:endParaRPr lang="en-US" altLang="zh-CN" sz="3000" dirty="0"/>
          </a:p>
          <a:p>
            <a:pPr>
              <a:buFont typeface="Wingdings" pitchFamily="2" charset="2"/>
              <a:buChar char="Ø"/>
            </a:pPr>
            <a:r>
              <a:rPr lang="zh-CN" altLang="en-US" sz="3000" dirty="0"/>
              <a:t>与烯烃命名法相似</a:t>
            </a:r>
            <a:endParaRPr lang="en-US" altLang="zh-CN" sz="3000" dirty="0"/>
          </a:p>
          <a:p>
            <a:pPr marL="514350" indent="-514350">
              <a:buAutoNum type="arabicPeriod"/>
            </a:pPr>
            <a:r>
              <a:rPr lang="zh-CN" altLang="en-US" sz="3000" dirty="0"/>
              <a:t>选最长且含</a:t>
            </a:r>
            <a:r>
              <a:rPr lang="en-US" altLang="zh-CN" sz="3000" dirty="0"/>
              <a:t>C≡C</a:t>
            </a:r>
            <a:r>
              <a:rPr lang="zh-CN" altLang="en-US" sz="3000" dirty="0"/>
              <a:t>三键的碳链为主链。</a:t>
            </a:r>
            <a:endParaRPr lang="en-US" altLang="zh-CN" sz="3000" dirty="0"/>
          </a:p>
          <a:p>
            <a:pPr marL="514350" indent="-514350">
              <a:buAutoNum type="arabicPeriod"/>
            </a:pPr>
            <a:r>
              <a:rPr lang="zh-CN" altLang="en-US" sz="3000" dirty="0"/>
              <a:t>以最靠近</a:t>
            </a:r>
            <a:r>
              <a:rPr lang="en-US" altLang="zh-CN" sz="3000" dirty="0"/>
              <a:t>C≡C</a:t>
            </a:r>
            <a:r>
              <a:rPr lang="zh-CN" altLang="en-US" sz="3000" dirty="0"/>
              <a:t>三键的碳原子开始编号。</a:t>
            </a:r>
            <a:endParaRPr lang="en-US" altLang="zh-CN" sz="3000" dirty="0"/>
          </a:p>
          <a:p>
            <a:pPr marL="514350" indent="-514350">
              <a:buAutoNum type="arabicPeriod"/>
            </a:pPr>
            <a:r>
              <a:rPr lang="zh-CN" altLang="en-US" sz="3000" dirty="0"/>
              <a:t>分别用阿拉伯数字标示取代基和</a:t>
            </a:r>
            <a:r>
              <a:rPr lang="en-US" altLang="zh-CN" sz="3000" dirty="0"/>
              <a:t>C≡C</a:t>
            </a:r>
            <a:r>
              <a:rPr lang="zh-CN" altLang="en-US" sz="3000" dirty="0"/>
              <a:t>三键的位置。</a:t>
            </a:r>
            <a:endParaRPr lang="en-US" altLang="zh-CN" sz="3000" dirty="0"/>
          </a:p>
          <a:p>
            <a:pPr marL="514350" indent="-514350">
              <a:buFont typeface="Arial" pitchFamily="34" charset="0"/>
              <a:buAutoNum type="arabicPeriod"/>
            </a:pPr>
            <a:r>
              <a:rPr lang="zh-CN" altLang="en-US" sz="3000" dirty="0"/>
              <a:t>分子中既有</a:t>
            </a:r>
            <a:r>
              <a:rPr lang="en-US" altLang="zh-CN" sz="3000" dirty="0"/>
              <a:t>C=C</a:t>
            </a:r>
            <a:r>
              <a:rPr lang="zh-CN" altLang="en-US" sz="3000" dirty="0"/>
              <a:t>双键又有</a:t>
            </a:r>
            <a:r>
              <a:rPr lang="en-US" altLang="zh-CN" sz="3000" dirty="0"/>
              <a:t>C≡C</a:t>
            </a:r>
            <a:r>
              <a:rPr lang="zh-CN" altLang="en-US" sz="3000" dirty="0"/>
              <a:t>三键时，名字以</a:t>
            </a:r>
            <a:endParaRPr lang="en-US" altLang="zh-CN" sz="3000" dirty="0"/>
          </a:p>
          <a:p>
            <a:pPr marL="514350" indent="-514350">
              <a:buNone/>
            </a:pPr>
            <a:r>
              <a:rPr lang="en-US" altLang="zh-CN" sz="3000" b="1" dirty="0">
                <a:solidFill>
                  <a:srgbClr val="002060"/>
                </a:solidFill>
                <a:effectLst>
                  <a:outerShdw blurRad="38100" dist="38100" dir="2700000" algn="tl">
                    <a:srgbClr val="000000">
                      <a:alpha val="43137"/>
                    </a:srgbClr>
                  </a:outerShdw>
                </a:effectLst>
              </a:rPr>
              <a:t>	 </a:t>
            </a:r>
            <a:r>
              <a:rPr lang="zh-CN" altLang="en-US" sz="3000" b="1" dirty="0">
                <a:solidFill>
                  <a:srgbClr val="002060"/>
                </a:solidFill>
                <a:effectLst>
                  <a:outerShdw blurRad="38100" dist="38100" dir="2700000" algn="tl">
                    <a:srgbClr val="000000">
                      <a:alpha val="43137"/>
                    </a:srgbClr>
                  </a:outerShdw>
                </a:effectLst>
              </a:rPr>
              <a:t>烯先炔后</a:t>
            </a:r>
            <a:r>
              <a:rPr lang="en-US" altLang="zh-CN" sz="3000" dirty="0"/>
              <a:t>,</a:t>
            </a:r>
            <a:r>
              <a:rPr lang="zh-CN" altLang="en-US" sz="3000" dirty="0"/>
              <a:t>分别标注位置号</a:t>
            </a:r>
            <a:r>
              <a:rPr lang="en-US" altLang="zh-CN" sz="3000" dirty="0"/>
              <a:t>,</a:t>
            </a:r>
            <a:r>
              <a:rPr lang="zh-CN" altLang="en-US" sz="3000" b="1" dirty="0">
                <a:solidFill>
                  <a:srgbClr val="002060"/>
                </a:solidFill>
                <a:effectLst>
                  <a:outerShdw blurRad="38100" dist="38100" dir="2700000" algn="tl">
                    <a:srgbClr val="000000">
                      <a:alpha val="43137"/>
                    </a:srgbClr>
                  </a:outerShdw>
                </a:effectLst>
              </a:rPr>
              <a:t>碳数写在“烯”前面</a:t>
            </a:r>
            <a:r>
              <a:rPr lang="zh-CN" altLang="en-US" sz="3000" dirty="0"/>
              <a:t>。</a:t>
            </a:r>
            <a:endParaRPr lang="en-MY" altLang="zh-CN" sz="3000" dirty="0"/>
          </a:p>
          <a:p>
            <a:pPr marL="514350" indent="-514350">
              <a:buNone/>
            </a:pPr>
            <a:r>
              <a:rPr lang="zh-CN" altLang="en-US" sz="3000" b="1" dirty="0">
                <a:solidFill>
                  <a:srgbClr val="7030A0"/>
                </a:solidFill>
                <a:effectLst>
                  <a:outerShdw blurRad="38100" dist="38100" dir="2700000" algn="tl">
                    <a:srgbClr val="000000">
                      <a:alpha val="43137"/>
                    </a:srgbClr>
                  </a:outerShdw>
                </a:effectLst>
              </a:rPr>
              <a:t>位置号</a:t>
            </a:r>
            <a:r>
              <a:rPr lang="en-MY" altLang="zh-CN" sz="3000" b="1" dirty="0">
                <a:solidFill>
                  <a:srgbClr val="7030A0"/>
                </a:solidFill>
                <a:effectLst>
                  <a:outerShdw blurRad="38100" dist="38100" dir="2700000" algn="tl">
                    <a:srgbClr val="000000">
                      <a:alpha val="43137"/>
                    </a:srgbClr>
                  </a:outerShdw>
                </a:effectLst>
              </a:rPr>
              <a:t>: </a:t>
            </a:r>
            <a:r>
              <a:rPr lang="zh-CN" altLang="en-US" sz="3000" b="1" dirty="0">
                <a:solidFill>
                  <a:srgbClr val="7030A0"/>
                </a:solidFill>
                <a:effectLst>
                  <a:outerShdw blurRad="38100" dist="38100" dir="2700000" algn="tl">
                    <a:srgbClr val="000000">
                      <a:alpha val="43137"/>
                    </a:srgbClr>
                  </a:outerShdw>
                </a:effectLst>
              </a:rPr>
              <a:t>①双键和三键和尽可能小的编号</a:t>
            </a:r>
            <a:endParaRPr lang="en-MY" altLang="zh-CN" sz="3000" b="1" dirty="0">
              <a:solidFill>
                <a:srgbClr val="7030A0"/>
              </a:solidFill>
              <a:effectLst>
                <a:outerShdw blurRad="38100" dist="38100" dir="2700000" algn="tl">
                  <a:srgbClr val="000000">
                    <a:alpha val="43137"/>
                  </a:srgbClr>
                </a:outerShdw>
              </a:effectLst>
            </a:endParaRPr>
          </a:p>
          <a:p>
            <a:pPr marL="514350" indent="-514350">
              <a:buNone/>
            </a:pPr>
            <a:r>
              <a:rPr lang="en-MY" altLang="zh-CN" sz="3000" b="1" dirty="0">
                <a:solidFill>
                  <a:srgbClr val="7030A0"/>
                </a:solidFill>
                <a:effectLst>
                  <a:outerShdw blurRad="38100" dist="38100" dir="2700000" algn="tl">
                    <a:srgbClr val="000000">
                      <a:alpha val="43137"/>
                    </a:srgbClr>
                  </a:outerShdw>
                </a:effectLst>
              </a:rPr>
              <a:t>	   </a:t>
            </a:r>
            <a:r>
              <a:rPr lang="zh-CN" altLang="en-US" sz="3000" b="1" dirty="0">
                <a:solidFill>
                  <a:srgbClr val="7030A0"/>
                </a:solidFill>
                <a:effectLst>
                  <a:outerShdw blurRad="38100" dist="38100" dir="2700000" algn="tl">
                    <a:srgbClr val="000000">
                      <a:alpha val="43137"/>
                    </a:srgbClr>
                  </a:outerShdw>
                </a:effectLst>
              </a:rPr>
              <a:t>②和一样时，因使双键位号较三键位号小</a:t>
            </a:r>
            <a:r>
              <a:rPr lang="en-US" altLang="zh-CN" sz="3000" b="1" dirty="0">
                <a:solidFill>
                  <a:srgbClr val="7030A0"/>
                </a:solidFill>
                <a:effectLst>
                  <a:outerShdw blurRad="38100" dist="38100" dir="2700000" algn="tl">
                    <a:srgbClr val="000000">
                      <a:alpha val="43137"/>
                    </a:srgbClr>
                  </a:outerShdw>
                </a:effectLst>
              </a:rPr>
              <a:t>pg96</a:t>
            </a:r>
            <a:endParaRPr lang="zh-CN" altLang="en-US" sz="30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None/>
            </a:pPr>
            <a:r>
              <a:rPr lang="zh-CN" altLang="en-US" sz="3000" dirty="0"/>
              <a:t>补充练习</a:t>
            </a:r>
            <a:endParaRPr lang="en-US" altLang="zh-CN" sz="3000" dirty="0"/>
          </a:p>
          <a:p>
            <a:pPr>
              <a:lnSpc>
                <a:spcPct val="150000"/>
              </a:lnSpc>
              <a:buNone/>
            </a:pPr>
            <a:endParaRPr lang="en-US" altLang="zh-CN" sz="3000" dirty="0"/>
          </a:p>
        </p:txBody>
      </p:sp>
      <p:pic>
        <p:nvPicPr>
          <p:cNvPr id="6" name="Picture 5" descr="xueting1.jpg"/>
          <p:cNvPicPr>
            <a:picLocks noChangeAspect="1"/>
          </p:cNvPicPr>
          <p:nvPr/>
        </p:nvPicPr>
        <p:blipFill>
          <a:blip r:embed="rId3"/>
          <a:srcRect/>
          <a:stretch>
            <a:fillRect/>
          </a:stretch>
        </p:blipFill>
        <p:spPr>
          <a:xfrm>
            <a:off x="355600" y="3962400"/>
            <a:ext cx="3911600" cy="1600200"/>
          </a:xfrm>
          <a:prstGeom prst="rect">
            <a:avLst/>
          </a:prstGeom>
        </p:spPr>
      </p:pic>
      <p:sp>
        <p:nvSpPr>
          <p:cNvPr id="9" name="Rectangle 8"/>
          <p:cNvSpPr/>
          <p:nvPr/>
        </p:nvSpPr>
        <p:spPr>
          <a:xfrm>
            <a:off x="5029200" y="2286000"/>
            <a:ext cx="2957861"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4–</a:t>
            </a:r>
            <a:r>
              <a:rPr lang="zh-CN" altLang="en-US" sz="3200" b="1" dirty="0">
                <a:solidFill>
                  <a:srgbClr val="002060"/>
                </a:solidFill>
                <a:effectLst>
                  <a:outerShdw blurRad="38100" dist="38100" dir="2700000" algn="tl">
                    <a:srgbClr val="000000">
                      <a:alpha val="43137"/>
                    </a:srgbClr>
                  </a:outerShdw>
                </a:effectLst>
              </a:rPr>
              <a:t>甲基</a:t>
            </a:r>
            <a:r>
              <a:rPr lang="en-US" altLang="zh-CN" sz="3200" b="1" dirty="0">
                <a:solidFill>
                  <a:srgbClr val="002060"/>
                </a:solidFill>
                <a:effectLst>
                  <a:outerShdw blurRad="38100" dist="38100" dir="2700000" algn="tl">
                    <a:srgbClr val="000000">
                      <a:alpha val="43137"/>
                    </a:srgbClr>
                  </a:outerShdw>
                </a:effectLst>
              </a:rPr>
              <a:t> –2–</a:t>
            </a:r>
            <a:r>
              <a:rPr lang="zh-CN" altLang="en-US" sz="3200" b="1" dirty="0">
                <a:solidFill>
                  <a:srgbClr val="002060"/>
                </a:solidFill>
                <a:effectLst>
                  <a:outerShdw blurRad="38100" dist="38100" dir="2700000" algn="tl">
                    <a:srgbClr val="000000">
                      <a:alpha val="43137"/>
                    </a:srgbClr>
                  </a:outerShdw>
                </a:effectLst>
              </a:rPr>
              <a:t>戊炔</a:t>
            </a:r>
            <a:endParaRPr lang="en-US" sz="3200" dirty="0"/>
          </a:p>
        </p:txBody>
      </p:sp>
      <p:sp>
        <p:nvSpPr>
          <p:cNvPr id="10" name="Rectangle 9"/>
          <p:cNvSpPr/>
          <p:nvPr/>
        </p:nvSpPr>
        <p:spPr>
          <a:xfrm>
            <a:off x="4533442" y="4419600"/>
            <a:ext cx="4610558"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2</a:t>
            </a:r>
            <a:r>
              <a:rPr lang="zh-CN" altLang="en-US" sz="3200" b="1" dirty="0">
                <a:solidFill>
                  <a:srgbClr val="002060"/>
                </a:solidFill>
                <a:effectLst>
                  <a:outerShdw blurRad="38100" dist="38100" dir="2700000" algn="tl">
                    <a:srgbClr val="000000">
                      <a:alpha val="43137"/>
                    </a:srgbClr>
                  </a:outerShdw>
                </a:effectLst>
              </a:rPr>
              <a:t>，</a:t>
            </a:r>
            <a:r>
              <a:rPr lang="en-US" altLang="zh-CN" sz="3200" b="1" dirty="0">
                <a:solidFill>
                  <a:srgbClr val="002060"/>
                </a:solidFill>
                <a:effectLst>
                  <a:outerShdw blurRad="38100" dist="38100" dir="2700000" algn="tl">
                    <a:srgbClr val="000000">
                      <a:alpha val="43137"/>
                    </a:srgbClr>
                  </a:outerShdw>
                </a:effectLst>
              </a:rPr>
              <a:t>2</a:t>
            </a:r>
            <a:r>
              <a:rPr lang="zh-CN" altLang="en-US" sz="3200" b="1" dirty="0">
                <a:solidFill>
                  <a:srgbClr val="002060"/>
                </a:solidFill>
                <a:effectLst>
                  <a:outerShdw blurRad="38100" dist="38100" dir="2700000" algn="tl">
                    <a:srgbClr val="000000">
                      <a:alpha val="43137"/>
                    </a:srgbClr>
                  </a:outerShdw>
                </a:effectLst>
              </a:rPr>
              <a:t>，</a:t>
            </a:r>
            <a:r>
              <a:rPr lang="en-US" altLang="zh-CN" sz="3200" b="1" dirty="0">
                <a:solidFill>
                  <a:srgbClr val="002060"/>
                </a:solidFill>
                <a:effectLst>
                  <a:outerShdw blurRad="38100" dist="38100" dir="2700000" algn="tl">
                    <a:srgbClr val="000000">
                      <a:alpha val="43137"/>
                    </a:srgbClr>
                  </a:outerShdw>
                </a:effectLst>
              </a:rPr>
              <a:t>5–</a:t>
            </a:r>
            <a:r>
              <a:rPr lang="zh-CN" altLang="en-US" sz="3200" b="1" dirty="0">
                <a:solidFill>
                  <a:srgbClr val="002060"/>
                </a:solidFill>
                <a:effectLst>
                  <a:outerShdw blurRad="38100" dist="38100" dir="2700000" algn="tl">
                    <a:srgbClr val="000000">
                      <a:alpha val="43137"/>
                    </a:srgbClr>
                  </a:outerShdw>
                </a:effectLst>
              </a:rPr>
              <a:t>三甲基</a:t>
            </a:r>
            <a:r>
              <a:rPr lang="en-US" altLang="zh-CN" sz="3200" b="1" dirty="0">
                <a:solidFill>
                  <a:srgbClr val="002060"/>
                </a:solidFill>
                <a:effectLst>
                  <a:outerShdw blurRad="38100" dist="38100" dir="2700000" algn="tl">
                    <a:srgbClr val="000000">
                      <a:alpha val="43137"/>
                    </a:srgbClr>
                  </a:outerShdw>
                </a:effectLst>
              </a:rPr>
              <a:t> –3–</a:t>
            </a:r>
            <a:r>
              <a:rPr lang="zh-CN" altLang="en-US" sz="3200" b="1" dirty="0">
                <a:solidFill>
                  <a:srgbClr val="002060"/>
                </a:solidFill>
                <a:effectLst>
                  <a:outerShdw blurRad="38100" dist="38100" dir="2700000" algn="tl">
                    <a:srgbClr val="000000">
                      <a:alpha val="43137"/>
                    </a:srgbClr>
                  </a:outerShdw>
                </a:effectLst>
              </a:rPr>
              <a:t>己炔</a:t>
            </a:r>
            <a:endParaRPr lang="en-US" sz="3200" dirty="0"/>
          </a:p>
        </p:txBody>
      </p:sp>
      <p:pic>
        <p:nvPicPr>
          <p:cNvPr id="11" name="Picture 10" descr="xueting1.jpg"/>
          <p:cNvPicPr>
            <a:picLocks noChangeAspect="1"/>
          </p:cNvPicPr>
          <p:nvPr/>
        </p:nvPicPr>
        <p:blipFill>
          <a:blip r:embed="rId4"/>
          <a:srcRect/>
          <a:stretch>
            <a:fillRect/>
          </a:stretch>
        </p:blipFill>
        <p:spPr>
          <a:xfrm>
            <a:off x="336001" y="1981200"/>
            <a:ext cx="3750589" cy="14478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838200"/>
            <a:ext cx="8686800" cy="5867400"/>
          </a:xfrm>
        </p:spPr>
        <p:txBody>
          <a:bodyPr>
            <a:noAutofit/>
          </a:bodyPr>
          <a:lstStyle/>
          <a:p>
            <a:pPr>
              <a:lnSpc>
                <a:spcPct val="150000"/>
              </a:lnSpc>
              <a:buNone/>
            </a:pPr>
            <a:r>
              <a:rPr lang="zh-CN" altLang="en-US" sz="3000" dirty="0"/>
              <a:t>补充练习</a:t>
            </a:r>
            <a:endParaRPr lang="en-US" altLang="zh-CN" sz="3000" dirty="0"/>
          </a:p>
          <a:p>
            <a:pPr>
              <a:lnSpc>
                <a:spcPct val="150000"/>
              </a:lnSpc>
              <a:buNone/>
            </a:pPr>
            <a:endParaRPr lang="en-US" altLang="zh-CN" sz="3000" dirty="0"/>
          </a:p>
        </p:txBody>
      </p:sp>
      <p:pic>
        <p:nvPicPr>
          <p:cNvPr id="6" name="Picture 5" descr="xueting1.jpg"/>
          <p:cNvPicPr>
            <a:picLocks noChangeAspect="1"/>
          </p:cNvPicPr>
          <p:nvPr/>
        </p:nvPicPr>
        <p:blipFill>
          <a:blip r:embed="rId3"/>
          <a:srcRect/>
          <a:stretch>
            <a:fillRect/>
          </a:stretch>
        </p:blipFill>
        <p:spPr>
          <a:xfrm>
            <a:off x="228600" y="2879682"/>
            <a:ext cx="4572000" cy="1158918"/>
          </a:xfrm>
          <a:prstGeom prst="rect">
            <a:avLst/>
          </a:prstGeom>
        </p:spPr>
      </p:pic>
      <p:sp>
        <p:nvSpPr>
          <p:cNvPr id="7" name="Rectangle 6"/>
          <p:cNvSpPr/>
          <p:nvPr/>
        </p:nvSpPr>
        <p:spPr>
          <a:xfrm>
            <a:off x="5029200" y="1752600"/>
            <a:ext cx="3143809"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5–</a:t>
            </a:r>
            <a:r>
              <a:rPr lang="zh-CN" altLang="en-US" sz="3200" b="1" dirty="0">
                <a:solidFill>
                  <a:srgbClr val="002060"/>
                </a:solidFill>
                <a:effectLst>
                  <a:outerShdw blurRad="38100" dist="38100" dir="2700000" algn="tl">
                    <a:srgbClr val="000000">
                      <a:alpha val="43137"/>
                    </a:srgbClr>
                  </a:outerShdw>
                </a:effectLst>
              </a:rPr>
              <a:t>甲基</a:t>
            </a:r>
            <a:r>
              <a:rPr lang="en-US" altLang="zh-CN" sz="3200" b="1" dirty="0">
                <a:solidFill>
                  <a:srgbClr val="002060"/>
                </a:solidFill>
                <a:effectLst>
                  <a:outerShdw blurRad="38100" dist="38100" dir="2700000" algn="tl">
                    <a:srgbClr val="000000">
                      <a:alpha val="43137"/>
                    </a:srgbClr>
                  </a:outerShdw>
                </a:effectLst>
              </a:rPr>
              <a:t> – 3– </a:t>
            </a:r>
            <a:r>
              <a:rPr lang="zh-CN" altLang="en-US" sz="3200" b="1" dirty="0">
                <a:solidFill>
                  <a:srgbClr val="002060"/>
                </a:solidFill>
                <a:effectLst>
                  <a:outerShdw blurRad="38100" dist="38100" dir="2700000" algn="tl">
                    <a:srgbClr val="000000">
                      <a:alpha val="43137"/>
                    </a:srgbClr>
                  </a:outerShdw>
                </a:effectLst>
              </a:rPr>
              <a:t>庚炔</a:t>
            </a:r>
            <a:endParaRPr lang="en-US" sz="3200" dirty="0"/>
          </a:p>
        </p:txBody>
      </p:sp>
      <p:sp>
        <p:nvSpPr>
          <p:cNvPr id="8" name="Rectangle 7"/>
          <p:cNvSpPr/>
          <p:nvPr/>
        </p:nvSpPr>
        <p:spPr>
          <a:xfrm>
            <a:off x="5029200" y="2844225"/>
            <a:ext cx="3988592"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4–</a:t>
            </a:r>
            <a:r>
              <a:rPr lang="zh-CN" altLang="en-US" sz="3200" b="1" dirty="0">
                <a:solidFill>
                  <a:srgbClr val="002060"/>
                </a:solidFill>
                <a:effectLst>
                  <a:outerShdw blurRad="38100" dist="38100" dir="2700000" algn="tl">
                    <a:srgbClr val="000000">
                      <a:alpha val="43137"/>
                    </a:srgbClr>
                  </a:outerShdw>
                </a:effectLst>
              </a:rPr>
              <a:t>乙基</a:t>
            </a:r>
            <a:r>
              <a:rPr lang="en-US" altLang="zh-CN" sz="3200" b="1" dirty="0">
                <a:solidFill>
                  <a:srgbClr val="002060"/>
                </a:solidFill>
                <a:effectLst>
                  <a:outerShdw blurRad="38100" dist="38100" dir="2700000" algn="tl">
                    <a:srgbClr val="000000">
                      <a:alpha val="43137"/>
                    </a:srgbClr>
                  </a:outerShdw>
                </a:effectLst>
              </a:rPr>
              <a:t> –1–</a:t>
            </a:r>
            <a:r>
              <a:rPr lang="zh-CN" altLang="en-US" sz="3200" b="1" dirty="0">
                <a:solidFill>
                  <a:srgbClr val="002060"/>
                </a:solidFill>
                <a:effectLst>
                  <a:outerShdw blurRad="38100" dist="38100" dir="2700000" algn="tl">
                    <a:srgbClr val="000000">
                      <a:alpha val="43137"/>
                    </a:srgbClr>
                  </a:outerShdw>
                </a:effectLst>
              </a:rPr>
              <a:t>庚烯</a:t>
            </a:r>
            <a:r>
              <a:rPr lang="en-US" altLang="zh-CN" sz="3200" b="1" dirty="0">
                <a:solidFill>
                  <a:srgbClr val="002060"/>
                </a:solidFill>
                <a:effectLst>
                  <a:outerShdw blurRad="38100" dist="38100" dir="2700000" algn="tl">
                    <a:srgbClr val="000000">
                      <a:alpha val="43137"/>
                    </a:srgbClr>
                  </a:outerShdw>
                </a:effectLst>
              </a:rPr>
              <a:t>–5–</a:t>
            </a:r>
            <a:r>
              <a:rPr lang="zh-CN" altLang="en-US" sz="3200" b="1" dirty="0">
                <a:solidFill>
                  <a:srgbClr val="002060"/>
                </a:solidFill>
                <a:effectLst>
                  <a:outerShdw blurRad="38100" dist="38100" dir="2700000" algn="tl">
                    <a:srgbClr val="000000">
                      <a:alpha val="43137"/>
                    </a:srgbClr>
                  </a:outerShdw>
                </a:effectLst>
              </a:rPr>
              <a:t>炔</a:t>
            </a:r>
            <a:endParaRPr lang="en-US" sz="3200" dirty="0"/>
          </a:p>
        </p:txBody>
      </p:sp>
      <p:sp>
        <p:nvSpPr>
          <p:cNvPr id="9" name="Rectangle 8"/>
          <p:cNvSpPr/>
          <p:nvPr/>
        </p:nvSpPr>
        <p:spPr>
          <a:xfrm>
            <a:off x="4930129" y="4419600"/>
            <a:ext cx="4137671" cy="553998"/>
          </a:xfrm>
          <a:prstGeom prst="rect">
            <a:avLst/>
          </a:prstGeom>
        </p:spPr>
        <p:txBody>
          <a:bodyPr wrap="none">
            <a:spAutoFit/>
          </a:bodyPr>
          <a:lstStyle/>
          <a:p>
            <a:r>
              <a:rPr lang="en-US" altLang="zh-CN" sz="3000" b="1" dirty="0">
                <a:solidFill>
                  <a:srgbClr val="002060"/>
                </a:solidFill>
                <a:effectLst>
                  <a:outerShdw blurRad="38100" dist="38100" dir="2700000" algn="tl">
                    <a:srgbClr val="000000">
                      <a:alpha val="43137"/>
                    </a:srgbClr>
                  </a:outerShdw>
                </a:effectLst>
              </a:rPr>
              <a:t>5–</a:t>
            </a:r>
            <a:r>
              <a:rPr lang="zh-CN" altLang="en-US" sz="3000" b="1" dirty="0">
                <a:solidFill>
                  <a:srgbClr val="002060"/>
                </a:solidFill>
                <a:effectLst>
                  <a:outerShdw blurRad="38100" dist="38100" dir="2700000" algn="tl">
                    <a:srgbClr val="000000">
                      <a:alpha val="43137"/>
                    </a:srgbClr>
                  </a:outerShdw>
                </a:effectLst>
              </a:rPr>
              <a:t>乙烯基</a:t>
            </a:r>
            <a:r>
              <a:rPr lang="en-US" altLang="zh-CN" sz="3000" b="1" dirty="0">
                <a:solidFill>
                  <a:srgbClr val="002060"/>
                </a:solidFill>
                <a:effectLst>
                  <a:outerShdw blurRad="38100" dist="38100" dir="2700000" algn="tl">
                    <a:srgbClr val="000000">
                      <a:alpha val="43137"/>
                    </a:srgbClr>
                  </a:outerShdw>
                </a:effectLst>
              </a:rPr>
              <a:t> –2–</a:t>
            </a:r>
            <a:r>
              <a:rPr lang="zh-CN" altLang="en-US" sz="3000" b="1" dirty="0">
                <a:solidFill>
                  <a:srgbClr val="002060"/>
                </a:solidFill>
                <a:effectLst>
                  <a:outerShdw blurRad="38100" dist="38100" dir="2700000" algn="tl">
                    <a:srgbClr val="000000">
                      <a:alpha val="43137"/>
                    </a:srgbClr>
                  </a:outerShdw>
                </a:effectLst>
              </a:rPr>
              <a:t>辛烯</a:t>
            </a:r>
            <a:r>
              <a:rPr lang="en-US" altLang="zh-CN" sz="3000" b="1" dirty="0">
                <a:solidFill>
                  <a:srgbClr val="002060"/>
                </a:solidFill>
                <a:effectLst>
                  <a:outerShdw blurRad="38100" dist="38100" dir="2700000" algn="tl">
                    <a:srgbClr val="000000">
                      <a:alpha val="43137"/>
                    </a:srgbClr>
                  </a:outerShdw>
                </a:effectLst>
              </a:rPr>
              <a:t>–6–</a:t>
            </a:r>
            <a:r>
              <a:rPr lang="zh-CN" altLang="en-US" sz="3000" b="1" dirty="0">
                <a:solidFill>
                  <a:srgbClr val="002060"/>
                </a:solidFill>
                <a:effectLst>
                  <a:outerShdw blurRad="38100" dist="38100" dir="2700000" algn="tl">
                    <a:srgbClr val="000000">
                      <a:alpha val="43137"/>
                    </a:srgbClr>
                  </a:outerShdw>
                </a:effectLst>
              </a:rPr>
              <a:t>炔</a:t>
            </a:r>
            <a:endParaRPr lang="en-US" sz="3000" dirty="0"/>
          </a:p>
        </p:txBody>
      </p:sp>
      <p:pic>
        <p:nvPicPr>
          <p:cNvPr id="10" name="Picture 9" descr="xueting1.jpg"/>
          <p:cNvPicPr>
            <a:picLocks noChangeAspect="1"/>
          </p:cNvPicPr>
          <p:nvPr/>
        </p:nvPicPr>
        <p:blipFill>
          <a:blip r:embed="rId4"/>
          <a:srcRect/>
          <a:stretch>
            <a:fillRect/>
          </a:stretch>
        </p:blipFill>
        <p:spPr>
          <a:xfrm>
            <a:off x="278903" y="1600200"/>
            <a:ext cx="4547097" cy="1143000"/>
          </a:xfrm>
          <a:prstGeom prst="rect">
            <a:avLst/>
          </a:prstGeom>
        </p:spPr>
      </p:pic>
      <p:pic>
        <p:nvPicPr>
          <p:cNvPr id="11" name="Picture 10" descr="xueting1.jpg"/>
          <p:cNvPicPr>
            <a:picLocks noChangeAspect="1"/>
          </p:cNvPicPr>
          <p:nvPr/>
        </p:nvPicPr>
        <p:blipFill>
          <a:blip r:embed="rId5"/>
          <a:srcRect/>
          <a:stretch>
            <a:fillRect/>
          </a:stretch>
        </p:blipFill>
        <p:spPr>
          <a:xfrm>
            <a:off x="76200" y="4191000"/>
            <a:ext cx="4876800" cy="108966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0" y="0"/>
            <a:ext cx="9144000" cy="1202485"/>
          </a:xfrm>
        </p:spPr>
        <p:txBody>
          <a:bodyPr>
            <a:noAutofit/>
          </a:bodyPr>
          <a:lstStyle/>
          <a:p>
            <a:pPr algn="l"/>
            <a:r>
              <a:rPr lang="en-US" altLang="zh-CN" sz="4000" b="1" dirty="0">
                <a:latin typeface="+mn-ea"/>
              </a:rPr>
              <a:t>29.1 </a:t>
            </a:r>
            <a:r>
              <a:rPr lang="zh-CN" altLang="en-US" sz="4000" b="1" dirty="0">
                <a:latin typeface="+mn-ea"/>
              </a:rPr>
              <a:t>炔烃的通式、同分异构体和命名</a:t>
            </a:r>
            <a:endParaRPr lang="en-US" sz="4000" b="1" dirty="0"/>
          </a:p>
        </p:txBody>
      </p:sp>
      <p:sp>
        <p:nvSpPr>
          <p:cNvPr id="3" name="Content Placeholder 2"/>
          <p:cNvSpPr>
            <a:spLocks noGrp="1"/>
          </p:cNvSpPr>
          <p:nvPr>
            <p:ph idx="1"/>
          </p:nvPr>
        </p:nvSpPr>
        <p:spPr>
          <a:xfrm>
            <a:off x="304800" y="838200"/>
            <a:ext cx="8686800" cy="5867400"/>
          </a:xfrm>
        </p:spPr>
        <p:txBody>
          <a:bodyPr>
            <a:noAutofit/>
          </a:bodyPr>
          <a:lstStyle/>
          <a:p>
            <a:pPr>
              <a:lnSpc>
                <a:spcPct val="150000"/>
              </a:lnSpc>
              <a:buNone/>
            </a:pPr>
            <a:r>
              <a:rPr lang="zh-CN" altLang="en-US" sz="3000" dirty="0"/>
              <a:t>补充练习</a:t>
            </a:r>
            <a:endParaRPr lang="en-US" altLang="zh-CN" sz="3000" dirty="0"/>
          </a:p>
          <a:p>
            <a:pPr>
              <a:lnSpc>
                <a:spcPct val="150000"/>
              </a:lnSpc>
              <a:buNone/>
            </a:pPr>
            <a:endParaRPr lang="en-US" altLang="zh-CN" sz="3000" dirty="0"/>
          </a:p>
        </p:txBody>
      </p:sp>
      <p:pic>
        <p:nvPicPr>
          <p:cNvPr id="12" name="Picture 11">
            <a:extLst>
              <a:ext uri="{FF2B5EF4-FFF2-40B4-BE49-F238E27FC236}">
                <a16:creationId xmlns:a16="http://schemas.microsoft.com/office/drawing/2014/main" id="{8DEBA961-C11B-4EC7-B5D7-BE9395651819}"/>
              </a:ext>
            </a:extLst>
          </p:cNvPr>
          <p:cNvPicPr>
            <a:picLocks noChangeAspect="1"/>
          </p:cNvPicPr>
          <p:nvPr/>
        </p:nvPicPr>
        <p:blipFill rotWithShape="1">
          <a:blip r:embed="rId3">
            <a:extLst>
              <a:ext uri="{28A0092B-C50C-407E-A947-70E740481C1C}">
                <a14:useLocalDpi xmlns:a14="http://schemas.microsoft.com/office/drawing/2010/main" val="0"/>
              </a:ext>
            </a:extLst>
          </a:blip>
          <a:srcRect l="7524" t="31910" r="58375" b="54967"/>
          <a:stretch/>
        </p:blipFill>
        <p:spPr>
          <a:xfrm>
            <a:off x="566224" y="1752600"/>
            <a:ext cx="4166345" cy="1202485"/>
          </a:xfrm>
          <a:prstGeom prst="rect">
            <a:avLst/>
          </a:prstGeom>
        </p:spPr>
      </p:pic>
      <p:pic>
        <p:nvPicPr>
          <p:cNvPr id="13" name="Picture 12">
            <a:extLst>
              <a:ext uri="{FF2B5EF4-FFF2-40B4-BE49-F238E27FC236}">
                <a16:creationId xmlns:a16="http://schemas.microsoft.com/office/drawing/2014/main" id="{E5764A6E-499E-41B9-ADE4-E1FBF9B3F3CE}"/>
              </a:ext>
            </a:extLst>
          </p:cNvPr>
          <p:cNvPicPr>
            <a:picLocks noChangeAspect="1"/>
          </p:cNvPicPr>
          <p:nvPr/>
        </p:nvPicPr>
        <p:blipFill rotWithShape="1">
          <a:blip r:embed="rId3">
            <a:extLst>
              <a:ext uri="{28A0092B-C50C-407E-A947-70E740481C1C}">
                <a14:useLocalDpi xmlns:a14="http://schemas.microsoft.com/office/drawing/2010/main" val="0"/>
              </a:ext>
            </a:extLst>
          </a:blip>
          <a:srcRect l="7524" t="49216" r="61340" b="41380"/>
          <a:stretch/>
        </p:blipFill>
        <p:spPr>
          <a:xfrm>
            <a:off x="554053" y="3124200"/>
            <a:ext cx="4170347" cy="944723"/>
          </a:xfrm>
          <a:prstGeom prst="rect">
            <a:avLst/>
          </a:prstGeom>
        </p:spPr>
      </p:pic>
      <p:pic>
        <p:nvPicPr>
          <p:cNvPr id="14" name="Picture 13">
            <a:extLst>
              <a:ext uri="{FF2B5EF4-FFF2-40B4-BE49-F238E27FC236}">
                <a16:creationId xmlns:a16="http://schemas.microsoft.com/office/drawing/2014/main" id="{0B750689-51F3-4192-B135-63C16312B9CB}"/>
              </a:ext>
            </a:extLst>
          </p:cNvPr>
          <p:cNvPicPr>
            <a:picLocks noChangeAspect="1"/>
          </p:cNvPicPr>
          <p:nvPr/>
        </p:nvPicPr>
        <p:blipFill rotWithShape="1">
          <a:blip r:embed="rId3">
            <a:extLst>
              <a:ext uri="{28A0092B-C50C-407E-A947-70E740481C1C}">
                <a14:useLocalDpi xmlns:a14="http://schemas.microsoft.com/office/drawing/2010/main" val="0"/>
              </a:ext>
            </a:extLst>
          </a:blip>
          <a:srcRect l="7525" t="64263" r="54859" b="26333"/>
          <a:stretch/>
        </p:blipFill>
        <p:spPr>
          <a:xfrm>
            <a:off x="630257" y="4191000"/>
            <a:ext cx="4170343" cy="944722"/>
          </a:xfrm>
          <a:prstGeom prst="rect">
            <a:avLst/>
          </a:prstGeom>
        </p:spPr>
      </p:pic>
      <p:pic>
        <p:nvPicPr>
          <p:cNvPr id="15" name="Picture 14">
            <a:extLst>
              <a:ext uri="{FF2B5EF4-FFF2-40B4-BE49-F238E27FC236}">
                <a16:creationId xmlns:a16="http://schemas.microsoft.com/office/drawing/2014/main" id="{1A797644-11FB-4C66-B549-37A186A0C293}"/>
              </a:ext>
            </a:extLst>
          </p:cNvPr>
          <p:cNvPicPr>
            <a:picLocks noChangeAspect="1"/>
          </p:cNvPicPr>
          <p:nvPr/>
        </p:nvPicPr>
        <p:blipFill rotWithShape="1">
          <a:blip r:embed="rId3">
            <a:extLst>
              <a:ext uri="{28A0092B-C50C-407E-A947-70E740481C1C}">
                <a14:useLocalDpi xmlns:a14="http://schemas.microsoft.com/office/drawing/2010/main" val="0"/>
              </a:ext>
            </a:extLst>
          </a:blip>
          <a:srcRect l="42291" t="31310" r="32289" b="62421"/>
          <a:stretch/>
        </p:blipFill>
        <p:spPr>
          <a:xfrm>
            <a:off x="5238808" y="2040685"/>
            <a:ext cx="3385956" cy="626315"/>
          </a:xfrm>
          <a:prstGeom prst="rect">
            <a:avLst/>
          </a:prstGeom>
        </p:spPr>
      </p:pic>
      <p:pic>
        <p:nvPicPr>
          <p:cNvPr id="16" name="Picture 15">
            <a:extLst>
              <a:ext uri="{FF2B5EF4-FFF2-40B4-BE49-F238E27FC236}">
                <a16:creationId xmlns:a16="http://schemas.microsoft.com/office/drawing/2014/main" id="{0E73D58F-A5DF-4EE7-9504-FC321F81F063}"/>
              </a:ext>
            </a:extLst>
          </p:cNvPr>
          <p:cNvPicPr>
            <a:picLocks noChangeAspect="1"/>
          </p:cNvPicPr>
          <p:nvPr/>
        </p:nvPicPr>
        <p:blipFill rotWithShape="1">
          <a:blip r:embed="rId3">
            <a:extLst>
              <a:ext uri="{28A0092B-C50C-407E-A947-70E740481C1C}">
                <a14:useLocalDpi xmlns:a14="http://schemas.microsoft.com/office/drawing/2010/main" val="0"/>
              </a:ext>
            </a:extLst>
          </a:blip>
          <a:srcRect l="42291" t="49446" r="37362" b="42555"/>
          <a:stretch/>
        </p:blipFill>
        <p:spPr>
          <a:xfrm>
            <a:off x="5386848" y="3124200"/>
            <a:ext cx="2842752" cy="838200"/>
          </a:xfrm>
          <a:prstGeom prst="rect">
            <a:avLst/>
          </a:prstGeom>
        </p:spPr>
      </p:pic>
      <p:pic>
        <p:nvPicPr>
          <p:cNvPr id="17" name="Picture 16">
            <a:extLst>
              <a:ext uri="{FF2B5EF4-FFF2-40B4-BE49-F238E27FC236}">
                <a16:creationId xmlns:a16="http://schemas.microsoft.com/office/drawing/2014/main" id="{16EF3E2D-1088-4155-84F7-6EA9E3158685}"/>
              </a:ext>
            </a:extLst>
          </p:cNvPr>
          <p:cNvPicPr>
            <a:picLocks noChangeAspect="1"/>
          </p:cNvPicPr>
          <p:nvPr/>
        </p:nvPicPr>
        <p:blipFill rotWithShape="1">
          <a:blip r:embed="rId3">
            <a:extLst>
              <a:ext uri="{28A0092B-C50C-407E-A947-70E740481C1C}">
                <a14:useLocalDpi xmlns:a14="http://schemas.microsoft.com/office/drawing/2010/main" val="0"/>
              </a:ext>
            </a:extLst>
          </a:blip>
          <a:srcRect l="46304" t="64890" r="32289" b="26333"/>
          <a:stretch/>
        </p:blipFill>
        <p:spPr>
          <a:xfrm>
            <a:off x="5334000" y="4267200"/>
            <a:ext cx="2725743" cy="838200"/>
          </a:xfrm>
          <a:prstGeom prst="rect">
            <a:avLst/>
          </a:prstGeom>
        </p:spPr>
      </p:pic>
    </p:spTree>
    <p:extLst>
      <p:ext uri="{BB962C8B-B14F-4D97-AF65-F5344CB8AC3E}">
        <p14:creationId xmlns:p14="http://schemas.microsoft.com/office/powerpoint/2010/main" val="41298395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炔烃</a:t>
            </a:r>
            <a:r>
              <a:rPr lang="en-US" altLang="zh-CN" sz="3000" dirty="0"/>
              <a:t>C</a:t>
            </a:r>
            <a:r>
              <a:rPr lang="en-US" altLang="zh-CN" sz="3000" baseline="-25000" dirty="0"/>
              <a:t>n</a:t>
            </a:r>
            <a:r>
              <a:rPr lang="en-US" altLang="zh-CN" sz="3000" dirty="0"/>
              <a:t>H</a:t>
            </a:r>
            <a:r>
              <a:rPr lang="en-US" altLang="zh-CN" sz="3000" baseline="-25000" dirty="0"/>
              <a:t>2n-2 </a:t>
            </a:r>
            <a:r>
              <a:rPr lang="en-US" altLang="zh-CN" sz="3000" dirty="0"/>
              <a:t> n≥2</a:t>
            </a:r>
          </a:p>
          <a:p>
            <a:pPr>
              <a:lnSpc>
                <a:spcPct val="150000"/>
              </a:lnSpc>
              <a:buFont typeface="Wingdings" pitchFamily="2" charset="2"/>
              <a:buChar char="Ø"/>
            </a:pPr>
            <a:r>
              <a:rPr lang="zh-CN" altLang="en-US" sz="3000" dirty="0"/>
              <a:t>炔烃的同分异构现象</a:t>
            </a:r>
            <a:r>
              <a:rPr lang="en-US" altLang="zh-CN" sz="3000" dirty="0"/>
              <a:t> n≥4</a:t>
            </a:r>
          </a:p>
          <a:p>
            <a:pPr marL="514350" indent="-514350">
              <a:lnSpc>
                <a:spcPct val="150000"/>
              </a:lnSpc>
              <a:buFont typeface="+mj-lt"/>
              <a:buAutoNum type="arabicPeriod"/>
            </a:pPr>
            <a:r>
              <a:rPr lang="zh-CN" altLang="en-US" sz="3000" dirty="0"/>
              <a:t>位置异构</a:t>
            </a:r>
            <a:endParaRPr lang="en-US" altLang="zh-CN" sz="3000" dirty="0"/>
          </a:p>
          <a:p>
            <a:pPr marL="514350" indent="-514350">
              <a:lnSpc>
                <a:spcPct val="150000"/>
              </a:lnSpc>
              <a:buFont typeface="+mj-lt"/>
              <a:buAutoNum type="arabicPeriod"/>
            </a:pPr>
            <a:r>
              <a:rPr lang="zh-CN" altLang="en-US" sz="3000" dirty="0"/>
              <a:t>碳链异构</a:t>
            </a:r>
            <a:endParaRPr lang="en-US" altLang="zh-CN" sz="3000" dirty="0"/>
          </a:p>
          <a:p>
            <a:pPr marL="514350" indent="-514350">
              <a:lnSpc>
                <a:spcPct val="150000"/>
              </a:lnSpc>
              <a:buFont typeface="+mj-lt"/>
              <a:buAutoNum type="arabicPeriod"/>
            </a:pPr>
            <a:r>
              <a:rPr lang="zh-CN" altLang="en-US" sz="3000" dirty="0"/>
              <a:t>官能团异构</a:t>
            </a: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en-US" altLang="zh-CN" sz="3000" dirty="0"/>
              <a:t>C</a:t>
            </a:r>
            <a:r>
              <a:rPr lang="en-US" altLang="zh-CN" sz="3000" baseline="-25000" dirty="0"/>
              <a:t>5</a:t>
            </a:r>
            <a:r>
              <a:rPr lang="en-US" altLang="zh-CN" sz="3000" dirty="0"/>
              <a:t>H</a:t>
            </a:r>
            <a:r>
              <a:rPr lang="en-US" altLang="zh-CN" sz="3000" baseline="-25000" dirty="0"/>
              <a:t>8</a:t>
            </a:r>
            <a:r>
              <a:rPr lang="zh-CN" altLang="en-US" sz="3000" dirty="0"/>
              <a:t>的炔烃</a:t>
            </a: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pic>
        <p:nvPicPr>
          <p:cNvPr id="8" name="Picture 7" descr="chh.jpg"/>
          <p:cNvPicPr>
            <a:picLocks noChangeAspect="1"/>
          </p:cNvPicPr>
          <p:nvPr/>
        </p:nvPicPr>
        <p:blipFill>
          <a:blip r:embed="rId3"/>
          <a:srcRect/>
          <a:stretch>
            <a:fillRect/>
          </a:stretch>
        </p:blipFill>
        <p:spPr>
          <a:xfrm>
            <a:off x="533400" y="3352800"/>
            <a:ext cx="4953000" cy="990600"/>
          </a:xfrm>
          <a:prstGeom prst="rect">
            <a:avLst/>
          </a:prstGeom>
        </p:spPr>
      </p:pic>
      <p:pic>
        <p:nvPicPr>
          <p:cNvPr id="9" name="Picture 8" descr="chh.jpg"/>
          <p:cNvPicPr>
            <a:picLocks noChangeAspect="1"/>
          </p:cNvPicPr>
          <p:nvPr/>
        </p:nvPicPr>
        <p:blipFill>
          <a:blip r:embed="rId4"/>
          <a:srcRect/>
          <a:stretch>
            <a:fillRect/>
          </a:stretch>
        </p:blipFill>
        <p:spPr>
          <a:xfrm>
            <a:off x="609600" y="1828800"/>
            <a:ext cx="4922520" cy="1295400"/>
          </a:xfrm>
          <a:prstGeom prst="rect">
            <a:avLst/>
          </a:prstGeom>
        </p:spPr>
      </p:pic>
      <p:pic>
        <p:nvPicPr>
          <p:cNvPr id="11" name="Picture 10" descr="chh.jpg"/>
          <p:cNvPicPr>
            <a:picLocks noChangeAspect="1"/>
          </p:cNvPicPr>
          <p:nvPr/>
        </p:nvPicPr>
        <p:blipFill>
          <a:blip r:embed="rId5"/>
          <a:srcRect/>
          <a:stretch>
            <a:fillRect/>
          </a:stretch>
        </p:blipFill>
        <p:spPr>
          <a:xfrm>
            <a:off x="685800" y="4648200"/>
            <a:ext cx="4821382" cy="1600200"/>
          </a:xfrm>
          <a:prstGeom prst="rect">
            <a:avLst/>
          </a:prstGeom>
        </p:spPr>
      </p:pic>
      <p:sp>
        <p:nvSpPr>
          <p:cNvPr id="12" name="Rectangle 11"/>
          <p:cNvSpPr/>
          <p:nvPr/>
        </p:nvSpPr>
        <p:spPr>
          <a:xfrm>
            <a:off x="6172200" y="2158425"/>
            <a:ext cx="1338828" cy="584775"/>
          </a:xfrm>
          <a:prstGeom prst="rect">
            <a:avLst/>
          </a:prstGeom>
        </p:spPr>
        <p:txBody>
          <a:bodyPr wrap="none">
            <a:spAutoFit/>
          </a:bodyPr>
          <a:lstStyle/>
          <a:p>
            <a:pPr>
              <a:buNone/>
            </a:pPr>
            <a:r>
              <a:rPr lang="en-US" altLang="zh-CN" sz="3200" b="1" dirty="0">
                <a:solidFill>
                  <a:srgbClr val="002060"/>
                </a:solidFill>
                <a:effectLst>
                  <a:outerShdw blurRad="38100" dist="38100" dir="2700000" algn="tl">
                    <a:srgbClr val="000000">
                      <a:alpha val="43137"/>
                    </a:srgbClr>
                  </a:outerShdw>
                </a:effectLst>
              </a:rPr>
              <a:t>1-</a:t>
            </a:r>
            <a:r>
              <a:rPr lang="zh-CN" altLang="en-US" sz="3200" b="1" dirty="0">
                <a:solidFill>
                  <a:srgbClr val="002060"/>
                </a:solidFill>
                <a:effectLst>
                  <a:outerShdw blurRad="38100" dist="38100" dir="2700000" algn="tl">
                    <a:srgbClr val="000000">
                      <a:alpha val="43137"/>
                    </a:srgbClr>
                  </a:outerShdw>
                </a:effectLst>
              </a:rPr>
              <a:t>戊炔</a:t>
            </a:r>
            <a:endParaRPr lang="en-US" altLang="zh-CN" sz="3200" b="1" dirty="0">
              <a:solidFill>
                <a:srgbClr val="002060"/>
              </a:solidFill>
              <a:effectLst>
                <a:outerShdw blurRad="38100" dist="38100" dir="2700000" algn="tl">
                  <a:srgbClr val="000000">
                    <a:alpha val="43137"/>
                  </a:srgbClr>
                </a:outerShdw>
              </a:effectLst>
            </a:endParaRPr>
          </a:p>
        </p:txBody>
      </p:sp>
      <p:sp>
        <p:nvSpPr>
          <p:cNvPr id="13" name="Rectangle 12"/>
          <p:cNvSpPr/>
          <p:nvPr/>
        </p:nvSpPr>
        <p:spPr>
          <a:xfrm>
            <a:off x="6172200" y="3530025"/>
            <a:ext cx="1338828" cy="584775"/>
          </a:xfrm>
          <a:prstGeom prst="rect">
            <a:avLst/>
          </a:prstGeom>
        </p:spPr>
        <p:txBody>
          <a:bodyPr wrap="none">
            <a:spAutoFit/>
          </a:bodyPr>
          <a:lstStyle/>
          <a:p>
            <a:pPr>
              <a:buNone/>
            </a:pPr>
            <a:r>
              <a:rPr lang="en-US" altLang="zh-CN" sz="3200" b="1" dirty="0">
                <a:solidFill>
                  <a:srgbClr val="002060"/>
                </a:solidFill>
                <a:effectLst>
                  <a:outerShdw blurRad="38100" dist="38100" dir="2700000" algn="tl">
                    <a:srgbClr val="000000">
                      <a:alpha val="43137"/>
                    </a:srgbClr>
                  </a:outerShdw>
                </a:effectLst>
              </a:rPr>
              <a:t>2-</a:t>
            </a:r>
            <a:r>
              <a:rPr lang="zh-CN" altLang="en-US" sz="3200" b="1" dirty="0">
                <a:solidFill>
                  <a:srgbClr val="002060"/>
                </a:solidFill>
                <a:effectLst>
                  <a:outerShdw blurRad="38100" dist="38100" dir="2700000" algn="tl">
                    <a:srgbClr val="000000">
                      <a:alpha val="43137"/>
                    </a:srgbClr>
                  </a:outerShdw>
                </a:effectLst>
              </a:rPr>
              <a:t>戊炔</a:t>
            </a:r>
            <a:endParaRPr lang="en-US" altLang="zh-CN" sz="3200" b="1" dirty="0">
              <a:solidFill>
                <a:srgbClr val="002060"/>
              </a:solidFill>
              <a:effectLst>
                <a:outerShdw blurRad="38100" dist="38100" dir="2700000" algn="tl">
                  <a:srgbClr val="000000">
                    <a:alpha val="43137"/>
                  </a:srgbClr>
                </a:outerShdw>
              </a:effectLst>
            </a:endParaRPr>
          </a:p>
        </p:txBody>
      </p:sp>
      <p:sp>
        <p:nvSpPr>
          <p:cNvPr id="14" name="Rectangle 13"/>
          <p:cNvSpPr/>
          <p:nvPr/>
        </p:nvSpPr>
        <p:spPr>
          <a:xfrm>
            <a:off x="6068776" y="4876800"/>
            <a:ext cx="2618024" cy="584775"/>
          </a:xfrm>
          <a:prstGeom prst="rect">
            <a:avLst/>
          </a:prstGeom>
        </p:spPr>
        <p:txBody>
          <a:bodyPr wrap="none">
            <a:spAutoFit/>
          </a:bodyPr>
          <a:lstStyle/>
          <a:p>
            <a:pPr>
              <a:buNone/>
            </a:pPr>
            <a:r>
              <a:rPr lang="en-US" altLang="zh-CN" sz="3200" b="1" dirty="0">
                <a:solidFill>
                  <a:srgbClr val="002060"/>
                </a:solidFill>
                <a:effectLst>
                  <a:outerShdw blurRad="38100" dist="38100" dir="2700000" algn="tl">
                    <a:srgbClr val="000000">
                      <a:alpha val="43137"/>
                    </a:srgbClr>
                  </a:outerShdw>
                </a:effectLst>
              </a:rPr>
              <a:t>3-</a:t>
            </a:r>
            <a:r>
              <a:rPr lang="zh-CN" altLang="en-US" sz="3200" b="1" dirty="0">
                <a:solidFill>
                  <a:srgbClr val="002060"/>
                </a:solidFill>
                <a:effectLst>
                  <a:outerShdw blurRad="38100" dist="38100" dir="2700000" algn="tl">
                    <a:srgbClr val="000000">
                      <a:alpha val="43137"/>
                    </a:srgbClr>
                  </a:outerShdw>
                </a:effectLst>
              </a:rPr>
              <a:t>甲基</a:t>
            </a:r>
            <a:r>
              <a:rPr lang="en-US" altLang="zh-CN" sz="3200" b="1" dirty="0">
                <a:solidFill>
                  <a:srgbClr val="002060"/>
                </a:solidFill>
                <a:effectLst>
                  <a:outerShdw blurRad="38100" dist="38100" dir="2700000" algn="tl">
                    <a:srgbClr val="000000">
                      <a:alpha val="43137"/>
                    </a:srgbClr>
                  </a:outerShdw>
                </a:effectLst>
              </a:rPr>
              <a:t>-1-</a:t>
            </a:r>
            <a:r>
              <a:rPr lang="zh-CN" altLang="en-US" sz="3200" b="1" dirty="0">
                <a:solidFill>
                  <a:srgbClr val="002060"/>
                </a:solidFill>
                <a:effectLst>
                  <a:outerShdw blurRad="38100" dist="38100" dir="2700000" algn="tl">
                    <a:srgbClr val="000000">
                      <a:alpha val="43137"/>
                    </a:srgbClr>
                  </a:outerShdw>
                </a:effectLst>
              </a:rPr>
              <a:t>丁炔</a:t>
            </a:r>
            <a:endParaRPr lang="en-US" altLang="zh-CN" sz="32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929732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lnSpc>
                <a:spcPct val="150000"/>
              </a:lnSpc>
              <a:buNone/>
            </a:pPr>
            <a:r>
              <a:rPr lang="zh-CN" altLang="en-US" sz="3000" dirty="0"/>
              <a:t>位置异构和碳链异构</a:t>
            </a: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descr="xueting1.jpg"/>
          <p:cNvPicPr>
            <a:picLocks noChangeAspect="1"/>
          </p:cNvPicPr>
          <p:nvPr/>
        </p:nvPicPr>
        <p:blipFill>
          <a:blip r:embed="rId3"/>
          <a:srcRect r="40475"/>
          <a:stretch>
            <a:fillRect/>
          </a:stretch>
        </p:blipFill>
        <p:spPr>
          <a:xfrm>
            <a:off x="381000" y="1828800"/>
            <a:ext cx="4343400" cy="4267200"/>
          </a:xfrm>
          <a:prstGeom prst="rect">
            <a:avLst/>
          </a:prstGeom>
        </p:spPr>
      </p:pic>
      <p:sp>
        <p:nvSpPr>
          <p:cNvPr id="8" name="Rectangle 7"/>
          <p:cNvSpPr/>
          <p:nvPr/>
        </p:nvSpPr>
        <p:spPr>
          <a:xfrm>
            <a:off x="5029200" y="2209800"/>
            <a:ext cx="1515158"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1– </a:t>
            </a:r>
            <a:r>
              <a:rPr lang="zh-CN" altLang="en-US" sz="3200" b="1" dirty="0">
                <a:solidFill>
                  <a:srgbClr val="002060"/>
                </a:solidFill>
                <a:effectLst>
                  <a:outerShdw blurRad="38100" dist="38100" dir="2700000" algn="tl">
                    <a:srgbClr val="000000">
                      <a:alpha val="43137"/>
                    </a:srgbClr>
                  </a:outerShdw>
                </a:effectLst>
              </a:rPr>
              <a:t>戊炔</a:t>
            </a:r>
            <a:endParaRPr lang="en-US" sz="3200" dirty="0"/>
          </a:p>
        </p:txBody>
      </p:sp>
      <p:sp>
        <p:nvSpPr>
          <p:cNvPr id="9" name="Rectangle 8"/>
          <p:cNvSpPr/>
          <p:nvPr/>
        </p:nvSpPr>
        <p:spPr>
          <a:xfrm>
            <a:off x="5029200" y="3149025"/>
            <a:ext cx="1515158"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2– </a:t>
            </a:r>
            <a:r>
              <a:rPr lang="zh-CN" altLang="en-US" sz="3200" b="1" dirty="0">
                <a:solidFill>
                  <a:srgbClr val="002060"/>
                </a:solidFill>
                <a:effectLst>
                  <a:outerShdw blurRad="38100" dist="38100" dir="2700000" algn="tl">
                    <a:srgbClr val="000000">
                      <a:alpha val="43137"/>
                    </a:srgbClr>
                  </a:outerShdw>
                </a:effectLst>
              </a:rPr>
              <a:t>戊炔</a:t>
            </a:r>
            <a:endParaRPr lang="en-US" sz="3200" dirty="0"/>
          </a:p>
        </p:txBody>
      </p:sp>
      <p:sp>
        <p:nvSpPr>
          <p:cNvPr id="10" name="Rectangle 9"/>
          <p:cNvSpPr/>
          <p:nvPr/>
        </p:nvSpPr>
        <p:spPr>
          <a:xfrm>
            <a:off x="5029200" y="3987225"/>
            <a:ext cx="2957861"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3–</a:t>
            </a:r>
            <a:r>
              <a:rPr lang="zh-CN" altLang="en-US" sz="3200" b="1" dirty="0">
                <a:solidFill>
                  <a:srgbClr val="002060"/>
                </a:solidFill>
                <a:effectLst>
                  <a:outerShdw blurRad="38100" dist="38100" dir="2700000" algn="tl">
                    <a:srgbClr val="000000">
                      <a:alpha val="43137"/>
                    </a:srgbClr>
                  </a:outerShdw>
                </a:effectLst>
              </a:rPr>
              <a:t>甲基</a:t>
            </a:r>
            <a:r>
              <a:rPr lang="en-US" altLang="zh-CN" sz="3200" b="1" dirty="0">
                <a:solidFill>
                  <a:srgbClr val="002060"/>
                </a:solidFill>
                <a:effectLst>
                  <a:outerShdw blurRad="38100" dist="38100" dir="2700000" algn="tl">
                    <a:srgbClr val="000000">
                      <a:alpha val="43137"/>
                    </a:srgbClr>
                  </a:outerShdw>
                </a:effectLst>
              </a:rPr>
              <a:t> –1–</a:t>
            </a:r>
            <a:r>
              <a:rPr lang="zh-CN" altLang="en-US" sz="3200" b="1" dirty="0">
                <a:solidFill>
                  <a:srgbClr val="002060"/>
                </a:solidFill>
                <a:effectLst>
                  <a:outerShdw blurRad="38100" dist="38100" dir="2700000" algn="tl">
                    <a:srgbClr val="000000">
                      <a:alpha val="43137"/>
                    </a:srgbClr>
                  </a:outerShdw>
                </a:effectLst>
              </a:rPr>
              <a:t>丁炔</a:t>
            </a:r>
            <a:endParaRPr lang="en-US" sz="32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14400"/>
            <a:ext cx="8686800" cy="5867400"/>
          </a:xfrm>
        </p:spPr>
        <p:txBody>
          <a:bodyPr>
            <a:noAutofit/>
          </a:bodyPr>
          <a:lstStyle/>
          <a:p>
            <a:pPr>
              <a:lnSpc>
                <a:spcPct val="150000"/>
              </a:lnSpc>
              <a:buNone/>
            </a:pPr>
            <a:r>
              <a:rPr lang="zh-CN" altLang="en-US" sz="3000" dirty="0"/>
              <a:t>二烯烃</a:t>
            </a:r>
            <a:endParaRPr lang="en-US" altLang="zh-CN" sz="3000" dirty="0"/>
          </a:p>
          <a:p>
            <a:pPr>
              <a:lnSpc>
                <a:spcPct val="150000"/>
              </a:lnSpc>
              <a:buNone/>
            </a:pPr>
            <a:endParaRPr lang="en-US" altLang="zh-CN" sz="3000" dirty="0"/>
          </a:p>
        </p:txBody>
      </p:sp>
      <p:pic>
        <p:nvPicPr>
          <p:cNvPr id="6" name="Picture 5" descr="二烯烃的命名.jpg"/>
          <p:cNvPicPr>
            <a:picLocks noChangeAspect="1"/>
          </p:cNvPicPr>
          <p:nvPr/>
        </p:nvPicPr>
        <p:blipFill>
          <a:blip r:embed="rId3"/>
          <a:srcRect/>
          <a:stretch>
            <a:fillRect/>
          </a:stretch>
        </p:blipFill>
        <p:spPr>
          <a:xfrm>
            <a:off x="533420" y="1600200"/>
            <a:ext cx="3809980" cy="5181600"/>
          </a:xfrm>
          <a:prstGeom prst="rect">
            <a:avLst/>
          </a:prstGeom>
        </p:spPr>
      </p:pic>
      <p:sp>
        <p:nvSpPr>
          <p:cNvPr id="11" name="Rectangle 10"/>
          <p:cNvSpPr/>
          <p:nvPr/>
        </p:nvSpPr>
        <p:spPr>
          <a:xfrm>
            <a:off x="4724400" y="2036802"/>
            <a:ext cx="3664786" cy="553998"/>
          </a:xfrm>
          <a:prstGeom prst="rect">
            <a:avLst/>
          </a:prstGeom>
        </p:spPr>
        <p:txBody>
          <a:bodyPr wrap="none">
            <a:spAutoFit/>
          </a:bodyPr>
          <a:lstStyle/>
          <a:p>
            <a:r>
              <a:rPr lang="zh-CN" altLang="en-US" sz="3000" b="1" dirty="0">
                <a:solidFill>
                  <a:srgbClr val="002060"/>
                </a:solidFill>
                <a:effectLst>
                  <a:outerShdw blurRad="38100" dist="38100" dir="2700000" algn="tl">
                    <a:srgbClr val="000000">
                      <a:alpha val="43137"/>
                    </a:srgbClr>
                  </a:outerShdw>
                </a:effectLst>
              </a:rPr>
              <a:t>顺，顺</a:t>
            </a:r>
            <a:r>
              <a:rPr lang="en-US" altLang="zh-CN" sz="3000" b="1" dirty="0">
                <a:solidFill>
                  <a:srgbClr val="002060"/>
                </a:solidFill>
                <a:effectLst>
                  <a:outerShdw blurRad="38100" dist="38100" dir="2700000" algn="tl">
                    <a:srgbClr val="000000">
                      <a:alpha val="43137"/>
                    </a:srgbClr>
                  </a:outerShdw>
                </a:effectLst>
              </a:rPr>
              <a:t>–2</a:t>
            </a:r>
            <a:r>
              <a:rPr lang="zh-CN" altLang="en-US" sz="3000" b="1" dirty="0">
                <a:solidFill>
                  <a:srgbClr val="002060"/>
                </a:solidFill>
                <a:effectLst>
                  <a:outerShdw blurRad="38100" dist="38100" dir="2700000" algn="tl">
                    <a:srgbClr val="000000">
                      <a:alpha val="43137"/>
                    </a:srgbClr>
                  </a:outerShdw>
                </a:effectLst>
              </a:rPr>
              <a:t>，</a:t>
            </a:r>
            <a:r>
              <a:rPr lang="en-US" altLang="zh-CN" sz="3000" b="1" dirty="0">
                <a:solidFill>
                  <a:srgbClr val="002060"/>
                </a:solidFill>
                <a:effectLst>
                  <a:outerShdw blurRad="38100" dist="38100" dir="2700000" algn="tl">
                    <a:srgbClr val="000000">
                      <a:alpha val="43137"/>
                    </a:srgbClr>
                  </a:outerShdw>
                </a:effectLst>
              </a:rPr>
              <a:t>4–</a:t>
            </a:r>
            <a:r>
              <a:rPr lang="zh-CN" altLang="en-US" sz="3000" b="1" dirty="0">
                <a:solidFill>
                  <a:srgbClr val="002060"/>
                </a:solidFill>
                <a:effectLst>
                  <a:outerShdw blurRad="38100" dist="38100" dir="2700000" algn="tl">
                    <a:srgbClr val="000000">
                      <a:alpha val="43137"/>
                    </a:srgbClr>
                  </a:outerShdw>
                </a:effectLst>
              </a:rPr>
              <a:t>己二烯</a:t>
            </a:r>
            <a:endParaRPr lang="en-US" sz="3000" dirty="0"/>
          </a:p>
        </p:txBody>
      </p:sp>
      <p:sp>
        <p:nvSpPr>
          <p:cNvPr id="12" name="Rectangle 11"/>
          <p:cNvSpPr/>
          <p:nvPr/>
        </p:nvSpPr>
        <p:spPr>
          <a:xfrm>
            <a:off x="4724400" y="3637002"/>
            <a:ext cx="3664786" cy="553998"/>
          </a:xfrm>
          <a:prstGeom prst="rect">
            <a:avLst/>
          </a:prstGeom>
        </p:spPr>
        <p:txBody>
          <a:bodyPr wrap="none">
            <a:spAutoFit/>
          </a:bodyPr>
          <a:lstStyle/>
          <a:p>
            <a:r>
              <a:rPr lang="zh-CN" altLang="en-US" sz="3000" b="1" dirty="0">
                <a:solidFill>
                  <a:srgbClr val="002060"/>
                </a:solidFill>
                <a:effectLst>
                  <a:outerShdw blurRad="38100" dist="38100" dir="2700000" algn="tl">
                    <a:srgbClr val="000000">
                      <a:alpha val="43137"/>
                    </a:srgbClr>
                  </a:outerShdw>
                </a:effectLst>
              </a:rPr>
              <a:t>顺，反</a:t>
            </a:r>
            <a:r>
              <a:rPr lang="en-US" altLang="zh-CN" sz="3000" b="1" dirty="0">
                <a:solidFill>
                  <a:srgbClr val="002060"/>
                </a:solidFill>
                <a:effectLst>
                  <a:outerShdw blurRad="38100" dist="38100" dir="2700000" algn="tl">
                    <a:srgbClr val="000000">
                      <a:alpha val="43137"/>
                    </a:srgbClr>
                  </a:outerShdw>
                </a:effectLst>
              </a:rPr>
              <a:t>–2</a:t>
            </a:r>
            <a:r>
              <a:rPr lang="zh-CN" altLang="en-US" sz="3000" b="1" dirty="0">
                <a:solidFill>
                  <a:srgbClr val="002060"/>
                </a:solidFill>
                <a:effectLst>
                  <a:outerShdw blurRad="38100" dist="38100" dir="2700000" algn="tl">
                    <a:srgbClr val="000000">
                      <a:alpha val="43137"/>
                    </a:srgbClr>
                  </a:outerShdw>
                </a:effectLst>
              </a:rPr>
              <a:t>，</a:t>
            </a:r>
            <a:r>
              <a:rPr lang="en-US" altLang="zh-CN" sz="3000" b="1" dirty="0">
                <a:solidFill>
                  <a:srgbClr val="002060"/>
                </a:solidFill>
                <a:effectLst>
                  <a:outerShdw blurRad="38100" dist="38100" dir="2700000" algn="tl">
                    <a:srgbClr val="000000">
                      <a:alpha val="43137"/>
                    </a:srgbClr>
                  </a:outerShdw>
                </a:effectLst>
              </a:rPr>
              <a:t>4–</a:t>
            </a:r>
            <a:r>
              <a:rPr lang="zh-CN" altLang="en-US" sz="3000" b="1" dirty="0">
                <a:solidFill>
                  <a:srgbClr val="002060"/>
                </a:solidFill>
                <a:effectLst>
                  <a:outerShdw blurRad="38100" dist="38100" dir="2700000" algn="tl">
                    <a:srgbClr val="000000">
                      <a:alpha val="43137"/>
                    </a:srgbClr>
                  </a:outerShdw>
                </a:effectLst>
              </a:rPr>
              <a:t>己二烯</a:t>
            </a:r>
            <a:endParaRPr lang="en-US" sz="3000" dirty="0"/>
          </a:p>
        </p:txBody>
      </p:sp>
      <p:sp>
        <p:nvSpPr>
          <p:cNvPr id="13" name="Rectangle 12"/>
          <p:cNvSpPr/>
          <p:nvPr/>
        </p:nvSpPr>
        <p:spPr>
          <a:xfrm>
            <a:off x="4724400" y="5334000"/>
            <a:ext cx="3664786" cy="553998"/>
          </a:xfrm>
          <a:prstGeom prst="rect">
            <a:avLst/>
          </a:prstGeom>
        </p:spPr>
        <p:txBody>
          <a:bodyPr wrap="none">
            <a:spAutoFit/>
          </a:bodyPr>
          <a:lstStyle/>
          <a:p>
            <a:r>
              <a:rPr lang="zh-CN" altLang="en-US" sz="3000" b="1" dirty="0">
                <a:solidFill>
                  <a:srgbClr val="002060"/>
                </a:solidFill>
                <a:effectLst>
                  <a:outerShdw blurRad="38100" dist="38100" dir="2700000" algn="tl">
                    <a:srgbClr val="000000">
                      <a:alpha val="43137"/>
                    </a:srgbClr>
                  </a:outerShdw>
                </a:effectLst>
              </a:rPr>
              <a:t>反，反</a:t>
            </a:r>
            <a:r>
              <a:rPr lang="en-US" altLang="zh-CN" sz="3000" b="1" dirty="0">
                <a:solidFill>
                  <a:srgbClr val="002060"/>
                </a:solidFill>
                <a:effectLst>
                  <a:outerShdw blurRad="38100" dist="38100" dir="2700000" algn="tl">
                    <a:srgbClr val="000000">
                      <a:alpha val="43137"/>
                    </a:srgbClr>
                  </a:outerShdw>
                </a:effectLst>
              </a:rPr>
              <a:t>–2</a:t>
            </a:r>
            <a:r>
              <a:rPr lang="zh-CN" altLang="en-US" sz="3000" b="1" dirty="0">
                <a:solidFill>
                  <a:srgbClr val="002060"/>
                </a:solidFill>
                <a:effectLst>
                  <a:outerShdw blurRad="38100" dist="38100" dir="2700000" algn="tl">
                    <a:srgbClr val="000000">
                      <a:alpha val="43137"/>
                    </a:srgbClr>
                  </a:outerShdw>
                </a:effectLst>
              </a:rPr>
              <a:t>，</a:t>
            </a:r>
            <a:r>
              <a:rPr lang="en-US" altLang="zh-CN" sz="3000" b="1" dirty="0">
                <a:solidFill>
                  <a:srgbClr val="002060"/>
                </a:solidFill>
                <a:effectLst>
                  <a:outerShdw blurRad="38100" dist="38100" dir="2700000" algn="tl">
                    <a:srgbClr val="000000">
                      <a:alpha val="43137"/>
                    </a:srgbClr>
                  </a:outerShdw>
                </a:effectLst>
              </a:rPr>
              <a:t>4–</a:t>
            </a:r>
            <a:r>
              <a:rPr lang="zh-CN" altLang="en-US" sz="3000" b="1" dirty="0">
                <a:solidFill>
                  <a:srgbClr val="002060"/>
                </a:solidFill>
                <a:effectLst>
                  <a:outerShdw blurRad="38100" dist="38100" dir="2700000" algn="tl">
                    <a:srgbClr val="000000">
                      <a:alpha val="43137"/>
                    </a:srgbClr>
                  </a:outerShdw>
                </a:effectLst>
              </a:rPr>
              <a:t>己二烯</a:t>
            </a:r>
            <a:endParaRPr lang="en-US" sz="3000" dirty="0"/>
          </a:p>
        </p:txBody>
      </p:sp>
      <p:sp>
        <p:nvSpPr>
          <p:cNvPr id="10"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14400"/>
            <a:ext cx="8686800" cy="5867400"/>
          </a:xfrm>
        </p:spPr>
        <p:txBody>
          <a:bodyPr>
            <a:noAutofit/>
          </a:bodyPr>
          <a:lstStyle/>
          <a:p>
            <a:pPr>
              <a:lnSpc>
                <a:spcPct val="150000"/>
              </a:lnSpc>
              <a:buNone/>
            </a:pPr>
            <a:endParaRPr lang="en-US" altLang="zh-CN" sz="3000" dirty="0"/>
          </a:p>
        </p:txBody>
      </p:sp>
      <p:pic>
        <p:nvPicPr>
          <p:cNvPr id="6" name="Picture 5" descr="二烯烃的命名.jpg"/>
          <p:cNvPicPr>
            <a:picLocks noChangeAspect="1"/>
          </p:cNvPicPr>
          <p:nvPr/>
        </p:nvPicPr>
        <p:blipFill>
          <a:blip r:embed="rId3"/>
          <a:srcRect/>
          <a:stretch>
            <a:fillRect/>
          </a:stretch>
        </p:blipFill>
        <p:spPr>
          <a:xfrm>
            <a:off x="123520" y="1143000"/>
            <a:ext cx="8944280" cy="3733800"/>
          </a:xfrm>
          <a:prstGeom prst="rect">
            <a:avLst/>
          </a:prstGeom>
        </p:spPr>
      </p:pic>
      <p:sp>
        <p:nvSpPr>
          <p:cNvPr id="11" name="Rectangle 10"/>
          <p:cNvSpPr/>
          <p:nvPr/>
        </p:nvSpPr>
        <p:spPr>
          <a:xfrm>
            <a:off x="152400" y="4876800"/>
            <a:ext cx="3283271" cy="584775"/>
          </a:xfrm>
          <a:prstGeom prst="rect">
            <a:avLst/>
          </a:prstGeom>
        </p:spPr>
        <p:txBody>
          <a:bodyPr wrap="none">
            <a:spAutoFit/>
          </a:bodyPr>
          <a:lstStyle/>
          <a:p>
            <a:r>
              <a:rPr lang="zh-CN" altLang="en-US" sz="3200" b="1" dirty="0">
                <a:solidFill>
                  <a:srgbClr val="002060"/>
                </a:solidFill>
                <a:effectLst>
                  <a:outerShdw blurRad="38100" dist="38100" dir="2700000" algn="tl">
                    <a:srgbClr val="000000">
                      <a:alpha val="43137"/>
                    </a:srgbClr>
                  </a:outerShdw>
                </a:effectLst>
              </a:rPr>
              <a:t>顺</a:t>
            </a:r>
            <a:r>
              <a:rPr lang="en-US" altLang="zh-CN" sz="3200" b="1" dirty="0">
                <a:solidFill>
                  <a:srgbClr val="002060"/>
                </a:solidFill>
                <a:effectLst>
                  <a:outerShdw blurRad="38100" dist="38100" dir="2700000" algn="tl">
                    <a:srgbClr val="000000">
                      <a:alpha val="43137"/>
                    </a:srgbClr>
                  </a:outerShdw>
                </a:effectLst>
              </a:rPr>
              <a:t>,</a:t>
            </a:r>
            <a:r>
              <a:rPr lang="zh-CN" altLang="en-US" sz="3200" b="1" dirty="0">
                <a:solidFill>
                  <a:srgbClr val="002060"/>
                </a:solidFill>
                <a:effectLst>
                  <a:outerShdw blurRad="38100" dist="38100" dir="2700000" algn="tl">
                    <a:srgbClr val="000000">
                      <a:alpha val="43137"/>
                    </a:srgbClr>
                  </a:outerShdw>
                </a:effectLst>
              </a:rPr>
              <a:t>顺</a:t>
            </a:r>
            <a:r>
              <a:rPr lang="en-US" altLang="zh-CN" sz="3200" b="1" dirty="0">
                <a:solidFill>
                  <a:srgbClr val="002060"/>
                </a:solidFill>
                <a:effectLst>
                  <a:outerShdw blurRad="38100" dist="38100" dir="2700000" algn="tl">
                    <a:srgbClr val="000000">
                      <a:alpha val="43137"/>
                    </a:srgbClr>
                  </a:outerShdw>
                </a:effectLst>
              </a:rPr>
              <a:t>–2,5–</a:t>
            </a:r>
            <a:r>
              <a:rPr lang="zh-CN" altLang="en-US" sz="3200" b="1" dirty="0">
                <a:solidFill>
                  <a:srgbClr val="002060"/>
                </a:solidFill>
                <a:effectLst>
                  <a:outerShdw blurRad="38100" dist="38100" dir="2700000" algn="tl">
                    <a:srgbClr val="000000">
                      <a:alpha val="43137"/>
                    </a:srgbClr>
                  </a:outerShdw>
                </a:effectLst>
              </a:rPr>
              <a:t>庚二烯</a:t>
            </a:r>
            <a:endParaRPr lang="en-US" sz="3200" dirty="0"/>
          </a:p>
        </p:txBody>
      </p:sp>
      <p:sp>
        <p:nvSpPr>
          <p:cNvPr id="12" name="Rectangle 11"/>
          <p:cNvSpPr/>
          <p:nvPr/>
        </p:nvSpPr>
        <p:spPr>
          <a:xfrm>
            <a:off x="3276600" y="5496580"/>
            <a:ext cx="3283271" cy="584775"/>
          </a:xfrm>
          <a:prstGeom prst="rect">
            <a:avLst/>
          </a:prstGeom>
        </p:spPr>
        <p:txBody>
          <a:bodyPr wrap="none">
            <a:spAutoFit/>
          </a:bodyPr>
          <a:lstStyle/>
          <a:p>
            <a:r>
              <a:rPr lang="zh-CN" altLang="en-US" sz="3200" b="1" dirty="0">
                <a:solidFill>
                  <a:srgbClr val="002060"/>
                </a:solidFill>
                <a:effectLst>
                  <a:outerShdw blurRad="38100" dist="38100" dir="2700000" algn="tl">
                    <a:srgbClr val="000000">
                      <a:alpha val="43137"/>
                    </a:srgbClr>
                  </a:outerShdw>
                </a:effectLst>
              </a:rPr>
              <a:t>顺</a:t>
            </a:r>
            <a:r>
              <a:rPr lang="en-US" altLang="zh-CN" sz="3200" b="1" dirty="0">
                <a:solidFill>
                  <a:srgbClr val="002060"/>
                </a:solidFill>
                <a:effectLst>
                  <a:outerShdw blurRad="38100" dist="38100" dir="2700000" algn="tl">
                    <a:srgbClr val="000000">
                      <a:alpha val="43137"/>
                    </a:srgbClr>
                  </a:outerShdw>
                </a:effectLst>
              </a:rPr>
              <a:t>,</a:t>
            </a:r>
            <a:r>
              <a:rPr lang="zh-CN" altLang="en-US" sz="3200" b="1" dirty="0">
                <a:solidFill>
                  <a:srgbClr val="002060"/>
                </a:solidFill>
                <a:effectLst>
                  <a:outerShdw blurRad="38100" dist="38100" dir="2700000" algn="tl">
                    <a:srgbClr val="000000">
                      <a:alpha val="43137"/>
                    </a:srgbClr>
                  </a:outerShdw>
                </a:effectLst>
              </a:rPr>
              <a:t>反</a:t>
            </a:r>
            <a:r>
              <a:rPr lang="en-US" altLang="zh-CN" sz="3200" b="1" dirty="0">
                <a:solidFill>
                  <a:srgbClr val="002060"/>
                </a:solidFill>
                <a:effectLst>
                  <a:outerShdw blurRad="38100" dist="38100" dir="2700000" algn="tl">
                    <a:srgbClr val="000000">
                      <a:alpha val="43137"/>
                    </a:srgbClr>
                  </a:outerShdw>
                </a:effectLst>
              </a:rPr>
              <a:t>–2,5–</a:t>
            </a:r>
            <a:r>
              <a:rPr lang="zh-CN" altLang="en-US" sz="3200" b="1" dirty="0">
                <a:solidFill>
                  <a:srgbClr val="002060"/>
                </a:solidFill>
                <a:effectLst>
                  <a:outerShdw blurRad="38100" dist="38100" dir="2700000" algn="tl">
                    <a:srgbClr val="000000">
                      <a:alpha val="43137"/>
                    </a:srgbClr>
                  </a:outerShdw>
                </a:effectLst>
              </a:rPr>
              <a:t>庚二烯</a:t>
            </a:r>
            <a:endParaRPr lang="en-US" sz="3200" dirty="0"/>
          </a:p>
        </p:txBody>
      </p:sp>
      <p:sp>
        <p:nvSpPr>
          <p:cNvPr id="13" name="Rectangle 12"/>
          <p:cNvSpPr/>
          <p:nvPr/>
        </p:nvSpPr>
        <p:spPr>
          <a:xfrm>
            <a:off x="6129289" y="4876800"/>
            <a:ext cx="3283271" cy="584775"/>
          </a:xfrm>
          <a:prstGeom prst="rect">
            <a:avLst/>
          </a:prstGeom>
        </p:spPr>
        <p:txBody>
          <a:bodyPr wrap="none">
            <a:spAutoFit/>
          </a:bodyPr>
          <a:lstStyle/>
          <a:p>
            <a:r>
              <a:rPr lang="zh-CN" altLang="en-US" sz="3200" b="1" dirty="0">
                <a:solidFill>
                  <a:srgbClr val="002060"/>
                </a:solidFill>
                <a:effectLst>
                  <a:outerShdw blurRad="38100" dist="38100" dir="2700000" algn="tl">
                    <a:srgbClr val="000000">
                      <a:alpha val="43137"/>
                    </a:srgbClr>
                  </a:outerShdw>
                </a:effectLst>
              </a:rPr>
              <a:t>反</a:t>
            </a:r>
            <a:r>
              <a:rPr lang="en-US" altLang="zh-CN" sz="3200" b="1" dirty="0">
                <a:solidFill>
                  <a:srgbClr val="002060"/>
                </a:solidFill>
                <a:effectLst>
                  <a:outerShdw blurRad="38100" dist="38100" dir="2700000" algn="tl">
                    <a:srgbClr val="000000">
                      <a:alpha val="43137"/>
                    </a:srgbClr>
                  </a:outerShdw>
                </a:effectLst>
              </a:rPr>
              <a:t>,</a:t>
            </a:r>
            <a:r>
              <a:rPr lang="zh-CN" altLang="en-US" sz="3200" b="1" dirty="0">
                <a:solidFill>
                  <a:srgbClr val="002060"/>
                </a:solidFill>
                <a:effectLst>
                  <a:outerShdw blurRad="38100" dist="38100" dir="2700000" algn="tl">
                    <a:srgbClr val="000000">
                      <a:alpha val="43137"/>
                    </a:srgbClr>
                  </a:outerShdw>
                </a:effectLst>
              </a:rPr>
              <a:t>反</a:t>
            </a:r>
            <a:r>
              <a:rPr lang="en-US" altLang="zh-CN" sz="3200" b="1" dirty="0">
                <a:solidFill>
                  <a:srgbClr val="002060"/>
                </a:solidFill>
                <a:effectLst>
                  <a:outerShdw blurRad="38100" dist="38100" dir="2700000" algn="tl">
                    <a:srgbClr val="000000">
                      <a:alpha val="43137"/>
                    </a:srgbClr>
                  </a:outerShdw>
                </a:effectLst>
              </a:rPr>
              <a:t>–2,5–</a:t>
            </a:r>
            <a:r>
              <a:rPr lang="zh-CN" altLang="en-US" sz="3200" b="1" dirty="0">
                <a:solidFill>
                  <a:srgbClr val="002060"/>
                </a:solidFill>
                <a:effectLst>
                  <a:outerShdw blurRad="38100" dist="38100" dir="2700000" algn="tl">
                    <a:srgbClr val="000000">
                      <a:alpha val="43137"/>
                    </a:srgbClr>
                  </a:outerShdw>
                </a:effectLst>
              </a:rPr>
              <a:t>庚二烯</a:t>
            </a:r>
            <a:endParaRPr lang="en-US" sz="3200" dirty="0"/>
          </a:p>
        </p:txBody>
      </p:sp>
      <p:sp>
        <p:nvSpPr>
          <p:cNvPr id="14"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lnSpc>
                <a:spcPct val="150000"/>
              </a:lnSpc>
              <a:buNone/>
            </a:pPr>
            <a:r>
              <a:rPr lang="zh-CN" altLang="en-US" sz="3000" dirty="0"/>
              <a:t>环烯烃</a:t>
            </a: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descr="huan.jpg"/>
          <p:cNvPicPr>
            <a:picLocks noChangeAspect="1"/>
          </p:cNvPicPr>
          <p:nvPr/>
        </p:nvPicPr>
        <p:blipFill>
          <a:blip r:embed="rId3"/>
          <a:srcRect/>
          <a:stretch>
            <a:fillRect/>
          </a:stretch>
        </p:blipFill>
        <p:spPr>
          <a:xfrm>
            <a:off x="5181600" y="1676400"/>
            <a:ext cx="2209800" cy="3124200"/>
          </a:xfrm>
          <a:prstGeom prst="rect">
            <a:avLst/>
          </a:prstGeom>
        </p:spPr>
      </p:pic>
      <p:pic>
        <p:nvPicPr>
          <p:cNvPr id="8" name="Picture 7" descr="huan1.jpg"/>
          <p:cNvPicPr>
            <a:picLocks noChangeAspect="1"/>
          </p:cNvPicPr>
          <p:nvPr/>
        </p:nvPicPr>
        <p:blipFill>
          <a:blip r:embed="rId4"/>
          <a:srcRect/>
          <a:stretch>
            <a:fillRect/>
          </a:stretch>
        </p:blipFill>
        <p:spPr>
          <a:xfrm>
            <a:off x="838200" y="1676400"/>
            <a:ext cx="2057400" cy="3048000"/>
          </a:xfrm>
          <a:prstGeom prst="rect">
            <a:avLst/>
          </a:prstGeom>
        </p:spPr>
      </p:pic>
      <p:sp>
        <p:nvSpPr>
          <p:cNvPr id="10" name="Rectangle 9"/>
          <p:cNvSpPr/>
          <p:nvPr/>
        </p:nvSpPr>
        <p:spPr>
          <a:xfrm>
            <a:off x="0" y="4977825"/>
            <a:ext cx="4309193"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3</a:t>
            </a:r>
            <a:r>
              <a:rPr lang="zh-CN" altLang="en-US" sz="3200" b="1" dirty="0">
                <a:solidFill>
                  <a:srgbClr val="002060"/>
                </a:solidFill>
                <a:effectLst>
                  <a:outerShdw blurRad="38100" dist="38100" dir="2700000" algn="tl">
                    <a:srgbClr val="000000">
                      <a:alpha val="43137"/>
                    </a:srgbClr>
                  </a:outerShdw>
                </a:effectLst>
              </a:rPr>
              <a:t>，</a:t>
            </a:r>
            <a:r>
              <a:rPr lang="en-US" altLang="zh-CN" sz="3200" b="1" dirty="0">
                <a:solidFill>
                  <a:srgbClr val="002060"/>
                </a:solidFill>
                <a:effectLst>
                  <a:outerShdw blurRad="38100" dist="38100" dir="2700000" algn="tl">
                    <a:srgbClr val="000000">
                      <a:alpha val="43137"/>
                    </a:srgbClr>
                  </a:outerShdw>
                </a:effectLst>
              </a:rPr>
              <a:t>6–</a:t>
            </a:r>
            <a:r>
              <a:rPr lang="zh-CN" altLang="en-US" sz="3200" b="1" dirty="0">
                <a:solidFill>
                  <a:srgbClr val="002060"/>
                </a:solidFill>
                <a:effectLst>
                  <a:outerShdw blurRad="38100" dist="38100" dir="2700000" algn="tl">
                    <a:srgbClr val="000000">
                      <a:alpha val="43137"/>
                    </a:srgbClr>
                  </a:outerShdw>
                </a:effectLst>
              </a:rPr>
              <a:t>二甲基</a:t>
            </a:r>
            <a:r>
              <a:rPr lang="en-US" altLang="zh-CN" sz="3200" b="1" dirty="0">
                <a:solidFill>
                  <a:srgbClr val="002060"/>
                </a:solidFill>
                <a:effectLst>
                  <a:outerShdw blurRad="38100" dist="38100" dir="2700000" algn="tl">
                    <a:srgbClr val="000000">
                      <a:alpha val="43137"/>
                    </a:srgbClr>
                  </a:outerShdw>
                </a:effectLst>
              </a:rPr>
              <a:t>–1–</a:t>
            </a:r>
            <a:r>
              <a:rPr lang="zh-CN" altLang="en-US" sz="3200" b="1" dirty="0">
                <a:solidFill>
                  <a:srgbClr val="002060"/>
                </a:solidFill>
                <a:effectLst>
                  <a:outerShdw blurRad="38100" dist="38100" dir="2700000" algn="tl">
                    <a:srgbClr val="000000">
                      <a:alpha val="43137"/>
                    </a:srgbClr>
                  </a:outerShdw>
                </a:effectLst>
              </a:rPr>
              <a:t>环己烯</a:t>
            </a:r>
            <a:endParaRPr lang="en-US" sz="3200" dirty="0"/>
          </a:p>
        </p:txBody>
      </p:sp>
      <p:sp>
        <p:nvSpPr>
          <p:cNvPr id="11" name="Rectangle 10"/>
          <p:cNvSpPr/>
          <p:nvPr/>
        </p:nvSpPr>
        <p:spPr>
          <a:xfrm>
            <a:off x="4724400" y="4977825"/>
            <a:ext cx="4309193" cy="584775"/>
          </a:xfrm>
          <a:prstGeom prst="rect">
            <a:avLst/>
          </a:prstGeom>
        </p:spPr>
        <p:txBody>
          <a:bodyPr wrap="none">
            <a:spAutoFit/>
          </a:bodyPr>
          <a:lstStyle/>
          <a:p>
            <a:r>
              <a:rPr lang="en-US" altLang="zh-CN" sz="3200" b="1" dirty="0">
                <a:solidFill>
                  <a:srgbClr val="002060"/>
                </a:solidFill>
                <a:effectLst>
                  <a:outerShdw blurRad="38100" dist="38100" dir="2700000" algn="tl">
                    <a:srgbClr val="000000">
                      <a:alpha val="43137"/>
                    </a:srgbClr>
                  </a:outerShdw>
                </a:effectLst>
              </a:rPr>
              <a:t>1</a:t>
            </a:r>
            <a:r>
              <a:rPr lang="zh-CN" altLang="en-US" sz="3200" b="1" dirty="0">
                <a:solidFill>
                  <a:srgbClr val="002060"/>
                </a:solidFill>
                <a:effectLst>
                  <a:outerShdw blurRad="38100" dist="38100" dir="2700000" algn="tl">
                    <a:srgbClr val="000000">
                      <a:alpha val="43137"/>
                    </a:srgbClr>
                  </a:outerShdw>
                </a:effectLst>
              </a:rPr>
              <a:t>，</a:t>
            </a:r>
            <a:r>
              <a:rPr lang="en-US" altLang="zh-CN" sz="3200" b="1" dirty="0">
                <a:solidFill>
                  <a:srgbClr val="002060"/>
                </a:solidFill>
                <a:effectLst>
                  <a:outerShdw blurRad="38100" dist="38100" dir="2700000" algn="tl">
                    <a:srgbClr val="000000">
                      <a:alpha val="43137"/>
                    </a:srgbClr>
                  </a:outerShdw>
                </a:effectLst>
              </a:rPr>
              <a:t>6–</a:t>
            </a:r>
            <a:r>
              <a:rPr lang="zh-CN" altLang="en-US" sz="3200" b="1" dirty="0">
                <a:solidFill>
                  <a:srgbClr val="002060"/>
                </a:solidFill>
                <a:effectLst>
                  <a:outerShdw blurRad="38100" dist="38100" dir="2700000" algn="tl">
                    <a:srgbClr val="000000">
                      <a:alpha val="43137"/>
                    </a:srgbClr>
                  </a:outerShdw>
                </a:effectLst>
              </a:rPr>
              <a:t>二甲基</a:t>
            </a:r>
            <a:r>
              <a:rPr lang="en-US" altLang="zh-CN" sz="3200" b="1" dirty="0">
                <a:solidFill>
                  <a:srgbClr val="002060"/>
                </a:solidFill>
                <a:effectLst>
                  <a:outerShdw blurRad="38100" dist="38100" dir="2700000" algn="tl">
                    <a:srgbClr val="000000">
                      <a:alpha val="43137"/>
                    </a:srgbClr>
                  </a:outerShdw>
                </a:effectLst>
              </a:rPr>
              <a:t>–1–</a:t>
            </a:r>
            <a:r>
              <a:rPr lang="zh-CN" altLang="en-US" sz="3200" b="1" dirty="0">
                <a:solidFill>
                  <a:srgbClr val="002060"/>
                </a:solidFill>
                <a:effectLst>
                  <a:outerShdw blurRad="38100" dist="38100" dir="2700000" algn="tl">
                    <a:srgbClr val="000000">
                      <a:alpha val="43137"/>
                    </a:srgbClr>
                  </a:outerShdw>
                </a:effectLst>
              </a:rPr>
              <a:t>环己烯</a:t>
            </a:r>
            <a:endParaRPr lang="en-US" sz="32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zh-CN" altLang="en-US" sz="3000" dirty="0"/>
              <a:t>问题解决</a:t>
            </a:r>
            <a:r>
              <a:rPr lang="en-MY" altLang="zh-CN" sz="3000" dirty="0"/>
              <a:t>pg95</a:t>
            </a:r>
          </a:p>
          <a:p>
            <a:pPr>
              <a:buNone/>
            </a:pPr>
            <a:r>
              <a:rPr lang="en-US" altLang="zh-CN" sz="3000" dirty="0"/>
              <a:t>C</a:t>
            </a:r>
            <a:r>
              <a:rPr lang="en-US" altLang="zh-CN" sz="3000" baseline="-25000" dirty="0"/>
              <a:t>6</a:t>
            </a:r>
            <a:r>
              <a:rPr lang="en-US" altLang="zh-CN" sz="3000" dirty="0"/>
              <a:t>H</a:t>
            </a:r>
            <a:r>
              <a:rPr lang="en-US" altLang="zh-CN" sz="3000" baseline="-25000" dirty="0"/>
              <a:t>10</a:t>
            </a:r>
            <a:r>
              <a:rPr lang="zh-CN" altLang="en-US" sz="3000" dirty="0"/>
              <a:t>的炔烃</a:t>
            </a:r>
            <a:endParaRPr lang="en-MY" dirty="0"/>
          </a:p>
          <a:p>
            <a:pPr>
              <a:buNone/>
            </a:pPr>
            <a:r>
              <a:rPr lang="en-MY" dirty="0"/>
              <a:t>CH≡C-CH</a:t>
            </a:r>
            <a:r>
              <a:rPr lang="en-MY" baseline="-25000" dirty="0"/>
              <a:t>2</a:t>
            </a:r>
            <a:r>
              <a:rPr lang="en-MY" dirty="0"/>
              <a:t>CH</a:t>
            </a:r>
            <a:r>
              <a:rPr lang="en-MY" baseline="-25000" dirty="0"/>
              <a:t>2</a:t>
            </a:r>
            <a:r>
              <a:rPr lang="en-MY" dirty="0"/>
              <a:t>CH</a:t>
            </a:r>
            <a:r>
              <a:rPr lang="en-MY" baseline="-25000" dirty="0"/>
              <a:t>2</a:t>
            </a:r>
            <a:r>
              <a:rPr lang="en-MY" dirty="0"/>
              <a:t>CH</a:t>
            </a:r>
            <a:r>
              <a:rPr lang="en-MY" baseline="-25000" dirty="0"/>
              <a:t>3</a:t>
            </a:r>
            <a:r>
              <a:rPr lang="en-MY" dirty="0"/>
              <a:t> 		</a:t>
            </a:r>
            <a:r>
              <a:rPr lang="zh-CN" altLang="en-US" dirty="0"/>
              <a:t>（</a:t>
            </a:r>
            <a:r>
              <a:rPr lang="en-MY" dirty="0"/>
              <a:t>1-</a:t>
            </a:r>
            <a:r>
              <a:rPr lang="zh-CN" altLang="en-US" dirty="0"/>
              <a:t>己炔）</a:t>
            </a:r>
            <a:endParaRPr lang="en-MY" altLang="zh-CN" sz="2800" dirty="0"/>
          </a:p>
          <a:p>
            <a:pPr>
              <a:buNone/>
            </a:pPr>
            <a:r>
              <a:rPr lang="en-MY" dirty="0"/>
              <a:t>CH</a:t>
            </a:r>
            <a:r>
              <a:rPr lang="en-MY" baseline="-25000" dirty="0"/>
              <a:t>3</a:t>
            </a:r>
            <a:r>
              <a:rPr lang="en-MY" dirty="0"/>
              <a:t>-C≡C-CH</a:t>
            </a:r>
            <a:r>
              <a:rPr lang="en-MY" baseline="-25000" dirty="0"/>
              <a:t>2</a:t>
            </a:r>
            <a:r>
              <a:rPr lang="en-MY" dirty="0"/>
              <a:t>CH</a:t>
            </a:r>
            <a:r>
              <a:rPr lang="en-MY" baseline="-25000" dirty="0"/>
              <a:t>2</a:t>
            </a:r>
            <a:r>
              <a:rPr lang="en-MY" dirty="0"/>
              <a:t>CH</a:t>
            </a:r>
            <a:r>
              <a:rPr lang="en-MY" baseline="-25000" dirty="0"/>
              <a:t>3</a:t>
            </a:r>
            <a:r>
              <a:rPr lang="zh-CN" altLang="en-US" baseline="-25000" dirty="0"/>
              <a:t> </a:t>
            </a:r>
            <a:r>
              <a:rPr lang="zh-CN" altLang="en-US" dirty="0"/>
              <a:t> </a:t>
            </a:r>
            <a:r>
              <a:rPr lang="en-MY" altLang="zh-CN" dirty="0"/>
              <a:t>		</a:t>
            </a:r>
            <a:r>
              <a:rPr lang="zh-CN" altLang="en-US" dirty="0"/>
              <a:t>（</a:t>
            </a:r>
            <a:r>
              <a:rPr lang="en-MY" dirty="0"/>
              <a:t>2-</a:t>
            </a:r>
            <a:r>
              <a:rPr lang="zh-CN" altLang="en-US" dirty="0"/>
              <a:t>己炔）</a:t>
            </a:r>
            <a:endParaRPr lang="en-MY" altLang="zh-CN" sz="2800" dirty="0"/>
          </a:p>
          <a:p>
            <a:pPr>
              <a:buNone/>
            </a:pPr>
            <a:r>
              <a:rPr lang="en-MY" dirty="0"/>
              <a:t>HC ≡ C-CH(CH</a:t>
            </a:r>
            <a:r>
              <a:rPr lang="en-MY" baseline="-25000" dirty="0"/>
              <a:t>3</a:t>
            </a:r>
            <a:r>
              <a:rPr lang="en-MY" dirty="0"/>
              <a:t>)CH</a:t>
            </a:r>
            <a:r>
              <a:rPr lang="en-MY" baseline="-25000" dirty="0"/>
              <a:t>2</a:t>
            </a:r>
            <a:r>
              <a:rPr lang="en-MY" dirty="0"/>
              <a:t>CH</a:t>
            </a:r>
            <a:r>
              <a:rPr lang="en-MY" baseline="-25000" dirty="0"/>
              <a:t>3</a:t>
            </a:r>
            <a:r>
              <a:rPr lang="en-MY" dirty="0"/>
              <a:t> 	</a:t>
            </a:r>
            <a:r>
              <a:rPr lang="zh-CN" altLang="en-US" dirty="0"/>
              <a:t>（</a:t>
            </a:r>
            <a:r>
              <a:rPr lang="en-MY" dirty="0"/>
              <a:t>3-</a:t>
            </a:r>
            <a:r>
              <a:rPr lang="zh-CN" altLang="en-US" dirty="0"/>
              <a:t>甲基</a:t>
            </a:r>
            <a:r>
              <a:rPr lang="en-US" altLang="zh-CN" dirty="0"/>
              <a:t>1-</a:t>
            </a:r>
            <a:r>
              <a:rPr lang="zh-CN" altLang="en-US" dirty="0"/>
              <a:t>戊炔）</a:t>
            </a:r>
            <a:endParaRPr lang="en-MY" altLang="zh-CN" sz="2800" dirty="0"/>
          </a:p>
          <a:p>
            <a:pPr>
              <a:buNone/>
            </a:pPr>
            <a:r>
              <a:rPr lang="en-MY" dirty="0"/>
              <a:t>HC ≡ CCH</a:t>
            </a:r>
            <a:r>
              <a:rPr lang="en-US" baseline="-25000" dirty="0"/>
              <a:t>2</a:t>
            </a:r>
            <a:r>
              <a:rPr lang="en-MY" dirty="0"/>
              <a:t>CH(CH</a:t>
            </a:r>
            <a:r>
              <a:rPr lang="en-MY" baseline="-25000" dirty="0"/>
              <a:t>3</a:t>
            </a:r>
            <a:r>
              <a:rPr lang="en-MY" dirty="0"/>
              <a:t>)</a:t>
            </a:r>
            <a:r>
              <a:rPr lang="en-MY" baseline="-25000" dirty="0"/>
              <a:t>2</a:t>
            </a:r>
            <a:r>
              <a:rPr lang="en-MY" dirty="0"/>
              <a:t> 		</a:t>
            </a:r>
            <a:r>
              <a:rPr lang="zh-CN" altLang="en-US" dirty="0"/>
              <a:t>（</a:t>
            </a:r>
            <a:r>
              <a:rPr lang="en-MY" dirty="0"/>
              <a:t>4-</a:t>
            </a:r>
            <a:r>
              <a:rPr lang="zh-CN" altLang="en-US" dirty="0"/>
              <a:t>甲基</a:t>
            </a:r>
            <a:r>
              <a:rPr lang="en-US" altLang="zh-CN" dirty="0"/>
              <a:t>1-</a:t>
            </a:r>
            <a:r>
              <a:rPr lang="zh-CN" altLang="en-US" dirty="0"/>
              <a:t>戊炔）</a:t>
            </a:r>
            <a:endParaRPr lang="en-MY" altLang="zh-CN" sz="2800" dirty="0"/>
          </a:p>
          <a:p>
            <a:pPr>
              <a:buNone/>
            </a:pPr>
            <a:r>
              <a:rPr lang="en-MY" dirty="0"/>
              <a:t>CH</a:t>
            </a:r>
            <a:r>
              <a:rPr lang="en-MY" baseline="-25000" dirty="0"/>
              <a:t>3</a:t>
            </a:r>
            <a:r>
              <a:rPr lang="en-MY" dirty="0"/>
              <a:t>C ≡ CCH(CH</a:t>
            </a:r>
            <a:r>
              <a:rPr lang="en-MY" baseline="-25000" dirty="0"/>
              <a:t>3</a:t>
            </a:r>
            <a:r>
              <a:rPr lang="en-MY" dirty="0"/>
              <a:t>)</a:t>
            </a:r>
            <a:r>
              <a:rPr lang="en-MY" baseline="-25000" dirty="0"/>
              <a:t>2</a:t>
            </a:r>
            <a:r>
              <a:rPr lang="en-MY" dirty="0"/>
              <a:t> 		</a:t>
            </a:r>
            <a:r>
              <a:rPr lang="zh-CN" altLang="en-US" dirty="0"/>
              <a:t>（</a:t>
            </a:r>
            <a:r>
              <a:rPr lang="en-MY" dirty="0"/>
              <a:t>4-</a:t>
            </a:r>
            <a:r>
              <a:rPr lang="zh-CN" altLang="en-US" dirty="0"/>
              <a:t>甲基</a:t>
            </a:r>
            <a:r>
              <a:rPr lang="en-US" altLang="zh-CN" dirty="0"/>
              <a:t>2-</a:t>
            </a:r>
            <a:r>
              <a:rPr lang="zh-CN" altLang="en-US" dirty="0"/>
              <a:t>戊炔）</a:t>
            </a:r>
            <a:endParaRPr lang="en-US" altLang="zh-CN" sz="3000" dirty="0"/>
          </a:p>
          <a:p>
            <a:pPr>
              <a:buNone/>
            </a:pPr>
            <a:r>
              <a:rPr lang="en-MY" dirty="0"/>
              <a:t>HC ≡ C-C(CH</a:t>
            </a:r>
            <a:r>
              <a:rPr lang="en-MY" baseline="-25000" dirty="0"/>
              <a:t>3</a:t>
            </a:r>
            <a:r>
              <a:rPr lang="en-MY" dirty="0"/>
              <a:t>)</a:t>
            </a:r>
            <a:r>
              <a:rPr lang="en-MY" baseline="-25000" dirty="0"/>
              <a:t>2</a:t>
            </a:r>
            <a:r>
              <a:rPr lang="en-MY" dirty="0"/>
              <a:t>CH</a:t>
            </a:r>
            <a:r>
              <a:rPr lang="en-MY" baseline="-25000" dirty="0"/>
              <a:t>3</a:t>
            </a:r>
            <a:r>
              <a:rPr lang="en-MY" dirty="0"/>
              <a:t> 		</a:t>
            </a:r>
            <a:r>
              <a:rPr lang="zh-CN" altLang="en-US" dirty="0"/>
              <a:t>（</a:t>
            </a:r>
            <a:r>
              <a:rPr lang="en-MY" dirty="0"/>
              <a:t>3,3-</a:t>
            </a:r>
            <a:r>
              <a:rPr lang="zh-CN" altLang="en-US" dirty="0"/>
              <a:t>二甲基</a:t>
            </a:r>
            <a:r>
              <a:rPr lang="en-US" altLang="zh-CN" dirty="0"/>
              <a:t>1-</a:t>
            </a:r>
            <a:r>
              <a:rPr lang="zh-CN" altLang="en-US" dirty="0"/>
              <a:t>丁炔）</a:t>
            </a:r>
            <a:endParaRPr lang="en-MY" altLang="zh-CN" sz="2800" dirty="0"/>
          </a:p>
          <a:p>
            <a:pPr>
              <a:buNone/>
            </a:pPr>
            <a:endParaRPr lang="en-US" altLang="zh-CN" sz="3000" dirty="0"/>
          </a:p>
          <a:p>
            <a:pPr>
              <a:buNone/>
            </a:pPr>
            <a:endParaRPr lang="en-US" altLang="zh-CN" sz="3000" dirty="0"/>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000" b="1" dirty="0">
                <a:latin typeface="+mn-ea"/>
              </a:rPr>
              <a:t>29.1 </a:t>
            </a:r>
            <a:r>
              <a:rPr lang="zh-CN" altLang="en-US" sz="4000" b="1" dirty="0">
                <a:latin typeface="+mn-ea"/>
              </a:rPr>
              <a:t>炔烃的通式、同分异构体和命名</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buAutoNum type="arabicPeriod"/>
                </a:pPr>
                <a:r>
                  <a:rPr lang="zh-CN" altLang="en-US" sz="3000" dirty="0"/>
                  <a:t>烷烃 </a:t>
                </a:r>
                <a:r>
                  <a:rPr lang="en-US" altLang="zh-CN" sz="3000" dirty="0"/>
                  <a:t>C</a:t>
                </a:r>
                <a:r>
                  <a:rPr lang="en-US" altLang="zh-CN" sz="3000" baseline="-25000" dirty="0"/>
                  <a:t>n</a:t>
                </a:r>
                <a:r>
                  <a:rPr lang="en-US" altLang="zh-CN" sz="3000" dirty="0"/>
                  <a:t> H</a:t>
                </a:r>
                <a:r>
                  <a:rPr lang="en-US" altLang="zh-CN" sz="3000" baseline="-25000" dirty="0"/>
                  <a:t>2n+2</a:t>
                </a:r>
                <a:r>
                  <a:rPr lang="en-US" altLang="zh-CN" sz="3000" dirty="0"/>
                  <a:t> </a:t>
                </a:r>
                <a:r>
                  <a:rPr lang="zh-CN" altLang="en-US" sz="3000" dirty="0"/>
                  <a:t>若含一个三键，少</a:t>
                </a:r>
                <a:r>
                  <a:rPr lang="en-US" altLang="zh-CN" sz="3000" dirty="0"/>
                  <a:t>4H</a:t>
                </a:r>
              </a:p>
              <a:p>
                <a:pPr marL="0" indent="0">
                  <a:buNone/>
                </a:pPr>
                <a:r>
                  <a:rPr lang="en-US" altLang="zh-CN" sz="3000" dirty="0"/>
                  <a:t> </a:t>
                </a:r>
                <a:r>
                  <a:rPr lang="zh-CN" altLang="en-US" sz="3000" dirty="0"/>
                  <a:t>若是烷烃则，</a:t>
                </a:r>
                <a:r>
                  <a:rPr lang="en-US" altLang="zh-CN" sz="3000" dirty="0"/>
                  <a:t>C</a:t>
                </a:r>
                <a:r>
                  <a:rPr lang="en-US" altLang="zh-CN" sz="3000" baseline="-25000" dirty="0"/>
                  <a:t>200</a:t>
                </a:r>
                <a:r>
                  <a:rPr lang="en-US" altLang="zh-CN" sz="3000" dirty="0"/>
                  <a:t>H</a:t>
                </a:r>
                <a:r>
                  <a:rPr lang="en-US" altLang="zh-CN" sz="3000" baseline="-25000" dirty="0"/>
                  <a:t>402</a:t>
                </a:r>
                <a:r>
                  <a:rPr lang="en-US" altLang="zh-CN" sz="3000" dirty="0"/>
                  <a:t> </a:t>
                </a:r>
              </a:p>
              <a:p>
                <a:pPr marL="0" indent="0">
                  <a:buNone/>
                </a:pPr>
                <a:r>
                  <a:rPr lang="zh-CN" altLang="en-US" sz="3000" dirty="0"/>
                  <a:t>少了 </a:t>
                </a:r>
                <a:r>
                  <a:rPr lang="en-US" altLang="zh-CN" sz="3000" dirty="0"/>
                  <a:t>202</a:t>
                </a:r>
                <a:r>
                  <a:rPr lang="zh-CN" altLang="en-US" sz="3000" dirty="0"/>
                  <a:t>个</a:t>
                </a:r>
                <a:r>
                  <a:rPr lang="en-US" altLang="zh-CN" sz="3000" dirty="0"/>
                  <a:t>H</a:t>
                </a:r>
              </a:p>
              <a:p>
                <a:pPr marL="0" indent="0">
                  <a:buNone/>
                </a:pPr>
                <a:r>
                  <a:rPr lang="en-US" altLang="zh-CN" sz="3000" dirty="0"/>
                  <a:t>C≡</a:t>
                </a:r>
                <a:r>
                  <a:rPr lang="en-MY" altLang="zh-CN" sz="3000" dirty="0"/>
                  <a:t>C</a:t>
                </a:r>
                <a:r>
                  <a:rPr lang="zh-CN" altLang="en-US" sz="3000" dirty="0"/>
                  <a:t>最多</a:t>
                </a:r>
                <a:r>
                  <a:rPr lang="en-US" altLang="zh-CN" sz="3000" dirty="0"/>
                  <a:t> </a:t>
                </a:r>
                <a14:m>
                  <m:oMath xmlns:m="http://schemas.openxmlformats.org/officeDocument/2006/math">
                    <m:f>
                      <m:fPr>
                        <m:ctrlPr>
                          <a:rPr lang="en-US" altLang="zh-CN" sz="3000" i="1" smtClean="0">
                            <a:latin typeface="Cambria Math" panose="02040503050406030204" pitchFamily="18" charset="0"/>
                          </a:rPr>
                        </m:ctrlPr>
                      </m:fPr>
                      <m:num>
                        <m:r>
                          <a:rPr lang="en-US" altLang="zh-CN" sz="3000" i="1">
                            <a:latin typeface="Cambria Math" panose="02040503050406030204" pitchFamily="18" charset="0"/>
                          </a:rPr>
                          <m:t>202</m:t>
                        </m:r>
                      </m:num>
                      <m:den>
                        <m:r>
                          <a:rPr lang="en-US" altLang="zh-CN" sz="3000" i="1" smtClean="0">
                            <a:latin typeface="Cambria Math" panose="02040503050406030204" pitchFamily="18" charset="0"/>
                          </a:rPr>
                          <m:t>4</m:t>
                        </m:r>
                      </m:den>
                    </m:f>
                  </m:oMath>
                </a14:m>
                <a:r>
                  <a:rPr lang="zh-CN" altLang="en-US" sz="3000" dirty="0"/>
                  <a:t>个 </a:t>
                </a:r>
                <a:endParaRPr lang="en-MY" altLang="zh-CN" sz="3000" dirty="0"/>
              </a:p>
              <a:p>
                <a:pPr marL="0" indent="0">
                  <a:buNone/>
                </a:pPr>
                <a:r>
                  <a:rPr lang="en-US" altLang="zh-CN" sz="3000" dirty="0"/>
                  <a:t>Ans: B </a:t>
                </a:r>
              </a:p>
              <a:p>
                <a:pPr marL="0" indent="0">
                  <a:buNone/>
                </a:pPr>
                <a:r>
                  <a:rPr lang="en-US" altLang="zh-CN" sz="3000" dirty="0"/>
                  <a:t>2. D</a:t>
                </a:r>
              </a:p>
              <a:p>
                <a:pPr marL="0" indent="0">
                  <a:buNone/>
                </a:pPr>
                <a:r>
                  <a:rPr lang="zh-CN" altLang="en-US" sz="3000" dirty="0"/>
                  <a:t>若该</a:t>
                </a:r>
                <a:r>
                  <a:rPr lang="en-US" altLang="zh-CN" sz="3000" dirty="0"/>
                  <a:t>C</a:t>
                </a:r>
                <a:r>
                  <a:rPr lang="zh-CN" altLang="en-US" sz="3000" dirty="0"/>
                  <a:t>没有</a:t>
                </a:r>
                <a:r>
                  <a:rPr lang="en-US" altLang="zh-CN" sz="3000" dirty="0"/>
                  <a:t>2</a:t>
                </a:r>
                <a:r>
                  <a:rPr lang="zh-CN" altLang="en-US" sz="3000" dirty="0"/>
                  <a:t>个</a:t>
                </a:r>
                <a:r>
                  <a:rPr lang="en-US" altLang="zh-CN" sz="3000" dirty="0"/>
                  <a:t>H</a:t>
                </a:r>
                <a:r>
                  <a:rPr lang="zh-CN" altLang="en-US" sz="3000" dirty="0"/>
                  <a:t>则它原本不可能是</a:t>
                </a:r>
                <a:r>
                  <a:rPr lang="en-US" altLang="zh-CN" sz="3000" dirty="0"/>
                  <a:t>C≡C</a:t>
                </a:r>
                <a:r>
                  <a:rPr lang="zh-CN" altLang="en-US" sz="3000" dirty="0"/>
                  <a:t>。</a:t>
                </a:r>
                <a:endParaRPr lang="en-US" altLang="zh-CN" sz="3000" dirty="0"/>
              </a:p>
              <a:p>
                <a:pPr>
                  <a:buNone/>
                </a:pPr>
                <a:endParaRPr lang="en-US" altLang="zh-CN" sz="3000" dirty="0"/>
              </a:p>
              <a:p>
                <a:pPr>
                  <a:buNone/>
                </a:pPr>
                <a:endParaRPr lang="en-US" altLang="zh-CN" sz="3000" dirty="0"/>
              </a:p>
              <a:p>
                <a:pPr lvl="1">
                  <a:buNone/>
                </a:pPr>
                <a:endParaRPr lang="en-US" altLang="zh-CN"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84" t="-1767"/>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000" b="1" dirty="0">
                <a:latin typeface="+mn-ea"/>
              </a:rPr>
              <a:t>思考题 </a:t>
            </a:r>
            <a:r>
              <a:rPr lang="en-US" altLang="zh-CN" sz="4000" b="1" dirty="0">
                <a:latin typeface="+mn-ea"/>
              </a:rPr>
              <a:t>29a</a:t>
            </a:r>
            <a:endParaRPr kumimoji="0" lang="en-US" sz="40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36173780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rcRect b="32222"/>
          <a:stretch>
            <a:fillRect/>
          </a:stretch>
        </p:blipFill>
        <p:spPr>
          <a:xfrm>
            <a:off x="0" y="0"/>
            <a:ext cx="9144000" cy="4648200"/>
          </a:xfrm>
          <a:prstGeom prst="rect">
            <a:avLst/>
          </a:prstGeom>
        </p:spPr>
      </p:pic>
      <p:sp>
        <p:nvSpPr>
          <p:cNvPr id="3" name="Content Placeholder 2"/>
          <p:cNvSpPr>
            <a:spLocks noGrp="1"/>
          </p:cNvSpPr>
          <p:nvPr>
            <p:ph idx="1"/>
          </p:nvPr>
        </p:nvSpPr>
        <p:spPr>
          <a:xfrm>
            <a:off x="304800" y="990600"/>
            <a:ext cx="8686800" cy="5181600"/>
          </a:xfrm>
        </p:spPr>
        <p:txBody>
          <a:bodyPr>
            <a:noAutofit/>
          </a:bodyPr>
          <a:lstStyle/>
          <a:p>
            <a:pPr marL="0" indent="0">
              <a:lnSpc>
                <a:spcPct val="150000"/>
              </a:lnSpc>
              <a:buNone/>
            </a:pPr>
            <a:r>
              <a:rPr lang="zh-CN" altLang="en-US" sz="3000" dirty="0"/>
              <a:t>观察思考</a:t>
            </a:r>
            <a:r>
              <a:rPr lang="en-MY" altLang="zh-CN" sz="3000" dirty="0"/>
              <a:t>pg96</a:t>
            </a:r>
          </a:p>
          <a:p>
            <a:pPr marL="0" indent="0">
              <a:lnSpc>
                <a:spcPct val="150000"/>
              </a:lnSpc>
              <a:buNone/>
            </a:pPr>
            <a:r>
              <a:rPr lang="zh-CN" altLang="en-US" sz="3000" dirty="0"/>
              <a:t>乙炔</a:t>
            </a:r>
            <a:endParaRPr lang="en-MY" altLang="zh-CN" sz="3000" dirty="0"/>
          </a:p>
          <a:p>
            <a:pPr>
              <a:lnSpc>
                <a:spcPct val="150000"/>
              </a:lnSpc>
              <a:buFont typeface="Wingdings" pitchFamily="2" charset="2"/>
              <a:buChar char="Ø"/>
            </a:pPr>
            <a:r>
              <a:rPr lang="zh-CN" altLang="en-US" sz="3000" dirty="0"/>
              <a:t>分子式 </a:t>
            </a:r>
            <a:r>
              <a:rPr lang="en-US" altLang="zh-CN" sz="3000" dirty="0"/>
              <a:t>C</a:t>
            </a:r>
            <a:r>
              <a:rPr lang="en-US" altLang="zh-CN" sz="3000" baseline="-25000" dirty="0"/>
              <a:t>2</a:t>
            </a:r>
            <a:r>
              <a:rPr lang="en-US" altLang="zh-CN" sz="3000" dirty="0"/>
              <a:t> H</a:t>
            </a:r>
            <a:r>
              <a:rPr lang="en-US" altLang="zh-CN" sz="3000" baseline="-25000" dirty="0"/>
              <a:t>2</a:t>
            </a:r>
            <a:r>
              <a:rPr lang="en-US" altLang="zh-CN" sz="3000" dirty="0"/>
              <a:t> </a:t>
            </a:r>
          </a:p>
          <a:p>
            <a:pPr>
              <a:lnSpc>
                <a:spcPct val="150000"/>
              </a:lnSpc>
              <a:buFont typeface="Wingdings" pitchFamily="2" charset="2"/>
              <a:buChar char="Ø"/>
            </a:pPr>
            <a:r>
              <a:rPr lang="zh-CN" altLang="en-US" sz="3000" dirty="0"/>
              <a:t>结构式 </a:t>
            </a:r>
            <a:r>
              <a:rPr lang="en-US" altLang="zh-CN" sz="3000" dirty="0"/>
              <a:t>H-C≡C-H</a:t>
            </a:r>
          </a:p>
          <a:p>
            <a:pPr>
              <a:lnSpc>
                <a:spcPct val="150000"/>
              </a:lnSpc>
              <a:buFont typeface="Wingdings" pitchFamily="2" charset="2"/>
              <a:buChar char="Ø"/>
            </a:pPr>
            <a:r>
              <a:rPr lang="zh-CN" altLang="en-US" sz="3000" dirty="0"/>
              <a:t>结构简式 </a:t>
            </a:r>
            <a:r>
              <a:rPr lang="en-US" altLang="zh-CN" sz="3000" dirty="0"/>
              <a:t>HC≡CH</a:t>
            </a:r>
          </a:p>
          <a:p>
            <a:pPr>
              <a:lnSpc>
                <a:spcPct val="150000"/>
              </a:lnSpc>
              <a:buFont typeface="Wingdings" pitchFamily="2" charset="2"/>
              <a:buChar char="Ø"/>
            </a:pPr>
            <a:r>
              <a:rPr lang="zh-CN" altLang="en-US" sz="3000" dirty="0"/>
              <a:t>电子式 </a:t>
            </a:r>
            <a:r>
              <a:rPr lang="en-US" altLang="zh-CN" sz="3000" dirty="0"/>
              <a:t>H▪◦C       </a:t>
            </a:r>
            <a:r>
              <a:rPr lang="en-US" altLang="zh-CN" sz="3000" dirty="0" err="1"/>
              <a:t>C</a:t>
            </a:r>
            <a:r>
              <a:rPr lang="en-US" altLang="zh-CN" sz="3000" dirty="0"/>
              <a:t>◦ ▪ H</a:t>
            </a:r>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29.2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结构</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grpSp>
        <p:nvGrpSpPr>
          <p:cNvPr id="15" name="Group 14">
            <a:extLst>
              <a:ext uri="{FF2B5EF4-FFF2-40B4-BE49-F238E27FC236}">
                <a16:creationId xmlns:a16="http://schemas.microsoft.com/office/drawing/2014/main" id="{26E78AAC-D04E-4863-9952-396C620F077C}"/>
              </a:ext>
            </a:extLst>
          </p:cNvPr>
          <p:cNvGrpSpPr/>
          <p:nvPr/>
        </p:nvGrpSpPr>
        <p:grpSpPr>
          <a:xfrm>
            <a:off x="2971800" y="4948535"/>
            <a:ext cx="576772" cy="766465"/>
            <a:chOff x="6172200" y="3048000"/>
            <a:chExt cx="576772" cy="766465"/>
          </a:xfrm>
        </p:grpSpPr>
        <p:sp>
          <p:nvSpPr>
            <p:cNvPr id="2" name="TextBox 1">
              <a:extLst>
                <a:ext uri="{FF2B5EF4-FFF2-40B4-BE49-F238E27FC236}">
                  <a16:creationId xmlns:a16="http://schemas.microsoft.com/office/drawing/2014/main" id="{D9F2F410-6C9F-4F62-A75E-B34838E49BC6}"/>
                </a:ext>
              </a:extLst>
            </p:cNvPr>
            <p:cNvSpPr txBox="1"/>
            <p:nvPr/>
          </p:nvSpPr>
          <p:spPr>
            <a:xfrm>
              <a:off x="6172200" y="3195935"/>
              <a:ext cx="348172" cy="461665"/>
            </a:xfrm>
            <a:prstGeom prst="rect">
              <a:avLst/>
            </a:prstGeom>
            <a:noFill/>
          </p:spPr>
          <p:txBody>
            <a:bodyPr wrap="square" rtlCol="0">
              <a:spAutoFit/>
            </a:bodyPr>
            <a:lstStyle/>
            <a:p>
              <a:r>
                <a:rPr lang="en-US" altLang="zh-CN" sz="2400" dirty="0"/>
                <a:t>◦</a:t>
              </a:r>
            </a:p>
          </p:txBody>
        </p:sp>
        <p:grpSp>
          <p:nvGrpSpPr>
            <p:cNvPr id="14" name="Group 13">
              <a:extLst>
                <a:ext uri="{FF2B5EF4-FFF2-40B4-BE49-F238E27FC236}">
                  <a16:creationId xmlns:a16="http://schemas.microsoft.com/office/drawing/2014/main" id="{33AC60BB-9728-4D7A-9CEA-E791B58679F7}"/>
                </a:ext>
              </a:extLst>
            </p:cNvPr>
            <p:cNvGrpSpPr/>
            <p:nvPr/>
          </p:nvGrpSpPr>
          <p:grpSpPr>
            <a:xfrm>
              <a:off x="6172200" y="3048000"/>
              <a:ext cx="576772" cy="766465"/>
              <a:chOff x="6172200" y="1828800"/>
              <a:chExt cx="576772" cy="766465"/>
            </a:xfrm>
          </p:grpSpPr>
          <p:sp>
            <p:nvSpPr>
              <p:cNvPr id="10" name="TextBox 9">
                <a:extLst>
                  <a:ext uri="{FF2B5EF4-FFF2-40B4-BE49-F238E27FC236}">
                    <a16:creationId xmlns:a16="http://schemas.microsoft.com/office/drawing/2014/main" id="{FF1CED00-34FF-483D-A31E-7BFEA3784EC8}"/>
                  </a:ext>
                </a:extLst>
              </p:cNvPr>
              <p:cNvSpPr txBox="1"/>
              <p:nvPr/>
            </p:nvSpPr>
            <p:spPr>
              <a:xfrm>
                <a:off x="6400800" y="1828800"/>
                <a:ext cx="348172" cy="461665"/>
              </a:xfrm>
              <a:prstGeom prst="rect">
                <a:avLst/>
              </a:prstGeom>
              <a:noFill/>
            </p:spPr>
            <p:txBody>
              <a:bodyPr wrap="square" rtlCol="0">
                <a:spAutoFit/>
              </a:bodyPr>
              <a:lstStyle/>
              <a:p>
                <a:r>
                  <a:rPr lang="en-US" altLang="zh-CN" sz="2400" dirty="0"/>
                  <a:t>◦</a:t>
                </a:r>
              </a:p>
            </p:txBody>
          </p:sp>
          <p:grpSp>
            <p:nvGrpSpPr>
              <p:cNvPr id="4" name="Group 3">
                <a:extLst>
                  <a:ext uri="{FF2B5EF4-FFF2-40B4-BE49-F238E27FC236}">
                    <a16:creationId xmlns:a16="http://schemas.microsoft.com/office/drawing/2014/main" id="{C23DA83D-1594-44EA-89AC-6B7C13A49874}"/>
                  </a:ext>
                </a:extLst>
              </p:cNvPr>
              <p:cNvGrpSpPr/>
              <p:nvPr/>
            </p:nvGrpSpPr>
            <p:grpSpPr>
              <a:xfrm>
                <a:off x="6172200" y="1828800"/>
                <a:ext cx="576772" cy="766465"/>
                <a:chOff x="6172200" y="1828800"/>
                <a:chExt cx="576772" cy="766465"/>
              </a:xfrm>
            </p:grpSpPr>
            <p:sp>
              <p:nvSpPr>
                <p:cNvPr id="9" name="TextBox 8">
                  <a:extLst>
                    <a:ext uri="{FF2B5EF4-FFF2-40B4-BE49-F238E27FC236}">
                      <a16:creationId xmlns:a16="http://schemas.microsoft.com/office/drawing/2014/main" id="{898060E1-962C-420B-B2AB-2B5930DA7325}"/>
                    </a:ext>
                  </a:extLst>
                </p:cNvPr>
                <p:cNvSpPr txBox="1"/>
                <p:nvPr/>
              </p:nvSpPr>
              <p:spPr>
                <a:xfrm>
                  <a:off x="6172200" y="1828800"/>
                  <a:ext cx="348172" cy="461665"/>
                </a:xfrm>
                <a:prstGeom prst="rect">
                  <a:avLst/>
                </a:prstGeom>
                <a:noFill/>
              </p:spPr>
              <p:txBody>
                <a:bodyPr wrap="square" rtlCol="0">
                  <a:spAutoFit/>
                </a:bodyPr>
                <a:lstStyle/>
                <a:p>
                  <a:r>
                    <a:rPr lang="en-US" altLang="zh-CN" sz="2400" dirty="0"/>
                    <a:t>◦</a:t>
                  </a:r>
                </a:p>
              </p:txBody>
            </p:sp>
            <p:sp>
              <p:nvSpPr>
                <p:cNvPr id="11" name="TextBox 10">
                  <a:extLst>
                    <a:ext uri="{FF2B5EF4-FFF2-40B4-BE49-F238E27FC236}">
                      <a16:creationId xmlns:a16="http://schemas.microsoft.com/office/drawing/2014/main" id="{5F118F0C-EF43-46DA-A7B2-46DC662AA791}"/>
                    </a:ext>
                  </a:extLst>
                </p:cNvPr>
                <p:cNvSpPr txBox="1"/>
                <p:nvPr/>
              </p:nvSpPr>
              <p:spPr>
                <a:xfrm>
                  <a:off x="6400800" y="1981200"/>
                  <a:ext cx="348172" cy="461665"/>
                </a:xfrm>
                <a:prstGeom prst="rect">
                  <a:avLst/>
                </a:prstGeom>
                <a:noFill/>
              </p:spPr>
              <p:txBody>
                <a:bodyPr wrap="square" rtlCol="0">
                  <a:spAutoFit/>
                </a:bodyPr>
                <a:lstStyle/>
                <a:p>
                  <a:r>
                    <a:rPr lang="en-US" altLang="zh-CN" sz="2400" dirty="0"/>
                    <a:t>◦</a:t>
                  </a:r>
                </a:p>
              </p:txBody>
            </p:sp>
            <p:sp>
              <p:nvSpPr>
                <p:cNvPr id="12" name="TextBox 11">
                  <a:extLst>
                    <a:ext uri="{FF2B5EF4-FFF2-40B4-BE49-F238E27FC236}">
                      <a16:creationId xmlns:a16="http://schemas.microsoft.com/office/drawing/2014/main" id="{466BCA0F-1AFB-4917-AC01-90590BB79B25}"/>
                    </a:ext>
                  </a:extLst>
                </p:cNvPr>
                <p:cNvSpPr txBox="1"/>
                <p:nvPr/>
              </p:nvSpPr>
              <p:spPr>
                <a:xfrm>
                  <a:off x="6172200" y="2129135"/>
                  <a:ext cx="348172" cy="461665"/>
                </a:xfrm>
                <a:prstGeom prst="rect">
                  <a:avLst/>
                </a:prstGeom>
                <a:noFill/>
              </p:spPr>
              <p:txBody>
                <a:bodyPr wrap="square" rtlCol="0">
                  <a:spAutoFit/>
                </a:bodyPr>
                <a:lstStyle/>
                <a:p>
                  <a:r>
                    <a:rPr lang="en-US" altLang="zh-CN" sz="2400" dirty="0"/>
                    <a:t>◦</a:t>
                  </a:r>
                </a:p>
              </p:txBody>
            </p:sp>
            <p:sp>
              <p:nvSpPr>
                <p:cNvPr id="13" name="TextBox 12">
                  <a:extLst>
                    <a:ext uri="{FF2B5EF4-FFF2-40B4-BE49-F238E27FC236}">
                      <a16:creationId xmlns:a16="http://schemas.microsoft.com/office/drawing/2014/main" id="{F4973051-FB55-48F0-B3C6-CD0068E98035}"/>
                    </a:ext>
                  </a:extLst>
                </p:cNvPr>
                <p:cNvSpPr txBox="1"/>
                <p:nvPr/>
              </p:nvSpPr>
              <p:spPr>
                <a:xfrm>
                  <a:off x="6400800" y="2133600"/>
                  <a:ext cx="348172" cy="461665"/>
                </a:xfrm>
                <a:prstGeom prst="rect">
                  <a:avLst/>
                </a:prstGeom>
                <a:noFill/>
              </p:spPr>
              <p:txBody>
                <a:bodyPr wrap="square" rtlCol="0">
                  <a:spAutoFit/>
                </a:bodyPr>
                <a:lstStyle/>
                <a:p>
                  <a:r>
                    <a:rPr lang="en-US" altLang="zh-CN" sz="2400" dirty="0"/>
                    <a:t>◦</a:t>
                  </a:r>
                </a:p>
              </p:txBody>
            </p:sp>
          </p:grpSp>
        </p:grpSp>
      </p:grpSp>
    </p:spTree>
    <p:extLst>
      <p:ext uri="{BB962C8B-B14F-4D97-AF65-F5344CB8AC3E}">
        <p14:creationId xmlns:p14="http://schemas.microsoft.com/office/powerpoint/2010/main" val="9520428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rcRect b="32222"/>
          <a:stretch>
            <a:fillRect/>
          </a:stretch>
        </p:blipFill>
        <p:spPr>
          <a:xfrm>
            <a:off x="0" y="0"/>
            <a:ext cx="9144000" cy="4648200"/>
          </a:xfrm>
          <a:prstGeom prst="rect">
            <a:avLst/>
          </a:prstGeom>
        </p:spPr>
      </p:pic>
      <p:sp>
        <p:nvSpPr>
          <p:cNvPr id="3" name="Content Placeholder 2"/>
          <p:cNvSpPr>
            <a:spLocks noGrp="1"/>
          </p:cNvSpPr>
          <p:nvPr>
            <p:ph idx="1"/>
          </p:nvPr>
        </p:nvSpPr>
        <p:spPr>
          <a:xfrm>
            <a:off x="304800" y="990600"/>
            <a:ext cx="8686800" cy="5181600"/>
          </a:xfrm>
        </p:spPr>
        <p:txBody>
          <a:bodyPr>
            <a:noAutofit/>
          </a:bodyPr>
          <a:lstStyle/>
          <a:p>
            <a:pPr>
              <a:lnSpc>
                <a:spcPct val="150000"/>
              </a:lnSpc>
              <a:buFont typeface="Wingdings" pitchFamily="2" charset="2"/>
              <a:buChar char="Ø"/>
            </a:pPr>
            <a:r>
              <a:rPr lang="zh-CN" altLang="en-US" sz="3000" dirty="0"/>
              <a:t>键能：</a:t>
            </a:r>
            <a:r>
              <a:rPr lang="en-US" altLang="zh-CN" sz="3000" dirty="0"/>
              <a:t>C≡C  &lt;  C-C + C=C </a:t>
            </a:r>
          </a:p>
          <a:p>
            <a:pPr>
              <a:lnSpc>
                <a:spcPct val="150000"/>
              </a:lnSpc>
              <a:buNone/>
            </a:pP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29.2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结构</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descr="singmpai.jpg"/>
          <p:cNvPicPr>
            <a:picLocks noChangeAspect="1"/>
          </p:cNvPicPr>
          <p:nvPr/>
        </p:nvPicPr>
        <p:blipFill>
          <a:blip r:embed="rId3"/>
          <a:srcRect/>
          <a:stretch>
            <a:fillRect/>
          </a:stretch>
        </p:blipFill>
        <p:spPr>
          <a:xfrm>
            <a:off x="76200" y="2209800"/>
            <a:ext cx="9035143" cy="22860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乙炔分子为直线型</a:t>
            </a:r>
            <a:endParaRPr lang="en-US" altLang="zh-CN" sz="3000" dirty="0"/>
          </a:p>
          <a:p>
            <a:pPr>
              <a:lnSpc>
                <a:spcPct val="150000"/>
              </a:lnSpc>
              <a:buFont typeface="Wingdings" pitchFamily="2" charset="2"/>
              <a:buChar char="Ø"/>
            </a:pPr>
            <a:r>
              <a:rPr lang="en-US" altLang="zh-CN" sz="3000" dirty="0"/>
              <a:t>sp</a:t>
            </a:r>
            <a:r>
              <a:rPr lang="zh-CN" altLang="en-US" sz="3000" dirty="0"/>
              <a:t>杂化轨域：</a:t>
            </a:r>
            <a:r>
              <a:rPr lang="zh-CN" altLang="en-US" sz="2800" dirty="0"/>
              <a:t> 同一原子内由一个</a:t>
            </a:r>
            <a:r>
              <a:rPr lang="en-US" altLang="zh-CN" sz="2800" i="1" dirty="0"/>
              <a:t>n</a:t>
            </a:r>
            <a:r>
              <a:rPr lang="en-US" altLang="zh-CN" sz="2800" dirty="0"/>
              <a:t>s</a:t>
            </a:r>
            <a:r>
              <a:rPr lang="zh-CN" altLang="en-US" sz="2800" dirty="0"/>
              <a:t>轨道和一个</a:t>
            </a:r>
            <a:r>
              <a:rPr lang="en-US" altLang="zh-CN" sz="2800" i="1" dirty="0" err="1"/>
              <a:t>n</a:t>
            </a:r>
            <a:r>
              <a:rPr lang="en-US" altLang="zh-CN" sz="2800" dirty="0" err="1"/>
              <a:t>p</a:t>
            </a:r>
            <a:r>
              <a:rPr lang="en-US" altLang="zh-CN" sz="2800" dirty="0"/>
              <a:t> </a:t>
            </a:r>
            <a:r>
              <a:rPr lang="zh-CN" altLang="en-US" sz="2800" dirty="0"/>
              <a:t>轨道发生杂化，称为</a:t>
            </a:r>
            <a:r>
              <a:rPr lang="en-US" altLang="zh-CN" sz="2800" dirty="0"/>
              <a:t>sp</a:t>
            </a:r>
            <a:r>
              <a:rPr lang="zh-CN" altLang="en-US" sz="2800" dirty="0"/>
              <a:t>杂化。</a:t>
            </a:r>
            <a:endParaRPr lang="en-US" altLang="zh-CN" sz="3000" dirty="0"/>
          </a:p>
          <a:p>
            <a:pPr>
              <a:lnSpc>
                <a:spcPct val="150000"/>
              </a:lnSpc>
              <a:buNone/>
            </a:pP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29.2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结构</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pic>
        <p:nvPicPr>
          <p:cNvPr id="10" name="Picture 9" descr="sp3sp2sp.jpg"/>
          <p:cNvPicPr>
            <a:picLocks noChangeAspect="1"/>
          </p:cNvPicPr>
          <p:nvPr/>
        </p:nvPicPr>
        <p:blipFill>
          <a:blip r:embed="rId3"/>
          <a:srcRect/>
          <a:stretch>
            <a:fillRect/>
          </a:stretch>
        </p:blipFill>
        <p:spPr>
          <a:xfrm>
            <a:off x="142842" y="4191000"/>
            <a:ext cx="8924958" cy="1676400"/>
          </a:xfrm>
          <a:prstGeom prst="rect">
            <a:avLst/>
          </a:prstGeom>
        </p:spPr>
      </p:pic>
      <p:sp>
        <p:nvSpPr>
          <p:cNvPr id="7" name="TextBox 6"/>
          <p:cNvSpPr txBox="1"/>
          <p:nvPr/>
        </p:nvSpPr>
        <p:spPr>
          <a:xfrm>
            <a:off x="2330419" y="4231957"/>
            <a:ext cx="854721" cy="492443"/>
          </a:xfrm>
          <a:prstGeom prst="rect">
            <a:avLst/>
          </a:prstGeom>
          <a:solidFill>
            <a:schemeClr val="bg1"/>
          </a:solidFill>
        </p:spPr>
        <p:txBody>
          <a:bodyPr wrap="none" rtlCol="0">
            <a:spAutoFit/>
          </a:bodyPr>
          <a:lstStyle/>
          <a:p>
            <a:r>
              <a:rPr lang="zh-CN" altLang="en-US" sz="2600" b="1" dirty="0">
                <a:solidFill>
                  <a:srgbClr val="7030A0"/>
                </a:solidFill>
                <a:effectLst>
                  <a:outerShdw blurRad="38100" dist="38100" dir="2700000" algn="tl">
                    <a:srgbClr val="000000">
                      <a:alpha val="43137"/>
                    </a:srgbClr>
                  </a:outerShdw>
                </a:effectLst>
              </a:rPr>
              <a:t>激发</a:t>
            </a:r>
            <a:endParaRPr lang="en-US" sz="2600" b="1" dirty="0">
              <a:solidFill>
                <a:srgbClr val="7030A0"/>
              </a:solidFill>
              <a:effectLst>
                <a:outerShdw blurRad="38100" dist="38100" dir="2700000" algn="tl">
                  <a:srgbClr val="000000">
                    <a:alpha val="43137"/>
                  </a:srgbClr>
                </a:outerShdw>
              </a:effectLst>
            </a:endParaRPr>
          </a:p>
        </p:txBody>
      </p:sp>
      <p:sp>
        <p:nvSpPr>
          <p:cNvPr id="8" name="TextBox 7"/>
          <p:cNvSpPr txBox="1"/>
          <p:nvPr/>
        </p:nvSpPr>
        <p:spPr>
          <a:xfrm>
            <a:off x="6553200" y="3048000"/>
            <a:ext cx="2363147" cy="892552"/>
          </a:xfrm>
          <a:prstGeom prst="rect">
            <a:avLst/>
          </a:prstGeom>
          <a:noFill/>
        </p:spPr>
        <p:txBody>
          <a:bodyPr wrap="none" rtlCol="0">
            <a:spAutoFit/>
          </a:bodyPr>
          <a:lstStyle/>
          <a:p>
            <a:r>
              <a:rPr lang="zh-CN" altLang="en-US" sz="2600" b="1" dirty="0">
                <a:solidFill>
                  <a:srgbClr val="7030A0"/>
                </a:solidFill>
                <a:effectLst>
                  <a:outerShdw blurRad="38100" dist="38100" dir="2700000" algn="tl">
                    <a:srgbClr val="000000">
                      <a:alpha val="43137"/>
                    </a:srgbClr>
                  </a:outerShdw>
                </a:effectLst>
              </a:rPr>
              <a:t>还有</a:t>
            </a:r>
            <a:r>
              <a:rPr lang="en-US" altLang="zh-CN" sz="2600" b="1" dirty="0">
                <a:solidFill>
                  <a:srgbClr val="7030A0"/>
                </a:solidFill>
                <a:effectLst>
                  <a:outerShdw blurRad="38100" dist="38100" dir="2700000" algn="tl">
                    <a:srgbClr val="000000">
                      <a:alpha val="43137"/>
                    </a:srgbClr>
                  </a:outerShdw>
                </a:effectLst>
              </a:rPr>
              <a:t>2</a:t>
            </a:r>
            <a:r>
              <a:rPr lang="zh-CN" altLang="en-US" sz="2600" b="1" dirty="0">
                <a:solidFill>
                  <a:srgbClr val="7030A0"/>
                </a:solidFill>
                <a:effectLst>
                  <a:outerShdw blurRad="38100" dist="38100" dir="2700000" algn="tl">
                    <a:srgbClr val="000000">
                      <a:alpha val="43137"/>
                    </a:srgbClr>
                  </a:outerShdw>
                </a:effectLst>
              </a:rPr>
              <a:t>个未参与</a:t>
            </a:r>
            <a:endParaRPr lang="en-US" altLang="zh-CN" sz="2600" b="1" dirty="0">
              <a:solidFill>
                <a:srgbClr val="7030A0"/>
              </a:solidFill>
              <a:effectLst>
                <a:outerShdw blurRad="38100" dist="38100" dir="2700000" algn="tl">
                  <a:srgbClr val="000000">
                    <a:alpha val="43137"/>
                  </a:srgbClr>
                </a:outerShdw>
              </a:effectLst>
            </a:endParaRPr>
          </a:p>
          <a:p>
            <a:r>
              <a:rPr lang="zh-CN" altLang="en-US" sz="2600" b="1" dirty="0">
                <a:solidFill>
                  <a:srgbClr val="7030A0"/>
                </a:solidFill>
                <a:effectLst>
                  <a:outerShdw blurRad="38100" dist="38100" dir="2700000" algn="tl">
                    <a:srgbClr val="000000">
                      <a:alpha val="43137"/>
                    </a:srgbClr>
                  </a:outerShdw>
                </a:effectLst>
              </a:rPr>
              <a:t>杂化的</a:t>
            </a:r>
            <a:r>
              <a:rPr lang="en-US" altLang="zh-CN" sz="2600" b="1" dirty="0">
                <a:solidFill>
                  <a:srgbClr val="7030A0"/>
                </a:solidFill>
                <a:effectLst>
                  <a:outerShdw blurRad="38100" dist="38100" dir="2700000" algn="tl">
                    <a:srgbClr val="000000">
                      <a:alpha val="43137"/>
                    </a:srgbClr>
                  </a:outerShdw>
                </a:effectLst>
              </a:rPr>
              <a:t>2p</a:t>
            </a:r>
            <a:r>
              <a:rPr lang="zh-CN" altLang="en-US" sz="2600" b="1" dirty="0">
                <a:solidFill>
                  <a:srgbClr val="7030A0"/>
                </a:solidFill>
                <a:effectLst>
                  <a:outerShdw blurRad="38100" dist="38100" dir="2700000" algn="tl">
                    <a:srgbClr val="000000">
                      <a:alpha val="43137"/>
                    </a:srgbClr>
                  </a:outerShdw>
                </a:effectLst>
              </a:rPr>
              <a:t>轨域</a:t>
            </a:r>
            <a:endParaRPr lang="en-US" sz="2600" b="1" dirty="0">
              <a:solidFill>
                <a:srgbClr val="7030A0"/>
              </a:solidFill>
              <a:effectLst>
                <a:outerShdw blurRad="38100" dist="38100" dir="2700000" algn="tl">
                  <a:srgbClr val="000000">
                    <a:alpha val="43137"/>
                  </a:srgbClr>
                </a:outerShdw>
              </a:effectLst>
            </a:endParaRPr>
          </a:p>
        </p:txBody>
      </p:sp>
      <p:sp>
        <p:nvSpPr>
          <p:cNvPr id="11" name="TextBox 10"/>
          <p:cNvSpPr txBox="1"/>
          <p:nvPr/>
        </p:nvSpPr>
        <p:spPr>
          <a:xfrm>
            <a:off x="5379025" y="5432048"/>
            <a:ext cx="2698175" cy="892552"/>
          </a:xfrm>
          <a:prstGeom prst="rect">
            <a:avLst/>
          </a:prstGeom>
          <a:noFill/>
        </p:spPr>
        <p:txBody>
          <a:bodyPr wrap="none" rtlCol="0">
            <a:spAutoFit/>
          </a:bodyPr>
          <a:lstStyle/>
          <a:p>
            <a:r>
              <a:rPr lang="en-US" altLang="zh-CN" sz="2600" b="1" dirty="0">
                <a:solidFill>
                  <a:srgbClr val="7030A0"/>
                </a:solidFill>
                <a:effectLst>
                  <a:outerShdw blurRad="38100" dist="38100" dir="2700000" algn="tl">
                    <a:srgbClr val="000000">
                      <a:alpha val="43137"/>
                    </a:srgbClr>
                  </a:outerShdw>
                </a:effectLst>
              </a:rPr>
              <a:t>2</a:t>
            </a:r>
            <a:r>
              <a:rPr lang="zh-CN" altLang="en-US" sz="2600" b="1" dirty="0">
                <a:solidFill>
                  <a:srgbClr val="7030A0"/>
                </a:solidFill>
                <a:effectLst>
                  <a:outerShdw blurRad="38100" dist="38100" dir="2700000" algn="tl">
                    <a:srgbClr val="000000">
                      <a:alpha val="43137"/>
                    </a:srgbClr>
                  </a:outerShdw>
                </a:effectLst>
              </a:rPr>
              <a:t>个轨域能量相同</a:t>
            </a:r>
            <a:endParaRPr lang="en-US" altLang="zh-CN" sz="2600" b="1" dirty="0">
              <a:solidFill>
                <a:srgbClr val="7030A0"/>
              </a:solidFill>
              <a:effectLst>
                <a:outerShdw blurRad="38100" dist="38100" dir="2700000" algn="tl">
                  <a:srgbClr val="000000">
                    <a:alpha val="43137"/>
                  </a:srgbClr>
                </a:outerShdw>
              </a:effectLst>
            </a:endParaRPr>
          </a:p>
          <a:p>
            <a:r>
              <a:rPr lang="zh-CN" altLang="en-US" sz="2600" b="1" dirty="0">
                <a:solidFill>
                  <a:srgbClr val="7030A0"/>
                </a:solidFill>
                <a:effectLst>
                  <a:outerShdw blurRad="38100" dist="38100" dir="2700000" algn="tl">
                    <a:srgbClr val="000000">
                      <a:alpha val="43137"/>
                    </a:srgbClr>
                  </a:outerShdw>
                </a:effectLst>
              </a:rPr>
              <a:t>的</a:t>
            </a:r>
            <a:r>
              <a:rPr lang="en-US" altLang="zh-CN" sz="2600" b="1" dirty="0">
                <a:solidFill>
                  <a:srgbClr val="7030A0"/>
                </a:solidFill>
                <a:effectLst>
                  <a:outerShdw blurRad="38100" dist="38100" dir="2700000" algn="tl">
                    <a:srgbClr val="000000">
                      <a:alpha val="43137"/>
                    </a:srgbClr>
                  </a:outerShdw>
                </a:effectLst>
              </a:rPr>
              <a:t>sp</a:t>
            </a:r>
            <a:r>
              <a:rPr lang="zh-CN" altLang="en-US" sz="2600" b="1" dirty="0">
                <a:solidFill>
                  <a:srgbClr val="7030A0"/>
                </a:solidFill>
                <a:effectLst>
                  <a:outerShdw blurRad="38100" dist="38100" dir="2700000" algn="tl">
                    <a:srgbClr val="000000">
                      <a:alpha val="43137"/>
                    </a:srgbClr>
                  </a:outerShdw>
                </a:effectLst>
              </a:rPr>
              <a:t>杂化轨域</a:t>
            </a:r>
            <a:endParaRPr lang="en-US" sz="26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3000" dirty="0"/>
              <a:t>两个</a:t>
            </a:r>
            <a:r>
              <a:rPr lang="en-US" altLang="zh-CN" sz="3000" dirty="0"/>
              <a:t>sp</a:t>
            </a:r>
            <a:r>
              <a:rPr lang="zh-CN" altLang="en-US" sz="3000" dirty="0"/>
              <a:t>杂化轨域对称轴夹角</a:t>
            </a:r>
            <a:r>
              <a:rPr lang="en-US" altLang="zh-CN" sz="3000" dirty="0"/>
              <a:t>180</a:t>
            </a:r>
            <a:r>
              <a:rPr lang="en-US" altLang="zh-CN" sz="3000" baseline="30000" dirty="0"/>
              <a:t>o</a:t>
            </a:r>
            <a:r>
              <a:rPr lang="en-US" altLang="zh-CN" sz="3000" dirty="0"/>
              <a:t>C</a:t>
            </a:r>
          </a:p>
          <a:p>
            <a:pPr>
              <a:lnSpc>
                <a:spcPct val="150000"/>
              </a:lnSpc>
              <a:buFont typeface="Wingdings" pitchFamily="2" charset="2"/>
              <a:buChar char="Ø"/>
            </a:pPr>
            <a:r>
              <a:rPr lang="zh-CN" altLang="en-US" sz="3000" dirty="0"/>
              <a:t>未杂化的两个</a:t>
            </a:r>
            <a:r>
              <a:rPr lang="en-US" altLang="zh-CN" sz="3000" dirty="0"/>
              <a:t>2p</a:t>
            </a:r>
            <a:r>
              <a:rPr lang="zh-CN" altLang="en-US" sz="3000" dirty="0"/>
              <a:t>轨域互相垂直，也垂直于</a:t>
            </a:r>
            <a:r>
              <a:rPr lang="en-US" altLang="zh-CN" sz="3000" dirty="0"/>
              <a:t>sp</a:t>
            </a:r>
            <a:r>
              <a:rPr lang="zh-CN" altLang="en-US" sz="3000" dirty="0"/>
              <a:t>杂化轨域。</a:t>
            </a:r>
            <a:endParaRPr lang="en-US" altLang="zh-CN" sz="3000" dirty="0"/>
          </a:p>
          <a:p>
            <a:pPr>
              <a:lnSpc>
                <a:spcPct val="150000"/>
              </a:lnSpc>
              <a:buNone/>
            </a:pPr>
            <a:endParaRPr lang="en-US" altLang="zh-CN" sz="3000" dirty="0"/>
          </a:p>
          <a:p>
            <a:pPr>
              <a:lnSpc>
                <a:spcPct val="150000"/>
              </a:lnSpc>
              <a:buNone/>
            </a:pPr>
            <a:endParaRPr lang="en-US" altLang="zh-CN" sz="3000" dirty="0"/>
          </a:p>
          <a:p>
            <a:pPr lvl="1">
              <a:lnSpc>
                <a:spcPct val="150000"/>
              </a:lnSpc>
              <a:buNone/>
            </a:pPr>
            <a:endParaRPr lang="en-US" altLang="zh-CN" sz="3000" dirty="0"/>
          </a:p>
          <a:p>
            <a:pPr lvl="1">
              <a:lnSpc>
                <a:spcPct val="150000"/>
              </a:lnSpc>
              <a:buNone/>
            </a:pP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29.2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结构</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pic>
        <p:nvPicPr>
          <p:cNvPr id="9" name="Picture 8" descr="sp2sp.jpg"/>
          <p:cNvPicPr>
            <a:picLocks noChangeAspect="1"/>
          </p:cNvPicPr>
          <p:nvPr/>
        </p:nvPicPr>
        <p:blipFill>
          <a:blip r:embed="rId3"/>
          <a:srcRect/>
          <a:stretch>
            <a:fillRect/>
          </a:stretch>
        </p:blipFill>
        <p:spPr>
          <a:xfrm>
            <a:off x="122253" y="3200400"/>
            <a:ext cx="8869347" cy="29718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rcRect b="32222"/>
          <a:stretch>
            <a:fillRect/>
          </a:stretch>
        </p:blipFill>
        <p:spPr>
          <a:xfrm>
            <a:off x="0" y="0"/>
            <a:ext cx="9144000" cy="4648200"/>
          </a:xfrm>
          <a:prstGeom prst="rect">
            <a:avLst/>
          </a:prstGeom>
        </p:spPr>
      </p:pic>
      <p:sp>
        <p:nvSpPr>
          <p:cNvPr id="3" name="Content Placeholder 2"/>
          <p:cNvSpPr>
            <a:spLocks noGrp="1"/>
          </p:cNvSpPr>
          <p:nvPr>
            <p:ph idx="1"/>
          </p:nvPr>
        </p:nvSpPr>
        <p:spPr>
          <a:xfrm>
            <a:off x="304800" y="990600"/>
            <a:ext cx="8686800" cy="5181600"/>
          </a:xfrm>
        </p:spPr>
        <p:txBody>
          <a:bodyPr>
            <a:noAutofit/>
          </a:bodyPr>
          <a:lstStyle/>
          <a:p>
            <a:pPr>
              <a:lnSpc>
                <a:spcPct val="150000"/>
              </a:lnSpc>
              <a:buFont typeface="Wingdings" pitchFamily="2" charset="2"/>
              <a:buChar char="Ø"/>
            </a:pPr>
            <a:r>
              <a:rPr lang="en-US" altLang="zh-CN" sz="3000" dirty="0"/>
              <a:t> C≡C</a:t>
            </a:r>
            <a:r>
              <a:rPr lang="zh-CN" altLang="en-US" sz="3000" dirty="0"/>
              <a:t>三键：一个</a:t>
            </a:r>
            <a:r>
              <a:rPr lang="el-GR" altLang="zh-CN" sz="3000" dirty="0"/>
              <a:t>σ</a:t>
            </a:r>
            <a:r>
              <a:rPr lang="zh-CN" altLang="en-US" sz="3000" dirty="0"/>
              <a:t>键，两个</a:t>
            </a:r>
            <a:r>
              <a:rPr lang="el-GR" sz="3000" dirty="0"/>
              <a:t>π</a:t>
            </a:r>
            <a:r>
              <a:rPr lang="zh-CN" altLang="en-US" sz="3000" dirty="0"/>
              <a:t>键</a:t>
            </a:r>
            <a:r>
              <a:rPr lang="el-GR" sz="3000" dirty="0"/>
              <a:t> </a:t>
            </a:r>
            <a:endParaRPr lang="en-US" sz="3000" dirty="0"/>
          </a:p>
          <a:p>
            <a:pPr>
              <a:lnSpc>
                <a:spcPct val="150000"/>
              </a:lnSpc>
              <a:buFont typeface="Wingdings" pitchFamily="2" charset="2"/>
              <a:buChar char="Ø"/>
            </a:pPr>
            <a:r>
              <a:rPr lang="el-GR" sz="3000" dirty="0"/>
              <a:t>π</a:t>
            </a:r>
            <a:r>
              <a:rPr lang="zh-CN" altLang="en-US" sz="3000" dirty="0"/>
              <a:t>键容易断裂，乙炔较乙烯活泼。</a:t>
            </a:r>
            <a:endParaRPr lang="en-US" altLang="zh-CN" sz="3000" dirty="0"/>
          </a:p>
          <a:p>
            <a:pPr>
              <a:lnSpc>
                <a:spcPct val="150000"/>
              </a:lnSpc>
              <a:buNone/>
            </a:pP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29.2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结构</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descr="singmpai.jpg"/>
          <p:cNvPicPr>
            <a:picLocks noChangeAspect="1"/>
          </p:cNvPicPr>
          <p:nvPr/>
        </p:nvPicPr>
        <p:blipFill>
          <a:blip r:embed="rId3"/>
          <a:srcRect/>
          <a:stretch>
            <a:fillRect/>
          </a:stretch>
        </p:blipFill>
        <p:spPr>
          <a:xfrm>
            <a:off x="76200" y="3048000"/>
            <a:ext cx="9035143" cy="22860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rcRect b="32222"/>
          <a:stretch>
            <a:fillRect/>
          </a:stretch>
        </p:blipFill>
        <p:spPr>
          <a:xfrm>
            <a:off x="0" y="0"/>
            <a:ext cx="9144000" cy="4648200"/>
          </a:xfrm>
          <a:prstGeom prst="rect">
            <a:avLst/>
          </a:prstGeom>
        </p:spPr>
      </p:pic>
      <p:sp>
        <p:nvSpPr>
          <p:cNvPr id="3" name="Content Placeholder 2"/>
          <p:cNvSpPr>
            <a:spLocks noGrp="1"/>
          </p:cNvSpPr>
          <p:nvPr>
            <p:ph idx="1"/>
          </p:nvPr>
        </p:nvSpPr>
        <p:spPr>
          <a:xfrm>
            <a:off x="304800" y="990600"/>
            <a:ext cx="8686800" cy="5181600"/>
          </a:xfrm>
        </p:spPr>
        <p:txBody>
          <a:bodyPr>
            <a:noAutofit/>
          </a:bodyPr>
          <a:lstStyle/>
          <a:p>
            <a:pPr marL="0" indent="0">
              <a:lnSpc>
                <a:spcPct val="150000"/>
              </a:lnSpc>
              <a:buNone/>
            </a:pPr>
            <a:r>
              <a:rPr lang="zh-CN" altLang="en-US" sz="3000" dirty="0"/>
              <a:t>交流分享</a:t>
            </a:r>
            <a:r>
              <a:rPr lang="en-MY" altLang="zh-CN" sz="3000" dirty="0"/>
              <a:t>pg98</a:t>
            </a:r>
          </a:p>
          <a:p>
            <a:pPr>
              <a:lnSpc>
                <a:spcPct val="150000"/>
              </a:lnSpc>
              <a:buFont typeface="Wingdings" pitchFamily="2" charset="2"/>
              <a:buChar char="Ø"/>
            </a:pPr>
            <a:r>
              <a:rPr lang="zh-CN" altLang="en-US" sz="3000" b="1" dirty="0">
                <a:solidFill>
                  <a:srgbClr val="002060"/>
                </a:solidFill>
                <a:effectLst>
                  <a:outerShdw blurRad="38100" dist="38100" dir="2700000" algn="tl">
                    <a:srgbClr val="000000">
                      <a:alpha val="43137"/>
                    </a:srgbClr>
                  </a:outerShdw>
                </a:effectLst>
              </a:rPr>
              <a:t>不是</a:t>
            </a:r>
            <a:r>
              <a:rPr lang="zh-CN" altLang="en-US" sz="3000" dirty="0"/>
              <a:t>所有的炔烃都是直线型</a:t>
            </a:r>
            <a:endParaRPr lang="en-US" altLang="zh-CN" sz="3000" dirty="0"/>
          </a:p>
          <a:p>
            <a:pPr marL="514350" indent="-514350">
              <a:lnSpc>
                <a:spcPct val="150000"/>
              </a:lnSpc>
              <a:buAutoNum type="arabicPeriod"/>
            </a:pPr>
            <a:r>
              <a:rPr lang="en-US" altLang="zh-CN" sz="3000" dirty="0"/>
              <a:t>A </a:t>
            </a:r>
            <a:r>
              <a:rPr lang="zh-CN" altLang="en-US" sz="3000" dirty="0"/>
              <a:t>不饱和烃的衍生物（含</a:t>
            </a:r>
            <a:r>
              <a:rPr lang="en-US" altLang="zh-CN" sz="3000" dirty="0"/>
              <a:t>N</a:t>
            </a:r>
            <a:r>
              <a:rPr lang="zh-CN" altLang="en-US" sz="3000" dirty="0"/>
              <a:t>元素，烃只含</a:t>
            </a:r>
            <a:r>
              <a:rPr lang="en-US" altLang="zh-CN" sz="3000" dirty="0"/>
              <a:t>C</a:t>
            </a:r>
            <a:r>
              <a:rPr lang="zh-CN" altLang="en-US" sz="3000" dirty="0"/>
              <a:t>、</a:t>
            </a:r>
            <a:r>
              <a:rPr lang="en-US" altLang="zh-CN" sz="3000" dirty="0"/>
              <a:t>H</a:t>
            </a:r>
            <a:r>
              <a:rPr lang="zh-CN" altLang="en-US" sz="3000" dirty="0"/>
              <a:t>）</a:t>
            </a:r>
            <a:endParaRPr lang="en-MY" altLang="zh-CN" sz="3000" dirty="0"/>
          </a:p>
          <a:p>
            <a:pPr marL="514350" indent="-514350">
              <a:lnSpc>
                <a:spcPct val="150000"/>
              </a:lnSpc>
              <a:buAutoNum type="arabicPeriod"/>
            </a:pPr>
            <a:r>
              <a:rPr lang="zh-CN" altLang="en-US" sz="3000" dirty="0"/>
              <a:t>用原子模型连接看看。</a:t>
            </a:r>
            <a:endParaRPr lang="en-MY"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29b</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34931217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spcBef>
                <a:spcPts val="0"/>
              </a:spcBef>
              <a:buNone/>
            </a:pPr>
            <a:r>
              <a:rPr lang="zh-CN" altLang="en-US" sz="3000" dirty="0"/>
              <a:t>物理性质</a:t>
            </a:r>
            <a:endParaRPr lang="en-US" altLang="zh-CN" sz="3000" dirty="0"/>
          </a:p>
          <a:p>
            <a:pPr>
              <a:spcBef>
                <a:spcPts val="0"/>
              </a:spcBef>
              <a:buFont typeface="Wingdings" pitchFamily="2" charset="2"/>
              <a:buChar char="Ø"/>
            </a:pPr>
            <a:r>
              <a:rPr lang="zh-CN" altLang="en-US" sz="3000" dirty="0"/>
              <a:t>不易溶于水</a:t>
            </a:r>
            <a:endParaRPr lang="en-US" altLang="zh-CN" sz="3000" dirty="0"/>
          </a:p>
          <a:p>
            <a:pPr>
              <a:spcBef>
                <a:spcPts val="0"/>
              </a:spcBef>
              <a:buFont typeface="Wingdings" pitchFamily="2" charset="2"/>
              <a:buChar char="Ø"/>
            </a:pPr>
            <a:r>
              <a:rPr lang="zh-CN" altLang="en-US" sz="3000" dirty="0"/>
              <a:t>易溶于某些有机溶剂</a:t>
            </a:r>
            <a:endParaRPr lang="en-US" altLang="zh-CN" sz="3000" dirty="0"/>
          </a:p>
          <a:p>
            <a:pPr>
              <a:spcBef>
                <a:spcPts val="0"/>
              </a:spcBef>
              <a:buFont typeface="Wingdings" pitchFamily="2" charset="2"/>
              <a:buChar char="Ø"/>
            </a:pPr>
            <a:r>
              <a:rPr lang="zh-CN" altLang="en-US" sz="3000" dirty="0"/>
              <a:t>沸点比相应的烷烃和烯烃</a:t>
            </a:r>
            <a:r>
              <a:rPr lang="zh-CN" altLang="en-US" sz="3000" b="1" dirty="0">
                <a:solidFill>
                  <a:srgbClr val="C00000"/>
                </a:solidFill>
                <a:effectLst>
                  <a:outerShdw blurRad="38100" dist="38100" dir="2700000" algn="tl">
                    <a:srgbClr val="000000">
                      <a:alpha val="43137"/>
                    </a:srgbClr>
                  </a:outerShdw>
                </a:effectLst>
              </a:rPr>
              <a:t>稍高</a:t>
            </a:r>
            <a:r>
              <a:rPr lang="en-MY" altLang="zh-CN" sz="3000" b="1" dirty="0">
                <a:solidFill>
                  <a:srgbClr val="7030A0"/>
                </a:solidFill>
                <a:effectLst>
                  <a:outerShdw blurRad="38100" dist="38100" dir="2700000" algn="tl">
                    <a:srgbClr val="000000">
                      <a:alpha val="43137"/>
                    </a:srgbClr>
                  </a:outerShdw>
                </a:effectLst>
              </a:rPr>
              <a:t>(</a:t>
            </a:r>
            <a:r>
              <a:rPr lang="zh-CN" altLang="en-US" sz="3000" b="1" dirty="0">
                <a:solidFill>
                  <a:srgbClr val="7030A0"/>
                </a:solidFill>
                <a:effectLst>
                  <a:outerShdw blurRad="38100" dist="38100" dir="2700000" algn="tl">
                    <a:srgbClr val="000000">
                      <a:alpha val="43137"/>
                    </a:srgbClr>
                  </a:outerShdw>
                </a:effectLst>
              </a:rPr>
              <a:t>分子间接触面积大</a:t>
            </a:r>
            <a:r>
              <a:rPr lang="en-MY" altLang="zh-CN" sz="3000" b="1" dirty="0">
                <a:solidFill>
                  <a:srgbClr val="7030A0"/>
                </a:solidFill>
                <a:effectLst>
                  <a:outerShdw blurRad="38100" dist="38100" dir="2700000" algn="tl">
                    <a:srgbClr val="000000">
                      <a:alpha val="43137"/>
                    </a:srgbClr>
                  </a:outerShdw>
                </a:effectLst>
              </a:rPr>
              <a:t>)</a:t>
            </a:r>
          </a:p>
          <a:p>
            <a:pPr>
              <a:spcBef>
                <a:spcPts val="0"/>
              </a:spcBef>
              <a:buFont typeface="Wingdings" pitchFamily="2" charset="2"/>
              <a:buChar char="Ø"/>
            </a:pPr>
            <a:r>
              <a:rPr lang="zh-CN" altLang="en-US" sz="3000" dirty="0"/>
              <a:t>三键位于碳链末端的炔烃</a:t>
            </a:r>
            <a:r>
              <a:rPr lang="en-US" altLang="zh-CN" sz="3000" dirty="0"/>
              <a:t>(</a:t>
            </a:r>
            <a:r>
              <a:rPr lang="zh-CN" altLang="en-US" sz="3000" dirty="0"/>
              <a:t>又称末端炔烃</a:t>
            </a:r>
            <a:r>
              <a:rPr lang="en-US" altLang="zh-CN" sz="3000" dirty="0"/>
              <a:t>)</a:t>
            </a:r>
            <a:r>
              <a:rPr lang="zh-CN" altLang="en-US" sz="3000" dirty="0"/>
              <a:t>的沸点低于三键位于碳链中间的异构体</a:t>
            </a:r>
            <a:r>
              <a:rPr lang="en-US" altLang="zh-CN" sz="3000" dirty="0"/>
              <a:t>.</a:t>
            </a:r>
            <a:endParaRPr lang="en-MY" altLang="zh-CN" sz="3000" dirty="0"/>
          </a:p>
          <a:p>
            <a:pPr>
              <a:spcBef>
                <a:spcPts val="0"/>
              </a:spcBef>
              <a:buFont typeface="Wingdings" pitchFamily="2" charset="2"/>
              <a:buChar char="Ø"/>
            </a:pPr>
            <a:r>
              <a:rPr lang="zh-CN" altLang="en-US" sz="3000" dirty="0"/>
              <a:t>乙炔无色无味，微溶于水，易溶于极性小的有机溶剂。</a:t>
            </a:r>
            <a:endParaRPr lang="en-US" altLang="zh-CN" sz="3000" dirty="0"/>
          </a:p>
          <a:p>
            <a:pPr marL="0" indent="0">
              <a:spcBef>
                <a:spcPts val="0"/>
              </a:spcBef>
              <a:buNone/>
            </a:pPr>
            <a:r>
              <a:rPr lang="zh-CN" altLang="en-US" sz="3000" dirty="0"/>
              <a:t>试比较戊烷、</a:t>
            </a:r>
            <a:r>
              <a:rPr lang="en-US" altLang="zh-CN" sz="3000" dirty="0"/>
              <a:t>1-</a:t>
            </a:r>
            <a:r>
              <a:rPr lang="zh-CN" altLang="en-US" sz="3000" dirty="0"/>
              <a:t>戊烯、</a:t>
            </a:r>
            <a:r>
              <a:rPr lang="en-US" altLang="zh-CN" sz="3000" dirty="0"/>
              <a:t>1-</a:t>
            </a:r>
            <a:r>
              <a:rPr lang="zh-CN" altLang="en-US" sz="3000" dirty="0"/>
              <a:t>戊炔的沸点。</a:t>
            </a:r>
            <a:endParaRPr lang="en-US" altLang="zh-CN" sz="3000" dirty="0"/>
          </a:p>
          <a:p>
            <a:pPr>
              <a:spcBef>
                <a:spcPts val="0"/>
              </a:spcBef>
              <a:buFont typeface="Wingdings" pitchFamily="2" charset="2"/>
              <a:buChar char="Ø"/>
            </a:pPr>
            <a:r>
              <a:rPr lang="zh-CN" altLang="en-US" sz="3000" dirty="0"/>
              <a:t>沸点：</a:t>
            </a:r>
            <a:r>
              <a:rPr lang="en-US" altLang="zh-CN" sz="3000" b="1" dirty="0">
                <a:effectLst>
                  <a:outerShdw blurRad="38100" dist="38100" dir="2700000" algn="tl">
                    <a:srgbClr val="000000">
                      <a:alpha val="43137"/>
                    </a:srgbClr>
                  </a:outerShdw>
                </a:effectLst>
              </a:rPr>
              <a:t>1-</a:t>
            </a:r>
            <a:r>
              <a:rPr lang="zh-CN" altLang="en-US" sz="3000" b="1" dirty="0">
                <a:effectLst>
                  <a:outerShdw blurRad="38100" dist="38100" dir="2700000" algn="tl">
                    <a:srgbClr val="000000">
                      <a:alpha val="43137"/>
                    </a:srgbClr>
                  </a:outerShdw>
                </a:effectLst>
              </a:rPr>
              <a:t>戊炔 </a:t>
            </a:r>
            <a:r>
              <a:rPr lang="en-US" altLang="zh-CN" sz="3000" b="1" dirty="0">
                <a:effectLst>
                  <a:outerShdw blurRad="38100" dist="38100" dir="2700000" algn="tl">
                    <a:srgbClr val="000000">
                      <a:alpha val="43137"/>
                    </a:srgbClr>
                  </a:outerShdw>
                </a:effectLst>
              </a:rPr>
              <a:t>&gt; </a:t>
            </a:r>
            <a:r>
              <a:rPr lang="zh-CN" altLang="en-US" sz="3000" b="1" dirty="0">
                <a:effectLst>
                  <a:outerShdw blurRad="38100" dist="38100" dir="2700000" algn="tl">
                    <a:srgbClr val="000000">
                      <a:alpha val="43137"/>
                    </a:srgbClr>
                  </a:outerShdw>
                </a:effectLst>
              </a:rPr>
              <a:t>戊烷 </a:t>
            </a:r>
            <a:r>
              <a:rPr lang="en-US" altLang="zh-CN" sz="3000" b="1" dirty="0">
                <a:effectLst>
                  <a:outerShdw blurRad="38100" dist="38100" dir="2700000" algn="tl">
                    <a:srgbClr val="000000">
                      <a:alpha val="43137"/>
                    </a:srgbClr>
                  </a:outerShdw>
                </a:effectLst>
              </a:rPr>
              <a:t>&gt; 1-</a:t>
            </a:r>
            <a:r>
              <a:rPr lang="zh-CN" altLang="en-US" sz="3000" b="1" dirty="0">
                <a:effectLst>
                  <a:outerShdw blurRad="38100" dist="38100" dir="2700000" algn="tl">
                    <a:srgbClr val="000000">
                      <a:alpha val="43137"/>
                    </a:srgbClr>
                  </a:outerShdw>
                </a:effectLst>
              </a:rPr>
              <a:t>戊烯</a:t>
            </a:r>
            <a:endParaRPr lang="en-US" altLang="zh-CN" sz="3000" dirty="0"/>
          </a:p>
          <a:p>
            <a:pPr lvl="1">
              <a:spcBef>
                <a:spcPts val="0"/>
              </a:spcBef>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29.3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炔烃的物理</a:t>
            </a:r>
            <a:r>
              <a:rPr lang="zh-CN" altLang="en-US" sz="4800" b="1" noProof="0" dirty="0">
                <a:latin typeface="+mn-ea"/>
                <a:ea typeface="+mj-ea"/>
                <a:cs typeface="+mj-cs"/>
              </a:rPr>
              <a:t>性质</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1"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1"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1"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rcRect b="32222"/>
          <a:stretch>
            <a:fillRect/>
          </a:stretch>
        </p:blipFill>
        <p:spPr>
          <a:xfrm>
            <a:off x="0" y="0"/>
            <a:ext cx="9144000" cy="4648200"/>
          </a:xfrm>
          <a:prstGeom prst="rect">
            <a:avLst/>
          </a:prstGeom>
        </p:spPr>
      </p:pic>
      <p:sp>
        <p:nvSpPr>
          <p:cNvPr id="3" name="Content Placeholder 2"/>
          <p:cNvSpPr>
            <a:spLocks noGrp="1"/>
          </p:cNvSpPr>
          <p:nvPr>
            <p:ph idx="1"/>
          </p:nvPr>
        </p:nvSpPr>
        <p:spPr>
          <a:xfrm>
            <a:off x="304800" y="990600"/>
            <a:ext cx="8686800" cy="5181600"/>
          </a:xfrm>
        </p:spPr>
        <p:txBody>
          <a:bodyPr>
            <a:noAutofit/>
          </a:bodyPr>
          <a:lstStyle/>
          <a:p>
            <a:pPr marL="514350" indent="-514350">
              <a:buAutoNum type="arabicPeriod"/>
            </a:pPr>
            <a:r>
              <a:rPr lang="zh-CN" altLang="en-US" sz="3000" dirty="0"/>
              <a:t>乙炔：电石气；</a:t>
            </a:r>
            <a:endParaRPr lang="en-MY" altLang="zh-CN" sz="3000" dirty="0"/>
          </a:p>
          <a:p>
            <a:pPr marL="0" indent="0">
              <a:buNone/>
            </a:pPr>
            <a:r>
              <a:rPr lang="zh-CN" altLang="en-US" sz="3000" dirty="0"/>
              <a:t>无色无味；</a:t>
            </a:r>
            <a:endParaRPr lang="en-MY" altLang="zh-CN" sz="3000" dirty="0"/>
          </a:p>
          <a:p>
            <a:pPr marL="0" indent="0">
              <a:buNone/>
            </a:pPr>
            <a:r>
              <a:rPr lang="zh-CN" altLang="en-US" sz="3000" dirty="0"/>
              <a:t>不溶于水，易溶于有机溶剂；</a:t>
            </a:r>
            <a:endParaRPr lang="en-MY" altLang="zh-CN" sz="3000" dirty="0"/>
          </a:p>
          <a:p>
            <a:pPr marL="0" indent="0">
              <a:buNone/>
            </a:pPr>
            <a:r>
              <a:rPr lang="zh-CN" altLang="en-US" sz="3000" dirty="0"/>
              <a:t>密度比空气略小。</a:t>
            </a:r>
            <a:endParaRPr lang="en-MY" altLang="zh-CN" sz="3000" dirty="0"/>
          </a:p>
          <a:p>
            <a:pPr marL="0" indent="0">
              <a:buNone/>
            </a:pPr>
            <a:r>
              <a:rPr lang="en-US" altLang="zh-CN" sz="3000" dirty="0"/>
              <a:t>2. </a:t>
            </a:r>
            <a:r>
              <a:rPr lang="zh-CN" altLang="en-US" sz="3000" dirty="0"/>
              <a:t>熔点沸点逐渐上升，密度逐渐增大；</a:t>
            </a:r>
            <a:endParaRPr lang="en-MY" altLang="zh-CN" sz="3000" dirty="0"/>
          </a:p>
          <a:p>
            <a:pPr marL="0" indent="0">
              <a:buNone/>
            </a:pPr>
            <a:r>
              <a:rPr lang="zh-CN" altLang="en-US" sz="3000" dirty="0"/>
              <a:t>均不溶于水，易溶于有机溶剂。</a:t>
            </a:r>
            <a:endParaRPr lang="en-MY" altLang="zh-CN" sz="3000" dirty="0"/>
          </a:p>
          <a:p>
            <a:pPr marL="0" indent="0">
              <a:buNone/>
            </a:pPr>
            <a:r>
              <a:rPr lang="zh-CN" altLang="en-US" sz="3000" dirty="0"/>
              <a:t>常温下碳原子数≤</a:t>
            </a:r>
            <a:r>
              <a:rPr lang="en-US" altLang="zh-CN" sz="3000" dirty="0"/>
              <a:t>3</a:t>
            </a:r>
            <a:r>
              <a:rPr lang="zh-CN" altLang="en-US" sz="3000" dirty="0"/>
              <a:t>的炔烃呈气态。</a:t>
            </a:r>
            <a:endParaRPr lang="en-MY" altLang="zh-CN" sz="3000" dirty="0"/>
          </a:p>
          <a:p>
            <a:pPr marL="0" indent="0">
              <a:buNone/>
            </a:pPr>
            <a:r>
              <a:rPr lang="en-US" altLang="zh-CN" sz="3000" dirty="0"/>
              <a:t>3. </a:t>
            </a:r>
            <a:r>
              <a:rPr lang="zh-CN" altLang="en-US" sz="3000" dirty="0"/>
              <a:t>乙炔</a:t>
            </a:r>
            <a:r>
              <a:rPr lang="en-US" altLang="zh-CN" sz="3000" dirty="0"/>
              <a:t>HC≡CH</a:t>
            </a:r>
            <a:r>
              <a:rPr lang="zh-CN" altLang="en-US" sz="3000" dirty="0"/>
              <a:t>，丙炔</a:t>
            </a:r>
            <a:r>
              <a:rPr lang="en-US" altLang="zh-CN" sz="3000" dirty="0"/>
              <a:t>CH</a:t>
            </a:r>
            <a:r>
              <a:rPr lang="en-US" altLang="zh-CN" sz="3000" baseline="-25000" dirty="0"/>
              <a:t>3</a:t>
            </a:r>
            <a:r>
              <a:rPr lang="en-US" altLang="zh-CN" sz="3000" dirty="0"/>
              <a:t>C≡CH</a:t>
            </a:r>
            <a:endParaRPr lang="en-MY"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29c</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9272409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zh-CN" altLang="en-US" sz="3000" dirty="0"/>
              <a:t>化学性质</a:t>
            </a:r>
            <a:endParaRPr lang="en-US" altLang="zh-CN" sz="3000" dirty="0"/>
          </a:p>
          <a:p>
            <a:pPr>
              <a:buFont typeface="Wingdings" pitchFamily="2" charset="2"/>
              <a:buChar char="Ø"/>
            </a:pPr>
            <a:r>
              <a:rPr lang="zh-CN" altLang="en-US" sz="3000" dirty="0"/>
              <a:t>含不饱和的</a:t>
            </a:r>
            <a:r>
              <a:rPr lang="en-US" altLang="zh-CN" sz="3000" dirty="0"/>
              <a:t>C≡C</a:t>
            </a:r>
            <a:r>
              <a:rPr lang="zh-CN" altLang="en-US" sz="3000" dirty="0"/>
              <a:t>三键，性质与烯烃相似</a:t>
            </a:r>
            <a:endParaRPr lang="en-US" altLang="zh-CN" sz="3000" dirty="0"/>
          </a:p>
          <a:p>
            <a:pPr marL="514350" indent="-514350">
              <a:buAutoNum type="arabicPeriod"/>
            </a:pPr>
            <a:r>
              <a:rPr lang="zh-CN" altLang="en-US" sz="3000" dirty="0"/>
              <a:t>燃烧：在空气中燃烧生成</a:t>
            </a:r>
            <a:r>
              <a:rPr lang="en-US" altLang="zh-CN" sz="3000" dirty="0"/>
              <a:t>CO</a:t>
            </a:r>
            <a:r>
              <a:rPr lang="en-US" altLang="zh-CN" sz="3000" baseline="-25000" dirty="0"/>
              <a:t>2</a:t>
            </a:r>
            <a:r>
              <a:rPr lang="en-US" altLang="zh-CN" sz="3000" dirty="0"/>
              <a:t> + H</a:t>
            </a:r>
            <a:r>
              <a:rPr lang="en-US" altLang="zh-CN" sz="3000" baseline="-25000" dirty="0"/>
              <a:t>2</a:t>
            </a:r>
            <a:r>
              <a:rPr lang="en-US" altLang="zh-CN" sz="3000" dirty="0"/>
              <a:t>O</a:t>
            </a:r>
          </a:p>
          <a:p>
            <a:pPr marL="514350" indent="-514350">
              <a:buAutoNum type="arabicPeriod"/>
            </a:pPr>
            <a:r>
              <a:rPr lang="zh-CN" altLang="en-US" sz="3000" dirty="0"/>
              <a:t>加成反应</a:t>
            </a:r>
            <a:endParaRPr lang="en-US" altLang="zh-CN" sz="3000" dirty="0"/>
          </a:p>
          <a:p>
            <a:pPr marL="971550" lvl="1" indent="-571500">
              <a:buFont typeface="+mj-lt"/>
              <a:buAutoNum type="romanUcPeriod"/>
            </a:pPr>
            <a:r>
              <a:rPr lang="zh-CN" altLang="en-US" sz="2600" dirty="0"/>
              <a:t>加氢</a:t>
            </a:r>
            <a:endParaRPr lang="en-US" altLang="zh-CN" sz="2600" dirty="0"/>
          </a:p>
          <a:p>
            <a:pPr marL="971550" lvl="1" indent="-571500">
              <a:buFont typeface="+mj-lt"/>
              <a:buAutoNum type="romanUcPeriod"/>
            </a:pPr>
            <a:r>
              <a:rPr lang="zh-CN" altLang="en-US" sz="2600" dirty="0"/>
              <a:t>加卤素</a:t>
            </a:r>
            <a:endParaRPr lang="en-US" altLang="zh-CN" sz="2600" dirty="0"/>
          </a:p>
          <a:p>
            <a:pPr marL="971550" lvl="1" indent="-571500">
              <a:buFont typeface="+mj-lt"/>
              <a:buAutoNum type="romanUcPeriod"/>
            </a:pPr>
            <a:r>
              <a:rPr lang="zh-CN" altLang="en-US" sz="2600" dirty="0"/>
              <a:t>加卤化氢</a:t>
            </a:r>
            <a:endParaRPr lang="en-US" altLang="zh-CN" sz="2600" dirty="0"/>
          </a:p>
          <a:p>
            <a:pPr marL="971550" lvl="1" indent="-571500">
              <a:buFont typeface="+mj-lt"/>
              <a:buAutoNum type="romanUcPeriod"/>
            </a:pPr>
            <a:r>
              <a:rPr lang="zh-CN" altLang="en-US" sz="2600" dirty="0"/>
              <a:t>加水</a:t>
            </a:r>
            <a:endParaRPr lang="en-US" altLang="zh-CN" sz="2600" dirty="0"/>
          </a:p>
          <a:p>
            <a:pPr marL="514350" indent="-514350">
              <a:buAutoNum type="arabicPeriod"/>
            </a:pPr>
            <a:r>
              <a:rPr lang="zh-CN" altLang="en-US" sz="3000" dirty="0"/>
              <a:t>氧化反应</a:t>
            </a:r>
            <a:endParaRPr lang="en-US" altLang="zh-CN" sz="3000" dirty="0"/>
          </a:p>
          <a:p>
            <a:pPr marL="514350" indent="-514350">
              <a:buAutoNum type="arabicPeriod"/>
            </a:pPr>
            <a:r>
              <a:rPr lang="zh-CN" altLang="en-US" sz="3000" dirty="0"/>
              <a:t>生成金属炔化物的反应</a:t>
            </a:r>
            <a:endParaRPr lang="en-US" altLang="zh-CN" sz="3000" dirty="0"/>
          </a:p>
          <a:p>
            <a:pPr>
              <a:lnSpc>
                <a:spcPct val="150000"/>
              </a:lnSpc>
              <a:buNone/>
            </a:pPr>
            <a:endParaRPr lang="en-US" altLang="zh-CN" sz="3000" dirty="0"/>
          </a:p>
          <a:p>
            <a:pPr lvl="1">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29.4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炔烃的化学</a:t>
            </a:r>
            <a:r>
              <a:rPr lang="zh-CN" altLang="en-US" sz="4800" b="1" noProof="0" dirty="0">
                <a:latin typeface="+mn-ea"/>
                <a:ea typeface="+mj-ea"/>
                <a:cs typeface="+mj-cs"/>
              </a:rPr>
              <a:t>性质</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
        <p:nvSpPr>
          <p:cNvPr id="7" name="Rounded Rectangle 6"/>
          <p:cNvSpPr/>
          <p:nvPr/>
        </p:nvSpPr>
        <p:spPr>
          <a:xfrm>
            <a:off x="5105400" y="2133600"/>
            <a:ext cx="1600200"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blinds(horizontal)">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blinds(horizontal)">
                                      <p:cBhvr>
                                        <p:cTn id="5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839200" cy="5867400"/>
          </a:xfrm>
        </p:spPr>
        <p:txBody>
          <a:bodyPr>
            <a:noAutofit/>
          </a:bodyPr>
          <a:lstStyle/>
          <a:p>
            <a:pPr>
              <a:buNone/>
            </a:pPr>
            <a:r>
              <a:rPr lang="en-US" altLang="zh-CN" sz="3000" dirty="0"/>
              <a:t>2</a:t>
            </a:r>
            <a:r>
              <a:rPr lang="en-MY" altLang="zh-CN" sz="3000" dirty="0"/>
              <a:t>.</a:t>
            </a:r>
            <a:r>
              <a:rPr lang="zh-CN" altLang="en-US" sz="3000" dirty="0"/>
              <a:t>加成反应：在反应中，</a:t>
            </a:r>
            <a:r>
              <a:rPr lang="en-US" altLang="zh-CN" sz="3000" dirty="0"/>
              <a:t>C≡C</a:t>
            </a:r>
            <a:r>
              <a:rPr lang="zh-CN" altLang="en-US" sz="3000" dirty="0"/>
              <a:t>三键的</a:t>
            </a:r>
            <a:r>
              <a:rPr lang="zh-CN" altLang="en-US" sz="3000" b="1" dirty="0">
                <a:solidFill>
                  <a:srgbClr val="002060"/>
                </a:solidFill>
                <a:effectLst>
                  <a:outerShdw blurRad="38100" dist="38100" dir="2700000" algn="tl">
                    <a:srgbClr val="000000">
                      <a:alpha val="43137"/>
                    </a:srgbClr>
                  </a:outerShdw>
                </a:effectLst>
              </a:rPr>
              <a:t>两个</a:t>
            </a:r>
            <a:r>
              <a:rPr lang="el-GR" sz="3000" b="1" dirty="0">
                <a:solidFill>
                  <a:srgbClr val="002060"/>
                </a:solidFill>
                <a:effectLst>
                  <a:outerShdw blurRad="38100" dist="38100" dir="2700000" algn="tl">
                    <a:srgbClr val="000000">
                      <a:alpha val="43137"/>
                    </a:srgbClr>
                  </a:outerShdw>
                </a:effectLst>
              </a:rPr>
              <a:t>π</a:t>
            </a:r>
            <a:r>
              <a:rPr lang="zh-CN" altLang="en-US" sz="3000" b="1" dirty="0">
                <a:solidFill>
                  <a:srgbClr val="002060"/>
                </a:solidFill>
                <a:effectLst>
                  <a:outerShdw blurRad="38100" dist="38100" dir="2700000" algn="tl">
                    <a:srgbClr val="000000">
                      <a:alpha val="43137"/>
                    </a:srgbClr>
                  </a:outerShdw>
                </a:effectLst>
              </a:rPr>
              <a:t>键易断裂</a:t>
            </a:r>
            <a:endParaRPr lang="en-MY" altLang="zh-CN" sz="3000" b="1" dirty="0">
              <a:solidFill>
                <a:srgbClr val="002060"/>
              </a:solidFill>
              <a:effectLst>
                <a:outerShdw blurRad="38100" dist="38100" dir="2700000" algn="tl">
                  <a:srgbClr val="000000">
                    <a:alpha val="43137"/>
                  </a:srgbClr>
                </a:outerShdw>
              </a:effectLst>
            </a:endParaRPr>
          </a:p>
          <a:p>
            <a:pPr>
              <a:buNone/>
            </a:pPr>
            <a:r>
              <a:rPr lang="zh-CN" altLang="en-US" sz="3000" dirty="0"/>
              <a:t>使其他原子或原子团分别</a:t>
            </a:r>
            <a:r>
              <a:rPr lang="zh-CN" altLang="en-US" sz="3000" b="1" dirty="0">
                <a:solidFill>
                  <a:srgbClr val="002060"/>
                </a:solidFill>
                <a:effectLst>
                  <a:outerShdw blurRad="38100" dist="38100" dir="2700000" algn="tl">
                    <a:srgbClr val="000000">
                      <a:alpha val="43137"/>
                    </a:srgbClr>
                  </a:outerShdw>
                </a:effectLst>
              </a:rPr>
              <a:t>加在两个不饱和的</a:t>
            </a:r>
            <a:r>
              <a:rPr lang="en-US" altLang="zh-CN" sz="3000" b="1" dirty="0">
                <a:solidFill>
                  <a:srgbClr val="002060"/>
                </a:solidFill>
                <a:effectLst>
                  <a:outerShdw blurRad="38100" dist="38100" dir="2700000" algn="tl">
                    <a:srgbClr val="000000">
                      <a:alpha val="43137"/>
                    </a:srgbClr>
                  </a:outerShdw>
                </a:effectLst>
              </a:rPr>
              <a:t>C</a:t>
            </a:r>
            <a:r>
              <a:rPr lang="zh-CN" altLang="en-US" sz="3000" dirty="0"/>
              <a:t>原子上。</a:t>
            </a:r>
            <a:endParaRPr lang="en-US" altLang="zh-CN" sz="3000" dirty="0"/>
          </a:p>
          <a:p>
            <a:pPr>
              <a:buNone/>
            </a:pPr>
            <a:r>
              <a:rPr lang="en-US" altLang="zh-CN" sz="3000" dirty="0"/>
              <a:t>(1a) </a:t>
            </a:r>
            <a:r>
              <a:rPr lang="zh-CN" altLang="en-US" sz="3000" dirty="0"/>
              <a:t>完全氢化：在</a:t>
            </a:r>
            <a:r>
              <a:rPr lang="en-US" altLang="zh-CN" sz="3000" b="1" dirty="0">
                <a:solidFill>
                  <a:srgbClr val="7030A0"/>
                </a:solidFill>
                <a:effectLst>
                  <a:outerShdw blurRad="38100" dist="38100" dir="2700000" algn="tl">
                    <a:srgbClr val="000000">
                      <a:alpha val="43137"/>
                    </a:srgbClr>
                  </a:outerShdw>
                </a:effectLst>
              </a:rPr>
              <a:t>Ni</a:t>
            </a:r>
            <a:r>
              <a:rPr lang="zh-CN" altLang="en-US" sz="3000" b="1" dirty="0">
                <a:solidFill>
                  <a:srgbClr val="7030A0"/>
                </a:solidFill>
                <a:effectLst>
                  <a:outerShdw blurRad="38100" dist="38100" dir="2700000" algn="tl">
                    <a:srgbClr val="000000">
                      <a:alpha val="43137"/>
                    </a:srgbClr>
                  </a:outerShdw>
                </a:effectLst>
              </a:rPr>
              <a:t>，</a:t>
            </a:r>
            <a:r>
              <a:rPr lang="en-MY" altLang="zh-CN" sz="3000" b="1" dirty="0">
                <a:solidFill>
                  <a:srgbClr val="7030A0"/>
                </a:solidFill>
                <a:effectLst>
                  <a:outerShdw blurRad="38100" dist="38100" dir="2700000" algn="tl">
                    <a:srgbClr val="000000">
                      <a:alpha val="43137"/>
                    </a:srgbClr>
                  </a:outerShdw>
                </a:effectLst>
              </a:rPr>
              <a:t>Pt</a:t>
            </a:r>
            <a:r>
              <a:rPr lang="zh-CN" altLang="en-US" sz="3000" b="1" dirty="0">
                <a:solidFill>
                  <a:srgbClr val="7030A0"/>
                </a:solidFill>
                <a:effectLst>
                  <a:outerShdw blurRad="38100" dist="38100" dir="2700000" algn="tl">
                    <a:srgbClr val="000000">
                      <a:alpha val="43137"/>
                    </a:srgbClr>
                  </a:outerShdw>
                </a:effectLst>
              </a:rPr>
              <a:t>，</a:t>
            </a:r>
            <a:r>
              <a:rPr lang="en-US" altLang="zh-CN" sz="3000" b="1" dirty="0">
                <a:solidFill>
                  <a:srgbClr val="7030A0"/>
                </a:solidFill>
                <a:effectLst>
                  <a:outerShdw blurRad="38100" dist="38100" dir="2700000" algn="tl">
                    <a:srgbClr val="000000">
                      <a:alpha val="43137"/>
                    </a:srgbClr>
                  </a:outerShdw>
                </a:effectLst>
              </a:rPr>
              <a:t>Pd</a:t>
            </a:r>
            <a:r>
              <a:rPr lang="zh-CN" altLang="en-US" sz="3000" dirty="0"/>
              <a:t>的催化下</a:t>
            </a:r>
            <a:r>
              <a:rPr lang="zh-CN" altLang="en-US" sz="3000" b="1" dirty="0">
                <a:solidFill>
                  <a:srgbClr val="7030A0"/>
                </a:solidFill>
                <a:effectLst>
                  <a:outerShdw blurRad="38100" dist="38100" dir="2700000" algn="tl">
                    <a:srgbClr val="000000">
                      <a:alpha val="43137"/>
                    </a:srgbClr>
                  </a:outerShdw>
                </a:effectLst>
              </a:rPr>
              <a:t>炔烃</a:t>
            </a:r>
            <a:r>
              <a:rPr lang="zh-CN" altLang="en-US" sz="3000" dirty="0"/>
              <a:t>与两分子的氢气进行加成反应，生成相应的</a:t>
            </a:r>
            <a:r>
              <a:rPr lang="zh-CN" altLang="en-US" sz="3000" b="1" dirty="0">
                <a:solidFill>
                  <a:srgbClr val="7030A0"/>
                </a:solidFill>
                <a:effectLst>
                  <a:outerShdw blurRad="38100" dist="38100" dir="2700000" algn="tl">
                    <a:srgbClr val="000000">
                      <a:alpha val="43137"/>
                    </a:srgbClr>
                  </a:outerShdw>
                </a:effectLst>
              </a:rPr>
              <a:t>烷烃</a:t>
            </a:r>
            <a:r>
              <a:rPr lang="zh-CN" altLang="en-US" sz="3000" dirty="0"/>
              <a:t>。</a:t>
            </a:r>
            <a:endParaRPr lang="en-US" altLang="zh-CN" sz="3000" dirty="0"/>
          </a:p>
          <a:p>
            <a:pPr>
              <a:buNone/>
            </a:pPr>
            <a:r>
              <a:rPr lang="zh-CN" altLang="en-US" sz="3000" dirty="0"/>
              <a:t>通式：炔 </a:t>
            </a:r>
            <a:r>
              <a:rPr lang="en-US" altLang="zh-CN" sz="3000" dirty="0"/>
              <a:t> +  2H</a:t>
            </a:r>
            <a:r>
              <a:rPr lang="en-US" altLang="zh-CN" sz="3000" baseline="-25000" dirty="0"/>
              <a:t>2</a:t>
            </a:r>
            <a:r>
              <a:rPr lang="en-US" altLang="zh-CN" sz="3000" dirty="0"/>
              <a:t>		 </a:t>
            </a:r>
            <a:r>
              <a:rPr lang="zh-CN" altLang="en-US" sz="3000" dirty="0"/>
              <a:t>烷</a:t>
            </a: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13" name="Group 12"/>
          <p:cNvGrpSpPr/>
          <p:nvPr/>
        </p:nvGrpSpPr>
        <p:grpSpPr>
          <a:xfrm>
            <a:off x="3048000" y="2844225"/>
            <a:ext cx="685800" cy="584775"/>
            <a:chOff x="2682240" y="5600304"/>
            <a:chExt cx="685800" cy="584775"/>
          </a:xfrm>
        </p:grpSpPr>
        <p:cxnSp>
          <p:nvCxnSpPr>
            <p:cNvPr id="14" name="Straight Arrow Connector 13"/>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682240" y="5600304"/>
              <a:ext cx="590483" cy="584775"/>
            </a:xfrm>
            <a:prstGeom prst="rect">
              <a:avLst/>
            </a:prstGeom>
            <a:noFill/>
          </p:spPr>
          <p:txBody>
            <a:bodyPr wrap="none" rtlCol="0">
              <a:spAutoFit/>
            </a:bodyPr>
            <a:lstStyle/>
            <a:p>
              <a:r>
                <a:rPr lang="en-US" sz="3200" baseline="-25000" dirty="0"/>
                <a:t>  Pd</a:t>
              </a:r>
              <a:endParaRPr lang="en-US" sz="3200" dirty="0"/>
            </a:p>
          </p:txBody>
        </p:sp>
      </p:grpSp>
      <p:grpSp>
        <p:nvGrpSpPr>
          <p:cNvPr id="24" name="Group 23"/>
          <p:cNvGrpSpPr/>
          <p:nvPr/>
        </p:nvGrpSpPr>
        <p:grpSpPr>
          <a:xfrm>
            <a:off x="304800" y="3886200"/>
            <a:ext cx="8610600" cy="1143000"/>
            <a:chOff x="847646" y="4648200"/>
            <a:chExt cx="8824086" cy="1143000"/>
          </a:xfrm>
        </p:grpSpPr>
        <p:pic>
          <p:nvPicPr>
            <p:cNvPr id="21" name="Picture 20" descr="烯烃命名.jpg"/>
            <p:cNvPicPr>
              <a:picLocks noChangeAspect="1"/>
            </p:cNvPicPr>
            <p:nvPr/>
          </p:nvPicPr>
          <p:blipFill>
            <a:blip r:embed="rId3"/>
            <a:srcRect/>
            <a:stretch>
              <a:fillRect/>
            </a:stretch>
          </p:blipFill>
          <p:spPr>
            <a:xfrm>
              <a:off x="847646" y="4648200"/>
              <a:ext cx="8824086" cy="1143000"/>
            </a:xfrm>
            <a:prstGeom prst="rect">
              <a:avLst/>
            </a:prstGeom>
          </p:spPr>
        </p:pic>
        <p:sp>
          <p:nvSpPr>
            <p:cNvPr id="22" name="TextBox 21"/>
            <p:cNvSpPr txBox="1"/>
            <p:nvPr/>
          </p:nvSpPr>
          <p:spPr>
            <a:xfrm>
              <a:off x="3908241" y="4933890"/>
              <a:ext cx="609600" cy="400110"/>
            </a:xfrm>
            <a:prstGeom prst="rect">
              <a:avLst/>
            </a:prstGeom>
            <a:solidFill>
              <a:srgbClr val="2D1ABC"/>
            </a:solidFill>
            <a:ln>
              <a:solidFill>
                <a:srgbClr val="2D1ABC"/>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000" dirty="0"/>
                <a:t>Pd</a:t>
              </a:r>
              <a:endParaRPr lang="en-US" sz="2000" dirty="0"/>
            </a:p>
          </p:txBody>
        </p:sp>
        <p:sp>
          <p:nvSpPr>
            <p:cNvPr id="23" name="TextBox 22"/>
            <p:cNvSpPr txBox="1"/>
            <p:nvPr/>
          </p:nvSpPr>
          <p:spPr>
            <a:xfrm>
              <a:off x="6704340" y="5329535"/>
              <a:ext cx="609600" cy="400110"/>
            </a:xfrm>
            <a:prstGeom prst="rect">
              <a:avLst/>
            </a:prstGeom>
            <a:solidFill>
              <a:srgbClr val="2D1ABC"/>
            </a:solidFill>
            <a:ln>
              <a:solidFill>
                <a:srgbClr val="2D1ABC"/>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000" dirty="0"/>
                <a:t>Pd</a:t>
              </a:r>
              <a:endParaRPr lang="en-US" sz="2000" dirty="0"/>
            </a:p>
          </p:txBody>
        </p:sp>
      </p:grpSp>
      <p:pic>
        <p:nvPicPr>
          <p:cNvPr id="25" name="Picture 24" descr="+h2.jpg"/>
          <p:cNvPicPr>
            <a:picLocks noChangeAspect="1"/>
          </p:cNvPicPr>
          <p:nvPr/>
        </p:nvPicPr>
        <p:blipFill>
          <a:blip r:embed="rId4"/>
          <a:srcRect/>
          <a:stretch>
            <a:fillRect/>
          </a:stretch>
        </p:blipFill>
        <p:spPr>
          <a:xfrm>
            <a:off x="352425" y="5181600"/>
            <a:ext cx="5438775" cy="838200"/>
          </a:xfrm>
          <a:prstGeom prst="rect">
            <a:avLst/>
          </a:prstGeom>
        </p:spPr>
      </p:pic>
      <p:pic>
        <p:nvPicPr>
          <p:cNvPr id="26" name="Picture 25" descr="+h2.jpg"/>
          <p:cNvPicPr>
            <a:picLocks noChangeAspect="1"/>
          </p:cNvPicPr>
          <p:nvPr/>
        </p:nvPicPr>
        <p:blipFill>
          <a:blip r:embed="rId5"/>
          <a:srcRect/>
          <a:stretch>
            <a:fillRect/>
          </a:stretch>
        </p:blipFill>
        <p:spPr>
          <a:xfrm>
            <a:off x="5791200" y="5181600"/>
            <a:ext cx="3076575" cy="8382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blinds(horizontal)">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linds(horizontal)">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blinds(horizontal)">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839200" cy="5867400"/>
          </a:xfrm>
        </p:spPr>
        <p:txBody>
          <a:bodyPr>
            <a:noAutofit/>
          </a:bodyPr>
          <a:lstStyle/>
          <a:p>
            <a:pPr>
              <a:lnSpc>
                <a:spcPct val="150000"/>
              </a:lnSpc>
              <a:buNone/>
            </a:pPr>
            <a:r>
              <a:rPr lang="en-US" altLang="zh-CN" sz="3000" dirty="0"/>
              <a:t>(1b) </a:t>
            </a:r>
            <a:r>
              <a:rPr lang="zh-CN" altLang="en-US" sz="3000" dirty="0"/>
              <a:t>部分加氢：在</a:t>
            </a:r>
            <a:r>
              <a:rPr lang="zh-CN" altLang="en-US" sz="3000" b="1" dirty="0">
                <a:solidFill>
                  <a:srgbClr val="7030A0"/>
                </a:solidFill>
                <a:effectLst>
                  <a:outerShdw blurRad="38100" dist="38100" dir="2700000" algn="tl">
                    <a:srgbClr val="000000">
                      <a:alpha val="43137"/>
                    </a:srgbClr>
                  </a:outerShdw>
                </a:effectLst>
              </a:rPr>
              <a:t>林德拉催化剂</a:t>
            </a:r>
            <a:r>
              <a:rPr lang="zh-CN" altLang="en-US" sz="3000" dirty="0"/>
              <a:t>的作用下，</a:t>
            </a:r>
            <a:r>
              <a:rPr lang="zh-CN" altLang="en-US" sz="3000" b="1" dirty="0">
                <a:solidFill>
                  <a:srgbClr val="7030A0"/>
                </a:solidFill>
                <a:effectLst>
                  <a:outerShdw blurRad="38100" dist="38100" dir="2700000" algn="tl">
                    <a:srgbClr val="000000">
                      <a:alpha val="43137"/>
                    </a:srgbClr>
                  </a:outerShdw>
                </a:effectLst>
              </a:rPr>
              <a:t>炔烃</a:t>
            </a:r>
            <a:r>
              <a:rPr lang="zh-CN" altLang="en-US" sz="3000" dirty="0"/>
              <a:t>与氢气反应停留在</a:t>
            </a:r>
            <a:r>
              <a:rPr lang="zh-CN" altLang="en-US" sz="3000" b="1" dirty="0">
                <a:solidFill>
                  <a:srgbClr val="7030A0"/>
                </a:solidFill>
                <a:effectLst>
                  <a:outerShdw blurRad="38100" dist="38100" dir="2700000" algn="tl">
                    <a:srgbClr val="000000">
                      <a:alpha val="43137"/>
                    </a:srgbClr>
                  </a:outerShdw>
                </a:effectLst>
              </a:rPr>
              <a:t>烯烃</a:t>
            </a:r>
            <a:r>
              <a:rPr lang="zh-CN" altLang="en-US" sz="3000" dirty="0"/>
              <a:t>的阶段。</a:t>
            </a:r>
            <a:endParaRPr lang="en-US" altLang="zh-CN" sz="3000" dirty="0"/>
          </a:p>
          <a:p>
            <a:pPr>
              <a:lnSpc>
                <a:spcPct val="150000"/>
              </a:lnSpc>
              <a:buNone/>
            </a:pPr>
            <a:r>
              <a:rPr lang="zh-CN" altLang="en-US" sz="3000" dirty="0"/>
              <a:t>通式：炔 </a:t>
            </a:r>
            <a:r>
              <a:rPr lang="en-US" altLang="zh-CN" sz="3000" dirty="0"/>
              <a:t> + H</a:t>
            </a:r>
            <a:r>
              <a:rPr lang="en-US" altLang="zh-CN" sz="3000" baseline="-25000" dirty="0"/>
              <a:t>2</a:t>
            </a:r>
            <a:r>
              <a:rPr lang="en-US" altLang="zh-CN" sz="3000" dirty="0"/>
              <a:t> 		 	</a:t>
            </a:r>
            <a:r>
              <a:rPr lang="zh-CN" altLang="en-US" sz="3000" dirty="0"/>
              <a:t>烯  </a:t>
            </a:r>
            <a:r>
              <a:rPr lang="en-US" altLang="zh-CN" sz="3000" dirty="0"/>
              <a:t>	</a:t>
            </a:r>
          </a:p>
          <a:p>
            <a:pPr>
              <a:lnSpc>
                <a:spcPct val="150000"/>
              </a:lnSpc>
              <a:buNone/>
            </a:pPr>
            <a:r>
              <a:rPr lang="en-US" altLang="zh-CN" sz="3000" dirty="0"/>
              <a:t>CH</a:t>
            </a:r>
            <a:r>
              <a:rPr lang="en-US" altLang="zh-CN" sz="3000" baseline="-25000" dirty="0"/>
              <a:t>3</a:t>
            </a:r>
            <a:r>
              <a:rPr lang="en-US" altLang="zh-CN" sz="3000" dirty="0"/>
              <a:t> C≡CCH</a:t>
            </a:r>
            <a:r>
              <a:rPr lang="en-US" altLang="zh-CN" sz="3000" baseline="-25000" dirty="0"/>
              <a:t>3</a:t>
            </a:r>
            <a:r>
              <a:rPr lang="en-US" altLang="zh-CN" sz="3000" dirty="0"/>
              <a:t> + H</a:t>
            </a:r>
            <a:r>
              <a:rPr lang="en-US" altLang="zh-CN" sz="3000" baseline="-25000" dirty="0"/>
              <a:t>2</a:t>
            </a:r>
            <a:r>
              <a:rPr lang="en-US" altLang="zh-CN" sz="3000" dirty="0"/>
              <a:t> 			 CH</a:t>
            </a:r>
            <a:r>
              <a:rPr lang="en-US" altLang="zh-CN" sz="3000" baseline="-25000" dirty="0"/>
              <a:t>3</a:t>
            </a:r>
            <a:r>
              <a:rPr lang="en-US" altLang="zh-CN" sz="3000" dirty="0"/>
              <a:t> CH=CHCH</a:t>
            </a:r>
            <a:r>
              <a:rPr lang="en-US" altLang="zh-CN" sz="3000" baseline="-25000" dirty="0"/>
              <a:t>3</a:t>
            </a:r>
            <a:endParaRPr lang="en-US" altLang="zh-CN" sz="3000" dirty="0"/>
          </a:p>
          <a:p>
            <a:pPr>
              <a:lnSpc>
                <a:spcPct val="150000"/>
              </a:lnSpc>
              <a:buNone/>
            </a:pPr>
            <a:r>
              <a:rPr lang="en-US" altLang="zh-CN" sz="3000" dirty="0"/>
              <a:t>HC ≡CCH</a:t>
            </a:r>
            <a:r>
              <a:rPr lang="en-US" altLang="zh-CN" sz="3000" baseline="-25000" dirty="0"/>
              <a:t>2</a:t>
            </a:r>
            <a:r>
              <a:rPr lang="en-US" altLang="zh-CN" sz="3000" dirty="0"/>
              <a:t>(CH</a:t>
            </a:r>
            <a:r>
              <a:rPr lang="en-US" altLang="zh-CN" sz="3000" baseline="-25000" dirty="0"/>
              <a:t>3</a:t>
            </a:r>
            <a:r>
              <a:rPr lang="en-US" altLang="zh-CN" sz="3000" dirty="0"/>
              <a:t>)</a:t>
            </a:r>
            <a:r>
              <a:rPr lang="en-US" altLang="zh-CN" sz="3000" baseline="-25000" dirty="0"/>
              <a:t>2</a:t>
            </a:r>
            <a:r>
              <a:rPr lang="en-US" altLang="zh-CN" sz="3000" dirty="0"/>
              <a:t> + H</a:t>
            </a:r>
            <a:r>
              <a:rPr lang="en-US" altLang="zh-CN" sz="3000" baseline="-25000" dirty="0"/>
              <a:t>2</a:t>
            </a:r>
            <a:r>
              <a:rPr lang="en-US" altLang="zh-CN" sz="3000" dirty="0"/>
              <a:t> 		         CH</a:t>
            </a:r>
            <a:r>
              <a:rPr lang="en-US" altLang="zh-CN" sz="3000" baseline="-25000" dirty="0"/>
              <a:t>2</a:t>
            </a:r>
            <a:r>
              <a:rPr lang="en-US" altLang="zh-CN" sz="3000" dirty="0"/>
              <a:t>=CHCH</a:t>
            </a:r>
            <a:r>
              <a:rPr lang="en-US" altLang="zh-CN" sz="3000" baseline="-25000" dirty="0"/>
              <a:t>2</a:t>
            </a:r>
            <a:r>
              <a:rPr lang="en-US" altLang="zh-CN" sz="3000" dirty="0"/>
              <a:t>(CH</a:t>
            </a:r>
            <a:r>
              <a:rPr lang="en-US" altLang="zh-CN" sz="3000" baseline="-25000" dirty="0"/>
              <a:t>3</a:t>
            </a:r>
            <a:r>
              <a:rPr lang="en-US" altLang="zh-CN" sz="3000" dirty="0"/>
              <a:t>)</a:t>
            </a:r>
            <a:r>
              <a:rPr lang="en-US" altLang="zh-CN" sz="3000" baseline="-25000" dirty="0"/>
              <a:t>2</a:t>
            </a:r>
            <a:r>
              <a:rPr lang="en-US" altLang="zh-CN" sz="3000" dirty="0"/>
              <a:t> </a:t>
            </a:r>
          </a:p>
          <a:p>
            <a:pPr>
              <a:lnSpc>
                <a:spcPct val="150000"/>
              </a:lnSpc>
              <a:buNone/>
            </a:pPr>
            <a:endParaRPr lang="en-US" altLang="zh-CN" sz="3000" dirty="0"/>
          </a:p>
          <a:p>
            <a:pPr>
              <a:lnSpc>
                <a:spcPct val="150000"/>
              </a:lnSpc>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13" name="Group 12"/>
          <p:cNvGrpSpPr/>
          <p:nvPr/>
        </p:nvGrpSpPr>
        <p:grpSpPr>
          <a:xfrm>
            <a:off x="2895600" y="2590800"/>
            <a:ext cx="1981200" cy="369626"/>
            <a:chOff x="2819400" y="5804079"/>
            <a:chExt cx="1981200" cy="369626"/>
          </a:xfrm>
        </p:grpSpPr>
        <p:cxnSp>
          <p:nvCxnSpPr>
            <p:cNvPr id="14" name="Straight Arrow Connector 13"/>
            <p:cNvCxnSpPr/>
            <p:nvPr/>
          </p:nvCxnSpPr>
          <p:spPr>
            <a:xfrm>
              <a:off x="2819400" y="6172117"/>
              <a:ext cx="1692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866620" y="5804079"/>
              <a:ext cx="1933980" cy="369332"/>
            </a:xfrm>
            <a:prstGeom prst="rect">
              <a:avLst/>
            </a:prstGeom>
            <a:noFill/>
          </p:spPr>
          <p:txBody>
            <a:bodyPr wrap="square" rtlCol="0">
              <a:spAutoFit/>
            </a:bodyPr>
            <a:lstStyle/>
            <a:p>
              <a:r>
                <a:rPr lang="zh-CN" altLang="en-US" dirty="0"/>
                <a:t>林德拉催化剂</a:t>
              </a:r>
              <a:endParaRPr lang="en-US" dirty="0"/>
            </a:p>
          </p:txBody>
        </p:sp>
      </p:grpSp>
      <p:grpSp>
        <p:nvGrpSpPr>
          <p:cNvPr id="27" name="Group 26">
            <a:extLst>
              <a:ext uri="{FF2B5EF4-FFF2-40B4-BE49-F238E27FC236}">
                <a16:creationId xmlns:a16="http://schemas.microsoft.com/office/drawing/2014/main" id="{46BEDB8E-F897-4261-A616-39D3D6EA7F3D}"/>
              </a:ext>
            </a:extLst>
          </p:cNvPr>
          <p:cNvGrpSpPr/>
          <p:nvPr/>
        </p:nvGrpSpPr>
        <p:grpSpPr>
          <a:xfrm>
            <a:off x="3200400" y="3429000"/>
            <a:ext cx="1981200" cy="369626"/>
            <a:chOff x="2819400" y="5804079"/>
            <a:chExt cx="1981200" cy="369626"/>
          </a:xfrm>
        </p:grpSpPr>
        <p:cxnSp>
          <p:nvCxnSpPr>
            <p:cNvPr id="28" name="Straight Arrow Connector 27">
              <a:extLst>
                <a:ext uri="{FF2B5EF4-FFF2-40B4-BE49-F238E27FC236}">
                  <a16:creationId xmlns:a16="http://schemas.microsoft.com/office/drawing/2014/main" id="{4230FF4D-88FE-4F38-8051-81D6B4618C6B}"/>
                </a:ext>
              </a:extLst>
            </p:cNvPr>
            <p:cNvCxnSpPr/>
            <p:nvPr/>
          </p:nvCxnSpPr>
          <p:spPr>
            <a:xfrm>
              <a:off x="2819400" y="6172117"/>
              <a:ext cx="1692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8C5577A-F57B-43EF-9187-49C76595F70F}"/>
                </a:ext>
              </a:extLst>
            </p:cNvPr>
            <p:cNvSpPr txBox="1"/>
            <p:nvPr/>
          </p:nvSpPr>
          <p:spPr>
            <a:xfrm>
              <a:off x="2866620" y="5804079"/>
              <a:ext cx="1933980" cy="369332"/>
            </a:xfrm>
            <a:prstGeom prst="rect">
              <a:avLst/>
            </a:prstGeom>
            <a:noFill/>
          </p:spPr>
          <p:txBody>
            <a:bodyPr wrap="square" rtlCol="0">
              <a:spAutoFit/>
            </a:bodyPr>
            <a:lstStyle/>
            <a:p>
              <a:r>
                <a:rPr lang="zh-CN" altLang="en-US" dirty="0"/>
                <a:t>林德拉催化剂</a:t>
              </a:r>
              <a:endParaRPr lang="en-US" dirty="0"/>
            </a:p>
          </p:txBody>
        </p:sp>
      </p:grpSp>
      <p:grpSp>
        <p:nvGrpSpPr>
          <p:cNvPr id="30" name="Group 29">
            <a:extLst>
              <a:ext uri="{FF2B5EF4-FFF2-40B4-BE49-F238E27FC236}">
                <a16:creationId xmlns:a16="http://schemas.microsoft.com/office/drawing/2014/main" id="{2BF6A2FD-620D-4828-8902-15B39D318021}"/>
              </a:ext>
            </a:extLst>
          </p:cNvPr>
          <p:cNvGrpSpPr/>
          <p:nvPr/>
        </p:nvGrpSpPr>
        <p:grpSpPr>
          <a:xfrm>
            <a:off x="3807249" y="4120193"/>
            <a:ext cx="1981200" cy="369626"/>
            <a:chOff x="2819400" y="5804079"/>
            <a:chExt cx="1981200" cy="369626"/>
          </a:xfrm>
        </p:grpSpPr>
        <p:cxnSp>
          <p:nvCxnSpPr>
            <p:cNvPr id="31" name="Straight Arrow Connector 30">
              <a:extLst>
                <a:ext uri="{FF2B5EF4-FFF2-40B4-BE49-F238E27FC236}">
                  <a16:creationId xmlns:a16="http://schemas.microsoft.com/office/drawing/2014/main" id="{1419E020-58C8-4B7B-8D74-7640319E44D7}"/>
                </a:ext>
              </a:extLst>
            </p:cNvPr>
            <p:cNvCxnSpPr/>
            <p:nvPr/>
          </p:nvCxnSpPr>
          <p:spPr>
            <a:xfrm>
              <a:off x="2819400" y="6172117"/>
              <a:ext cx="1692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BCFD190-CA05-451C-801A-7D6DEF81FE34}"/>
                </a:ext>
              </a:extLst>
            </p:cNvPr>
            <p:cNvSpPr txBox="1"/>
            <p:nvPr/>
          </p:nvSpPr>
          <p:spPr>
            <a:xfrm>
              <a:off x="2866620" y="5804079"/>
              <a:ext cx="1933980" cy="369332"/>
            </a:xfrm>
            <a:prstGeom prst="rect">
              <a:avLst/>
            </a:prstGeom>
            <a:noFill/>
          </p:spPr>
          <p:txBody>
            <a:bodyPr wrap="square" rtlCol="0">
              <a:spAutoFit/>
            </a:bodyPr>
            <a:lstStyle/>
            <a:p>
              <a:r>
                <a:rPr lang="zh-CN" altLang="en-US" dirty="0"/>
                <a:t>林德拉催化剂</a:t>
              </a:r>
              <a:endParaRPr lang="en-US" dirty="0"/>
            </a:p>
          </p:txBody>
        </p:sp>
      </p:grpSp>
      <p:sp>
        <p:nvSpPr>
          <p:cNvPr id="2" name="Rectangle: Rounded Corners 1">
            <a:extLst>
              <a:ext uri="{FF2B5EF4-FFF2-40B4-BE49-F238E27FC236}">
                <a16:creationId xmlns:a16="http://schemas.microsoft.com/office/drawing/2014/main" id="{51DF41C6-6CCC-4403-AEA2-4BC1CCA308D2}"/>
              </a:ext>
            </a:extLst>
          </p:cNvPr>
          <p:cNvSpPr/>
          <p:nvPr/>
        </p:nvSpPr>
        <p:spPr>
          <a:xfrm>
            <a:off x="5029200" y="3429000"/>
            <a:ext cx="2514600" cy="51114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MY"/>
          </a:p>
        </p:txBody>
      </p:sp>
      <p:sp>
        <p:nvSpPr>
          <p:cNvPr id="33" name="Rectangle: Rounded Corners 32">
            <a:extLst>
              <a:ext uri="{FF2B5EF4-FFF2-40B4-BE49-F238E27FC236}">
                <a16:creationId xmlns:a16="http://schemas.microsoft.com/office/drawing/2014/main" id="{2AE07407-ED98-4826-8D27-24F6672A8498}"/>
              </a:ext>
            </a:extLst>
          </p:cNvPr>
          <p:cNvSpPr/>
          <p:nvPr/>
        </p:nvSpPr>
        <p:spPr>
          <a:xfrm>
            <a:off x="5630546" y="4213256"/>
            <a:ext cx="3056253" cy="51114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MY"/>
          </a:p>
        </p:txBody>
      </p:sp>
    </p:spTree>
    <p:extLst>
      <p:ext uri="{BB962C8B-B14F-4D97-AF65-F5344CB8AC3E}">
        <p14:creationId xmlns:p14="http://schemas.microsoft.com/office/powerpoint/2010/main" val="24389848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linds(horizontal)">
                                      <p:cBhvr>
                                        <p:cTn id="23" dur="500"/>
                                        <p:tgtEl>
                                          <p:spTgt spid="2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blinds(horizontal)">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2"/>
                                        </p:tgtEl>
                                      </p:cBhvr>
                                    </p:animEffect>
                                    <p:set>
                                      <p:cBhvr>
                                        <p:cTn id="34" dur="1" fill="hold">
                                          <p:stCondLst>
                                            <p:cond delay="499"/>
                                          </p:stCondLst>
                                        </p:cTn>
                                        <p:tgtEl>
                                          <p:spTgt spid="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0" nodeType="clickEffect">
                                  <p:stCondLst>
                                    <p:cond delay="0"/>
                                  </p:stCondLst>
                                  <p:childTnLst>
                                    <p:animEffect transition="out" filter="fade">
                                      <p:cBhvr>
                                        <p:cTn id="38" dur="500"/>
                                        <p:tgtEl>
                                          <p:spTgt spid="33"/>
                                        </p:tgtEl>
                                      </p:cBhvr>
                                    </p:animEffect>
                                    <p:set>
                                      <p:cBhvr>
                                        <p:cTn id="39"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animBg="1"/>
      <p:bldP spid="3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en-US" altLang="zh-CN" sz="3000" dirty="0"/>
              <a:t>2. </a:t>
            </a:r>
            <a:r>
              <a:rPr lang="zh-CN" altLang="en-US" sz="3000" dirty="0"/>
              <a:t>加成反应</a:t>
            </a:r>
            <a:endParaRPr lang="en-US" altLang="zh-CN" sz="3000" dirty="0"/>
          </a:p>
          <a:p>
            <a:pPr>
              <a:buNone/>
            </a:pPr>
            <a:r>
              <a:rPr lang="en-US" altLang="zh-CN" sz="3000" dirty="0"/>
              <a:t>(2) </a:t>
            </a:r>
            <a:r>
              <a:rPr lang="zh-CN" altLang="en-US" sz="3000" dirty="0"/>
              <a:t>加卤素：</a:t>
            </a:r>
            <a:r>
              <a:rPr lang="en-US" altLang="zh-CN" sz="3000" dirty="0"/>
              <a:t>Cl</a:t>
            </a:r>
            <a:r>
              <a:rPr lang="en-US" altLang="zh-CN" sz="3000" baseline="-25000" dirty="0"/>
              <a:t>2</a:t>
            </a:r>
            <a:r>
              <a:rPr lang="en-US" altLang="zh-CN" sz="3000" dirty="0"/>
              <a:t> </a:t>
            </a:r>
            <a:r>
              <a:rPr lang="zh-CN" altLang="en-US" sz="3000" dirty="0"/>
              <a:t>、</a:t>
            </a:r>
            <a:r>
              <a:rPr lang="en-US" altLang="zh-CN" sz="3000" dirty="0"/>
              <a:t>Br</a:t>
            </a:r>
            <a:r>
              <a:rPr lang="en-US" altLang="zh-CN" sz="3000" baseline="-25000" dirty="0"/>
              <a:t>2</a:t>
            </a:r>
            <a:r>
              <a:rPr lang="en-US" altLang="zh-CN" sz="3000" dirty="0"/>
              <a:t> </a:t>
            </a:r>
            <a:r>
              <a:rPr lang="zh-CN" altLang="en-US" sz="3000" dirty="0"/>
              <a:t>、</a:t>
            </a:r>
            <a:r>
              <a:rPr lang="en-US" altLang="zh-CN" sz="3000" dirty="0"/>
              <a:t>I</a:t>
            </a:r>
            <a:r>
              <a:rPr lang="en-US" altLang="zh-CN" sz="3000" baseline="-25000" dirty="0"/>
              <a:t>2</a:t>
            </a:r>
            <a:r>
              <a:rPr lang="zh-CN" altLang="en-US" sz="3000" dirty="0"/>
              <a:t>易与炔烃起加成反应。</a:t>
            </a:r>
            <a:endParaRPr lang="en-US" altLang="zh-CN" sz="3000" dirty="0"/>
          </a:p>
          <a:p>
            <a:pPr>
              <a:buNone/>
            </a:pPr>
            <a:r>
              <a:rPr lang="en-US" altLang="zh-CN" sz="3000" dirty="0"/>
              <a:t>	  </a:t>
            </a:r>
            <a:r>
              <a:rPr lang="zh-CN" altLang="en-US" sz="3000" dirty="0"/>
              <a:t>通式：</a:t>
            </a:r>
            <a:r>
              <a:rPr lang="en-US" altLang="zh-CN" sz="3000" dirty="0"/>
              <a:t>	 </a:t>
            </a:r>
            <a:r>
              <a:rPr lang="zh-CN" altLang="en-US" sz="3000" dirty="0"/>
              <a:t>炔    </a:t>
            </a:r>
            <a:r>
              <a:rPr lang="en-US" altLang="zh-CN" sz="3000" dirty="0"/>
              <a:t>	      </a:t>
            </a:r>
            <a:r>
              <a:rPr lang="en-US" altLang="zh-CN" sz="3000" dirty="0">
                <a:sym typeface="Wingdings" pitchFamily="2" charset="2"/>
              </a:rPr>
              <a:t> </a:t>
            </a:r>
            <a:r>
              <a:rPr lang="zh-CN" altLang="en-US" sz="3000" dirty="0">
                <a:sym typeface="Wingdings" pitchFamily="2" charset="2"/>
              </a:rPr>
              <a:t>二卤代烯</a:t>
            </a:r>
            <a:r>
              <a:rPr lang="en-US" altLang="zh-CN" sz="3000" dirty="0">
                <a:sym typeface="Wingdings" pitchFamily="2" charset="2"/>
              </a:rPr>
              <a:t>	</a:t>
            </a:r>
            <a:r>
              <a:rPr lang="zh-CN" altLang="en-US" sz="3000" dirty="0">
                <a:sym typeface="Wingdings" pitchFamily="2" charset="2"/>
              </a:rPr>
              <a:t>四卤代烷</a:t>
            </a: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r>
              <a:rPr lang="zh-CN" altLang="en-US" sz="3000" dirty="0">
                <a:sym typeface="Wingdings" pitchFamily="2" charset="2"/>
              </a:rPr>
              <a:t>  乙炔</a:t>
            </a:r>
            <a:r>
              <a:rPr lang="en-US" altLang="zh-CN" sz="3000" dirty="0">
                <a:sym typeface="Wingdings" pitchFamily="2" charset="2"/>
              </a:rPr>
              <a:t>	1,2-</a:t>
            </a:r>
            <a:r>
              <a:rPr lang="zh-CN" altLang="en-US" sz="3000" dirty="0">
                <a:sym typeface="Wingdings" pitchFamily="2" charset="2"/>
              </a:rPr>
              <a:t>二氯乙烯</a:t>
            </a:r>
            <a:r>
              <a:rPr lang="en-US" altLang="zh-CN" sz="3000" dirty="0">
                <a:sym typeface="Wingdings" pitchFamily="2" charset="2"/>
              </a:rPr>
              <a:t>	     1,1,2,2-</a:t>
            </a:r>
            <a:r>
              <a:rPr lang="zh-CN" altLang="en-US" sz="3000" dirty="0">
                <a:sym typeface="Wingdings" pitchFamily="2" charset="2"/>
              </a:rPr>
              <a:t>四氯乙烷</a:t>
            </a:r>
            <a:endParaRPr lang="en-US" altLang="zh-CN" sz="3000" dirty="0">
              <a:sym typeface="Wingdings" pitchFamily="2" charset="2"/>
            </a:endParaRPr>
          </a:p>
          <a:p>
            <a:pPr>
              <a:buNone/>
            </a:pPr>
            <a:endParaRPr lang="en-US" altLang="zh-CN" sz="3000" dirty="0">
              <a:sym typeface="Wingdings" pitchFamily="2" charset="2"/>
            </a:endParaRPr>
          </a:p>
          <a:p>
            <a:pPr>
              <a:buNone/>
            </a:pPr>
            <a:r>
              <a:rPr lang="zh-CN" altLang="en-US" sz="3000" b="1" dirty="0">
                <a:solidFill>
                  <a:srgbClr val="002060"/>
                </a:solidFill>
                <a:effectLst>
                  <a:outerShdw blurRad="38100" dist="38100" dir="2700000" algn="tl">
                    <a:srgbClr val="000000">
                      <a:alpha val="43137"/>
                    </a:srgbClr>
                  </a:outerShdw>
                </a:effectLst>
                <a:sym typeface="Wingdings" pitchFamily="2" charset="2"/>
              </a:rPr>
              <a:t>炔烃能使暗红色</a:t>
            </a:r>
            <a:r>
              <a:rPr lang="en-US" altLang="zh-CN" sz="3000" b="1" dirty="0">
                <a:solidFill>
                  <a:srgbClr val="002060"/>
                </a:solidFill>
                <a:effectLst>
                  <a:outerShdw blurRad="38100" dist="38100" dir="2700000" algn="tl">
                    <a:srgbClr val="000000">
                      <a:alpha val="43137"/>
                    </a:srgbClr>
                  </a:outerShdw>
                </a:effectLst>
                <a:sym typeface="Wingdings" pitchFamily="2" charset="2"/>
              </a:rPr>
              <a:t>Br</a:t>
            </a:r>
            <a:r>
              <a:rPr lang="en-US" altLang="zh-CN" sz="3000" b="1" baseline="-25000" dirty="0">
                <a:solidFill>
                  <a:srgbClr val="002060"/>
                </a:solidFill>
                <a:effectLst>
                  <a:outerShdw blurRad="38100" dist="38100" dir="2700000" algn="tl">
                    <a:srgbClr val="000000">
                      <a:alpha val="43137"/>
                    </a:srgbClr>
                  </a:outerShdw>
                </a:effectLst>
                <a:sym typeface="Wingdings" pitchFamily="2" charset="2"/>
              </a:rPr>
              <a:t>2</a:t>
            </a:r>
            <a:r>
              <a:rPr lang="zh-CN" altLang="en-US" sz="3000" b="1" baseline="-25000" dirty="0">
                <a:solidFill>
                  <a:srgbClr val="002060"/>
                </a:solidFill>
                <a:effectLst>
                  <a:outerShdw blurRad="38100" dist="38100" dir="2700000" algn="tl">
                    <a:srgbClr val="000000">
                      <a:alpha val="43137"/>
                    </a:srgbClr>
                  </a:outerShdw>
                </a:effectLst>
                <a:sym typeface="Wingdings" pitchFamily="2" charset="2"/>
              </a:rPr>
              <a:t> </a:t>
            </a:r>
            <a:r>
              <a:rPr lang="en-US" altLang="zh-CN" sz="3000" b="1" dirty="0">
                <a:solidFill>
                  <a:srgbClr val="002060"/>
                </a:solidFill>
                <a:effectLst>
                  <a:outerShdw blurRad="38100" dist="38100" dir="2700000" algn="tl">
                    <a:srgbClr val="000000">
                      <a:alpha val="43137"/>
                    </a:srgbClr>
                  </a:outerShdw>
                </a:effectLst>
                <a:sym typeface="Wingdings" pitchFamily="2" charset="2"/>
              </a:rPr>
              <a:t>(CCl</a:t>
            </a:r>
            <a:r>
              <a:rPr lang="en-US" altLang="zh-CN" sz="3000" b="1" baseline="-25000" dirty="0">
                <a:solidFill>
                  <a:srgbClr val="002060"/>
                </a:solidFill>
                <a:effectLst>
                  <a:outerShdw blurRad="38100" dist="38100" dir="2700000" algn="tl">
                    <a:srgbClr val="000000">
                      <a:alpha val="43137"/>
                    </a:srgbClr>
                  </a:outerShdw>
                </a:effectLst>
                <a:sym typeface="Wingdings" pitchFamily="2" charset="2"/>
              </a:rPr>
              <a:t>4</a:t>
            </a:r>
            <a:r>
              <a:rPr lang="en-US" altLang="zh-CN" sz="3000" b="1" dirty="0">
                <a:solidFill>
                  <a:srgbClr val="002060"/>
                </a:solidFill>
                <a:effectLst>
                  <a:outerShdw blurRad="38100" dist="38100" dir="2700000" algn="tl">
                    <a:srgbClr val="000000">
                      <a:alpha val="43137"/>
                    </a:srgbClr>
                  </a:outerShdw>
                </a:effectLst>
                <a:sym typeface="Wingdings" pitchFamily="2" charset="2"/>
              </a:rPr>
              <a:t>)</a:t>
            </a:r>
            <a:r>
              <a:rPr lang="zh-CN" altLang="en-US" sz="3000" b="1" dirty="0">
                <a:solidFill>
                  <a:srgbClr val="002060"/>
                </a:solidFill>
                <a:effectLst>
                  <a:outerShdw blurRad="38100" dist="38100" dir="2700000" algn="tl">
                    <a:srgbClr val="000000">
                      <a:alpha val="43137"/>
                    </a:srgbClr>
                  </a:outerShdw>
                </a:effectLst>
                <a:sym typeface="Wingdings" pitchFamily="2" charset="2"/>
              </a:rPr>
              <a:t>褪色。</a:t>
            </a:r>
            <a:endParaRPr lang="en-MY" altLang="zh-CN" sz="3000" b="1" dirty="0">
              <a:solidFill>
                <a:srgbClr val="002060"/>
              </a:solidFill>
              <a:effectLst>
                <a:outerShdw blurRad="38100" dist="38100" dir="2700000" algn="tl">
                  <a:srgbClr val="000000">
                    <a:alpha val="43137"/>
                  </a:srgbClr>
                </a:outerShdw>
              </a:effectLst>
              <a:sym typeface="Wingdings" pitchFamily="2" charset="2"/>
            </a:endParaRPr>
          </a:p>
          <a:p>
            <a:pPr>
              <a:buNone/>
            </a:pPr>
            <a:r>
              <a:rPr lang="zh-CN" altLang="en-US" sz="3000" b="1" dirty="0">
                <a:solidFill>
                  <a:srgbClr val="7030A0"/>
                </a:solidFill>
                <a:effectLst>
                  <a:outerShdw blurRad="38100" dist="38100" dir="2700000" algn="tl">
                    <a:srgbClr val="000000">
                      <a:alpha val="43137"/>
                    </a:srgbClr>
                  </a:outerShdw>
                </a:effectLst>
              </a:rPr>
              <a:t>碘与乙炔的加成</a:t>
            </a:r>
            <a:r>
              <a:rPr lang="en-US" altLang="zh-CN" sz="3000" b="1" dirty="0">
                <a:solidFill>
                  <a:srgbClr val="7030A0"/>
                </a:solidFill>
                <a:effectLst>
                  <a:outerShdw blurRad="38100" dist="38100" dir="2700000" algn="tl">
                    <a:srgbClr val="000000">
                      <a:alpha val="43137"/>
                    </a:srgbClr>
                  </a:outerShdw>
                </a:effectLst>
              </a:rPr>
              <a:t>--</a:t>
            </a:r>
            <a:r>
              <a:rPr lang="zh-CN" altLang="en-US" sz="3000" b="1" dirty="0">
                <a:solidFill>
                  <a:srgbClr val="7030A0"/>
                </a:solidFill>
                <a:effectLst>
                  <a:outerShdw blurRad="38100" dist="38100" dir="2700000" algn="tl">
                    <a:srgbClr val="000000">
                      <a:alpha val="43137"/>
                    </a:srgbClr>
                  </a:outerShdw>
                </a:effectLst>
              </a:rPr>
              <a:t>主要为一分子加成产物</a:t>
            </a:r>
            <a:endParaRPr lang="en-US" altLang="zh-CN" sz="3000" b="1" dirty="0">
              <a:solidFill>
                <a:srgbClr val="7030A0"/>
              </a:solidFill>
              <a:effectLst>
                <a:outerShdw blurRad="38100" dist="38100" dir="2700000" algn="tl">
                  <a:srgbClr val="000000">
                    <a:alpha val="43137"/>
                  </a:srgbClr>
                </a:outerShdw>
              </a:effectLst>
              <a:sym typeface="Wingdings" pitchFamily="2" charset="2"/>
            </a:endParaRPr>
          </a:p>
          <a:p>
            <a:pPr>
              <a:buNone/>
            </a:pPr>
            <a:endParaRPr lang="en-US" altLang="zh-CN" sz="3000" dirty="0">
              <a:sym typeface="Wingdings" pitchFamily="2" charset="2"/>
            </a:endParaRPr>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7" name="Group 6"/>
          <p:cNvGrpSpPr/>
          <p:nvPr/>
        </p:nvGrpSpPr>
        <p:grpSpPr>
          <a:xfrm>
            <a:off x="3048000" y="2032579"/>
            <a:ext cx="548640" cy="369626"/>
            <a:chOff x="2819400" y="5804079"/>
            <a:chExt cx="548640" cy="369626"/>
          </a:xfrm>
        </p:grpSpPr>
        <p:cxnSp>
          <p:nvCxnSpPr>
            <p:cNvPr id="8" name="Straight Arrow Connector 7"/>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93162" y="5804079"/>
              <a:ext cx="383438" cy="369332"/>
            </a:xfrm>
            <a:prstGeom prst="rect">
              <a:avLst/>
            </a:prstGeom>
            <a:noFill/>
          </p:spPr>
          <p:txBody>
            <a:bodyPr wrap="none" rtlCol="0">
              <a:spAutoFit/>
            </a:bodyPr>
            <a:lstStyle/>
            <a:p>
              <a:r>
                <a:rPr lang="en-US" altLang="zh-CN" dirty="0"/>
                <a:t>X</a:t>
              </a:r>
              <a:r>
                <a:rPr lang="en-US" altLang="zh-CN" baseline="-25000" dirty="0"/>
                <a:t>2</a:t>
              </a:r>
              <a:endParaRPr lang="en-US" dirty="0"/>
            </a:p>
          </p:txBody>
        </p:sp>
      </p:grpSp>
      <p:grpSp>
        <p:nvGrpSpPr>
          <p:cNvPr id="11" name="Group 10"/>
          <p:cNvGrpSpPr/>
          <p:nvPr/>
        </p:nvGrpSpPr>
        <p:grpSpPr>
          <a:xfrm>
            <a:off x="5318760" y="2032579"/>
            <a:ext cx="548640" cy="369626"/>
            <a:chOff x="2819400" y="5804079"/>
            <a:chExt cx="548640" cy="369626"/>
          </a:xfrm>
        </p:grpSpPr>
        <p:cxnSp>
          <p:nvCxnSpPr>
            <p:cNvPr id="12" name="Straight Arrow Connector 11"/>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93162" y="5804079"/>
              <a:ext cx="383438" cy="369332"/>
            </a:xfrm>
            <a:prstGeom prst="rect">
              <a:avLst/>
            </a:prstGeom>
            <a:noFill/>
          </p:spPr>
          <p:txBody>
            <a:bodyPr wrap="none" rtlCol="0">
              <a:spAutoFit/>
            </a:bodyPr>
            <a:lstStyle/>
            <a:p>
              <a:r>
                <a:rPr lang="en-US" altLang="zh-CN" dirty="0"/>
                <a:t>X</a:t>
              </a:r>
              <a:r>
                <a:rPr lang="en-US" altLang="zh-CN" baseline="-25000" dirty="0"/>
                <a:t>2</a:t>
              </a:r>
              <a:endParaRPr lang="en-US" dirty="0"/>
            </a:p>
          </p:txBody>
        </p:sp>
      </p:grpSp>
      <p:pic>
        <p:nvPicPr>
          <p:cNvPr id="15" name="Picture 14" descr="+X22.jpg"/>
          <p:cNvPicPr>
            <a:picLocks noChangeAspect="1"/>
          </p:cNvPicPr>
          <p:nvPr/>
        </p:nvPicPr>
        <p:blipFill>
          <a:blip r:embed="rId3"/>
          <a:srcRect/>
          <a:stretch>
            <a:fillRect/>
          </a:stretch>
        </p:blipFill>
        <p:spPr>
          <a:xfrm>
            <a:off x="1828800" y="2743200"/>
            <a:ext cx="5638800" cy="1447800"/>
          </a:xfrm>
          <a:prstGeom prst="rect">
            <a:avLst/>
          </a:prstGeom>
        </p:spPr>
      </p:pic>
      <p:grpSp>
        <p:nvGrpSpPr>
          <p:cNvPr id="17" name="Group 16"/>
          <p:cNvGrpSpPr/>
          <p:nvPr/>
        </p:nvGrpSpPr>
        <p:grpSpPr>
          <a:xfrm>
            <a:off x="1447800" y="4191000"/>
            <a:ext cx="548640" cy="369626"/>
            <a:chOff x="2819400" y="5804079"/>
            <a:chExt cx="548640" cy="369626"/>
          </a:xfrm>
        </p:grpSpPr>
        <p:cxnSp>
          <p:nvCxnSpPr>
            <p:cNvPr id="18" name="Straight Arrow Connector 17"/>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93162" y="5804079"/>
              <a:ext cx="439544" cy="369332"/>
            </a:xfrm>
            <a:prstGeom prst="rect">
              <a:avLst/>
            </a:prstGeom>
            <a:noFill/>
          </p:spPr>
          <p:txBody>
            <a:bodyPr wrap="none" rtlCol="0">
              <a:spAutoFit/>
            </a:bodyPr>
            <a:lstStyle/>
            <a:p>
              <a:r>
                <a:rPr lang="en-US" altLang="zh-CN" dirty="0"/>
                <a:t>Cl</a:t>
              </a:r>
              <a:r>
                <a:rPr lang="en-US" altLang="zh-CN" baseline="-25000" dirty="0"/>
                <a:t>2</a:t>
              </a:r>
              <a:endParaRPr lang="en-US" dirty="0"/>
            </a:p>
          </p:txBody>
        </p:sp>
      </p:grpSp>
      <p:grpSp>
        <p:nvGrpSpPr>
          <p:cNvPr id="21" name="Group 20"/>
          <p:cNvGrpSpPr/>
          <p:nvPr/>
        </p:nvGrpSpPr>
        <p:grpSpPr>
          <a:xfrm>
            <a:off x="4724400" y="4191000"/>
            <a:ext cx="548640" cy="369626"/>
            <a:chOff x="2819400" y="5804079"/>
            <a:chExt cx="548640" cy="369626"/>
          </a:xfrm>
        </p:grpSpPr>
        <p:cxnSp>
          <p:nvCxnSpPr>
            <p:cNvPr id="22" name="Straight Arrow Connector 21"/>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2893162" y="5804079"/>
              <a:ext cx="439544" cy="369332"/>
            </a:xfrm>
            <a:prstGeom prst="rect">
              <a:avLst/>
            </a:prstGeom>
            <a:noFill/>
          </p:spPr>
          <p:txBody>
            <a:bodyPr wrap="none" rtlCol="0">
              <a:spAutoFit/>
            </a:bodyPr>
            <a:lstStyle/>
            <a:p>
              <a:r>
                <a:rPr lang="en-US" altLang="zh-CN" dirty="0"/>
                <a:t>Cl</a:t>
              </a:r>
              <a:r>
                <a:rPr lang="en-US" altLang="zh-CN" baseline="-25000" dirty="0"/>
                <a:t>2</a:t>
              </a:r>
              <a:endParaRPr lang="en-US" dirty="0"/>
            </a:p>
          </p:txBody>
        </p:sp>
      </p:grpSp>
      <p:sp>
        <p:nvSpPr>
          <p:cNvPr id="25" name="Rounded Rectangle 24"/>
          <p:cNvSpPr/>
          <p:nvPr/>
        </p:nvSpPr>
        <p:spPr>
          <a:xfrm>
            <a:off x="2133600" y="4292021"/>
            <a:ext cx="2209800" cy="533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
        <p:nvSpPr>
          <p:cNvPr id="26" name="Rounded Rectangle 25"/>
          <p:cNvSpPr/>
          <p:nvPr/>
        </p:nvSpPr>
        <p:spPr>
          <a:xfrm>
            <a:off x="5334000" y="4292021"/>
            <a:ext cx="2895600" cy="533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par>
                                <p:cTn id="21" presetID="3" presetClass="entr" presetSubtype="1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linds(horizontal)">
                                      <p:cBhvr>
                                        <p:cTn id="33" dur="500"/>
                                        <p:tgtEl>
                                          <p:spTgt spid="3">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linds(horizontal)">
                                      <p:cBhvr>
                                        <p:cTn id="36" dur="500"/>
                                        <p:tgtEl>
                                          <p:spTgt spid="17"/>
                                        </p:tgtEl>
                                      </p:cBhvr>
                                    </p:animEffect>
                                  </p:childTnLst>
                                </p:cTn>
                              </p:par>
                              <p:par>
                                <p:cTn id="37" presetID="3" presetClass="entr" presetSubtype="1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blinds(horizontal)">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grpId="0" nodeType="clickEffect">
                                  <p:stCondLst>
                                    <p:cond delay="0"/>
                                  </p:stCondLst>
                                  <p:childTnLst>
                                    <p:animEffect transition="out" filter="blinds(horizontal)">
                                      <p:cBhvr>
                                        <p:cTn id="43" dur="500"/>
                                        <p:tgtEl>
                                          <p:spTgt spid="25"/>
                                        </p:tgtEl>
                                      </p:cBhvr>
                                    </p:animEffect>
                                    <p:set>
                                      <p:cBhvr>
                                        <p:cTn id="44" dur="1" fill="hold">
                                          <p:stCondLst>
                                            <p:cond delay="499"/>
                                          </p:stCondLst>
                                        </p:cTn>
                                        <p:tgtEl>
                                          <p:spTgt spid="2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grpId="0" nodeType="clickEffect">
                                  <p:stCondLst>
                                    <p:cond delay="0"/>
                                  </p:stCondLst>
                                  <p:childTnLst>
                                    <p:animEffect transition="out" filter="blinds(horizontal)">
                                      <p:cBhvr>
                                        <p:cTn id="48" dur="500"/>
                                        <p:tgtEl>
                                          <p:spTgt spid="26"/>
                                        </p:tgtEl>
                                      </p:cBhvr>
                                    </p:animEffect>
                                    <p:set>
                                      <p:cBhvr>
                                        <p:cTn id="49" dur="1" fill="hold">
                                          <p:stCondLst>
                                            <p:cond delay="499"/>
                                          </p:stCondLst>
                                        </p:cTn>
                                        <p:tgtEl>
                                          <p:spTgt spid="2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blinds(horizontal)">
                                      <p:cBhvr>
                                        <p:cTn id="54" dur="500"/>
                                        <p:tgtEl>
                                          <p:spTgt spid="3">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Effect transition="in" filter="blinds(horizontal)">
                                      <p:cBhvr>
                                        <p:cTn id="5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5" grpId="0" animBg="1"/>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en-US" altLang="zh-CN" sz="3000" dirty="0"/>
              <a:t>2. </a:t>
            </a:r>
            <a:r>
              <a:rPr lang="zh-CN" altLang="en-US" sz="3000" dirty="0"/>
              <a:t>加成反应</a:t>
            </a:r>
            <a:endParaRPr lang="en-US" altLang="zh-CN" sz="3000" dirty="0"/>
          </a:p>
          <a:p>
            <a:pPr>
              <a:buNone/>
            </a:pPr>
            <a:r>
              <a:rPr lang="en-US" altLang="zh-CN" sz="3000" dirty="0"/>
              <a:t>(3) </a:t>
            </a:r>
            <a:r>
              <a:rPr lang="zh-CN" altLang="en-US" sz="3000" dirty="0"/>
              <a:t>加卤化氢：</a:t>
            </a:r>
            <a:r>
              <a:rPr lang="en-US" altLang="zh-CN" sz="3000" dirty="0" err="1"/>
              <a:t>HCl</a:t>
            </a:r>
            <a:r>
              <a:rPr lang="en-US" altLang="zh-CN" sz="3000" dirty="0"/>
              <a:t>, </a:t>
            </a:r>
            <a:r>
              <a:rPr lang="en-US" altLang="zh-CN" sz="3000" dirty="0" err="1"/>
              <a:t>HBr</a:t>
            </a:r>
            <a:r>
              <a:rPr lang="en-US" altLang="zh-CN" sz="3000" dirty="0"/>
              <a:t>, HI</a:t>
            </a:r>
            <a:r>
              <a:rPr lang="zh-CN" altLang="en-US" sz="3000" dirty="0"/>
              <a:t>都可与炔烃起加成反应。</a:t>
            </a:r>
            <a:endParaRPr lang="en-US" altLang="zh-CN" sz="3000" dirty="0"/>
          </a:p>
          <a:p>
            <a:pPr>
              <a:buNone/>
            </a:pPr>
            <a:r>
              <a:rPr lang="en-US" altLang="zh-CN" sz="3000" dirty="0"/>
              <a:t>	</a:t>
            </a:r>
            <a:r>
              <a:rPr lang="zh-CN" altLang="en-US" sz="3000" dirty="0"/>
              <a:t>通式：   </a:t>
            </a:r>
            <a:r>
              <a:rPr lang="en-US" altLang="zh-CN" sz="3000" dirty="0"/>
              <a:t>	 </a:t>
            </a:r>
            <a:r>
              <a:rPr lang="zh-CN" altLang="en-US" sz="3000" dirty="0"/>
              <a:t>炔    </a:t>
            </a:r>
            <a:r>
              <a:rPr lang="en-US" altLang="zh-CN" sz="3000" dirty="0"/>
              <a:t>	      </a:t>
            </a:r>
            <a:r>
              <a:rPr lang="en-US" altLang="zh-CN" sz="3000" dirty="0">
                <a:sym typeface="Wingdings" pitchFamily="2" charset="2"/>
              </a:rPr>
              <a:t> </a:t>
            </a:r>
            <a:r>
              <a:rPr lang="zh-CN" altLang="en-US" sz="3000" dirty="0">
                <a:sym typeface="Wingdings" pitchFamily="2" charset="2"/>
              </a:rPr>
              <a:t>一卤代烯</a:t>
            </a:r>
            <a:r>
              <a:rPr lang="en-US" altLang="zh-CN" sz="3000" dirty="0">
                <a:sym typeface="Wingdings" pitchFamily="2" charset="2"/>
              </a:rPr>
              <a:t>	</a:t>
            </a:r>
            <a:r>
              <a:rPr lang="zh-CN" altLang="en-US" sz="3000" dirty="0">
                <a:sym typeface="Wingdings" pitchFamily="2" charset="2"/>
              </a:rPr>
              <a:t>二卤代烷</a:t>
            </a:r>
            <a:endParaRPr lang="en-US" altLang="zh-CN" sz="3000" dirty="0">
              <a:sym typeface="Wingdings" pitchFamily="2" charset="2"/>
            </a:endParaRPr>
          </a:p>
          <a:p>
            <a:pPr>
              <a:buFont typeface="Wingdings" pitchFamily="2" charset="2"/>
              <a:buChar char="Ø"/>
            </a:pPr>
            <a:r>
              <a:rPr lang="zh-CN" altLang="en-US" sz="3000" dirty="0">
                <a:sym typeface="Wingdings" pitchFamily="2" charset="2"/>
              </a:rPr>
              <a:t>反应按马尔可夫尼可夫规则</a:t>
            </a:r>
            <a:endParaRPr lang="en-US" altLang="zh-CN" sz="3000" dirty="0">
              <a:sym typeface="Wingdings" pitchFamily="2" charset="2"/>
            </a:endParaRPr>
          </a:p>
          <a:p>
            <a:pPr>
              <a:buNone/>
            </a:pPr>
            <a:endParaRPr lang="en-US" altLang="zh-CN" sz="3000" dirty="0"/>
          </a:p>
          <a:p>
            <a:pPr lvl="1">
              <a:buNone/>
            </a:pPr>
            <a:r>
              <a:rPr lang="en-US" altLang="zh-CN" sz="3000" dirty="0"/>
              <a:t>							1</a:t>
            </a:r>
            <a:r>
              <a:rPr lang="en-MY" altLang="zh-CN" sz="3000" dirty="0"/>
              <a:t>,</a:t>
            </a:r>
            <a:r>
              <a:rPr lang="en-US" altLang="zh-CN" sz="3000" dirty="0"/>
              <a:t>1-</a:t>
            </a:r>
            <a:r>
              <a:rPr lang="zh-CN" altLang="en-US" sz="3000" dirty="0"/>
              <a:t>二碘乙烷</a:t>
            </a: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7" name="Group 6"/>
          <p:cNvGrpSpPr/>
          <p:nvPr/>
        </p:nvGrpSpPr>
        <p:grpSpPr>
          <a:xfrm>
            <a:off x="3048000" y="2032579"/>
            <a:ext cx="548640" cy="369626"/>
            <a:chOff x="2819400" y="5804079"/>
            <a:chExt cx="548640" cy="369626"/>
          </a:xfrm>
        </p:grpSpPr>
        <p:cxnSp>
          <p:nvCxnSpPr>
            <p:cNvPr id="8" name="Straight Arrow Connector 7"/>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893162" y="5804079"/>
              <a:ext cx="449162" cy="369332"/>
            </a:xfrm>
            <a:prstGeom prst="rect">
              <a:avLst/>
            </a:prstGeom>
            <a:noFill/>
          </p:spPr>
          <p:txBody>
            <a:bodyPr wrap="none" rtlCol="0">
              <a:spAutoFit/>
            </a:bodyPr>
            <a:lstStyle/>
            <a:p>
              <a:r>
                <a:rPr lang="en-US" altLang="zh-CN" dirty="0"/>
                <a:t>HX</a:t>
              </a:r>
              <a:endParaRPr lang="en-US" dirty="0"/>
            </a:p>
          </p:txBody>
        </p:sp>
      </p:grpSp>
      <p:grpSp>
        <p:nvGrpSpPr>
          <p:cNvPr id="11" name="Group 10"/>
          <p:cNvGrpSpPr/>
          <p:nvPr/>
        </p:nvGrpSpPr>
        <p:grpSpPr>
          <a:xfrm>
            <a:off x="5394960" y="2032579"/>
            <a:ext cx="548640" cy="369626"/>
            <a:chOff x="2819400" y="5804079"/>
            <a:chExt cx="548640" cy="369626"/>
          </a:xfrm>
        </p:grpSpPr>
        <p:cxnSp>
          <p:nvCxnSpPr>
            <p:cNvPr id="12" name="Straight Arrow Connector 11"/>
            <p:cNvCxnSpPr/>
            <p:nvPr/>
          </p:nvCxnSpPr>
          <p:spPr>
            <a:xfrm>
              <a:off x="2819400" y="6172117"/>
              <a:ext cx="54864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893162" y="5804079"/>
              <a:ext cx="449162" cy="369332"/>
            </a:xfrm>
            <a:prstGeom prst="rect">
              <a:avLst/>
            </a:prstGeom>
            <a:noFill/>
          </p:spPr>
          <p:txBody>
            <a:bodyPr wrap="none" rtlCol="0">
              <a:spAutoFit/>
            </a:bodyPr>
            <a:lstStyle/>
            <a:p>
              <a:r>
                <a:rPr lang="en-US" altLang="zh-CN" dirty="0"/>
                <a:t>HX</a:t>
              </a:r>
              <a:endParaRPr lang="en-US" dirty="0"/>
            </a:p>
          </p:txBody>
        </p:sp>
      </p:grpSp>
      <p:pic>
        <p:nvPicPr>
          <p:cNvPr id="15" name="Picture 14" descr="+HX.jpg"/>
          <p:cNvPicPr>
            <a:picLocks noChangeAspect="1"/>
          </p:cNvPicPr>
          <p:nvPr/>
        </p:nvPicPr>
        <p:blipFill>
          <a:blip r:embed="rId3"/>
          <a:srcRect/>
          <a:stretch>
            <a:fillRect/>
          </a:stretch>
        </p:blipFill>
        <p:spPr>
          <a:xfrm>
            <a:off x="457200" y="3352800"/>
            <a:ext cx="2817495" cy="1077278"/>
          </a:xfrm>
          <a:prstGeom prst="rect">
            <a:avLst/>
          </a:prstGeom>
        </p:spPr>
      </p:pic>
      <p:pic>
        <p:nvPicPr>
          <p:cNvPr id="17" name="Picture 16" descr="+HX.jpg"/>
          <p:cNvPicPr>
            <a:picLocks noChangeAspect="1"/>
          </p:cNvPicPr>
          <p:nvPr/>
        </p:nvPicPr>
        <p:blipFill>
          <a:blip r:embed="rId4"/>
          <a:srcRect/>
          <a:stretch>
            <a:fillRect/>
          </a:stretch>
        </p:blipFill>
        <p:spPr>
          <a:xfrm>
            <a:off x="6006465" y="3124200"/>
            <a:ext cx="2375535" cy="662940"/>
          </a:xfrm>
          <a:prstGeom prst="rect">
            <a:avLst/>
          </a:prstGeom>
        </p:spPr>
      </p:pic>
      <p:pic>
        <p:nvPicPr>
          <p:cNvPr id="21" name="Picture 20" descr="+HX.jpg"/>
          <p:cNvPicPr>
            <a:picLocks noChangeAspect="1"/>
          </p:cNvPicPr>
          <p:nvPr/>
        </p:nvPicPr>
        <p:blipFill>
          <a:blip r:embed="rId5"/>
          <a:srcRect/>
          <a:stretch>
            <a:fillRect/>
          </a:stretch>
        </p:blipFill>
        <p:spPr>
          <a:xfrm>
            <a:off x="3200400" y="3352800"/>
            <a:ext cx="2734628" cy="1077278"/>
          </a:xfrm>
          <a:prstGeom prst="rect">
            <a:avLst/>
          </a:prstGeom>
        </p:spPr>
      </p:pic>
      <p:pic>
        <p:nvPicPr>
          <p:cNvPr id="18" name="Picture 17" descr="+HX.jpg">
            <a:extLst>
              <a:ext uri="{FF2B5EF4-FFF2-40B4-BE49-F238E27FC236}">
                <a16:creationId xmlns:a16="http://schemas.microsoft.com/office/drawing/2014/main" id="{70CB50BA-D7D1-4FE3-ADB9-315EBB1CA8E3}"/>
              </a:ext>
            </a:extLst>
          </p:cNvPr>
          <p:cNvPicPr>
            <a:picLocks noChangeAspect="1"/>
          </p:cNvPicPr>
          <p:nvPr/>
        </p:nvPicPr>
        <p:blipFill>
          <a:blip r:embed="rId6"/>
          <a:srcRect/>
          <a:stretch>
            <a:fillRect/>
          </a:stretch>
        </p:blipFill>
        <p:spPr>
          <a:xfrm>
            <a:off x="5791200" y="4572000"/>
            <a:ext cx="2133600" cy="662940"/>
          </a:xfrm>
          <a:prstGeom prst="rect">
            <a:avLst/>
          </a:prstGeom>
        </p:spPr>
      </p:pic>
      <p:pic>
        <p:nvPicPr>
          <p:cNvPr id="22" name="Picture 21" descr="+HX.jpg">
            <a:extLst>
              <a:ext uri="{FF2B5EF4-FFF2-40B4-BE49-F238E27FC236}">
                <a16:creationId xmlns:a16="http://schemas.microsoft.com/office/drawing/2014/main" id="{C5AA7304-F3A7-4592-B588-C02A605D0969}"/>
              </a:ext>
            </a:extLst>
          </p:cNvPr>
          <p:cNvPicPr>
            <a:picLocks noChangeAspect="1"/>
          </p:cNvPicPr>
          <p:nvPr/>
        </p:nvPicPr>
        <p:blipFill>
          <a:blip r:embed="rId7"/>
          <a:srcRect/>
          <a:stretch>
            <a:fillRect/>
          </a:stretch>
        </p:blipFill>
        <p:spPr>
          <a:xfrm>
            <a:off x="3139440" y="4572000"/>
            <a:ext cx="2651760" cy="994410"/>
          </a:xfrm>
          <a:prstGeom prst="rect">
            <a:avLst/>
          </a:prstGeom>
        </p:spPr>
      </p:pic>
      <p:pic>
        <p:nvPicPr>
          <p:cNvPr id="23" name="Picture 22" descr="+HX.jpg">
            <a:extLst>
              <a:ext uri="{FF2B5EF4-FFF2-40B4-BE49-F238E27FC236}">
                <a16:creationId xmlns:a16="http://schemas.microsoft.com/office/drawing/2014/main" id="{DF8A4FA7-C462-4CBB-8666-C015A7D58680}"/>
              </a:ext>
            </a:extLst>
          </p:cNvPr>
          <p:cNvPicPr>
            <a:picLocks noChangeAspect="1"/>
          </p:cNvPicPr>
          <p:nvPr/>
        </p:nvPicPr>
        <p:blipFill>
          <a:blip r:embed="rId8"/>
          <a:srcRect/>
          <a:stretch>
            <a:fillRect/>
          </a:stretch>
        </p:blipFill>
        <p:spPr>
          <a:xfrm>
            <a:off x="533400" y="4572000"/>
            <a:ext cx="2568893" cy="99441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par>
                                <p:cTn id="21" presetID="3" presetClass="entr" presetSubtype="1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linds(horizontal)">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linds(horizontal)">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blinds(horizontal)">
                                      <p:cBhvr>
                                        <p:cTn id="43" dur="500"/>
                                        <p:tgtEl>
                                          <p:spTgt spid="1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blinds(horizontal)">
                                      <p:cBhvr>
                                        <p:cTn id="46" dur="500"/>
                                        <p:tgtEl>
                                          <p:spTgt spid="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blinds(horizontal)">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blinds(horizontal)">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blinds(horizontal)">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a:buNone/>
            </a:pPr>
            <a:r>
              <a:rPr lang="en-US" altLang="zh-CN" sz="3000" dirty="0"/>
              <a:t>2. </a:t>
            </a:r>
            <a:r>
              <a:rPr lang="zh-CN" altLang="en-US" sz="3000" dirty="0"/>
              <a:t>加成反应</a:t>
            </a:r>
            <a:endParaRPr lang="en-US" altLang="zh-CN" sz="3000" dirty="0"/>
          </a:p>
          <a:p>
            <a:pPr>
              <a:buNone/>
            </a:pPr>
            <a:r>
              <a:rPr lang="en-US" altLang="zh-CN" sz="3000" dirty="0"/>
              <a:t>(4) </a:t>
            </a:r>
            <a:r>
              <a:rPr lang="zh-CN" altLang="en-US" sz="3000" dirty="0"/>
              <a:t>在催化剂作用下加水：</a:t>
            </a:r>
            <a:r>
              <a:rPr lang="zh-CN" altLang="en-US" sz="3000" b="1" dirty="0">
                <a:solidFill>
                  <a:srgbClr val="7030A0"/>
                </a:solidFill>
                <a:effectLst>
                  <a:outerShdw blurRad="38100" dist="38100" dir="2700000" algn="tl">
                    <a:srgbClr val="000000">
                      <a:alpha val="43137"/>
                    </a:srgbClr>
                  </a:outerShdw>
                </a:effectLst>
              </a:rPr>
              <a:t>炔烃</a:t>
            </a:r>
            <a:r>
              <a:rPr lang="en-US" altLang="zh-CN" sz="3000" b="1" dirty="0">
                <a:solidFill>
                  <a:srgbClr val="7030A0"/>
                </a:solidFill>
                <a:effectLst>
                  <a:outerShdw blurRad="38100" dist="38100" dir="2700000" algn="tl">
                    <a:srgbClr val="000000">
                      <a:alpha val="43137"/>
                    </a:srgbClr>
                  </a:outerShdw>
                </a:effectLst>
              </a:rPr>
              <a:t>(C≥3)+ </a:t>
            </a:r>
            <a:r>
              <a:rPr lang="zh-CN" altLang="en-US" sz="3000" b="1" dirty="0">
                <a:solidFill>
                  <a:srgbClr val="7030A0"/>
                </a:solidFill>
                <a:effectLst>
                  <a:outerShdw blurRad="38100" dist="38100" dir="2700000" algn="tl">
                    <a:srgbClr val="000000">
                      <a:alpha val="43137"/>
                    </a:srgbClr>
                  </a:outerShdw>
                </a:effectLst>
              </a:rPr>
              <a:t>水 </a:t>
            </a:r>
            <a:r>
              <a:rPr lang="en-US" altLang="zh-CN" sz="3000" b="1" dirty="0">
                <a:solidFill>
                  <a:srgbClr val="7030A0"/>
                </a:solidFill>
                <a:effectLst>
                  <a:outerShdw blurRad="38100" dist="38100" dir="2700000" algn="tl">
                    <a:srgbClr val="000000">
                      <a:alpha val="43137"/>
                    </a:srgbClr>
                  </a:outerShdw>
                </a:effectLst>
                <a:sym typeface="Wingdings" pitchFamily="2" charset="2"/>
              </a:rPr>
              <a:t>            </a:t>
            </a:r>
            <a:r>
              <a:rPr lang="zh-CN" altLang="en-US" sz="3000" b="1" dirty="0">
                <a:solidFill>
                  <a:srgbClr val="7030A0"/>
                </a:solidFill>
                <a:effectLst>
                  <a:outerShdw blurRad="38100" dist="38100" dir="2700000" algn="tl">
                    <a:srgbClr val="000000">
                      <a:alpha val="43137"/>
                    </a:srgbClr>
                  </a:outerShdw>
                </a:effectLst>
                <a:sym typeface="Wingdings" pitchFamily="2" charset="2"/>
              </a:rPr>
              <a:t>酮</a:t>
            </a:r>
            <a:r>
              <a:rPr lang="en-US" altLang="zh-CN" sz="3000" dirty="0">
                <a:sym typeface="Wingdings" pitchFamily="2" charset="2"/>
              </a:rPr>
              <a:t>	</a:t>
            </a: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endParaRPr lang="en-US" altLang="zh-CN" sz="3000" dirty="0">
              <a:sym typeface="Wingdings" pitchFamily="2" charset="2"/>
            </a:endParaRPr>
          </a:p>
          <a:p>
            <a:pPr>
              <a:buNone/>
            </a:pPr>
            <a:r>
              <a:rPr lang="en-US" altLang="zh-CN" sz="3000" dirty="0">
                <a:sym typeface="Wingdings" pitchFamily="2" charset="2"/>
              </a:rPr>
              <a:t>			</a:t>
            </a:r>
            <a:r>
              <a:rPr lang="zh-CN" altLang="en-US" sz="3000" b="1" dirty="0">
                <a:solidFill>
                  <a:srgbClr val="002060"/>
                </a:solidFill>
                <a:effectLst>
                  <a:outerShdw blurRad="38100" dist="38100" dir="2700000" algn="tl">
                    <a:srgbClr val="000000">
                      <a:alpha val="43137"/>
                    </a:srgbClr>
                  </a:outerShdw>
                </a:effectLst>
              </a:rPr>
              <a:t>乙炔</a:t>
            </a:r>
            <a:r>
              <a:rPr lang="en-US" altLang="zh-CN" sz="3000" b="1" dirty="0">
                <a:solidFill>
                  <a:srgbClr val="002060"/>
                </a:solidFill>
                <a:effectLst>
                  <a:outerShdw blurRad="38100" dist="38100" dir="2700000" algn="tl">
                    <a:srgbClr val="000000">
                      <a:alpha val="43137"/>
                    </a:srgbClr>
                  </a:outerShdw>
                </a:effectLst>
              </a:rPr>
              <a:t>+</a:t>
            </a:r>
            <a:r>
              <a:rPr lang="zh-CN" altLang="en-US" sz="3000" b="1" dirty="0">
                <a:solidFill>
                  <a:srgbClr val="002060"/>
                </a:solidFill>
                <a:effectLst>
                  <a:outerShdw blurRad="38100" dist="38100" dir="2700000" algn="tl">
                    <a:srgbClr val="000000">
                      <a:alpha val="43137"/>
                    </a:srgbClr>
                  </a:outerShdw>
                </a:effectLst>
              </a:rPr>
              <a:t>水</a:t>
            </a:r>
            <a:r>
              <a:rPr lang="en-US" altLang="zh-CN" sz="3000" b="1" dirty="0">
                <a:solidFill>
                  <a:srgbClr val="002060"/>
                </a:solidFill>
                <a:effectLst>
                  <a:outerShdw blurRad="38100" dist="38100" dir="2700000" algn="tl">
                    <a:srgbClr val="000000">
                      <a:alpha val="43137"/>
                    </a:srgbClr>
                  </a:outerShdw>
                </a:effectLst>
                <a:sym typeface="Wingdings" pitchFamily="2" charset="2"/>
              </a:rPr>
              <a:t>	       </a:t>
            </a:r>
            <a:r>
              <a:rPr lang="zh-CN" altLang="en-US" sz="3000" b="1" dirty="0">
                <a:solidFill>
                  <a:srgbClr val="002060"/>
                </a:solidFill>
                <a:effectLst>
                  <a:outerShdw blurRad="38100" dist="38100" dir="2700000" algn="tl">
                    <a:srgbClr val="000000">
                      <a:alpha val="43137"/>
                    </a:srgbClr>
                  </a:outerShdw>
                </a:effectLst>
                <a:sym typeface="Wingdings" pitchFamily="2" charset="2"/>
              </a:rPr>
              <a:t>醛</a:t>
            </a:r>
            <a:endParaRPr lang="en-US" altLang="zh-CN" sz="3000" b="1" dirty="0">
              <a:solidFill>
                <a:srgbClr val="002060"/>
              </a:solidFill>
              <a:effectLst>
                <a:outerShdw blurRad="38100" dist="38100" dir="2700000" algn="tl">
                  <a:srgbClr val="000000">
                    <a:alpha val="43137"/>
                  </a:srgbClr>
                </a:outerShdw>
              </a:effectLst>
            </a:endParaRPr>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pic>
        <p:nvPicPr>
          <p:cNvPr id="7" name="Picture 6" descr="炔+水.jpg"/>
          <p:cNvPicPr>
            <a:picLocks noChangeAspect="1"/>
          </p:cNvPicPr>
          <p:nvPr/>
        </p:nvPicPr>
        <p:blipFill>
          <a:blip r:embed="rId3"/>
          <a:srcRect/>
          <a:stretch>
            <a:fillRect/>
          </a:stretch>
        </p:blipFill>
        <p:spPr>
          <a:xfrm>
            <a:off x="228600" y="2057400"/>
            <a:ext cx="3352800" cy="1981200"/>
          </a:xfrm>
          <a:prstGeom prst="rect">
            <a:avLst/>
          </a:prstGeom>
        </p:spPr>
      </p:pic>
      <p:pic>
        <p:nvPicPr>
          <p:cNvPr id="8" name="Picture 7" descr="炔+水.jpg"/>
          <p:cNvPicPr>
            <a:picLocks noChangeAspect="1"/>
          </p:cNvPicPr>
          <p:nvPr/>
        </p:nvPicPr>
        <p:blipFill>
          <a:blip r:embed="rId4"/>
          <a:srcRect/>
          <a:stretch>
            <a:fillRect/>
          </a:stretch>
        </p:blipFill>
        <p:spPr>
          <a:xfrm>
            <a:off x="228600" y="4114800"/>
            <a:ext cx="3352800" cy="1676400"/>
          </a:xfrm>
          <a:prstGeom prst="rect">
            <a:avLst/>
          </a:prstGeom>
        </p:spPr>
      </p:pic>
      <p:pic>
        <p:nvPicPr>
          <p:cNvPr id="10" name="Picture 9" descr="炔+水.jpg"/>
          <p:cNvPicPr>
            <a:picLocks noChangeAspect="1"/>
          </p:cNvPicPr>
          <p:nvPr/>
        </p:nvPicPr>
        <p:blipFill>
          <a:blip r:embed="rId5"/>
          <a:srcRect/>
          <a:stretch>
            <a:fillRect/>
          </a:stretch>
        </p:blipFill>
        <p:spPr>
          <a:xfrm>
            <a:off x="5689600" y="2057400"/>
            <a:ext cx="1549400" cy="1981200"/>
          </a:xfrm>
          <a:prstGeom prst="rect">
            <a:avLst/>
          </a:prstGeom>
        </p:spPr>
      </p:pic>
      <p:pic>
        <p:nvPicPr>
          <p:cNvPr id="11" name="Picture 10" descr="炔+水.jpg"/>
          <p:cNvPicPr>
            <a:picLocks noChangeAspect="1"/>
          </p:cNvPicPr>
          <p:nvPr/>
        </p:nvPicPr>
        <p:blipFill>
          <a:blip r:embed="rId6"/>
          <a:srcRect/>
          <a:stretch>
            <a:fillRect/>
          </a:stretch>
        </p:blipFill>
        <p:spPr>
          <a:xfrm>
            <a:off x="3581400" y="2057400"/>
            <a:ext cx="2133600" cy="1981200"/>
          </a:xfrm>
          <a:prstGeom prst="rect">
            <a:avLst/>
          </a:prstGeom>
        </p:spPr>
      </p:pic>
      <p:pic>
        <p:nvPicPr>
          <p:cNvPr id="12" name="Picture 11" descr="炔+水.jpg"/>
          <p:cNvPicPr>
            <a:picLocks noChangeAspect="1"/>
          </p:cNvPicPr>
          <p:nvPr/>
        </p:nvPicPr>
        <p:blipFill>
          <a:blip r:embed="rId7"/>
          <a:srcRect/>
          <a:stretch>
            <a:fillRect/>
          </a:stretch>
        </p:blipFill>
        <p:spPr>
          <a:xfrm>
            <a:off x="5765800" y="4114800"/>
            <a:ext cx="1320800" cy="1676400"/>
          </a:xfrm>
          <a:prstGeom prst="rect">
            <a:avLst/>
          </a:prstGeom>
        </p:spPr>
      </p:pic>
      <p:pic>
        <p:nvPicPr>
          <p:cNvPr id="13" name="Picture 12" descr="炔+水.jpg"/>
          <p:cNvPicPr>
            <a:picLocks noChangeAspect="1"/>
          </p:cNvPicPr>
          <p:nvPr/>
        </p:nvPicPr>
        <p:blipFill>
          <a:blip r:embed="rId8"/>
          <a:srcRect/>
          <a:stretch>
            <a:fillRect/>
          </a:stretch>
        </p:blipFill>
        <p:spPr>
          <a:xfrm>
            <a:off x="3505200" y="4114800"/>
            <a:ext cx="2286000" cy="1676400"/>
          </a:xfrm>
          <a:prstGeom prst="rect">
            <a:avLst/>
          </a:prstGeom>
        </p:spPr>
      </p:pic>
      <p:grpSp>
        <p:nvGrpSpPr>
          <p:cNvPr id="14" name="Group 13"/>
          <p:cNvGrpSpPr/>
          <p:nvPr/>
        </p:nvGrpSpPr>
        <p:grpSpPr>
          <a:xfrm>
            <a:off x="7162800" y="1447800"/>
            <a:ext cx="914400" cy="707152"/>
            <a:chOff x="3505200" y="3636248"/>
            <a:chExt cx="914400" cy="707152"/>
          </a:xfrm>
        </p:grpSpPr>
        <p:grpSp>
          <p:nvGrpSpPr>
            <p:cNvPr id="15" name="Group 10"/>
            <p:cNvGrpSpPr/>
            <p:nvPr/>
          </p:nvGrpSpPr>
          <p:grpSpPr>
            <a:xfrm>
              <a:off x="3505200" y="3636248"/>
              <a:ext cx="914400" cy="707152"/>
              <a:chOff x="2492216" y="2487295"/>
              <a:chExt cx="914400" cy="707152"/>
            </a:xfrm>
          </p:grpSpPr>
          <p:cxnSp>
            <p:nvCxnSpPr>
              <p:cNvPr id="17" name="直接箭头连接符 1"/>
              <p:cNvCxnSpPr/>
              <p:nvPr/>
            </p:nvCxnSpPr>
            <p:spPr>
              <a:xfrm>
                <a:off x="2492216" y="2839720"/>
                <a:ext cx="82296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8" name="文本框 5"/>
              <p:cNvSpPr txBox="1"/>
              <p:nvPr/>
            </p:nvSpPr>
            <p:spPr>
              <a:xfrm>
                <a:off x="2568416" y="2487295"/>
                <a:ext cx="838200" cy="369332"/>
              </a:xfrm>
              <a:prstGeom prst="rect">
                <a:avLst/>
              </a:prstGeom>
              <a:noFill/>
            </p:spPr>
            <p:txBody>
              <a:bodyPr wrap="square" rtlCol="0">
                <a:spAutoFit/>
              </a:bodyPr>
              <a:lstStyle/>
              <a:p>
                <a:r>
                  <a:rPr lang="en-US" altLang="zh-CN" dirty="0">
                    <a:ln w="10160">
                      <a:solidFill>
                        <a:schemeClr val="tx1"/>
                      </a:solidFill>
                      <a:prstDash val="solid"/>
                    </a:ln>
                    <a:solidFill>
                      <a:srgbClr val="C00000"/>
                    </a:solidFill>
                  </a:rPr>
                  <a:t>H</a:t>
                </a:r>
                <a:r>
                  <a:rPr lang="en-US" altLang="zh-CN" baseline="-25000" dirty="0">
                    <a:ln w="10160">
                      <a:solidFill>
                        <a:schemeClr val="tx1"/>
                      </a:solidFill>
                      <a:prstDash val="solid"/>
                    </a:ln>
                    <a:solidFill>
                      <a:srgbClr val="C00000"/>
                    </a:solidFill>
                  </a:rPr>
                  <a:t>2</a:t>
                </a:r>
                <a:r>
                  <a:rPr lang="en-US" altLang="zh-CN" dirty="0">
                    <a:ln w="10160">
                      <a:solidFill>
                        <a:schemeClr val="tx1"/>
                      </a:solidFill>
                      <a:prstDash val="solid"/>
                    </a:ln>
                    <a:solidFill>
                      <a:srgbClr val="C00000"/>
                    </a:solidFill>
                  </a:rPr>
                  <a:t>SO</a:t>
                </a:r>
                <a:r>
                  <a:rPr lang="en-US" altLang="zh-CN" baseline="-25000" dirty="0">
                    <a:ln w="10160">
                      <a:solidFill>
                        <a:schemeClr val="tx1"/>
                      </a:solidFill>
                      <a:prstDash val="solid"/>
                    </a:ln>
                    <a:solidFill>
                      <a:srgbClr val="C00000"/>
                    </a:solidFill>
                  </a:rPr>
                  <a:t>4</a:t>
                </a:r>
              </a:p>
            </p:txBody>
          </p:sp>
          <p:sp>
            <p:nvSpPr>
              <p:cNvPr id="19" name="文本框 6"/>
              <p:cNvSpPr txBox="1"/>
              <p:nvPr/>
            </p:nvSpPr>
            <p:spPr>
              <a:xfrm>
                <a:off x="2740342" y="2825115"/>
                <a:ext cx="513874" cy="369332"/>
              </a:xfrm>
              <a:prstGeom prst="rect">
                <a:avLst/>
              </a:prstGeom>
              <a:noFill/>
            </p:spPr>
            <p:txBody>
              <a:bodyPr wrap="square" rtlCol="0">
                <a:spAutoFit/>
              </a:bodyPr>
              <a:lstStyle/>
              <a:p>
                <a:endParaRPr lang="en-US" altLang="zh-CN" dirty="0">
                  <a:ln w="10160">
                    <a:solidFill>
                      <a:schemeClr val="tx1"/>
                    </a:solidFill>
                    <a:prstDash val="solid"/>
                  </a:ln>
                  <a:solidFill>
                    <a:srgbClr val="C00000"/>
                  </a:solidFill>
                  <a:latin typeface="SimSun" charset="0"/>
                  <a:cs typeface="SimSun" charset="0"/>
                </a:endParaRPr>
              </a:p>
            </p:txBody>
          </p:sp>
        </p:grpSp>
        <p:sp>
          <p:nvSpPr>
            <p:cNvPr id="16" name="Rectangle 15"/>
            <p:cNvSpPr/>
            <p:nvPr/>
          </p:nvSpPr>
          <p:spPr>
            <a:xfrm>
              <a:off x="3568829" y="3974068"/>
              <a:ext cx="774571" cy="369332"/>
            </a:xfrm>
            <a:prstGeom prst="rect">
              <a:avLst/>
            </a:prstGeom>
          </p:spPr>
          <p:txBody>
            <a:bodyPr wrap="none">
              <a:spAutoFit/>
            </a:bodyPr>
            <a:lstStyle/>
            <a:p>
              <a:r>
                <a:rPr lang="en-US" altLang="zh-CN" dirty="0">
                  <a:ln w="10160">
                    <a:solidFill>
                      <a:schemeClr val="tx1"/>
                    </a:solidFill>
                    <a:prstDash val="solid"/>
                  </a:ln>
                  <a:solidFill>
                    <a:srgbClr val="C00000"/>
                  </a:solidFill>
                </a:rPr>
                <a:t>HgSO</a:t>
              </a:r>
              <a:r>
                <a:rPr lang="en-US" altLang="zh-CN" baseline="-25000" dirty="0">
                  <a:ln w="10160">
                    <a:solidFill>
                      <a:schemeClr val="tx1"/>
                    </a:solidFill>
                    <a:prstDash val="solid"/>
                  </a:ln>
                  <a:solidFill>
                    <a:srgbClr val="C00000"/>
                  </a:solidFill>
                </a:rPr>
                <a:t>4</a:t>
              </a:r>
            </a:p>
          </p:txBody>
        </p:sp>
      </p:grpSp>
      <p:grpSp>
        <p:nvGrpSpPr>
          <p:cNvPr id="20" name="Group 19"/>
          <p:cNvGrpSpPr/>
          <p:nvPr/>
        </p:nvGrpSpPr>
        <p:grpSpPr>
          <a:xfrm>
            <a:off x="3657600" y="5791200"/>
            <a:ext cx="914400" cy="707152"/>
            <a:chOff x="3505200" y="3636248"/>
            <a:chExt cx="914400" cy="707152"/>
          </a:xfrm>
        </p:grpSpPr>
        <p:grpSp>
          <p:nvGrpSpPr>
            <p:cNvPr id="21" name="Group 10"/>
            <p:cNvGrpSpPr/>
            <p:nvPr/>
          </p:nvGrpSpPr>
          <p:grpSpPr>
            <a:xfrm>
              <a:off x="3505200" y="3636248"/>
              <a:ext cx="914400" cy="707152"/>
              <a:chOff x="2492216" y="2487295"/>
              <a:chExt cx="914400" cy="707152"/>
            </a:xfrm>
          </p:grpSpPr>
          <p:cxnSp>
            <p:nvCxnSpPr>
              <p:cNvPr id="23" name="直接箭头连接符 1"/>
              <p:cNvCxnSpPr/>
              <p:nvPr/>
            </p:nvCxnSpPr>
            <p:spPr>
              <a:xfrm>
                <a:off x="2492216" y="2839720"/>
                <a:ext cx="82296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文本框 5"/>
              <p:cNvSpPr txBox="1"/>
              <p:nvPr/>
            </p:nvSpPr>
            <p:spPr>
              <a:xfrm>
                <a:off x="2568416" y="2487295"/>
                <a:ext cx="838200" cy="369332"/>
              </a:xfrm>
              <a:prstGeom prst="rect">
                <a:avLst/>
              </a:prstGeom>
              <a:noFill/>
            </p:spPr>
            <p:txBody>
              <a:bodyPr wrap="square" rtlCol="0">
                <a:spAutoFit/>
              </a:bodyPr>
              <a:lstStyle/>
              <a:p>
                <a:r>
                  <a:rPr lang="en-US" altLang="zh-CN" b="1" dirty="0">
                    <a:ln w="10160">
                      <a:solidFill>
                        <a:schemeClr val="tx1"/>
                      </a:solidFill>
                      <a:prstDash val="solid"/>
                    </a:ln>
                    <a:solidFill>
                      <a:srgbClr val="C00000"/>
                    </a:solidFill>
                  </a:rPr>
                  <a:t>H</a:t>
                </a:r>
                <a:r>
                  <a:rPr lang="en-US" altLang="zh-CN" b="1" baseline="-25000" dirty="0">
                    <a:ln w="10160">
                      <a:solidFill>
                        <a:schemeClr val="tx1"/>
                      </a:solidFill>
                      <a:prstDash val="solid"/>
                    </a:ln>
                    <a:solidFill>
                      <a:srgbClr val="C00000"/>
                    </a:solidFill>
                  </a:rPr>
                  <a:t>2</a:t>
                </a:r>
                <a:r>
                  <a:rPr lang="en-US" altLang="zh-CN" b="1" dirty="0">
                    <a:ln w="10160">
                      <a:solidFill>
                        <a:schemeClr val="tx1"/>
                      </a:solidFill>
                      <a:prstDash val="solid"/>
                    </a:ln>
                    <a:solidFill>
                      <a:srgbClr val="C00000"/>
                    </a:solidFill>
                  </a:rPr>
                  <a:t>SO</a:t>
                </a:r>
                <a:r>
                  <a:rPr lang="en-US" altLang="zh-CN" b="1" baseline="-25000" dirty="0">
                    <a:ln w="10160">
                      <a:solidFill>
                        <a:schemeClr val="tx1"/>
                      </a:solidFill>
                      <a:prstDash val="solid"/>
                    </a:ln>
                    <a:solidFill>
                      <a:srgbClr val="C00000"/>
                    </a:solidFill>
                  </a:rPr>
                  <a:t>4</a:t>
                </a:r>
              </a:p>
            </p:txBody>
          </p:sp>
          <p:sp>
            <p:nvSpPr>
              <p:cNvPr id="25" name="文本框 6"/>
              <p:cNvSpPr txBox="1"/>
              <p:nvPr/>
            </p:nvSpPr>
            <p:spPr>
              <a:xfrm>
                <a:off x="2740342" y="2825115"/>
                <a:ext cx="513874" cy="369332"/>
              </a:xfrm>
              <a:prstGeom prst="rect">
                <a:avLst/>
              </a:prstGeom>
              <a:noFill/>
            </p:spPr>
            <p:txBody>
              <a:bodyPr wrap="square" rtlCol="0">
                <a:spAutoFit/>
              </a:bodyPr>
              <a:lstStyle/>
              <a:p>
                <a:endParaRPr lang="en-US" altLang="zh-CN" b="1" dirty="0">
                  <a:ln w="10160">
                    <a:solidFill>
                      <a:schemeClr val="tx1"/>
                    </a:solidFill>
                    <a:prstDash val="solid"/>
                  </a:ln>
                  <a:solidFill>
                    <a:srgbClr val="C00000"/>
                  </a:solidFill>
                  <a:latin typeface="SimSun" charset="0"/>
                  <a:cs typeface="SimSun" charset="0"/>
                </a:endParaRPr>
              </a:p>
            </p:txBody>
          </p:sp>
        </p:grpSp>
        <p:sp>
          <p:nvSpPr>
            <p:cNvPr id="22" name="Rectangle 21"/>
            <p:cNvSpPr/>
            <p:nvPr/>
          </p:nvSpPr>
          <p:spPr>
            <a:xfrm>
              <a:off x="3568829" y="3974068"/>
              <a:ext cx="782587" cy="369332"/>
            </a:xfrm>
            <a:prstGeom prst="rect">
              <a:avLst/>
            </a:prstGeom>
          </p:spPr>
          <p:txBody>
            <a:bodyPr wrap="none">
              <a:spAutoFit/>
            </a:bodyPr>
            <a:lstStyle/>
            <a:p>
              <a:r>
                <a:rPr lang="en-US" altLang="zh-CN" b="1" dirty="0">
                  <a:ln w="10160">
                    <a:solidFill>
                      <a:schemeClr val="tx1"/>
                    </a:solidFill>
                    <a:prstDash val="solid"/>
                  </a:ln>
                  <a:solidFill>
                    <a:srgbClr val="C00000"/>
                  </a:solidFill>
                </a:rPr>
                <a:t>HgSO</a:t>
              </a:r>
              <a:r>
                <a:rPr lang="en-US" altLang="zh-CN" b="1" baseline="-25000" dirty="0">
                  <a:ln w="10160">
                    <a:solidFill>
                      <a:schemeClr val="tx1"/>
                    </a:solidFill>
                    <a:prstDash val="solid"/>
                  </a:ln>
                  <a:solidFill>
                    <a:srgbClr val="C00000"/>
                  </a:solidFill>
                </a:rPr>
                <a:t>4</a:t>
              </a:r>
            </a:p>
          </p:txBody>
        </p:sp>
      </p:grpSp>
      <p:sp>
        <p:nvSpPr>
          <p:cNvPr id="26" name="Rectangle 25"/>
          <p:cNvSpPr/>
          <p:nvPr/>
        </p:nvSpPr>
        <p:spPr>
          <a:xfrm>
            <a:off x="3810000" y="5410200"/>
            <a:ext cx="954107" cy="400110"/>
          </a:xfrm>
          <a:prstGeom prst="rect">
            <a:avLst/>
          </a:prstGeom>
          <a:solidFill>
            <a:schemeClr val="bg1"/>
          </a:solidFill>
        </p:spPr>
        <p:txBody>
          <a:bodyPr wrap="none">
            <a:spAutoFit/>
          </a:bodyPr>
          <a:lstStyle/>
          <a:p>
            <a:r>
              <a:rPr lang="zh-CN" altLang="en-US" sz="2000" dirty="0"/>
              <a:t>乙烯醇</a:t>
            </a:r>
            <a:endParaRPr lang="en-US" sz="2000" dirty="0"/>
          </a:p>
        </p:txBody>
      </p:sp>
      <p:sp>
        <p:nvSpPr>
          <p:cNvPr id="27" name="Rectangle 26"/>
          <p:cNvSpPr/>
          <p:nvPr/>
        </p:nvSpPr>
        <p:spPr>
          <a:xfrm>
            <a:off x="3962400" y="3562290"/>
            <a:ext cx="954107" cy="400110"/>
          </a:xfrm>
          <a:prstGeom prst="rect">
            <a:avLst/>
          </a:prstGeom>
          <a:solidFill>
            <a:schemeClr val="bg1"/>
          </a:solidFill>
        </p:spPr>
        <p:txBody>
          <a:bodyPr wrap="none">
            <a:spAutoFit/>
          </a:bodyPr>
          <a:lstStyle/>
          <a:p>
            <a:r>
              <a:rPr lang="zh-CN" altLang="en-US" sz="2000" dirty="0"/>
              <a:t>丙烯醇</a:t>
            </a:r>
            <a:endParaRPr lang="en-US" sz="2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linds(horizontal)">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blinds(horizontal)">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blinds(horizontal)">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blinds(horizontal)">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Effect transition="in" filter="blinds(horizontal)">
                                      <p:cBhvr>
                                        <p:cTn id="60" dur="500"/>
                                        <p:tgtEl>
                                          <p:spTgt spid="3">
                                            <p:txEl>
                                              <p:pRg st="9" end="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linds(horizontal)">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6" grpId="0" animBg="1"/>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3. </a:t>
            </a:r>
            <a:r>
              <a:rPr lang="zh-CN" altLang="en-US" sz="3000" dirty="0"/>
              <a:t>氧化反应：炔烃更易被氧化。</a:t>
            </a:r>
            <a:endParaRPr lang="en-US" altLang="zh-CN" sz="3000" dirty="0"/>
          </a:p>
          <a:p>
            <a:pPr>
              <a:buFont typeface="Wingdings" panose="05000000000000000000" pitchFamily="2" charset="2"/>
              <a:buChar char="Ø"/>
            </a:pPr>
            <a:r>
              <a:rPr lang="zh-CN" altLang="en-US" sz="3000" dirty="0"/>
              <a:t>与碱性</a:t>
            </a:r>
            <a:r>
              <a:rPr lang="en-US" altLang="zh-CN" sz="3000" dirty="0"/>
              <a:t>KMnO</a:t>
            </a:r>
            <a:r>
              <a:rPr lang="en-US" altLang="zh-CN" sz="3000" baseline="-25000" dirty="0"/>
              <a:t>4</a:t>
            </a:r>
            <a:r>
              <a:rPr lang="zh-CN" altLang="en-US" sz="3000" dirty="0"/>
              <a:t>冷溶液反应，反应后</a:t>
            </a:r>
            <a:r>
              <a:rPr lang="zh-CN" altLang="en-US" sz="3000" dirty="0">
                <a:sym typeface="Wingdings" pitchFamily="2" charset="2"/>
              </a:rPr>
              <a:t>溶液的紫色消失，并产生褐色沉淀</a:t>
            </a:r>
            <a:r>
              <a:rPr lang="en-US" altLang="zh-CN" sz="3000" dirty="0">
                <a:sym typeface="Wingdings" pitchFamily="2" charset="2"/>
              </a:rPr>
              <a:t>MnO</a:t>
            </a:r>
            <a:r>
              <a:rPr lang="en-US" altLang="zh-CN" sz="3000" baseline="-25000" dirty="0">
                <a:sym typeface="Wingdings" pitchFamily="2" charset="2"/>
              </a:rPr>
              <a:t>2</a:t>
            </a:r>
            <a:r>
              <a:rPr lang="zh-CN" altLang="en-US" sz="3000" dirty="0">
                <a:sym typeface="Wingdings" pitchFamily="2" charset="2"/>
              </a:rPr>
              <a:t>。</a:t>
            </a:r>
            <a:endParaRPr lang="en-US" altLang="zh-CN" sz="3000" dirty="0">
              <a:sym typeface="Wingdings" pitchFamily="2" charset="2"/>
            </a:endParaRPr>
          </a:p>
          <a:p>
            <a:pPr>
              <a:buFont typeface="Wingdings" panose="05000000000000000000" pitchFamily="2" charset="2"/>
              <a:buChar char="Ø"/>
            </a:pPr>
            <a:r>
              <a:rPr lang="zh-CN" altLang="en-US" sz="3000" dirty="0">
                <a:sym typeface="Wingdings" pitchFamily="2" charset="2"/>
              </a:rPr>
              <a:t>与酸</a:t>
            </a:r>
            <a:r>
              <a:rPr lang="zh-CN" altLang="en-US" sz="3000" dirty="0"/>
              <a:t>性</a:t>
            </a:r>
            <a:r>
              <a:rPr lang="en-US" altLang="zh-CN" sz="3000" dirty="0"/>
              <a:t>KMnO</a:t>
            </a:r>
            <a:r>
              <a:rPr lang="en-US" altLang="zh-CN" sz="3000" baseline="-25000" dirty="0"/>
              <a:t>4</a:t>
            </a:r>
            <a:r>
              <a:rPr lang="zh-CN" altLang="en-US" sz="3000" dirty="0"/>
              <a:t>冷溶液反应，反应后</a:t>
            </a:r>
            <a:r>
              <a:rPr lang="zh-CN" altLang="en-US" sz="3000" dirty="0">
                <a:sym typeface="Wingdings" pitchFamily="2" charset="2"/>
              </a:rPr>
              <a:t>溶液的紫色消失，没有沉淀生成。</a:t>
            </a:r>
            <a:endParaRPr lang="en-MY" altLang="zh-CN" sz="3000" dirty="0">
              <a:sym typeface="Wingdings" pitchFamily="2" charset="2"/>
            </a:endParaRPr>
          </a:p>
          <a:p>
            <a:pPr>
              <a:buFont typeface="Wingdings" panose="05000000000000000000" pitchFamily="2" charset="2"/>
              <a:buChar char="Ø"/>
            </a:pPr>
            <a:r>
              <a:rPr lang="zh-CN" altLang="en-US" sz="3000" b="1" dirty="0">
                <a:solidFill>
                  <a:srgbClr val="7030A0"/>
                </a:solidFill>
                <a:effectLst>
                  <a:outerShdw blurRad="38100" dist="38100" dir="2700000" algn="tl">
                    <a:srgbClr val="000000">
                      <a:alpha val="43137"/>
                    </a:srgbClr>
                  </a:outerShdw>
                </a:effectLst>
                <a:sym typeface="Wingdings" pitchFamily="2" charset="2"/>
              </a:rPr>
              <a:t>≡</a:t>
            </a:r>
            <a:r>
              <a:rPr lang="en-US" altLang="zh-CN" sz="3000" b="1" dirty="0">
                <a:solidFill>
                  <a:srgbClr val="7030A0"/>
                </a:solidFill>
                <a:effectLst>
                  <a:outerShdw blurRad="38100" dist="38100" dir="2700000" algn="tl">
                    <a:srgbClr val="000000">
                      <a:alpha val="43137"/>
                    </a:srgbClr>
                  </a:outerShdw>
                </a:effectLst>
                <a:sym typeface="Wingdings" pitchFamily="2" charset="2"/>
              </a:rPr>
              <a:t>CH</a:t>
            </a:r>
            <a:r>
              <a:rPr lang="zh-CN" altLang="en-US" sz="3000" b="1" dirty="0">
                <a:solidFill>
                  <a:srgbClr val="7030A0"/>
                </a:solidFill>
                <a:effectLst>
                  <a:outerShdw blurRad="38100" dist="38100" dir="2700000" algn="tl">
                    <a:srgbClr val="000000">
                      <a:alpha val="43137"/>
                    </a:srgbClr>
                  </a:outerShdw>
                </a:effectLst>
                <a:sym typeface="Wingdings" pitchFamily="2" charset="2"/>
              </a:rPr>
              <a:t>的</a:t>
            </a:r>
            <a:r>
              <a:rPr lang="en-US" altLang="zh-CN" sz="3000" b="1" dirty="0">
                <a:solidFill>
                  <a:srgbClr val="7030A0"/>
                </a:solidFill>
                <a:effectLst>
                  <a:outerShdw blurRad="38100" dist="38100" dir="2700000" algn="tl">
                    <a:srgbClr val="000000">
                      <a:alpha val="43137"/>
                    </a:srgbClr>
                  </a:outerShdw>
                </a:effectLst>
                <a:sym typeface="Wingdings" pitchFamily="2" charset="2"/>
              </a:rPr>
              <a:t>C</a:t>
            </a:r>
            <a:r>
              <a:rPr lang="zh-CN" altLang="en-US" sz="3000" b="1" dirty="0">
                <a:solidFill>
                  <a:srgbClr val="7030A0"/>
                </a:solidFill>
                <a:effectLst>
                  <a:outerShdw blurRad="38100" dist="38100" dir="2700000" algn="tl">
                    <a:srgbClr val="000000">
                      <a:alpha val="43137"/>
                    </a:srgbClr>
                  </a:outerShdw>
                </a:effectLst>
                <a:sym typeface="Wingdings" pitchFamily="2" charset="2"/>
              </a:rPr>
              <a:t>被氧化为</a:t>
            </a:r>
            <a:r>
              <a:rPr lang="en-US" altLang="zh-CN" sz="3000" b="1" dirty="0">
                <a:solidFill>
                  <a:srgbClr val="7030A0"/>
                </a:solidFill>
                <a:effectLst>
                  <a:outerShdw blurRad="38100" dist="38100" dir="2700000" algn="tl">
                    <a:srgbClr val="000000">
                      <a:alpha val="43137"/>
                    </a:srgbClr>
                  </a:outerShdw>
                </a:effectLst>
                <a:sym typeface="Wingdings" pitchFamily="2" charset="2"/>
              </a:rPr>
              <a:t>CO</a:t>
            </a:r>
            <a:r>
              <a:rPr lang="en-US" altLang="zh-CN" sz="3000" b="1" baseline="-25000" dirty="0">
                <a:solidFill>
                  <a:srgbClr val="7030A0"/>
                </a:solidFill>
                <a:effectLst>
                  <a:outerShdw blurRad="38100" dist="38100" dir="2700000" algn="tl">
                    <a:srgbClr val="000000">
                      <a:alpha val="43137"/>
                    </a:srgbClr>
                  </a:outerShdw>
                </a:effectLst>
                <a:sym typeface="Wingdings" pitchFamily="2" charset="2"/>
              </a:rPr>
              <a:t>2</a:t>
            </a:r>
            <a:r>
              <a:rPr lang="en-US" altLang="zh-CN" sz="3000" b="1" dirty="0">
                <a:solidFill>
                  <a:srgbClr val="7030A0"/>
                </a:solidFill>
                <a:effectLst>
                  <a:outerShdw blurRad="38100" dist="38100" dir="2700000" algn="tl">
                    <a:srgbClr val="000000">
                      <a:alpha val="43137"/>
                    </a:srgbClr>
                  </a:outerShdw>
                </a:effectLst>
                <a:sym typeface="Wingdings" pitchFamily="2" charset="2"/>
              </a:rPr>
              <a:t> </a:t>
            </a:r>
            <a:r>
              <a:rPr lang="zh-CN" altLang="en-US" sz="3000" b="1" dirty="0">
                <a:solidFill>
                  <a:srgbClr val="7030A0"/>
                </a:solidFill>
                <a:effectLst>
                  <a:outerShdw blurRad="38100" dist="38100" dir="2700000" algn="tl">
                    <a:srgbClr val="000000">
                      <a:alpha val="43137"/>
                    </a:srgbClr>
                  </a:outerShdw>
                </a:effectLst>
                <a:sym typeface="Wingdings" pitchFamily="2" charset="2"/>
              </a:rPr>
              <a:t>，</a:t>
            </a:r>
            <a:r>
              <a:rPr lang="en-US" altLang="zh-CN" sz="3000" b="1" dirty="0">
                <a:solidFill>
                  <a:srgbClr val="7030A0"/>
                </a:solidFill>
                <a:effectLst>
                  <a:outerShdw blurRad="38100" dist="38100" dir="2700000" algn="tl">
                    <a:srgbClr val="000000">
                      <a:alpha val="43137"/>
                    </a:srgbClr>
                  </a:outerShdw>
                </a:effectLst>
                <a:sym typeface="Wingdings" pitchFamily="2" charset="2"/>
              </a:rPr>
              <a:t>RC</a:t>
            </a:r>
            <a:r>
              <a:rPr lang="zh-CN" altLang="en-US" sz="3000" b="1" dirty="0">
                <a:solidFill>
                  <a:srgbClr val="7030A0"/>
                </a:solidFill>
                <a:effectLst>
                  <a:outerShdw blurRad="38100" dist="38100" dir="2700000" algn="tl">
                    <a:srgbClr val="000000">
                      <a:alpha val="43137"/>
                    </a:srgbClr>
                  </a:outerShdw>
                </a:effectLst>
                <a:sym typeface="Wingdings" pitchFamily="2" charset="2"/>
              </a:rPr>
              <a:t>≡的</a:t>
            </a:r>
            <a:r>
              <a:rPr lang="en-US" altLang="zh-CN" sz="3000" b="1" dirty="0">
                <a:solidFill>
                  <a:srgbClr val="7030A0"/>
                </a:solidFill>
                <a:effectLst>
                  <a:outerShdw blurRad="38100" dist="38100" dir="2700000" algn="tl">
                    <a:srgbClr val="000000">
                      <a:alpha val="43137"/>
                    </a:srgbClr>
                  </a:outerShdw>
                </a:effectLst>
                <a:sym typeface="Wingdings" pitchFamily="2" charset="2"/>
              </a:rPr>
              <a:t>C</a:t>
            </a:r>
            <a:r>
              <a:rPr lang="zh-CN" altLang="en-US" sz="3000" b="1" dirty="0">
                <a:solidFill>
                  <a:srgbClr val="7030A0"/>
                </a:solidFill>
                <a:effectLst>
                  <a:outerShdw blurRad="38100" dist="38100" dir="2700000" algn="tl">
                    <a:srgbClr val="000000">
                      <a:alpha val="43137"/>
                    </a:srgbClr>
                  </a:outerShdw>
                </a:effectLst>
                <a:sym typeface="Wingdings" pitchFamily="2" charset="2"/>
              </a:rPr>
              <a:t>被氧化为</a:t>
            </a:r>
            <a:r>
              <a:rPr lang="en-US" altLang="zh-CN" sz="3000" b="1" dirty="0">
                <a:solidFill>
                  <a:srgbClr val="7030A0"/>
                </a:solidFill>
                <a:effectLst>
                  <a:outerShdw blurRad="38100" dist="38100" dir="2700000" algn="tl">
                    <a:srgbClr val="000000">
                      <a:alpha val="43137"/>
                    </a:srgbClr>
                  </a:outerShdw>
                </a:effectLst>
                <a:sym typeface="Wingdings" pitchFamily="2" charset="2"/>
              </a:rPr>
              <a:t>RCOOH</a:t>
            </a:r>
            <a:endParaRPr lang="en-US" altLang="zh-CN" sz="3000" dirty="0"/>
          </a:p>
          <a:p>
            <a:pPr marL="514350" indent="-514350">
              <a:buNone/>
            </a:pPr>
            <a:r>
              <a:rPr lang="en-US" altLang="zh-CN" sz="3000" dirty="0"/>
              <a:t>  HC≡CH 		</a:t>
            </a:r>
            <a:r>
              <a:rPr lang="en-US" altLang="zh-CN" sz="3000" dirty="0">
                <a:sym typeface="Wingdings" pitchFamily="2" charset="2"/>
              </a:rPr>
              <a:t>2CO</a:t>
            </a:r>
            <a:r>
              <a:rPr lang="en-US" altLang="zh-CN" sz="3000" baseline="-25000" dirty="0">
                <a:sym typeface="Wingdings" pitchFamily="2" charset="2"/>
              </a:rPr>
              <a:t>2 </a:t>
            </a:r>
            <a:r>
              <a:rPr lang="en-US" altLang="zh-CN" sz="3000" dirty="0">
                <a:sym typeface="Wingdings" pitchFamily="2" charset="2"/>
              </a:rPr>
              <a:t> + </a:t>
            </a:r>
            <a:r>
              <a:rPr lang="en-US" altLang="zh-CN" sz="3000" dirty="0"/>
              <a:t>H</a:t>
            </a:r>
            <a:r>
              <a:rPr lang="en-US" altLang="zh-CN" sz="3000" baseline="-25000" dirty="0"/>
              <a:t>2</a:t>
            </a:r>
            <a:r>
              <a:rPr lang="en-US" altLang="zh-CN" sz="3000" dirty="0"/>
              <a:t>O</a:t>
            </a:r>
          </a:p>
          <a:p>
            <a:pPr marL="514350" indent="-514350">
              <a:buNone/>
            </a:pPr>
            <a:r>
              <a:rPr lang="en-US" altLang="zh-CN" sz="3000" dirty="0"/>
              <a:t> RC≡CH 		</a:t>
            </a:r>
            <a:r>
              <a:rPr lang="en-US" altLang="zh-CN" sz="3000" baseline="-25000" dirty="0">
                <a:sym typeface="Wingdings" pitchFamily="2" charset="2"/>
              </a:rPr>
              <a:t> </a:t>
            </a:r>
            <a:r>
              <a:rPr lang="pt-BR" sz="3000" dirty="0"/>
              <a:t>RCOOH </a:t>
            </a:r>
            <a:r>
              <a:rPr lang="en-US" altLang="zh-CN" sz="3000" dirty="0">
                <a:sym typeface="Wingdings" pitchFamily="2" charset="2"/>
              </a:rPr>
              <a:t>+CO</a:t>
            </a:r>
            <a:r>
              <a:rPr lang="en-US" altLang="zh-CN" sz="3000" baseline="-25000" dirty="0">
                <a:sym typeface="Wingdings" pitchFamily="2" charset="2"/>
              </a:rPr>
              <a:t>2</a:t>
            </a:r>
            <a:endParaRPr lang="en-US" altLang="zh-CN" sz="3000" dirty="0">
              <a:sym typeface="Wingdings" pitchFamily="2" charset="2"/>
            </a:endParaRPr>
          </a:p>
          <a:p>
            <a:pPr marL="514350" indent="-514350">
              <a:buNone/>
            </a:pPr>
            <a:r>
              <a:rPr lang="pt-BR" sz="3000" dirty="0"/>
              <a:t>RC</a:t>
            </a:r>
            <a:r>
              <a:rPr lang="en-US" altLang="zh-CN" sz="3000" dirty="0"/>
              <a:t> ≡</a:t>
            </a:r>
            <a:r>
              <a:rPr lang="pt-BR" sz="3000" dirty="0"/>
              <a:t> CR</a:t>
            </a:r>
            <a:r>
              <a:rPr lang="en-MY" sz="3000" dirty="0"/>
              <a:t>’		</a:t>
            </a:r>
            <a:r>
              <a:rPr lang="pt-BR" sz="3000" dirty="0"/>
              <a:t> RCOOH + R’COOH</a:t>
            </a:r>
          </a:p>
          <a:p>
            <a:pPr>
              <a:buFont typeface="Wingdings" panose="05000000000000000000" pitchFamily="2" charset="2"/>
              <a:buChar char="Ø"/>
            </a:pPr>
            <a:r>
              <a:rPr lang="zh-CN" altLang="en-US" sz="3000" dirty="0"/>
              <a:t>利用炔烃的氧化反应，检验三键的存在及位置</a:t>
            </a:r>
            <a:endParaRPr lang="en-US" altLang="zh-CN" sz="3000" dirty="0">
              <a:sym typeface="Wingdings" pitchFamily="2" charset="2"/>
            </a:endParaRPr>
          </a:p>
          <a:p>
            <a:pPr marL="514350" indent="-514350">
              <a:buNone/>
            </a:pPr>
            <a:endParaRPr lang="en-US" altLang="zh-CN" sz="3000" dirty="0"/>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7" name="Group 6"/>
          <p:cNvGrpSpPr/>
          <p:nvPr/>
        </p:nvGrpSpPr>
        <p:grpSpPr>
          <a:xfrm>
            <a:off x="1752600" y="4038600"/>
            <a:ext cx="1097280" cy="400110"/>
            <a:chOff x="2819400" y="5784969"/>
            <a:chExt cx="1097280" cy="400110"/>
          </a:xfrm>
        </p:grpSpPr>
        <p:cxnSp>
          <p:nvCxnSpPr>
            <p:cNvPr id="8" name="Straight Arrow Connector 7"/>
            <p:cNvCxnSpPr/>
            <p:nvPr/>
          </p:nvCxnSpPr>
          <p:spPr>
            <a:xfrm>
              <a:off x="2819400" y="6172117"/>
              <a:ext cx="109728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93162" y="5784969"/>
              <a:ext cx="947695"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KMnO</a:t>
              </a:r>
              <a:r>
                <a:rPr lang="en-US" altLang="zh-CN" sz="2000" b="1" baseline="-25000" dirty="0">
                  <a:effectLst>
                    <a:outerShdw blurRad="38100" dist="38100" dir="2700000" algn="tl">
                      <a:srgbClr val="000000">
                        <a:alpha val="43137"/>
                      </a:srgbClr>
                    </a:outerShdw>
                  </a:effectLst>
                </a:rPr>
                <a:t>4</a:t>
              </a:r>
              <a:endParaRPr lang="en-US" sz="2000" b="1" dirty="0">
                <a:effectLst>
                  <a:outerShdw blurRad="38100" dist="38100" dir="2700000" algn="tl">
                    <a:srgbClr val="000000">
                      <a:alpha val="43137"/>
                    </a:srgbClr>
                  </a:outerShdw>
                </a:effectLst>
              </a:endParaRPr>
            </a:p>
          </p:txBody>
        </p:sp>
      </p:grpSp>
      <p:grpSp>
        <p:nvGrpSpPr>
          <p:cNvPr id="10" name="Group 9">
            <a:extLst>
              <a:ext uri="{FF2B5EF4-FFF2-40B4-BE49-F238E27FC236}">
                <a16:creationId xmlns:a16="http://schemas.microsoft.com/office/drawing/2014/main" id="{EB1D4E6E-F4C7-4640-8407-EEFC7DA7A155}"/>
              </a:ext>
            </a:extLst>
          </p:cNvPr>
          <p:cNvGrpSpPr/>
          <p:nvPr/>
        </p:nvGrpSpPr>
        <p:grpSpPr>
          <a:xfrm>
            <a:off x="1752600" y="4572000"/>
            <a:ext cx="1097280" cy="400110"/>
            <a:chOff x="2819400" y="5784969"/>
            <a:chExt cx="1097280" cy="400110"/>
          </a:xfrm>
        </p:grpSpPr>
        <p:cxnSp>
          <p:nvCxnSpPr>
            <p:cNvPr id="11" name="Straight Arrow Connector 10">
              <a:extLst>
                <a:ext uri="{FF2B5EF4-FFF2-40B4-BE49-F238E27FC236}">
                  <a16:creationId xmlns:a16="http://schemas.microsoft.com/office/drawing/2014/main" id="{AD78CD29-DC53-40B1-8550-FE4265D1BC8C}"/>
                </a:ext>
              </a:extLst>
            </p:cNvPr>
            <p:cNvCxnSpPr/>
            <p:nvPr/>
          </p:nvCxnSpPr>
          <p:spPr>
            <a:xfrm>
              <a:off x="2819400" y="6172117"/>
              <a:ext cx="109728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92E6082-0F4B-4B9B-B247-0F9657972FCF}"/>
                </a:ext>
              </a:extLst>
            </p:cNvPr>
            <p:cNvSpPr txBox="1"/>
            <p:nvPr/>
          </p:nvSpPr>
          <p:spPr>
            <a:xfrm>
              <a:off x="2893162" y="5784969"/>
              <a:ext cx="947695"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KMnO</a:t>
              </a:r>
              <a:r>
                <a:rPr lang="en-US" altLang="zh-CN" sz="2000" b="1" baseline="-25000" dirty="0">
                  <a:effectLst>
                    <a:outerShdw blurRad="38100" dist="38100" dir="2700000" algn="tl">
                      <a:srgbClr val="000000">
                        <a:alpha val="43137"/>
                      </a:srgbClr>
                    </a:outerShdw>
                  </a:effectLst>
                </a:rPr>
                <a:t>4</a:t>
              </a:r>
              <a:endParaRPr lang="en-US" sz="2000" b="1" dirty="0">
                <a:effectLst>
                  <a:outerShdw blurRad="38100" dist="38100" dir="2700000" algn="tl">
                    <a:srgbClr val="000000">
                      <a:alpha val="43137"/>
                    </a:srgbClr>
                  </a:outerShdw>
                </a:effectLst>
              </a:endParaRPr>
            </a:p>
          </p:txBody>
        </p:sp>
      </p:grpSp>
      <p:grpSp>
        <p:nvGrpSpPr>
          <p:cNvPr id="13" name="Group 12">
            <a:extLst>
              <a:ext uri="{FF2B5EF4-FFF2-40B4-BE49-F238E27FC236}">
                <a16:creationId xmlns:a16="http://schemas.microsoft.com/office/drawing/2014/main" id="{F250F976-BEE6-493F-A94F-5849EAF0DCDD}"/>
              </a:ext>
            </a:extLst>
          </p:cNvPr>
          <p:cNvGrpSpPr/>
          <p:nvPr/>
        </p:nvGrpSpPr>
        <p:grpSpPr>
          <a:xfrm>
            <a:off x="1752600" y="5086290"/>
            <a:ext cx="1097280" cy="400110"/>
            <a:chOff x="2819400" y="5784969"/>
            <a:chExt cx="1097280" cy="400110"/>
          </a:xfrm>
        </p:grpSpPr>
        <p:cxnSp>
          <p:nvCxnSpPr>
            <p:cNvPr id="14" name="Straight Arrow Connector 13">
              <a:extLst>
                <a:ext uri="{FF2B5EF4-FFF2-40B4-BE49-F238E27FC236}">
                  <a16:creationId xmlns:a16="http://schemas.microsoft.com/office/drawing/2014/main" id="{0D817BCD-B13B-45CE-9C59-F4A7563A3B84}"/>
                </a:ext>
              </a:extLst>
            </p:cNvPr>
            <p:cNvCxnSpPr/>
            <p:nvPr/>
          </p:nvCxnSpPr>
          <p:spPr>
            <a:xfrm>
              <a:off x="2819400" y="6172117"/>
              <a:ext cx="109728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E5D9DAF-6E16-444C-AB9E-D9A474B63303}"/>
                </a:ext>
              </a:extLst>
            </p:cNvPr>
            <p:cNvSpPr txBox="1"/>
            <p:nvPr/>
          </p:nvSpPr>
          <p:spPr>
            <a:xfrm>
              <a:off x="2893162" y="5784969"/>
              <a:ext cx="947695"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KMnO</a:t>
              </a:r>
              <a:r>
                <a:rPr lang="en-US" altLang="zh-CN" sz="2000" b="1" baseline="-25000" dirty="0">
                  <a:effectLst>
                    <a:outerShdw blurRad="38100" dist="38100" dir="2700000" algn="tl">
                      <a:srgbClr val="000000">
                        <a:alpha val="43137"/>
                      </a:srgbClr>
                    </a:outerShdw>
                  </a:effectLst>
                </a:rPr>
                <a:t>4</a:t>
              </a:r>
              <a:endParaRPr lang="en-US" sz="20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linds(horizontal)">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linds(horizontal)">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blinds(horizontal)">
                                      <p:cBhvr>
                                        <p:cTn id="5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839200" cy="5867400"/>
          </a:xfrm>
        </p:spPr>
        <p:txBody>
          <a:bodyPr>
            <a:noAutofit/>
          </a:bodyPr>
          <a:lstStyle/>
          <a:p>
            <a:pPr marL="0" indent="0">
              <a:buNone/>
            </a:pPr>
            <a:r>
              <a:rPr lang="zh-CN" altLang="en-US" sz="3000" dirty="0"/>
              <a:t>例题：推断</a:t>
            </a:r>
            <a:r>
              <a:rPr lang="en-US" altLang="zh-CN" sz="3000" dirty="0"/>
              <a:t>A</a:t>
            </a:r>
            <a:r>
              <a:rPr lang="zh-CN" altLang="en-US" sz="3000" dirty="0"/>
              <a:t>和</a:t>
            </a:r>
            <a:r>
              <a:rPr lang="en-US" altLang="zh-CN" sz="3000" dirty="0"/>
              <a:t>B</a:t>
            </a:r>
            <a:r>
              <a:rPr lang="zh-CN" altLang="en-US" sz="3000" dirty="0"/>
              <a:t>的结构</a:t>
            </a:r>
          </a:p>
          <a:p>
            <a:pPr marL="0" indent="0">
              <a:buNone/>
            </a:pPr>
            <a:r>
              <a:rPr lang="en-MY" sz="3000" dirty="0"/>
              <a:t>(1) A(C</a:t>
            </a:r>
            <a:r>
              <a:rPr lang="en-MY" sz="3000" baseline="-25000" dirty="0"/>
              <a:t>4</a:t>
            </a:r>
            <a:r>
              <a:rPr lang="en-MY" sz="3000" dirty="0"/>
              <a:t>H</a:t>
            </a:r>
            <a:r>
              <a:rPr lang="en-MY" sz="3000" baseline="-25000" dirty="0"/>
              <a:t>6</a:t>
            </a:r>
            <a:r>
              <a:rPr lang="en-MY" sz="3000" dirty="0"/>
              <a:t>) 		   CH</a:t>
            </a:r>
            <a:r>
              <a:rPr lang="en-MY" sz="3000" baseline="-25000" dirty="0"/>
              <a:t>3</a:t>
            </a:r>
            <a:r>
              <a:rPr lang="en-MY" sz="3000" dirty="0"/>
              <a:t>COOH</a:t>
            </a:r>
          </a:p>
          <a:p>
            <a:pPr marL="0" indent="0">
              <a:buNone/>
            </a:pPr>
            <a:endParaRPr lang="zh-CN" altLang="en-US" sz="3000" dirty="0"/>
          </a:p>
          <a:p>
            <a:pPr marL="0" indent="0">
              <a:buNone/>
            </a:pPr>
            <a:r>
              <a:rPr lang="en-US" sz="3000" dirty="0"/>
              <a:t>(2) B(C</a:t>
            </a:r>
            <a:r>
              <a:rPr lang="en-US" sz="3000" baseline="-25000" dirty="0"/>
              <a:t>8</a:t>
            </a:r>
            <a:r>
              <a:rPr lang="en-US" sz="3000" dirty="0"/>
              <a:t>H</a:t>
            </a:r>
            <a:r>
              <a:rPr lang="en-US" sz="3000" baseline="-25000" dirty="0"/>
              <a:t>10</a:t>
            </a:r>
            <a:r>
              <a:rPr lang="en-US" sz="3000" dirty="0"/>
              <a:t> ) 	     </a:t>
            </a:r>
            <a:r>
              <a:rPr lang="en-MY" sz="3000" dirty="0"/>
              <a:t>CH</a:t>
            </a:r>
            <a:r>
              <a:rPr lang="en-MY" sz="3000" baseline="-25000" dirty="0"/>
              <a:t>3</a:t>
            </a:r>
            <a:r>
              <a:rPr lang="en-MY" sz="3000" dirty="0"/>
              <a:t>COOH </a:t>
            </a:r>
            <a:r>
              <a:rPr lang="en-US" sz="3000" dirty="0"/>
              <a:t>+ HOOC-CH</a:t>
            </a:r>
            <a:r>
              <a:rPr lang="en-US" sz="3000" baseline="-25000" dirty="0"/>
              <a:t>2</a:t>
            </a:r>
            <a:r>
              <a:rPr lang="en-US" sz="3000" dirty="0"/>
              <a:t>CH</a:t>
            </a:r>
            <a:r>
              <a:rPr lang="en-US" sz="3000" baseline="-25000" dirty="0"/>
              <a:t>2</a:t>
            </a:r>
            <a:r>
              <a:rPr lang="en-US" sz="3000" dirty="0"/>
              <a:t>COOH</a:t>
            </a:r>
          </a:p>
          <a:p>
            <a:pPr marL="0" indent="0">
              <a:buNone/>
            </a:pPr>
            <a:endParaRPr lang="zh-CN" altLang="en-US" sz="3000" dirty="0"/>
          </a:p>
          <a:p>
            <a:pPr marL="0" indent="0">
              <a:buNone/>
            </a:pPr>
            <a:r>
              <a:rPr lang="pt-BR" sz="3000" dirty="0"/>
              <a:t>A CH</a:t>
            </a:r>
            <a:r>
              <a:rPr lang="pt-BR" sz="3000" baseline="-25000" dirty="0"/>
              <a:t>3</a:t>
            </a:r>
            <a:r>
              <a:rPr lang="pt-BR" sz="3000" dirty="0"/>
              <a:t>C≡CCH</a:t>
            </a:r>
            <a:r>
              <a:rPr lang="pt-BR" sz="3000" baseline="-25000" dirty="0"/>
              <a:t>3</a:t>
            </a:r>
            <a:endParaRPr lang="pt-BR" sz="3000" dirty="0"/>
          </a:p>
          <a:p>
            <a:pPr marL="0" indent="0">
              <a:buNone/>
            </a:pPr>
            <a:r>
              <a:rPr lang="pl-PL" sz="3000" dirty="0"/>
              <a:t>B </a:t>
            </a:r>
            <a:r>
              <a:rPr lang="pt-BR" sz="3000" dirty="0"/>
              <a:t>CH</a:t>
            </a:r>
            <a:r>
              <a:rPr lang="pt-BR" sz="3000" baseline="-25000" dirty="0"/>
              <a:t>3</a:t>
            </a:r>
            <a:r>
              <a:rPr lang="pt-BR" sz="3000" dirty="0"/>
              <a:t>C≡CCH</a:t>
            </a:r>
            <a:r>
              <a:rPr lang="pt-BR" sz="3000" baseline="-25000" dirty="0"/>
              <a:t>2</a:t>
            </a:r>
            <a:r>
              <a:rPr lang="pt-BR" sz="3000" dirty="0"/>
              <a:t>CH</a:t>
            </a:r>
            <a:r>
              <a:rPr lang="pt-BR" sz="3000" baseline="-25000" dirty="0"/>
              <a:t>2</a:t>
            </a:r>
            <a:r>
              <a:rPr lang="pt-BR" sz="3000" dirty="0"/>
              <a:t>C≡CCH</a:t>
            </a:r>
            <a:r>
              <a:rPr lang="pt-BR" sz="3000" baseline="-25000" dirty="0"/>
              <a:t>3</a:t>
            </a:r>
            <a:endParaRPr lang="en-US" altLang="zh-CN" sz="3000" dirty="0"/>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grpSp>
        <p:nvGrpSpPr>
          <p:cNvPr id="7" name="Group 6"/>
          <p:cNvGrpSpPr/>
          <p:nvPr/>
        </p:nvGrpSpPr>
        <p:grpSpPr>
          <a:xfrm>
            <a:off x="2209800" y="1504890"/>
            <a:ext cx="1097280" cy="400110"/>
            <a:chOff x="2819400" y="5784969"/>
            <a:chExt cx="1097280" cy="400110"/>
          </a:xfrm>
        </p:grpSpPr>
        <p:cxnSp>
          <p:nvCxnSpPr>
            <p:cNvPr id="8" name="Straight Arrow Connector 7"/>
            <p:cNvCxnSpPr/>
            <p:nvPr/>
          </p:nvCxnSpPr>
          <p:spPr>
            <a:xfrm>
              <a:off x="2819400" y="6172117"/>
              <a:ext cx="109728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93162" y="5784969"/>
              <a:ext cx="947695"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KMnO</a:t>
              </a:r>
              <a:r>
                <a:rPr lang="en-US" altLang="zh-CN" sz="2000" b="1" baseline="-25000" dirty="0">
                  <a:effectLst>
                    <a:outerShdw blurRad="38100" dist="38100" dir="2700000" algn="tl">
                      <a:srgbClr val="000000">
                        <a:alpha val="43137"/>
                      </a:srgbClr>
                    </a:outerShdw>
                  </a:effectLst>
                </a:rPr>
                <a:t>4</a:t>
              </a:r>
              <a:endParaRPr lang="en-US" sz="2000" b="1" dirty="0">
                <a:effectLst>
                  <a:outerShdw blurRad="38100" dist="38100" dir="2700000" algn="tl">
                    <a:srgbClr val="000000">
                      <a:alpha val="43137"/>
                    </a:srgbClr>
                  </a:outerShdw>
                </a:effectLst>
              </a:endParaRPr>
            </a:p>
          </p:txBody>
        </p:sp>
      </p:grpSp>
      <p:grpSp>
        <p:nvGrpSpPr>
          <p:cNvPr id="10" name="Group 9">
            <a:extLst>
              <a:ext uri="{FF2B5EF4-FFF2-40B4-BE49-F238E27FC236}">
                <a16:creationId xmlns:a16="http://schemas.microsoft.com/office/drawing/2014/main" id="{ACA58EF6-487E-4092-91AC-79FE26567E84}"/>
              </a:ext>
            </a:extLst>
          </p:cNvPr>
          <p:cNvGrpSpPr/>
          <p:nvPr/>
        </p:nvGrpSpPr>
        <p:grpSpPr>
          <a:xfrm>
            <a:off x="2362200" y="2571690"/>
            <a:ext cx="1097280" cy="400110"/>
            <a:chOff x="2819400" y="5784969"/>
            <a:chExt cx="1097280" cy="400110"/>
          </a:xfrm>
        </p:grpSpPr>
        <p:cxnSp>
          <p:nvCxnSpPr>
            <p:cNvPr id="11" name="Straight Arrow Connector 10">
              <a:extLst>
                <a:ext uri="{FF2B5EF4-FFF2-40B4-BE49-F238E27FC236}">
                  <a16:creationId xmlns:a16="http://schemas.microsoft.com/office/drawing/2014/main" id="{F2D3C6FB-B0A8-4D65-973E-106E8C193D71}"/>
                </a:ext>
              </a:extLst>
            </p:cNvPr>
            <p:cNvCxnSpPr/>
            <p:nvPr/>
          </p:nvCxnSpPr>
          <p:spPr>
            <a:xfrm>
              <a:off x="2819400" y="6172117"/>
              <a:ext cx="109728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3EFE0E9-4FD6-474B-8126-5811A779039F}"/>
                </a:ext>
              </a:extLst>
            </p:cNvPr>
            <p:cNvSpPr txBox="1"/>
            <p:nvPr/>
          </p:nvSpPr>
          <p:spPr>
            <a:xfrm>
              <a:off x="2893162" y="5784969"/>
              <a:ext cx="947695" cy="400110"/>
            </a:xfrm>
            <a:prstGeom prst="rect">
              <a:avLst/>
            </a:prstGeom>
            <a:noFill/>
          </p:spPr>
          <p:txBody>
            <a:bodyPr wrap="none" rtlCol="0">
              <a:spAutoFit/>
            </a:bodyPr>
            <a:lstStyle/>
            <a:p>
              <a:r>
                <a:rPr lang="en-US" altLang="zh-CN" sz="2000" b="1" dirty="0">
                  <a:effectLst>
                    <a:outerShdw blurRad="38100" dist="38100" dir="2700000" algn="tl">
                      <a:srgbClr val="000000">
                        <a:alpha val="43137"/>
                      </a:srgbClr>
                    </a:outerShdw>
                  </a:effectLst>
                </a:rPr>
                <a:t>KMnO</a:t>
              </a:r>
              <a:r>
                <a:rPr lang="en-US" altLang="zh-CN" sz="2000" b="1" baseline="-25000" dirty="0">
                  <a:effectLst>
                    <a:outerShdw blurRad="38100" dist="38100" dir="2700000" algn="tl">
                      <a:srgbClr val="000000">
                        <a:alpha val="43137"/>
                      </a:srgbClr>
                    </a:outerShdw>
                  </a:effectLst>
                </a:rPr>
                <a:t>4</a:t>
              </a:r>
              <a:endParaRPr lang="en-US" sz="20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42864789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linds(horizontal)">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4. </a:t>
            </a:r>
            <a:r>
              <a:rPr lang="zh-CN" altLang="en-US" sz="3000" dirty="0"/>
              <a:t>生成金属炔化物的反应</a:t>
            </a:r>
            <a:endParaRPr lang="en-US" altLang="zh-CN" sz="3000" dirty="0"/>
          </a:p>
          <a:p>
            <a:pPr marL="514350" indent="-514350">
              <a:buNone/>
            </a:pPr>
            <a:r>
              <a:rPr lang="zh-CN" altLang="en-US" sz="3000" b="1" dirty="0">
                <a:solidFill>
                  <a:srgbClr val="002060"/>
                </a:solidFill>
                <a:effectLst>
                  <a:outerShdw blurRad="38100" dist="38100" dir="2700000" algn="tl">
                    <a:srgbClr val="000000">
                      <a:alpha val="43137"/>
                    </a:srgbClr>
                  </a:outerShdw>
                </a:effectLst>
              </a:rPr>
              <a:t>条件：</a:t>
            </a:r>
            <a:r>
              <a:rPr lang="en-US" altLang="zh-CN" sz="3000" b="1" dirty="0">
                <a:solidFill>
                  <a:srgbClr val="002060"/>
                </a:solidFill>
                <a:effectLst>
                  <a:outerShdw blurRad="38100" dist="38100" dir="2700000" algn="tl">
                    <a:srgbClr val="000000">
                      <a:alpha val="43137"/>
                    </a:srgbClr>
                  </a:outerShdw>
                </a:effectLst>
              </a:rPr>
              <a:t>C≡C</a:t>
            </a:r>
            <a:r>
              <a:rPr lang="zh-CN" altLang="en-US" sz="3000" b="1" dirty="0">
                <a:solidFill>
                  <a:srgbClr val="002060"/>
                </a:solidFill>
                <a:effectLst>
                  <a:outerShdw blurRad="38100" dist="38100" dir="2700000" algn="tl">
                    <a:srgbClr val="000000">
                      <a:alpha val="43137"/>
                    </a:srgbClr>
                  </a:outerShdw>
                </a:effectLst>
              </a:rPr>
              <a:t>三键的</a:t>
            </a:r>
            <a:r>
              <a:rPr lang="en-US" altLang="zh-CN" sz="3000" b="1" dirty="0">
                <a:solidFill>
                  <a:srgbClr val="002060"/>
                </a:solidFill>
                <a:effectLst>
                  <a:outerShdw blurRad="38100" dist="38100" dir="2700000" algn="tl">
                    <a:srgbClr val="000000">
                      <a:alpha val="43137"/>
                    </a:srgbClr>
                  </a:outerShdw>
                </a:effectLst>
              </a:rPr>
              <a:t>C</a:t>
            </a:r>
            <a:r>
              <a:rPr lang="zh-CN" altLang="en-US" sz="3000" b="1" dirty="0">
                <a:solidFill>
                  <a:srgbClr val="002060"/>
                </a:solidFill>
                <a:effectLst>
                  <a:outerShdw blurRad="38100" dist="38100" dir="2700000" algn="tl">
                    <a:srgbClr val="000000">
                      <a:alpha val="43137"/>
                    </a:srgbClr>
                  </a:outerShdw>
                </a:effectLst>
              </a:rPr>
              <a:t>原子必须有</a:t>
            </a:r>
            <a:r>
              <a:rPr lang="en-US" altLang="zh-CN" sz="3000" b="1" dirty="0">
                <a:solidFill>
                  <a:srgbClr val="002060"/>
                </a:solidFill>
                <a:effectLst>
                  <a:outerShdw blurRad="38100" dist="38100" dir="2700000" algn="tl">
                    <a:srgbClr val="000000">
                      <a:alpha val="43137"/>
                    </a:srgbClr>
                  </a:outerShdw>
                </a:effectLst>
              </a:rPr>
              <a:t>H</a:t>
            </a:r>
            <a:r>
              <a:rPr lang="zh-CN" altLang="en-US" sz="3000" b="1" dirty="0">
                <a:solidFill>
                  <a:srgbClr val="002060"/>
                </a:solidFill>
                <a:effectLst>
                  <a:outerShdw blurRad="38100" dist="38100" dir="2700000" algn="tl">
                    <a:srgbClr val="000000">
                      <a:alpha val="43137"/>
                    </a:srgbClr>
                  </a:outerShdw>
                </a:effectLst>
              </a:rPr>
              <a:t>，</a:t>
            </a:r>
            <a:endParaRPr lang="en-US" altLang="zh-CN" sz="3000" b="1" dirty="0">
              <a:solidFill>
                <a:srgbClr val="002060"/>
              </a:solidFill>
              <a:effectLst>
                <a:outerShdw blurRad="38100" dist="38100" dir="2700000" algn="tl">
                  <a:srgbClr val="000000">
                    <a:alpha val="43137"/>
                  </a:srgbClr>
                </a:outerShdw>
              </a:effectLst>
            </a:endParaRPr>
          </a:p>
          <a:p>
            <a:pPr marL="514350" indent="-514350">
              <a:buNone/>
            </a:pPr>
            <a:r>
              <a:rPr lang="en-US" altLang="zh-CN" sz="3000" b="1" dirty="0">
                <a:solidFill>
                  <a:srgbClr val="002060"/>
                </a:solidFill>
                <a:effectLst>
                  <a:outerShdw blurRad="38100" dist="38100" dir="2700000" algn="tl">
                    <a:srgbClr val="000000">
                      <a:alpha val="43137"/>
                    </a:srgbClr>
                  </a:outerShdw>
                </a:effectLst>
              </a:rPr>
              <a:t>		  </a:t>
            </a:r>
            <a:r>
              <a:rPr lang="en-US" altLang="zh-CN" sz="3000" b="1" dirty="0">
                <a:solidFill>
                  <a:srgbClr val="7030A0"/>
                </a:solidFill>
                <a:effectLst>
                  <a:outerShdw blurRad="38100" dist="38100" dir="2700000" algn="tl">
                    <a:srgbClr val="000000">
                      <a:alpha val="43137"/>
                    </a:srgbClr>
                  </a:outerShdw>
                </a:effectLst>
              </a:rPr>
              <a:t> </a:t>
            </a:r>
            <a:r>
              <a:rPr lang="zh-CN" altLang="en-US" sz="3000" b="1" dirty="0">
                <a:solidFill>
                  <a:srgbClr val="7030A0"/>
                </a:solidFill>
                <a:effectLst>
                  <a:outerShdw blurRad="38100" dist="38100" dir="2700000" algn="tl">
                    <a:srgbClr val="000000">
                      <a:alpha val="43137"/>
                    </a:srgbClr>
                  </a:outerShdw>
                </a:effectLst>
              </a:rPr>
              <a:t>即</a:t>
            </a:r>
            <a:r>
              <a:rPr lang="en-US" altLang="zh-CN" sz="3000" b="1" dirty="0">
                <a:solidFill>
                  <a:srgbClr val="7030A0"/>
                </a:solidFill>
                <a:effectLst>
                  <a:outerShdw blurRad="38100" dist="38100" dir="2700000" algn="tl">
                    <a:srgbClr val="000000">
                      <a:alpha val="43137"/>
                    </a:srgbClr>
                  </a:outerShdw>
                </a:effectLst>
              </a:rPr>
              <a:t>C≡C</a:t>
            </a:r>
            <a:r>
              <a:rPr lang="zh-CN" altLang="en-US" sz="3000" b="1" dirty="0">
                <a:solidFill>
                  <a:srgbClr val="7030A0"/>
                </a:solidFill>
                <a:effectLst>
                  <a:outerShdw blurRad="38100" dist="38100" dir="2700000" algn="tl">
                    <a:srgbClr val="000000">
                      <a:alpha val="43137"/>
                    </a:srgbClr>
                  </a:outerShdw>
                </a:effectLst>
              </a:rPr>
              <a:t>三键在第一个</a:t>
            </a:r>
            <a:r>
              <a:rPr lang="en-US" altLang="zh-CN" sz="3000" b="1" dirty="0">
                <a:solidFill>
                  <a:srgbClr val="7030A0"/>
                </a:solidFill>
                <a:effectLst>
                  <a:outerShdw blurRad="38100" dist="38100" dir="2700000" algn="tl">
                    <a:srgbClr val="000000">
                      <a:alpha val="43137"/>
                    </a:srgbClr>
                  </a:outerShdw>
                </a:effectLst>
              </a:rPr>
              <a:t>C</a:t>
            </a:r>
            <a:r>
              <a:rPr lang="zh-CN" altLang="en-US" sz="3000" b="1" dirty="0">
                <a:solidFill>
                  <a:srgbClr val="7030A0"/>
                </a:solidFill>
                <a:effectLst>
                  <a:outerShdw blurRad="38100" dist="38100" dir="2700000" algn="tl">
                    <a:srgbClr val="000000">
                      <a:alpha val="43137"/>
                    </a:srgbClr>
                  </a:outerShdw>
                </a:effectLst>
              </a:rPr>
              <a:t>上</a:t>
            </a:r>
            <a:r>
              <a:rPr lang="en-MY" altLang="zh-CN" sz="3000" b="1" dirty="0">
                <a:solidFill>
                  <a:srgbClr val="7030A0"/>
                </a:solidFill>
                <a:effectLst>
                  <a:outerShdw blurRad="38100" dist="38100" dir="2700000" algn="tl">
                    <a:srgbClr val="000000">
                      <a:alpha val="43137"/>
                    </a:srgbClr>
                  </a:outerShdw>
                </a:effectLst>
              </a:rPr>
              <a:t>(</a:t>
            </a:r>
            <a:r>
              <a:rPr lang="zh-CN" altLang="en-US" sz="3000" b="1" dirty="0">
                <a:solidFill>
                  <a:srgbClr val="7030A0"/>
                </a:solidFill>
                <a:effectLst>
                  <a:outerShdw blurRad="38100" dist="38100" dir="2700000" algn="tl">
                    <a:srgbClr val="000000">
                      <a:alpha val="43137"/>
                    </a:srgbClr>
                  </a:outerShdw>
                </a:effectLst>
              </a:rPr>
              <a:t>末端炔</a:t>
            </a:r>
            <a:r>
              <a:rPr lang="en-MY" altLang="zh-CN" sz="3000" b="1" dirty="0">
                <a:solidFill>
                  <a:srgbClr val="7030A0"/>
                </a:solidFill>
                <a:effectLst>
                  <a:outerShdw blurRad="38100" dist="38100" dir="2700000" algn="tl">
                    <a:srgbClr val="000000">
                      <a:alpha val="43137"/>
                    </a:srgbClr>
                  </a:outerShdw>
                </a:effectLst>
              </a:rPr>
              <a:t>)</a:t>
            </a:r>
            <a:endParaRPr lang="en-US" altLang="zh-CN" sz="3000" b="1" dirty="0">
              <a:solidFill>
                <a:srgbClr val="7030A0"/>
              </a:solidFill>
              <a:effectLst>
                <a:outerShdw blurRad="38100" dist="38100" dir="2700000" algn="tl">
                  <a:srgbClr val="000000">
                    <a:alpha val="43137"/>
                  </a:srgbClr>
                </a:outerShdw>
              </a:effectLst>
            </a:endParaRPr>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en-US" altLang="zh-CN" sz="4800" b="1" dirty="0">
                <a:latin typeface="+mn-ea"/>
              </a:rPr>
              <a:t>29.4 </a:t>
            </a:r>
            <a:r>
              <a:rPr lang="zh-CN" altLang="en-US" sz="4800" b="1" dirty="0">
                <a:latin typeface="+mn-ea"/>
              </a:rPr>
              <a:t>炔烃的化学性质</a:t>
            </a:r>
            <a:endParaRPr lang="en-US" sz="4800" b="1" dirty="0"/>
          </a:p>
        </p:txBody>
      </p:sp>
      <p:pic>
        <p:nvPicPr>
          <p:cNvPr id="7" name="Picture 6" descr="炔氢.jpg"/>
          <p:cNvPicPr>
            <a:picLocks noChangeAspect="1"/>
          </p:cNvPicPr>
          <p:nvPr/>
        </p:nvPicPr>
        <p:blipFill>
          <a:blip r:embed="rId3"/>
          <a:srcRect t="13391" b="11659"/>
          <a:stretch>
            <a:fillRect/>
          </a:stretch>
        </p:blipFill>
        <p:spPr>
          <a:xfrm>
            <a:off x="990600" y="2590800"/>
            <a:ext cx="7188200" cy="4040669"/>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514350" indent="-514350">
              <a:buAutoNum type="arabicPeriod"/>
            </a:pPr>
            <a:r>
              <a:rPr lang="zh-CN" altLang="en-US" sz="3000" dirty="0"/>
              <a:t>完成下列反应式：</a:t>
            </a:r>
            <a:endParaRPr lang="en-US" altLang="zh-CN" sz="3000" dirty="0"/>
          </a:p>
          <a:p>
            <a:pPr marL="514350" indent="-514350">
              <a:buNone/>
            </a:pPr>
            <a:r>
              <a:rPr lang="en-US" altLang="zh-CN" sz="3000" dirty="0"/>
              <a:t>CH</a:t>
            </a:r>
            <a:r>
              <a:rPr lang="en-US" altLang="zh-CN" sz="3000" baseline="-25000" dirty="0"/>
              <a:t>3</a:t>
            </a:r>
            <a:r>
              <a:rPr lang="en-US" altLang="zh-CN" sz="3000" dirty="0"/>
              <a:t>CH</a:t>
            </a:r>
            <a:r>
              <a:rPr lang="en-US" altLang="zh-CN" sz="3000" baseline="-25000" dirty="0"/>
              <a:t>2</a:t>
            </a:r>
            <a:r>
              <a:rPr lang="en-US" altLang="zh-CN" sz="3000" dirty="0"/>
              <a:t>C≡CH + Ag(NH</a:t>
            </a:r>
            <a:r>
              <a:rPr lang="en-US" altLang="zh-CN" sz="3000" baseline="-25000" dirty="0"/>
              <a:t>3</a:t>
            </a:r>
            <a:r>
              <a:rPr lang="en-US" altLang="zh-CN" sz="3000" dirty="0"/>
              <a:t>)</a:t>
            </a:r>
            <a:r>
              <a:rPr lang="en-US" altLang="zh-CN" sz="3000" baseline="-25000" dirty="0"/>
              <a:t>2</a:t>
            </a:r>
            <a:r>
              <a:rPr lang="en-US" altLang="zh-CN" sz="3000" dirty="0"/>
              <a:t>Cl</a:t>
            </a:r>
            <a:r>
              <a:rPr lang="en-US" altLang="zh-CN" sz="3000" dirty="0">
                <a:sym typeface="Wingdings" pitchFamily="2" charset="2"/>
              </a:rPr>
              <a:t> </a:t>
            </a:r>
          </a:p>
          <a:p>
            <a:pPr marL="514350" indent="-514350">
              <a:buNone/>
            </a:pPr>
            <a:r>
              <a:rPr lang="en-US" altLang="zh-CN" sz="3000" dirty="0"/>
              <a:t>HC≡ CH + 2 Cu(NH</a:t>
            </a:r>
            <a:r>
              <a:rPr lang="en-US" altLang="zh-CN" sz="3000" baseline="-25000" dirty="0"/>
              <a:t>3</a:t>
            </a:r>
            <a:r>
              <a:rPr lang="en-US" altLang="zh-CN" sz="3000" dirty="0"/>
              <a:t>)</a:t>
            </a:r>
            <a:r>
              <a:rPr lang="en-US" altLang="zh-CN" sz="3000" baseline="-25000" dirty="0"/>
              <a:t>2</a:t>
            </a:r>
            <a:r>
              <a:rPr lang="en-US" altLang="zh-CN" sz="3000" dirty="0"/>
              <a:t> </a:t>
            </a:r>
            <a:r>
              <a:rPr lang="en-US" altLang="zh-CN" sz="3000" dirty="0" err="1"/>
              <a:t>Cl</a:t>
            </a:r>
            <a:r>
              <a:rPr lang="en-US" altLang="zh-CN" sz="3000" dirty="0"/>
              <a:t> </a:t>
            </a:r>
            <a:r>
              <a:rPr lang="en-US" altLang="zh-CN" sz="3000" dirty="0">
                <a:sym typeface="Wingdings" pitchFamily="2" charset="2"/>
              </a:rPr>
              <a:t></a:t>
            </a:r>
            <a:endParaRPr lang="en-US" altLang="zh-CN" sz="3000" dirty="0"/>
          </a:p>
          <a:p>
            <a:pPr>
              <a:buNone/>
            </a:pPr>
            <a:r>
              <a:rPr lang="en-US" altLang="zh-CN" sz="3000" dirty="0"/>
              <a:t>2. </a:t>
            </a:r>
            <a:r>
              <a:rPr lang="zh-CN" altLang="en-US" sz="3000" dirty="0"/>
              <a:t>如何区别</a:t>
            </a:r>
            <a:r>
              <a:rPr lang="en-US" altLang="zh-CN" sz="3000" dirty="0"/>
              <a:t>1-</a:t>
            </a:r>
            <a:r>
              <a:rPr lang="zh-CN" altLang="en-US" sz="3000" dirty="0"/>
              <a:t>丁炔与</a:t>
            </a:r>
            <a:r>
              <a:rPr lang="en-US" altLang="zh-CN" sz="3000" dirty="0"/>
              <a:t>2-</a:t>
            </a:r>
            <a:r>
              <a:rPr lang="zh-CN" altLang="en-US" sz="3000" dirty="0"/>
              <a:t>丁炔？</a:t>
            </a:r>
            <a:endParaRPr lang="en-US" altLang="zh-CN" sz="3000" dirty="0"/>
          </a:p>
          <a:p>
            <a:pPr>
              <a:buNone/>
            </a:pPr>
            <a:r>
              <a:rPr lang="zh-CN" altLang="en-US" sz="3000" dirty="0"/>
              <a:t>将它们分别通入溶有</a:t>
            </a:r>
            <a:r>
              <a:rPr lang="zh-CN" altLang="en-US" sz="3000" b="1" dirty="0">
                <a:solidFill>
                  <a:srgbClr val="C00000"/>
                </a:solidFill>
                <a:effectLst>
                  <a:outerShdw blurRad="38100" dist="38100" dir="2700000" algn="tl">
                    <a:srgbClr val="000000">
                      <a:alpha val="43137"/>
                    </a:srgbClr>
                  </a:outerShdw>
                </a:effectLst>
              </a:rPr>
              <a:t>氨水的铜</a:t>
            </a:r>
            <a:r>
              <a:rPr lang="en-US" altLang="zh-CN" sz="3000" b="1" dirty="0">
                <a:solidFill>
                  <a:srgbClr val="C00000"/>
                </a:solidFill>
                <a:effectLst>
                  <a:outerShdw blurRad="38100" dist="38100" dir="2700000" algn="tl">
                    <a:srgbClr val="000000">
                      <a:alpha val="43137"/>
                    </a:srgbClr>
                  </a:outerShdw>
                </a:effectLst>
              </a:rPr>
              <a:t>(I)</a:t>
            </a:r>
            <a:r>
              <a:rPr lang="zh-CN" altLang="en-US" sz="3000" b="1" dirty="0">
                <a:solidFill>
                  <a:srgbClr val="C00000"/>
                </a:solidFill>
                <a:effectLst>
                  <a:outerShdw blurRad="38100" dist="38100" dir="2700000" algn="tl">
                    <a:srgbClr val="000000">
                      <a:alpha val="43137"/>
                    </a:srgbClr>
                  </a:outerShdw>
                </a:effectLst>
              </a:rPr>
              <a:t>盐</a:t>
            </a:r>
            <a:r>
              <a:rPr lang="zh-CN" altLang="en-US" sz="3000" dirty="0"/>
              <a:t>溶液，产生</a:t>
            </a:r>
            <a:r>
              <a:rPr lang="zh-CN" altLang="en-US" sz="3000" b="1" dirty="0">
                <a:solidFill>
                  <a:srgbClr val="C00000"/>
                </a:solidFill>
                <a:effectLst>
                  <a:outerShdw blurRad="38100" dist="38100" dir="2700000" algn="tl">
                    <a:srgbClr val="000000">
                      <a:alpha val="43137"/>
                    </a:srgbClr>
                  </a:outerShdw>
                </a:effectLst>
              </a:rPr>
              <a:t>棕红色沉淀</a:t>
            </a:r>
            <a:r>
              <a:rPr lang="zh-CN" altLang="en-US" sz="3000" dirty="0"/>
              <a:t>的是</a:t>
            </a:r>
            <a:r>
              <a:rPr lang="en-US" altLang="zh-CN" sz="3000" dirty="0"/>
              <a:t>1-</a:t>
            </a:r>
            <a:r>
              <a:rPr lang="zh-CN" altLang="en-US" sz="3000" dirty="0"/>
              <a:t>丁炔，没有沉淀产生的是</a:t>
            </a:r>
            <a:r>
              <a:rPr lang="en-US" altLang="zh-CN" sz="3000" dirty="0"/>
              <a:t>2-</a:t>
            </a:r>
            <a:r>
              <a:rPr lang="zh-CN" altLang="en-US" sz="3000" dirty="0"/>
              <a:t>丁炔。</a:t>
            </a:r>
            <a:endParaRPr lang="en-US" altLang="zh-CN" sz="3000" dirty="0"/>
          </a:p>
          <a:p>
            <a:pPr>
              <a:buNone/>
            </a:pPr>
            <a:r>
              <a:rPr lang="en-US" altLang="zh-CN" sz="3000" dirty="0"/>
              <a:t>3. </a:t>
            </a:r>
            <a:r>
              <a:rPr lang="zh-CN" altLang="en-US" sz="3000" dirty="0"/>
              <a:t>如何区别乙烷、乙烯及乙炔？</a:t>
            </a:r>
            <a:endParaRPr lang="en-US" altLang="zh-CN" sz="3000" dirty="0"/>
          </a:p>
          <a:p>
            <a:pPr>
              <a:buNone/>
            </a:pPr>
            <a:r>
              <a:rPr lang="zh-CN" altLang="en-US" sz="3000" dirty="0"/>
              <a:t>将它们分别通入溶有</a:t>
            </a:r>
            <a:r>
              <a:rPr lang="zh-CN" altLang="en-US" sz="3000" b="1" dirty="0">
                <a:solidFill>
                  <a:srgbClr val="002060"/>
                </a:solidFill>
                <a:effectLst>
                  <a:outerShdw blurRad="38100" dist="38100" dir="2700000" algn="tl">
                    <a:srgbClr val="000000">
                      <a:alpha val="43137"/>
                    </a:srgbClr>
                  </a:outerShdw>
                </a:effectLst>
              </a:rPr>
              <a:t>氨水的银盐溶液</a:t>
            </a:r>
            <a:r>
              <a:rPr lang="zh-CN" altLang="en-US" sz="3000" dirty="0"/>
              <a:t>，产生</a:t>
            </a:r>
            <a:r>
              <a:rPr lang="zh-CN" altLang="en-US" sz="3000" b="1" dirty="0">
                <a:solidFill>
                  <a:srgbClr val="002060"/>
                </a:solidFill>
                <a:effectLst>
                  <a:outerShdw blurRad="38100" dist="38100" dir="2700000" algn="tl">
                    <a:srgbClr val="000000">
                      <a:alpha val="43137"/>
                    </a:srgbClr>
                  </a:outerShdw>
                </a:effectLst>
              </a:rPr>
              <a:t>白色沉淀</a:t>
            </a:r>
            <a:r>
              <a:rPr lang="zh-CN" altLang="en-US" sz="3000" dirty="0"/>
              <a:t>的是乙炔。将剩余两种气体通入溴水中，能使暗红色溴水褪色的是乙烯，无反应者为乙烷。</a:t>
            </a: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补充题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
        <p:nvSpPr>
          <p:cNvPr id="8" name="TextBox 7"/>
          <p:cNvSpPr txBox="1"/>
          <p:nvPr/>
        </p:nvSpPr>
        <p:spPr>
          <a:xfrm>
            <a:off x="4585598" y="1503402"/>
            <a:ext cx="4634602" cy="553998"/>
          </a:xfrm>
          <a:prstGeom prst="rect">
            <a:avLst/>
          </a:prstGeom>
          <a:noFill/>
        </p:spPr>
        <p:txBody>
          <a:bodyPr wrap="none" rtlCol="0">
            <a:spAutoFit/>
          </a:bodyPr>
          <a:lstStyle/>
          <a:p>
            <a:r>
              <a:rPr lang="en-US" altLang="zh-CN" sz="3000" dirty="0"/>
              <a:t>CH</a:t>
            </a:r>
            <a:r>
              <a:rPr lang="en-US" altLang="zh-CN" sz="3000" baseline="-25000" dirty="0"/>
              <a:t>3</a:t>
            </a:r>
            <a:r>
              <a:rPr lang="en-US" altLang="zh-CN" sz="3000" dirty="0"/>
              <a:t>CH</a:t>
            </a:r>
            <a:r>
              <a:rPr lang="en-US" altLang="zh-CN" sz="3000" baseline="-25000" dirty="0"/>
              <a:t>2</a:t>
            </a:r>
            <a:r>
              <a:rPr lang="en-US" altLang="zh-CN" sz="3000" dirty="0"/>
              <a:t>C≡C-Ag +NH</a:t>
            </a:r>
            <a:r>
              <a:rPr lang="en-US" altLang="zh-CN" sz="3000" baseline="-25000" dirty="0"/>
              <a:t>4</a:t>
            </a:r>
            <a:r>
              <a:rPr lang="en-US" altLang="zh-CN" sz="3000" dirty="0"/>
              <a:t>Cl+NH</a:t>
            </a:r>
            <a:r>
              <a:rPr lang="en-US" altLang="zh-CN" sz="3000" baseline="-25000" dirty="0"/>
              <a:t>3</a:t>
            </a:r>
            <a:r>
              <a:rPr lang="en-US" altLang="zh-CN" sz="3000" dirty="0"/>
              <a:t> </a:t>
            </a:r>
            <a:endParaRPr lang="en-US" sz="3000" dirty="0"/>
          </a:p>
        </p:txBody>
      </p:sp>
      <p:sp>
        <p:nvSpPr>
          <p:cNvPr id="9" name="TextBox 8"/>
          <p:cNvSpPr txBox="1"/>
          <p:nvPr/>
        </p:nvSpPr>
        <p:spPr>
          <a:xfrm>
            <a:off x="4267200" y="2113002"/>
            <a:ext cx="4748416" cy="553998"/>
          </a:xfrm>
          <a:prstGeom prst="rect">
            <a:avLst/>
          </a:prstGeom>
          <a:noFill/>
        </p:spPr>
        <p:txBody>
          <a:bodyPr wrap="none" rtlCol="0">
            <a:spAutoFit/>
          </a:bodyPr>
          <a:lstStyle/>
          <a:p>
            <a:r>
              <a:rPr lang="en-US" altLang="zh-CN" sz="3000" dirty="0"/>
              <a:t>Cu-C≡ C-Cu  + 2NH</a:t>
            </a:r>
            <a:r>
              <a:rPr lang="en-US" altLang="zh-CN" sz="3000" baseline="-25000" dirty="0"/>
              <a:t>4</a:t>
            </a:r>
            <a:r>
              <a:rPr lang="en-US" altLang="zh-CN" sz="3000" dirty="0"/>
              <a:t>Cl + 2NH</a:t>
            </a:r>
            <a:r>
              <a:rPr lang="en-US" altLang="zh-CN" sz="3000" baseline="-25000" dirty="0"/>
              <a:t>3</a:t>
            </a:r>
            <a:r>
              <a:rPr lang="en-US" altLang="zh-CN" sz="3000" dirty="0"/>
              <a:t> </a:t>
            </a:r>
            <a:endParaRPr lang="en-US"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514350" indent="-514350">
              <a:spcBef>
                <a:spcPts val="1200"/>
              </a:spcBef>
              <a:buNone/>
            </a:pPr>
            <a:r>
              <a:rPr lang="zh-CN" altLang="en-US" sz="3000" dirty="0"/>
              <a:t>写出下列物质转化的化学方程式</a:t>
            </a:r>
            <a:endParaRPr lang="en-US" altLang="zh-CN" sz="3000" dirty="0"/>
          </a:p>
          <a:p>
            <a:pPr marL="514350" indent="-514350">
              <a:spcBef>
                <a:spcPts val="1200"/>
              </a:spcBef>
              <a:buNone/>
            </a:pPr>
            <a:r>
              <a:rPr lang="en-US" altLang="zh-CN" sz="3000" dirty="0"/>
              <a:t>4. </a:t>
            </a:r>
            <a:r>
              <a:rPr lang="en-US" altLang="zh-CN" sz="2600" dirty="0">
                <a:sym typeface="Wingdings" pitchFamily="2" charset="2"/>
              </a:rPr>
              <a:t>2-</a:t>
            </a:r>
            <a:r>
              <a:rPr lang="zh-CN" altLang="en-US" sz="2600" dirty="0">
                <a:sym typeface="Wingdings" pitchFamily="2" charset="2"/>
              </a:rPr>
              <a:t>丁炔</a:t>
            </a:r>
            <a:r>
              <a:rPr lang="en-US" altLang="zh-CN" sz="2600" dirty="0">
                <a:sym typeface="Wingdings" pitchFamily="2" charset="2"/>
              </a:rPr>
              <a:t></a:t>
            </a:r>
            <a:r>
              <a:rPr lang="zh-CN" altLang="en-US" sz="2600" dirty="0">
                <a:sym typeface="Wingdings" pitchFamily="2" charset="2"/>
              </a:rPr>
              <a:t>丁酮</a:t>
            </a:r>
            <a:endParaRPr lang="en-US" altLang="zh-CN" sz="2600" dirty="0">
              <a:sym typeface="Wingdings" pitchFamily="2" charset="2"/>
            </a:endParaRPr>
          </a:p>
          <a:p>
            <a:pPr marL="514350" indent="-514350">
              <a:spcBef>
                <a:spcPts val="1200"/>
              </a:spcBef>
              <a:buNone/>
            </a:pPr>
            <a:r>
              <a:rPr lang="en-US" altLang="zh-CN" sz="2600" dirty="0">
                <a:sym typeface="Wingdings" pitchFamily="2" charset="2"/>
              </a:rPr>
              <a:t>5. </a:t>
            </a:r>
            <a:r>
              <a:rPr lang="zh-CN" altLang="en-US" sz="2600" dirty="0">
                <a:sym typeface="Wingdings" pitchFamily="2" charset="2"/>
              </a:rPr>
              <a:t>电石</a:t>
            </a:r>
            <a:r>
              <a:rPr lang="en-US" altLang="zh-CN" sz="2600" dirty="0">
                <a:sym typeface="Wingdings" pitchFamily="2" charset="2"/>
              </a:rPr>
              <a:t></a:t>
            </a:r>
            <a:r>
              <a:rPr lang="zh-CN" altLang="en-US" sz="2600" dirty="0">
                <a:sym typeface="Wingdings" pitchFamily="2" charset="2"/>
              </a:rPr>
              <a:t>乙醛</a:t>
            </a:r>
            <a:endParaRPr lang="en-US" altLang="zh-CN" sz="2600" dirty="0">
              <a:sym typeface="Wingdings" pitchFamily="2" charset="2"/>
            </a:endParaRPr>
          </a:p>
          <a:p>
            <a:pPr marL="514350" indent="-514350">
              <a:spcBef>
                <a:spcPts val="1200"/>
              </a:spcBef>
              <a:buNone/>
            </a:pPr>
            <a:r>
              <a:rPr lang="en-US" altLang="zh-CN" sz="2600" dirty="0">
                <a:sym typeface="Wingdings" pitchFamily="2" charset="2"/>
              </a:rPr>
              <a:t>6. </a:t>
            </a:r>
            <a:r>
              <a:rPr lang="zh-CN" altLang="en-US" sz="2600" dirty="0">
                <a:sym typeface="Wingdings" pitchFamily="2" charset="2"/>
              </a:rPr>
              <a:t>甲烷</a:t>
            </a:r>
            <a:r>
              <a:rPr lang="en-US" altLang="zh-CN" sz="2600" dirty="0">
                <a:sym typeface="Wingdings" pitchFamily="2" charset="2"/>
              </a:rPr>
              <a:t>1,2-</a:t>
            </a:r>
            <a:r>
              <a:rPr lang="zh-CN" altLang="en-US" sz="2600" dirty="0">
                <a:sym typeface="Wingdings" pitchFamily="2" charset="2"/>
              </a:rPr>
              <a:t>二溴乙烷</a:t>
            </a:r>
            <a:endParaRPr lang="en-US" altLang="zh-CN" sz="2600" dirty="0">
              <a:sym typeface="Wingdings" pitchFamily="2" charset="2"/>
            </a:endParaRPr>
          </a:p>
          <a:p>
            <a:pPr marL="514350" indent="-514350">
              <a:spcBef>
                <a:spcPts val="1200"/>
              </a:spcBef>
              <a:buNone/>
            </a:pPr>
            <a:r>
              <a:rPr lang="zh-CN" altLang="en-US" sz="2600" dirty="0">
                <a:sym typeface="Wingdings" pitchFamily="2" charset="2"/>
              </a:rPr>
              <a:t>答案提示：</a:t>
            </a:r>
            <a:endParaRPr lang="en-US" altLang="zh-CN" sz="2600" dirty="0">
              <a:sym typeface="Wingdings" pitchFamily="2" charset="2"/>
            </a:endParaRPr>
          </a:p>
          <a:p>
            <a:pPr marL="514350" indent="-514350">
              <a:spcBef>
                <a:spcPts val="1200"/>
              </a:spcBef>
              <a:buNone/>
            </a:pPr>
            <a:r>
              <a:rPr lang="en-US" altLang="zh-CN" sz="2600" dirty="0">
                <a:sym typeface="Wingdings" pitchFamily="2" charset="2"/>
              </a:rPr>
              <a:t>4. </a:t>
            </a:r>
            <a:r>
              <a:rPr lang="zh-CN" altLang="en-US" sz="2600" dirty="0">
                <a:sym typeface="Wingdings" pitchFamily="2" charset="2"/>
              </a:rPr>
              <a:t>加水</a:t>
            </a:r>
            <a:endParaRPr lang="en-US" altLang="zh-CN" sz="2600" dirty="0">
              <a:sym typeface="Wingdings" pitchFamily="2" charset="2"/>
            </a:endParaRPr>
          </a:p>
          <a:p>
            <a:pPr marL="514350" indent="-514350">
              <a:spcBef>
                <a:spcPts val="1200"/>
              </a:spcBef>
              <a:buNone/>
            </a:pPr>
            <a:r>
              <a:rPr lang="en-US" altLang="zh-CN" sz="2600" dirty="0">
                <a:sym typeface="Wingdings" pitchFamily="2" charset="2"/>
              </a:rPr>
              <a:t>5. </a:t>
            </a:r>
            <a:r>
              <a:rPr lang="zh-CN" altLang="en-US" sz="2600" dirty="0">
                <a:sym typeface="Wingdings" pitchFamily="2" charset="2"/>
              </a:rPr>
              <a:t>电石</a:t>
            </a:r>
            <a:r>
              <a:rPr lang="en-US" altLang="zh-CN" sz="2600" dirty="0">
                <a:sym typeface="Wingdings" pitchFamily="2" charset="2"/>
              </a:rPr>
              <a:t></a:t>
            </a:r>
            <a:r>
              <a:rPr lang="zh-CN" altLang="en-US" sz="2600" dirty="0">
                <a:sym typeface="Wingdings" pitchFamily="2" charset="2"/>
              </a:rPr>
              <a:t>乙炔</a:t>
            </a:r>
            <a:r>
              <a:rPr lang="en-US" altLang="zh-CN" sz="2600" dirty="0">
                <a:sym typeface="Wingdings" pitchFamily="2" charset="2"/>
              </a:rPr>
              <a:t></a:t>
            </a:r>
            <a:r>
              <a:rPr lang="zh-CN" altLang="en-US" sz="2600" dirty="0">
                <a:sym typeface="Wingdings" pitchFamily="2" charset="2"/>
              </a:rPr>
              <a:t>乙醛</a:t>
            </a:r>
            <a:endParaRPr lang="en-US" altLang="zh-CN" sz="3000" dirty="0">
              <a:sym typeface="Wingdings" pitchFamily="2" charset="2"/>
            </a:endParaRPr>
          </a:p>
          <a:p>
            <a:pPr marL="514350" indent="-514350">
              <a:spcBef>
                <a:spcPts val="1200"/>
              </a:spcBef>
              <a:buNone/>
            </a:pPr>
            <a:r>
              <a:rPr lang="en-US" altLang="zh-CN" sz="3000" dirty="0">
                <a:sym typeface="Wingdings" pitchFamily="2" charset="2"/>
              </a:rPr>
              <a:t>6. </a:t>
            </a:r>
            <a:r>
              <a:rPr lang="zh-CN" altLang="en-US" sz="2600" dirty="0">
                <a:sym typeface="Wingdings" pitchFamily="2" charset="2"/>
              </a:rPr>
              <a:t>甲烷</a:t>
            </a:r>
            <a:r>
              <a:rPr lang="en-US" altLang="zh-CN" sz="2600" dirty="0">
                <a:sym typeface="Wingdings" pitchFamily="2" charset="2"/>
              </a:rPr>
              <a:t></a:t>
            </a:r>
            <a:r>
              <a:rPr lang="zh-CN" altLang="en-US" sz="2600" dirty="0">
                <a:sym typeface="Wingdings" pitchFamily="2" charset="2"/>
              </a:rPr>
              <a:t>乙炔</a:t>
            </a:r>
            <a:r>
              <a:rPr lang="en-US" altLang="zh-CN" sz="2600" dirty="0">
                <a:sym typeface="Wingdings" pitchFamily="2" charset="2"/>
              </a:rPr>
              <a:t></a:t>
            </a:r>
            <a:r>
              <a:rPr lang="zh-CN" altLang="en-US" sz="2600" dirty="0">
                <a:sym typeface="Wingdings" pitchFamily="2" charset="2"/>
              </a:rPr>
              <a:t>乙烯</a:t>
            </a:r>
            <a:r>
              <a:rPr lang="en-US" altLang="zh-CN" sz="2600" dirty="0">
                <a:sym typeface="Wingdings" pitchFamily="2" charset="2"/>
              </a:rPr>
              <a:t>1,2-</a:t>
            </a:r>
            <a:r>
              <a:rPr lang="zh-CN" altLang="en-US" sz="2600" dirty="0">
                <a:sym typeface="Wingdings" pitchFamily="2" charset="2"/>
              </a:rPr>
              <a:t>二溴乙烷</a:t>
            </a:r>
            <a:endParaRPr lang="en-US" altLang="zh-CN" sz="2600" dirty="0">
              <a:sym typeface="Wingdings" pitchFamily="2" charset="2"/>
            </a:endParaRPr>
          </a:p>
          <a:p>
            <a:pPr marL="514350" indent="-514350">
              <a:spcBef>
                <a:spcPts val="1200"/>
              </a:spcBef>
              <a:buNone/>
            </a:pPr>
            <a:endParaRPr lang="en-US" altLang="zh-CN" sz="2600" dirty="0">
              <a:sym typeface="Wingdings" pitchFamily="2" charset="2"/>
            </a:endParaRPr>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补充题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blinds(horizontal)">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514350" indent="-514350">
              <a:spcBef>
                <a:spcPts val="1200"/>
              </a:spcBef>
              <a:buAutoNum type="arabicPeriod"/>
            </a:pPr>
            <a:r>
              <a:rPr lang="en-US" altLang="zh-CN" sz="3000" dirty="0">
                <a:sym typeface="Wingdings" pitchFamily="2" charset="2"/>
              </a:rPr>
              <a:t>D</a:t>
            </a:r>
            <a:r>
              <a:rPr lang="zh-CN" altLang="en-US" sz="3000" dirty="0">
                <a:sym typeface="Wingdings" pitchFamily="2" charset="2"/>
              </a:rPr>
              <a:t>（</a:t>
            </a:r>
            <a:r>
              <a:rPr lang="en-US" altLang="zh-CN" sz="3000" dirty="0">
                <a:sym typeface="Wingdings" pitchFamily="2" charset="2"/>
              </a:rPr>
              <a:t>A</a:t>
            </a:r>
            <a:r>
              <a:rPr lang="zh-CN" altLang="en-US" sz="3000" dirty="0">
                <a:sym typeface="Wingdings" pitchFamily="2" charset="2"/>
              </a:rPr>
              <a:t>）</a:t>
            </a:r>
            <a:endParaRPr lang="en-US" altLang="zh-CN" sz="3000" dirty="0">
              <a:sym typeface="Wingdings" pitchFamily="2" charset="2"/>
            </a:endParaRPr>
          </a:p>
          <a:p>
            <a:pPr marL="514350" indent="-514350">
              <a:spcBef>
                <a:spcPts val="1200"/>
              </a:spcBef>
              <a:buAutoNum type="arabicPeriod"/>
            </a:pPr>
            <a:r>
              <a:rPr lang="en-US" altLang="zh-CN" sz="3000" dirty="0">
                <a:sym typeface="Wingdings" pitchFamily="2" charset="2"/>
              </a:rPr>
              <a:t>D</a:t>
            </a:r>
          </a:p>
          <a:p>
            <a:pPr marL="514350" indent="-514350">
              <a:spcBef>
                <a:spcPts val="1200"/>
              </a:spcBef>
              <a:buAutoNum type="arabicPeriod"/>
            </a:pPr>
            <a:r>
              <a:rPr lang="en-US" altLang="zh-CN" sz="3000" dirty="0">
                <a:sym typeface="Wingdings" pitchFamily="2" charset="2"/>
              </a:rPr>
              <a:t> (1)</a:t>
            </a:r>
            <a:r>
              <a:rPr lang="zh-CN" altLang="en-US" sz="3000" dirty="0">
                <a:sym typeface="Wingdings" pitchFamily="2" charset="2"/>
              </a:rPr>
              <a:t>调节水面高度，控制反应进行情况</a:t>
            </a:r>
            <a:endParaRPr lang="en-MY" altLang="zh-CN" sz="3000" dirty="0">
              <a:sym typeface="Wingdings" pitchFamily="2" charset="2"/>
            </a:endParaRPr>
          </a:p>
          <a:p>
            <a:pPr marL="0" indent="0">
              <a:spcBef>
                <a:spcPts val="1200"/>
              </a:spcBef>
              <a:buNone/>
            </a:pPr>
            <a:r>
              <a:rPr lang="zh-CN" altLang="en-US" sz="2400" dirty="0"/>
              <a:t>图示装置可通过调节</a:t>
            </a:r>
            <a:r>
              <a:rPr lang="en-US" altLang="zh-CN" sz="2400" dirty="0"/>
              <a:t>A</a:t>
            </a:r>
            <a:r>
              <a:rPr lang="zh-CN" altLang="en-US" sz="2400" dirty="0"/>
              <a:t>管的高度，控制反应的发生和停止：将</a:t>
            </a:r>
            <a:r>
              <a:rPr lang="en-US" altLang="zh-CN" sz="2400" dirty="0"/>
              <a:t>A</a:t>
            </a:r>
            <a:r>
              <a:rPr lang="zh-CN" altLang="en-US" sz="2400" dirty="0"/>
              <a:t>管提高，右管中水面上升，与电石接触发生反应；将</a:t>
            </a:r>
            <a:r>
              <a:rPr lang="en-US" altLang="zh-CN" sz="2400" dirty="0"/>
              <a:t>A</a:t>
            </a:r>
            <a:r>
              <a:rPr lang="zh-CN" altLang="en-US" sz="2400" dirty="0"/>
              <a:t>管降低，右管中水面下降，与电石脱离，反应停止。</a:t>
            </a:r>
            <a:endParaRPr lang="en-US" altLang="zh-CN" sz="2400" dirty="0">
              <a:sym typeface="Wingdings" pitchFamily="2" charset="2"/>
            </a:endParaRPr>
          </a:p>
          <a:p>
            <a:pPr marL="0" indent="0">
              <a:spcBef>
                <a:spcPts val="1200"/>
              </a:spcBef>
              <a:buNone/>
            </a:pPr>
            <a:r>
              <a:rPr lang="en-MY" altLang="zh-CN" sz="3000" dirty="0">
                <a:sym typeface="Wingdings" pitchFamily="2" charset="2"/>
              </a:rPr>
              <a:t>CaC</a:t>
            </a:r>
            <a:r>
              <a:rPr lang="en-MY" altLang="zh-CN" sz="3000" baseline="-25000" dirty="0">
                <a:sym typeface="Wingdings" pitchFamily="2" charset="2"/>
              </a:rPr>
              <a:t>2</a:t>
            </a:r>
            <a:r>
              <a:rPr lang="en-MY" altLang="zh-CN" sz="3000" dirty="0">
                <a:sym typeface="Wingdings" pitchFamily="2" charset="2"/>
              </a:rPr>
              <a:t> + 2 H</a:t>
            </a:r>
            <a:r>
              <a:rPr lang="en-MY" altLang="zh-CN" sz="3000" baseline="-25000" dirty="0">
                <a:sym typeface="Wingdings" pitchFamily="2" charset="2"/>
              </a:rPr>
              <a:t>2</a:t>
            </a:r>
            <a:r>
              <a:rPr lang="en-MY" altLang="zh-CN" sz="3000" dirty="0">
                <a:sym typeface="Wingdings" pitchFamily="2" charset="2"/>
              </a:rPr>
              <a:t>O   HC≡CH + Ca(OH)</a:t>
            </a:r>
            <a:r>
              <a:rPr lang="en-MY" altLang="zh-CN" sz="3000" baseline="-25000" dirty="0">
                <a:sym typeface="Wingdings" pitchFamily="2" charset="2"/>
              </a:rPr>
              <a:t>2</a:t>
            </a:r>
            <a:r>
              <a:rPr lang="en-MY" altLang="zh-CN" sz="3000" dirty="0">
                <a:sym typeface="Wingdings" pitchFamily="2" charset="2"/>
              </a:rPr>
              <a:t> </a:t>
            </a:r>
          </a:p>
          <a:p>
            <a:pPr marL="0" indent="0">
              <a:spcBef>
                <a:spcPts val="1200"/>
              </a:spcBef>
              <a:buNone/>
            </a:pPr>
            <a:r>
              <a:rPr lang="en-MY" altLang="zh-CN" sz="3000" dirty="0">
                <a:sym typeface="Wingdings" pitchFamily="2" charset="2"/>
              </a:rPr>
              <a:t>(2) </a:t>
            </a:r>
            <a:r>
              <a:rPr lang="zh-CN" altLang="en-US" sz="3000" dirty="0">
                <a:sym typeface="Wingdings" pitchFamily="2" charset="2"/>
              </a:rPr>
              <a:t>紫色溶液褪色，乙炔发生了氧化反应</a:t>
            </a:r>
            <a:endParaRPr lang="en-MY" altLang="zh-CN" sz="3000" dirty="0">
              <a:sym typeface="Wingdings" pitchFamily="2" charset="2"/>
            </a:endParaRPr>
          </a:p>
          <a:p>
            <a:pPr marL="0" indent="0">
              <a:spcBef>
                <a:spcPts val="1200"/>
              </a:spcBef>
              <a:buNone/>
            </a:pPr>
            <a:r>
              <a:rPr lang="en-MY" altLang="zh-CN" sz="3000" dirty="0">
                <a:sym typeface="Wingdings" pitchFamily="2" charset="2"/>
              </a:rPr>
              <a:t>(3) </a:t>
            </a:r>
            <a:r>
              <a:rPr lang="zh-CN" altLang="en-US" sz="3000" dirty="0">
                <a:sym typeface="Wingdings" pitchFamily="2" charset="2"/>
              </a:rPr>
              <a:t>溴的</a:t>
            </a:r>
            <a:r>
              <a:rPr lang="en-US" altLang="zh-CN" sz="3000" dirty="0">
                <a:sym typeface="Wingdings" pitchFamily="2" charset="2"/>
              </a:rPr>
              <a:t>CCl</a:t>
            </a:r>
            <a:r>
              <a:rPr lang="en-US" altLang="zh-CN" sz="3000" baseline="-25000" dirty="0">
                <a:sym typeface="Wingdings" pitchFamily="2" charset="2"/>
              </a:rPr>
              <a:t>4</a:t>
            </a:r>
            <a:r>
              <a:rPr lang="zh-CN" altLang="en-US" sz="3000" dirty="0">
                <a:sym typeface="Wingdings" pitchFamily="2" charset="2"/>
              </a:rPr>
              <a:t>溶液红棕色褪色，乙炔发生了加成反应</a:t>
            </a:r>
            <a:endParaRPr lang="en-MY" altLang="zh-CN" sz="3000" dirty="0">
              <a:sym typeface="Wingdings" pitchFamily="2" charset="2"/>
            </a:endParaRPr>
          </a:p>
          <a:p>
            <a:pPr marL="0" indent="0">
              <a:spcBef>
                <a:spcPts val="1200"/>
              </a:spcBef>
              <a:buNone/>
            </a:pPr>
            <a:r>
              <a:rPr lang="en-MY" altLang="zh-CN" sz="3000" dirty="0">
                <a:sym typeface="Wingdings" pitchFamily="2" charset="2"/>
              </a:rPr>
              <a:t>(4) </a:t>
            </a:r>
            <a:r>
              <a:rPr lang="zh-CN" altLang="en-US" sz="3000" dirty="0">
                <a:sym typeface="Wingdings" pitchFamily="2" charset="2"/>
              </a:rPr>
              <a:t>检验纯度。乙炔燃烧的现象：</a:t>
            </a:r>
            <a:r>
              <a:rPr lang="zh-CN" altLang="en-US" dirty="0"/>
              <a:t>火焰明亮、带浓烟，燃烧时火焰温度很高。</a:t>
            </a:r>
            <a:endParaRPr lang="en-MY" altLang="zh-CN" sz="3000" dirty="0">
              <a:sym typeface="Wingdings" pitchFamily="2" charset="2"/>
            </a:endParaRPr>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29d</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9578801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0" indent="0">
              <a:spcBef>
                <a:spcPts val="1200"/>
              </a:spcBef>
              <a:buNone/>
            </a:pPr>
            <a:r>
              <a:rPr lang="en-US" altLang="zh-CN" sz="3000" dirty="0">
                <a:sym typeface="Wingdings" pitchFamily="2" charset="2"/>
              </a:rPr>
              <a:t>4. </a:t>
            </a:r>
            <a:r>
              <a:rPr lang="en-MY" sz="3000" dirty="0"/>
              <a:t>CaCO</a:t>
            </a:r>
            <a:r>
              <a:rPr lang="en-MY" sz="3000" baseline="-25000" dirty="0"/>
              <a:t>3</a:t>
            </a:r>
            <a:r>
              <a:rPr lang="en-MY" sz="3000" dirty="0"/>
              <a:t> </a:t>
            </a:r>
            <a:r>
              <a:rPr lang="en-MY" sz="3000" dirty="0">
                <a:sym typeface="Wingdings" panose="05000000000000000000" pitchFamily="2" charset="2"/>
              </a:rPr>
              <a:t>         </a:t>
            </a:r>
            <a:r>
              <a:rPr lang="en-MY" sz="3000" dirty="0" err="1"/>
              <a:t>CaO</a:t>
            </a:r>
            <a:r>
              <a:rPr lang="en-MY" sz="3000" dirty="0"/>
              <a:t> + CO</a:t>
            </a:r>
            <a:r>
              <a:rPr lang="en-MY" sz="3000" baseline="-25000" dirty="0"/>
              <a:t>2</a:t>
            </a:r>
            <a:endParaRPr lang="en-MY" sz="3000" dirty="0"/>
          </a:p>
          <a:p>
            <a:pPr marL="0" indent="0">
              <a:spcBef>
                <a:spcPts val="1200"/>
              </a:spcBef>
              <a:buNone/>
            </a:pPr>
            <a:r>
              <a:rPr lang="en-MY" sz="3000" dirty="0" err="1"/>
              <a:t>CaO</a:t>
            </a:r>
            <a:r>
              <a:rPr lang="en-MY" sz="3000" dirty="0"/>
              <a:t> + 3 C         CaC</a:t>
            </a:r>
            <a:r>
              <a:rPr lang="en-MY" sz="3000" baseline="-25000" dirty="0"/>
              <a:t>2</a:t>
            </a:r>
            <a:r>
              <a:rPr lang="en-MY" sz="3000" dirty="0"/>
              <a:t> + CO</a:t>
            </a:r>
          </a:p>
          <a:p>
            <a:pPr marL="0" indent="0">
              <a:spcBef>
                <a:spcPts val="1200"/>
              </a:spcBef>
              <a:buNone/>
            </a:pPr>
            <a:r>
              <a:rPr lang="en-MY" sz="3000" dirty="0"/>
              <a:t>CaC</a:t>
            </a:r>
            <a:r>
              <a:rPr lang="en-MY" sz="3000" baseline="-25000" dirty="0"/>
              <a:t>2</a:t>
            </a:r>
            <a:r>
              <a:rPr lang="en-MY" sz="3000" dirty="0"/>
              <a:t> + 2 H</a:t>
            </a:r>
            <a:r>
              <a:rPr lang="en-MY" sz="3000" baseline="-25000" dirty="0"/>
              <a:t>2</a:t>
            </a:r>
            <a:r>
              <a:rPr lang="en-MY" sz="3000" dirty="0"/>
              <a:t>O </a:t>
            </a:r>
            <a:r>
              <a:rPr lang="en-MY" sz="3000" dirty="0">
                <a:sym typeface="Wingdings" panose="05000000000000000000" pitchFamily="2" charset="2"/>
              </a:rPr>
              <a:t></a:t>
            </a:r>
            <a:r>
              <a:rPr lang="en-MY" sz="3000" dirty="0"/>
              <a:t> Ca(OH)</a:t>
            </a:r>
            <a:r>
              <a:rPr lang="en-MY" sz="3000" baseline="-25000" dirty="0"/>
              <a:t>2</a:t>
            </a:r>
            <a:r>
              <a:rPr lang="en-MY" sz="3000" dirty="0"/>
              <a:t> + C</a:t>
            </a:r>
            <a:r>
              <a:rPr lang="en-MY" sz="3000" baseline="-25000" dirty="0"/>
              <a:t>2</a:t>
            </a:r>
            <a:r>
              <a:rPr lang="en-MY" sz="3000" dirty="0"/>
              <a:t>H</a:t>
            </a:r>
            <a:r>
              <a:rPr lang="en-MY" sz="3000" baseline="-25000" dirty="0"/>
              <a:t>2</a:t>
            </a:r>
            <a:endParaRPr lang="en-MY" sz="3000" dirty="0"/>
          </a:p>
          <a:p>
            <a:pPr marL="0" indent="0">
              <a:spcBef>
                <a:spcPts val="1200"/>
              </a:spcBef>
              <a:buNone/>
            </a:pPr>
            <a:r>
              <a:rPr lang="en-MY" sz="3000" dirty="0"/>
              <a:t>   2 H</a:t>
            </a:r>
            <a:r>
              <a:rPr lang="en-MY" altLang="zh-CN" sz="3000" dirty="0"/>
              <a:t>C</a:t>
            </a:r>
            <a:r>
              <a:rPr lang="zh-CN" altLang="en-US" sz="3000" dirty="0"/>
              <a:t>≡</a:t>
            </a:r>
            <a:r>
              <a:rPr lang="en-MY" sz="3000" dirty="0"/>
              <a:t>CH         	CH</a:t>
            </a:r>
            <a:r>
              <a:rPr lang="en-MY" sz="3000" baseline="-25000" dirty="0"/>
              <a:t>2</a:t>
            </a:r>
            <a:r>
              <a:rPr lang="en-MY" sz="3000" dirty="0"/>
              <a:t>=CH-C</a:t>
            </a:r>
            <a:r>
              <a:rPr lang="zh-CN" altLang="en-US" sz="3000" dirty="0"/>
              <a:t>≡</a:t>
            </a:r>
            <a:r>
              <a:rPr lang="en-MY" sz="3000" dirty="0"/>
              <a:t>CH </a:t>
            </a:r>
          </a:p>
          <a:p>
            <a:pPr marL="0" indent="0">
              <a:spcBef>
                <a:spcPts val="1200"/>
              </a:spcBef>
              <a:buNone/>
            </a:pPr>
            <a:r>
              <a:rPr lang="en-MY" sz="3000" dirty="0"/>
              <a:t>2NaCl + 2H</a:t>
            </a:r>
            <a:r>
              <a:rPr lang="en-MY" sz="3000" baseline="-25000" dirty="0"/>
              <a:t>2</a:t>
            </a:r>
            <a:r>
              <a:rPr lang="en-MY" sz="3000" dirty="0"/>
              <a:t>O	  2NaOH +H</a:t>
            </a:r>
            <a:r>
              <a:rPr lang="en-MY" sz="3000" baseline="-25000" dirty="0"/>
              <a:t>2 </a:t>
            </a:r>
            <a:r>
              <a:rPr lang="en-MY" sz="3000" dirty="0"/>
              <a:t>+ Cl</a:t>
            </a:r>
            <a:r>
              <a:rPr lang="en-MY" sz="3000" baseline="-25000" dirty="0"/>
              <a:t>2</a:t>
            </a:r>
            <a:endParaRPr lang="en-MY" sz="3000" dirty="0"/>
          </a:p>
          <a:p>
            <a:pPr marL="0" indent="0">
              <a:spcBef>
                <a:spcPts val="1200"/>
              </a:spcBef>
              <a:buNone/>
            </a:pPr>
            <a:r>
              <a:rPr lang="en-MY" sz="3000" dirty="0"/>
              <a:t>H</a:t>
            </a:r>
            <a:r>
              <a:rPr lang="en-MY" sz="3000" baseline="-25000" dirty="0"/>
              <a:t>2</a:t>
            </a:r>
            <a:r>
              <a:rPr lang="en-MY" sz="3000" dirty="0"/>
              <a:t> +Cl</a:t>
            </a:r>
            <a:r>
              <a:rPr lang="en-MY" sz="3000" baseline="-25000" dirty="0"/>
              <a:t>2</a:t>
            </a:r>
            <a:r>
              <a:rPr lang="en-MY" sz="3000" dirty="0"/>
              <a:t>      	2HCl</a:t>
            </a:r>
          </a:p>
          <a:p>
            <a:pPr marL="0" indent="0">
              <a:spcBef>
                <a:spcPts val="1200"/>
              </a:spcBef>
              <a:buNone/>
            </a:pPr>
            <a:r>
              <a:rPr lang="en-MY" sz="3000" dirty="0"/>
              <a:t>CH</a:t>
            </a:r>
            <a:r>
              <a:rPr lang="en-MY" sz="3000" baseline="-25000" dirty="0"/>
              <a:t>2</a:t>
            </a:r>
            <a:r>
              <a:rPr lang="en-MY" sz="3000" dirty="0"/>
              <a:t>=CH-C</a:t>
            </a:r>
            <a:r>
              <a:rPr lang="zh-CN" altLang="en-US" sz="3000" dirty="0"/>
              <a:t>≡</a:t>
            </a:r>
            <a:r>
              <a:rPr lang="en-MY" sz="3000" dirty="0"/>
              <a:t>CH  + HCl </a:t>
            </a:r>
            <a:r>
              <a:rPr lang="en-MY" sz="3000" dirty="0">
                <a:sym typeface="Wingdings" panose="05000000000000000000" pitchFamily="2" charset="2"/>
              </a:rPr>
              <a:t></a:t>
            </a:r>
            <a:r>
              <a:rPr lang="en-MY" sz="3000" dirty="0"/>
              <a:t> CH</a:t>
            </a:r>
            <a:r>
              <a:rPr lang="en-MY" sz="3000" baseline="-25000" dirty="0"/>
              <a:t>2</a:t>
            </a:r>
            <a:r>
              <a:rPr lang="en-MY" sz="3000" dirty="0"/>
              <a:t>=CH-</a:t>
            </a:r>
            <a:r>
              <a:rPr lang="en-MY" sz="3000" dirty="0" err="1"/>
              <a:t>CCl</a:t>
            </a:r>
            <a:r>
              <a:rPr lang="en-MY" sz="3000" dirty="0"/>
              <a:t>=CH</a:t>
            </a:r>
          </a:p>
          <a:p>
            <a:pPr marL="0" indent="0">
              <a:spcBef>
                <a:spcPts val="1200"/>
              </a:spcBef>
              <a:buNone/>
            </a:pPr>
            <a:r>
              <a:rPr lang="en-MY" sz="3000" dirty="0"/>
              <a:t>n  CH</a:t>
            </a:r>
            <a:r>
              <a:rPr lang="en-MY" sz="3000" baseline="-25000" dirty="0"/>
              <a:t>2</a:t>
            </a:r>
            <a:r>
              <a:rPr lang="en-MY" sz="3000" dirty="0"/>
              <a:t>=CH-</a:t>
            </a:r>
            <a:r>
              <a:rPr lang="en-MY" sz="3000" dirty="0" err="1"/>
              <a:t>CCl</a:t>
            </a:r>
            <a:r>
              <a:rPr lang="en-MY" sz="3000" dirty="0"/>
              <a:t>=CH 		-[-CH</a:t>
            </a:r>
            <a:r>
              <a:rPr lang="en-MY" sz="3000" baseline="-25000" dirty="0"/>
              <a:t>2</a:t>
            </a:r>
            <a:r>
              <a:rPr lang="en-MY" sz="3000" dirty="0"/>
              <a:t>-CH=CCl-CH</a:t>
            </a:r>
            <a:r>
              <a:rPr lang="en-MY" sz="3000" baseline="-25000" dirty="0"/>
              <a:t>2</a:t>
            </a:r>
            <a:r>
              <a:rPr lang="en-MY" sz="3000" dirty="0"/>
              <a:t> -]-</a:t>
            </a:r>
            <a:r>
              <a:rPr lang="en-MY" sz="3000" baseline="-25000" dirty="0"/>
              <a:t>n</a:t>
            </a:r>
            <a:endParaRPr lang="en-MY" altLang="zh-CN" sz="3000" dirty="0">
              <a:sym typeface="Wingdings" pitchFamily="2" charset="2"/>
            </a:endParaRPr>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29d</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grpSp>
        <p:nvGrpSpPr>
          <p:cNvPr id="7" name="Group 47">
            <a:extLst>
              <a:ext uri="{FF2B5EF4-FFF2-40B4-BE49-F238E27FC236}">
                <a16:creationId xmlns:a16="http://schemas.microsoft.com/office/drawing/2014/main" id="{04E18441-7260-4FB6-9243-504670C252BC}"/>
              </a:ext>
            </a:extLst>
          </p:cNvPr>
          <p:cNvGrpSpPr/>
          <p:nvPr/>
        </p:nvGrpSpPr>
        <p:grpSpPr>
          <a:xfrm>
            <a:off x="2392680" y="3429000"/>
            <a:ext cx="731520" cy="307777"/>
            <a:chOff x="2819400" y="5940623"/>
            <a:chExt cx="731520" cy="307777"/>
          </a:xfrm>
        </p:grpSpPr>
        <p:cxnSp>
          <p:nvCxnSpPr>
            <p:cNvPr id="8" name="Straight Arrow Connector 7">
              <a:extLst>
                <a:ext uri="{FF2B5EF4-FFF2-40B4-BE49-F238E27FC236}">
                  <a16:creationId xmlns:a16="http://schemas.microsoft.com/office/drawing/2014/main" id="{99C6F51A-ACCE-421A-A097-C828367FD7BD}"/>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93A6D41-4A19-428E-8C8D-752A0982FC2C}"/>
                </a:ext>
              </a:extLst>
            </p:cNvPr>
            <p:cNvSpPr txBox="1"/>
            <p:nvPr/>
          </p:nvSpPr>
          <p:spPr>
            <a:xfrm>
              <a:off x="2895600" y="5940623"/>
              <a:ext cx="543739" cy="307777"/>
            </a:xfrm>
            <a:prstGeom prst="rect">
              <a:avLst/>
            </a:prstGeom>
            <a:noFill/>
          </p:spPr>
          <p:txBody>
            <a:bodyPr wrap="none" rtlCol="0">
              <a:spAutoFit/>
            </a:bodyPr>
            <a:lstStyle/>
            <a:p>
              <a:r>
                <a:rPr lang="zh-CN" altLang="en-US" sz="1400" dirty="0"/>
                <a:t>电解</a:t>
              </a:r>
              <a:endParaRPr lang="en-US" sz="1400" dirty="0"/>
            </a:p>
          </p:txBody>
        </p:sp>
      </p:grpSp>
      <p:grpSp>
        <p:nvGrpSpPr>
          <p:cNvPr id="10" name="Group 9">
            <a:extLst>
              <a:ext uri="{FF2B5EF4-FFF2-40B4-BE49-F238E27FC236}">
                <a16:creationId xmlns:a16="http://schemas.microsoft.com/office/drawing/2014/main" id="{F168D074-B05D-4366-BB33-118D86830DFD}"/>
              </a:ext>
            </a:extLst>
          </p:cNvPr>
          <p:cNvGrpSpPr/>
          <p:nvPr/>
        </p:nvGrpSpPr>
        <p:grpSpPr>
          <a:xfrm>
            <a:off x="1708680" y="1104106"/>
            <a:ext cx="684000" cy="230188"/>
            <a:chOff x="2590800" y="1903412"/>
            <a:chExt cx="684000" cy="230188"/>
          </a:xfrm>
        </p:grpSpPr>
        <p:cxnSp>
          <p:nvCxnSpPr>
            <p:cNvPr id="11" name="Straight Arrow Connector 10">
              <a:extLst>
                <a:ext uri="{FF2B5EF4-FFF2-40B4-BE49-F238E27FC236}">
                  <a16:creationId xmlns:a16="http://schemas.microsoft.com/office/drawing/2014/main" id="{EC70DC08-5297-4491-89A1-F6A2AB9834DF}"/>
                </a:ext>
              </a:extLst>
            </p:cNvPr>
            <p:cNvCxnSpPr/>
            <p:nvPr/>
          </p:nvCxnSpPr>
          <p:spPr bwMode="auto">
            <a:xfrm>
              <a:off x="2590800" y="2132012"/>
              <a:ext cx="684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C50ECCC3-BE50-4157-B353-A3ABB5371943}"/>
                </a:ext>
              </a:extLst>
            </p:cNvPr>
            <p:cNvSpPr/>
            <p:nvPr/>
          </p:nvSpPr>
          <p:spPr bwMode="auto">
            <a:xfrm>
              <a:off x="2819400" y="19034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3" name="Group 47">
            <a:extLst>
              <a:ext uri="{FF2B5EF4-FFF2-40B4-BE49-F238E27FC236}">
                <a16:creationId xmlns:a16="http://schemas.microsoft.com/office/drawing/2014/main" id="{A6B39D9B-ABBA-4573-8569-8A124A11C881}"/>
              </a:ext>
            </a:extLst>
          </p:cNvPr>
          <p:cNvGrpSpPr/>
          <p:nvPr/>
        </p:nvGrpSpPr>
        <p:grpSpPr>
          <a:xfrm>
            <a:off x="1734471" y="1606486"/>
            <a:ext cx="731520" cy="307777"/>
            <a:chOff x="2819400" y="5940623"/>
            <a:chExt cx="731520" cy="307777"/>
          </a:xfrm>
        </p:grpSpPr>
        <p:cxnSp>
          <p:nvCxnSpPr>
            <p:cNvPr id="14" name="Straight Arrow Connector 13">
              <a:extLst>
                <a:ext uri="{FF2B5EF4-FFF2-40B4-BE49-F238E27FC236}">
                  <a16:creationId xmlns:a16="http://schemas.microsoft.com/office/drawing/2014/main" id="{21C12A9D-C206-4418-8A14-7916F33DDCFA}"/>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11397C-F3C6-47E3-977B-19EB49D226EF}"/>
                </a:ext>
              </a:extLst>
            </p:cNvPr>
            <p:cNvSpPr txBox="1"/>
            <p:nvPr/>
          </p:nvSpPr>
          <p:spPr>
            <a:xfrm>
              <a:off x="2895600" y="5940623"/>
              <a:ext cx="543739" cy="307777"/>
            </a:xfrm>
            <a:prstGeom prst="rect">
              <a:avLst/>
            </a:prstGeom>
            <a:noFill/>
          </p:spPr>
          <p:txBody>
            <a:bodyPr wrap="none" rtlCol="0">
              <a:spAutoFit/>
            </a:bodyPr>
            <a:lstStyle/>
            <a:p>
              <a:r>
                <a:rPr lang="zh-CN" altLang="en-US" sz="1400" dirty="0"/>
                <a:t>高温</a:t>
              </a:r>
              <a:endParaRPr lang="en-US" sz="1400" dirty="0"/>
            </a:p>
          </p:txBody>
        </p:sp>
      </p:grpSp>
      <p:grpSp>
        <p:nvGrpSpPr>
          <p:cNvPr id="16" name="Group 15">
            <a:extLst>
              <a:ext uri="{FF2B5EF4-FFF2-40B4-BE49-F238E27FC236}">
                <a16:creationId xmlns:a16="http://schemas.microsoft.com/office/drawing/2014/main" id="{80BAB046-7DF7-43DB-81F6-307EDCBDBD96}"/>
              </a:ext>
            </a:extLst>
          </p:cNvPr>
          <p:cNvGrpSpPr/>
          <p:nvPr/>
        </p:nvGrpSpPr>
        <p:grpSpPr>
          <a:xfrm>
            <a:off x="1943725" y="2753276"/>
            <a:ext cx="797024" cy="572866"/>
            <a:chOff x="2753896" y="5880279"/>
            <a:chExt cx="797024" cy="572866"/>
          </a:xfrm>
        </p:grpSpPr>
        <p:cxnSp>
          <p:nvCxnSpPr>
            <p:cNvPr id="17" name="Straight Arrow Connector 16">
              <a:extLst>
                <a:ext uri="{FF2B5EF4-FFF2-40B4-BE49-F238E27FC236}">
                  <a16:creationId xmlns:a16="http://schemas.microsoft.com/office/drawing/2014/main" id="{DAD8471E-697D-4109-8F31-2D29F45AFF34}"/>
                </a:ext>
              </a:extLst>
            </p:cNvPr>
            <p:cNvCxnSpPr/>
            <p:nvPr/>
          </p:nvCxnSpPr>
          <p:spPr>
            <a:xfrm>
              <a:off x="2819400" y="6172117"/>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FC2F8C9-152A-4BA2-A8F3-59D7156BFA2B}"/>
                </a:ext>
              </a:extLst>
            </p:cNvPr>
            <p:cNvSpPr txBox="1"/>
            <p:nvPr/>
          </p:nvSpPr>
          <p:spPr>
            <a:xfrm>
              <a:off x="2790420" y="6145368"/>
              <a:ext cx="723275" cy="307777"/>
            </a:xfrm>
            <a:prstGeom prst="rect">
              <a:avLst/>
            </a:prstGeom>
            <a:noFill/>
          </p:spPr>
          <p:txBody>
            <a:bodyPr wrap="square" rtlCol="0">
              <a:spAutoFit/>
            </a:bodyPr>
            <a:lstStyle/>
            <a:p>
              <a:r>
                <a:rPr lang="zh-CN" altLang="en-US" sz="1400" dirty="0"/>
                <a:t>加热</a:t>
              </a:r>
              <a:endParaRPr lang="en-US" sz="1400" dirty="0"/>
            </a:p>
          </p:txBody>
        </p:sp>
        <p:sp>
          <p:nvSpPr>
            <p:cNvPr id="19" name="TextBox 18">
              <a:extLst>
                <a:ext uri="{FF2B5EF4-FFF2-40B4-BE49-F238E27FC236}">
                  <a16:creationId xmlns:a16="http://schemas.microsoft.com/office/drawing/2014/main" id="{58855502-B387-48F0-9AC3-CCDEA819A4A0}"/>
                </a:ext>
              </a:extLst>
            </p:cNvPr>
            <p:cNvSpPr txBox="1"/>
            <p:nvPr/>
          </p:nvSpPr>
          <p:spPr>
            <a:xfrm>
              <a:off x="2753896" y="5880279"/>
              <a:ext cx="723275" cy="307777"/>
            </a:xfrm>
            <a:prstGeom prst="rect">
              <a:avLst/>
            </a:prstGeom>
            <a:noFill/>
          </p:spPr>
          <p:txBody>
            <a:bodyPr wrap="none" rtlCol="0">
              <a:spAutoFit/>
            </a:bodyPr>
            <a:lstStyle/>
            <a:p>
              <a:r>
                <a:rPr lang="zh-CN" altLang="en-US" sz="1400" dirty="0"/>
                <a:t>催化剂</a:t>
              </a:r>
              <a:endParaRPr lang="en-US" sz="1400" dirty="0"/>
            </a:p>
          </p:txBody>
        </p:sp>
      </p:grpSp>
      <p:grpSp>
        <p:nvGrpSpPr>
          <p:cNvPr id="20" name="Group 47">
            <a:extLst>
              <a:ext uri="{FF2B5EF4-FFF2-40B4-BE49-F238E27FC236}">
                <a16:creationId xmlns:a16="http://schemas.microsoft.com/office/drawing/2014/main" id="{1069D4AE-6391-4A96-816C-BAA20A46070F}"/>
              </a:ext>
            </a:extLst>
          </p:cNvPr>
          <p:cNvGrpSpPr/>
          <p:nvPr/>
        </p:nvGrpSpPr>
        <p:grpSpPr>
          <a:xfrm>
            <a:off x="1325880" y="4035623"/>
            <a:ext cx="731520" cy="307777"/>
            <a:chOff x="2819400" y="5940623"/>
            <a:chExt cx="731520" cy="307777"/>
          </a:xfrm>
        </p:grpSpPr>
        <p:cxnSp>
          <p:nvCxnSpPr>
            <p:cNvPr id="21" name="Straight Arrow Connector 20">
              <a:extLst>
                <a:ext uri="{FF2B5EF4-FFF2-40B4-BE49-F238E27FC236}">
                  <a16:creationId xmlns:a16="http://schemas.microsoft.com/office/drawing/2014/main" id="{6BBD1617-4129-44F6-A693-5B888B79BE68}"/>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0A52257-73D6-4138-AABD-0FE99F83FCCD}"/>
                </a:ext>
              </a:extLst>
            </p:cNvPr>
            <p:cNvSpPr txBox="1"/>
            <p:nvPr/>
          </p:nvSpPr>
          <p:spPr>
            <a:xfrm>
              <a:off x="2895600" y="5940623"/>
              <a:ext cx="543739" cy="307777"/>
            </a:xfrm>
            <a:prstGeom prst="rect">
              <a:avLst/>
            </a:prstGeom>
            <a:noFill/>
          </p:spPr>
          <p:txBody>
            <a:bodyPr wrap="none" rtlCol="0">
              <a:spAutoFit/>
            </a:bodyPr>
            <a:lstStyle/>
            <a:p>
              <a:r>
                <a:rPr lang="zh-CN" altLang="en-US" sz="1400" dirty="0"/>
                <a:t>光照</a:t>
              </a:r>
              <a:endParaRPr lang="en-US" sz="1400" dirty="0"/>
            </a:p>
          </p:txBody>
        </p:sp>
      </p:grpSp>
      <p:grpSp>
        <p:nvGrpSpPr>
          <p:cNvPr id="23" name="Group 22">
            <a:extLst>
              <a:ext uri="{FF2B5EF4-FFF2-40B4-BE49-F238E27FC236}">
                <a16:creationId xmlns:a16="http://schemas.microsoft.com/office/drawing/2014/main" id="{1182157D-4390-4ACF-BA56-62DF11A91E04}"/>
              </a:ext>
            </a:extLst>
          </p:cNvPr>
          <p:cNvGrpSpPr/>
          <p:nvPr/>
        </p:nvGrpSpPr>
        <p:grpSpPr>
          <a:xfrm>
            <a:off x="3337252" y="5312266"/>
            <a:ext cx="1234748" cy="612577"/>
            <a:chOff x="2773372" y="5880279"/>
            <a:chExt cx="1234748" cy="612577"/>
          </a:xfrm>
        </p:grpSpPr>
        <p:cxnSp>
          <p:nvCxnSpPr>
            <p:cNvPr id="24" name="Straight Arrow Connector 23">
              <a:extLst>
                <a:ext uri="{FF2B5EF4-FFF2-40B4-BE49-F238E27FC236}">
                  <a16:creationId xmlns:a16="http://schemas.microsoft.com/office/drawing/2014/main" id="{834AFAC1-98CD-4D3E-921F-048ACB876A01}"/>
                </a:ext>
              </a:extLst>
            </p:cNvPr>
            <p:cNvCxnSpPr/>
            <p:nvPr/>
          </p:nvCxnSpPr>
          <p:spPr>
            <a:xfrm>
              <a:off x="2819400" y="6172117"/>
              <a:ext cx="11887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4CABE3C-3281-4697-AC27-DFCB186590B0}"/>
                </a:ext>
              </a:extLst>
            </p:cNvPr>
            <p:cNvSpPr txBox="1"/>
            <p:nvPr/>
          </p:nvSpPr>
          <p:spPr>
            <a:xfrm>
              <a:off x="2980045" y="6185079"/>
              <a:ext cx="723275" cy="307777"/>
            </a:xfrm>
            <a:prstGeom prst="rect">
              <a:avLst/>
            </a:prstGeom>
            <a:noFill/>
          </p:spPr>
          <p:txBody>
            <a:bodyPr wrap="square" rtlCol="0">
              <a:spAutoFit/>
            </a:bodyPr>
            <a:lstStyle/>
            <a:p>
              <a:r>
                <a:rPr lang="zh-CN" altLang="en-US" sz="1400" dirty="0"/>
                <a:t>催化剂</a:t>
              </a:r>
              <a:endParaRPr lang="en-US" sz="1400" dirty="0"/>
            </a:p>
          </p:txBody>
        </p:sp>
        <p:sp>
          <p:nvSpPr>
            <p:cNvPr id="26" name="TextBox 25">
              <a:extLst>
                <a:ext uri="{FF2B5EF4-FFF2-40B4-BE49-F238E27FC236}">
                  <a16:creationId xmlns:a16="http://schemas.microsoft.com/office/drawing/2014/main" id="{FF908D52-F0C4-4A05-8EA7-A7026F960D63}"/>
                </a:ext>
              </a:extLst>
            </p:cNvPr>
            <p:cNvSpPr txBox="1"/>
            <p:nvPr/>
          </p:nvSpPr>
          <p:spPr>
            <a:xfrm>
              <a:off x="2773372" y="5880279"/>
              <a:ext cx="1082348" cy="307777"/>
            </a:xfrm>
            <a:prstGeom prst="rect">
              <a:avLst/>
            </a:prstGeom>
            <a:noFill/>
          </p:spPr>
          <p:txBody>
            <a:bodyPr wrap="none" rtlCol="0">
              <a:spAutoFit/>
            </a:bodyPr>
            <a:lstStyle/>
            <a:p>
              <a:r>
                <a:rPr lang="zh-CN" altLang="en-US" sz="1400" dirty="0"/>
                <a:t>高温、高压</a:t>
              </a:r>
              <a:endParaRPr lang="en-US" sz="1400" dirty="0"/>
            </a:p>
          </p:txBody>
        </p:sp>
      </p:grpSp>
    </p:spTree>
    <p:extLst>
      <p:ext uri="{BB962C8B-B14F-4D97-AF65-F5344CB8AC3E}">
        <p14:creationId xmlns:p14="http://schemas.microsoft.com/office/powerpoint/2010/main" val="21983994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linds(horizontal)">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Effect transition="in" filter="fade">
                                      <p:cBhvr>
                                        <p:cTn id="52" dur="500"/>
                                        <p:tgtEl>
                                          <p:spTgt spid="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fade">
                                      <p:cBhvr>
                                        <p:cTn id="57" dur="500"/>
                                        <p:tgtEl>
                                          <p:spTgt spid="3">
                                            <p:txEl>
                                              <p:pRg st="7" end="7"/>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blinds(horizontal)">
                                      <p:cBhvr>
                                        <p:cTn id="6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Font typeface="+mj-lt"/>
              <a:buAutoNum type="arabicPeriod"/>
            </a:pPr>
            <a:r>
              <a:rPr lang="zh-CN" altLang="en-US" sz="3000" dirty="0"/>
              <a:t>电石</a:t>
            </a:r>
            <a:r>
              <a:rPr lang="en-US" altLang="zh-CN" sz="3000" dirty="0"/>
              <a:t>+ </a:t>
            </a:r>
            <a:r>
              <a:rPr lang="zh-CN" altLang="en-US" sz="3000" dirty="0"/>
              <a:t>水</a:t>
            </a:r>
            <a:endParaRPr lang="en-US" altLang="zh-CN" sz="3000" dirty="0"/>
          </a:p>
          <a:p>
            <a:pPr marL="514350" indent="-514350">
              <a:buNone/>
            </a:pPr>
            <a:endParaRPr lang="en-US" altLang="zh-CN" sz="3000" dirty="0"/>
          </a:p>
          <a:p>
            <a:pPr marL="514350" indent="-514350">
              <a:buNone/>
            </a:pPr>
            <a:endParaRPr lang="en-US" altLang="zh-CN" sz="3000" dirty="0"/>
          </a:p>
          <a:p>
            <a:pPr marL="514350" indent="-514350">
              <a:buNone/>
            </a:pPr>
            <a:endParaRPr lang="en-US" altLang="zh-CN" sz="3000" dirty="0"/>
          </a:p>
          <a:p>
            <a:pPr marL="514350" indent="-514350">
              <a:buNone/>
            </a:pPr>
            <a:endParaRPr lang="en-US" altLang="zh-CN" sz="3000" dirty="0"/>
          </a:p>
          <a:p>
            <a:pPr marL="514350" indent="-514350">
              <a:buNone/>
            </a:pPr>
            <a:r>
              <a:rPr lang="en-US" altLang="zh-CN" sz="3000" dirty="0"/>
              <a:t>2. </a:t>
            </a:r>
            <a:r>
              <a:rPr lang="zh-CN" altLang="en-US" sz="3000" dirty="0"/>
              <a:t>甲烷在高温下瞬间热裂</a:t>
            </a:r>
            <a:endParaRPr lang="en-US" altLang="zh-CN" sz="3000" dirty="0"/>
          </a:p>
          <a:p>
            <a:pPr>
              <a:buNone/>
            </a:pPr>
            <a:endParaRPr lang="en-US" altLang="zh-CN" sz="3000" dirty="0"/>
          </a:p>
          <a:p>
            <a:pPr lvl="1">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29.5 </a:t>
            </a:r>
            <a:r>
              <a:rPr kumimoji="0" lang="zh-CN" altLang="en-US" sz="4800" b="1" i="0" u="none" strike="noStrike" kern="1200" cap="none" spc="0" normalizeH="0" baseline="0" noProof="0" dirty="0">
                <a:ln>
                  <a:noFill/>
                </a:ln>
                <a:solidFill>
                  <a:schemeClr val="tx1"/>
                </a:solidFill>
                <a:effectLst/>
                <a:uLnTx/>
                <a:uFillTx/>
                <a:latin typeface="+mn-ea"/>
                <a:ea typeface="+mj-ea"/>
                <a:cs typeface="+mj-cs"/>
              </a:rPr>
              <a:t>炔烃的</a:t>
            </a:r>
            <a:r>
              <a:rPr lang="zh-CN" altLang="en-US" sz="4800" b="1" dirty="0">
                <a:latin typeface="+mn-ea"/>
                <a:ea typeface="+mj-ea"/>
                <a:cs typeface="+mj-cs"/>
              </a:rPr>
              <a:t>来源和制取</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6" descr="炔烃的制.jpg"/>
          <p:cNvPicPr>
            <a:picLocks noChangeAspect="1"/>
          </p:cNvPicPr>
          <p:nvPr/>
        </p:nvPicPr>
        <p:blipFill>
          <a:blip r:embed="rId3"/>
          <a:srcRect/>
          <a:stretch>
            <a:fillRect/>
          </a:stretch>
        </p:blipFill>
        <p:spPr>
          <a:xfrm>
            <a:off x="838200" y="1524000"/>
            <a:ext cx="5966460" cy="2057400"/>
          </a:xfrm>
          <a:prstGeom prst="rect">
            <a:avLst/>
          </a:prstGeom>
        </p:spPr>
      </p:pic>
      <p:pic>
        <p:nvPicPr>
          <p:cNvPr id="8" name="Picture 7" descr="炔烃的制.jpg"/>
          <p:cNvPicPr>
            <a:picLocks noChangeAspect="1"/>
          </p:cNvPicPr>
          <p:nvPr/>
        </p:nvPicPr>
        <p:blipFill>
          <a:blip r:embed="rId4"/>
          <a:srcRect/>
          <a:stretch>
            <a:fillRect/>
          </a:stretch>
        </p:blipFill>
        <p:spPr>
          <a:xfrm>
            <a:off x="914400" y="4419600"/>
            <a:ext cx="5604933" cy="1219200"/>
          </a:xfrm>
          <a:prstGeom prst="rect">
            <a:avLst/>
          </a:prstGeom>
        </p:spPr>
      </p:pic>
      <p:sp>
        <p:nvSpPr>
          <p:cNvPr id="9" name="Rectangle 8"/>
          <p:cNvSpPr/>
          <p:nvPr/>
        </p:nvSpPr>
        <p:spPr>
          <a:xfrm>
            <a:off x="2667000" y="2895600"/>
            <a:ext cx="340158" cy="461665"/>
          </a:xfrm>
          <a:prstGeom prst="rect">
            <a:avLst/>
          </a:prstGeom>
        </p:spPr>
        <p:txBody>
          <a:bodyPr wrap="none">
            <a:spAutoFit/>
          </a:bodyPr>
          <a:lstStyle/>
          <a:p>
            <a:r>
              <a:rPr lang="en-US" altLang="zh-CN" sz="2400" b="1" dirty="0">
                <a:effectLst>
                  <a:outerShdw blurRad="38100" dist="38100" dir="2700000" algn="tl">
                    <a:srgbClr val="000000">
                      <a:alpha val="43137"/>
                    </a:srgbClr>
                  </a:outerShdw>
                </a:effectLst>
              </a:rPr>
              <a:t>2</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linds(horizontal)">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991600" cy="5867400"/>
          </a:xfrm>
        </p:spPr>
        <p:txBody>
          <a:bodyPr>
            <a:noAutofit/>
          </a:bodyPr>
          <a:lstStyle/>
          <a:p>
            <a:pPr marL="514350" indent="-514350">
              <a:spcBef>
                <a:spcPts val="0"/>
              </a:spcBef>
              <a:buAutoNum type="arabicPeriod"/>
            </a:pPr>
            <a:r>
              <a:rPr lang="en-MY" sz="3000" dirty="0"/>
              <a:t>CaC</a:t>
            </a:r>
            <a:r>
              <a:rPr lang="en-MY" sz="3000" baseline="-25000" dirty="0"/>
              <a:t>2</a:t>
            </a:r>
            <a:r>
              <a:rPr lang="zh-CN" altLang="en-US" sz="3000" dirty="0"/>
              <a:t>和水反应生成</a:t>
            </a:r>
            <a:r>
              <a:rPr lang="en-MY" sz="3000" dirty="0"/>
              <a:t>C</a:t>
            </a:r>
            <a:r>
              <a:rPr lang="en-MY" sz="3000" baseline="-25000" dirty="0"/>
              <a:t>2</a:t>
            </a:r>
            <a:r>
              <a:rPr lang="en-MY" sz="3000" dirty="0"/>
              <a:t>H</a:t>
            </a:r>
            <a:r>
              <a:rPr lang="en-MY" sz="3000" baseline="-25000" dirty="0"/>
              <a:t>2</a:t>
            </a:r>
            <a:r>
              <a:rPr lang="zh-CN" altLang="en-US" sz="3000" dirty="0"/>
              <a:t>，可知金属碳化物水解后生成的烃中氢原子总数等于金属化合价的总价数。</a:t>
            </a:r>
            <a:endParaRPr lang="en-MY" altLang="zh-CN" sz="3000" dirty="0"/>
          </a:p>
          <a:p>
            <a:pPr marL="0" indent="0">
              <a:spcBef>
                <a:spcPts val="0"/>
              </a:spcBef>
              <a:buNone/>
            </a:pPr>
            <a:r>
              <a:rPr lang="zh-CN" altLang="en-US" sz="3000" dirty="0"/>
              <a:t>故</a:t>
            </a:r>
            <a:r>
              <a:rPr lang="en-MY" sz="3000" dirty="0"/>
              <a:t>ZnC</a:t>
            </a:r>
            <a:r>
              <a:rPr lang="en-MY" sz="3000" baseline="-25000" dirty="0"/>
              <a:t>2</a:t>
            </a:r>
            <a:r>
              <a:rPr lang="zh-CN" altLang="en-US" sz="3000" dirty="0"/>
              <a:t>水解得  </a:t>
            </a:r>
            <a:r>
              <a:rPr lang="en-MY" sz="3000" dirty="0"/>
              <a:t>C</a:t>
            </a:r>
            <a:r>
              <a:rPr lang="en-MY" sz="3000" baseline="-25000" dirty="0"/>
              <a:t>2</a:t>
            </a:r>
            <a:r>
              <a:rPr lang="en-MY" sz="3000" dirty="0"/>
              <a:t>H</a:t>
            </a:r>
            <a:r>
              <a:rPr lang="en-MY" sz="3000" baseline="-25000" dirty="0"/>
              <a:t>2</a:t>
            </a:r>
            <a:r>
              <a:rPr lang="zh-CN" altLang="en-US" sz="3000" dirty="0"/>
              <a:t>，</a:t>
            </a:r>
            <a:r>
              <a:rPr lang="en-MY" sz="3000" dirty="0"/>
              <a:t>Al</a:t>
            </a:r>
            <a:r>
              <a:rPr lang="en-MY" sz="3000" baseline="-25000" dirty="0"/>
              <a:t>4</a:t>
            </a:r>
            <a:r>
              <a:rPr lang="en-MY" sz="3000" dirty="0"/>
              <a:t>C</a:t>
            </a:r>
            <a:r>
              <a:rPr lang="en-MY" sz="3000" baseline="-25000" dirty="0"/>
              <a:t>3</a:t>
            </a:r>
            <a:r>
              <a:rPr lang="zh-CN" altLang="en-US" sz="3000" dirty="0"/>
              <a:t>水解应得  </a:t>
            </a:r>
            <a:r>
              <a:rPr lang="en-US" altLang="zh-CN" sz="3000" dirty="0"/>
              <a:t>3</a:t>
            </a:r>
            <a:r>
              <a:rPr lang="en-MY" sz="3000" dirty="0"/>
              <a:t>CH</a:t>
            </a:r>
            <a:r>
              <a:rPr lang="en-MY" sz="3000" baseline="-25000" dirty="0"/>
              <a:t>4</a:t>
            </a:r>
            <a:r>
              <a:rPr lang="zh-CN" altLang="en-US" sz="3000" dirty="0"/>
              <a:t>（</a:t>
            </a:r>
            <a:r>
              <a:rPr lang="en-MY" sz="3000" dirty="0"/>
              <a:t>C</a:t>
            </a:r>
            <a:r>
              <a:rPr lang="en-MY" sz="3000" baseline="-25000" dirty="0"/>
              <a:t>3</a:t>
            </a:r>
            <a:r>
              <a:rPr lang="en-MY" sz="3000" dirty="0"/>
              <a:t>H</a:t>
            </a:r>
            <a:r>
              <a:rPr lang="en-MY" sz="3000" baseline="-25000" dirty="0"/>
              <a:t>12</a:t>
            </a:r>
            <a:r>
              <a:rPr lang="en-MY" sz="3000" dirty="0"/>
              <a:t> </a:t>
            </a:r>
            <a:r>
              <a:rPr lang="zh-CN" altLang="en-US" sz="3000" dirty="0"/>
              <a:t>），</a:t>
            </a:r>
            <a:endParaRPr lang="en-MY" altLang="zh-CN" sz="3000" dirty="0"/>
          </a:p>
          <a:p>
            <a:pPr marL="0" indent="0">
              <a:spcBef>
                <a:spcPts val="0"/>
              </a:spcBef>
              <a:buNone/>
            </a:pPr>
            <a:r>
              <a:rPr lang="en-MY" sz="3000" dirty="0"/>
              <a:t>Mg</a:t>
            </a:r>
            <a:r>
              <a:rPr lang="en-MY" sz="3000" baseline="-25000" dirty="0"/>
              <a:t>2</a:t>
            </a:r>
            <a:r>
              <a:rPr lang="en-MY" sz="3000" dirty="0"/>
              <a:t>C</a:t>
            </a:r>
            <a:r>
              <a:rPr lang="en-MY" sz="3000" baseline="-25000" dirty="0"/>
              <a:t>3</a:t>
            </a:r>
            <a:r>
              <a:rPr lang="zh-CN" altLang="en-US" sz="3000" dirty="0"/>
              <a:t>水解得  </a:t>
            </a:r>
            <a:r>
              <a:rPr lang="en-MY" sz="3000" dirty="0"/>
              <a:t>C</a:t>
            </a:r>
            <a:r>
              <a:rPr lang="en-MY" sz="3000" baseline="-25000" dirty="0"/>
              <a:t>3</a:t>
            </a:r>
            <a:r>
              <a:rPr lang="en-MY" sz="3000" dirty="0"/>
              <a:t>H</a:t>
            </a:r>
            <a:r>
              <a:rPr lang="en-MY" sz="3000" baseline="-25000" dirty="0"/>
              <a:t>4 </a:t>
            </a:r>
            <a:r>
              <a:rPr lang="zh-CN" altLang="en-US" sz="3000" dirty="0"/>
              <a:t>，</a:t>
            </a:r>
            <a:r>
              <a:rPr lang="en-MY" sz="3000" dirty="0"/>
              <a:t>Li</a:t>
            </a:r>
            <a:r>
              <a:rPr lang="en-MY" sz="3000" baseline="-25000" dirty="0"/>
              <a:t>2</a:t>
            </a:r>
            <a:r>
              <a:rPr lang="en-MY" sz="3000" dirty="0"/>
              <a:t>C</a:t>
            </a:r>
            <a:r>
              <a:rPr lang="en-MY" sz="3000" baseline="-25000" dirty="0"/>
              <a:t>2</a:t>
            </a:r>
            <a:r>
              <a:rPr lang="zh-CN" altLang="en-US" sz="3000" dirty="0"/>
              <a:t>水解得  </a:t>
            </a:r>
            <a:r>
              <a:rPr lang="en-MY" sz="3000" dirty="0"/>
              <a:t>C</a:t>
            </a:r>
            <a:r>
              <a:rPr lang="en-MY" sz="3000" baseline="-25000" dirty="0"/>
              <a:t>2</a:t>
            </a:r>
            <a:r>
              <a:rPr lang="en-MY" sz="3000" dirty="0"/>
              <a:t>H</a:t>
            </a:r>
            <a:r>
              <a:rPr lang="en-MY" sz="3000" baseline="-25000" dirty="0"/>
              <a:t>2</a:t>
            </a:r>
            <a:r>
              <a:rPr lang="zh-CN" altLang="en-US" sz="3000" baseline="-25000" dirty="0"/>
              <a:t>。</a:t>
            </a:r>
            <a:r>
              <a:rPr lang="en-MY" altLang="zh-CN" sz="3000" baseline="-25000" dirty="0"/>
              <a:t> </a:t>
            </a:r>
            <a:r>
              <a:rPr lang="en-MY" altLang="zh-CN" sz="3000" dirty="0"/>
              <a:t> </a:t>
            </a:r>
          </a:p>
          <a:p>
            <a:pPr marL="0" indent="0">
              <a:spcBef>
                <a:spcPts val="0"/>
              </a:spcBef>
              <a:buNone/>
            </a:pPr>
            <a:r>
              <a:rPr lang="en-US" altLang="zh-CN" sz="3000" dirty="0" err="1"/>
              <a:t>Ans:C</a:t>
            </a:r>
            <a:endParaRPr lang="en-US" altLang="zh-CN" sz="3000" dirty="0"/>
          </a:p>
          <a:p>
            <a:pPr marL="0" indent="0">
              <a:spcBef>
                <a:spcPts val="0"/>
              </a:spcBef>
              <a:buNone/>
            </a:pPr>
            <a:r>
              <a:rPr lang="en-US" altLang="zh-CN" sz="3000" dirty="0"/>
              <a:t>2. (1) N</a:t>
            </a:r>
            <a:r>
              <a:rPr lang="en-MY" altLang="zh-CN" sz="3000" dirty="0" err="1"/>
              <a:t>aOH</a:t>
            </a:r>
            <a:r>
              <a:rPr lang="en-MY" altLang="zh-CN" sz="3000" dirty="0"/>
              <a:t>(</a:t>
            </a:r>
            <a:r>
              <a:rPr lang="en-MY" altLang="zh-CN" sz="3000" dirty="0" err="1"/>
              <a:t>aq</a:t>
            </a:r>
            <a:r>
              <a:rPr lang="en-MY" altLang="zh-CN" sz="3000" dirty="0"/>
              <a:t>)</a:t>
            </a:r>
            <a:r>
              <a:rPr lang="zh-CN" altLang="en-US" sz="3000" dirty="0"/>
              <a:t>能与</a:t>
            </a:r>
            <a:r>
              <a:rPr lang="en-US" altLang="zh-CN" sz="3000" dirty="0"/>
              <a:t>H</a:t>
            </a:r>
            <a:r>
              <a:rPr lang="en-US" altLang="zh-CN" sz="3000" baseline="-25000" dirty="0"/>
              <a:t>2</a:t>
            </a:r>
            <a:r>
              <a:rPr lang="en-US" altLang="zh-CN" sz="3000" dirty="0"/>
              <a:t>S</a:t>
            </a:r>
            <a:r>
              <a:rPr lang="zh-CN" altLang="en-US" sz="3000" dirty="0"/>
              <a:t>反应，不与乙烯反应。</a:t>
            </a:r>
            <a:endParaRPr lang="en-MY" altLang="zh-CN" sz="3000" dirty="0"/>
          </a:p>
          <a:p>
            <a:pPr marL="0" indent="0">
              <a:spcBef>
                <a:spcPts val="0"/>
              </a:spcBef>
              <a:buNone/>
            </a:pPr>
            <a:r>
              <a:rPr lang="en-US" altLang="zh-CN" sz="3000" dirty="0"/>
              <a:t>	NaOH(</a:t>
            </a:r>
            <a:r>
              <a:rPr lang="en-US" altLang="zh-CN" sz="3000" dirty="0" err="1"/>
              <a:t>aq</a:t>
            </a:r>
            <a:r>
              <a:rPr lang="en-US" altLang="zh-CN" sz="3000" dirty="0"/>
              <a:t>)</a:t>
            </a:r>
            <a:r>
              <a:rPr lang="zh-CN" altLang="en-US" sz="3000" dirty="0"/>
              <a:t>不能与其他杂质反应。</a:t>
            </a:r>
            <a:endParaRPr lang="en-US" altLang="zh-CN" sz="3000" dirty="0"/>
          </a:p>
          <a:p>
            <a:pPr marL="0" indent="0">
              <a:spcBef>
                <a:spcPts val="0"/>
              </a:spcBef>
              <a:buNone/>
            </a:pPr>
            <a:r>
              <a:rPr lang="en-US" altLang="zh-CN" sz="3000" dirty="0"/>
              <a:t>(2) KMnO</a:t>
            </a:r>
            <a:r>
              <a:rPr lang="en-US" altLang="zh-CN" sz="3000" baseline="-25000" dirty="0"/>
              <a:t>4</a:t>
            </a:r>
            <a:r>
              <a:rPr lang="en-US" altLang="zh-CN" sz="3000" dirty="0"/>
              <a:t> </a:t>
            </a:r>
            <a:r>
              <a:rPr lang="zh-CN" altLang="en-US" sz="3000" dirty="0"/>
              <a:t>能与</a:t>
            </a:r>
            <a:r>
              <a:rPr lang="en-US" altLang="zh-CN" sz="3000" dirty="0"/>
              <a:t>H</a:t>
            </a:r>
            <a:r>
              <a:rPr lang="en-US" altLang="zh-CN" sz="3000" baseline="-25000" dirty="0"/>
              <a:t>2</a:t>
            </a:r>
            <a:r>
              <a:rPr lang="en-US" altLang="zh-CN" sz="3000" dirty="0"/>
              <a:t>S</a:t>
            </a:r>
            <a:r>
              <a:rPr lang="zh-CN" altLang="en-US" sz="3000" dirty="0"/>
              <a:t>反应。</a:t>
            </a:r>
            <a:r>
              <a:rPr lang="en-US" altLang="zh-CN" sz="3000" dirty="0"/>
              <a:t>KMnO</a:t>
            </a:r>
            <a:r>
              <a:rPr lang="en-US" altLang="zh-CN" sz="3000" baseline="-25000" dirty="0"/>
              <a:t>4</a:t>
            </a:r>
            <a:r>
              <a:rPr lang="en-US" altLang="zh-CN" sz="3000" dirty="0"/>
              <a:t> </a:t>
            </a:r>
            <a:r>
              <a:rPr lang="zh-CN" altLang="en-US" sz="3000" dirty="0"/>
              <a:t>也能与乙烯反应。</a:t>
            </a:r>
            <a:endParaRPr lang="en-US" altLang="zh-CN" sz="3000" dirty="0"/>
          </a:p>
          <a:p>
            <a:pPr marL="0" indent="0">
              <a:spcBef>
                <a:spcPts val="0"/>
              </a:spcBef>
              <a:buNone/>
            </a:pPr>
            <a:r>
              <a:rPr lang="en-US" altLang="zh-CN" sz="3000" dirty="0"/>
              <a:t>(3) CuSO</a:t>
            </a:r>
            <a:r>
              <a:rPr lang="en-US" altLang="zh-CN" sz="3000" baseline="-25000" dirty="0"/>
              <a:t>4</a:t>
            </a:r>
            <a:r>
              <a:rPr lang="en-MY" altLang="zh-CN" sz="3000" dirty="0"/>
              <a:t>(</a:t>
            </a:r>
            <a:r>
              <a:rPr lang="en-MY" altLang="zh-CN" sz="3000" dirty="0" err="1"/>
              <a:t>aq</a:t>
            </a:r>
            <a:r>
              <a:rPr lang="en-MY" altLang="zh-CN" sz="3000" dirty="0"/>
              <a:t>)</a:t>
            </a:r>
            <a:r>
              <a:rPr lang="zh-CN" altLang="en-US" sz="3000" dirty="0"/>
              <a:t>能与</a:t>
            </a:r>
            <a:r>
              <a:rPr lang="en-US" altLang="zh-CN" sz="3000" dirty="0"/>
              <a:t>H</a:t>
            </a:r>
            <a:r>
              <a:rPr lang="en-US" altLang="zh-CN" sz="3000" baseline="-25000" dirty="0"/>
              <a:t>2</a:t>
            </a:r>
            <a:r>
              <a:rPr lang="en-US" altLang="zh-CN" sz="3000" dirty="0"/>
              <a:t>S</a:t>
            </a:r>
            <a:r>
              <a:rPr lang="zh-CN" altLang="en-US" sz="3000" dirty="0"/>
              <a:t>反应生成沉淀物，不与乙烯反应。</a:t>
            </a:r>
            <a:r>
              <a:rPr lang="en-US" altLang="zh-CN" sz="3000" dirty="0"/>
              <a:t> </a:t>
            </a:r>
          </a:p>
          <a:p>
            <a:pPr marL="0" indent="0">
              <a:spcBef>
                <a:spcPts val="0"/>
              </a:spcBef>
              <a:buNone/>
            </a:pPr>
            <a:r>
              <a:rPr lang="en-US" altLang="zh-CN" sz="3000" dirty="0"/>
              <a:t>CuSO</a:t>
            </a:r>
            <a:r>
              <a:rPr lang="en-US" altLang="zh-CN" sz="3000" baseline="-25000" dirty="0"/>
              <a:t>4 </a:t>
            </a:r>
            <a:r>
              <a:rPr lang="en-MY" altLang="zh-CN" sz="3000" dirty="0"/>
              <a:t>(</a:t>
            </a:r>
            <a:r>
              <a:rPr lang="en-MY" altLang="zh-CN" sz="3000" dirty="0" err="1"/>
              <a:t>aq</a:t>
            </a:r>
            <a:r>
              <a:rPr lang="en-MY" altLang="zh-CN" sz="3000" dirty="0"/>
              <a:t>)</a:t>
            </a:r>
            <a:r>
              <a:rPr lang="zh-CN" altLang="en-US" sz="3000" dirty="0"/>
              <a:t>也能与其他杂质（</a:t>
            </a:r>
            <a:r>
              <a:rPr lang="en-US" altLang="zh-CN" sz="3000" dirty="0"/>
              <a:t>PH</a:t>
            </a:r>
            <a:r>
              <a:rPr lang="en-US" altLang="zh-CN" sz="3000" baseline="-25000" dirty="0"/>
              <a:t>3</a:t>
            </a:r>
            <a:r>
              <a:rPr lang="en-US" altLang="zh-CN" sz="3000" dirty="0"/>
              <a:t> </a:t>
            </a:r>
            <a:r>
              <a:rPr lang="zh-CN" altLang="en-US" sz="3000" dirty="0"/>
              <a:t>）反应生成沉淀物。</a:t>
            </a: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29e</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
        <p:nvSpPr>
          <p:cNvPr id="2" name="Rectangle: Rounded Corners 1">
            <a:extLst>
              <a:ext uri="{FF2B5EF4-FFF2-40B4-BE49-F238E27FC236}">
                <a16:creationId xmlns:a16="http://schemas.microsoft.com/office/drawing/2014/main" id="{2FAD0AE8-366D-4CC0-8D3D-F1DB3C7CB471}"/>
              </a:ext>
            </a:extLst>
          </p:cNvPr>
          <p:cNvSpPr/>
          <p:nvPr/>
        </p:nvSpPr>
        <p:spPr>
          <a:xfrm>
            <a:off x="2514600" y="1981200"/>
            <a:ext cx="914400" cy="457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MY"/>
          </a:p>
        </p:txBody>
      </p:sp>
      <p:sp>
        <p:nvSpPr>
          <p:cNvPr id="7" name="Rectangle: Rounded Corners 6">
            <a:extLst>
              <a:ext uri="{FF2B5EF4-FFF2-40B4-BE49-F238E27FC236}">
                <a16:creationId xmlns:a16="http://schemas.microsoft.com/office/drawing/2014/main" id="{61F95E5A-39E4-4117-ABE7-639E3234D1DC}"/>
              </a:ext>
            </a:extLst>
          </p:cNvPr>
          <p:cNvSpPr/>
          <p:nvPr/>
        </p:nvSpPr>
        <p:spPr>
          <a:xfrm>
            <a:off x="6131168" y="1937825"/>
            <a:ext cx="2479431" cy="457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MY"/>
          </a:p>
        </p:txBody>
      </p:sp>
      <p:sp>
        <p:nvSpPr>
          <p:cNvPr id="8" name="Rectangle: Rounded Corners 7">
            <a:extLst>
              <a:ext uri="{FF2B5EF4-FFF2-40B4-BE49-F238E27FC236}">
                <a16:creationId xmlns:a16="http://schemas.microsoft.com/office/drawing/2014/main" id="{05B731F5-D99B-490E-87DC-78E72136F58F}"/>
              </a:ext>
            </a:extLst>
          </p:cNvPr>
          <p:cNvSpPr/>
          <p:nvPr/>
        </p:nvSpPr>
        <p:spPr>
          <a:xfrm>
            <a:off x="2514600" y="2438400"/>
            <a:ext cx="914400" cy="457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MY"/>
          </a:p>
        </p:txBody>
      </p:sp>
      <p:sp>
        <p:nvSpPr>
          <p:cNvPr id="9" name="Rectangle: Rounded Corners 8">
            <a:extLst>
              <a:ext uri="{FF2B5EF4-FFF2-40B4-BE49-F238E27FC236}">
                <a16:creationId xmlns:a16="http://schemas.microsoft.com/office/drawing/2014/main" id="{A1BD3965-4BB3-4A4E-86FF-0BA4EF5ADAAD}"/>
              </a:ext>
            </a:extLst>
          </p:cNvPr>
          <p:cNvSpPr/>
          <p:nvPr/>
        </p:nvSpPr>
        <p:spPr>
          <a:xfrm>
            <a:off x="5597767" y="2404403"/>
            <a:ext cx="914400" cy="457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MY"/>
          </a:p>
        </p:txBody>
      </p:sp>
    </p:spTree>
    <p:extLst>
      <p:ext uri="{BB962C8B-B14F-4D97-AF65-F5344CB8AC3E}">
        <p14:creationId xmlns:p14="http://schemas.microsoft.com/office/powerpoint/2010/main" val="5316065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9"/>
                                        </p:tgtEl>
                                      </p:cBhvr>
                                    </p:animEffect>
                                    <p:set>
                                      <p:cBhvr>
                                        <p:cTn id="37" dur="1" fill="hold">
                                          <p:stCondLst>
                                            <p:cond delay="499"/>
                                          </p:stCondLst>
                                        </p:cTn>
                                        <p:tgtEl>
                                          <p:spTgt spid="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blinds(horizontal)">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blinds(horizontal)">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blinds(horizontal)">
                                      <p:cBhvr>
                                        <p:cTn id="52" dur="500"/>
                                        <p:tgtEl>
                                          <p:spTgt spid="3">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Effect transition="in" filter="blinds(horizontal)">
                                      <p:cBhvr>
                                        <p:cTn id="57" dur="500"/>
                                        <p:tgtEl>
                                          <p:spTgt spid="3">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blinds(horizontal)">
                                      <p:cBhvr>
                                        <p:cTn id="62" dur="500"/>
                                        <p:tgtEl>
                                          <p:spTgt spid="3">
                                            <p:txEl>
                                              <p:pRg st="7" end="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animEffect transition="in" filter="blinds(horizontal)">
                                      <p:cBhvr>
                                        <p:cTn id="6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animBg="1"/>
      <p:bldP spid="7" grpId="0" animBg="1"/>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0" indent="0">
              <a:spcBef>
                <a:spcPts val="1200"/>
              </a:spcBef>
              <a:buNone/>
            </a:pPr>
            <a:r>
              <a:rPr lang="en-US" altLang="zh-CN" sz="3000" dirty="0">
                <a:sym typeface="Wingdings" pitchFamily="2" charset="2"/>
              </a:rPr>
              <a:t>3. </a:t>
            </a:r>
            <a:r>
              <a:rPr lang="en-MY" sz="3000" dirty="0"/>
              <a:t>CaCO</a:t>
            </a:r>
            <a:r>
              <a:rPr lang="en-MY" sz="3000" baseline="-25000" dirty="0"/>
              <a:t>3</a:t>
            </a:r>
            <a:r>
              <a:rPr lang="en-MY" sz="3000" dirty="0"/>
              <a:t> </a:t>
            </a:r>
            <a:r>
              <a:rPr lang="en-MY" sz="3000" dirty="0">
                <a:sym typeface="Wingdings" panose="05000000000000000000" pitchFamily="2" charset="2"/>
              </a:rPr>
              <a:t>         </a:t>
            </a:r>
            <a:r>
              <a:rPr lang="en-MY" sz="3000" dirty="0" err="1"/>
              <a:t>CaO</a:t>
            </a:r>
            <a:r>
              <a:rPr lang="en-MY" sz="3000" dirty="0"/>
              <a:t> + CO</a:t>
            </a:r>
            <a:r>
              <a:rPr lang="en-MY" sz="3000" baseline="-25000" dirty="0"/>
              <a:t>2</a:t>
            </a:r>
            <a:endParaRPr lang="en-MY" sz="3000" dirty="0"/>
          </a:p>
          <a:p>
            <a:pPr marL="0" indent="0">
              <a:spcBef>
                <a:spcPts val="1200"/>
              </a:spcBef>
              <a:buNone/>
            </a:pPr>
            <a:r>
              <a:rPr lang="en-MY" sz="3000" dirty="0" err="1"/>
              <a:t>CaO</a:t>
            </a:r>
            <a:r>
              <a:rPr lang="en-MY" sz="3000" dirty="0"/>
              <a:t> + 3 C         CaC</a:t>
            </a:r>
            <a:r>
              <a:rPr lang="en-MY" sz="3000" baseline="-25000" dirty="0"/>
              <a:t>2</a:t>
            </a:r>
            <a:r>
              <a:rPr lang="en-MY" sz="3000" dirty="0"/>
              <a:t> + CO</a:t>
            </a:r>
          </a:p>
          <a:p>
            <a:pPr marL="0" indent="0">
              <a:spcBef>
                <a:spcPts val="1200"/>
              </a:spcBef>
              <a:buNone/>
            </a:pPr>
            <a:r>
              <a:rPr lang="en-MY" sz="3000" dirty="0"/>
              <a:t>CaC</a:t>
            </a:r>
            <a:r>
              <a:rPr lang="en-MY" sz="3000" baseline="-25000" dirty="0"/>
              <a:t>2</a:t>
            </a:r>
            <a:r>
              <a:rPr lang="en-MY" sz="3000" dirty="0"/>
              <a:t> + 2 H</a:t>
            </a:r>
            <a:r>
              <a:rPr lang="en-MY" sz="3000" baseline="-25000" dirty="0"/>
              <a:t>2</a:t>
            </a:r>
            <a:r>
              <a:rPr lang="en-MY" sz="3000" dirty="0"/>
              <a:t>O </a:t>
            </a:r>
            <a:r>
              <a:rPr lang="en-MY" sz="3000" dirty="0">
                <a:sym typeface="Wingdings" panose="05000000000000000000" pitchFamily="2" charset="2"/>
              </a:rPr>
              <a:t></a:t>
            </a:r>
            <a:r>
              <a:rPr lang="en-MY" sz="3000" dirty="0"/>
              <a:t> Ca(OH)</a:t>
            </a:r>
            <a:r>
              <a:rPr lang="en-MY" sz="3000" baseline="-25000" dirty="0"/>
              <a:t>2</a:t>
            </a:r>
            <a:r>
              <a:rPr lang="en-MY" sz="3000" dirty="0"/>
              <a:t> + C</a:t>
            </a:r>
            <a:r>
              <a:rPr lang="en-MY" sz="3000" baseline="-25000" dirty="0"/>
              <a:t>2</a:t>
            </a:r>
            <a:r>
              <a:rPr lang="en-MY" sz="3000" dirty="0"/>
              <a:t>H</a:t>
            </a:r>
            <a:r>
              <a:rPr lang="en-MY" sz="3000" baseline="-25000" dirty="0"/>
              <a:t>2</a:t>
            </a:r>
            <a:endParaRPr lang="en-MY" sz="3000" dirty="0"/>
          </a:p>
          <a:p>
            <a:pPr marL="0" indent="0">
              <a:spcBef>
                <a:spcPts val="1200"/>
              </a:spcBef>
              <a:buNone/>
            </a:pPr>
            <a:r>
              <a:rPr lang="en-MY" sz="3000" dirty="0"/>
              <a:t> H</a:t>
            </a:r>
            <a:r>
              <a:rPr lang="en-MY" altLang="zh-CN" sz="3000" dirty="0"/>
              <a:t>C</a:t>
            </a:r>
            <a:r>
              <a:rPr lang="zh-CN" altLang="en-US" sz="3000" dirty="0"/>
              <a:t>≡</a:t>
            </a:r>
            <a:r>
              <a:rPr lang="en-MY" sz="3000" dirty="0"/>
              <a:t>CH + HCl    </a:t>
            </a:r>
            <a:r>
              <a:rPr lang="en-MY" sz="3000" dirty="0">
                <a:sym typeface="Wingdings" panose="05000000000000000000" pitchFamily="2" charset="2"/>
              </a:rPr>
              <a:t></a:t>
            </a:r>
            <a:r>
              <a:rPr lang="en-MY" sz="3000" dirty="0"/>
              <a:t>    CH</a:t>
            </a:r>
            <a:r>
              <a:rPr lang="en-MY" sz="3000" baseline="-25000" dirty="0"/>
              <a:t>2</a:t>
            </a:r>
            <a:r>
              <a:rPr lang="en-MY" sz="3000" dirty="0"/>
              <a:t>=</a:t>
            </a:r>
            <a:r>
              <a:rPr lang="en-MY" sz="3000" dirty="0" err="1"/>
              <a:t>CHCl</a:t>
            </a:r>
            <a:endParaRPr lang="en-MY" sz="3000" dirty="0"/>
          </a:p>
          <a:p>
            <a:pPr marL="0" indent="0">
              <a:spcBef>
                <a:spcPts val="1200"/>
              </a:spcBef>
              <a:buNone/>
            </a:pPr>
            <a:r>
              <a:rPr lang="en-MY" sz="3000" dirty="0"/>
              <a:t>n  CH</a:t>
            </a:r>
            <a:r>
              <a:rPr lang="en-MY" sz="3000" baseline="-25000" dirty="0"/>
              <a:t>2</a:t>
            </a:r>
            <a:r>
              <a:rPr lang="en-MY" sz="3000" dirty="0"/>
              <a:t>=</a:t>
            </a:r>
            <a:r>
              <a:rPr lang="en-MY" sz="3000" dirty="0" err="1"/>
              <a:t>CHCl</a:t>
            </a:r>
            <a:r>
              <a:rPr lang="en-MY" sz="3000" dirty="0"/>
              <a:t>		-[-CH</a:t>
            </a:r>
            <a:r>
              <a:rPr lang="en-MY" sz="3000" baseline="-25000" dirty="0"/>
              <a:t>2</a:t>
            </a:r>
            <a:r>
              <a:rPr lang="en-MY" sz="3000" dirty="0"/>
              <a:t>-CHCl-]n-</a:t>
            </a:r>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思考题 </a:t>
            </a:r>
            <a:r>
              <a:rPr kumimoji="0" lang="en-US" altLang="zh-CN" sz="4800" b="1" i="0" u="none" strike="noStrike" kern="1200" cap="none" spc="0" normalizeH="0" baseline="0" noProof="0" dirty="0">
                <a:ln>
                  <a:noFill/>
                </a:ln>
                <a:solidFill>
                  <a:schemeClr val="tx1"/>
                </a:solidFill>
                <a:effectLst/>
                <a:uLnTx/>
                <a:uFillTx/>
                <a:latin typeface="+mn-ea"/>
                <a:ea typeface="+mj-ea"/>
                <a:cs typeface="+mj-cs"/>
              </a:rPr>
              <a:t>29e</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grpSp>
        <p:nvGrpSpPr>
          <p:cNvPr id="10" name="Group 9">
            <a:extLst>
              <a:ext uri="{FF2B5EF4-FFF2-40B4-BE49-F238E27FC236}">
                <a16:creationId xmlns:a16="http://schemas.microsoft.com/office/drawing/2014/main" id="{F168D074-B05D-4366-BB33-118D86830DFD}"/>
              </a:ext>
            </a:extLst>
          </p:cNvPr>
          <p:cNvGrpSpPr/>
          <p:nvPr/>
        </p:nvGrpSpPr>
        <p:grpSpPr>
          <a:xfrm>
            <a:off x="1708680" y="1104106"/>
            <a:ext cx="684000" cy="230188"/>
            <a:chOff x="2590800" y="1903412"/>
            <a:chExt cx="684000" cy="230188"/>
          </a:xfrm>
        </p:grpSpPr>
        <p:cxnSp>
          <p:nvCxnSpPr>
            <p:cNvPr id="11" name="Straight Arrow Connector 10">
              <a:extLst>
                <a:ext uri="{FF2B5EF4-FFF2-40B4-BE49-F238E27FC236}">
                  <a16:creationId xmlns:a16="http://schemas.microsoft.com/office/drawing/2014/main" id="{EC70DC08-5297-4491-89A1-F6A2AB9834DF}"/>
                </a:ext>
              </a:extLst>
            </p:cNvPr>
            <p:cNvCxnSpPr/>
            <p:nvPr/>
          </p:nvCxnSpPr>
          <p:spPr bwMode="auto">
            <a:xfrm>
              <a:off x="2590800" y="2132012"/>
              <a:ext cx="684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C50ECCC3-BE50-4157-B353-A3ABB5371943}"/>
                </a:ext>
              </a:extLst>
            </p:cNvPr>
            <p:cNvSpPr/>
            <p:nvPr/>
          </p:nvSpPr>
          <p:spPr bwMode="auto">
            <a:xfrm>
              <a:off x="2819400" y="19034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3" name="Group 47">
            <a:extLst>
              <a:ext uri="{FF2B5EF4-FFF2-40B4-BE49-F238E27FC236}">
                <a16:creationId xmlns:a16="http://schemas.microsoft.com/office/drawing/2014/main" id="{A6B39D9B-ABBA-4573-8569-8A124A11C881}"/>
              </a:ext>
            </a:extLst>
          </p:cNvPr>
          <p:cNvGrpSpPr/>
          <p:nvPr/>
        </p:nvGrpSpPr>
        <p:grpSpPr>
          <a:xfrm>
            <a:off x="1734471" y="1606486"/>
            <a:ext cx="731520" cy="307777"/>
            <a:chOff x="2819400" y="5940623"/>
            <a:chExt cx="731520" cy="307777"/>
          </a:xfrm>
        </p:grpSpPr>
        <p:cxnSp>
          <p:nvCxnSpPr>
            <p:cNvPr id="14" name="Straight Arrow Connector 13">
              <a:extLst>
                <a:ext uri="{FF2B5EF4-FFF2-40B4-BE49-F238E27FC236}">
                  <a16:creationId xmlns:a16="http://schemas.microsoft.com/office/drawing/2014/main" id="{21C12A9D-C206-4418-8A14-7916F33DDCFA}"/>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11397C-F3C6-47E3-977B-19EB49D226EF}"/>
                </a:ext>
              </a:extLst>
            </p:cNvPr>
            <p:cNvSpPr txBox="1"/>
            <p:nvPr/>
          </p:nvSpPr>
          <p:spPr>
            <a:xfrm>
              <a:off x="2895600" y="5940623"/>
              <a:ext cx="543739" cy="307777"/>
            </a:xfrm>
            <a:prstGeom prst="rect">
              <a:avLst/>
            </a:prstGeom>
            <a:noFill/>
          </p:spPr>
          <p:txBody>
            <a:bodyPr wrap="none" rtlCol="0">
              <a:spAutoFit/>
            </a:bodyPr>
            <a:lstStyle/>
            <a:p>
              <a:r>
                <a:rPr lang="zh-CN" altLang="en-US" sz="1400" dirty="0"/>
                <a:t>高温</a:t>
              </a:r>
              <a:endParaRPr lang="en-US" sz="1400" dirty="0"/>
            </a:p>
          </p:txBody>
        </p:sp>
      </p:grpSp>
      <p:grpSp>
        <p:nvGrpSpPr>
          <p:cNvPr id="23" name="Group 22">
            <a:extLst>
              <a:ext uri="{FF2B5EF4-FFF2-40B4-BE49-F238E27FC236}">
                <a16:creationId xmlns:a16="http://schemas.microsoft.com/office/drawing/2014/main" id="{1182157D-4390-4ACF-BA56-62DF11A91E04}"/>
              </a:ext>
            </a:extLst>
          </p:cNvPr>
          <p:cNvGrpSpPr/>
          <p:nvPr/>
        </p:nvGrpSpPr>
        <p:grpSpPr>
          <a:xfrm>
            <a:off x="2438400" y="3426023"/>
            <a:ext cx="1234748" cy="612577"/>
            <a:chOff x="2773372" y="5880279"/>
            <a:chExt cx="1234748" cy="612577"/>
          </a:xfrm>
        </p:grpSpPr>
        <p:cxnSp>
          <p:nvCxnSpPr>
            <p:cNvPr id="24" name="Straight Arrow Connector 23">
              <a:extLst>
                <a:ext uri="{FF2B5EF4-FFF2-40B4-BE49-F238E27FC236}">
                  <a16:creationId xmlns:a16="http://schemas.microsoft.com/office/drawing/2014/main" id="{834AFAC1-98CD-4D3E-921F-048ACB876A01}"/>
                </a:ext>
              </a:extLst>
            </p:cNvPr>
            <p:cNvCxnSpPr/>
            <p:nvPr/>
          </p:nvCxnSpPr>
          <p:spPr>
            <a:xfrm>
              <a:off x="2819400" y="6172117"/>
              <a:ext cx="11887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4CABE3C-3281-4697-AC27-DFCB186590B0}"/>
                </a:ext>
              </a:extLst>
            </p:cNvPr>
            <p:cNvSpPr txBox="1"/>
            <p:nvPr/>
          </p:nvSpPr>
          <p:spPr>
            <a:xfrm>
              <a:off x="2980045" y="6185079"/>
              <a:ext cx="723275" cy="307777"/>
            </a:xfrm>
            <a:prstGeom prst="rect">
              <a:avLst/>
            </a:prstGeom>
            <a:noFill/>
          </p:spPr>
          <p:txBody>
            <a:bodyPr wrap="square" rtlCol="0">
              <a:spAutoFit/>
            </a:bodyPr>
            <a:lstStyle/>
            <a:p>
              <a:r>
                <a:rPr lang="zh-CN" altLang="en-US" sz="1400" dirty="0"/>
                <a:t>催化剂</a:t>
              </a:r>
              <a:endParaRPr lang="en-US" sz="1400" dirty="0"/>
            </a:p>
          </p:txBody>
        </p:sp>
        <p:sp>
          <p:nvSpPr>
            <p:cNvPr id="26" name="TextBox 25">
              <a:extLst>
                <a:ext uri="{FF2B5EF4-FFF2-40B4-BE49-F238E27FC236}">
                  <a16:creationId xmlns:a16="http://schemas.microsoft.com/office/drawing/2014/main" id="{FF908D52-F0C4-4A05-8EA7-A7026F960D63}"/>
                </a:ext>
              </a:extLst>
            </p:cNvPr>
            <p:cNvSpPr txBox="1"/>
            <p:nvPr/>
          </p:nvSpPr>
          <p:spPr>
            <a:xfrm>
              <a:off x="2773372" y="5880279"/>
              <a:ext cx="1082348" cy="307777"/>
            </a:xfrm>
            <a:prstGeom prst="rect">
              <a:avLst/>
            </a:prstGeom>
            <a:noFill/>
          </p:spPr>
          <p:txBody>
            <a:bodyPr wrap="none" rtlCol="0">
              <a:spAutoFit/>
            </a:bodyPr>
            <a:lstStyle/>
            <a:p>
              <a:r>
                <a:rPr lang="zh-CN" altLang="en-US" sz="1400" dirty="0"/>
                <a:t>高温、高压</a:t>
              </a:r>
              <a:endParaRPr lang="en-US" sz="1400" dirty="0"/>
            </a:p>
          </p:txBody>
        </p:sp>
      </p:grpSp>
    </p:spTree>
    <p:extLst>
      <p:ext uri="{BB962C8B-B14F-4D97-AF65-F5344CB8AC3E}">
        <p14:creationId xmlns:p14="http://schemas.microsoft.com/office/powerpoint/2010/main" val="24404382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blinds(horizontal)">
                                      <p:cBhvr>
                                        <p:cTn id="3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Font typeface="Arial" pitchFamily="34" charset="0"/>
              <a:buAutoNum type="arabicPeriod"/>
            </a:pPr>
            <a:r>
              <a:rPr lang="en-US" altLang="zh-CN" sz="3000" dirty="0"/>
              <a:t>D</a:t>
            </a:r>
          </a:p>
          <a:p>
            <a:pPr marL="514350" indent="-514350">
              <a:buFont typeface="Arial" pitchFamily="34" charset="0"/>
              <a:buAutoNum type="arabicPeriod"/>
            </a:pPr>
            <a:r>
              <a:rPr lang="en-US" altLang="zh-CN" sz="3000" dirty="0"/>
              <a:t>C</a:t>
            </a:r>
          </a:p>
          <a:p>
            <a:pPr marL="514350" indent="-514350">
              <a:buFont typeface="Arial" pitchFamily="34" charset="0"/>
              <a:buAutoNum type="arabicPeriod"/>
            </a:pPr>
            <a:r>
              <a:rPr lang="zh-CN" altLang="en-US" sz="3000" dirty="0"/>
              <a:t>可将其视为</a:t>
            </a:r>
            <a:r>
              <a:rPr lang="en-US" altLang="zh-CN" sz="3000" dirty="0"/>
              <a:t>C</a:t>
            </a:r>
            <a:r>
              <a:rPr lang="en-US" altLang="zh-CN" sz="3000" baseline="-25000" dirty="0"/>
              <a:t>5</a:t>
            </a:r>
            <a:r>
              <a:rPr lang="en-US" altLang="zh-CN" sz="3000" dirty="0"/>
              <a:t>H</a:t>
            </a:r>
            <a:r>
              <a:rPr lang="en-US" altLang="zh-CN" sz="3000" baseline="-25000" dirty="0"/>
              <a:t>8</a:t>
            </a:r>
            <a:r>
              <a:rPr lang="en-US" altLang="zh-CN" sz="3000" dirty="0"/>
              <a:t> </a:t>
            </a:r>
            <a:r>
              <a:rPr lang="zh-CN" altLang="en-US" sz="3000" dirty="0"/>
              <a:t>与戊烷</a:t>
            </a:r>
            <a:r>
              <a:rPr lang="en-US" altLang="zh-CN" sz="3000" dirty="0"/>
              <a:t>C</a:t>
            </a:r>
            <a:r>
              <a:rPr lang="en-US" altLang="zh-CN" sz="3000" baseline="-25000" dirty="0"/>
              <a:t>5</a:t>
            </a:r>
            <a:r>
              <a:rPr lang="en-US" altLang="zh-CN" sz="3000" dirty="0"/>
              <a:t>H</a:t>
            </a:r>
            <a:r>
              <a:rPr lang="en-US" altLang="zh-CN" sz="3000" baseline="-25000" dirty="0"/>
              <a:t>12</a:t>
            </a:r>
            <a:r>
              <a:rPr lang="zh-CN" altLang="en-US" sz="3000" dirty="0"/>
              <a:t>相比少了</a:t>
            </a:r>
            <a:r>
              <a:rPr lang="en-MY" altLang="zh-CN" sz="3000" dirty="0"/>
              <a:t>4H </a:t>
            </a:r>
            <a:endParaRPr lang="en-US" altLang="zh-CN" sz="3000" dirty="0"/>
          </a:p>
          <a:p>
            <a:pPr marL="514350" indent="-514350">
              <a:buNone/>
            </a:pPr>
            <a:r>
              <a:rPr lang="en-US" altLang="zh-CN" sz="3000" dirty="0"/>
              <a:t>	A </a:t>
            </a:r>
            <a:r>
              <a:rPr lang="zh-CN" altLang="en-US" sz="3000" dirty="0"/>
              <a:t>一双键少</a:t>
            </a:r>
            <a:r>
              <a:rPr lang="en-US" altLang="zh-CN" sz="3000" dirty="0"/>
              <a:t>2H</a:t>
            </a:r>
          </a:p>
          <a:p>
            <a:pPr marL="514350" indent="-514350">
              <a:buNone/>
            </a:pPr>
            <a:r>
              <a:rPr lang="en-US" altLang="zh-CN" sz="3000" dirty="0"/>
              <a:t>	B </a:t>
            </a:r>
            <a:r>
              <a:rPr lang="zh-CN" altLang="en-US" sz="3000" dirty="0"/>
              <a:t>两个双键少</a:t>
            </a:r>
            <a:r>
              <a:rPr lang="en-US" altLang="zh-CN" sz="3000" dirty="0"/>
              <a:t>4H</a:t>
            </a:r>
          </a:p>
          <a:p>
            <a:pPr marL="514350" indent="-514350">
              <a:buNone/>
            </a:pPr>
            <a:r>
              <a:rPr lang="en-US" altLang="zh-CN" sz="3000" dirty="0"/>
              <a:t>	C </a:t>
            </a:r>
            <a:r>
              <a:rPr lang="zh-CN" altLang="en-US" sz="3000" dirty="0"/>
              <a:t>一双少</a:t>
            </a:r>
            <a:r>
              <a:rPr lang="en-US" altLang="zh-CN" sz="3000" dirty="0"/>
              <a:t>2H</a:t>
            </a:r>
            <a:r>
              <a:rPr lang="zh-CN" altLang="en-US" sz="3000" dirty="0"/>
              <a:t>、</a:t>
            </a:r>
            <a:r>
              <a:rPr lang="en-US" altLang="zh-CN" sz="3000" dirty="0"/>
              <a:t>1</a:t>
            </a:r>
            <a:r>
              <a:rPr lang="zh-CN" altLang="en-US" sz="3000" dirty="0"/>
              <a:t>环少</a:t>
            </a:r>
            <a:r>
              <a:rPr lang="en-US" altLang="zh-CN" sz="3000" dirty="0"/>
              <a:t>2H</a:t>
            </a:r>
          </a:p>
          <a:p>
            <a:pPr marL="514350" indent="-514350">
              <a:buNone/>
            </a:pPr>
            <a:r>
              <a:rPr lang="en-US" altLang="zh-CN" sz="3000" dirty="0"/>
              <a:t>	D</a:t>
            </a:r>
            <a:r>
              <a:rPr lang="zh-CN" altLang="en-US" sz="3000" dirty="0"/>
              <a:t>一三键少</a:t>
            </a:r>
            <a:r>
              <a:rPr lang="en-US" altLang="zh-CN" sz="3000" dirty="0"/>
              <a:t>4H</a:t>
            </a:r>
          </a:p>
          <a:p>
            <a:pPr marL="514350" indent="-514350">
              <a:buNone/>
            </a:pPr>
            <a:r>
              <a:rPr lang="en-US" altLang="zh-CN" sz="3000" dirty="0"/>
              <a:t>Ans: A </a:t>
            </a:r>
          </a:p>
          <a:p>
            <a:pPr marL="514350" indent="-514350">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4. </a:t>
            </a:r>
            <a:r>
              <a:rPr lang="zh-CN" altLang="en-US" sz="3000" dirty="0"/>
              <a:t>含碳质量百分比：炔</a:t>
            </a:r>
            <a:r>
              <a:rPr lang="en-MY" altLang="zh-CN" sz="3000" dirty="0"/>
              <a:t>&gt;</a:t>
            </a:r>
            <a:r>
              <a:rPr lang="zh-CN" altLang="en-US" sz="3000" dirty="0"/>
              <a:t>烯</a:t>
            </a:r>
            <a:r>
              <a:rPr lang="en-US" altLang="zh-CN" sz="3000" dirty="0"/>
              <a:t>&gt;</a:t>
            </a:r>
            <a:r>
              <a:rPr lang="zh-CN" altLang="en-US" sz="3000" dirty="0"/>
              <a:t>烷</a:t>
            </a:r>
            <a:endParaRPr lang="en-MY" altLang="zh-CN" sz="3000" dirty="0"/>
          </a:p>
          <a:p>
            <a:pPr marL="514350" indent="-514350">
              <a:buNone/>
            </a:pPr>
            <a:r>
              <a:rPr lang="en-MY" altLang="zh-CN" sz="3000" dirty="0"/>
              <a:t>	</a:t>
            </a:r>
            <a:r>
              <a:rPr lang="en-US" altLang="zh-CN" sz="3000" dirty="0"/>
              <a:t>A </a:t>
            </a:r>
            <a:r>
              <a:rPr lang="zh-CN" altLang="en-US" sz="3000" dirty="0"/>
              <a:t>烷、烯</a:t>
            </a:r>
            <a:r>
              <a:rPr lang="en-MY" altLang="zh-CN" sz="3000" dirty="0"/>
              <a:t>		B </a:t>
            </a:r>
            <a:r>
              <a:rPr lang="zh-CN" altLang="en-US" sz="3000" dirty="0"/>
              <a:t>烷、烯</a:t>
            </a:r>
            <a:endParaRPr lang="en-MY" altLang="zh-CN" sz="3000" dirty="0"/>
          </a:p>
          <a:p>
            <a:pPr marL="514350" indent="-514350">
              <a:buNone/>
            </a:pPr>
            <a:r>
              <a:rPr lang="en-MY" altLang="zh-CN" sz="3000" dirty="0"/>
              <a:t>	</a:t>
            </a:r>
            <a:r>
              <a:rPr lang="en-US" altLang="zh-CN" sz="3000" dirty="0"/>
              <a:t>C </a:t>
            </a:r>
            <a:r>
              <a:rPr lang="zh-CN" altLang="en-US" sz="3000" dirty="0"/>
              <a:t>炔、烯</a:t>
            </a:r>
            <a:r>
              <a:rPr lang="en-MY" altLang="zh-CN" sz="3000" dirty="0"/>
              <a:t>		</a:t>
            </a:r>
            <a:r>
              <a:rPr lang="en-US" altLang="zh-CN" sz="3000" dirty="0"/>
              <a:t>D </a:t>
            </a:r>
            <a:r>
              <a:rPr lang="zh-CN" altLang="en-US" sz="3000" dirty="0"/>
              <a:t>炔、烷</a:t>
            </a:r>
            <a:endParaRPr lang="en-MY" altLang="zh-CN" sz="3000" dirty="0"/>
          </a:p>
          <a:p>
            <a:pPr marL="514350" indent="-514350">
              <a:buNone/>
            </a:pPr>
            <a:r>
              <a:rPr lang="en-US" altLang="zh-CN" sz="3000" dirty="0"/>
              <a:t>Ans: C</a:t>
            </a:r>
          </a:p>
          <a:p>
            <a:pPr marL="514350" indent="-514350">
              <a:buNone/>
            </a:pPr>
            <a:r>
              <a:rPr lang="en-US" altLang="zh-CN" sz="3000" dirty="0"/>
              <a:t>5. </a:t>
            </a:r>
            <a:r>
              <a:rPr lang="zh-CN" altLang="en-US" sz="3000" dirty="0"/>
              <a:t>该烃能与</a:t>
            </a:r>
            <a:r>
              <a:rPr lang="en-US" altLang="zh-CN" sz="3000" dirty="0"/>
              <a:t>2HCl</a:t>
            </a:r>
            <a:r>
              <a:rPr lang="zh-CN" altLang="en-US" sz="3000" dirty="0"/>
              <a:t>完全加成，则该烃为炔（或二烯烃）</a:t>
            </a:r>
            <a:endParaRPr lang="en-MY" altLang="zh-CN" sz="3000" dirty="0"/>
          </a:p>
          <a:p>
            <a:pPr marL="514350" indent="-514350">
              <a:buNone/>
            </a:pPr>
            <a:r>
              <a:rPr lang="zh-CN" altLang="en-US" sz="3000" dirty="0"/>
              <a:t>炔</a:t>
            </a:r>
            <a:r>
              <a:rPr lang="en-US" altLang="zh-CN" sz="3000" dirty="0"/>
              <a:t>+ 2HCl </a:t>
            </a:r>
            <a:r>
              <a:rPr lang="en-US" altLang="zh-CN" sz="3000" dirty="0">
                <a:sym typeface="Wingdings" panose="05000000000000000000" pitchFamily="2" charset="2"/>
              </a:rPr>
              <a:t> </a:t>
            </a:r>
            <a:r>
              <a:rPr lang="zh-CN" altLang="en-US" sz="3000" dirty="0">
                <a:sym typeface="Wingdings" panose="05000000000000000000" pitchFamily="2" charset="2"/>
              </a:rPr>
              <a:t>卤代烷，</a:t>
            </a:r>
            <a:endParaRPr lang="en-MY" altLang="zh-CN" sz="3000" dirty="0">
              <a:sym typeface="Wingdings" panose="05000000000000000000" pitchFamily="2" charset="2"/>
            </a:endParaRPr>
          </a:p>
          <a:p>
            <a:pPr marL="514350" indent="-514350">
              <a:buNone/>
            </a:pPr>
            <a:r>
              <a:rPr lang="zh-CN" altLang="en-US" sz="3000" dirty="0">
                <a:sym typeface="Wingdings" panose="05000000000000000000" pitchFamily="2" charset="2"/>
              </a:rPr>
              <a:t>该卤代烷能与</a:t>
            </a:r>
            <a:r>
              <a:rPr lang="en-US" altLang="zh-CN" sz="3000" dirty="0">
                <a:sym typeface="Wingdings" panose="05000000000000000000" pitchFamily="2" charset="2"/>
              </a:rPr>
              <a:t>4Cl</a:t>
            </a:r>
            <a:r>
              <a:rPr lang="en-US" altLang="zh-CN" sz="3000" baseline="-25000" dirty="0">
                <a:sym typeface="Wingdings" panose="05000000000000000000" pitchFamily="2" charset="2"/>
              </a:rPr>
              <a:t>2</a:t>
            </a:r>
            <a:r>
              <a:rPr lang="en-US" altLang="zh-CN" sz="3000" dirty="0">
                <a:sym typeface="Wingdings" panose="05000000000000000000" pitchFamily="2" charset="2"/>
              </a:rPr>
              <a:t> </a:t>
            </a:r>
            <a:r>
              <a:rPr lang="zh-CN" altLang="en-US" sz="3000" dirty="0">
                <a:sym typeface="Wingdings" panose="05000000000000000000" pitchFamily="2" charset="2"/>
              </a:rPr>
              <a:t>发生取代反应，即该卤代烷含</a:t>
            </a:r>
            <a:r>
              <a:rPr lang="en-US" altLang="zh-CN" sz="3000" dirty="0">
                <a:sym typeface="Wingdings" panose="05000000000000000000" pitchFamily="2" charset="2"/>
              </a:rPr>
              <a:t>4H</a:t>
            </a:r>
          </a:p>
          <a:p>
            <a:pPr marL="514350" indent="-514350">
              <a:buNone/>
            </a:pPr>
            <a:r>
              <a:rPr lang="zh-CN" altLang="en-US" sz="3000" dirty="0">
                <a:sym typeface="Wingdings" panose="05000000000000000000" pitchFamily="2" charset="2"/>
              </a:rPr>
              <a:t>则原本该炔烃含</a:t>
            </a:r>
            <a:r>
              <a:rPr lang="en-US" altLang="zh-CN" sz="3000" dirty="0">
                <a:sym typeface="Wingdings" panose="05000000000000000000" pitchFamily="2" charset="2"/>
              </a:rPr>
              <a:t>2H</a:t>
            </a:r>
          </a:p>
          <a:p>
            <a:pPr marL="514350" indent="-514350">
              <a:buNone/>
            </a:pPr>
            <a:r>
              <a:rPr lang="en-US" altLang="zh-CN" sz="3000" dirty="0" err="1">
                <a:sym typeface="Wingdings" panose="05000000000000000000" pitchFamily="2" charset="2"/>
              </a:rPr>
              <a:t>Ans:B</a:t>
            </a:r>
            <a:endParaRPr lang="en-MY" altLang="zh-CN" sz="3000" dirty="0"/>
          </a:p>
          <a:p>
            <a:pPr marL="514350" indent="-514350">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39253963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6. </a:t>
                </a:r>
                <a:r>
                  <a:rPr lang="zh-CN" altLang="en-US" sz="3000" dirty="0"/>
                  <a:t>设乙炔占</a:t>
                </a:r>
                <a:r>
                  <a:rPr lang="en-US" altLang="zh-CN" sz="3000" dirty="0" err="1"/>
                  <a:t>aL</a:t>
                </a:r>
                <a:r>
                  <a:rPr lang="zh-CN" altLang="en-US" sz="3000" dirty="0"/>
                  <a:t>，乙烯占</a:t>
                </a:r>
                <a:r>
                  <a:rPr lang="en-MY" altLang="zh-CN" sz="3000" dirty="0"/>
                  <a:t>(</a:t>
                </a:r>
                <a:r>
                  <a:rPr lang="en-US" altLang="zh-CN" sz="3000" dirty="0"/>
                  <a:t>x-a)L </a:t>
                </a:r>
              </a:p>
              <a:p>
                <a:pPr marL="514350" indent="-514350">
                  <a:buNone/>
                </a:pPr>
                <a:r>
                  <a:rPr lang="en-US" altLang="zh-CN" sz="3000" dirty="0"/>
                  <a:t>C</a:t>
                </a:r>
                <a:r>
                  <a:rPr lang="en-US" altLang="zh-CN" sz="3000" baseline="-25000" dirty="0"/>
                  <a:t>2</a:t>
                </a:r>
                <a:r>
                  <a:rPr lang="en-US" altLang="zh-CN" sz="3000" dirty="0"/>
                  <a:t>H</a:t>
                </a:r>
                <a:r>
                  <a:rPr lang="en-US" altLang="zh-CN" sz="3000" baseline="-25000" dirty="0"/>
                  <a:t>4</a:t>
                </a:r>
                <a:r>
                  <a:rPr lang="en-US" altLang="zh-CN" sz="3000" dirty="0"/>
                  <a:t> + 3O</a:t>
                </a:r>
                <a:r>
                  <a:rPr lang="en-US" altLang="zh-CN" sz="3000" baseline="-25000" dirty="0"/>
                  <a:t>2</a:t>
                </a:r>
                <a:r>
                  <a:rPr lang="en-US" altLang="zh-CN" sz="3000" dirty="0"/>
                  <a:t> </a:t>
                </a:r>
                <a:r>
                  <a:rPr lang="en-US" altLang="zh-CN" sz="3000" dirty="0">
                    <a:sym typeface="Wingdings" panose="05000000000000000000" pitchFamily="2" charset="2"/>
                  </a:rPr>
                  <a:t> </a:t>
                </a:r>
                <a:r>
                  <a:rPr lang="en-MY" sz="3000" dirty="0"/>
                  <a:t> 2 CO</a:t>
                </a:r>
                <a:r>
                  <a:rPr lang="en-MY" sz="3000" baseline="-25000" dirty="0"/>
                  <a:t>2</a:t>
                </a:r>
                <a:r>
                  <a:rPr lang="en-MY" sz="3000" dirty="0"/>
                  <a:t> +  2 H</a:t>
                </a:r>
                <a:r>
                  <a:rPr lang="en-MY" sz="3000" baseline="-25000" dirty="0"/>
                  <a:t>2</a:t>
                </a:r>
                <a:r>
                  <a:rPr lang="en-MY" sz="3000" dirty="0"/>
                  <a:t>O</a:t>
                </a:r>
                <a:endParaRPr lang="en-MY" altLang="zh-CN" sz="3000" dirty="0">
                  <a:sym typeface="Wingdings" pitchFamily="2" charset="2"/>
                </a:endParaRPr>
              </a:p>
              <a:p>
                <a:pPr marL="0" indent="0">
                  <a:buNone/>
                </a:pPr>
                <a:r>
                  <a:rPr lang="en-US" altLang="zh-CN" sz="3000" dirty="0"/>
                  <a:t>   1L 	    3L</a:t>
                </a:r>
              </a:p>
              <a:p>
                <a:pPr marL="0" indent="0">
                  <a:buNone/>
                </a:pPr>
                <a:r>
                  <a:rPr lang="en-MY" altLang="zh-CN" sz="3000" dirty="0"/>
                  <a:t>(</a:t>
                </a:r>
                <a:r>
                  <a:rPr lang="en-US" altLang="zh-CN" sz="3000" dirty="0"/>
                  <a:t>x-a)L    3</a:t>
                </a:r>
                <a:r>
                  <a:rPr lang="en-MY" altLang="zh-CN" sz="3000" dirty="0"/>
                  <a:t>(</a:t>
                </a:r>
                <a:r>
                  <a:rPr lang="en-US" altLang="zh-CN" sz="3000" dirty="0"/>
                  <a:t>x-a)L </a:t>
                </a:r>
              </a:p>
              <a:p>
                <a:pPr marL="0" indent="0">
                  <a:buNone/>
                </a:pPr>
                <a:r>
                  <a:rPr lang="en-US" altLang="zh-CN" sz="3000" dirty="0"/>
                  <a:t>2C</a:t>
                </a:r>
                <a:r>
                  <a:rPr lang="en-US" altLang="zh-CN" sz="3000" baseline="-25000" dirty="0"/>
                  <a:t>2</a:t>
                </a:r>
                <a:r>
                  <a:rPr lang="en-US" altLang="zh-CN" sz="3000" dirty="0"/>
                  <a:t>H</a:t>
                </a:r>
                <a:r>
                  <a:rPr lang="en-US" altLang="zh-CN" sz="3000" baseline="-25000" dirty="0"/>
                  <a:t>2</a:t>
                </a:r>
                <a:r>
                  <a:rPr lang="en-US" altLang="zh-CN" sz="3000" dirty="0"/>
                  <a:t> + 5O</a:t>
                </a:r>
                <a:r>
                  <a:rPr lang="en-US" altLang="zh-CN" sz="3000" baseline="-25000" dirty="0"/>
                  <a:t>2</a:t>
                </a:r>
                <a:r>
                  <a:rPr lang="en-US" altLang="zh-CN" sz="3000" dirty="0"/>
                  <a:t> </a:t>
                </a:r>
                <a:r>
                  <a:rPr lang="en-US" altLang="zh-CN" sz="3000" dirty="0">
                    <a:sym typeface="Wingdings" panose="05000000000000000000" pitchFamily="2" charset="2"/>
                  </a:rPr>
                  <a:t> </a:t>
                </a:r>
                <a:r>
                  <a:rPr lang="en-MY" sz="3000" dirty="0"/>
                  <a:t> 4 CO</a:t>
                </a:r>
                <a:r>
                  <a:rPr lang="en-MY" sz="3000" baseline="-25000" dirty="0"/>
                  <a:t>2</a:t>
                </a:r>
                <a:r>
                  <a:rPr lang="en-MY" sz="3000" dirty="0"/>
                  <a:t> +  2 H</a:t>
                </a:r>
                <a:r>
                  <a:rPr lang="en-MY" sz="3000" baseline="-25000" dirty="0"/>
                  <a:t>2</a:t>
                </a:r>
                <a:r>
                  <a:rPr lang="en-MY" sz="3000" dirty="0"/>
                  <a:t>O</a:t>
                </a:r>
              </a:p>
              <a:p>
                <a:pPr marL="0" indent="0">
                  <a:buNone/>
                </a:pPr>
                <a:r>
                  <a:rPr lang="en-MY" altLang="zh-CN" sz="3000" dirty="0">
                    <a:sym typeface="Wingdings" pitchFamily="2" charset="2"/>
                  </a:rPr>
                  <a:t>   2L        5L </a:t>
                </a:r>
              </a:p>
              <a:p>
                <a:pPr marL="0" indent="0">
                  <a:buNone/>
                </a:pPr>
                <a:r>
                  <a:rPr lang="en-MY" altLang="zh-CN" sz="3000" dirty="0">
                    <a:sym typeface="Wingdings" pitchFamily="2" charset="2"/>
                  </a:rPr>
                  <a:t>  </a:t>
                </a:r>
                <a:r>
                  <a:rPr lang="en-MY" altLang="zh-CN" sz="3000" dirty="0" err="1">
                    <a:sym typeface="Wingdings" pitchFamily="2" charset="2"/>
                  </a:rPr>
                  <a:t>aL</a:t>
                </a:r>
                <a:r>
                  <a:rPr lang="en-MY" altLang="zh-CN" sz="3000" dirty="0">
                    <a:sym typeface="Wingdings" pitchFamily="2" charset="2"/>
                  </a:rPr>
                  <a:t> 	    </a:t>
                </a:r>
                <a14:m>
                  <m:oMath xmlns:m="http://schemas.openxmlformats.org/officeDocument/2006/math">
                    <m:f>
                      <m:fPr>
                        <m:ctrlPr>
                          <a:rPr lang="en-MY" altLang="zh-CN" sz="3000" i="1" smtClean="0">
                            <a:latin typeface="Cambria Math" panose="02040503050406030204" pitchFamily="18" charset="0"/>
                            <a:sym typeface="Wingdings" pitchFamily="2" charset="2"/>
                          </a:rPr>
                        </m:ctrlPr>
                      </m:fPr>
                      <m:num>
                        <m:r>
                          <a:rPr lang="en-MY" altLang="zh-CN" sz="3000" b="0" i="1" smtClean="0">
                            <a:latin typeface="Cambria Math" panose="02040503050406030204" pitchFamily="18" charset="0"/>
                            <a:sym typeface="Wingdings" pitchFamily="2" charset="2"/>
                          </a:rPr>
                          <m:t>5</m:t>
                        </m:r>
                        <m:r>
                          <a:rPr lang="en-MY" altLang="zh-CN" sz="3000" b="0" i="1" smtClean="0">
                            <a:latin typeface="Cambria Math" panose="02040503050406030204" pitchFamily="18" charset="0"/>
                            <a:sym typeface="Wingdings" pitchFamily="2" charset="2"/>
                          </a:rPr>
                          <m:t>𝑎</m:t>
                        </m:r>
                      </m:num>
                      <m:den>
                        <m:r>
                          <a:rPr lang="en-MY" altLang="zh-CN" sz="3000" b="0" i="1" smtClean="0">
                            <a:latin typeface="Cambria Math" panose="02040503050406030204" pitchFamily="18" charset="0"/>
                            <a:sym typeface="Wingdings" pitchFamily="2" charset="2"/>
                          </a:rPr>
                          <m:t>2</m:t>
                        </m:r>
                      </m:den>
                    </m:f>
                  </m:oMath>
                </a14:m>
                <a:r>
                  <a:rPr lang="en-MY" altLang="zh-CN" sz="3000" dirty="0">
                    <a:sym typeface="Wingdings" pitchFamily="2" charset="2"/>
                  </a:rPr>
                  <a:t>L</a:t>
                </a:r>
              </a:p>
              <a:p>
                <a:pPr marL="0" indent="0">
                  <a:buNone/>
                </a:pPr>
                <a:r>
                  <a:rPr lang="en-MY" altLang="zh-CN" sz="3000" dirty="0">
                    <a:sym typeface="Wingdings" pitchFamily="2" charset="2"/>
                  </a:rPr>
                  <a:t>3(x-a) + 5a/2 =y</a:t>
                </a:r>
              </a:p>
              <a:p>
                <a:pPr marL="0" indent="0">
                  <a:buNone/>
                </a:pPr>
                <a:r>
                  <a:rPr lang="en-MY" altLang="zh-CN" sz="3000" dirty="0">
                    <a:sym typeface="Wingdings" pitchFamily="2" charset="2"/>
                  </a:rPr>
                  <a:t>       6x-6a+5a=2y</a:t>
                </a:r>
              </a:p>
              <a:p>
                <a:pPr marL="0" indent="0">
                  <a:buNone/>
                </a:pPr>
                <a:r>
                  <a:rPr lang="en-MY" altLang="zh-CN" sz="3000" dirty="0">
                    <a:sym typeface="Wingdings" pitchFamily="2" charset="2"/>
                  </a:rPr>
                  <a:t>	        a = 6x-2y</a:t>
                </a:r>
              </a:p>
              <a:p>
                <a:pPr marL="0" indent="0">
                  <a:buNone/>
                </a:pPr>
                <a:endParaRPr lang="en-US" altLang="zh-CN"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14" t="-1767" b="-728"/>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
        <p:nvSpPr>
          <p:cNvPr id="2" name="Rectangle: Rounded Corners 1">
            <a:extLst>
              <a:ext uri="{FF2B5EF4-FFF2-40B4-BE49-F238E27FC236}">
                <a16:creationId xmlns:a16="http://schemas.microsoft.com/office/drawing/2014/main" id="{FC1F8E4B-4D4C-41FD-AE51-FD5DB641019A}"/>
              </a:ext>
            </a:extLst>
          </p:cNvPr>
          <p:cNvSpPr/>
          <p:nvPr/>
        </p:nvSpPr>
        <p:spPr>
          <a:xfrm>
            <a:off x="1524000" y="2667000"/>
            <a:ext cx="1295400" cy="4572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MY"/>
          </a:p>
        </p:txBody>
      </p:sp>
      <p:sp>
        <p:nvSpPr>
          <p:cNvPr id="7" name="Rectangle: Rounded Corners 6">
            <a:extLst>
              <a:ext uri="{FF2B5EF4-FFF2-40B4-BE49-F238E27FC236}">
                <a16:creationId xmlns:a16="http://schemas.microsoft.com/office/drawing/2014/main" id="{F9FA0F5E-BDB4-4CF4-8116-D5CCE1FF28DA}"/>
              </a:ext>
            </a:extLst>
          </p:cNvPr>
          <p:cNvSpPr/>
          <p:nvPr/>
        </p:nvSpPr>
        <p:spPr>
          <a:xfrm>
            <a:off x="1219200" y="4381500"/>
            <a:ext cx="1295400" cy="7239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MY"/>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127E5AE-9999-4EC3-AF66-40317C3423C6}"/>
                  </a:ext>
                </a:extLst>
              </p:cNvPr>
              <p:cNvSpPr txBox="1"/>
              <p:nvPr/>
            </p:nvSpPr>
            <p:spPr>
              <a:xfrm>
                <a:off x="4800600" y="3835681"/>
                <a:ext cx="1745799" cy="9357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MY" sz="3200" i="1" smtClean="0">
                              <a:latin typeface="Cambria Math" panose="02040503050406030204" pitchFamily="18" charset="0"/>
                            </a:rPr>
                          </m:ctrlPr>
                        </m:fPr>
                        <m:num>
                          <m:r>
                            <a:rPr lang="en-MY" sz="3200" b="0" i="1" smtClean="0">
                              <a:latin typeface="Cambria Math" panose="02040503050406030204" pitchFamily="18" charset="0"/>
                            </a:rPr>
                            <m:t>𝑥</m:t>
                          </m:r>
                          <m:r>
                            <a:rPr lang="en-MY" sz="3200" b="0" i="1" smtClean="0">
                              <a:latin typeface="Cambria Math" panose="02040503050406030204" pitchFamily="18" charset="0"/>
                            </a:rPr>
                            <m:t>−</m:t>
                          </m:r>
                          <m:r>
                            <a:rPr lang="en-MY" sz="3200" b="0" i="1" smtClean="0">
                              <a:latin typeface="Cambria Math" panose="02040503050406030204" pitchFamily="18" charset="0"/>
                            </a:rPr>
                            <m:t>𝑎</m:t>
                          </m:r>
                        </m:num>
                        <m:den>
                          <m:r>
                            <a:rPr lang="en-MY" sz="3200" b="0" i="1" smtClean="0">
                              <a:latin typeface="Cambria Math" panose="02040503050406030204" pitchFamily="18" charset="0"/>
                            </a:rPr>
                            <m:t>𝑎</m:t>
                          </m:r>
                        </m:den>
                      </m:f>
                      <m:r>
                        <a:rPr lang="en-MY" sz="3200" b="0" i="1" smtClean="0">
                          <a:latin typeface="Cambria Math" panose="02040503050406030204" pitchFamily="18" charset="0"/>
                        </a:rPr>
                        <m:t>= </m:t>
                      </m:r>
                    </m:oMath>
                  </m:oMathPara>
                </a14:m>
                <a:endParaRPr lang="en-MY" sz="3200" dirty="0"/>
              </a:p>
            </p:txBody>
          </p:sp>
        </mc:Choice>
        <mc:Fallback xmlns="">
          <p:sp>
            <p:nvSpPr>
              <p:cNvPr id="4" name="TextBox 3">
                <a:extLst>
                  <a:ext uri="{FF2B5EF4-FFF2-40B4-BE49-F238E27FC236}">
                    <a16:creationId xmlns:a16="http://schemas.microsoft.com/office/drawing/2014/main" id="{9127E5AE-9999-4EC3-AF66-40317C3423C6}"/>
                  </a:ext>
                </a:extLst>
              </p:cNvPr>
              <p:cNvSpPr txBox="1">
                <a:spLocks noRot="1" noChangeAspect="1" noMove="1" noResize="1" noEditPoints="1" noAdjustHandles="1" noChangeArrowheads="1" noChangeShapeType="1" noTextEdit="1"/>
              </p:cNvSpPr>
              <p:nvPr/>
            </p:nvSpPr>
            <p:spPr>
              <a:xfrm>
                <a:off x="4800600" y="3835681"/>
                <a:ext cx="1745799" cy="935769"/>
              </a:xfrm>
              <a:prstGeom prst="rect">
                <a:avLst/>
              </a:prstGeom>
              <a:blipFill>
                <a:blip r:embed="rId4"/>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7F6A96-6458-413A-BE47-37A58CCB3A7B}"/>
                  </a:ext>
                </a:extLst>
              </p:cNvPr>
              <p:cNvSpPr txBox="1"/>
              <p:nvPr/>
            </p:nvSpPr>
            <p:spPr>
              <a:xfrm>
                <a:off x="6553200" y="3835680"/>
                <a:ext cx="2496837" cy="11016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MY" sz="3200" i="1" smtClean="0">
                              <a:latin typeface="Cambria Math" panose="02040503050406030204" pitchFamily="18" charset="0"/>
                            </a:rPr>
                          </m:ctrlPr>
                        </m:fPr>
                        <m:num>
                          <m:r>
                            <a:rPr lang="en-MY" sz="3200" b="0" i="1" smtClean="0">
                              <a:latin typeface="Cambria Math" panose="02040503050406030204" pitchFamily="18" charset="0"/>
                            </a:rPr>
                            <m:t>𝑥</m:t>
                          </m:r>
                          <m:r>
                            <a:rPr lang="en-MY" sz="3200" b="0" i="1" smtClean="0">
                              <a:latin typeface="Cambria Math" panose="02040503050406030204" pitchFamily="18" charset="0"/>
                            </a:rPr>
                            <m:t>−6</m:t>
                          </m:r>
                          <m:r>
                            <a:rPr lang="en-MY" sz="3200" b="0" i="1" smtClean="0">
                              <a:latin typeface="Cambria Math" panose="02040503050406030204" pitchFamily="18" charset="0"/>
                            </a:rPr>
                            <m:t>𝑥</m:t>
                          </m:r>
                          <m:r>
                            <a:rPr lang="en-MY" sz="3200" b="0" i="1" smtClean="0">
                              <a:latin typeface="Cambria Math" panose="02040503050406030204" pitchFamily="18" charset="0"/>
                            </a:rPr>
                            <m:t>+2</m:t>
                          </m:r>
                          <m:r>
                            <a:rPr lang="en-MY" sz="3200" b="0" i="1" smtClean="0">
                              <a:latin typeface="Cambria Math" panose="02040503050406030204" pitchFamily="18" charset="0"/>
                            </a:rPr>
                            <m:t>𝑦</m:t>
                          </m:r>
                        </m:num>
                        <m:den>
                          <m:r>
                            <a:rPr lang="en-MY" sz="3200" b="0" i="1" smtClean="0">
                              <a:latin typeface="Cambria Math" panose="02040503050406030204" pitchFamily="18" charset="0"/>
                            </a:rPr>
                            <m:t>6</m:t>
                          </m:r>
                          <m:r>
                            <a:rPr lang="en-MY" sz="3200" b="0" i="1" smtClean="0">
                              <a:latin typeface="Cambria Math" panose="02040503050406030204" pitchFamily="18" charset="0"/>
                            </a:rPr>
                            <m:t>𝑥</m:t>
                          </m:r>
                          <m:r>
                            <a:rPr lang="en-MY" sz="3200" b="0" i="1" smtClean="0">
                              <a:latin typeface="Cambria Math" panose="02040503050406030204" pitchFamily="18" charset="0"/>
                            </a:rPr>
                            <m:t>−2</m:t>
                          </m:r>
                          <m:r>
                            <a:rPr lang="en-MY" sz="3200" b="0" i="1" smtClean="0">
                              <a:latin typeface="Cambria Math" panose="02040503050406030204" pitchFamily="18" charset="0"/>
                            </a:rPr>
                            <m:t>𝑦</m:t>
                          </m:r>
                        </m:den>
                      </m:f>
                      <m:r>
                        <a:rPr lang="en-MY" sz="3200" b="0" i="1" smtClean="0">
                          <a:latin typeface="Cambria Math" panose="02040503050406030204" pitchFamily="18" charset="0"/>
                        </a:rPr>
                        <m:t> </m:t>
                      </m:r>
                    </m:oMath>
                  </m:oMathPara>
                </a14:m>
                <a:endParaRPr lang="en-MY" sz="3200" dirty="0"/>
              </a:p>
            </p:txBody>
          </p:sp>
        </mc:Choice>
        <mc:Fallback xmlns="">
          <p:sp>
            <p:nvSpPr>
              <p:cNvPr id="8" name="TextBox 7">
                <a:extLst>
                  <a:ext uri="{FF2B5EF4-FFF2-40B4-BE49-F238E27FC236}">
                    <a16:creationId xmlns:a16="http://schemas.microsoft.com/office/drawing/2014/main" id="{687F6A96-6458-413A-BE47-37A58CCB3A7B}"/>
                  </a:ext>
                </a:extLst>
              </p:cNvPr>
              <p:cNvSpPr txBox="1">
                <a:spLocks noRot="1" noChangeAspect="1" noMove="1" noResize="1" noEditPoints="1" noAdjustHandles="1" noChangeArrowheads="1" noChangeShapeType="1" noTextEdit="1"/>
              </p:cNvSpPr>
              <p:nvPr/>
            </p:nvSpPr>
            <p:spPr>
              <a:xfrm>
                <a:off x="6553200" y="3835680"/>
                <a:ext cx="2496837" cy="1101648"/>
              </a:xfrm>
              <a:prstGeom prst="rect">
                <a:avLst/>
              </a:prstGeom>
              <a:blipFill>
                <a:blip r:embed="rId5"/>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1FAA9B-956E-444A-AE6E-365DBE235846}"/>
                  </a:ext>
                </a:extLst>
              </p:cNvPr>
              <p:cNvSpPr txBox="1"/>
              <p:nvPr/>
            </p:nvSpPr>
            <p:spPr>
              <a:xfrm>
                <a:off x="5867400" y="4876800"/>
                <a:ext cx="2676823" cy="11116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MY" sz="3200" b="0" i="1" smtClean="0">
                          <a:latin typeface="Cambria Math" panose="02040503050406030204" pitchFamily="18" charset="0"/>
                        </a:rPr>
                        <m:t>=</m:t>
                      </m:r>
                      <m:r>
                        <a:rPr lang="zh-CN" altLang="en-US" sz="3200" b="0" i="1">
                          <a:latin typeface="Cambria Math" panose="02040503050406030204" pitchFamily="18" charset="0"/>
                        </a:rPr>
                        <m:t>　</m:t>
                      </m:r>
                      <m:f>
                        <m:fPr>
                          <m:ctrlPr>
                            <a:rPr lang="en-MY" sz="3200" i="1" smtClean="0">
                              <a:latin typeface="Cambria Math" panose="02040503050406030204" pitchFamily="18" charset="0"/>
                            </a:rPr>
                          </m:ctrlPr>
                        </m:fPr>
                        <m:num>
                          <m:r>
                            <a:rPr lang="en-MY" sz="3200" b="0" i="1" smtClean="0">
                              <a:latin typeface="Cambria Math" panose="02040503050406030204" pitchFamily="18" charset="0"/>
                            </a:rPr>
                            <m:t>2</m:t>
                          </m:r>
                          <m:r>
                            <a:rPr lang="en-MY" sz="3200" b="0" i="1" smtClean="0">
                              <a:latin typeface="Cambria Math" panose="02040503050406030204" pitchFamily="18" charset="0"/>
                            </a:rPr>
                            <m:t>𝑦</m:t>
                          </m:r>
                          <m:r>
                            <a:rPr lang="en-MY" sz="3200" b="0" i="1" smtClean="0">
                              <a:latin typeface="Cambria Math" panose="02040503050406030204" pitchFamily="18" charset="0"/>
                            </a:rPr>
                            <m:t>−5</m:t>
                          </m:r>
                          <m:r>
                            <a:rPr lang="en-MY" sz="3200" b="0" i="1" smtClean="0">
                              <a:latin typeface="Cambria Math" panose="02040503050406030204" pitchFamily="18" charset="0"/>
                            </a:rPr>
                            <m:t>𝑥</m:t>
                          </m:r>
                        </m:num>
                        <m:den>
                          <m:r>
                            <a:rPr lang="en-MY" sz="3200" b="0" i="1" smtClean="0">
                              <a:latin typeface="Cambria Math" panose="02040503050406030204" pitchFamily="18" charset="0"/>
                            </a:rPr>
                            <m:t>6</m:t>
                          </m:r>
                          <m:r>
                            <a:rPr lang="en-MY" sz="3200" b="0" i="1" smtClean="0">
                              <a:latin typeface="Cambria Math" panose="02040503050406030204" pitchFamily="18" charset="0"/>
                            </a:rPr>
                            <m:t>𝑥</m:t>
                          </m:r>
                          <m:r>
                            <a:rPr lang="en-MY" sz="3200" b="0" i="1" smtClean="0">
                              <a:latin typeface="Cambria Math" panose="02040503050406030204" pitchFamily="18" charset="0"/>
                            </a:rPr>
                            <m:t>−2</m:t>
                          </m:r>
                          <m:r>
                            <a:rPr lang="en-MY" sz="3200" b="0" i="1" smtClean="0">
                              <a:latin typeface="Cambria Math" panose="02040503050406030204" pitchFamily="18" charset="0"/>
                            </a:rPr>
                            <m:t>𝑦</m:t>
                          </m:r>
                        </m:den>
                      </m:f>
                      <m:r>
                        <a:rPr lang="en-MY" sz="3200" b="0" i="1" smtClean="0">
                          <a:latin typeface="Cambria Math" panose="02040503050406030204" pitchFamily="18" charset="0"/>
                        </a:rPr>
                        <m:t> </m:t>
                      </m:r>
                    </m:oMath>
                  </m:oMathPara>
                </a14:m>
                <a:endParaRPr lang="en-MY" sz="3200" dirty="0"/>
              </a:p>
            </p:txBody>
          </p:sp>
        </mc:Choice>
        <mc:Fallback xmlns="">
          <p:sp>
            <p:nvSpPr>
              <p:cNvPr id="9" name="TextBox 8">
                <a:extLst>
                  <a:ext uri="{FF2B5EF4-FFF2-40B4-BE49-F238E27FC236}">
                    <a16:creationId xmlns:a16="http://schemas.microsoft.com/office/drawing/2014/main" id="{301FAA9B-956E-444A-AE6E-365DBE235846}"/>
                  </a:ext>
                </a:extLst>
              </p:cNvPr>
              <p:cNvSpPr txBox="1">
                <a:spLocks noRot="1" noChangeAspect="1" noMove="1" noResize="1" noEditPoints="1" noAdjustHandles="1" noChangeArrowheads="1" noChangeShapeType="1" noTextEdit="1"/>
              </p:cNvSpPr>
              <p:nvPr/>
            </p:nvSpPr>
            <p:spPr>
              <a:xfrm>
                <a:off x="5867400" y="4876800"/>
                <a:ext cx="2676823" cy="1111651"/>
              </a:xfrm>
              <a:prstGeom prst="rect">
                <a:avLst/>
              </a:prstGeom>
              <a:blipFill>
                <a:blip r:embed="rId6"/>
                <a:stretch>
                  <a:fillRect/>
                </a:stretch>
              </a:blipFill>
            </p:spPr>
            <p:txBody>
              <a:bodyPr/>
              <a:lstStyle/>
              <a:p>
                <a:r>
                  <a:rPr lang="en-MY">
                    <a:noFill/>
                  </a:rPr>
                  <a:t> </a:t>
                </a:r>
              </a:p>
            </p:txBody>
          </p:sp>
        </mc:Fallback>
      </mc:AlternateContent>
      <p:sp>
        <p:nvSpPr>
          <p:cNvPr id="10" name="TextBox 9">
            <a:extLst>
              <a:ext uri="{FF2B5EF4-FFF2-40B4-BE49-F238E27FC236}">
                <a16:creationId xmlns:a16="http://schemas.microsoft.com/office/drawing/2014/main" id="{1223DCAF-9F34-4CE1-9125-22F03DD47200}"/>
              </a:ext>
            </a:extLst>
          </p:cNvPr>
          <p:cNvSpPr txBox="1"/>
          <p:nvPr/>
        </p:nvSpPr>
        <p:spPr>
          <a:xfrm>
            <a:off x="5203160" y="6080977"/>
            <a:ext cx="1247457" cy="553998"/>
          </a:xfrm>
          <a:prstGeom prst="rect">
            <a:avLst/>
          </a:prstGeom>
          <a:noFill/>
        </p:spPr>
        <p:txBody>
          <a:bodyPr wrap="none" rtlCol="0">
            <a:spAutoFit/>
          </a:bodyPr>
          <a:lstStyle/>
          <a:p>
            <a:r>
              <a:rPr lang="en-MY" sz="3000" dirty="0"/>
              <a:t>Ans:</a:t>
            </a:r>
            <a:r>
              <a:rPr lang="zh-CN" altLang="en-US" sz="3000" dirty="0"/>
              <a:t>Ｃ</a:t>
            </a:r>
            <a:endParaRPr lang="en-MY" sz="3000" dirty="0"/>
          </a:p>
        </p:txBody>
      </p:sp>
    </p:spTree>
    <p:extLst>
      <p:ext uri="{BB962C8B-B14F-4D97-AF65-F5344CB8AC3E}">
        <p14:creationId xmlns:p14="http://schemas.microsoft.com/office/powerpoint/2010/main" val="31099554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7"/>
                                        </p:tgtEl>
                                      </p:cBhvr>
                                    </p:animEffect>
                                    <p:set>
                                      <p:cBhvr>
                                        <p:cTn id="47" dur="1" fill="hold">
                                          <p:stCondLst>
                                            <p:cond delay="499"/>
                                          </p:stCondLst>
                                        </p:cTn>
                                        <p:tgtEl>
                                          <p:spTgt spid="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blinds(horizontal)">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blinds(horizontal)">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blinds(horizontal)">
                                      <p:cBhvr>
                                        <p:cTn id="62" dur="500"/>
                                        <p:tgtEl>
                                          <p:spTgt spid="3">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animBg="1"/>
      <p:bldP spid="7" grpId="0" animBg="1"/>
      <p:bldP spid="4" grpId="0"/>
      <p:bldP spid="8" grpId="0"/>
      <p:bldP spid="9"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7. n(CO</a:t>
            </a:r>
            <a:r>
              <a:rPr lang="en-US" altLang="zh-CN" sz="3000" baseline="-25000" dirty="0"/>
              <a:t>2</a:t>
            </a:r>
            <a:r>
              <a:rPr lang="en-US" altLang="zh-CN" sz="3000" dirty="0"/>
              <a:t>) : n(H</a:t>
            </a:r>
            <a:r>
              <a:rPr lang="en-US" altLang="zh-CN" sz="3000" baseline="-25000" dirty="0"/>
              <a:t>2</a:t>
            </a:r>
            <a:r>
              <a:rPr lang="en-US" altLang="zh-CN" sz="3000" dirty="0"/>
              <a:t>O) = 5:4</a:t>
            </a:r>
          </a:p>
          <a:p>
            <a:pPr marL="514350" indent="-514350">
              <a:buNone/>
            </a:pPr>
            <a:r>
              <a:rPr lang="en-US" altLang="zh-CN" sz="3000" dirty="0"/>
              <a:t>	</a:t>
            </a:r>
            <a:r>
              <a:rPr lang="en-US" altLang="zh-CN" sz="3000" dirty="0" err="1"/>
              <a:t>n</a:t>
            </a:r>
            <a:r>
              <a:rPr lang="en-US" altLang="zh-CN" sz="3000" baseline="-25000" dirty="0" err="1"/>
              <a:t>C</a:t>
            </a:r>
            <a:r>
              <a:rPr lang="en-US" altLang="zh-CN" sz="3000" dirty="0"/>
              <a:t> :</a:t>
            </a:r>
            <a:r>
              <a:rPr lang="en-US" altLang="zh-CN" sz="3000" dirty="0" err="1"/>
              <a:t>n</a:t>
            </a:r>
            <a:r>
              <a:rPr lang="en-US" altLang="zh-CN" sz="3000" baseline="-25000" dirty="0" err="1"/>
              <a:t>H</a:t>
            </a:r>
            <a:r>
              <a:rPr lang="en-US" altLang="zh-CN" sz="3000" dirty="0"/>
              <a:t> = 5:8</a:t>
            </a:r>
          </a:p>
          <a:p>
            <a:pPr marL="514350" indent="-514350">
              <a:buNone/>
            </a:pPr>
            <a:r>
              <a:rPr lang="en-US" altLang="zh-CN" sz="3000" dirty="0"/>
              <a:t>C</a:t>
            </a:r>
            <a:r>
              <a:rPr lang="en-US" altLang="zh-CN" sz="3000" baseline="-25000" dirty="0"/>
              <a:t>5</a:t>
            </a:r>
            <a:r>
              <a:rPr lang="en-US" altLang="zh-CN" sz="3000" dirty="0"/>
              <a:t>H</a:t>
            </a:r>
            <a:r>
              <a:rPr lang="en-US" altLang="zh-CN" sz="3000" baseline="-25000" dirty="0"/>
              <a:t>8</a:t>
            </a:r>
            <a:r>
              <a:rPr lang="en-US" altLang="zh-CN" sz="3000" dirty="0"/>
              <a:t> </a:t>
            </a:r>
            <a:r>
              <a:rPr lang="zh-CN" altLang="en-US" sz="3000" dirty="0"/>
              <a:t>戊炔含三种炔的同分异构体</a:t>
            </a:r>
            <a:endParaRPr lang="en-US" altLang="zh-CN" sz="3000" dirty="0"/>
          </a:p>
          <a:p>
            <a:pPr marL="514350" indent="-514350">
              <a:buNone/>
            </a:pPr>
            <a:r>
              <a:rPr lang="en-US" altLang="zh-CN" sz="3000" dirty="0"/>
              <a:t>Ans: A</a:t>
            </a:r>
          </a:p>
          <a:p>
            <a:pPr marL="514350" indent="-514350">
              <a:buNone/>
            </a:pPr>
            <a:r>
              <a:rPr lang="en-US" altLang="zh-CN" sz="3000" dirty="0"/>
              <a:t>8. 1mol </a:t>
            </a:r>
            <a:r>
              <a:rPr lang="zh-CN" altLang="en-US" sz="3000" dirty="0"/>
              <a:t>炔 </a:t>
            </a:r>
            <a:r>
              <a:rPr lang="en-US" altLang="zh-CN" sz="3000" dirty="0"/>
              <a:t>+ 2mol H</a:t>
            </a:r>
            <a:r>
              <a:rPr lang="en-US" altLang="zh-CN" sz="3000" baseline="-25000" dirty="0"/>
              <a:t>2</a:t>
            </a:r>
            <a:r>
              <a:rPr lang="en-US" altLang="zh-CN" sz="3000" dirty="0"/>
              <a:t> </a:t>
            </a:r>
          </a:p>
          <a:p>
            <a:pPr marL="514350" indent="-514350">
              <a:buNone/>
            </a:pPr>
            <a:r>
              <a:rPr lang="en-US" altLang="zh-CN" sz="3000" dirty="0"/>
              <a:t>	 50mL        100mL </a:t>
            </a:r>
          </a:p>
          <a:p>
            <a:pPr marL="514350" indent="-514350">
              <a:buNone/>
            </a:pPr>
            <a:r>
              <a:rPr lang="zh-CN" altLang="en-US" sz="3000" dirty="0"/>
              <a:t>烷占</a:t>
            </a:r>
            <a:r>
              <a:rPr lang="en-US" altLang="zh-CN" sz="3000" dirty="0"/>
              <a:t>150mL </a:t>
            </a:r>
            <a:r>
              <a:rPr lang="zh-CN" altLang="en-US" sz="3000" dirty="0"/>
              <a:t>、炔占</a:t>
            </a:r>
            <a:r>
              <a:rPr lang="en-US" altLang="zh-CN" sz="3000" dirty="0"/>
              <a:t>50mL</a:t>
            </a:r>
          </a:p>
          <a:p>
            <a:pPr marL="514350" indent="-514350">
              <a:buNone/>
            </a:pPr>
            <a:r>
              <a:rPr lang="en-US" altLang="zh-CN" sz="3000" dirty="0"/>
              <a:t>Ans: D</a:t>
            </a:r>
          </a:p>
          <a:p>
            <a:pPr marL="514350" indent="-514350">
              <a:buNone/>
            </a:pPr>
            <a:endParaRPr lang="en-US" altLang="zh-CN" sz="3000" dirty="0"/>
          </a:p>
          <a:p>
            <a:pPr marL="514350" indent="-514350">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
        <p:nvSpPr>
          <p:cNvPr id="8" name="Rectangle: Rounded Corners 7">
            <a:extLst>
              <a:ext uri="{FF2B5EF4-FFF2-40B4-BE49-F238E27FC236}">
                <a16:creationId xmlns:a16="http://schemas.microsoft.com/office/drawing/2014/main" id="{2EC9AA9E-C58C-40F1-A1D1-F65BBB8CEC5C}"/>
              </a:ext>
            </a:extLst>
          </p:cNvPr>
          <p:cNvSpPr/>
          <p:nvPr/>
        </p:nvSpPr>
        <p:spPr>
          <a:xfrm>
            <a:off x="762000" y="3810000"/>
            <a:ext cx="1295400" cy="4572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MY"/>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blinds(horizontal)">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MY" altLang="zh-CN" sz="3000" dirty="0"/>
                  <a:t>9. </a:t>
                </a:r>
                <a:r>
                  <a:rPr lang="zh-CN" altLang="en-US" sz="3000" dirty="0"/>
                  <a:t>设混合气体的分子式为</a:t>
                </a:r>
                <a:r>
                  <a:rPr lang="en-US" altLang="zh-CN" sz="3000" dirty="0" err="1"/>
                  <a:t>C</a:t>
                </a:r>
                <a:r>
                  <a:rPr lang="en-US" altLang="zh-CN" sz="3000" baseline="-25000" dirty="0" err="1"/>
                  <a:t>x</a:t>
                </a:r>
                <a:r>
                  <a:rPr lang="en-US" altLang="zh-CN" sz="3000" dirty="0" err="1"/>
                  <a:t>H</a:t>
                </a:r>
                <a:r>
                  <a:rPr lang="en-US" altLang="zh-CN" sz="3000" baseline="-25000" dirty="0" err="1"/>
                  <a:t>y</a:t>
                </a:r>
                <a:endParaRPr lang="en-US" altLang="zh-CN" sz="3000" dirty="0"/>
              </a:p>
              <a:p>
                <a:pPr marL="514350" indent="-514350">
                  <a:buNone/>
                </a:pPr>
                <a:r>
                  <a:rPr lang="en-US" altLang="zh-CN" sz="3000" dirty="0"/>
                  <a:t>	   </a:t>
                </a:r>
                <a:r>
                  <a:rPr lang="en-US" altLang="zh-CN" sz="3000" dirty="0" err="1"/>
                  <a:t>C</a:t>
                </a:r>
                <a:r>
                  <a:rPr lang="en-US" altLang="zh-CN" sz="3000" baseline="-25000" dirty="0" err="1"/>
                  <a:t>x</a:t>
                </a:r>
                <a:r>
                  <a:rPr lang="en-US" altLang="zh-CN" sz="3000" dirty="0" err="1"/>
                  <a:t>H</a:t>
                </a:r>
                <a:r>
                  <a:rPr lang="en-US" altLang="zh-CN" sz="3000" baseline="-25000" dirty="0" err="1"/>
                  <a:t>y</a:t>
                </a:r>
                <a:r>
                  <a:rPr lang="en-US" altLang="zh-CN" sz="3000" dirty="0"/>
                  <a:t> +    (x+</a:t>
                </a:r>
                <a14:m>
                  <m:oMath xmlns:m="http://schemas.openxmlformats.org/officeDocument/2006/math">
                    <m:f>
                      <m:fPr>
                        <m:ctrlPr>
                          <a:rPr lang="en-US" altLang="zh-CN" sz="3000" i="1" smtClean="0">
                            <a:latin typeface="Cambria Math" panose="02040503050406030204" pitchFamily="18" charset="0"/>
                          </a:rPr>
                        </m:ctrlPr>
                      </m:fPr>
                      <m:num>
                        <m:r>
                          <a:rPr lang="en-MY" altLang="zh-CN" sz="3000" b="0" i="1" smtClean="0">
                            <a:latin typeface="Cambria Math" panose="02040503050406030204" pitchFamily="18" charset="0"/>
                          </a:rPr>
                          <m:t>𝑦</m:t>
                        </m:r>
                      </m:num>
                      <m:den>
                        <m:r>
                          <a:rPr lang="en-MY" altLang="zh-CN" sz="3000" b="0" i="1" smtClean="0">
                            <a:latin typeface="Cambria Math" panose="02040503050406030204" pitchFamily="18" charset="0"/>
                          </a:rPr>
                          <m:t>4</m:t>
                        </m:r>
                      </m:den>
                    </m:f>
                  </m:oMath>
                </a14:m>
                <a:r>
                  <a:rPr lang="en-US" altLang="zh-CN" sz="3000" dirty="0"/>
                  <a:t> ) O</a:t>
                </a:r>
                <a:r>
                  <a:rPr lang="en-US" altLang="zh-CN" sz="3000" baseline="-25000" dirty="0"/>
                  <a:t>2</a:t>
                </a:r>
                <a:r>
                  <a:rPr lang="en-US" altLang="zh-CN" sz="3000" dirty="0"/>
                  <a:t> </a:t>
                </a:r>
                <a:r>
                  <a:rPr lang="en-US" altLang="zh-CN" sz="3000" dirty="0">
                    <a:sym typeface="Wingdings" pitchFamily="2" charset="2"/>
                  </a:rPr>
                  <a:t>  x CO</a:t>
                </a:r>
                <a:r>
                  <a:rPr lang="en-US" altLang="zh-CN" sz="3000" baseline="-25000" dirty="0">
                    <a:sym typeface="Wingdings" pitchFamily="2" charset="2"/>
                  </a:rPr>
                  <a:t>2</a:t>
                </a:r>
                <a:r>
                  <a:rPr lang="en-US" altLang="zh-CN" sz="3000" dirty="0">
                    <a:sym typeface="Wingdings" pitchFamily="2" charset="2"/>
                  </a:rPr>
                  <a:t> +   </a:t>
                </a:r>
                <a14:m>
                  <m:oMath xmlns:m="http://schemas.openxmlformats.org/officeDocument/2006/math">
                    <m:f>
                      <m:fPr>
                        <m:ctrlPr>
                          <a:rPr lang="en-US" altLang="zh-CN" sz="3000" i="1" smtClean="0">
                            <a:latin typeface="Cambria Math" panose="02040503050406030204" pitchFamily="18" charset="0"/>
                            <a:sym typeface="Wingdings" pitchFamily="2" charset="2"/>
                          </a:rPr>
                        </m:ctrlPr>
                      </m:fPr>
                      <m:num>
                        <m:r>
                          <a:rPr lang="en-MY" altLang="zh-CN" sz="3000" b="0" i="1" smtClean="0">
                            <a:latin typeface="Cambria Math" panose="02040503050406030204" pitchFamily="18" charset="0"/>
                            <a:sym typeface="Wingdings" pitchFamily="2" charset="2"/>
                          </a:rPr>
                          <m:t>𝑦</m:t>
                        </m:r>
                      </m:num>
                      <m:den>
                        <m:r>
                          <a:rPr lang="en-MY" altLang="zh-CN" sz="3000" b="0" i="1" smtClean="0">
                            <a:latin typeface="Cambria Math" panose="02040503050406030204" pitchFamily="18" charset="0"/>
                            <a:sym typeface="Wingdings" pitchFamily="2" charset="2"/>
                          </a:rPr>
                          <m:t>2</m:t>
                        </m:r>
                      </m:den>
                    </m:f>
                  </m:oMath>
                </a14:m>
                <a:r>
                  <a:rPr lang="en-US" altLang="zh-CN" sz="3000" dirty="0">
                    <a:sym typeface="Wingdings" pitchFamily="2" charset="2"/>
                  </a:rPr>
                  <a:t>   H</a:t>
                </a:r>
                <a:r>
                  <a:rPr lang="en-US" altLang="zh-CN" sz="3000" baseline="-25000" dirty="0">
                    <a:sym typeface="Wingdings" pitchFamily="2" charset="2"/>
                  </a:rPr>
                  <a:t>2</a:t>
                </a:r>
                <a:r>
                  <a:rPr lang="en-US" altLang="zh-CN" sz="3000" dirty="0">
                    <a:sym typeface="Wingdings" pitchFamily="2" charset="2"/>
                  </a:rPr>
                  <a:t>O </a:t>
                </a:r>
              </a:p>
              <a:p>
                <a:pPr marL="514350" indent="-514350">
                  <a:buNone/>
                </a:pPr>
                <a:r>
                  <a:rPr lang="zh-CN" altLang="en-US" sz="3000" dirty="0">
                    <a:sym typeface="Wingdings" pitchFamily="2" charset="2"/>
                  </a:rPr>
                  <a:t>设 </a:t>
                </a:r>
                <a:r>
                  <a:rPr lang="en-US" altLang="zh-CN" sz="3000" dirty="0">
                    <a:sym typeface="Wingdings" pitchFamily="2" charset="2"/>
                  </a:rPr>
                  <a:t>50mL</a:t>
                </a:r>
                <a:r>
                  <a:rPr lang="zh-CN" altLang="en-US" sz="3000" dirty="0">
                    <a:sym typeface="Wingdings" pitchFamily="2" charset="2"/>
                  </a:rPr>
                  <a:t>，</a:t>
                </a:r>
                <a:r>
                  <a:rPr lang="en-US" altLang="zh-CN" sz="3000" dirty="0">
                    <a:sym typeface="Wingdings" pitchFamily="2" charset="2"/>
                  </a:rPr>
                  <a:t>n </a:t>
                </a:r>
                <a:r>
                  <a:rPr lang="en-US" altLang="zh-CN" sz="3000" dirty="0" err="1">
                    <a:sym typeface="Wingdings" pitchFamily="2" charset="2"/>
                  </a:rPr>
                  <a:t>mol</a:t>
                </a:r>
                <a:r>
                  <a:rPr lang="en-US" altLang="zh-CN" sz="3000" dirty="0" err="1"/>
                  <a:t>C</a:t>
                </a:r>
                <a:r>
                  <a:rPr lang="en-US" altLang="zh-CN" sz="3000" baseline="-25000" dirty="0" err="1"/>
                  <a:t>x</a:t>
                </a:r>
                <a:r>
                  <a:rPr lang="en-US" altLang="zh-CN" sz="3000" dirty="0" err="1"/>
                  <a:t>H</a:t>
                </a:r>
                <a:r>
                  <a:rPr lang="en-US" altLang="zh-CN" sz="3000" baseline="-25000" dirty="0" err="1"/>
                  <a:t>y</a:t>
                </a:r>
                <a:r>
                  <a:rPr lang="en-US" altLang="zh-CN" sz="3000" baseline="-25000" dirty="0"/>
                  <a:t> </a:t>
                </a:r>
                <a:r>
                  <a:rPr lang="en-US" altLang="zh-CN" sz="3000" dirty="0"/>
                  <a:t> </a:t>
                </a:r>
                <a:r>
                  <a:rPr lang="zh-CN" altLang="en-US" sz="3000" dirty="0"/>
                  <a:t>燃烧，反应后体积减少</a:t>
                </a:r>
                <a:r>
                  <a:rPr lang="en-US" altLang="zh-CN" sz="3000" dirty="0"/>
                  <a:t>100mL </a:t>
                </a:r>
                <a:r>
                  <a:rPr lang="zh-CN" altLang="en-US" sz="3000" dirty="0"/>
                  <a:t>即反应后</a:t>
                </a:r>
                <a:r>
                  <a:rPr lang="zh-CN" altLang="en-US" sz="3000" b="1" dirty="0">
                    <a:solidFill>
                      <a:srgbClr val="002060"/>
                    </a:solidFill>
                    <a:effectLst>
                      <a:outerShdw blurRad="38100" dist="38100" dir="2700000" algn="tl">
                        <a:srgbClr val="000000">
                          <a:alpha val="43137"/>
                        </a:srgbClr>
                      </a:outerShdw>
                    </a:effectLst>
                  </a:rPr>
                  <a:t>气体</a:t>
                </a:r>
                <a:r>
                  <a:rPr lang="zh-CN" altLang="en-US" sz="3000" dirty="0"/>
                  <a:t>的物质的量减少</a:t>
                </a:r>
                <a:r>
                  <a:rPr lang="en-US" altLang="zh-CN" sz="3000" dirty="0"/>
                  <a:t>2n mol</a:t>
                </a:r>
              </a:p>
              <a:p>
                <a:pPr marL="514350" indent="-514350">
                  <a:spcBef>
                    <a:spcPts val="0"/>
                  </a:spcBef>
                  <a:buNone/>
                </a:pPr>
                <a:r>
                  <a:rPr lang="en-US" altLang="zh-CN" sz="3000" dirty="0"/>
                  <a:t>n + n(x+</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𝑦</m:t>
                        </m:r>
                      </m:num>
                      <m:den>
                        <m:r>
                          <a:rPr lang="en-MY" altLang="zh-CN" sz="3000" i="1">
                            <a:latin typeface="Cambria Math" panose="02040503050406030204" pitchFamily="18" charset="0"/>
                          </a:rPr>
                          <m:t>4</m:t>
                        </m:r>
                      </m:den>
                    </m:f>
                  </m:oMath>
                </a14:m>
                <a:r>
                  <a:rPr lang="en-US" altLang="zh-CN" sz="3000" dirty="0"/>
                  <a:t>)-</a:t>
                </a:r>
                <a:r>
                  <a:rPr lang="en-US" altLang="zh-CN" sz="3000" dirty="0" err="1"/>
                  <a:t>nx</a:t>
                </a:r>
                <a:r>
                  <a:rPr lang="en-US" altLang="zh-CN" sz="3000" dirty="0"/>
                  <a:t> = 2n 		</a:t>
                </a:r>
                <a:r>
                  <a:rPr lang="zh-CN" altLang="en-US" sz="3000" b="1" dirty="0">
                    <a:solidFill>
                      <a:srgbClr val="002060"/>
                    </a:solidFill>
                    <a:effectLst>
                      <a:outerShdw blurRad="38100" dist="38100" dir="2700000" algn="tl">
                        <a:srgbClr val="000000">
                          <a:alpha val="43137"/>
                        </a:srgbClr>
                      </a:outerShdw>
                    </a:effectLst>
                  </a:rPr>
                  <a:t>（常温常压下水为液态）</a:t>
                </a:r>
                <a:endParaRPr lang="en-US" altLang="zh-CN" sz="3000" b="1" dirty="0">
                  <a:solidFill>
                    <a:srgbClr val="002060"/>
                  </a:solidFill>
                  <a:effectLst>
                    <a:outerShdw blurRad="38100" dist="38100" dir="2700000" algn="tl">
                      <a:srgbClr val="000000">
                        <a:alpha val="43137"/>
                      </a:srgbClr>
                    </a:outerShdw>
                  </a:effectLst>
                </a:endParaRPr>
              </a:p>
              <a:p>
                <a:pPr marL="514350" indent="-514350">
                  <a:spcBef>
                    <a:spcPts val="0"/>
                  </a:spcBef>
                  <a:buNone/>
                </a:pPr>
                <a:r>
                  <a:rPr lang="en-US" altLang="zh-CN" sz="3000" dirty="0"/>
                  <a:t>        1+ x+</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𝑦</m:t>
                        </m:r>
                      </m:num>
                      <m:den>
                        <m:r>
                          <a:rPr lang="en-MY" altLang="zh-CN" sz="3000" i="1">
                            <a:latin typeface="Cambria Math" panose="02040503050406030204" pitchFamily="18" charset="0"/>
                          </a:rPr>
                          <m:t>4</m:t>
                        </m:r>
                      </m:den>
                    </m:f>
                  </m:oMath>
                </a14:m>
                <a:r>
                  <a:rPr lang="en-US" altLang="zh-CN" sz="3000" dirty="0"/>
                  <a:t> -x = 2</a:t>
                </a:r>
              </a:p>
              <a:p>
                <a:pPr marL="514350" indent="-514350">
                  <a:spcBef>
                    <a:spcPts val="0"/>
                  </a:spcBef>
                  <a:buNone/>
                </a:pPr>
                <a:r>
                  <a:rPr lang="en-US" altLang="zh-CN" sz="3000" dirty="0"/>
                  <a:t>			 </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𝑦</m:t>
                        </m:r>
                      </m:num>
                      <m:den>
                        <m:r>
                          <a:rPr lang="en-MY" altLang="zh-CN" sz="3000" i="1">
                            <a:latin typeface="Cambria Math" panose="02040503050406030204" pitchFamily="18" charset="0"/>
                          </a:rPr>
                          <m:t>4</m:t>
                        </m:r>
                      </m:den>
                    </m:f>
                  </m:oMath>
                </a14:m>
                <a:r>
                  <a:rPr lang="en-US" altLang="zh-CN" sz="3000" dirty="0"/>
                  <a:t> =1</a:t>
                </a:r>
              </a:p>
              <a:p>
                <a:pPr marL="514350" indent="-514350">
                  <a:spcBef>
                    <a:spcPts val="0"/>
                  </a:spcBef>
                  <a:buNone/>
                </a:pPr>
                <a:r>
                  <a:rPr lang="en-US" altLang="zh-CN" sz="3000" dirty="0"/>
                  <a:t>			   y=4 </a:t>
                </a:r>
              </a:p>
              <a:p>
                <a:pPr marL="514350" indent="-514350">
                  <a:buNone/>
                </a:pPr>
                <a:r>
                  <a:rPr lang="zh-CN" altLang="en-US" sz="3000" dirty="0"/>
                  <a:t>则三种混合烃</a:t>
                </a:r>
                <a:r>
                  <a:rPr lang="en-US" altLang="zh-CN" sz="3000" dirty="0"/>
                  <a:t>H</a:t>
                </a:r>
                <a:r>
                  <a:rPr lang="zh-CN" altLang="en-US" sz="3000" dirty="0"/>
                  <a:t>原子的平均个数为</a:t>
                </a:r>
                <a:r>
                  <a:rPr lang="en-US" altLang="zh-CN" sz="3000" dirty="0"/>
                  <a:t>4</a:t>
                </a:r>
              </a:p>
              <a:p>
                <a:pPr marL="514350" indent="-514350">
                  <a:buNone/>
                </a:pPr>
                <a:r>
                  <a:rPr lang="en-US" altLang="zh-CN" sz="3000" dirty="0" err="1"/>
                  <a:t>Ans:D</a:t>
                </a:r>
                <a:endParaRPr lang="en-US" altLang="zh-CN" sz="3000" dirty="0"/>
              </a:p>
              <a:p>
                <a:pPr marL="514350" indent="-514350">
                  <a:buNone/>
                </a:pPr>
                <a:endParaRPr lang="en-US" altLang="zh-CN" sz="3000" dirty="0">
                  <a:sym typeface="Wingdings"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14" t="-1767" r="-2105"/>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spcBef>
                <a:spcPts val="1200"/>
              </a:spcBef>
              <a:buNone/>
            </a:pPr>
            <a:r>
              <a:rPr lang="en-US" altLang="zh-CN" sz="3000" dirty="0"/>
              <a:t>10. B</a:t>
            </a:r>
          </a:p>
          <a:p>
            <a:pPr marL="514350" indent="-514350">
              <a:spcBef>
                <a:spcPts val="1200"/>
              </a:spcBef>
              <a:buNone/>
            </a:pPr>
            <a:r>
              <a:rPr lang="en-US" altLang="zh-CN" sz="3000" dirty="0"/>
              <a:t>11. C </a:t>
            </a:r>
            <a:r>
              <a:rPr lang="zh-CN" altLang="en-US" sz="3000" dirty="0"/>
              <a:t>烯烃</a:t>
            </a:r>
            <a:r>
              <a:rPr lang="en-US" altLang="zh-CN" sz="3000" dirty="0"/>
              <a:t>C</a:t>
            </a:r>
            <a:r>
              <a:rPr lang="en-US" altLang="zh-CN" sz="3000" baseline="-25000" dirty="0"/>
              <a:t>n</a:t>
            </a:r>
            <a:r>
              <a:rPr lang="en-US" altLang="zh-CN" sz="3000" dirty="0"/>
              <a:t>H</a:t>
            </a:r>
            <a:r>
              <a:rPr lang="en-US" altLang="zh-CN" sz="3000" baseline="-25000" dirty="0"/>
              <a:t>2n</a:t>
            </a:r>
            <a:r>
              <a:rPr lang="en-US" altLang="zh-CN" sz="3000" dirty="0"/>
              <a:t> </a:t>
            </a:r>
            <a:r>
              <a:rPr lang="zh-CN" altLang="en-US" sz="3000" dirty="0"/>
              <a:t>符合要求</a:t>
            </a:r>
            <a:endParaRPr lang="en-MY" altLang="zh-CN" sz="3000" dirty="0"/>
          </a:p>
          <a:p>
            <a:pPr marL="514350" indent="-514350">
              <a:spcBef>
                <a:spcPts val="1200"/>
              </a:spcBef>
              <a:buNone/>
            </a:pPr>
            <a:r>
              <a:rPr lang="en-US" altLang="zh-CN" sz="3000" dirty="0"/>
              <a:t>12. </a:t>
            </a:r>
            <a:r>
              <a:rPr lang="zh-CN" altLang="en-US" sz="3000" dirty="0"/>
              <a:t>该</a:t>
            </a:r>
            <a:r>
              <a:rPr lang="en-US" altLang="zh-CN" sz="3000" dirty="0"/>
              <a:t>1mol</a:t>
            </a:r>
            <a:r>
              <a:rPr lang="zh-CN" altLang="en-US" sz="3000" dirty="0"/>
              <a:t>烃能与</a:t>
            </a:r>
            <a:r>
              <a:rPr lang="en-US" altLang="zh-CN" sz="3000" dirty="0"/>
              <a:t>2molHCl</a:t>
            </a:r>
            <a:r>
              <a:rPr lang="zh-CN" altLang="en-US" sz="3000" dirty="0"/>
              <a:t>完全加成，</a:t>
            </a:r>
            <a:endParaRPr lang="en-MY" altLang="zh-CN" sz="3000" dirty="0"/>
          </a:p>
          <a:p>
            <a:pPr marL="514350" indent="-514350">
              <a:spcBef>
                <a:spcPts val="1200"/>
              </a:spcBef>
              <a:buNone/>
            </a:pPr>
            <a:r>
              <a:rPr lang="en-MY" altLang="zh-CN" sz="3000" dirty="0"/>
              <a:t>	</a:t>
            </a:r>
            <a:r>
              <a:rPr lang="zh-CN" altLang="en-US" sz="3000" dirty="0"/>
              <a:t>则该烃为炔（或二烯烃）；</a:t>
            </a:r>
            <a:endParaRPr lang="en-MY" altLang="zh-CN" sz="3000" dirty="0"/>
          </a:p>
          <a:p>
            <a:pPr marL="514350" indent="-514350">
              <a:spcBef>
                <a:spcPts val="1200"/>
              </a:spcBef>
              <a:buNone/>
            </a:pPr>
            <a:r>
              <a:rPr lang="zh-CN" altLang="en-US" sz="3000" dirty="0"/>
              <a:t>炔</a:t>
            </a:r>
            <a:r>
              <a:rPr lang="en-US" altLang="zh-CN" sz="3000" dirty="0"/>
              <a:t>+ 2HCl </a:t>
            </a:r>
            <a:r>
              <a:rPr lang="en-US" altLang="zh-CN" sz="3000" dirty="0">
                <a:sym typeface="Wingdings" panose="05000000000000000000" pitchFamily="2" charset="2"/>
              </a:rPr>
              <a:t> </a:t>
            </a:r>
            <a:r>
              <a:rPr lang="zh-CN" altLang="en-US" sz="3000" dirty="0">
                <a:sym typeface="Wingdings" panose="05000000000000000000" pitchFamily="2" charset="2"/>
              </a:rPr>
              <a:t>卤代烷，</a:t>
            </a:r>
            <a:endParaRPr lang="en-MY" altLang="zh-CN" sz="3000" dirty="0">
              <a:sym typeface="Wingdings" panose="05000000000000000000" pitchFamily="2" charset="2"/>
            </a:endParaRPr>
          </a:p>
          <a:p>
            <a:pPr marL="514350" indent="-514350">
              <a:spcBef>
                <a:spcPts val="1200"/>
              </a:spcBef>
              <a:buNone/>
            </a:pPr>
            <a:r>
              <a:rPr lang="zh-CN" altLang="en-US" sz="3000" dirty="0">
                <a:sym typeface="Wingdings" panose="05000000000000000000" pitchFamily="2" charset="2"/>
              </a:rPr>
              <a:t>该卤代烷能与</a:t>
            </a:r>
            <a:r>
              <a:rPr lang="en-US" altLang="zh-CN" sz="3000" dirty="0">
                <a:sym typeface="Wingdings" panose="05000000000000000000" pitchFamily="2" charset="2"/>
              </a:rPr>
              <a:t>6molCl</a:t>
            </a:r>
            <a:r>
              <a:rPr lang="en-US" altLang="zh-CN" sz="3000" baseline="-25000" dirty="0">
                <a:sym typeface="Wingdings" panose="05000000000000000000" pitchFamily="2" charset="2"/>
              </a:rPr>
              <a:t>2</a:t>
            </a:r>
            <a:r>
              <a:rPr lang="en-US" altLang="zh-CN" sz="3000" dirty="0">
                <a:sym typeface="Wingdings" panose="05000000000000000000" pitchFamily="2" charset="2"/>
              </a:rPr>
              <a:t> </a:t>
            </a:r>
            <a:r>
              <a:rPr lang="zh-CN" altLang="en-US" sz="3000" dirty="0">
                <a:sym typeface="Wingdings" panose="05000000000000000000" pitchFamily="2" charset="2"/>
              </a:rPr>
              <a:t>发生取代反应，</a:t>
            </a:r>
            <a:endParaRPr lang="en-MY" altLang="zh-CN" sz="3000" dirty="0">
              <a:sym typeface="Wingdings" panose="05000000000000000000" pitchFamily="2" charset="2"/>
            </a:endParaRPr>
          </a:p>
          <a:p>
            <a:pPr marL="514350" indent="-514350">
              <a:spcBef>
                <a:spcPts val="1200"/>
              </a:spcBef>
              <a:buNone/>
            </a:pPr>
            <a:r>
              <a:rPr lang="en-MY" altLang="zh-CN" sz="3000" dirty="0">
                <a:sym typeface="Wingdings" panose="05000000000000000000" pitchFamily="2" charset="2"/>
              </a:rPr>
              <a:t>	</a:t>
            </a:r>
            <a:r>
              <a:rPr lang="zh-CN" altLang="en-US" sz="3000" dirty="0">
                <a:sym typeface="Wingdings" panose="05000000000000000000" pitchFamily="2" charset="2"/>
              </a:rPr>
              <a:t>即该卤代烷含</a:t>
            </a:r>
            <a:r>
              <a:rPr lang="en-US" altLang="zh-CN" sz="3000" dirty="0">
                <a:sym typeface="Wingdings" panose="05000000000000000000" pitchFamily="2" charset="2"/>
              </a:rPr>
              <a:t>6H</a:t>
            </a:r>
            <a:r>
              <a:rPr lang="zh-CN" altLang="en-US" sz="3000" dirty="0">
                <a:sym typeface="Wingdings" panose="05000000000000000000" pitchFamily="2" charset="2"/>
              </a:rPr>
              <a:t>；</a:t>
            </a:r>
            <a:endParaRPr lang="en-US" altLang="zh-CN" sz="3000" dirty="0">
              <a:sym typeface="Wingdings" panose="05000000000000000000" pitchFamily="2" charset="2"/>
            </a:endParaRPr>
          </a:p>
          <a:p>
            <a:pPr marL="514350" indent="-514350">
              <a:spcBef>
                <a:spcPts val="1200"/>
              </a:spcBef>
              <a:buNone/>
            </a:pPr>
            <a:r>
              <a:rPr lang="zh-CN" altLang="en-US" sz="3000" dirty="0">
                <a:sym typeface="Wingdings" panose="05000000000000000000" pitchFamily="2" charset="2"/>
              </a:rPr>
              <a:t>则原本该</a:t>
            </a:r>
            <a:r>
              <a:rPr lang="zh-CN" altLang="en-US" sz="3000" b="1" dirty="0">
                <a:solidFill>
                  <a:srgbClr val="002060"/>
                </a:solidFill>
                <a:effectLst>
                  <a:outerShdw blurRad="38100" dist="38100" dir="2700000" algn="tl">
                    <a:srgbClr val="000000">
                      <a:alpha val="43137"/>
                    </a:srgbClr>
                  </a:outerShdw>
                </a:effectLst>
                <a:sym typeface="Wingdings" panose="05000000000000000000" pitchFamily="2" charset="2"/>
              </a:rPr>
              <a:t>炔烃含</a:t>
            </a:r>
            <a:r>
              <a:rPr lang="en-US" altLang="zh-CN" sz="3000" b="1" dirty="0">
                <a:solidFill>
                  <a:srgbClr val="002060"/>
                </a:solidFill>
                <a:effectLst>
                  <a:outerShdw blurRad="38100" dist="38100" dir="2700000" algn="tl">
                    <a:srgbClr val="000000">
                      <a:alpha val="43137"/>
                    </a:srgbClr>
                  </a:outerShdw>
                </a:effectLst>
                <a:sym typeface="Wingdings" panose="05000000000000000000" pitchFamily="2" charset="2"/>
              </a:rPr>
              <a:t>4H</a:t>
            </a:r>
          </a:p>
          <a:p>
            <a:pPr marL="514350" indent="-514350">
              <a:spcBef>
                <a:spcPts val="1200"/>
              </a:spcBef>
              <a:buNone/>
            </a:pPr>
            <a:r>
              <a:rPr lang="en-US" altLang="zh-CN" sz="3000" dirty="0" err="1">
                <a:sym typeface="Wingdings" panose="05000000000000000000" pitchFamily="2" charset="2"/>
              </a:rPr>
              <a:t>Ans:C</a:t>
            </a:r>
            <a:endParaRPr lang="en-MY" altLang="zh-CN" sz="3000" dirty="0"/>
          </a:p>
          <a:p>
            <a:pPr marL="514350" indent="-514350">
              <a:spcBef>
                <a:spcPts val="1200"/>
              </a:spcBef>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763000" cy="6096000"/>
              </a:xfrm>
            </p:spPr>
            <p:txBody>
              <a:bodyPr>
                <a:noAutofit/>
              </a:bodyPr>
              <a:lstStyle/>
              <a:p>
                <a:pPr marL="514350" indent="-514350">
                  <a:spcBef>
                    <a:spcPts val="600"/>
                  </a:spcBef>
                  <a:buNone/>
                </a:pPr>
                <a:r>
                  <a:rPr lang="en-US" altLang="zh-CN" sz="3000" dirty="0"/>
                  <a:t>13. </a:t>
                </a:r>
                <a:r>
                  <a:rPr lang="zh-CN" altLang="en-US" sz="3000" dirty="0"/>
                  <a:t>温度为</a:t>
                </a:r>
                <a:r>
                  <a:rPr lang="en-US" altLang="zh-CN" sz="3000" dirty="0"/>
                  <a:t>150</a:t>
                </a:r>
                <a:r>
                  <a:rPr lang="en-US" altLang="zh-CN" sz="3000" baseline="30000" dirty="0"/>
                  <a:t>o</a:t>
                </a:r>
                <a:r>
                  <a:rPr lang="en-US" altLang="zh-CN" sz="3000" dirty="0"/>
                  <a:t> C </a:t>
                </a:r>
                <a:r>
                  <a:rPr lang="zh-CN" altLang="en-US" sz="3000" dirty="0"/>
                  <a:t>时水为气态</a:t>
                </a:r>
                <a:endParaRPr lang="en-MY" altLang="zh-CN" sz="3000" dirty="0"/>
              </a:p>
              <a:p>
                <a:pPr marL="514350" indent="-514350">
                  <a:spcBef>
                    <a:spcPts val="600"/>
                  </a:spcBef>
                  <a:buNone/>
                </a:pPr>
                <a:r>
                  <a:rPr lang="zh-CN" altLang="en-US" sz="3000" dirty="0"/>
                  <a:t>反应前后压强、温度、体积（密闭容器）不变</a:t>
                </a:r>
                <a:r>
                  <a:rPr lang="en-US" altLang="zh-CN" sz="3000" dirty="0"/>
                  <a:t> </a:t>
                </a:r>
                <a:r>
                  <a:rPr lang="zh-CN" altLang="en-US" sz="3000" dirty="0"/>
                  <a:t>，</a:t>
                </a:r>
                <a:endParaRPr lang="en-MY" altLang="zh-CN" sz="3000" dirty="0"/>
              </a:p>
              <a:p>
                <a:pPr marL="514350" indent="-514350">
                  <a:spcBef>
                    <a:spcPts val="600"/>
                  </a:spcBef>
                  <a:buNone/>
                </a:pPr>
                <a:r>
                  <a:rPr lang="zh-CN" altLang="en-US" sz="3000" dirty="0"/>
                  <a:t>表示反应前后气态分子数不变（物质的量不变）</a:t>
                </a:r>
                <a:endParaRPr lang="en-MY" altLang="zh-CN" sz="3000" dirty="0"/>
              </a:p>
              <a:p>
                <a:pPr marL="514350" indent="-514350">
                  <a:spcBef>
                    <a:spcPts val="600"/>
                  </a:spcBef>
                  <a:buNone/>
                </a:pPr>
                <a:r>
                  <a:rPr lang="en-US" altLang="zh-CN" sz="3000" dirty="0"/>
                  <a:t> C</a:t>
                </a:r>
                <a:r>
                  <a:rPr lang="en-US" altLang="zh-CN" sz="3000" baseline="-25000" dirty="0"/>
                  <a:t>n</a:t>
                </a:r>
                <a:r>
                  <a:rPr lang="en-US" altLang="zh-CN" sz="3000" dirty="0"/>
                  <a:t>H</a:t>
                </a:r>
                <a:r>
                  <a:rPr lang="en-US" altLang="zh-CN" sz="3000" baseline="-25000" dirty="0"/>
                  <a:t>2n-2</a:t>
                </a:r>
                <a:r>
                  <a:rPr lang="en-US" altLang="zh-CN" sz="3000" dirty="0"/>
                  <a:t> +    (n+</a:t>
                </a:r>
                <a14:m>
                  <m:oMath xmlns:m="http://schemas.openxmlformats.org/officeDocument/2006/math">
                    <m:f>
                      <m:fPr>
                        <m:ctrlPr>
                          <a:rPr lang="en-US" altLang="zh-CN" sz="3000" i="1">
                            <a:latin typeface="Cambria Math" panose="02040503050406030204" pitchFamily="18" charset="0"/>
                          </a:rPr>
                        </m:ctrlPr>
                      </m:fPr>
                      <m:num>
                        <m:r>
                          <a:rPr lang="en-MY" altLang="zh-CN" sz="3000" b="0" i="1" smtClean="0">
                            <a:latin typeface="Cambria Math" panose="02040503050406030204" pitchFamily="18" charset="0"/>
                          </a:rPr>
                          <m:t>𝑛</m:t>
                        </m:r>
                        <m:r>
                          <a:rPr lang="en-MY" altLang="zh-CN" sz="3000" b="0" i="1" smtClean="0">
                            <a:latin typeface="Cambria Math" panose="02040503050406030204" pitchFamily="18" charset="0"/>
                          </a:rPr>
                          <m:t>−1</m:t>
                        </m:r>
                      </m:num>
                      <m:den>
                        <m:r>
                          <a:rPr lang="en-MY" altLang="zh-CN" sz="3000" b="0" i="1" smtClean="0">
                            <a:latin typeface="Cambria Math" panose="02040503050406030204" pitchFamily="18" charset="0"/>
                          </a:rPr>
                          <m:t>2</m:t>
                        </m:r>
                      </m:den>
                    </m:f>
                  </m:oMath>
                </a14:m>
                <a:r>
                  <a:rPr lang="en-US" altLang="zh-CN" sz="3000" dirty="0"/>
                  <a:t> ) O</a:t>
                </a:r>
                <a:r>
                  <a:rPr lang="en-US" altLang="zh-CN" sz="3000" baseline="-25000" dirty="0"/>
                  <a:t>2</a:t>
                </a:r>
                <a:r>
                  <a:rPr lang="en-US" altLang="zh-CN" sz="3000" dirty="0"/>
                  <a:t> </a:t>
                </a:r>
                <a:r>
                  <a:rPr lang="en-US" altLang="zh-CN" sz="3000" dirty="0">
                    <a:sym typeface="Wingdings" pitchFamily="2" charset="2"/>
                  </a:rPr>
                  <a:t>  n CO</a:t>
                </a:r>
                <a:r>
                  <a:rPr lang="en-US" altLang="zh-CN" sz="3000" baseline="-25000" dirty="0">
                    <a:sym typeface="Wingdings" pitchFamily="2" charset="2"/>
                  </a:rPr>
                  <a:t>2</a:t>
                </a:r>
                <a:r>
                  <a:rPr lang="en-US" altLang="zh-CN" sz="3000" dirty="0">
                    <a:sym typeface="Wingdings" pitchFamily="2" charset="2"/>
                  </a:rPr>
                  <a:t> + (n-1) H</a:t>
                </a:r>
                <a:r>
                  <a:rPr lang="en-US" altLang="zh-CN" sz="3000" baseline="-25000" dirty="0">
                    <a:sym typeface="Wingdings" pitchFamily="2" charset="2"/>
                  </a:rPr>
                  <a:t>2</a:t>
                </a:r>
                <a:r>
                  <a:rPr lang="en-US" altLang="zh-CN" sz="3000" dirty="0">
                    <a:sym typeface="Wingdings" pitchFamily="2" charset="2"/>
                  </a:rPr>
                  <a:t>O </a:t>
                </a:r>
              </a:p>
              <a:p>
                <a:pPr marL="514350" indent="-514350">
                  <a:spcBef>
                    <a:spcPts val="600"/>
                  </a:spcBef>
                  <a:buNone/>
                </a:pPr>
                <a:r>
                  <a:rPr lang="en-US" altLang="zh-CN" sz="3000" dirty="0">
                    <a:sym typeface="Wingdings" pitchFamily="2" charset="2"/>
                  </a:rPr>
                  <a:t>1</a:t>
                </a:r>
                <a:r>
                  <a:rPr lang="en-US" altLang="zh-CN" sz="3000" dirty="0"/>
                  <a:t> +    (n+</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𝑛</m:t>
                        </m:r>
                        <m:r>
                          <a:rPr lang="en-MY" altLang="zh-CN" sz="3000" i="1">
                            <a:latin typeface="Cambria Math" panose="02040503050406030204" pitchFamily="18" charset="0"/>
                          </a:rPr>
                          <m:t>−1</m:t>
                        </m:r>
                      </m:num>
                      <m:den>
                        <m:r>
                          <a:rPr lang="en-MY" altLang="zh-CN" sz="3000" i="1">
                            <a:latin typeface="Cambria Math" panose="02040503050406030204" pitchFamily="18" charset="0"/>
                          </a:rPr>
                          <m:t>2</m:t>
                        </m:r>
                      </m:den>
                    </m:f>
                  </m:oMath>
                </a14:m>
                <a:r>
                  <a:rPr lang="en-US" altLang="zh-CN" sz="3000" dirty="0"/>
                  <a:t> ) = n + n-1 </a:t>
                </a:r>
              </a:p>
              <a:p>
                <a:pPr marL="514350" indent="-514350">
                  <a:spcBef>
                    <a:spcPts val="600"/>
                  </a:spcBef>
                  <a:buNone/>
                </a:pPr>
                <a:r>
                  <a:rPr lang="en-US" altLang="zh-CN" sz="3000" dirty="0"/>
                  <a:t>			n = 3</a:t>
                </a:r>
              </a:p>
              <a:p>
                <a:pPr marL="514350" indent="-514350">
                  <a:spcBef>
                    <a:spcPts val="600"/>
                  </a:spcBef>
                  <a:buNone/>
                </a:pPr>
                <a:r>
                  <a:rPr lang="en-US" altLang="zh-CN" sz="3000" dirty="0"/>
                  <a:t>Ans: B </a:t>
                </a:r>
              </a:p>
              <a:p>
                <a:pPr marL="514350" indent="-514350">
                  <a:spcBef>
                    <a:spcPts val="600"/>
                  </a:spcBef>
                  <a:buNone/>
                </a:pPr>
                <a:r>
                  <a:rPr lang="zh-CN" altLang="en-US" sz="2400" dirty="0"/>
                  <a:t>或分别写出乙炔、丙炔、丁炔、戊炔燃烧的化学方程式，</a:t>
                </a:r>
                <a:endParaRPr lang="en-MY" altLang="zh-CN" sz="2400" dirty="0"/>
              </a:p>
              <a:p>
                <a:pPr marL="514350" indent="-514350">
                  <a:spcBef>
                    <a:spcPts val="600"/>
                  </a:spcBef>
                  <a:buNone/>
                </a:pPr>
                <a:r>
                  <a:rPr lang="zh-CN" altLang="en-US" sz="2400" dirty="0"/>
                  <a:t>观察反应前后</a:t>
                </a:r>
                <a:r>
                  <a:rPr lang="en-MY" altLang="zh-CN" sz="2400" dirty="0"/>
                  <a:t>mol</a:t>
                </a:r>
                <a:r>
                  <a:rPr lang="zh-CN" altLang="en-US" sz="2400" dirty="0"/>
                  <a:t>数总和哪个相等。</a:t>
                </a:r>
                <a:endParaRPr lang="en-MY" altLang="zh-CN" sz="2400" dirty="0"/>
              </a:p>
              <a:p>
                <a:pPr marL="514350" indent="-514350">
                  <a:spcBef>
                    <a:spcPts val="600"/>
                  </a:spcBef>
                  <a:buNone/>
                </a:pPr>
                <a:r>
                  <a:rPr lang="zh-CN" altLang="en-US" sz="2400" dirty="0"/>
                  <a:t>乙炔：</a:t>
                </a:r>
                <a:r>
                  <a:rPr lang="en-US" altLang="zh-CN" sz="2400" dirty="0"/>
                  <a:t>2 5 4 2		</a:t>
                </a:r>
                <a:r>
                  <a:rPr lang="zh-CN" altLang="en-US" sz="2400" dirty="0"/>
                  <a:t>丙炔：</a:t>
                </a:r>
                <a:r>
                  <a:rPr lang="en-US" altLang="zh-CN" sz="2400" dirty="0"/>
                  <a:t>1 4 3 2	</a:t>
                </a:r>
              </a:p>
              <a:p>
                <a:pPr marL="514350" indent="-514350">
                  <a:spcBef>
                    <a:spcPts val="600"/>
                  </a:spcBef>
                  <a:buNone/>
                </a:pPr>
                <a:r>
                  <a:rPr lang="zh-CN" altLang="en-US" sz="2400" dirty="0"/>
                  <a:t>丁炔：</a:t>
                </a:r>
                <a:r>
                  <a:rPr lang="en-US" altLang="zh-CN" sz="2400" dirty="0"/>
                  <a:t>2 11 8 6	</a:t>
                </a:r>
                <a:r>
                  <a:rPr lang="zh-CN" altLang="en-US" sz="2400" dirty="0"/>
                  <a:t>戊炔：</a:t>
                </a:r>
                <a:r>
                  <a:rPr lang="en-US" altLang="zh-CN" sz="2400" dirty="0"/>
                  <a:t>1 7 5 4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763000" cy="6096000"/>
              </a:xfrm>
              <a:blipFill>
                <a:blip r:embed="rId3"/>
                <a:stretch>
                  <a:fillRect l="-1599" t="-1700"/>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z="4800" b="1" dirty="0">
                <a:latin typeface="+mn-ea"/>
                <a:ea typeface="+mj-ea"/>
                <a:cs typeface="+mj-cs"/>
              </a:rPr>
              <a:t>选择题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41472799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spcBef>
                    <a:spcPts val="600"/>
                  </a:spcBef>
                  <a:buAutoNum type="arabicPeriod"/>
                </a:pPr>
                <a:r>
                  <a:rPr lang="zh-CN" altLang="en-US" sz="3000" b="1" dirty="0">
                    <a:solidFill>
                      <a:srgbClr val="002060"/>
                    </a:solidFill>
                    <a:effectLst>
                      <a:outerShdw blurRad="38100" dist="38100" dir="2700000" algn="tl">
                        <a:srgbClr val="000000">
                          <a:alpha val="43137"/>
                        </a:srgbClr>
                      </a:outerShdw>
                    </a:effectLst>
                  </a:rPr>
                  <a:t>结构简式</a:t>
                </a:r>
                <a:endParaRPr lang="en-MY" altLang="zh-CN" sz="3000" b="1" dirty="0">
                  <a:solidFill>
                    <a:srgbClr val="002060"/>
                  </a:solidFill>
                  <a:effectLst>
                    <a:outerShdw blurRad="38100" dist="38100" dir="2700000" algn="tl">
                      <a:srgbClr val="000000">
                        <a:alpha val="43137"/>
                      </a:srgbClr>
                    </a:outerShdw>
                  </a:effectLst>
                </a:endParaRPr>
              </a:p>
              <a:p>
                <a:pPr marL="0" indent="0">
                  <a:spcBef>
                    <a:spcPts val="600"/>
                  </a:spcBef>
                  <a:buNone/>
                </a:pPr>
                <a:r>
                  <a:rPr lang="zh-CN" altLang="en-US" sz="3000" dirty="0"/>
                  <a:t>（</a:t>
                </a:r>
                <a:r>
                  <a:rPr lang="en-US" altLang="zh-CN" sz="3000" dirty="0"/>
                  <a:t>4-</a:t>
                </a:r>
                <a:r>
                  <a:rPr lang="zh-CN" altLang="en-US" sz="3000" dirty="0"/>
                  <a:t>甲基</a:t>
                </a:r>
                <a:r>
                  <a:rPr lang="en-US" altLang="zh-CN" sz="3000" dirty="0"/>
                  <a:t>-1-</a:t>
                </a:r>
                <a:r>
                  <a:rPr lang="zh-CN" altLang="en-US" sz="3000" dirty="0"/>
                  <a:t>戊炔）或（</a:t>
                </a:r>
                <a:r>
                  <a:rPr lang="en-US" altLang="zh-CN" sz="3000" dirty="0"/>
                  <a:t>4-</a:t>
                </a:r>
                <a:r>
                  <a:rPr lang="zh-CN" altLang="en-US" sz="3000" dirty="0"/>
                  <a:t>甲基</a:t>
                </a:r>
                <a:r>
                  <a:rPr lang="en-US" altLang="zh-CN" sz="3000" dirty="0"/>
                  <a:t>-2-</a:t>
                </a:r>
                <a:r>
                  <a:rPr lang="zh-CN" altLang="en-US" sz="3000" dirty="0"/>
                  <a:t>戊炔）</a:t>
                </a:r>
                <a:endParaRPr lang="en-MY" altLang="zh-CN" sz="3000" dirty="0"/>
              </a:p>
              <a:p>
                <a:pPr marL="0" indent="0">
                  <a:spcBef>
                    <a:spcPts val="600"/>
                  </a:spcBef>
                  <a:buNone/>
                </a:pPr>
                <a:r>
                  <a:rPr lang="zh-CN" altLang="en-US" sz="3000" dirty="0"/>
                  <a:t>（该</a:t>
                </a:r>
                <a:r>
                  <a:rPr lang="en-US" altLang="zh-CN" sz="3000" dirty="0"/>
                  <a:t>C</a:t>
                </a:r>
                <a:r>
                  <a:rPr lang="zh-CN" altLang="en-US" sz="3000" dirty="0"/>
                  <a:t>没</a:t>
                </a:r>
                <a:r>
                  <a:rPr lang="en-US" altLang="zh-CN" sz="3000" dirty="0"/>
                  <a:t>2H</a:t>
                </a:r>
                <a:r>
                  <a:rPr lang="zh-CN" altLang="en-US" sz="3000" dirty="0"/>
                  <a:t>则原本不可能是三键）</a:t>
                </a:r>
                <a:endParaRPr lang="en-US" altLang="zh-CN" sz="3000" dirty="0"/>
              </a:p>
              <a:p>
                <a:pPr marL="0" indent="0">
                  <a:spcBef>
                    <a:spcPts val="600"/>
                  </a:spcBef>
                  <a:buNone/>
                </a:pPr>
                <a:r>
                  <a:rPr lang="en-US" altLang="zh-CN" sz="3000" dirty="0"/>
                  <a:t>2. </a:t>
                </a:r>
                <a:r>
                  <a:rPr lang="en-US" altLang="zh-CN" sz="3000" dirty="0" err="1"/>
                  <a:t>C</a:t>
                </a:r>
                <a:r>
                  <a:rPr lang="en-US" altLang="zh-CN" sz="3000" baseline="-25000" dirty="0" err="1"/>
                  <a:t>x</a:t>
                </a:r>
                <a:r>
                  <a:rPr lang="en-US" altLang="zh-CN" sz="3000" dirty="0" err="1"/>
                  <a:t>H</a:t>
                </a:r>
                <a:r>
                  <a:rPr lang="en-US" altLang="zh-CN" sz="3000" baseline="-25000" dirty="0" err="1"/>
                  <a:t>y</a:t>
                </a:r>
                <a:r>
                  <a:rPr lang="en-US" altLang="zh-CN" sz="3000" dirty="0"/>
                  <a:t> +    (x+</a:t>
                </a:r>
                <a14:m>
                  <m:oMath xmlns:m="http://schemas.openxmlformats.org/officeDocument/2006/math">
                    <m:f>
                      <m:fPr>
                        <m:ctrlPr>
                          <a:rPr lang="en-US" altLang="zh-CN" sz="3000" i="1">
                            <a:latin typeface="Cambria Math" panose="02040503050406030204" pitchFamily="18" charset="0"/>
                          </a:rPr>
                        </m:ctrlPr>
                      </m:fPr>
                      <m:num>
                        <m:r>
                          <a:rPr lang="en-MY" altLang="zh-CN" sz="3000" b="0" i="1" smtClean="0">
                            <a:latin typeface="Cambria Math" panose="02040503050406030204" pitchFamily="18" charset="0"/>
                          </a:rPr>
                          <m:t>𝑦</m:t>
                        </m:r>
                      </m:num>
                      <m:den>
                        <m:r>
                          <a:rPr lang="en-MY" altLang="zh-CN" sz="3000" b="0" i="1" smtClean="0">
                            <a:latin typeface="Cambria Math" panose="02040503050406030204" pitchFamily="18" charset="0"/>
                          </a:rPr>
                          <m:t>4</m:t>
                        </m:r>
                      </m:den>
                    </m:f>
                  </m:oMath>
                </a14:m>
                <a:r>
                  <a:rPr lang="en-US" altLang="zh-CN" sz="3000" dirty="0"/>
                  <a:t> ) O</a:t>
                </a:r>
                <a:r>
                  <a:rPr lang="en-US" altLang="zh-CN" sz="3000" baseline="-25000" dirty="0"/>
                  <a:t>2</a:t>
                </a:r>
                <a:r>
                  <a:rPr lang="en-US" altLang="zh-CN" sz="3000" dirty="0"/>
                  <a:t> </a:t>
                </a:r>
                <a:r>
                  <a:rPr lang="en-US" altLang="zh-CN" sz="3000" dirty="0">
                    <a:sym typeface="Wingdings" pitchFamily="2" charset="2"/>
                  </a:rPr>
                  <a:t>  x CO</a:t>
                </a:r>
                <a:r>
                  <a:rPr lang="en-US" altLang="zh-CN" sz="3000" baseline="-25000" dirty="0">
                    <a:sym typeface="Wingdings" pitchFamily="2" charset="2"/>
                  </a:rPr>
                  <a:t>2</a:t>
                </a:r>
                <a:r>
                  <a:rPr lang="en-US" altLang="zh-CN" sz="3000" dirty="0">
                    <a:sym typeface="Wingdings" pitchFamily="2" charset="2"/>
                  </a:rPr>
                  <a:t> +  </a:t>
                </a:r>
                <a14:m>
                  <m:oMath xmlns:m="http://schemas.openxmlformats.org/officeDocument/2006/math">
                    <m:f>
                      <m:fPr>
                        <m:ctrlPr>
                          <a:rPr lang="en-US" altLang="zh-CN" sz="3000" i="1" smtClean="0">
                            <a:latin typeface="Cambria Math" panose="02040503050406030204" pitchFamily="18" charset="0"/>
                            <a:sym typeface="Wingdings" pitchFamily="2" charset="2"/>
                          </a:rPr>
                        </m:ctrlPr>
                      </m:fPr>
                      <m:num>
                        <m:r>
                          <a:rPr lang="en-MY" altLang="zh-CN" sz="3000" b="0" i="1" smtClean="0">
                            <a:latin typeface="Cambria Math" panose="02040503050406030204" pitchFamily="18" charset="0"/>
                            <a:sym typeface="Wingdings" pitchFamily="2" charset="2"/>
                          </a:rPr>
                          <m:t>𝑦</m:t>
                        </m:r>
                      </m:num>
                      <m:den>
                        <m:r>
                          <a:rPr lang="en-MY" altLang="zh-CN" sz="3000" b="0" i="1" smtClean="0">
                            <a:latin typeface="Cambria Math" panose="02040503050406030204" pitchFamily="18" charset="0"/>
                            <a:sym typeface="Wingdings" pitchFamily="2" charset="2"/>
                          </a:rPr>
                          <m:t>2</m:t>
                        </m:r>
                      </m:den>
                    </m:f>
                  </m:oMath>
                </a14:m>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a:t>
                </a:r>
              </a:p>
              <a:p>
                <a:pPr marL="0" indent="0">
                  <a:spcBef>
                    <a:spcPts val="600"/>
                  </a:spcBef>
                  <a:buNone/>
                </a:pPr>
                <a:r>
                  <a:rPr lang="en-US" altLang="zh-CN" sz="3000" dirty="0">
                    <a:sym typeface="Wingdings" pitchFamily="2" charset="2"/>
                  </a:rPr>
                  <a:t>1 + </a:t>
                </a:r>
                <a:r>
                  <a:rPr lang="en-US" altLang="zh-CN" sz="3000" dirty="0"/>
                  <a:t>x+</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𝑦</m:t>
                        </m:r>
                      </m:num>
                      <m:den>
                        <m:r>
                          <a:rPr lang="en-MY" altLang="zh-CN" sz="3000" i="1">
                            <a:latin typeface="Cambria Math" panose="02040503050406030204" pitchFamily="18" charset="0"/>
                          </a:rPr>
                          <m:t>4</m:t>
                        </m:r>
                      </m:den>
                    </m:f>
                  </m:oMath>
                </a14:m>
                <a:r>
                  <a:rPr lang="en-US" altLang="zh-CN" sz="3000" dirty="0"/>
                  <a:t> = x + </a:t>
                </a:r>
                <a14:m>
                  <m:oMath xmlns:m="http://schemas.openxmlformats.org/officeDocument/2006/math">
                    <m:f>
                      <m:fPr>
                        <m:ctrlPr>
                          <a:rPr lang="en-US" altLang="zh-CN" sz="3000" i="1">
                            <a:latin typeface="Cambria Math" panose="02040503050406030204" pitchFamily="18" charset="0"/>
                            <a:sym typeface="Wingdings" pitchFamily="2" charset="2"/>
                          </a:rPr>
                        </m:ctrlPr>
                      </m:fPr>
                      <m:num>
                        <m:r>
                          <a:rPr lang="en-MY" altLang="zh-CN" sz="3000" i="1">
                            <a:latin typeface="Cambria Math" panose="02040503050406030204" pitchFamily="18" charset="0"/>
                            <a:sym typeface="Wingdings" pitchFamily="2" charset="2"/>
                          </a:rPr>
                          <m:t>𝑦</m:t>
                        </m:r>
                      </m:num>
                      <m:den>
                        <m:r>
                          <a:rPr lang="en-MY" altLang="zh-CN" sz="3000" i="1">
                            <a:latin typeface="Cambria Math" panose="02040503050406030204" pitchFamily="18" charset="0"/>
                            <a:sym typeface="Wingdings" pitchFamily="2" charset="2"/>
                          </a:rPr>
                          <m:t>2</m:t>
                        </m:r>
                      </m:den>
                    </m:f>
                  </m:oMath>
                </a14:m>
                <a:r>
                  <a:rPr lang="en-US" altLang="zh-CN" sz="3000" dirty="0"/>
                  <a:t> </a:t>
                </a:r>
              </a:p>
              <a:p>
                <a:pPr marL="0" indent="0">
                  <a:spcBef>
                    <a:spcPts val="600"/>
                  </a:spcBef>
                  <a:buNone/>
                </a:pPr>
                <a:r>
                  <a:rPr lang="en-US" altLang="zh-CN" sz="3000" dirty="0"/>
                  <a:t>	y = 4 </a:t>
                </a:r>
              </a:p>
              <a:p>
                <a:pPr marL="0" indent="0">
                  <a:spcBef>
                    <a:spcPts val="600"/>
                  </a:spcBef>
                  <a:buNone/>
                </a:pPr>
                <a:r>
                  <a:rPr lang="zh-CN" altLang="en-US" sz="3000" dirty="0"/>
                  <a:t>（分子式</a:t>
                </a:r>
                <a:r>
                  <a:rPr lang="en-MY" altLang="zh-CN" sz="3000" dirty="0"/>
                  <a:t> </a:t>
                </a:r>
                <a:r>
                  <a:rPr lang="zh-CN" altLang="en-US" sz="3000" dirty="0"/>
                  <a:t>：</a:t>
                </a:r>
                <a:r>
                  <a:rPr lang="en-US" altLang="zh-CN" sz="3000" dirty="0"/>
                  <a:t>CH</a:t>
                </a:r>
                <a:r>
                  <a:rPr lang="en-US" altLang="zh-CN" sz="3000" baseline="-25000" dirty="0"/>
                  <a:t>4</a:t>
                </a:r>
                <a:r>
                  <a:rPr lang="en-US" altLang="zh-CN" sz="3000" dirty="0"/>
                  <a:t> , C</a:t>
                </a:r>
                <a:r>
                  <a:rPr lang="en-US" altLang="zh-CN" sz="3000" baseline="-25000" dirty="0"/>
                  <a:t>2</a:t>
                </a:r>
                <a:r>
                  <a:rPr lang="en-US" altLang="zh-CN" sz="3000" dirty="0"/>
                  <a:t>H</a:t>
                </a:r>
                <a:r>
                  <a:rPr lang="en-US" altLang="zh-CN" sz="3000" baseline="-25000" dirty="0"/>
                  <a:t>4</a:t>
                </a:r>
                <a:r>
                  <a:rPr lang="en-US" altLang="zh-CN" sz="3000" dirty="0"/>
                  <a:t> , C </a:t>
                </a:r>
                <a:r>
                  <a:rPr lang="en-US" altLang="zh-CN" sz="3000" baseline="-25000" dirty="0"/>
                  <a:t>3</a:t>
                </a:r>
                <a:r>
                  <a:rPr lang="en-US" altLang="zh-CN" sz="3000" dirty="0"/>
                  <a:t>H</a:t>
                </a:r>
                <a:r>
                  <a:rPr lang="en-US" altLang="zh-CN" sz="3000" baseline="-25000" dirty="0"/>
                  <a:t>4</a:t>
                </a:r>
                <a:r>
                  <a:rPr lang="zh-CN" altLang="en-US" sz="3000" baseline="-25000" dirty="0"/>
                  <a:t> </a:t>
                </a:r>
                <a:r>
                  <a:rPr lang="zh-CN" altLang="en-US" sz="3000" dirty="0"/>
                  <a:t> ）</a:t>
                </a:r>
                <a:endParaRPr lang="en-MY" altLang="zh-CN" sz="3000" dirty="0"/>
              </a:p>
              <a:p>
                <a:pPr marL="0" indent="0">
                  <a:spcBef>
                    <a:spcPts val="600"/>
                  </a:spcBef>
                  <a:buNone/>
                </a:pPr>
                <a:r>
                  <a:rPr lang="zh-CN" altLang="en-US" sz="3000" b="1" dirty="0">
                    <a:solidFill>
                      <a:srgbClr val="002060"/>
                    </a:solidFill>
                    <a:effectLst>
                      <a:outerShdw blurRad="38100" dist="38100" dir="2700000" algn="tl">
                        <a:srgbClr val="000000">
                          <a:alpha val="43137"/>
                        </a:srgbClr>
                      </a:outerShdw>
                    </a:effectLst>
                  </a:rPr>
                  <a:t>结构简式</a:t>
                </a:r>
                <a:endParaRPr lang="en-US" altLang="zh-CN" sz="3000" b="1" dirty="0">
                  <a:solidFill>
                    <a:srgbClr val="002060"/>
                  </a:solidFill>
                  <a:effectLst>
                    <a:outerShdw blurRad="38100" dist="38100" dir="2700000" algn="tl">
                      <a:srgbClr val="000000">
                        <a:alpha val="43137"/>
                      </a:srgbClr>
                    </a:outerShdw>
                  </a:effectLs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754" t="-1871"/>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r>
              <a:rPr lang="en-US" altLang="zh-CN" sz="4800" b="1" dirty="0">
                <a:latin typeface="+mn-ea"/>
              </a:rPr>
              <a:t>1</a:t>
            </a:r>
            <a:r>
              <a:rPr lang="zh-CN" altLang="en-US" sz="4800" b="1" dirty="0">
                <a:latin typeface="+mn-ea"/>
              </a:rPr>
              <a:t>，</a:t>
            </a:r>
            <a:r>
              <a:rPr lang="en-US" altLang="zh-CN" sz="4800" b="1" dirty="0">
                <a:latin typeface="+mn-ea"/>
              </a:rPr>
              <a:t>2</a:t>
            </a:r>
            <a:r>
              <a:rPr lang="zh-CN" altLang="en-US" sz="4800" b="1" dirty="0">
                <a:latin typeface="+mn-ea"/>
              </a:rPr>
              <a:t>，</a:t>
            </a:r>
            <a:r>
              <a:rPr lang="en-US" altLang="zh-CN" sz="4800" b="1" dirty="0">
                <a:latin typeface="+mn-ea"/>
              </a:rPr>
              <a:t>3</a:t>
            </a:r>
            <a:r>
              <a:rPr lang="zh-CN" altLang="en-US" sz="4800" b="1" dirty="0">
                <a:latin typeface="+mn-ea"/>
              </a:rPr>
              <a:t>，</a:t>
            </a:r>
            <a:r>
              <a:rPr lang="en-US" altLang="zh-CN" sz="4800" b="1" dirty="0">
                <a:latin typeface="+mn-ea"/>
              </a:rPr>
              <a:t>4</a:t>
            </a:r>
            <a:r>
              <a:rPr lang="zh-CN" altLang="en-US" sz="4800" b="1" dirty="0">
                <a:latin typeface="+mn-ea"/>
              </a:rPr>
              <a:t>，</a:t>
            </a:r>
            <a:r>
              <a:rPr lang="en-US" altLang="zh-CN" sz="4800" b="1">
                <a:latin typeface="+mn-ea"/>
              </a:rPr>
              <a:t>7</a:t>
            </a:r>
            <a:r>
              <a:rPr lang="zh-CN" altLang="en-US" sz="4800" b="1">
                <a:latin typeface="+mn-ea"/>
              </a:rPr>
              <a:t>）</a:t>
            </a:r>
            <a:endParaRPr lang="en-US" sz="4800" b="1" dirty="0"/>
          </a:p>
        </p:txBody>
      </p:sp>
    </p:spTree>
    <p:extLst>
      <p:ext uri="{BB962C8B-B14F-4D97-AF65-F5344CB8AC3E}">
        <p14:creationId xmlns:p14="http://schemas.microsoft.com/office/powerpoint/2010/main" val="38975420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sym typeface="Wingdings" pitchFamily="2" charset="2"/>
              </a:rPr>
              <a:t>3. A</a:t>
            </a:r>
            <a:r>
              <a:rPr lang="zh-CN" altLang="en-US" sz="3000" dirty="0">
                <a:sym typeface="Wingdings" pitchFamily="2" charset="2"/>
              </a:rPr>
              <a:t>：炔烃</a:t>
            </a:r>
            <a:r>
              <a:rPr lang="en-US" altLang="zh-CN" sz="3000" dirty="0">
                <a:sym typeface="Wingdings" pitchFamily="2" charset="2"/>
              </a:rPr>
              <a:t>	</a:t>
            </a:r>
            <a:r>
              <a:rPr lang="zh-CN" altLang="en-US" sz="3000" dirty="0">
                <a:sym typeface="Wingdings" pitchFamily="2" charset="2"/>
              </a:rPr>
              <a:t>；</a:t>
            </a:r>
            <a:r>
              <a:rPr lang="en-US" altLang="zh-CN" sz="3000" dirty="0">
                <a:sym typeface="Wingdings" pitchFamily="2" charset="2"/>
              </a:rPr>
              <a:t>B</a:t>
            </a:r>
            <a:r>
              <a:rPr lang="zh-CN" altLang="en-US" sz="3000" dirty="0">
                <a:sym typeface="Wingdings" pitchFamily="2" charset="2"/>
              </a:rPr>
              <a:t>：烯烃</a:t>
            </a:r>
            <a:endParaRPr lang="en-US" altLang="zh-CN" sz="3000" dirty="0">
              <a:sym typeface="Wingdings" pitchFamily="2" charset="2"/>
            </a:endParaRPr>
          </a:p>
          <a:p>
            <a:pPr marL="514350" indent="-514350">
              <a:spcBef>
                <a:spcPts val="0"/>
              </a:spcBef>
              <a:buNone/>
            </a:pPr>
            <a:r>
              <a:rPr lang="en-US" altLang="zh-CN" sz="3000" dirty="0">
                <a:sym typeface="Wingdings" pitchFamily="2" charset="2"/>
              </a:rPr>
              <a:t>		</a:t>
            </a:r>
            <a:r>
              <a:rPr lang="en-US" altLang="zh-CN" sz="3000" dirty="0" err="1">
                <a:sym typeface="Wingdings" pitchFamily="2" charset="2"/>
              </a:rPr>
              <a:t>C</a:t>
            </a:r>
            <a:r>
              <a:rPr lang="en-US" altLang="zh-CN" sz="3000" baseline="-25000" dirty="0" err="1">
                <a:sym typeface="Wingdings" pitchFamily="2" charset="2"/>
              </a:rPr>
              <a:t>n</a:t>
            </a:r>
            <a:r>
              <a:rPr lang="en-US" altLang="zh-CN" sz="3000" baseline="-25000" dirty="0">
                <a:sym typeface="Wingdings" pitchFamily="2" charset="2"/>
              </a:rPr>
              <a:t> </a:t>
            </a:r>
            <a:r>
              <a:rPr lang="en-US" altLang="zh-CN" sz="3000" dirty="0">
                <a:sym typeface="Wingdings" pitchFamily="2" charset="2"/>
              </a:rPr>
              <a:t>H</a:t>
            </a:r>
            <a:r>
              <a:rPr lang="en-US" altLang="zh-CN" sz="3000" baseline="-25000" dirty="0">
                <a:sym typeface="Wingdings" pitchFamily="2" charset="2"/>
              </a:rPr>
              <a:t>2n</a:t>
            </a:r>
            <a:r>
              <a:rPr lang="en-US" altLang="zh-CN" sz="3000" dirty="0">
                <a:sym typeface="Wingdings" pitchFamily="2" charset="2"/>
              </a:rPr>
              <a:t> + Br</a:t>
            </a:r>
            <a:r>
              <a:rPr lang="en-US" altLang="zh-CN" sz="3000" baseline="-25000" dirty="0">
                <a:sym typeface="Wingdings" pitchFamily="2" charset="2"/>
              </a:rPr>
              <a:t>2</a:t>
            </a:r>
            <a:r>
              <a:rPr lang="en-US" altLang="zh-CN" sz="3000" dirty="0">
                <a:sym typeface="Wingdings" pitchFamily="2" charset="2"/>
              </a:rPr>
              <a:t>  C</a:t>
            </a:r>
            <a:r>
              <a:rPr lang="en-US" altLang="zh-CN" sz="3000" baseline="-25000" dirty="0">
                <a:sym typeface="Wingdings" pitchFamily="2" charset="2"/>
              </a:rPr>
              <a:t>n</a:t>
            </a:r>
            <a:r>
              <a:rPr lang="en-US" altLang="zh-CN" sz="3000" dirty="0">
                <a:sym typeface="Wingdings" pitchFamily="2" charset="2"/>
              </a:rPr>
              <a:t>H</a:t>
            </a:r>
            <a:r>
              <a:rPr lang="en-US" altLang="zh-CN" sz="3000" baseline="-25000" dirty="0">
                <a:sym typeface="Wingdings" pitchFamily="2" charset="2"/>
              </a:rPr>
              <a:t>2n</a:t>
            </a:r>
            <a:r>
              <a:rPr lang="en-US" altLang="zh-CN" sz="3000" dirty="0">
                <a:sym typeface="Wingdings" pitchFamily="2" charset="2"/>
              </a:rPr>
              <a:t>Br</a:t>
            </a:r>
            <a:r>
              <a:rPr lang="en-US" altLang="zh-CN" sz="3000" baseline="-25000" dirty="0">
                <a:sym typeface="Wingdings" pitchFamily="2" charset="2"/>
              </a:rPr>
              <a:t>2</a:t>
            </a:r>
            <a:r>
              <a:rPr lang="en-US" altLang="zh-CN" sz="3000" dirty="0">
                <a:sym typeface="Wingdings" pitchFamily="2" charset="2"/>
              </a:rPr>
              <a:t> </a:t>
            </a:r>
          </a:p>
          <a:p>
            <a:pPr marL="514350" indent="-514350">
              <a:spcBef>
                <a:spcPts val="0"/>
              </a:spcBef>
              <a:buNone/>
            </a:pPr>
            <a:r>
              <a:rPr lang="en-US" altLang="zh-CN" sz="3000" dirty="0">
                <a:sym typeface="Wingdings" pitchFamily="2" charset="2"/>
              </a:rPr>
              <a:t>		5.6g	     12.8g</a:t>
            </a:r>
          </a:p>
          <a:p>
            <a:pPr marL="514350" indent="-514350">
              <a:spcBef>
                <a:spcPts val="0"/>
              </a:spcBef>
              <a:buNone/>
            </a:pPr>
            <a:r>
              <a:rPr lang="en-US" altLang="zh-CN" sz="3000" dirty="0">
                <a:sym typeface="Wingdings" pitchFamily="2" charset="2"/>
              </a:rPr>
              <a:t>		14n	    160</a:t>
            </a:r>
          </a:p>
          <a:p>
            <a:pPr marL="514350" indent="-514350">
              <a:spcBef>
                <a:spcPts val="0"/>
              </a:spcBef>
              <a:buNone/>
            </a:pPr>
            <a:r>
              <a:rPr lang="en-US" altLang="zh-CN" sz="3000" dirty="0">
                <a:sym typeface="Wingdings" pitchFamily="2" charset="2"/>
              </a:rPr>
              <a:t>		</a:t>
            </a:r>
            <a:r>
              <a:rPr lang="en-US" altLang="zh-CN" sz="3000" dirty="0"/>
              <a:t>n=5	</a:t>
            </a:r>
          </a:p>
          <a:p>
            <a:pPr marL="514350" indent="-514350">
              <a:spcBef>
                <a:spcPts val="0"/>
              </a:spcBef>
              <a:buNone/>
            </a:pPr>
            <a:r>
              <a:rPr lang="zh-CN" altLang="en-US" sz="3000" dirty="0"/>
              <a:t>烃</a:t>
            </a:r>
            <a:r>
              <a:rPr lang="en-US" altLang="zh-CN" sz="3000" dirty="0"/>
              <a:t>B</a:t>
            </a:r>
            <a:r>
              <a:rPr lang="zh-CN" altLang="en-US" sz="3000" dirty="0"/>
              <a:t>为</a:t>
            </a:r>
            <a:r>
              <a:rPr lang="en-US" altLang="zh-CN" sz="3000" dirty="0"/>
              <a:t> C</a:t>
            </a:r>
            <a:r>
              <a:rPr lang="en-US" altLang="zh-CN" sz="3000" baseline="-25000" dirty="0"/>
              <a:t>5</a:t>
            </a:r>
            <a:r>
              <a:rPr lang="en-US" altLang="zh-CN" sz="3000" dirty="0"/>
              <a:t>H</a:t>
            </a:r>
            <a:r>
              <a:rPr lang="en-US" altLang="zh-CN" sz="3000" baseline="-25000" dirty="0"/>
              <a:t>10</a:t>
            </a:r>
            <a:r>
              <a:rPr lang="en-US" altLang="zh-CN" sz="3000" dirty="0"/>
              <a:t> </a:t>
            </a:r>
          </a:p>
          <a:p>
            <a:pPr marL="514350" indent="-514350">
              <a:spcBef>
                <a:spcPts val="0"/>
              </a:spcBef>
              <a:buNone/>
            </a:pPr>
            <a:r>
              <a:rPr lang="zh-CN" altLang="en-US" sz="3000" dirty="0"/>
              <a:t>烃</a:t>
            </a:r>
            <a:r>
              <a:rPr lang="en-US" altLang="zh-CN" sz="3000" dirty="0"/>
              <a:t>A</a:t>
            </a:r>
            <a:r>
              <a:rPr lang="zh-CN" altLang="en-US" sz="3000" dirty="0"/>
              <a:t>为</a:t>
            </a:r>
            <a:r>
              <a:rPr lang="en-US" altLang="zh-CN" sz="3000" dirty="0"/>
              <a:t> C</a:t>
            </a:r>
            <a:r>
              <a:rPr lang="en-US" altLang="zh-CN" sz="3000" baseline="-25000" dirty="0"/>
              <a:t>5</a:t>
            </a:r>
            <a:r>
              <a:rPr lang="en-US" altLang="zh-CN" sz="3000" dirty="0"/>
              <a:t>H</a:t>
            </a:r>
            <a:r>
              <a:rPr lang="en-US" altLang="zh-CN" sz="3000" baseline="-25000" dirty="0"/>
              <a:t>8</a:t>
            </a:r>
            <a:r>
              <a:rPr lang="en-US" altLang="zh-CN" sz="3000" dirty="0"/>
              <a:t>  </a:t>
            </a:r>
            <a:r>
              <a:rPr lang="zh-CN" altLang="en-US" sz="3000" dirty="0"/>
              <a:t>（</a:t>
            </a:r>
            <a:r>
              <a:rPr lang="en-US" altLang="zh-CN" sz="3000" dirty="0"/>
              <a:t>1-</a:t>
            </a:r>
            <a:r>
              <a:rPr lang="zh-CN" altLang="en-US" sz="3000" dirty="0"/>
              <a:t>戊炔、</a:t>
            </a:r>
            <a:r>
              <a:rPr lang="en-US" altLang="zh-CN" sz="3000" dirty="0"/>
              <a:t>2-</a:t>
            </a:r>
            <a:r>
              <a:rPr lang="zh-CN" altLang="en-US" sz="3000" dirty="0"/>
              <a:t>戊炔、</a:t>
            </a:r>
            <a:r>
              <a:rPr lang="en-US" altLang="zh-CN" sz="3000" dirty="0"/>
              <a:t>3-</a:t>
            </a:r>
            <a:r>
              <a:rPr lang="zh-CN" altLang="en-US" sz="3000" dirty="0"/>
              <a:t>甲基</a:t>
            </a:r>
            <a:r>
              <a:rPr lang="en-US" altLang="zh-CN" sz="3000" dirty="0"/>
              <a:t>-1-</a:t>
            </a:r>
            <a:r>
              <a:rPr lang="zh-CN" altLang="en-US" sz="3000" dirty="0"/>
              <a:t>丁炔 ）</a:t>
            </a:r>
            <a:endParaRPr lang="en-US" altLang="zh-CN" sz="3000" dirty="0"/>
          </a:p>
          <a:p>
            <a:pPr marL="514350" indent="-514350">
              <a:spcBef>
                <a:spcPts val="0"/>
              </a:spcBef>
              <a:buNone/>
            </a:pPr>
            <a:r>
              <a:rPr lang="zh-CN" altLang="en-US" sz="3000" b="1" dirty="0">
                <a:solidFill>
                  <a:srgbClr val="002060"/>
                </a:solidFill>
                <a:effectLst>
                  <a:outerShdw blurRad="38100" dist="38100" dir="2700000" algn="tl">
                    <a:srgbClr val="000000">
                      <a:alpha val="43137"/>
                    </a:srgbClr>
                  </a:outerShdw>
                </a:effectLst>
              </a:rPr>
              <a:t>结构简式</a:t>
            </a:r>
            <a:endParaRPr lang="en-US" altLang="zh-CN" sz="3000" b="1" dirty="0">
              <a:solidFill>
                <a:srgbClr val="002060"/>
              </a:solidFill>
              <a:effectLst>
                <a:outerShdw blurRad="38100" dist="38100" dir="2700000" algn="tl">
                  <a:srgbClr val="000000">
                    <a:alpha val="43137"/>
                  </a:srgbClr>
                </a:outerShdw>
              </a:effectLst>
            </a:endParaRPr>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35863313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4. </a:t>
            </a:r>
            <a:r>
              <a:rPr lang="zh-CN" altLang="en-US" sz="3000" dirty="0"/>
              <a:t>两种烃的</a:t>
            </a:r>
            <a:r>
              <a:rPr lang="en-US" altLang="zh-CN" sz="3000" dirty="0"/>
              <a:t>C</a:t>
            </a:r>
            <a:r>
              <a:rPr lang="zh-CN" altLang="en-US" sz="3000" dirty="0"/>
              <a:t>原子个数比</a:t>
            </a:r>
            <a:r>
              <a:rPr lang="en-US" altLang="zh-CN" sz="3000" dirty="0"/>
              <a:t>=1</a:t>
            </a:r>
            <a:r>
              <a:rPr lang="zh-CN" altLang="en-US" sz="3000" dirty="0"/>
              <a:t>：</a:t>
            </a:r>
            <a:r>
              <a:rPr lang="en-US" altLang="zh-CN" sz="3000" dirty="0"/>
              <a:t>2</a:t>
            </a:r>
          </a:p>
          <a:p>
            <a:pPr marL="514350" indent="-514350">
              <a:buNone/>
            </a:pPr>
            <a:r>
              <a:rPr lang="en-US" altLang="zh-CN" sz="3000" dirty="0"/>
              <a:t>			H</a:t>
            </a:r>
            <a:r>
              <a:rPr lang="zh-CN" altLang="en-US" sz="3000" dirty="0"/>
              <a:t>原子个数比</a:t>
            </a:r>
            <a:r>
              <a:rPr lang="en-US" altLang="zh-CN" sz="3000" dirty="0"/>
              <a:t>=2</a:t>
            </a:r>
            <a:r>
              <a:rPr lang="zh-CN" altLang="en-US" sz="3000" dirty="0"/>
              <a:t>：</a:t>
            </a:r>
            <a:r>
              <a:rPr lang="en-US" altLang="zh-CN" sz="3000" dirty="0"/>
              <a:t>3</a:t>
            </a:r>
          </a:p>
          <a:p>
            <a:pPr marL="514350" indent="-514350">
              <a:buNone/>
            </a:pPr>
            <a:r>
              <a:rPr lang="zh-CN" altLang="en-US" sz="3000" dirty="0"/>
              <a:t>可能的组合：</a:t>
            </a:r>
            <a:r>
              <a:rPr lang="en-US" altLang="zh-CN" sz="3000" dirty="0"/>
              <a:t>CH</a:t>
            </a:r>
            <a:r>
              <a:rPr lang="en-US" altLang="zh-CN" sz="3000" baseline="-25000" dirty="0"/>
              <a:t>4</a:t>
            </a:r>
            <a:r>
              <a:rPr lang="en-US" altLang="zh-CN" sz="3000" dirty="0"/>
              <a:t>  C</a:t>
            </a:r>
            <a:r>
              <a:rPr lang="en-US" altLang="zh-CN" sz="3000" baseline="-25000" dirty="0"/>
              <a:t>2</a:t>
            </a:r>
            <a:r>
              <a:rPr lang="en-US" altLang="zh-CN" sz="3000" dirty="0"/>
              <a:t>H</a:t>
            </a:r>
            <a:r>
              <a:rPr lang="en-US" altLang="zh-CN" sz="3000" baseline="-25000" dirty="0"/>
              <a:t>6</a:t>
            </a:r>
            <a:r>
              <a:rPr lang="en-US" altLang="zh-CN" sz="3000" dirty="0"/>
              <a:t> </a:t>
            </a:r>
          </a:p>
          <a:p>
            <a:pPr marL="514350" indent="-514350">
              <a:buNone/>
            </a:pPr>
            <a:r>
              <a:rPr lang="en-US" altLang="zh-CN" sz="3000" dirty="0"/>
              <a:t>			     C</a:t>
            </a:r>
            <a:r>
              <a:rPr lang="en-US" altLang="zh-CN" sz="3000" baseline="-25000" dirty="0"/>
              <a:t>2</a:t>
            </a:r>
            <a:r>
              <a:rPr lang="en-US" altLang="zh-CN" sz="3000" dirty="0"/>
              <a:t>H</a:t>
            </a:r>
            <a:r>
              <a:rPr lang="en-US" altLang="zh-CN" sz="3000" baseline="-25000" dirty="0"/>
              <a:t>2</a:t>
            </a:r>
            <a:r>
              <a:rPr lang="en-US" altLang="zh-CN" sz="3000" dirty="0"/>
              <a:t>  </a:t>
            </a:r>
            <a:r>
              <a:rPr lang="en-US" altLang="zh-CN" sz="3000" dirty="0">
                <a:solidFill>
                  <a:srgbClr val="7030A0"/>
                </a:solidFill>
              </a:rPr>
              <a:t>C</a:t>
            </a:r>
            <a:r>
              <a:rPr lang="en-US" altLang="zh-CN" sz="3000" baseline="-25000" dirty="0">
                <a:solidFill>
                  <a:srgbClr val="7030A0"/>
                </a:solidFill>
              </a:rPr>
              <a:t>4</a:t>
            </a:r>
            <a:r>
              <a:rPr lang="en-US" altLang="zh-CN" sz="3000" dirty="0">
                <a:solidFill>
                  <a:srgbClr val="7030A0"/>
                </a:solidFill>
              </a:rPr>
              <a:t>H</a:t>
            </a:r>
            <a:r>
              <a:rPr lang="en-US" altLang="zh-CN" sz="3000" baseline="-25000" dirty="0">
                <a:solidFill>
                  <a:srgbClr val="7030A0"/>
                </a:solidFill>
              </a:rPr>
              <a:t>3</a:t>
            </a:r>
            <a:r>
              <a:rPr lang="en-US" altLang="zh-CN" sz="3000" dirty="0">
                <a:solidFill>
                  <a:srgbClr val="7030A0"/>
                </a:solidFill>
              </a:rPr>
              <a:t> (</a:t>
            </a:r>
            <a:r>
              <a:rPr lang="zh-CN" altLang="en-US" sz="3000" dirty="0">
                <a:solidFill>
                  <a:srgbClr val="7030A0"/>
                </a:solidFill>
              </a:rPr>
              <a:t>不存在</a:t>
            </a:r>
            <a:r>
              <a:rPr lang="en-US" altLang="zh-CN" sz="3000" dirty="0">
                <a:solidFill>
                  <a:srgbClr val="7030A0"/>
                </a:solidFill>
              </a:rPr>
              <a:t>) </a:t>
            </a:r>
          </a:p>
          <a:p>
            <a:pPr marL="514350" indent="-514350">
              <a:buNone/>
            </a:pPr>
            <a:r>
              <a:rPr lang="en-US" altLang="zh-CN" sz="3000" dirty="0"/>
              <a:t>			     C</a:t>
            </a:r>
            <a:r>
              <a:rPr lang="en-US" altLang="zh-CN" sz="3000" baseline="-25000" dirty="0"/>
              <a:t>2</a:t>
            </a:r>
            <a:r>
              <a:rPr lang="en-US" altLang="zh-CN" sz="3000" dirty="0"/>
              <a:t>H</a:t>
            </a:r>
            <a:r>
              <a:rPr lang="en-US" altLang="zh-CN" sz="3000" baseline="-25000" dirty="0"/>
              <a:t>4</a:t>
            </a:r>
            <a:r>
              <a:rPr lang="en-US" altLang="zh-CN" sz="3000" dirty="0"/>
              <a:t>  C</a:t>
            </a:r>
            <a:r>
              <a:rPr lang="en-US" altLang="zh-CN" sz="3000" baseline="-25000" dirty="0"/>
              <a:t>4</a:t>
            </a:r>
            <a:r>
              <a:rPr lang="en-US" altLang="zh-CN" sz="3000" dirty="0"/>
              <a:t>H</a:t>
            </a:r>
            <a:r>
              <a:rPr lang="en-US" altLang="zh-CN" sz="3000" baseline="-25000" dirty="0"/>
              <a:t>6</a:t>
            </a:r>
          </a:p>
          <a:p>
            <a:pPr marL="514350" indent="-514350">
              <a:buNone/>
            </a:pPr>
            <a:r>
              <a:rPr lang="en-US" altLang="zh-CN" sz="3000" dirty="0"/>
              <a:t>			     C</a:t>
            </a:r>
            <a:r>
              <a:rPr lang="en-US" altLang="zh-CN" sz="3000" baseline="-25000" dirty="0"/>
              <a:t>2</a:t>
            </a:r>
            <a:r>
              <a:rPr lang="en-US" altLang="zh-CN" sz="3000" dirty="0"/>
              <a:t>H</a:t>
            </a:r>
            <a:r>
              <a:rPr lang="en-US" altLang="zh-CN" sz="3000" baseline="-25000" dirty="0"/>
              <a:t>6</a:t>
            </a:r>
            <a:r>
              <a:rPr lang="en-US" altLang="zh-CN" sz="3000" dirty="0"/>
              <a:t>  </a:t>
            </a:r>
            <a:r>
              <a:rPr lang="en-US" altLang="zh-CN" sz="3000" dirty="0">
                <a:solidFill>
                  <a:srgbClr val="7030A0"/>
                </a:solidFill>
              </a:rPr>
              <a:t>C</a:t>
            </a:r>
            <a:r>
              <a:rPr lang="en-US" altLang="zh-CN" sz="3000" baseline="-25000" dirty="0">
                <a:solidFill>
                  <a:srgbClr val="7030A0"/>
                </a:solidFill>
              </a:rPr>
              <a:t>4</a:t>
            </a:r>
            <a:r>
              <a:rPr lang="en-US" altLang="zh-CN" sz="3000" dirty="0">
                <a:solidFill>
                  <a:srgbClr val="7030A0"/>
                </a:solidFill>
              </a:rPr>
              <a:t>H</a:t>
            </a:r>
            <a:r>
              <a:rPr lang="en-US" altLang="zh-CN" sz="3000" baseline="-25000" dirty="0">
                <a:solidFill>
                  <a:srgbClr val="7030A0"/>
                </a:solidFill>
              </a:rPr>
              <a:t>9</a:t>
            </a:r>
            <a:r>
              <a:rPr lang="en-US" altLang="zh-CN" sz="3000" dirty="0">
                <a:solidFill>
                  <a:srgbClr val="7030A0"/>
                </a:solidFill>
              </a:rPr>
              <a:t> (</a:t>
            </a:r>
            <a:r>
              <a:rPr lang="zh-CN" altLang="en-US" sz="3000" dirty="0">
                <a:solidFill>
                  <a:srgbClr val="7030A0"/>
                </a:solidFill>
              </a:rPr>
              <a:t>不存在</a:t>
            </a:r>
            <a:r>
              <a:rPr lang="en-US" altLang="zh-CN" sz="3000" dirty="0">
                <a:solidFill>
                  <a:srgbClr val="7030A0"/>
                </a:solidFill>
              </a:rPr>
              <a:t>) </a:t>
            </a:r>
            <a:endParaRPr lang="en-US" altLang="zh-CN" sz="3000" dirty="0"/>
          </a:p>
          <a:p>
            <a:pPr marL="514350" indent="-514350">
              <a:buNone/>
            </a:pPr>
            <a:r>
              <a:rPr lang="en-US" altLang="zh-CN" sz="3000" dirty="0"/>
              <a:t>			     C</a:t>
            </a:r>
            <a:r>
              <a:rPr lang="en-US" altLang="zh-CN" sz="3000" baseline="-25000" dirty="0"/>
              <a:t>3</a:t>
            </a:r>
            <a:r>
              <a:rPr lang="en-US" altLang="zh-CN" sz="3000" dirty="0"/>
              <a:t>H</a:t>
            </a:r>
            <a:r>
              <a:rPr lang="en-US" altLang="zh-CN" sz="3000" baseline="-25000" dirty="0"/>
              <a:t>4</a:t>
            </a:r>
            <a:r>
              <a:rPr lang="en-US" altLang="zh-CN" sz="3000" dirty="0"/>
              <a:t>  C</a:t>
            </a:r>
            <a:r>
              <a:rPr lang="en-US" altLang="zh-CN" sz="3000" baseline="-25000" dirty="0"/>
              <a:t>6</a:t>
            </a:r>
            <a:r>
              <a:rPr lang="en-US" altLang="zh-CN" sz="3000" dirty="0"/>
              <a:t>H</a:t>
            </a:r>
            <a:r>
              <a:rPr lang="en-US" altLang="zh-CN" sz="3000" baseline="-25000" dirty="0"/>
              <a:t>6</a:t>
            </a:r>
            <a:r>
              <a:rPr lang="en-US" altLang="zh-CN" sz="3000" dirty="0"/>
              <a:t> </a:t>
            </a:r>
          </a:p>
          <a:p>
            <a:pPr marL="514350" indent="-514350">
              <a:buNone/>
            </a:pP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34825154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5. </a:t>
            </a:r>
            <a:r>
              <a:rPr lang="zh-CN" altLang="en-US" sz="3000" dirty="0"/>
              <a:t>已知一个</a:t>
            </a:r>
            <a:r>
              <a:rPr lang="en-US" altLang="zh-CN" sz="3000" dirty="0"/>
              <a:t>C=C</a:t>
            </a:r>
            <a:r>
              <a:rPr lang="zh-CN" altLang="en-US" sz="3000" dirty="0"/>
              <a:t>被氧化生成</a:t>
            </a:r>
            <a:r>
              <a:rPr lang="en-US" altLang="zh-CN" sz="3000" dirty="0"/>
              <a:t>2</a:t>
            </a:r>
            <a:r>
              <a:rPr lang="zh-CN" altLang="en-US" sz="3000" dirty="0"/>
              <a:t>醛基；</a:t>
            </a:r>
            <a:endParaRPr lang="en-MY" altLang="zh-CN" sz="3000" dirty="0"/>
          </a:p>
          <a:p>
            <a:pPr marL="514350" indent="-514350">
              <a:buNone/>
            </a:pPr>
            <a:r>
              <a:rPr lang="en-MY" altLang="zh-CN" sz="3000" dirty="0"/>
              <a:t>	       </a:t>
            </a:r>
            <a:r>
              <a:rPr lang="zh-CN" altLang="en-US" sz="3000" dirty="0"/>
              <a:t>一个</a:t>
            </a:r>
            <a:r>
              <a:rPr lang="en-US" altLang="zh-CN" sz="3000" dirty="0"/>
              <a:t>C≡C</a:t>
            </a:r>
            <a:r>
              <a:rPr lang="zh-CN" altLang="en-US" sz="3000" dirty="0"/>
              <a:t>被氧化生成</a:t>
            </a:r>
            <a:r>
              <a:rPr lang="en-US" altLang="zh-CN" sz="3000" dirty="0"/>
              <a:t>2</a:t>
            </a:r>
            <a:r>
              <a:rPr lang="zh-CN" altLang="en-US" sz="3000" dirty="0"/>
              <a:t>羧基。</a:t>
            </a:r>
            <a:endParaRPr lang="en-MY" altLang="zh-CN" sz="3000" dirty="0"/>
          </a:p>
          <a:p>
            <a:pPr marL="514350" indent="-514350">
              <a:buNone/>
            </a:pPr>
            <a:r>
              <a:rPr lang="zh-CN" altLang="en-US" sz="3000" dirty="0"/>
              <a:t>且</a:t>
            </a:r>
            <a:r>
              <a:rPr lang="en-US" altLang="zh-CN" sz="3000" dirty="0"/>
              <a:t>C</a:t>
            </a:r>
            <a:r>
              <a:rPr lang="en-US" altLang="zh-CN" sz="3000" baseline="-25000" dirty="0"/>
              <a:t>10</a:t>
            </a:r>
            <a:r>
              <a:rPr lang="en-US" altLang="zh-CN" sz="3000" dirty="0"/>
              <a:t>H</a:t>
            </a:r>
            <a:r>
              <a:rPr lang="en-US" altLang="zh-CN" sz="3000" baseline="-25000" dirty="0"/>
              <a:t>10</a:t>
            </a:r>
            <a:r>
              <a:rPr lang="en-US" altLang="zh-CN" sz="3000" dirty="0"/>
              <a:t> </a:t>
            </a:r>
            <a:r>
              <a:rPr lang="zh-CN" altLang="en-US" sz="3000" dirty="0"/>
              <a:t>被氧化后生成</a:t>
            </a:r>
            <a:r>
              <a:rPr lang="en-US" altLang="zh-CN" sz="3000" dirty="0"/>
              <a:t>4</a:t>
            </a:r>
            <a:r>
              <a:rPr lang="zh-CN" altLang="en-US" sz="3000" dirty="0"/>
              <a:t>醛基和</a:t>
            </a:r>
            <a:r>
              <a:rPr lang="en-US" altLang="zh-CN" sz="3000" dirty="0"/>
              <a:t>4</a:t>
            </a:r>
            <a:r>
              <a:rPr lang="zh-CN" altLang="en-US" sz="3000" dirty="0"/>
              <a:t>羧基，</a:t>
            </a:r>
            <a:endParaRPr lang="en-MY" altLang="zh-CN" sz="3000" dirty="0"/>
          </a:p>
          <a:p>
            <a:pPr marL="514350" indent="-514350">
              <a:buNone/>
            </a:pPr>
            <a:r>
              <a:rPr lang="zh-CN" altLang="en-US" sz="3000" dirty="0"/>
              <a:t>则</a:t>
            </a:r>
            <a:r>
              <a:rPr lang="en-MY" altLang="zh-CN" sz="3000" dirty="0"/>
              <a:t>(1) </a:t>
            </a:r>
            <a:r>
              <a:rPr lang="en-US" altLang="zh-CN" sz="3000" dirty="0"/>
              <a:t>C</a:t>
            </a:r>
            <a:r>
              <a:rPr lang="en-US" altLang="zh-CN" sz="3000" baseline="-25000" dirty="0"/>
              <a:t>10</a:t>
            </a:r>
            <a:r>
              <a:rPr lang="en-US" altLang="zh-CN" sz="3000" dirty="0"/>
              <a:t>H</a:t>
            </a:r>
            <a:r>
              <a:rPr lang="en-US" altLang="zh-CN" sz="3000" baseline="-25000" dirty="0"/>
              <a:t>10</a:t>
            </a:r>
            <a:r>
              <a:rPr lang="en-US" altLang="zh-CN" sz="3000" dirty="0"/>
              <a:t> </a:t>
            </a:r>
            <a:r>
              <a:rPr lang="zh-CN" altLang="en-US" sz="3000" dirty="0"/>
              <a:t>分子中含</a:t>
            </a:r>
            <a:r>
              <a:rPr lang="en-US" altLang="zh-CN" sz="3000" dirty="0"/>
              <a:t>2</a:t>
            </a:r>
            <a:r>
              <a:rPr lang="zh-CN" altLang="en-US" sz="3000" dirty="0"/>
              <a:t>个双键，</a:t>
            </a:r>
            <a:r>
              <a:rPr lang="en-US" altLang="zh-CN" sz="3000" dirty="0"/>
              <a:t>2</a:t>
            </a:r>
            <a:r>
              <a:rPr lang="zh-CN" altLang="en-US" sz="3000" dirty="0"/>
              <a:t>个三键</a:t>
            </a:r>
            <a:endParaRPr lang="en-MY" altLang="zh-CN" sz="3000" dirty="0"/>
          </a:p>
          <a:p>
            <a:pPr marL="514350" indent="-514350">
              <a:buNone/>
            </a:pPr>
            <a:r>
              <a:rPr lang="en-MY" altLang="zh-CN" sz="3000" dirty="0"/>
              <a:t>(2) H</a:t>
            </a:r>
            <a:r>
              <a:rPr lang="en-MY" altLang="zh-CN" sz="3000" baseline="-25000" dirty="0"/>
              <a:t>3</a:t>
            </a:r>
            <a:r>
              <a:rPr lang="en-MY" altLang="zh-CN" sz="3000" dirty="0"/>
              <a:t>C-C</a:t>
            </a:r>
            <a:r>
              <a:rPr lang="en-US" altLang="zh-CN" sz="3000" dirty="0"/>
              <a:t>≡C-CH=CH-C≡C-CH=CH-CH</a:t>
            </a:r>
            <a:r>
              <a:rPr lang="en-US" altLang="zh-CN" sz="3000" baseline="-25000" dirty="0"/>
              <a:t>3</a:t>
            </a:r>
            <a:r>
              <a:rPr lang="en-US" altLang="zh-CN" sz="3000" dirty="0"/>
              <a:t> </a:t>
            </a:r>
          </a:p>
          <a:p>
            <a:pPr marL="514350" indent="-514350">
              <a:buNone/>
            </a:pPr>
            <a:endParaRPr lang="en-US" altLang="zh-CN" sz="3000" dirty="0"/>
          </a:p>
          <a:p>
            <a:pPr marL="514350" indent="-514350">
              <a:buNone/>
            </a:pPr>
            <a:r>
              <a:rPr lang="en-US" altLang="zh-CN" sz="3000" dirty="0"/>
              <a:t>6. 	</a:t>
            </a:r>
            <a:r>
              <a:rPr lang="en-MY" altLang="zh-CN" sz="3000" dirty="0"/>
              <a:t>(1) (n-1)</a:t>
            </a:r>
            <a:r>
              <a:rPr lang="zh-CN" altLang="en-US" sz="3000" dirty="0"/>
              <a:t>对</a:t>
            </a:r>
            <a:endParaRPr lang="en-MY" altLang="zh-CN" sz="3000" dirty="0"/>
          </a:p>
          <a:p>
            <a:pPr marL="514350" indent="-514350">
              <a:buNone/>
            </a:pPr>
            <a:r>
              <a:rPr lang="en-MY" altLang="zh-CN" sz="3000" dirty="0"/>
              <a:t>	(2) (n+3)</a:t>
            </a:r>
            <a:r>
              <a:rPr lang="zh-CN" altLang="en-US" sz="3000" dirty="0"/>
              <a:t>对</a:t>
            </a:r>
            <a:endParaRPr lang="en-MY" altLang="zh-CN" sz="3000" dirty="0"/>
          </a:p>
          <a:p>
            <a:pPr marL="514350" indent="-514350">
              <a:buNone/>
            </a:pPr>
            <a:r>
              <a:rPr lang="en-MY" altLang="zh-CN" sz="3000" dirty="0"/>
              <a:t>	(3) C</a:t>
            </a:r>
            <a:r>
              <a:rPr lang="en-MY" altLang="zh-CN" sz="3000" baseline="-25000" dirty="0"/>
              <a:t>80</a:t>
            </a:r>
            <a:r>
              <a:rPr lang="en-MY" altLang="zh-CN" sz="3000" dirty="0"/>
              <a:t> </a:t>
            </a:r>
            <a:r>
              <a:rPr lang="zh-CN" altLang="en-US" sz="3000" dirty="0"/>
              <a:t>；</a:t>
            </a:r>
            <a:r>
              <a:rPr lang="en-MY" altLang="zh-CN" sz="3000" dirty="0"/>
              <a:t>C</a:t>
            </a:r>
            <a:r>
              <a:rPr lang="en-MY" altLang="zh-CN" sz="3000" baseline="-25000" dirty="0"/>
              <a:t>160</a:t>
            </a:r>
            <a:r>
              <a:rPr lang="en-MY" altLang="zh-CN" sz="3000" dirty="0"/>
              <a:t>H</a:t>
            </a:r>
            <a:r>
              <a:rPr lang="en-MY" altLang="zh-CN" sz="3000" baseline="-25000" dirty="0"/>
              <a:t>320</a:t>
            </a:r>
            <a:endParaRPr lang="en-US" altLang="zh-CN"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16010464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152400" y="990600"/>
            <a:ext cx="8839200" cy="5867400"/>
          </a:xfrm>
        </p:spPr>
        <p:txBody>
          <a:bodyPr>
            <a:noAutofit/>
          </a:bodyPr>
          <a:lstStyle/>
          <a:p>
            <a:pPr marL="0" indent="0">
              <a:spcBef>
                <a:spcPts val="1200"/>
              </a:spcBef>
              <a:buNone/>
            </a:pPr>
            <a:r>
              <a:rPr lang="en-US" altLang="zh-CN" sz="3000" dirty="0">
                <a:sym typeface="Wingdings" pitchFamily="2" charset="2"/>
              </a:rPr>
              <a:t>7. </a:t>
            </a:r>
            <a:r>
              <a:rPr lang="en-MY" sz="3000" dirty="0"/>
              <a:t>CaCO</a:t>
            </a:r>
            <a:r>
              <a:rPr lang="en-MY" sz="3000" baseline="-25000" dirty="0"/>
              <a:t>3</a:t>
            </a:r>
            <a:r>
              <a:rPr lang="en-MY" sz="3000" dirty="0"/>
              <a:t> </a:t>
            </a:r>
            <a:r>
              <a:rPr lang="en-MY" sz="3000" dirty="0">
                <a:sym typeface="Wingdings" panose="05000000000000000000" pitchFamily="2" charset="2"/>
              </a:rPr>
              <a:t>         </a:t>
            </a:r>
            <a:r>
              <a:rPr lang="en-MY" sz="3000" dirty="0" err="1"/>
              <a:t>CaO</a:t>
            </a:r>
            <a:r>
              <a:rPr lang="en-MY" sz="3000" dirty="0"/>
              <a:t> + CO</a:t>
            </a:r>
            <a:r>
              <a:rPr lang="en-MY" sz="3000" baseline="-25000" dirty="0"/>
              <a:t>2</a:t>
            </a:r>
          </a:p>
          <a:p>
            <a:pPr marL="0" indent="0">
              <a:spcBef>
                <a:spcPts val="1200"/>
              </a:spcBef>
              <a:buNone/>
            </a:pPr>
            <a:r>
              <a:rPr lang="zh-CN" altLang="en-US" sz="3000" dirty="0"/>
              <a:t>反应</a:t>
            </a:r>
            <a:r>
              <a:rPr lang="en-US" altLang="zh-CN" sz="3000" dirty="0"/>
              <a:t>II</a:t>
            </a:r>
            <a:r>
              <a:rPr lang="en-MY" sz="3000" dirty="0"/>
              <a:t>	CO</a:t>
            </a:r>
            <a:r>
              <a:rPr lang="en-MY" sz="3000" baseline="-25000" dirty="0"/>
              <a:t>2</a:t>
            </a:r>
            <a:r>
              <a:rPr lang="en-MY" sz="3000" dirty="0"/>
              <a:t> </a:t>
            </a:r>
            <a:r>
              <a:rPr lang="en-US" altLang="zh-CN" sz="3000" dirty="0"/>
              <a:t>+ 2Mg            2MgO + C</a:t>
            </a:r>
          </a:p>
          <a:p>
            <a:pPr marL="0" indent="0">
              <a:spcBef>
                <a:spcPts val="1200"/>
              </a:spcBef>
              <a:buNone/>
            </a:pPr>
            <a:r>
              <a:rPr lang="zh-CN" altLang="en-US" sz="3000" dirty="0"/>
              <a:t>反应</a:t>
            </a:r>
            <a:r>
              <a:rPr lang="en-US" altLang="zh-CN" sz="3000" dirty="0"/>
              <a:t>III</a:t>
            </a:r>
            <a:r>
              <a:rPr lang="en-MY" sz="3000" dirty="0"/>
              <a:t>	</a:t>
            </a:r>
            <a:r>
              <a:rPr lang="en-MY" sz="3000" dirty="0" err="1"/>
              <a:t>CaO</a:t>
            </a:r>
            <a:r>
              <a:rPr lang="en-MY" sz="3000" dirty="0"/>
              <a:t> + 3 C         CaC</a:t>
            </a:r>
            <a:r>
              <a:rPr lang="en-MY" sz="3000" baseline="-25000" dirty="0"/>
              <a:t>2</a:t>
            </a:r>
            <a:r>
              <a:rPr lang="en-MY" sz="3000" dirty="0"/>
              <a:t> + CO</a:t>
            </a:r>
          </a:p>
          <a:p>
            <a:pPr marL="0" indent="0">
              <a:spcBef>
                <a:spcPts val="1200"/>
              </a:spcBef>
              <a:buNone/>
            </a:pPr>
            <a:r>
              <a:rPr lang="zh-CN" altLang="en-US" sz="3000" dirty="0"/>
              <a:t>氧化剂与还原剂物质的量之比</a:t>
            </a:r>
            <a:r>
              <a:rPr lang="en-US" altLang="zh-CN" sz="3000" dirty="0"/>
              <a:t>=2</a:t>
            </a:r>
            <a:r>
              <a:rPr lang="zh-CN" altLang="en-US" sz="3000" dirty="0"/>
              <a:t>：</a:t>
            </a:r>
            <a:r>
              <a:rPr lang="en-US" altLang="zh-CN" sz="3000" dirty="0"/>
              <a:t>1</a:t>
            </a:r>
            <a:endParaRPr lang="en-MY" sz="3000" dirty="0"/>
          </a:p>
          <a:p>
            <a:pPr marL="0" indent="0">
              <a:spcBef>
                <a:spcPts val="1200"/>
              </a:spcBef>
              <a:buNone/>
            </a:pPr>
            <a:r>
              <a:rPr lang="zh-CN" altLang="en-US" sz="3000" dirty="0"/>
              <a:t>反应</a:t>
            </a:r>
            <a:r>
              <a:rPr lang="en-US" altLang="zh-CN" sz="3000" dirty="0"/>
              <a:t>IV</a:t>
            </a:r>
            <a:r>
              <a:rPr lang="en-MY" sz="3000" dirty="0"/>
              <a:t>	CaC</a:t>
            </a:r>
            <a:r>
              <a:rPr lang="en-MY" sz="3000" baseline="-25000" dirty="0"/>
              <a:t>2</a:t>
            </a:r>
            <a:r>
              <a:rPr lang="en-MY" sz="3000" dirty="0"/>
              <a:t> + 2 H</a:t>
            </a:r>
            <a:r>
              <a:rPr lang="en-MY" sz="3000" baseline="-25000" dirty="0"/>
              <a:t>2</a:t>
            </a:r>
            <a:r>
              <a:rPr lang="en-MY" sz="3000" dirty="0"/>
              <a:t>O </a:t>
            </a:r>
            <a:r>
              <a:rPr lang="en-MY" sz="3000" dirty="0">
                <a:sym typeface="Wingdings" panose="05000000000000000000" pitchFamily="2" charset="2"/>
              </a:rPr>
              <a:t></a:t>
            </a:r>
            <a:r>
              <a:rPr lang="en-MY" sz="3000" dirty="0"/>
              <a:t> Ca(OH)</a:t>
            </a:r>
            <a:r>
              <a:rPr lang="en-MY" sz="3000" baseline="-25000" dirty="0"/>
              <a:t>2</a:t>
            </a:r>
            <a:r>
              <a:rPr lang="en-MY" sz="3000" dirty="0"/>
              <a:t> + C</a:t>
            </a:r>
            <a:r>
              <a:rPr lang="en-MY" sz="3000" baseline="-25000" dirty="0"/>
              <a:t>2</a:t>
            </a:r>
            <a:r>
              <a:rPr lang="en-MY" sz="3000" dirty="0"/>
              <a:t>H</a:t>
            </a:r>
            <a:r>
              <a:rPr lang="en-MY" sz="3000" baseline="-25000" dirty="0"/>
              <a:t>2</a:t>
            </a:r>
            <a:endParaRPr lang="en-MY" sz="3000" dirty="0"/>
          </a:p>
        </p:txBody>
      </p:sp>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a:noFill/>
                </a:ln>
                <a:solidFill>
                  <a:schemeClr val="tx1"/>
                </a:solidFill>
                <a:effectLst/>
                <a:uLnTx/>
                <a:uFillTx/>
                <a:latin typeface="+mn-ea"/>
                <a:ea typeface="+mj-ea"/>
                <a:cs typeface="+mj-cs"/>
              </a:rPr>
              <a:t>作答题</a:t>
            </a:r>
            <a:endParaRPr kumimoji="0" lang="en-US" sz="4800" b="1" i="0" u="none" strike="noStrike" kern="1200" cap="none" spc="0" normalizeH="0" baseline="0" noProof="0" dirty="0">
              <a:ln>
                <a:noFill/>
              </a:ln>
              <a:solidFill>
                <a:schemeClr val="tx1"/>
              </a:solidFill>
              <a:effectLst/>
              <a:uLnTx/>
              <a:uFillTx/>
              <a:latin typeface="+mj-lt"/>
              <a:ea typeface="+mj-ea"/>
              <a:cs typeface="+mj-cs"/>
            </a:endParaRPr>
          </a:p>
        </p:txBody>
      </p:sp>
      <p:grpSp>
        <p:nvGrpSpPr>
          <p:cNvPr id="10" name="Group 9">
            <a:extLst>
              <a:ext uri="{FF2B5EF4-FFF2-40B4-BE49-F238E27FC236}">
                <a16:creationId xmlns:a16="http://schemas.microsoft.com/office/drawing/2014/main" id="{F168D074-B05D-4366-BB33-118D86830DFD}"/>
              </a:ext>
            </a:extLst>
          </p:cNvPr>
          <p:cNvGrpSpPr/>
          <p:nvPr/>
        </p:nvGrpSpPr>
        <p:grpSpPr>
          <a:xfrm>
            <a:off x="1708680" y="1104106"/>
            <a:ext cx="684000" cy="230188"/>
            <a:chOff x="2590800" y="1903412"/>
            <a:chExt cx="684000" cy="230188"/>
          </a:xfrm>
        </p:grpSpPr>
        <p:cxnSp>
          <p:nvCxnSpPr>
            <p:cNvPr id="11" name="Straight Arrow Connector 10">
              <a:extLst>
                <a:ext uri="{FF2B5EF4-FFF2-40B4-BE49-F238E27FC236}">
                  <a16:creationId xmlns:a16="http://schemas.microsoft.com/office/drawing/2014/main" id="{EC70DC08-5297-4491-89A1-F6A2AB9834DF}"/>
                </a:ext>
              </a:extLst>
            </p:cNvPr>
            <p:cNvCxnSpPr/>
            <p:nvPr/>
          </p:nvCxnSpPr>
          <p:spPr bwMode="auto">
            <a:xfrm>
              <a:off x="2590800" y="2132012"/>
              <a:ext cx="68400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C50ECCC3-BE50-4157-B353-A3ABB5371943}"/>
                </a:ext>
              </a:extLst>
            </p:cNvPr>
            <p:cNvSpPr/>
            <p:nvPr/>
          </p:nvSpPr>
          <p:spPr bwMode="auto">
            <a:xfrm>
              <a:off x="2819400" y="1903412"/>
              <a:ext cx="228600" cy="1524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grpSp>
      <p:grpSp>
        <p:nvGrpSpPr>
          <p:cNvPr id="13" name="Group 47">
            <a:extLst>
              <a:ext uri="{FF2B5EF4-FFF2-40B4-BE49-F238E27FC236}">
                <a16:creationId xmlns:a16="http://schemas.microsoft.com/office/drawing/2014/main" id="{A6B39D9B-ABBA-4573-8569-8A124A11C881}"/>
              </a:ext>
            </a:extLst>
          </p:cNvPr>
          <p:cNvGrpSpPr/>
          <p:nvPr/>
        </p:nvGrpSpPr>
        <p:grpSpPr>
          <a:xfrm>
            <a:off x="3840480" y="1524000"/>
            <a:ext cx="731520" cy="307777"/>
            <a:chOff x="2819400" y="5940623"/>
            <a:chExt cx="731520" cy="307777"/>
          </a:xfrm>
        </p:grpSpPr>
        <p:cxnSp>
          <p:nvCxnSpPr>
            <p:cNvPr id="14" name="Straight Arrow Connector 13">
              <a:extLst>
                <a:ext uri="{FF2B5EF4-FFF2-40B4-BE49-F238E27FC236}">
                  <a16:creationId xmlns:a16="http://schemas.microsoft.com/office/drawing/2014/main" id="{21C12A9D-C206-4418-8A14-7916F33DDCFA}"/>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11397C-F3C6-47E3-977B-19EB49D226EF}"/>
                </a:ext>
              </a:extLst>
            </p:cNvPr>
            <p:cNvSpPr txBox="1"/>
            <p:nvPr/>
          </p:nvSpPr>
          <p:spPr>
            <a:xfrm>
              <a:off x="2895600" y="5940623"/>
              <a:ext cx="543739" cy="307777"/>
            </a:xfrm>
            <a:prstGeom prst="rect">
              <a:avLst/>
            </a:prstGeom>
            <a:noFill/>
          </p:spPr>
          <p:txBody>
            <a:bodyPr wrap="none" rtlCol="0">
              <a:spAutoFit/>
            </a:bodyPr>
            <a:lstStyle/>
            <a:p>
              <a:r>
                <a:rPr lang="zh-CN" altLang="en-US" sz="1400" dirty="0"/>
                <a:t>高温</a:t>
              </a:r>
              <a:endParaRPr lang="en-US" sz="1400" dirty="0"/>
            </a:p>
          </p:txBody>
        </p:sp>
      </p:grpSp>
      <p:grpSp>
        <p:nvGrpSpPr>
          <p:cNvPr id="16" name="Group 47">
            <a:extLst>
              <a:ext uri="{FF2B5EF4-FFF2-40B4-BE49-F238E27FC236}">
                <a16:creationId xmlns:a16="http://schemas.microsoft.com/office/drawing/2014/main" id="{CF791445-81C7-41DD-A552-664C5CDFB02A}"/>
              </a:ext>
            </a:extLst>
          </p:cNvPr>
          <p:cNvGrpSpPr/>
          <p:nvPr/>
        </p:nvGrpSpPr>
        <p:grpSpPr>
          <a:xfrm>
            <a:off x="3611880" y="2200537"/>
            <a:ext cx="731520" cy="307777"/>
            <a:chOff x="2819400" y="5940623"/>
            <a:chExt cx="731520" cy="307777"/>
          </a:xfrm>
        </p:grpSpPr>
        <p:cxnSp>
          <p:nvCxnSpPr>
            <p:cNvPr id="17" name="Straight Arrow Connector 16">
              <a:extLst>
                <a:ext uri="{FF2B5EF4-FFF2-40B4-BE49-F238E27FC236}">
                  <a16:creationId xmlns:a16="http://schemas.microsoft.com/office/drawing/2014/main" id="{C9B651FF-51B4-40A6-AD63-7159713D66CF}"/>
                </a:ext>
              </a:extLst>
            </p:cNvPr>
            <p:cNvCxnSpPr/>
            <p:nvPr/>
          </p:nvCxnSpPr>
          <p:spPr>
            <a:xfrm>
              <a:off x="2819400" y="6246812"/>
              <a:ext cx="731520" cy="1588"/>
            </a:xfrm>
            <a:prstGeom prst="straightConnector1">
              <a:avLst/>
            </a:prstGeom>
            <a:ln>
              <a:solidFill>
                <a:schemeClr val="tx1">
                  <a:alpha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D80A2F3-3A98-45A7-B7B1-3141142DFBDF}"/>
                </a:ext>
              </a:extLst>
            </p:cNvPr>
            <p:cNvSpPr txBox="1"/>
            <p:nvPr/>
          </p:nvSpPr>
          <p:spPr>
            <a:xfrm>
              <a:off x="2895600" y="5940623"/>
              <a:ext cx="543739" cy="307777"/>
            </a:xfrm>
            <a:prstGeom prst="rect">
              <a:avLst/>
            </a:prstGeom>
            <a:noFill/>
          </p:spPr>
          <p:txBody>
            <a:bodyPr wrap="none" rtlCol="0">
              <a:spAutoFit/>
            </a:bodyPr>
            <a:lstStyle/>
            <a:p>
              <a:r>
                <a:rPr lang="zh-CN" altLang="en-US" sz="1400" dirty="0"/>
                <a:t>高温</a:t>
              </a:r>
              <a:endParaRPr lang="en-US" sz="1400" dirty="0"/>
            </a:p>
          </p:txBody>
        </p:sp>
      </p:grpSp>
    </p:spTree>
    <p:extLst>
      <p:ext uri="{BB962C8B-B14F-4D97-AF65-F5344CB8AC3E}">
        <p14:creationId xmlns:p14="http://schemas.microsoft.com/office/powerpoint/2010/main" val="11266055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linds(horizontal)">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spcBef>
                    <a:spcPts val="0"/>
                  </a:spcBef>
                  <a:buNone/>
                </a:pPr>
                <a:r>
                  <a:rPr lang="en-US" altLang="zh-CN" sz="3000" dirty="0"/>
                  <a:t>8.  n(CO</a:t>
                </a:r>
                <a:r>
                  <a:rPr lang="en-US" altLang="zh-CN" sz="3000" baseline="-25000" dirty="0"/>
                  <a:t>2</a:t>
                </a:r>
                <a:r>
                  <a:rPr lang="en-US" altLang="zh-CN" sz="3000" dirty="0"/>
                  <a:t>) : n(H</a:t>
                </a:r>
                <a:r>
                  <a:rPr lang="en-US" altLang="zh-CN" sz="3000" baseline="-25000" dirty="0"/>
                  <a:t>2</a:t>
                </a:r>
                <a:r>
                  <a:rPr lang="en-US" altLang="zh-CN" sz="3000" dirty="0"/>
                  <a:t>O) = 3.6  :  3</a:t>
                </a:r>
              </a:p>
              <a:p>
                <a:pPr marL="514350" indent="-514350">
                  <a:spcBef>
                    <a:spcPts val="0"/>
                  </a:spcBef>
                  <a:buNone/>
                </a:pPr>
                <a:r>
                  <a:rPr lang="en-US" altLang="zh-CN" sz="3000" dirty="0"/>
                  <a:t>	</a:t>
                </a:r>
                <a:r>
                  <a:rPr lang="en-US" altLang="zh-CN" sz="3000" dirty="0" err="1"/>
                  <a:t>n</a:t>
                </a:r>
                <a:r>
                  <a:rPr lang="en-US" altLang="zh-CN" sz="3000" baseline="-25000" dirty="0" err="1"/>
                  <a:t>C</a:t>
                </a:r>
                <a:r>
                  <a:rPr lang="en-US" altLang="zh-CN" sz="3000" dirty="0"/>
                  <a:t> :</a:t>
                </a:r>
                <a:r>
                  <a:rPr lang="en-US" altLang="zh-CN" sz="3000" dirty="0" err="1"/>
                  <a:t>n</a:t>
                </a:r>
                <a:r>
                  <a:rPr lang="en-US" altLang="zh-CN" sz="3000" baseline="-25000" dirty="0" err="1"/>
                  <a:t>H</a:t>
                </a:r>
                <a:r>
                  <a:rPr lang="en-US" altLang="zh-CN" sz="3000" dirty="0"/>
                  <a:t> = 3.6  :  6 </a:t>
                </a:r>
              </a:p>
              <a:p>
                <a:pPr marL="514350" indent="-514350">
                  <a:spcBef>
                    <a:spcPts val="0"/>
                  </a:spcBef>
                  <a:buNone/>
                </a:pPr>
                <a:r>
                  <a:rPr lang="en-US" altLang="zh-CN" sz="3000" dirty="0"/>
                  <a:t>		      = 3 : 5    &gt; 1:2</a:t>
                </a:r>
              </a:p>
              <a:p>
                <a:pPr marL="514350" indent="-514350">
                  <a:spcBef>
                    <a:spcPts val="0"/>
                  </a:spcBef>
                  <a:buNone/>
                </a:pPr>
                <a:r>
                  <a:rPr lang="en-MY" altLang="zh-CN" sz="3000" b="1" dirty="0">
                    <a:solidFill>
                      <a:srgbClr val="7030A0"/>
                    </a:solidFill>
                    <a:effectLst>
                      <a:outerShdw blurRad="38100" dist="38100" dir="2700000" algn="tl">
                        <a:srgbClr val="000000">
                          <a:alpha val="43137"/>
                        </a:srgbClr>
                      </a:outerShdw>
                    </a:effectLst>
                  </a:rPr>
                  <a:t>(</a:t>
                </a:r>
                <a:r>
                  <a:rPr lang="zh-CN" altLang="en-US" sz="3000" b="1" dirty="0">
                    <a:solidFill>
                      <a:srgbClr val="7030A0"/>
                    </a:solidFill>
                    <a:effectLst>
                      <a:outerShdw blurRad="38100" dist="38100" dir="2700000" algn="tl">
                        <a:srgbClr val="000000">
                          <a:alpha val="43137"/>
                        </a:srgbClr>
                      </a:outerShdw>
                    </a:effectLst>
                  </a:rPr>
                  <a:t>烷烃</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C</a:t>
                </a:r>
                <a:r>
                  <a:rPr lang="en-US" altLang="zh-CN" sz="3000" b="1" dirty="0">
                    <a:solidFill>
                      <a:srgbClr val="7030A0"/>
                    </a:solidFill>
                    <a:effectLst>
                      <a:outerShdw blurRad="38100" dist="38100" dir="2700000" algn="tl">
                        <a:srgbClr val="000000">
                          <a:alpha val="43137"/>
                        </a:srgbClr>
                      </a:outerShdw>
                    </a:effectLst>
                  </a:rPr>
                  <a:t> :</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H</a:t>
                </a:r>
                <a:r>
                  <a:rPr lang="en-US" altLang="zh-CN" sz="3000" b="1" dirty="0">
                    <a:solidFill>
                      <a:srgbClr val="7030A0"/>
                    </a:solidFill>
                    <a:effectLst>
                      <a:outerShdw blurRad="38100" dist="38100" dir="2700000" algn="tl">
                        <a:srgbClr val="000000">
                          <a:alpha val="43137"/>
                        </a:srgbClr>
                      </a:outerShdw>
                    </a:effectLst>
                  </a:rPr>
                  <a:t>  &lt;1:2 ; </a:t>
                </a:r>
                <a:r>
                  <a:rPr lang="zh-CN" altLang="en-US" sz="3000" b="1" dirty="0">
                    <a:solidFill>
                      <a:srgbClr val="7030A0"/>
                    </a:solidFill>
                    <a:effectLst>
                      <a:outerShdw blurRad="38100" dist="38100" dir="2700000" algn="tl">
                        <a:srgbClr val="000000">
                          <a:alpha val="43137"/>
                        </a:srgbClr>
                      </a:outerShdw>
                    </a:effectLst>
                  </a:rPr>
                  <a:t>烯烃</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C</a:t>
                </a:r>
                <a:r>
                  <a:rPr lang="en-US" altLang="zh-CN" sz="3000" b="1" dirty="0">
                    <a:solidFill>
                      <a:srgbClr val="7030A0"/>
                    </a:solidFill>
                    <a:effectLst>
                      <a:outerShdw blurRad="38100" dist="38100" dir="2700000" algn="tl">
                        <a:srgbClr val="000000">
                          <a:alpha val="43137"/>
                        </a:srgbClr>
                      </a:outerShdw>
                    </a:effectLst>
                  </a:rPr>
                  <a:t> :</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H</a:t>
                </a:r>
                <a:r>
                  <a:rPr lang="en-US" altLang="zh-CN" sz="3000" b="1" dirty="0">
                    <a:solidFill>
                      <a:srgbClr val="7030A0"/>
                    </a:solidFill>
                    <a:effectLst>
                      <a:outerShdw blurRad="38100" dist="38100" dir="2700000" algn="tl">
                        <a:srgbClr val="000000">
                          <a:alpha val="43137"/>
                        </a:srgbClr>
                      </a:outerShdw>
                    </a:effectLst>
                  </a:rPr>
                  <a:t> =1</a:t>
                </a:r>
                <a:r>
                  <a:rPr lang="en-MY" altLang="zh-CN" sz="3000" b="1" dirty="0">
                    <a:solidFill>
                      <a:srgbClr val="7030A0"/>
                    </a:solidFill>
                    <a:effectLst>
                      <a:outerShdw blurRad="38100" dist="38100" dir="2700000" algn="tl">
                        <a:srgbClr val="000000">
                          <a:alpha val="43137"/>
                        </a:srgbClr>
                      </a:outerShdw>
                    </a:effectLst>
                  </a:rPr>
                  <a:t>:2 ; </a:t>
                </a:r>
                <a:r>
                  <a:rPr lang="zh-CN" altLang="en-US" sz="3000" b="1" dirty="0">
                    <a:solidFill>
                      <a:srgbClr val="7030A0"/>
                    </a:solidFill>
                    <a:effectLst>
                      <a:outerShdw blurRad="38100" dist="38100" dir="2700000" algn="tl">
                        <a:srgbClr val="000000">
                          <a:alpha val="43137"/>
                        </a:srgbClr>
                      </a:outerShdw>
                    </a:effectLst>
                  </a:rPr>
                  <a:t>炔烃</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C</a:t>
                </a:r>
                <a:r>
                  <a:rPr lang="en-US" altLang="zh-CN" sz="3000" b="1" dirty="0">
                    <a:solidFill>
                      <a:srgbClr val="7030A0"/>
                    </a:solidFill>
                    <a:effectLst>
                      <a:outerShdw blurRad="38100" dist="38100" dir="2700000" algn="tl">
                        <a:srgbClr val="000000">
                          <a:alpha val="43137"/>
                        </a:srgbClr>
                      </a:outerShdw>
                    </a:effectLst>
                  </a:rPr>
                  <a:t> :</a:t>
                </a:r>
                <a:r>
                  <a:rPr lang="en-US" altLang="zh-CN" sz="3000" b="1" dirty="0" err="1">
                    <a:solidFill>
                      <a:srgbClr val="7030A0"/>
                    </a:solidFill>
                    <a:effectLst>
                      <a:outerShdw blurRad="38100" dist="38100" dir="2700000" algn="tl">
                        <a:srgbClr val="000000">
                          <a:alpha val="43137"/>
                        </a:srgbClr>
                      </a:outerShdw>
                    </a:effectLst>
                  </a:rPr>
                  <a:t>n</a:t>
                </a:r>
                <a:r>
                  <a:rPr lang="en-US" altLang="zh-CN" sz="3000" b="1" baseline="-25000" dirty="0" err="1">
                    <a:solidFill>
                      <a:srgbClr val="7030A0"/>
                    </a:solidFill>
                    <a:effectLst>
                      <a:outerShdw blurRad="38100" dist="38100" dir="2700000" algn="tl">
                        <a:srgbClr val="000000">
                          <a:alpha val="43137"/>
                        </a:srgbClr>
                      </a:outerShdw>
                    </a:effectLst>
                  </a:rPr>
                  <a:t>H</a:t>
                </a:r>
                <a:r>
                  <a:rPr lang="en-US" altLang="zh-CN" sz="3000" b="1" dirty="0">
                    <a:solidFill>
                      <a:srgbClr val="7030A0"/>
                    </a:solidFill>
                    <a:effectLst>
                      <a:outerShdw blurRad="38100" dist="38100" dir="2700000" algn="tl">
                        <a:srgbClr val="000000">
                          <a:alpha val="43137"/>
                        </a:srgbClr>
                      </a:outerShdw>
                    </a:effectLst>
                  </a:rPr>
                  <a:t> &gt; 1:2 )</a:t>
                </a:r>
              </a:p>
              <a:p>
                <a:pPr marL="514350" indent="-514350">
                  <a:spcBef>
                    <a:spcPts val="0"/>
                  </a:spcBef>
                  <a:buNone/>
                </a:pPr>
                <a:r>
                  <a:rPr lang="en-MY" altLang="zh-CN" sz="3000" dirty="0"/>
                  <a:t>(1) </a:t>
                </a:r>
                <a:r>
                  <a:rPr lang="zh-CN" altLang="en-US" sz="3000" dirty="0"/>
                  <a:t>则混合物中含烯烃与炔烃</a:t>
                </a:r>
                <a:r>
                  <a:rPr lang="en-US" altLang="zh-CN" sz="3000" dirty="0"/>
                  <a:t> </a:t>
                </a:r>
              </a:p>
              <a:p>
                <a:pPr marL="514350" indent="-514350">
                  <a:spcBef>
                    <a:spcPts val="0"/>
                  </a:spcBef>
                  <a:buNone/>
                </a:pPr>
                <a:r>
                  <a:rPr lang="en-MY" altLang="zh-CN" sz="3000" dirty="0"/>
                  <a:t>(2)</a:t>
                </a:r>
                <a:r>
                  <a:rPr lang="zh-CN" altLang="en-US" sz="3000" dirty="0"/>
                  <a:t>设烯</a:t>
                </a:r>
                <a:r>
                  <a:rPr lang="en-US" altLang="zh-CN" sz="3000" dirty="0" err="1"/>
                  <a:t>C</a:t>
                </a:r>
                <a:r>
                  <a:rPr lang="en-US" altLang="zh-CN" sz="3000" baseline="-25000" dirty="0" err="1"/>
                  <a:t>x</a:t>
                </a:r>
                <a:r>
                  <a:rPr lang="en-US" altLang="zh-CN" sz="3000" baseline="-25000" dirty="0"/>
                  <a:t> </a:t>
                </a:r>
                <a:r>
                  <a:rPr lang="en-US" altLang="zh-CN" sz="3000" dirty="0"/>
                  <a:t>H</a:t>
                </a:r>
                <a:r>
                  <a:rPr lang="en-US" altLang="zh-CN" sz="3000" baseline="-25000" dirty="0"/>
                  <a:t>2x</a:t>
                </a:r>
                <a:r>
                  <a:rPr lang="zh-CN" altLang="en-US" sz="3000" dirty="0"/>
                  <a:t>占</a:t>
                </a:r>
                <a:r>
                  <a:rPr lang="en-MY" altLang="zh-CN" sz="3000" dirty="0"/>
                  <a:t>(1-a)L </a:t>
                </a:r>
                <a:r>
                  <a:rPr lang="zh-CN" altLang="en-US" sz="3000" dirty="0"/>
                  <a:t>，炔</a:t>
                </a:r>
                <a:r>
                  <a:rPr lang="en-US" altLang="zh-CN" sz="3000" dirty="0"/>
                  <a:t>C</a:t>
                </a:r>
                <a:r>
                  <a:rPr lang="en-US" altLang="zh-CN" sz="3000" baseline="-25000" dirty="0"/>
                  <a:t>y</a:t>
                </a:r>
                <a:r>
                  <a:rPr lang="en-US" altLang="zh-CN" sz="3000" dirty="0"/>
                  <a:t>H</a:t>
                </a:r>
                <a:r>
                  <a:rPr lang="en-US" altLang="zh-CN" sz="3000" baseline="-25000" dirty="0"/>
                  <a:t>2y-2</a:t>
                </a:r>
                <a:r>
                  <a:rPr lang="zh-CN" altLang="en-US" sz="3000" dirty="0"/>
                  <a:t>占</a:t>
                </a:r>
                <a:r>
                  <a:rPr lang="en-US" altLang="zh-CN" sz="3000" dirty="0" err="1"/>
                  <a:t>aL</a:t>
                </a:r>
                <a:r>
                  <a:rPr lang="en-US" altLang="zh-CN" sz="3000" dirty="0"/>
                  <a:t> </a:t>
                </a:r>
                <a:r>
                  <a:rPr lang="en-MY" altLang="zh-CN" sz="3000" b="1" dirty="0">
                    <a:solidFill>
                      <a:srgbClr val="7030A0"/>
                    </a:solidFill>
                    <a:effectLst>
                      <a:outerShdw blurRad="38100" dist="38100" dir="2700000" algn="tl">
                        <a:srgbClr val="000000">
                          <a:alpha val="43137"/>
                        </a:srgbClr>
                      </a:outerShdw>
                    </a:effectLst>
                  </a:rPr>
                  <a:t>(</a:t>
                </a:r>
                <a:r>
                  <a:rPr lang="en-US" altLang="zh-CN" sz="3000" b="1" dirty="0">
                    <a:solidFill>
                      <a:srgbClr val="7030A0"/>
                    </a:solidFill>
                    <a:effectLst>
                      <a:outerShdw blurRad="38100" dist="38100" dir="2700000" algn="tl">
                        <a:srgbClr val="000000">
                          <a:alpha val="43137"/>
                        </a:srgbClr>
                      </a:outerShdw>
                    </a:effectLst>
                  </a:rPr>
                  <a:t>1&lt;</a:t>
                </a:r>
                <a:r>
                  <a:rPr lang="en-US" altLang="zh-CN" sz="3000" b="1" dirty="0" err="1">
                    <a:solidFill>
                      <a:srgbClr val="7030A0"/>
                    </a:solidFill>
                    <a:effectLst>
                      <a:outerShdw blurRad="38100" dist="38100" dir="2700000" algn="tl">
                        <a:srgbClr val="000000">
                          <a:alpha val="43137"/>
                        </a:srgbClr>
                      </a:outerShdw>
                    </a:effectLst>
                  </a:rPr>
                  <a:t>x,y</a:t>
                </a:r>
                <a:r>
                  <a:rPr lang="en-US" altLang="zh-CN" sz="3000" b="1" dirty="0">
                    <a:solidFill>
                      <a:srgbClr val="7030A0"/>
                    </a:solidFill>
                    <a:effectLst>
                      <a:outerShdw blurRad="38100" dist="38100" dir="2700000" algn="tl">
                        <a:srgbClr val="000000">
                          <a:alpha val="43137"/>
                        </a:srgbClr>
                      </a:outerShdw>
                    </a:effectLst>
                  </a:rPr>
                  <a:t>&lt;5</a:t>
                </a:r>
                <a:r>
                  <a:rPr lang="zh-CN" altLang="en-US" sz="3000" b="1" dirty="0">
                    <a:solidFill>
                      <a:srgbClr val="7030A0"/>
                    </a:solidFill>
                    <a:effectLst>
                      <a:outerShdw blurRad="38100" dist="38100" dir="2700000" algn="tl">
                        <a:srgbClr val="000000">
                          <a:alpha val="43137"/>
                        </a:srgbClr>
                      </a:outerShdw>
                    </a:effectLst>
                  </a:rPr>
                  <a:t>的整数</a:t>
                </a:r>
                <a:r>
                  <a:rPr lang="en-MY" altLang="zh-CN" sz="3000" b="1" dirty="0">
                    <a:solidFill>
                      <a:srgbClr val="7030A0"/>
                    </a:solidFill>
                    <a:effectLst>
                      <a:outerShdw blurRad="38100" dist="38100" dir="2700000" algn="tl">
                        <a:srgbClr val="000000">
                          <a:alpha val="43137"/>
                        </a:srgbClr>
                      </a:outerShdw>
                    </a:effectLst>
                  </a:rPr>
                  <a:t>)</a:t>
                </a:r>
                <a:endParaRPr lang="en-US" altLang="zh-CN" sz="3000" b="1" dirty="0">
                  <a:solidFill>
                    <a:srgbClr val="7030A0"/>
                  </a:solidFill>
                  <a:effectLst>
                    <a:outerShdw blurRad="38100" dist="38100" dir="2700000" algn="tl">
                      <a:srgbClr val="000000">
                        <a:alpha val="43137"/>
                      </a:srgbClr>
                    </a:outerShdw>
                  </a:effectLst>
                </a:endParaRPr>
              </a:p>
              <a:p>
                <a:pPr marL="0" indent="0">
                  <a:spcBef>
                    <a:spcPts val="0"/>
                  </a:spcBef>
                  <a:buNone/>
                </a:pPr>
                <a:r>
                  <a:rPr lang="en-US" altLang="zh-CN" sz="3000" dirty="0"/>
                  <a:t>C</a:t>
                </a:r>
                <a:r>
                  <a:rPr lang="en-US" altLang="zh-CN" sz="3000" baseline="-25000" dirty="0"/>
                  <a:t>x</a:t>
                </a:r>
                <a:r>
                  <a:rPr lang="en-US" altLang="zh-CN" sz="3000" dirty="0"/>
                  <a:t>H</a:t>
                </a:r>
                <a:r>
                  <a:rPr lang="en-US" altLang="zh-CN" sz="3000" baseline="-25000" dirty="0"/>
                  <a:t>2x</a:t>
                </a:r>
                <a:r>
                  <a:rPr lang="en-US" altLang="zh-CN" sz="3000" dirty="0"/>
                  <a:t> +    (x+</a:t>
                </a:r>
                <a14:m>
                  <m:oMath xmlns:m="http://schemas.openxmlformats.org/officeDocument/2006/math">
                    <m:f>
                      <m:fPr>
                        <m:ctrlPr>
                          <a:rPr lang="en-US" altLang="zh-CN" sz="3000" i="1">
                            <a:latin typeface="Cambria Math" panose="02040503050406030204" pitchFamily="18" charset="0"/>
                          </a:rPr>
                        </m:ctrlPr>
                      </m:fPr>
                      <m:num>
                        <m:r>
                          <a:rPr lang="en-MY" altLang="zh-CN" sz="3000" b="0" i="1" smtClean="0">
                            <a:latin typeface="Cambria Math" panose="02040503050406030204" pitchFamily="18" charset="0"/>
                          </a:rPr>
                          <m:t>𝑥</m:t>
                        </m:r>
                      </m:num>
                      <m:den>
                        <m:r>
                          <a:rPr lang="en-MY" altLang="zh-CN" sz="3000" b="0" i="1" smtClean="0">
                            <a:latin typeface="Cambria Math" panose="02040503050406030204" pitchFamily="18" charset="0"/>
                          </a:rPr>
                          <m:t>2</m:t>
                        </m:r>
                      </m:den>
                    </m:f>
                  </m:oMath>
                </a14:m>
                <a:r>
                  <a:rPr lang="en-US" altLang="zh-CN" sz="3000" dirty="0"/>
                  <a:t> ) O</a:t>
                </a:r>
                <a:r>
                  <a:rPr lang="en-US" altLang="zh-CN" sz="3000" baseline="-25000" dirty="0"/>
                  <a:t>2</a:t>
                </a:r>
                <a:r>
                  <a:rPr lang="en-US" altLang="zh-CN" sz="3000" dirty="0"/>
                  <a:t> </a:t>
                </a:r>
                <a:r>
                  <a:rPr lang="en-US" altLang="zh-CN" sz="3000" dirty="0">
                    <a:sym typeface="Wingdings" pitchFamily="2" charset="2"/>
                  </a:rPr>
                  <a:t>  x CO</a:t>
                </a:r>
                <a:r>
                  <a:rPr lang="en-US" altLang="zh-CN" sz="3000" baseline="-25000" dirty="0">
                    <a:sym typeface="Wingdings" pitchFamily="2" charset="2"/>
                  </a:rPr>
                  <a:t>2</a:t>
                </a:r>
                <a:r>
                  <a:rPr lang="en-US" altLang="zh-CN" sz="3000" dirty="0">
                    <a:sym typeface="Wingdings" pitchFamily="2" charset="2"/>
                  </a:rPr>
                  <a:t> +  x H</a:t>
                </a:r>
                <a:r>
                  <a:rPr lang="en-US" altLang="zh-CN" sz="3000" baseline="-25000" dirty="0">
                    <a:sym typeface="Wingdings" pitchFamily="2" charset="2"/>
                  </a:rPr>
                  <a:t>2</a:t>
                </a:r>
                <a:r>
                  <a:rPr lang="en-US" altLang="zh-CN" sz="3000" dirty="0">
                    <a:sym typeface="Wingdings" pitchFamily="2" charset="2"/>
                  </a:rPr>
                  <a:t>O </a:t>
                </a:r>
              </a:p>
              <a:p>
                <a:pPr marL="0" indent="0">
                  <a:spcBef>
                    <a:spcPts val="0"/>
                  </a:spcBef>
                  <a:buNone/>
                </a:pPr>
                <a:r>
                  <a:rPr lang="en-US" altLang="zh-CN" sz="3000" dirty="0"/>
                  <a:t>C</a:t>
                </a:r>
                <a:r>
                  <a:rPr lang="en-US" altLang="zh-CN" sz="3000" baseline="-25000" dirty="0"/>
                  <a:t>y</a:t>
                </a:r>
                <a:r>
                  <a:rPr lang="en-US" altLang="zh-CN" sz="3000" dirty="0"/>
                  <a:t>H</a:t>
                </a:r>
                <a:r>
                  <a:rPr lang="en-US" altLang="zh-CN" sz="3000" baseline="-25000" dirty="0"/>
                  <a:t>2y-2</a:t>
                </a:r>
                <a:r>
                  <a:rPr lang="en-US" altLang="zh-CN" sz="3000" dirty="0"/>
                  <a:t> +    (y+</a:t>
                </a:r>
                <a14:m>
                  <m:oMath xmlns:m="http://schemas.openxmlformats.org/officeDocument/2006/math">
                    <m:f>
                      <m:fPr>
                        <m:ctrlPr>
                          <a:rPr lang="en-US" altLang="zh-CN" sz="3000" i="1">
                            <a:latin typeface="Cambria Math" panose="02040503050406030204" pitchFamily="18" charset="0"/>
                          </a:rPr>
                        </m:ctrlPr>
                      </m:fPr>
                      <m:num>
                        <m:r>
                          <a:rPr lang="en-MY" altLang="zh-CN" sz="3000" i="1">
                            <a:latin typeface="Cambria Math" panose="02040503050406030204" pitchFamily="18" charset="0"/>
                          </a:rPr>
                          <m:t>𝑦</m:t>
                        </m:r>
                        <m:r>
                          <a:rPr lang="en-MY" altLang="zh-CN" sz="3000" b="0" i="1" smtClean="0">
                            <a:latin typeface="Cambria Math" panose="02040503050406030204" pitchFamily="18" charset="0"/>
                          </a:rPr>
                          <m:t>−1</m:t>
                        </m:r>
                      </m:num>
                      <m:den>
                        <m:r>
                          <a:rPr lang="en-MY" altLang="zh-CN" sz="3000" b="0" i="1" smtClean="0">
                            <a:latin typeface="Cambria Math" panose="02040503050406030204" pitchFamily="18" charset="0"/>
                          </a:rPr>
                          <m:t>2</m:t>
                        </m:r>
                      </m:den>
                    </m:f>
                  </m:oMath>
                </a14:m>
                <a:r>
                  <a:rPr lang="en-US" altLang="zh-CN" sz="3000" dirty="0"/>
                  <a:t> ) O</a:t>
                </a:r>
                <a:r>
                  <a:rPr lang="en-US" altLang="zh-CN" sz="3000" baseline="-25000" dirty="0"/>
                  <a:t>2</a:t>
                </a:r>
                <a:r>
                  <a:rPr lang="en-US" altLang="zh-CN" sz="3000" dirty="0"/>
                  <a:t> </a:t>
                </a:r>
                <a:r>
                  <a:rPr lang="en-US" altLang="zh-CN" sz="3000" dirty="0">
                    <a:sym typeface="Wingdings" pitchFamily="2" charset="2"/>
                  </a:rPr>
                  <a:t>  y CO</a:t>
                </a:r>
                <a:r>
                  <a:rPr lang="en-US" altLang="zh-CN" sz="3000" baseline="-25000" dirty="0">
                    <a:sym typeface="Wingdings" pitchFamily="2" charset="2"/>
                  </a:rPr>
                  <a:t>2</a:t>
                </a:r>
                <a:r>
                  <a:rPr lang="en-US" altLang="zh-CN" sz="3000" dirty="0">
                    <a:sym typeface="Wingdings" pitchFamily="2" charset="2"/>
                  </a:rPr>
                  <a:t> +  </a:t>
                </a:r>
                <a:r>
                  <a:rPr lang="en-MY" altLang="zh-CN" sz="3000" dirty="0">
                    <a:sym typeface="Wingdings" pitchFamily="2" charset="2"/>
                  </a:rPr>
                  <a:t>(y-1) </a:t>
                </a:r>
                <a:r>
                  <a:rPr lang="en-US" altLang="zh-CN" sz="3000" dirty="0">
                    <a:sym typeface="Wingdings" pitchFamily="2" charset="2"/>
                  </a:rPr>
                  <a:t>H</a:t>
                </a:r>
                <a:r>
                  <a:rPr lang="en-US" altLang="zh-CN" sz="3000" baseline="-25000" dirty="0">
                    <a:sym typeface="Wingdings" pitchFamily="2" charset="2"/>
                  </a:rPr>
                  <a:t>2</a:t>
                </a:r>
                <a:r>
                  <a:rPr lang="en-US" altLang="zh-CN" sz="3000" dirty="0">
                    <a:sym typeface="Wingdings" pitchFamily="2" charset="2"/>
                  </a:rPr>
                  <a:t>O </a:t>
                </a:r>
              </a:p>
              <a:p>
                <a:pPr marL="0" indent="0">
                  <a:spcBef>
                    <a:spcPts val="0"/>
                  </a:spcBef>
                  <a:buNone/>
                </a:pPr>
                <a:r>
                  <a:rPr lang="zh-CN" altLang="en-US" sz="3000" dirty="0">
                    <a:sym typeface="Wingdings" pitchFamily="2" charset="2"/>
                  </a:rPr>
                  <a:t>则 </a:t>
                </a:r>
                <a:r>
                  <a:rPr lang="en-US" altLang="zh-CN" sz="3000" dirty="0">
                    <a:sym typeface="Wingdings" pitchFamily="2" charset="2"/>
                  </a:rPr>
                  <a:t>x(1-a) + ay = 3.6 -------①</a:t>
                </a:r>
              </a:p>
              <a:p>
                <a:pPr marL="0" indent="0">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x(1-a) + a(y-1) = 3 -------②</a:t>
                </a:r>
              </a:p>
              <a:p>
                <a:pPr marL="0" indent="0">
                  <a:spcBef>
                    <a:spcPts val="0"/>
                  </a:spcBef>
                  <a:buNone/>
                </a:pPr>
                <a:endParaRPr lang="en-US" altLang="zh-CN" sz="3000" dirty="0">
                  <a:sym typeface="Wingdings" pitchFamily="2" charset="2"/>
                </a:endParaRPr>
              </a:p>
              <a:p>
                <a:pPr marL="0" indent="0">
                  <a:spcBef>
                    <a:spcPts val="0"/>
                  </a:spcBef>
                  <a:buNone/>
                </a:pPr>
                <a:endParaRPr lang="en-US" altLang="zh-CN" sz="3000" dirty="0">
                  <a:sym typeface="Wingdings" pitchFamily="2" charset="2"/>
                </a:endParaRPr>
              </a:p>
              <a:p>
                <a:pPr marL="0" indent="0">
                  <a:spcBef>
                    <a:spcPts val="0"/>
                  </a:spcBef>
                  <a:buNone/>
                </a:pPr>
                <a:endParaRPr lang="en-US" altLang="zh-CN" sz="3000" dirty="0">
                  <a:sym typeface="Wingdings"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84" t="-1247" r="-2737"/>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1617400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0" indent="0">
                  <a:spcBef>
                    <a:spcPts val="0"/>
                  </a:spcBef>
                  <a:buNone/>
                </a:pPr>
                <a:r>
                  <a:rPr lang="en-US" altLang="zh-CN" sz="3000" dirty="0"/>
                  <a:t>8.</a:t>
                </a:r>
                <a:r>
                  <a:rPr lang="zh-CN" altLang="en-US" sz="3000" dirty="0">
                    <a:sym typeface="Wingdings" pitchFamily="2" charset="2"/>
                  </a:rPr>
                  <a:t>则 </a:t>
                </a:r>
                <a:r>
                  <a:rPr lang="en-US" altLang="zh-CN" sz="3000" dirty="0">
                    <a:sym typeface="Wingdings" pitchFamily="2" charset="2"/>
                  </a:rPr>
                  <a:t>x(1-a) + ay = 3.6 -------①</a:t>
                </a:r>
              </a:p>
              <a:p>
                <a:pPr marL="0" indent="0">
                  <a:spcBef>
                    <a:spcPts val="0"/>
                  </a:spcBef>
                  <a:buNone/>
                </a:pPr>
                <a:r>
                  <a:rPr lang="en-US" altLang="zh-CN" sz="3000" dirty="0">
                    <a:sym typeface="Wingdings" pitchFamily="2" charset="2"/>
                  </a:rPr>
                  <a:t>    </a:t>
                </a:r>
                <a:r>
                  <a:rPr lang="zh-CN" altLang="en-US" sz="3000" dirty="0">
                    <a:sym typeface="Wingdings" pitchFamily="2" charset="2"/>
                  </a:rPr>
                  <a:t> </a:t>
                </a:r>
                <a:r>
                  <a:rPr lang="en-US" altLang="zh-CN" sz="3000" dirty="0">
                    <a:sym typeface="Wingdings" pitchFamily="2" charset="2"/>
                  </a:rPr>
                  <a:t>x(1-a) + a(y-1) = 3 -------②</a:t>
                </a:r>
              </a:p>
              <a:p>
                <a:pPr marL="0" indent="0">
                  <a:spcBef>
                    <a:spcPts val="0"/>
                  </a:spcBef>
                  <a:buNone/>
                </a:pPr>
                <a:r>
                  <a:rPr lang="en-US" altLang="zh-CN" sz="3000" dirty="0">
                    <a:sym typeface="Wingdings" pitchFamily="2" charset="2"/>
                  </a:rPr>
                  <a:t>①-②</a:t>
                </a:r>
                <a:r>
                  <a:rPr lang="zh-CN" altLang="en-US" sz="3000" dirty="0">
                    <a:sym typeface="Wingdings" pitchFamily="2" charset="2"/>
                  </a:rPr>
                  <a:t>得 </a:t>
                </a:r>
                <a:r>
                  <a:rPr lang="en-MY" altLang="zh-CN" sz="3000" dirty="0">
                    <a:sym typeface="Wingdings" pitchFamily="2" charset="2"/>
                  </a:rPr>
                  <a:t>	</a:t>
                </a:r>
                <a:r>
                  <a:rPr lang="en-US" altLang="zh-CN" sz="3000" dirty="0">
                    <a:sym typeface="Wingdings" pitchFamily="2" charset="2"/>
                  </a:rPr>
                  <a:t>a=0.6		</a:t>
                </a:r>
                <a:r>
                  <a:rPr lang="zh-CN" altLang="en-US" sz="3000" dirty="0">
                    <a:sym typeface="Wingdings" pitchFamily="2" charset="2"/>
                  </a:rPr>
                  <a:t>代入</a:t>
                </a:r>
                <a:r>
                  <a:rPr lang="en-US" altLang="zh-CN" sz="3000" dirty="0">
                    <a:sym typeface="Wingdings" pitchFamily="2" charset="2"/>
                  </a:rPr>
                  <a:t>①</a:t>
                </a:r>
              </a:p>
              <a:p>
                <a:pPr marL="0" indent="0">
                  <a:spcBef>
                    <a:spcPts val="0"/>
                  </a:spcBef>
                  <a:buNone/>
                </a:pPr>
                <a:r>
                  <a:rPr lang="en-MY" altLang="zh-CN" sz="3000" dirty="0">
                    <a:sym typeface="Wingdings" pitchFamily="2" charset="2"/>
                  </a:rPr>
                  <a:t>					</a:t>
                </a:r>
                <a:r>
                  <a:rPr lang="zh-CN" altLang="en-US" sz="3000" dirty="0">
                    <a:sym typeface="Wingdings" pitchFamily="2" charset="2"/>
                  </a:rPr>
                  <a:t>得 </a:t>
                </a:r>
                <a:r>
                  <a:rPr lang="en-US" altLang="zh-CN" sz="3000" dirty="0">
                    <a:sym typeface="Wingdings" pitchFamily="2" charset="2"/>
                  </a:rPr>
                  <a:t>2x + 3y =18 </a:t>
                </a:r>
              </a:p>
              <a:p>
                <a:pPr marL="0" indent="0">
                  <a:spcBef>
                    <a:spcPts val="0"/>
                  </a:spcBef>
                  <a:buNone/>
                </a:pPr>
                <a:r>
                  <a:rPr lang="zh-CN" altLang="en-US" sz="3000" dirty="0">
                    <a:sym typeface="Wingdings" pitchFamily="2" charset="2"/>
                  </a:rPr>
                  <a:t>若</a:t>
                </a:r>
                <a:r>
                  <a:rPr lang="en-MY" altLang="zh-CN" sz="3000" dirty="0">
                    <a:sym typeface="Wingdings" pitchFamily="2" charset="2"/>
                  </a:rPr>
                  <a:t>x=2 </a:t>
                </a:r>
                <a:r>
                  <a:rPr lang="zh-CN" altLang="en-US" sz="3000" dirty="0">
                    <a:sym typeface="Wingdings" pitchFamily="2" charset="2"/>
                  </a:rPr>
                  <a:t>，</a:t>
                </a:r>
                <a:r>
                  <a:rPr lang="en-US" altLang="zh-CN" sz="3000" dirty="0">
                    <a:sym typeface="Wingdings" pitchFamily="2" charset="2"/>
                  </a:rPr>
                  <a:t>y=4</a:t>
                </a:r>
                <a14:m>
                  <m:oMath xmlns:m="http://schemas.openxmlformats.org/officeDocument/2006/math">
                    <m:f>
                      <m:fPr>
                        <m:ctrlPr>
                          <a:rPr lang="en-US" altLang="zh-CN" sz="3000" i="1" smtClean="0">
                            <a:latin typeface="Cambria Math" panose="02040503050406030204" pitchFamily="18" charset="0"/>
                            <a:sym typeface="Wingdings" pitchFamily="2" charset="2"/>
                          </a:rPr>
                        </m:ctrlPr>
                      </m:fPr>
                      <m:num>
                        <m:r>
                          <a:rPr lang="en-MY" altLang="zh-CN" sz="3000" b="0" i="1" smtClean="0">
                            <a:latin typeface="Cambria Math" panose="02040503050406030204" pitchFamily="18" charset="0"/>
                            <a:sym typeface="Wingdings" pitchFamily="2" charset="2"/>
                          </a:rPr>
                          <m:t>2</m:t>
                        </m:r>
                      </m:num>
                      <m:den>
                        <m:r>
                          <a:rPr lang="en-MY" altLang="zh-CN" sz="3000" b="0" i="1" smtClean="0">
                            <a:latin typeface="Cambria Math" panose="02040503050406030204" pitchFamily="18" charset="0"/>
                            <a:sym typeface="Wingdings" pitchFamily="2" charset="2"/>
                          </a:rPr>
                          <m:t>3</m:t>
                        </m:r>
                      </m:den>
                    </m:f>
                  </m:oMath>
                </a14:m>
                <a:r>
                  <a:rPr lang="en-US" altLang="zh-CN" sz="3000" dirty="0">
                    <a:sym typeface="Wingdings" pitchFamily="2" charset="2"/>
                  </a:rPr>
                  <a:t> 	</a:t>
                </a:r>
                <a:r>
                  <a:rPr lang="zh-CN" altLang="en-US" sz="3000" dirty="0">
                    <a:sym typeface="Wingdings" pitchFamily="2" charset="2"/>
                  </a:rPr>
                  <a:t>（不合）</a:t>
                </a:r>
                <a:endParaRPr lang="en-MY" altLang="zh-CN" sz="3000" dirty="0">
                  <a:sym typeface="Wingdings" pitchFamily="2" charset="2"/>
                </a:endParaRPr>
              </a:p>
              <a:p>
                <a:pPr marL="0" indent="0">
                  <a:spcBef>
                    <a:spcPts val="0"/>
                  </a:spcBef>
                  <a:buNone/>
                </a:pPr>
                <a:r>
                  <a:rPr lang="zh-CN" altLang="en-US" sz="3000" dirty="0">
                    <a:sym typeface="Wingdings" pitchFamily="2" charset="2"/>
                  </a:rPr>
                  <a:t>若</a:t>
                </a:r>
                <a:r>
                  <a:rPr lang="en-MY" altLang="zh-CN" sz="3000" dirty="0">
                    <a:sym typeface="Wingdings" pitchFamily="2" charset="2"/>
                  </a:rPr>
                  <a:t>x=3</a:t>
                </a:r>
                <a:r>
                  <a:rPr lang="zh-CN" altLang="en-US" sz="3000" dirty="0">
                    <a:sym typeface="Wingdings" pitchFamily="2" charset="2"/>
                  </a:rPr>
                  <a:t>，</a:t>
                </a:r>
                <a:r>
                  <a:rPr lang="en-MY" altLang="zh-CN" sz="3000" dirty="0">
                    <a:sym typeface="Wingdings" pitchFamily="2" charset="2"/>
                  </a:rPr>
                  <a:t>y=4</a:t>
                </a:r>
                <a:endParaRPr lang="en-US" altLang="zh-CN" sz="3000" dirty="0">
                  <a:sym typeface="Wingdings" pitchFamily="2" charset="2"/>
                </a:endParaRPr>
              </a:p>
              <a:p>
                <a:pPr marL="514350" indent="-514350">
                  <a:buNone/>
                </a:pPr>
                <a:r>
                  <a:rPr lang="zh-CN" altLang="en-US" sz="3000" dirty="0">
                    <a:sym typeface="Wingdings" pitchFamily="2" charset="2"/>
                  </a:rPr>
                  <a:t>若</a:t>
                </a:r>
                <a:r>
                  <a:rPr lang="en-MY" altLang="zh-CN" sz="3000" dirty="0">
                    <a:sym typeface="Wingdings" pitchFamily="2" charset="2"/>
                  </a:rPr>
                  <a:t>x=4 </a:t>
                </a:r>
                <a:r>
                  <a:rPr lang="zh-CN" altLang="en-US" sz="3000" dirty="0">
                    <a:sym typeface="Wingdings" pitchFamily="2" charset="2"/>
                  </a:rPr>
                  <a:t>，</a:t>
                </a:r>
                <a:r>
                  <a:rPr lang="en-US" altLang="zh-CN" sz="3000" dirty="0">
                    <a:sym typeface="Wingdings" pitchFamily="2" charset="2"/>
                  </a:rPr>
                  <a:t>y=3</a:t>
                </a:r>
                <a14:m>
                  <m:oMath xmlns:m="http://schemas.openxmlformats.org/officeDocument/2006/math">
                    <m:f>
                      <m:fPr>
                        <m:ctrlPr>
                          <a:rPr lang="en-US" altLang="zh-CN" sz="3000" i="1">
                            <a:latin typeface="Cambria Math" panose="02040503050406030204" pitchFamily="18" charset="0"/>
                            <a:sym typeface="Wingdings" pitchFamily="2" charset="2"/>
                          </a:rPr>
                        </m:ctrlPr>
                      </m:fPr>
                      <m:num>
                        <m:r>
                          <a:rPr lang="en-MY" altLang="zh-CN" sz="3000" b="0" i="1" smtClean="0">
                            <a:latin typeface="Cambria Math" panose="02040503050406030204" pitchFamily="18" charset="0"/>
                            <a:sym typeface="Wingdings" pitchFamily="2" charset="2"/>
                          </a:rPr>
                          <m:t>1</m:t>
                        </m:r>
                      </m:num>
                      <m:den>
                        <m:r>
                          <a:rPr lang="en-MY" altLang="zh-CN" sz="3000" i="1">
                            <a:latin typeface="Cambria Math" panose="02040503050406030204" pitchFamily="18" charset="0"/>
                            <a:sym typeface="Wingdings" pitchFamily="2" charset="2"/>
                          </a:rPr>
                          <m:t>3</m:t>
                        </m:r>
                      </m:den>
                    </m:f>
                  </m:oMath>
                </a14:m>
                <a:r>
                  <a:rPr lang="en-US" altLang="zh-CN" sz="3000" dirty="0">
                    <a:sym typeface="Wingdings" pitchFamily="2" charset="2"/>
                  </a:rPr>
                  <a:t> 	</a:t>
                </a:r>
                <a:r>
                  <a:rPr lang="zh-CN" altLang="en-US" sz="3000" dirty="0">
                    <a:sym typeface="Wingdings" pitchFamily="2" charset="2"/>
                  </a:rPr>
                  <a:t>（不合）</a:t>
                </a:r>
                <a:endParaRPr lang="en-MY" altLang="zh-CN" sz="3000" dirty="0">
                  <a:sym typeface="Wingdings" pitchFamily="2" charset="2"/>
                </a:endParaRPr>
              </a:p>
              <a:p>
                <a:pPr marL="514350" indent="-514350">
                  <a:buNone/>
                </a:pPr>
                <a:r>
                  <a:rPr lang="en-US" altLang="zh-CN" sz="3000" dirty="0">
                    <a:sym typeface="Wingdings" pitchFamily="2" charset="2"/>
                  </a:rPr>
                  <a:t>C</a:t>
                </a:r>
                <a:r>
                  <a:rPr lang="en-US" altLang="zh-CN" sz="3000" baseline="-25000" dirty="0">
                    <a:sym typeface="Wingdings" pitchFamily="2" charset="2"/>
                  </a:rPr>
                  <a:t>3</a:t>
                </a:r>
                <a:r>
                  <a:rPr lang="en-US" altLang="zh-CN" sz="3000" dirty="0">
                    <a:sym typeface="Wingdings" pitchFamily="2" charset="2"/>
                  </a:rPr>
                  <a:t>H</a:t>
                </a:r>
                <a:r>
                  <a:rPr lang="en-US" altLang="zh-CN" sz="3000" baseline="-25000" dirty="0">
                    <a:sym typeface="Wingdings" pitchFamily="2" charset="2"/>
                  </a:rPr>
                  <a:t>6</a:t>
                </a:r>
                <a:r>
                  <a:rPr lang="en-US" altLang="zh-CN" sz="3000" dirty="0">
                    <a:sym typeface="Wingdings" pitchFamily="2" charset="2"/>
                  </a:rPr>
                  <a:t> </a:t>
                </a:r>
                <a:r>
                  <a:rPr lang="zh-CN" altLang="en-US" sz="3000" dirty="0">
                    <a:sym typeface="Wingdings" pitchFamily="2" charset="2"/>
                  </a:rPr>
                  <a:t>与</a:t>
                </a:r>
                <a:r>
                  <a:rPr lang="en-MY" altLang="zh-CN" sz="3000" dirty="0">
                    <a:sym typeface="Wingdings" pitchFamily="2" charset="2"/>
                  </a:rPr>
                  <a:t>C</a:t>
                </a:r>
                <a:r>
                  <a:rPr lang="en-MY" altLang="zh-CN" sz="3000" baseline="-25000" dirty="0">
                    <a:sym typeface="Wingdings" pitchFamily="2" charset="2"/>
                  </a:rPr>
                  <a:t>4</a:t>
                </a:r>
                <a:r>
                  <a:rPr lang="en-MY" altLang="zh-CN" sz="3000" dirty="0">
                    <a:sym typeface="Wingdings" pitchFamily="2" charset="2"/>
                  </a:rPr>
                  <a:t> H</a:t>
                </a:r>
                <a:r>
                  <a:rPr lang="en-MY" altLang="zh-CN" sz="3000" baseline="-25000" dirty="0">
                    <a:sym typeface="Wingdings" pitchFamily="2" charset="2"/>
                  </a:rPr>
                  <a:t>6</a:t>
                </a:r>
                <a:r>
                  <a:rPr lang="en-MY" altLang="zh-CN" sz="3000" dirty="0">
                    <a:sym typeface="Wingdings" pitchFamily="2" charset="2"/>
                  </a:rPr>
                  <a:t> </a:t>
                </a:r>
                <a:r>
                  <a:rPr lang="zh-CN" altLang="en-US" sz="3000" dirty="0">
                    <a:sym typeface="Wingdings" pitchFamily="2" charset="2"/>
                  </a:rPr>
                  <a:t>体积比</a:t>
                </a:r>
                <a:r>
                  <a:rPr lang="en-US" altLang="zh-CN" sz="3000" dirty="0">
                    <a:sym typeface="Wingdings" pitchFamily="2" charset="2"/>
                  </a:rPr>
                  <a:t>=0.4: 0.6</a:t>
                </a:r>
              </a:p>
              <a:p>
                <a:pPr marL="514350" indent="-514350">
                  <a:buNone/>
                </a:pPr>
                <a:r>
                  <a:rPr lang="en-US" altLang="zh-CN" sz="3000" dirty="0">
                    <a:sym typeface="Wingdings" pitchFamily="2" charset="2"/>
                  </a:rPr>
                  <a:t>				     =2</a:t>
                </a:r>
                <a:r>
                  <a:rPr lang="en-MY" altLang="zh-CN" sz="3000" dirty="0">
                    <a:sym typeface="Wingdings" pitchFamily="2" charset="2"/>
                  </a:rPr>
                  <a:t>:</a:t>
                </a:r>
                <a:r>
                  <a:rPr lang="en-US" altLang="zh-CN" sz="3000" dirty="0">
                    <a:sym typeface="Wingdings" pitchFamily="2" charset="2"/>
                  </a:rPr>
                  <a:t>3</a:t>
                </a:r>
                <a:endParaRPr lang="en-MY" altLang="zh-CN" sz="3000" dirty="0">
                  <a:sym typeface="Wingdings"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14" t="-1767"/>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4855990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0"/>
            <a:ext cx="9144000" cy="6858000"/>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990600"/>
                <a:ext cx="8686800" cy="5867400"/>
              </a:xfrm>
            </p:spPr>
            <p:txBody>
              <a:bodyPr>
                <a:noAutofit/>
              </a:bodyPr>
              <a:lstStyle/>
              <a:p>
                <a:pPr marL="514350" indent="-514350">
                  <a:buNone/>
                </a:pPr>
                <a:r>
                  <a:rPr lang="en-US" altLang="zh-CN" sz="3000" dirty="0"/>
                  <a:t>9. M</a:t>
                </a:r>
                <a:r>
                  <a:rPr lang="en-US" altLang="zh-CN" sz="3000" baseline="-25000" dirty="0"/>
                  <a:t>1</a:t>
                </a:r>
                <a:r>
                  <a:rPr lang="en-US" altLang="zh-CN" sz="3000" dirty="0"/>
                  <a:t> = 0.478g/L x 22.4 L/mol = 10.71g/mol</a:t>
                </a:r>
              </a:p>
              <a:p>
                <a:pPr marL="514350" indent="-514350">
                  <a:buNone/>
                </a:pPr>
                <a:r>
                  <a:rPr lang="en-US" altLang="zh-CN" sz="3000" dirty="0"/>
                  <a:t>M</a:t>
                </a:r>
                <a:r>
                  <a:rPr lang="en-US" altLang="zh-CN" sz="3000" baseline="-25000" dirty="0"/>
                  <a:t>2</a:t>
                </a:r>
                <a:r>
                  <a:rPr lang="en-US" altLang="zh-CN" sz="3000" dirty="0"/>
                  <a:t> = 1.062g/L x 22.4 L/mol = 23.79g/mol </a:t>
                </a:r>
              </a:p>
              <a:p>
                <a:pPr marL="514350" indent="-514350">
                  <a:buNone/>
                </a:pPr>
                <a:r>
                  <a:rPr lang="en-US" altLang="zh-CN" sz="3000" dirty="0"/>
                  <a:t>23.79g/mol &lt; </a:t>
                </a:r>
                <a:r>
                  <a:rPr lang="zh-CN" altLang="en-US" sz="3000" dirty="0"/>
                  <a:t>甲烷</a:t>
                </a:r>
                <a:r>
                  <a:rPr lang="en-US" altLang="zh-CN" sz="3000" dirty="0"/>
                  <a:t>30g/mol</a:t>
                </a:r>
                <a:r>
                  <a:rPr lang="zh-CN" altLang="en-US" sz="3000" dirty="0"/>
                  <a:t>，表示混合气体中</a:t>
                </a:r>
                <a:r>
                  <a:rPr lang="en-US" altLang="zh-CN" sz="3000" dirty="0"/>
                  <a:t>H</a:t>
                </a:r>
                <a:r>
                  <a:rPr lang="en-US" altLang="zh-CN" sz="3000" baseline="-25000" dirty="0"/>
                  <a:t>2</a:t>
                </a:r>
                <a:r>
                  <a:rPr lang="zh-CN" altLang="en-US" sz="3000" dirty="0"/>
                  <a:t>过量</a:t>
                </a:r>
                <a:endParaRPr lang="en-MY" altLang="zh-CN" sz="3000" dirty="0"/>
              </a:p>
              <a:p>
                <a:pPr marL="514350" indent="-514350">
                  <a:buNone/>
                </a:pPr>
                <a:r>
                  <a:rPr lang="zh-CN" altLang="en-US" sz="3000" dirty="0"/>
                  <a:t>设乙烯占</a:t>
                </a:r>
                <a:r>
                  <a:rPr lang="en-US" altLang="zh-CN" sz="3000" dirty="0"/>
                  <a:t>a</a:t>
                </a:r>
                <a:r>
                  <a:rPr lang="zh-CN" altLang="en-US" sz="3000" dirty="0"/>
                  <a:t>，乙炔占</a:t>
                </a:r>
                <a:r>
                  <a:rPr lang="en-US" altLang="zh-CN" sz="3000" dirty="0"/>
                  <a:t>b</a:t>
                </a:r>
                <a:r>
                  <a:rPr lang="zh-CN" altLang="en-US" sz="3000" dirty="0"/>
                  <a:t>，氢气占</a:t>
                </a:r>
                <a:r>
                  <a:rPr lang="en-US" altLang="zh-CN" sz="3000" dirty="0"/>
                  <a:t>c</a:t>
                </a:r>
              </a:p>
              <a:p>
                <a:pPr marL="514350" indent="-514350">
                  <a:buNone/>
                </a:pPr>
                <a:r>
                  <a:rPr lang="zh-CN" altLang="en-US" sz="3000" dirty="0"/>
                  <a:t>则 </a:t>
                </a:r>
                <a:r>
                  <a:rPr lang="en-MY" altLang="zh-CN" sz="3000" dirty="0"/>
                  <a:t>		</a:t>
                </a:r>
                <a:r>
                  <a:rPr lang="en-US" altLang="zh-CN" sz="3000" dirty="0" err="1"/>
                  <a:t>a+b+c</a:t>
                </a:r>
                <a:r>
                  <a:rPr lang="en-US" altLang="zh-CN" sz="3000" dirty="0"/>
                  <a:t> =1 	--------①</a:t>
                </a:r>
              </a:p>
              <a:p>
                <a:pPr marL="514350" indent="-514350">
                  <a:buNone/>
                </a:pPr>
                <a:r>
                  <a:rPr lang="en-US" altLang="zh-CN" sz="3000" dirty="0"/>
                  <a:t>28a + 26b + 2c = 10.71    --------②</a:t>
                </a:r>
              </a:p>
              <a:p>
                <a:pPr marL="514350" indent="-514350">
                  <a:buNone/>
                </a:pPr>
                <a:r>
                  <a:rPr lang="zh-CN" altLang="en-US" sz="3000" dirty="0"/>
                  <a:t>反应后用掉</a:t>
                </a:r>
                <a:r>
                  <a:rPr lang="en-MY" altLang="zh-CN" sz="3000" dirty="0"/>
                  <a:t>a+2b</a:t>
                </a:r>
                <a:r>
                  <a:rPr lang="zh-CN" altLang="en-US" sz="3000" dirty="0"/>
                  <a:t>份氢气</a:t>
                </a:r>
                <a14:m>
                  <m:oMath xmlns:m="http://schemas.openxmlformats.org/officeDocument/2006/math">
                    <m:r>
                      <a:rPr lang="zh-CN" altLang="en-US" sz="3000" dirty="0">
                        <a:latin typeface="Cambria Math" panose="02040503050406030204" pitchFamily="18" charset="0"/>
                      </a:rPr>
                      <m:t>，</m:t>
                    </m:r>
                  </m:oMath>
                </a14:m>
                <a:r>
                  <a:rPr lang="zh-CN" altLang="en-US" sz="3000" dirty="0"/>
                  <a:t>生成</a:t>
                </a:r>
                <a:r>
                  <a:rPr lang="en-US" altLang="zh-CN" sz="3000" dirty="0" err="1"/>
                  <a:t>a+b</a:t>
                </a:r>
                <a:r>
                  <a:rPr lang="zh-CN" altLang="en-US" sz="3000" dirty="0"/>
                  <a:t>份乙烷</a:t>
                </a:r>
                <a14:m>
                  <m:oMath xmlns:m="http://schemas.openxmlformats.org/officeDocument/2006/math">
                    <m:f>
                      <m:fPr>
                        <m:ctrlPr>
                          <a:rPr lang="en-US" altLang="zh-CN" sz="3000" i="1" smtClean="0">
                            <a:latin typeface="Cambria Math" panose="02040503050406030204" pitchFamily="18" charset="0"/>
                          </a:rPr>
                        </m:ctrlPr>
                      </m:fPr>
                      <m:num>
                        <m:r>
                          <a:rPr lang="en-MY" altLang="zh-CN" sz="3000" b="0" i="1" smtClean="0">
                            <a:latin typeface="Cambria Math" panose="02040503050406030204" pitchFamily="18" charset="0"/>
                          </a:rPr>
                          <m:t>30</m:t>
                        </m:r>
                        <m:d>
                          <m:dPr>
                            <m:ctrlPr>
                              <a:rPr lang="en-MY" altLang="zh-CN" sz="3000" b="0" i="1" smtClean="0">
                                <a:latin typeface="Cambria Math" panose="02040503050406030204" pitchFamily="18" charset="0"/>
                              </a:rPr>
                            </m:ctrlPr>
                          </m:dPr>
                          <m:e>
                            <m:r>
                              <a:rPr lang="en-MY" altLang="zh-CN" sz="3000" b="0" i="1" smtClean="0">
                                <a:latin typeface="Cambria Math" panose="02040503050406030204" pitchFamily="18" charset="0"/>
                              </a:rPr>
                              <m:t>𝑎</m:t>
                            </m:r>
                            <m:r>
                              <a:rPr lang="en-MY" altLang="zh-CN" sz="3000" b="0" i="1" smtClean="0">
                                <a:latin typeface="Cambria Math" panose="02040503050406030204" pitchFamily="18" charset="0"/>
                              </a:rPr>
                              <m:t>+</m:t>
                            </m:r>
                            <m:r>
                              <a:rPr lang="en-MY" altLang="zh-CN" sz="3000" b="0" i="1" smtClean="0">
                                <a:latin typeface="Cambria Math" panose="02040503050406030204" pitchFamily="18" charset="0"/>
                              </a:rPr>
                              <m:t>𝑏</m:t>
                            </m:r>
                          </m:e>
                        </m:d>
                        <m:r>
                          <a:rPr lang="en-MY" altLang="zh-CN" sz="3000" b="0" i="1" smtClean="0">
                            <a:latin typeface="Cambria Math" panose="02040503050406030204" pitchFamily="18" charset="0"/>
                          </a:rPr>
                          <m:t>+2(</m:t>
                        </m:r>
                        <m:r>
                          <a:rPr lang="en-MY" altLang="zh-CN" sz="3000" b="0" i="1" smtClean="0">
                            <a:latin typeface="Cambria Math" panose="02040503050406030204" pitchFamily="18" charset="0"/>
                          </a:rPr>
                          <m:t>𝑐</m:t>
                        </m:r>
                        <m:r>
                          <a:rPr lang="en-MY" altLang="zh-CN" sz="3000" b="0" i="1" smtClean="0">
                            <a:latin typeface="Cambria Math" panose="02040503050406030204" pitchFamily="18" charset="0"/>
                          </a:rPr>
                          <m:t>−</m:t>
                        </m:r>
                        <m:r>
                          <a:rPr lang="en-MY" altLang="zh-CN" sz="3000" b="0" i="1" smtClean="0">
                            <a:latin typeface="Cambria Math" panose="02040503050406030204" pitchFamily="18" charset="0"/>
                          </a:rPr>
                          <m:t>𝑎</m:t>
                        </m:r>
                        <m:r>
                          <a:rPr lang="en-MY" altLang="zh-CN" sz="3000" b="0" i="1" smtClean="0">
                            <a:latin typeface="Cambria Math" panose="02040503050406030204" pitchFamily="18" charset="0"/>
                          </a:rPr>
                          <m:t>−2</m:t>
                        </m:r>
                        <m:r>
                          <a:rPr lang="en-MY" altLang="zh-CN" sz="3000" b="0" i="1" smtClean="0">
                            <a:latin typeface="Cambria Math" panose="02040503050406030204" pitchFamily="18" charset="0"/>
                          </a:rPr>
                          <m:t>𝑏</m:t>
                        </m:r>
                        <m:r>
                          <a:rPr lang="en-MY" altLang="zh-CN" sz="3000" b="0" i="1" smtClean="0">
                            <a:latin typeface="Cambria Math" panose="02040503050406030204" pitchFamily="18" charset="0"/>
                          </a:rPr>
                          <m:t>)</m:t>
                        </m:r>
                      </m:num>
                      <m:den>
                        <m:r>
                          <a:rPr lang="en-MY" altLang="zh-CN" sz="3000" b="0" i="1" smtClean="0">
                            <a:latin typeface="Cambria Math" panose="02040503050406030204" pitchFamily="18" charset="0"/>
                          </a:rPr>
                          <m:t>1−</m:t>
                        </m:r>
                        <m:r>
                          <a:rPr lang="en-MY" altLang="zh-CN" sz="3000" b="0" i="1" smtClean="0">
                            <a:latin typeface="Cambria Math" panose="02040503050406030204" pitchFamily="18" charset="0"/>
                          </a:rPr>
                          <m:t>𝑎</m:t>
                        </m:r>
                        <m:r>
                          <a:rPr lang="en-MY" altLang="zh-CN" sz="3000" b="0" i="1" smtClean="0">
                            <a:latin typeface="Cambria Math" panose="02040503050406030204" pitchFamily="18" charset="0"/>
                          </a:rPr>
                          <m:t>−2</m:t>
                        </m:r>
                        <m:r>
                          <a:rPr lang="en-MY" altLang="zh-CN" sz="3000" b="0" i="1" smtClean="0">
                            <a:latin typeface="Cambria Math" panose="02040503050406030204" pitchFamily="18" charset="0"/>
                          </a:rPr>
                          <m:t>𝑏</m:t>
                        </m:r>
                      </m:den>
                    </m:f>
                    <m:r>
                      <a:rPr lang="en-MY" altLang="zh-CN" sz="3000" b="0" i="1" smtClean="0">
                        <a:latin typeface="Cambria Math" panose="02040503050406030204" pitchFamily="18" charset="0"/>
                      </a:rPr>
                      <m:t>=23.79   </m:t>
                    </m:r>
                  </m:oMath>
                </a14:m>
                <a:r>
                  <a:rPr lang="en-US" altLang="zh-CN" sz="3000" dirty="0"/>
                  <a:t>--------③</a:t>
                </a:r>
              </a:p>
              <a:p>
                <a:pPr marL="514350" indent="-514350">
                  <a:buNone/>
                </a:pPr>
                <a:r>
                  <a:rPr lang="zh-CN" altLang="en-US" sz="3000" dirty="0"/>
                  <a:t>解得</a:t>
                </a:r>
                <a:r>
                  <a:rPr lang="en-US" altLang="zh-CN" sz="3000" dirty="0"/>
                  <a:t>a=15.09% </a:t>
                </a:r>
                <a:r>
                  <a:rPr lang="zh-CN" altLang="en-US" sz="3000" dirty="0"/>
                  <a:t>，</a:t>
                </a:r>
                <a:r>
                  <a:rPr lang="en-US" altLang="zh-CN" sz="3000" dirty="0"/>
                  <a:t>b=19.95%</a:t>
                </a:r>
                <a:r>
                  <a:rPr lang="zh-CN" altLang="en-US" sz="3000" dirty="0"/>
                  <a:t>，</a:t>
                </a:r>
                <a:r>
                  <a:rPr lang="en-US" altLang="zh-CN" sz="3000" dirty="0"/>
                  <a:t>c =64.96%</a:t>
                </a:r>
              </a:p>
              <a:p>
                <a:pPr marL="514350" indent="-514350">
                  <a:buNone/>
                </a:pPr>
                <a:endParaRPr lang="en-US" altLang="zh-CN"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990600"/>
                <a:ext cx="8686800" cy="5867400"/>
              </a:xfrm>
              <a:blipFill>
                <a:blip r:embed="rId3"/>
                <a:stretch>
                  <a:fillRect l="-1614" t="-1247" r="-982"/>
                </a:stretch>
              </a:blipFill>
            </p:spPr>
            <p:txBody>
              <a:bodyPr/>
              <a:lstStyle/>
              <a:p>
                <a:r>
                  <a:rPr lang="en-MY">
                    <a:noFill/>
                  </a:rPr>
                  <a:t> </a:t>
                </a:r>
              </a:p>
            </p:txBody>
          </p:sp>
        </mc:Fallback>
      </mc:AlternateContent>
      <p:sp>
        <p:nvSpPr>
          <p:cNvPr id="6" name="Title 1"/>
          <p:cNvSpPr txBox="1">
            <a:spLocks/>
          </p:cNvSpPr>
          <p:nvPr/>
        </p:nvSpPr>
        <p:spPr>
          <a:xfrm>
            <a:off x="0" y="16715"/>
            <a:ext cx="9144000" cy="1202485"/>
          </a:xfrm>
          <a:prstGeom prst="rect">
            <a:avLst/>
          </a:prstGeom>
        </p:spPr>
        <p:txBody>
          <a:bodyPr vert="horz" lIns="91440" tIns="45720" rIns="91440" bIns="45720" rtlCol="0" anchor="ctr">
            <a:noAutofit/>
          </a:bodyPr>
          <a:lstStyle/>
          <a:p>
            <a:pPr lvl="0">
              <a:spcBef>
                <a:spcPct val="0"/>
              </a:spcBef>
              <a:defRPr/>
            </a:pPr>
            <a:r>
              <a:rPr lang="zh-CN" altLang="en-US" sz="4800" b="1" dirty="0">
                <a:latin typeface="+mn-ea"/>
              </a:rPr>
              <a:t>作答题</a:t>
            </a:r>
            <a:endParaRPr lang="en-US" sz="4800" b="1" dirty="0"/>
          </a:p>
        </p:txBody>
      </p:sp>
    </p:spTree>
    <p:extLst>
      <p:ext uri="{BB962C8B-B14F-4D97-AF65-F5344CB8AC3E}">
        <p14:creationId xmlns:p14="http://schemas.microsoft.com/office/powerpoint/2010/main" val="1932245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6144120</TotalTime>
  <Words>4623</Words>
  <Application>Microsoft Office PowerPoint</Application>
  <PresentationFormat>On-screen Show (4:3)</PresentationFormat>
  <Paragraphs>462</Paragraphs>
  <Slides>56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4" baseType="lpstr">
      <vt:lpstr>宋体</vt:lpstr>
      <vt:lpstr>宋体</vt:lpstr>
      <vt:lpstr>Arial</vt:lpstr>
      <vt:lpstr>Calibri</vt:lpstr>
      <vt:lpstr>Cambria Math</vt:lpstr>
      <vt:lpstr>Wingdings</vt:lpstr>
      <vt:lpstr>Office Theme</vt:lpstr>
      <vt:lpstr>Equation</vt:lpstr>
      <vt:lpstr>第29章  炔烃</vt:lpstr>
      <vt:lpstr>第29章 炔烃</vt:lpstr>
      <vt:lpstr>29.1 炔烃的通式、同分异构体和命名</vt:lpstr>
      <vt:lpstr>29.1 炔烃的通式、同分异构体和命名</vt:lpstr>
      <vt:lpstr>29.1 炔烃的通式、同分异构体和命名</vt:lpstr>
      <vt:lpstr>29.1 炔烃的通式、同分异构体和命名</vt:lpstr>
      <vt:lpstr>29.1 炔烃的通式、同分异构体和命名</vt:lpstr>
      <vt:lpstr>29.1 炔烃的通式、同分异构体和命名</vt:lpstr>
      <vt:lpstr>29.1 炔烃的通式、同分异构体和命名</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571</cp:revision>
  <dcterms:created xsi:type="dcterms:W3CDTF">2018-09-03T09:52:37Z</dcterms:created>
  <dcterms:modified xsi:type="dcterms:W3CDTF">2020-06-18T03:55:16Z</dcterms:modified>
</cp:coreProperties>
</file>