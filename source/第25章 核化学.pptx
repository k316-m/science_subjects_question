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8" r:id="rId2"/>
    <p:sldId id="259" r:id="rId3"/>
    <p:sldId id="260" r:id="rId4"/>
    <p:sldId id="300" r:id="rId5"/>
    <p:sldId id="264" r:id="rId6"/>
    <p:sldId id="265" r:id="rId7"/>
    <p:sldId id="261" r:id="rId8"/>
    <p:sldId id="262" r:id="rId9"/>
    <p:sldId id="267" r:id="rId10"/>
    <p:sldId id="301" r:id="rId11"/>
    <p:sldId id="263" r:id="rId12"/>
    <p:sldId id="271" r:id="rId13"/>
    <p:sldId id="268" r:id="rId14"/>
    <p:sldId id="269" r:id="rId15"/>
    <p:sldId id="272" r:id="rId16"/>
    <p:sldId id="302" r:id="rId17"/>
    <p:sldId id="273" r:id="rId18"/>
    <p:sldId id="303" r:id="rId19"/>
    <p:sldId id="270" r:id="rId20"/>
    <p:sldId id="295" r:id="rId21"/>
    <p:sldId id="296" r:id="rId22"/>
    <p:sldId id="274" r:id="rId23"/>
    <p:sldId id="275" r:id="rId24"/>
    <p:sldId id="304" r:id="rId25"/>
    <p:sldId id="305" r:id="rId26"/>
    <p:sldId id="277" r:id="rId27"/>
    <p:sldId id="276" r:id="rId28"/>
    <p:sldId id="278" r:id="rId29"/>
    <p:sldId id="280" r:id="rId30"/>
    <p:sldId id="279" r:id="rId31"/>
    <p:sldId id="281" r:id="rId32"/>
    <p:sldId id="282" r:id="rId33"/>
    <p:sldId id="283" r:id="rId34"/>
    <p:sldId id="297" r:id="rId35"/>
    <p:sldId id="298" r:id="rId36"/>
    <p:sldId id="284" r:id="rId37"/>
    <p:sldId id="293" r:id="rId38"/>
    <p:sldId id="286" r:id="rId39"/>
    <p:sldId id="287" r:id="rId40"/>
    <p:sldId id="288" r:id="rId41"/>
    <p:sldId id="289" r:id="rId42"/>
    <p:sldId id="307" r:id="rId43"/>
    <p:sldId id="294" r:id="rId44"/>
    <p:sldId id="285" r:id="rId45"/>
    <p:sldId id="299" r:id="rId46"/>
    <p:sldId id="306" r:id="rId47"/>
    <p:sldId id="290" r:id="rId48"/>
    <p:sldId id="308" r:id="rId4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96" autoAdjust="0"/>
    <p:restoredTop sz="94660"/>
  </p:normalViewPr>
  <p:slideViewPr>
    <p:cSldViewPr>
      <p:cViewPr varScale="1">
        <p:scale>
          <a:sx n="68" d="100"/>
          <a:sy n="68" d="100"/>
        </p:scale>
        <p:origin x="46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3.wmf"/><Relationship Id="rId5" Type="http://schemas.openxmlformats.org/officeDocument/2006/relationships/image" Target="../media/image7.wmf"/><Relationship Id="rId4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6688-5DD1-44BC-B31A-EC1609157C8F}" type="datetimeFigureOut">
              <a:rPr lang="en-US" smtClean="0"/>
              <a:pPr/>
              <a:t>2/26/2020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6688-5DD1-44BC-B31A-EC1609157C8F}" type="datetimeFigureOut">
              <a:rPr lang="en-US" smtClean="0"/>
              <a:pPr/>
              <a:t>2/26/2020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6688-5DD1-44BC-B31A-EC1609157C8F}" type="datetimeFigureOut">
              <a:rPr lang="en-US" smtClean="0"/>
              <a:pPr/>
              <a:t>2/26/2020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6688-5DD1-44BC-B31A-EC1609157C8F}" type="datetimeFigureOut">
              <a:rPr lang="en-US" smtClean="0"/>
              <a:pPr/>
              <a:t>2/26/2020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6688-5DD1-44BC-B31A-EC1609157C8F}" type="datetimeFigureOut">
              <a:rPr lang="en-US" smtClean="0"/>
              <a:pPr/>
              <a:t>2/26/2020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6688-5DD1-44BC-B31A-EC1609157C8F}" type="datetimeFigureOut">
              <a:rPr lang="en-US" smtClean="0"/>
              <a:pPr/>
              <a:t>2/26/2020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6688-5DD1-44BC-B31A-EC1609157C8F}" type="datetimeFigureOut">
              <a:rPr lang="en-US" smtClean="0"/>
              <a:pPr/>
              <a:t>2/26/2020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6688-5DD1-44BC-B31A-EC1609157C8F}" type="datetimeFigureOut">
              <a:rPr lang="en-US" smtClean="0"/>
              <a:pPr/>
              <a:t>2/26/2020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6688-5DD1-44BC-B31A-EC1609157C8F}" type="datetimeFigureOut">
              <a:rPr lang="en-US" smtClean="0"/>
              <a:pPr/>
              <a:t>2/26/2020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6688-5DD1-44BC-B31A-EC1609157C8F}" type="datetimeFigureOut">
              <a:rPr lang="en-US" smtClean="0"/>
              <a:pPr/>
              <a:t>2/26/2020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6688-5DD1-44BC-B31A-EC1609157C8F}" type="datetimeFigureOut">
              <a:rPr lang="en-US" smtClean="0"/>
              <a:pPr/>
              <a:t>2/26/2020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6D6688-5DD1-44BC-B31A-EC1609157C8F}" type="datetimeFigureOut">
              <a:rPr lang="en-US" smtClean="0"/>
              <a:pPr/>
              <a:t>2/26/2020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image" Target="../media/image7.wmf"/><Relationship Id="rId3" Type="http://schemas.openxmlformats.org/officeDocument/2006/relationships/image" Target="../media/image1.jpeg"/><Relationship Id="rId7" Type="http://schemas.openxmlformats.org/officeDocument/2006/relationships/image" Target="../media/image4.wmf"/><Relationship Id="rId12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6.wmf"/><Relationship Id="rId5" Type="http://schemas.openxmlformats.org/officeDocument/2006/relationships/image" Target="../media/image3.wmf"/><Relationship Id="rId10" Type="http://schemas.openxmlformats.org/officeDocument/2006/relationships/oleObject" Target="../embeddings/oleObject4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5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3" Type="http://schemas.openxmlformats.org/officeDocument/2006/relationships/image" Target="../media/image1.jpeg"/><Relationship Id="rId7" Type="http://schemas.openxmlformats.org/officeDocument/2006/relationships/image" Target="../media/image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7.bin"/><Relationship Id="rId5" Type="http://schemas.openxmlformats.org/officeDocument/2006/relationships/image" Target="../media/image8.wmf"/><Relationship Id="rId4" Type="http://schemas.openxmlformats.org/officeDocument/2006/relationships/oleObject" Target="../embeddings/oleObject6.bin"/><Relationship Id="rId9" Type="http://schemas.openxmlformats.org/officeDocument/2006/relationships/image" Target="../media/image10.wmf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>
            <a:noAutofit/>
          </a:bodyPr>
          <a:lstStyle/>
          <a:p>
            <a:r>
              <a:rPr lang="zh-CN" altLang="en-US" sz="88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+mn-ea"/>
              </a:rPr>
              <a:t>第</a:t>
            </a:r>
            <a:r>
              <a:rPr lang="en-US" altLang="zh-CN" sz="88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+mn-ea"/>
              </a:rPr>
              <a:t>25</a:t>
            </a:r>
            <a:r>
              <a:rPr lang="zh-CN" altLang="en-US" sz="88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+mn-ea"/>
              </a:rPr>
              <a:t>章 </a:t>
            </a:r>
            <a:br>
              <a:rPr lang="en-US" altLang="zh-CN" sz="88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+mn-ea"/>
              </a:rPr>
            </a:br>
            <a:r>
              <a:rPr lang="zh-CN" altLang="en-US" sz="88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+mn-ea"/>
              </a:rPr>
              <a:t>核化学</a:t>
            </a:r>
            <a:endParaRPr lang="en-US" sz="88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001000" cy="1202485"/>
          </a:xfrm>
        </p:spPr>
        <p:txBody>
          <a:bodyPr>
            <a:noAutofit/>
          </a:bodyPr>
          <a:lstStyle/>
          <a:p>
            <a:pPr algn="l"/>
            <a:r>
              <a:rPr lang="zh-CN" altLang="en-US" sz="4800" b="1" dirty="0">
                <a:latin typeface="+mn-ea"/>
              </a:rPr>
              <a:t>第</a:t>
            </a:r>
            <a:r>
              <a:rPr lang="en-US" altLang="zh-CN" sz="4800" b="1" dirty="0">
                <a:latin typeface="+mn-ea"/>
              </a:rPr>
              <a:t>25</a:t>
            </a:r>
            <a:r>
              <a:rPr lang="zh-CN" altLang="en-US" sz="4800" b="1" dirty="0">
                <a:latin typeface="+mn-ea"/>
              </a:rPr>
              <a:t>章 核化学</a:t>
            </a:r>
            <a:endParaRPr lang="en-US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382000" cy="58674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ü"/>
            </a:pPr>
            <a:r>
              <a:rPr lang="zh-CN" altLang="en-US" sz="3000" dirty="0"/>
              <a:t>化学反应：原子核外电子重新排列所引起的反应。</a:t>
            </a:r>
            <a:endParaRPr lang="en-US" altLang="zh-CN" sz="3000" dirty="0"/>
          </a:p>
          <a:p>
            <a:pPr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ü"/>
            </a:pPr>
            <a:r>
              <a:rPr lang="zh-CN" altLang="en-US" sz="3000" dirty="0"/>
              <a:t>核反应：原子核内部质子和中子的转变及重新组合所引起的反应。</a:t>
            </a:r>
            <a:endParaRPr lang="en-US" altLang="zh-CN" sz="3000" dirty="0"/>
          </a:p>
          <a:p>
            <a:pPr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ü"/>
            </a:pPr>
            <a:r>
              <a:rPr lang="zh-CN" altLang="en-US" sz="3000" dirty="0"/>
              <a:t>核化学：研究核反应的化学。</a:t>
            </a:r>
            <a:endParaRPr lang="en-US" altLang="zh-CN" sz="3000" dirty="0"/>
          </a:p>
          <a:p>
            <a:pPr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ü"/>
            </a:pPr>
            <a:r>
              <a:rPr lang="zh-CN" altLang="en-US" sz="3000" dirty="0"/>
              <a:t>应用：</a:t>
            </a:r>
            <a:r>
              <a:rPr lang="en-US" altLang="zh-CN" sz="3000" dirty="0"/>
              <a:t>25.3</a:t>
            </a:r>
            <a:r>
              <a:rPr lang="zh-CN" altLang="en-US" sz="3000" dirty="0"/>
              <a:t> </a:t>
            </a:r>
            <a:r>
              <a:rPr lang="en-US" altLang="zh-CN" sz="3000" dirty="0"/>
              <a:t>pg350</a:t>
            </a: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001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800" b="1" dirty="0">
                <a:latin typeface="+mn-ea"/>
              </a:rPr>
              <a:t>25.1</a:t>
            </a:r>
            <a:r>
              <a:rPr lang="zh-CN" altLang="en-US" sz="4800" b="1" dirty="0">
                <a:latin typeface="+mn-ea"/>
              </a:rPr>
              <a:t> 天然放射性元素</a:t>
            </a:r>
            <a:endParaRPr lang="en-US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10600" cy="58674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altLang="zh-CN" sz="3000" dirty="0"/>
              <a:t>25.1.1 </a:t>
            </a:r>
            <a:r>
              <a:rPr lang="zh-CN" altLang="en-US" sz="3000" dirty="0"/>
              <a:t>天然放射性元素的发现</a:t>
            </a:r>
            <a:endParaRPr lang="en-US" altLang="zh-CN" sz="3000" dirty="0"/>
          </a:p>
          <a:p>
            <a:pPr>
              <a:buNone/>
            </a:pPr>
            <a:r>
              <a:rPr lang="zh-CN" altLang="en-US" sz="3000" u="sng" dirty="0"/>
              <a:t>感知生活</a:t>
            </a:r>
            <a:r>
              <a:rPr lang="en-US" altLang="zh-CN" sz="3000" u="sng" dirty="0"/>
              <a:t>pg335</a:t>
            </a:r>
          </a:p>
          <a:p>
            <a:pPr>
              <a:buFont typeface="Wingdings" pitchFamily="2" charset="2"/>
              <a:buChar char="v"/>
            </a:pPr>
            <a:r>
              <a:rPr lang="zh-CN" altLang="en-US" sz="3000" dirty="0"/>
              <a:t>铀原子发生核反应释放出射线。</a:t>
            </a:r>
            <a:endParaRPr lang="en-US" altLang="zh-CN" sz="3000" dirty="0"/>
          </a:p>
          <a:p>
            <a:pPr>
              <a:buFont typeface="Wingdings" pitchFamily="2" charset="2"/>
              <a:buChar char="ü"/>
            </a:pPr>
            <a:r>
              <a:rPr lang="zh-CN" altLang="en-US" sz="3000" dirty="0"/>
              <a:t>放射性：不稳定原子核没有从外界得到能量而自发地发出射线的性质。</a:t>
            </a:r>
            <a:endParaRPr lang="en-US" altLang="zh-CN" sz="3000" dirty="0"/>
          </a:p>
          <a:p>
            <a:pPr>
              <a:buFont typeface="Wingdings" pitchFamily="2" charset="2"/>
              <a:buChar char="ü"/>
            </a:pPr>
            <a:r>
              <a:rPr lang="en-US" altLang="zh-CN" sz="3000" dirty="0"/>
              <a:t>1896</a:t>
            </a:r>
            <a:r>
              <a:rPr lang="zh-CN" altLang="en-US" sz="3000" dirty="0"/>
              <a:t>年：法国</a:t>
            </a:r>
            <a:r>
              <a:rPr lang="en-US" altLang="zh-CN" sz="3000" dirty="0"/>
              <a:t>--</a:t>
            </a:r>
            <a:r>
              <a:rPr lang="zh-CN" altLang="en-US" sz="3000" dirty="0"/>
              <a:t>物理学家</a:t>
            </a:r>
            <a:r>
              <a:rPr lang="en-US" altLang="zh-CN" sz="3000" dirty="0"/>
              <a:t>--</a:t>
            </a:r>
            <a:r>
              <a:rPr lang="zh-CN" altLang="en-US" sz="3000" dirty="0"/>
              <a:t>贝克勒尔</a:t>
            </a:r>
            <a:r>
              <a:rPr lang="en-US" altLang="zh-CN" sz="3000" dirty="0"/>
              <a:t>--</a:t>
            </a:r>
            <a:r>
              <a:rPr lang="zh-CN" altLang="en-US" sz="3000" dirty="0"/>
              <a:t>铀</a:t>
            </a:r>
            <a:endParaRPr lang="en-US" altLang="zh-CN" sz="3000" dirty="0"/>
          </a:p>
          <a:p>
            <a:pPr>
              <a:buFont typeface="Wingdings" pitchFamily="2" charset="2"/>
              <a:buChar char="ü"/>
            </a:pPr>
            <a:r>
              <a:rPr lang="en-US" altLang="zh-CN" sz="3000" dirty="0"/>
              <a:t>1898</a:t>
            </a:r>
            <a:r>
              <a:rPr lang="zh-CN" altLang="en-US" sz="3000" dirty="0"/>
              <a:t>年：波兰裔法国人</a:t>
            </a:r>
            <a:r>
              <a:rPr lang="en-US" altLang="zh-CN" sz="3000" dirty="0"/>
              <a:t>--</a:t>
            </a:r>
            <a:r>
              <a:rPr lang="zh-CN" altLang="en-US" sz="3000" dirty="0"/>
              <a:t>居里夫妇</a:t>
            </a:r>
            <a:r>
              <a:rPr lang="en-US" altLang="zh-CN" sz="3000" dirty="0"/>
              <a:t>--</a:t>
            </a:r>
            <a:r>
              <a:rPr lang="zh-CN" altLang="en-US" sz="3000" dirty="0"/>
              <a:t>钋</a:t>
            </a:r>
            <a:endParaRPr lang="en-US" altLang="zh-CN" sz="3000" dirty="0"/>
          </a:p>
          <a:p>
            <a:pPr>
              <a:buFont typeface="Wingdings" pitchFamily="2" charset="2"/>
              <a:buChar char="ü"/>
            </a:pPr>
            <a:r>
              <a:rPr lang="en-US" altLang="zh-CN" sz="3000" dirty="0"/>
              <a:t>1899</a:t>
            </a:r>
            <a:r>
              <a:rPr lang="zh-CN" altLang="en-US" sz="3000" dirty="0"/>
              <a:t>年：波兰裔法国人</a:t>
            </a:r>
            <a:r>
              <a:rPr lang="en-US" altLang="zh-CN" sz="3000" dirty="0"/>
              <a:t>--</a:t>
            </a:r>
            <a:r>
              <a:rPr lang="zh-CN" altLang="en-US" sz="3000" dirty="0"/>
              <a:t>居里夫妇</a:t>
            </a:r>
            <a:r>
              <a:rPr lang="en-US" altLang="zh-CN" sz="3000" dirty="0"/>
              <a:t>--</a:t>
            </a:r>
            <a:r>
              <a:rPr lang="zh-CN" altLang="en-US" sz="3000" dirty="0"/>
              <a:t>镭</a:t>
            </a:r>
            <a:endParaRPr lang="en-US" altLang="zh-CN" sz="3000" dirty="0"/>
          </a:p>
          <a:p>
            <a:pPr>
              <a:buNone/>
            </a:pPr>
            <a:endParaRPr lang="en-US" altLang="zh-CN" sz="3000" dirty="0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001000" cy="1202485"/>
          </a:xfrm>
        </p:spPr>
        <p:txBody>
          <a:bodyPr>
            <a:noAutofit/>
          </a:bodyPr>
          <a:lstStyle/>
          <a:p>
            <a:pPr algn="l"/>
            <a:r>
              <a:rPr lang="zh-CN" altLang="en-US" sz="4800" b="1" dirty="0">
                <a:latin typeface="+mn-ea"/>
              </a:rPr>
              <a:t>思考题</a:t>
            </a:r>
            <a:r>
              <a:rPr lang="en-US" altLang="zh-CN" sz="4800" b="1" dirty="0">
                <a:latin typeface="+mn-ea"/>
              </a:rPr>
              <a:t>25a</a:t>
            </a:r>
            <a:endParaRPr lang="en-US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382000" cy="5867400"/>
          </a:xfrm>
        </p:spPr>
        <p:txBody>
          <a:bodyPr>
            <a:noAutofit/>
          </a:bodyPr>
          <a:lstStyle/>
          <a:p>
            <a:pPr marL="514350" indent="-514350">
              <a:buAutoNum type="arabicPeriod"/>
            </a:pPr>
            <a:r>
              <a:rPr lang="zh-CN" altLang="en-US" sz="3000" dirty="0"/>
              <a:t>核化学与普通化学的不同点：</a:t>
            </a:r>
            <a:endParaRPr lang="en-US" altLang="zh-CN" sz="3000" dirty="0"/>
          </a:p>
          <a:p>
            <a:pPr lvl="1">
              <a:buFont typeface="Wingdings" pitchFamily="2" charset="2"/>
              <a:buChar char="ü"/>
            </a:pPr>
            <a:r>
              <a:rPr lang="zh-CN" altLang="en-US" sz="2600" dirty="0"/>
              <a:t>核反应只与原子核之组成有关，与电子组态无关。化学反应则相反</a:t>
            </a:r>
            <a:endParaRPr lang="en-US" altLang="zh-CN" sz="2600" dirty="0"/>
          </a:p>
          <a:p>
            <a:pPr lvl="1">
              <a:buFont typeface="Wingdings" pitchFamily="2" charset="2"/>
              <a:buChar char="ü"/>
            </a:pPr>
            <a:r>
              <a:rPr lang="zh-CN" altLang="en-US" sz="2600" dirty="0"/>
              <a:t>核反应元素会变，化学反应元素始终不变。</a:t>
            </a:r>
            <a:endParaRPr lang="en-US" altLang="zh-CN" sz="2600" dirty="0"/>
          </a:p>
          <a:p>
            <a:pPr lvl="1">
              <a:buFont typeface="Wingdings" pitchFamily="2" charset="2"/>
              <a:buChar char="ü"/>
            </a:pPr>
            <a:r>
              <a:rPr lang="zh-CN" altLang="en-US" sz="2600" dirty="0"/>
              <a:t>核反应放出之能量是化学反应的几个数量级。</a:t>
            </a:r>
            <a:endParaRPr lang="en-US" altLang="zh-CN" sz="2600" dirty="0"/>
          </a:p>
          <a:p>
            <a:pPr lvl="1">
              <a:buFont typeface="Wingdings" pitchFamily="2" charset="2"/>
              <a:buChar char="ü"/>
            </a:pPr>
            <a:r>
              <a:rPr lang="zh-CN" altLang="en-US" sz="2600" dirty="0"/>
              <a:t>核反应不受温度和压强的影响。</a:t>
            </a:r>
            <a:endParaRPr lang="en-US" altLang="zh-CN" sz="2600" dirty="0"/>
          </a:p>
          <a:p>
            <a:pPr marL="514350" indent="-514350">
              <a:buNone/>
            </a:pPr>
            <a:r>
              <a:rPr lang="en-US" altLang="zh-CN" sz="3000" dirty="0"/>
              <a:t>2. </a:t>
            </a:r>
            <a:r>
              <a:rPr lang="zh-CN" altLang="en-US" sz="3000" dirty="0"/>
              <a:t>天然放射性元素：从自然界发现的而不是用人工方法合成的放射性元素。</a:t>
            </a:r>
            <a:endParaRPr lang="en-US" altLang="zh-CN" sz="3000" dirty="0"/>
          </a:p>
          <a:p>
            <a:pPr marL="514350" indent="-514350">
              <a:buNone/>
            </a:pPr>
            <a:r>
              <a:rPr lang="en-US" altLang="zh-CN" sz="3000" dirty="0"/>
              <a:t>	</a:t>
            </a:r>
            <a:r>
              <a:rPr lang="zh-CN" altLang="en-US" sz="3000" dirty="0"/>
              <a:t>钋</a:t>
            </a:r>
            <a:r>
              <a:rPr lang="en-US" altLang="zh-CN" sz="3000" baseline="-25000" dirty="0"/>
              <a:t>84</a:t>
            </a:r>
            <a:r>
              <a:rPr lang="en-US" altLang="zh-CN" sz="3000" dirty="0"/>
              <a:t>Po</a:t>
            </a:r>
            <a:r>
              <a:rPr lang="zh-CN" altLang="en-US" sz="3000" dirty="0"/>
              <a:t>、砹 </a:t>
            </a:r>
            <a:r>
              <a:rPr lang="en-US" altLang="zh-CN" sz="3000" baseline="-25000" dirty="0"/>
              <a:t>85</a:t>
            </a:r>
            <a:r>
              <a:rPr lang="en-US" altLang="zh-CN" sz="3000" dirty="0"/>
              <a:t>At</a:t>
            </a:r>
            <a:r>
              <a:rPr lang="zh-CN" altLang="en-US" sz="3000" dirty="0"/>
              <a:t>、氡</a:t>
            </a:r>
            <a:r>
              <a:rPr lang="en-US" altLang="zh-CN" sz="3000" baseline="-25000" dirty="0"/>
              <a:t>86</a:t>
            </a:r>
            <a:r>
              <a:rPr lang="en-US" altLang="zh-CN" sz="3000" dirty="0"/>
              <a:t>Rn</a:t>
            </a:r>
            <a:r>
              <a:rPr lang="zh-CN" altLang="en-US" sz="3000" dirty="0"/>
              <a:t>、钫</a:t>
            </a:r>
            <a:r>
              <a:rPr lang="en-US" altLang="zh-CN" sz="3000" baseline="-25000" dirty="0"/>
              <a:t>87</a:t>
            </a:r>
            <a:r>
              <a:rPr lang="en-US" altLang="zh-CN" sz="3000" dirty="0"/>
              <a:t>Fr</a:t>
            </a:r>
            <a:r>
              <a:rPr lang="zh-CN" altLang="en-US" sz="3000" dirty="0"/>
              <a:t>、</a:t>
            </a:r>
            <a:r>
              <a:rPr lang="en-US" altLang="zh-CN" sz="3000" dirty="0"/>
              <a:t>……</a:t>
            </a:r>
            <a:r>
              <a:rPr lang="zh-CN" altLang="en-US" sz="3000" dirty="0"/>
              <a:t>、钚</a:t>
            </a:r>
            <a:r>
              <a:rPr lang="en-US" altLang="zh-CN" sz="3000" baseline="-25000" dirty="0"/>
              <a:t>94</a:t>
            </a:r>
            <a:r>
              <a:rPr lang="en-US" altLang="zh-CN" sz="3000" dirty="0"/>
              <a:t>Pu</a:t>
            </a:r>
            <a:r>
              <a:rPr lang="zh-CN" altLang="en-US" sz="3000" dirty="0"/>
              <a:t>。</a:t>
            </a:r>
            <a:endParaRPr lang="en-US" altLang="zh-CN" sz="3000" dirty="0"/>
          </a:p>
          <a:p>
            <a:pPr lvl="1">
              <a:buNone/>
            </a:pPr>
            <a:endParaRPr lang="en-US" altLang="zh-CN" sz="2600" dirty="0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382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800" b="1" dirty="0">
                <a:latin typeface="+mn-ea"/>
              </a:rPr>
              <a:t>25.1</a:t>
            </a:r>
            <a:r>
              <a:rPr lang="zh-CN" altLang="en-US" sz="4800" b="1" dirty="0">
                <a:latin typeface="+mn-ea"/>
              </a:rPr>
              <a:t> </a:t>
            </a:r>
            <a:r>
              <a:rPr lang="en-US" altLang="zh-CN" sz="4800" b="1" dirty="0">
                <a:latin typeface="+mn-ea"/>
              </a:rPr>
              <a:t>.2 </a:t>
            </a:r>
            <a:r>
              <a:rPr lang="zh-CN" altLang="en-US" sz="4800" b="1" dirty="0">
                <a:latin typeface="+mn-ea"/>
              </a:rPr>
              <a:t>放射线的种类和性质</a:t>
            </a:r>
            <a:endParaRPr lang="en-US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10600" cy="58674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zh-CN" altLang="en-US" sz="3000" dirty="0"/>
              <a:t>三种放射线</a:t>
            </a:r>
            <a:endParaRPr lang="en-US" altLang="zh-CN" sz="3000" dirty="0"/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zh-CN" sz="3000" dirty="0"/>
              <a:t>α</a:t>
            </a:r>
            <a:r>
              <a:rPr lang="zh-CN" altLang="en-US" sz="3000" dirty="0"/>
              <a:t>射线：带正电荷</a:t>
            </a:r>
            <a:endParaRPr lang="en-US" altLang="zh-CN" sz="3000" dirty="0"/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l-GR" altLang="zh-CN" sz="3000" dirty="0"/>
              <a:t>β</a:t>
            </a:r>
            <a:r>
              <a:rPr lang="zh-CN" altLang="en-US" sz="3000" dirty="0"/>
              <a:t>射线：带负电荷</a:t>
            </a:r>
            <a:endParaRPr lang="en-US" altLang="zh-CN" sz="3000" dirty="0"/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l-GR" altLang="zh-CN" sz="3000" dirty="0"/>
              <a:t>γ</a:t>
            </a:r>
            <a:r>
              <a:rPr lang="zh-CN" altLang="en-US" sz="3000" dirty="0"/>
              <a:t>射线：不带电荷</a:t>
            </a:r>
            <a:endParaRPr lang="en-US" altLang="zh-CN" sz="3000" dirty="0"/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endParaRPr lang="en-US" altLang="zh-CN" sz="3000" dirty="0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382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800" b="1" dirty="0">
                <a:latin typeface="+mn-ea"/>
              </a:rPr>
              <a:t>25.1</a:t>
            </a:r>
            <a:r>
              <a:rPr lang="zh-CN" altLang="en-US" sz="4800" b="1" dirty="0">
                <a:latin typeface="+mn-ea"/>
              </a:rPr>
              <a:t> </a:t>
            </a:r>
            <a:r>
              <a:rPr lang="en-US" altLang="zh-CN" sz="4800" b="1" dirty="0">
                <a:latin typeface="+mn-ea"/>
              </a:rPr>
              <a:t>.2 </a:t>
            </a:r>
            <a:r>
              <a:rPr lang="zh-CN" altLang="en-US" sz="4800" b="1" dirty="0">
                <a:latin typeface="+mn-ea"/>
              </a:rPr>
              <a:t>放射线的种类和性质</a:t>
            </a:r>
            <a:endParaRPr lang="en-US" sz="4800" b="1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81000" y="1127793"/>
          <a:ext cx="8534400" cy="5349207"/>
        </p:xfrm>
        <a:graphic>
          <a:graphicData uri="http://schemas.openxmlformats.org/drawingml/2006/table">
            <a:tbl>
              <a:tblPr firstRow="1" bandRow="1">
                <a:tableStyleId>{775DCB02-9BB8-47FD-8907-85C794F793BA}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7136"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3200" dirty="0"/>
                        <a:t>α</a:t>
                      </a:r>
                      <a:r>
                        <a:rPr lang="zh-CN" altLang="en-US" sz="3200" dirty="0"/>
                        <a:t>射线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3200" dirty="0"/>
                        <a:t>β</a:t>
                      </a:r>
                      <a:r>
                        <a:rPr lang="zh-CN" altLang="en-US" sz="3200" dirty="0"/>
                        <a:t>射线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sz="3200" dirty="0"/>
                        <a:t>γ</a:t>
                      </a:r>
                      <a:r>
                        <a:rPr lang="zh-CN" altLang="en-US" sz="3200" dirty="0"/>
                        <a:t>射线</a:t>
                      </a:r>
                      <a:endParaRPr 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6157">
                <a:tc>
                  <a:txBody>
                    <a:bodyPr/>
                    <a:lstStyle/>
                    <a:p>
                      <a:r>
                        <a:rPr lang="zh-CN" altLang="en-US" sz="3200" dirty="0"/>
                        <a:t>本质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    </a:t>
                      </a:r>
                      <a:r>
                        <a:rPr lang="en-US" altLang="zh-CN" sz="3200" dirty="0"/>
                        <a:t>He</a:t>
                      </a:r>
                      <a:r>
                        <a:rPr lang="en-US" altLang="zh-CN" sz="3200" baseline="30000" dirty="0"/>
                        <a:t>2+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    </a:t>
                      </a:r>
                      <a:r>
                        <a:rPr lang="en-US" altLang="zh-CN" sz="3200" dirty="0"/>
                        <a:t>e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3200" dirty="0"/>
                        <a:t>高频率电磁波</a:t>
                      </a:r>
                      <a:endParaRPr 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6157">
                <a:tc>
                  <a:txBody>
                    <a:bodyPr/>
                    <a:lstStyle/>
                    <a:p>
                      <a:r>
                        <a:rPr lang="zh-CN" altLang="en-US" sz="3200" dirty="0"/>
                        <a:t>电性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3200" dirty="0"/>
                        <a:t>带</a:t>
                      </a:r>
                      <a:r>
                        <a:rPr lang="en-US" altLang="zh-CN" sz="3200" dirty="0"/>
                        <a:t>2</a:t>
                      </a:r>
                      <a:r>
                        <a:rPr lang="zh-CN" altLang="en-US" sz="3200" dirty="0"/>
                        <a:t>单位正电荷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3200" dirty="0"/>
                        <a:t>带</a:t>
                      </a:r>
                      <a:r>
                        <a:rPr lang="en-US" altLang="zh-CN" sz="3200" dirty="0"/>
                        <a:t>1</a:t>
                      </a:r>
                      <a:r>
                        <a:rPr lang="zh-CN" altLang="en-US" sz="3200" dirty="0"/>
                        <a:t>单位负电荷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3200" dirty="0"/>
                        <a:t>不带电</a:t>
                      </a:r>
                      <a:endParaRPr 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6157">
                <a:tc>
                  <a:txBody>
                    <a:bodyPr/>
                    <a:lstStyle/>
                    <a:p>
                      <a:r>
                        <a:rPr lang="zh-CN" altLang="en-US" sz="3200" dirty="0"/>
                        <a:t>电场效应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3200" dirty="0"/>
                        <a:t>偏向负极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3200" dirty="0"/>
                        <a:t>大大偏向正极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3200" dirty="0"/>
                        <a:t>不偏转</a:t>
                      </a:r>
                      <a:endParaRPr 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6157">
                <a:tc>
                  <a:txBody>
                    <a:bodyPr/>
                    <a:lstStyle/>
                    <a:p>
                      <a:r>
                        <a:rPr lang="zh-CN" altLang="en-US" sz="3200" dirty="0"/>
                        <a:t>穿透能力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3200" dirty="0"/>
                        <a:t>1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3200" dirty="0"/>
                        <a:t>100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3200" dirty="0"/>
                        <a:t>10,000</a:t>
                      </a:r>
                      <a:endParaRPr 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66157">
                <a:tc>
                  <a:txBody>
                    <a:bodyPr/>
                    <a:lstStyle/>
                    <a:p>
                      <a:r>
                        <a:rPr lang="zh-CN" altLang="en-US" sz="3200" dirty="0"/>
                        <a:t>电离能力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3200" dirty="0"/>
                        <a:t>强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3200" dirty="0"/>
                        <a:t>弱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3200" dirty="0"/>
                        <a:t>很弱</a:t>
                      </a:r>
                      <a:endParaRPr 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10" name="Group 6"/>
          <p:cNvGrpSpPr>
            <a:grpSpLocks/>
          </p:cNvGrpSpPr>
          <p:nvPr/>
        </p:nvGrpSpPr>
        <p:grpSpPr bwMode="auto">
          <a:xfrm>
            <a:off x="2286000" y="1676400"/>
            <a:ext cx="533400" cy="750888"/>
            <a:chOff x="1219200" y="4419600"/>
            <a:chExt cx="533400" cy="750332"/>
          </a:xfrm>
        </p:grpSpPr>
        <p:sp>
          <p:nvSpPr>
            <p:cNvPr id="11" name="TextBox 7"/>
            <p:cNvSpPr txBox="1">
              <a:spLocks noChangeArrowheads="1"/>
            </p:cNvSpPr>
            <p:nvPr/>
          </p:nvSpPr>
          <p:spPr bwMode="auto">
            <a:xfrm>
              <a:off x="1219200" y="4800600"/>
              <a:ext cx="4572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  2  </a:t>
              </a:r>
            </a:p>
          </p:txBody>
        </p:sp>
        <p:sp>
          <p:nvSpPr>
            <p:cNvPr id="12" name="TextBox 8"/>
            <p:cNvSpPr txBox="1">
              <a:spLocks noChangeArrowheads="1"/>
            </p:cNvSpPr>
            <p:nvPr/>
          </p:nvSpPr>
          <p:spPr bwMode="auto">
            <a:xfrm>
              <a:off x="1295400" y="4419600"/>
              <a:ext cx="4572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4</a:t>
              </a:r>
            </a:p>
          </p:txBody>
        </p:sp>
      </p:grpSp>
      <p:grpSp>
        <p:nvGrpSpPr>
          <p:cNvPr id="13" name="Group 6"/>
          <p:cNvGrpSpPr>
            <a:grpSpLocks/>
          </p:cNvGrpSpPr>
          <p:nvPr/>
        </p:nvGrpSpPr>
        <p:grpSpPr bwMode="auto">
          <a:xfrm>
            <a:off x="4191000" y="1676400"/>
            <a:ext cx="609600" cy="750614"/>
            <a:chOff x="1143000" y="4419600"/>
            <a:chExt cx="609600" cy="750058"/>
          </a:xfrm>
        </p:grpSpPr>
        <p:sp>
          <p:nvSpPr>
            <p:cNvPr id="14" name="TextBox 7"/>
            <p:cNvSpPr txBox="1">
              <a:spLocks noChangeArrowheads="1"/>
            </p:cNvSpPr>
            <p:nvPr/>
          </p:nvSpPr>
          <p:spPr bwMode="auto">
            <a:xfrm>
              <a:off x="1143000" y="4800600"/>
              <a:ext cx="533400" cy="3690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  -1  </a:t>
              </a:r>
            </a:p>
          </p:txBody>
        </p:sp>
        <p:sp>
          <p:nvSpPr>
            <p:cNvPr id="15" name="TextBox 8"/>
            <p:cNvSpPr txBox="1">
              <a:spLocks noChangeArrowheads="1"/>
            </p:cNvSpPr>
            <p:nvPr/>
          </p:nvSpPr>
          <p:spPr bwMode="auto">
            <a:xfrm>
              <a:off x="1295400" y="4419600"/>
              <a:ext cx="4572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0</a:t>
              </a:r>
            </a:p>
          </p:txBody>
        </p:sp>
      </p:grpSp>
      <p:sp>
        <p:nvSpPr>
          <p:cNvPr id="16" name="Rounded Rectangle 15"/>
          <p:cNvSpPr/>
          <p:nvPr/>
        </p:nvSpPr>
        <p:spPr>
          <a:xfrm>
            <a:off x="2209800" y="1752600"/>
            <a:ext cx="1905000" cy="838200"/>
          </a:xfrm>
          <a:prstGeom prst="roundRect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/>
          <p:cNvSpPr/>
          <p:nvPr/>
        </p:nvSpPr>
        <p:spPr>
          <a:xfrm>
            <a:off x="2209800" y="2667000"/>
            <a:ext cx="1905000" cy="914400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17"/>
          <p:cNvSpPr/>
          <p:nvPr/>
        </p:nvSpPr>
        <p:spPr>
          <a:xfrm>
            <a:off x="2209800" y="3657600"/>
            <a:ext cx="1905000" cy="1066800"/>
          </a:xfrm>
          <a:prstGeom prst="roundRect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/>
          <p:cNvSpPr/>
          <p:nvPr/>
        </p:nvSpPr>
        <p:spPr>
          <a:xfrm>
            <a:off x="2209800" y="4800600"/>
            <a:ext cx="1905000" cy="762000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ounded Rectangle 19"/>
          <p:cNvSpPr/>
          <p:nvPr/>
        </p:nvSpPr>
        <p:spPr>
          <a:xfrm>
            <a:off x="2209800" y="5638800"/>
            <a:ext cx="1905000" cy="838200"/>
          </a:xfrm>
          <a:prstGeom prst="roundRect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ounded Rectangle 20"/>
          <p:cNvSpPr/>
          <p:nvPr/>
        </p:nvSpPr>
        <p:spPr>
          <a:xfrm>
            <a:off x="4114800" y="1752600"/>
            <a:ext cx="1905000" cy="838200"/>
          </a:xfrm>
          <a:prstGeom prst="roundRect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ounded Rectangle 21"/>
          <p:cNvSpPr/>
          <p:nvPr/>
        </p:nvSpPr>
        <p:spPr>
          <a:xfrm>
            <a:off x="4114800" y="2667000"/>
            <a:ext cx="1905000" cy="914400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4114800" y="3657600"/>
            <a:ext cx="1905000" cy="1066800"/>
          </a:xfrm>
          <a:prstGeom prst="roundRect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ounded Rectangle 23"/>
          <p:cNvSpPr/>
          <p:nvPr/>
        </p:nvSpPr>
        <p:spPr>
          <a:xfrm>
            <a:off x="4114800" y="4800600"/>
            <a:ext cx="1905000" cy="762000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ounded Rectangle 24"/>
          <p:cNvSpPr/>
          <p:nvPr/>
        </p:nvSpPr>
        <p:spPr>
          <a:xfrm>
            <a:off x="4114800" y="5638800"/>
            <a:ext cx="1905000" cy="838200"/>
          </a:xfrm>
          <a:prstGeom prst="roundRect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6096000" y="1752600"/>
            <a:ext cx="2743200" cy="838200"/>
          </a:xfrm>
          <a:prstGeom prst="roundRect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ounded Rectangle 26"/>
          <p:cNvSpPr/>
          <p:nvPr/>
        </p:nvSpPr>
        <p:spPr>
          <a:xfrm>
            <a:off x="6096000" y="2667000"/>
            <a:ext cx="2743200" cy="914400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ounded Rectangle 27"/>
          <p:cNvSpPr/>
          <p:nvPr/>
        </p:nvSpPr>
        <p:spPr>
          <a:xfrm>
            <a:off x="6096000" y="3657600"/>
            <a:ext cx="2743200" cy="1066800"/>
          </a:xfrm>
          <a:prstGeom prst="roundRect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ounded Rectangle 28"/>
          <p:cNvSpPr/>
          <p:nvPr/>
        </p:nvSpPr>
        <p:spPr>
          <a:xfrm>
            <a:off x="6096000" y="4800600"/>
            <a:ext cx="2743200" cy="762000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ounded Rectangle 29"/>
          <p:cNvSpPr/>
          <p:nvPr/>
        </p:nvSpPr>
        <p:spPr>
          <a:xfrm>
            <a:off x="6096000" y="5638800"/>
            <a:ext cx="2743200" cy="838200"/>
          </a:xfrm>
          <a:prstGeom prst="roundRect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6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2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8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4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0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001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800" b="1" dirty="0">
                <a:latin typeface="+mn-ea"/>
              </a:rPr>
              <a:t>25.1.2 </a:t>
            </a:r>
            <a:r>
              <a:rPr lang="zh-CN" altLang="en-US" sz="4800" b="1" dirty="0">
                <a:latin typeface="+mn-ea"/>
              </a:rPr>
              <a:t>放射线的种类和性质</a:t>
            </a:r>
            <a:r>
              <a:rPr lang="en-US" altLang="zh-CN" sz="4800" b="1" dirty="0">
                <a:latin typeface="+mn-ea"/>
              </a:rPr>
              <a:t> </a:t>
            </a:r>
            <a:endParaRPr lang="en-US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382000" cy="58674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sz="3000" dirty="0"/>
              <a:t>放射性元素的辐射特点：</a:t>
            </a:r>
            <a:endParaRPr lang="en-US" altLang="zh-CN" sz="3000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sz="3000" dirty="0"/>
              <a:t>一种放射性元素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不能</a:t>
            </a:r>
            <a:r>
              <a:rPr lang="zh-CN" altLang="en-US" sz="3000" dirty="0"/>
              <a:t>从原子核中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同时</a:t>
            </a:r>
            <a:r>
              <a:rPr lang="zh-CN" altLang="en-US" sz="3000" dirty="0"/>
              <a:t>放射</a:t>
            </a:r>
            <a:r>
              <a:rPr lang="el-GR" altLang="zh-CN" sz="3000" dirty="0"/>
              <a:t>α</a:t>
            </a:r>
            <a:r>
              <a:rPr lang="zh-CN" altLang="en-US" sz="3000" dirty="0"/>
              <a:t>粒子和</a:t>
            </a:r>
            <a:r>
              <a:rPr lang="el-GR" altLang="zh-CN" sz="3000" dirty="0"/>
              <a:t>β</a:t>
            </a:r>
            <a:r>
              <a:rPr lang="zh-CN" altLang="en-US" sz="3000" dirty="0"/>
              <a:t>粒子，而只能放射两者中的一种。</a:t>
            </a:r>
            <a:endParaRPr lang="en-US" altLang="zh-CN" sz="3000" dirty="0"/>
          </a:p>
          <a:p>
            <a:pPr marL="514350" indent="-514350">
              <a:buNone/>
            </a:pPr>
            <a:r>
              <a:rPr lang="en-US" altLang="zh-CN" sz="3000" dirty="0"/>
              <a:t>	</a:t>
            </a:r>
            <a:r>
              <a:rPr lang="zh-CN" altLang="en-US" sz="2400" dirty="0"/>
              <a:t>如果出现</a:t>
            </a:r>
            <a:r>
              <a:rPr lang="el-GR" altLang="zh-CN" sz="2400" dirty="0"/>
              <a:t>α</a:t>
            </a:r>
            <a:r>
              <a:rPr lang="zh-CN" altLang="en-US" sz="2400" dirty="0"/>
              <a:t>粒子和</a:t>
            </a:r>
            <a:r>
              <a:rPr lang="el-GR" altLang="zh-CN" sz="2400" dirty="0"/>
              <a:t>β</a:t>
            </a:r>
            <a:r>
              <a:rPr lang="zh-CN" altLang="en-US" sz="2400" dirty="0"/>
              <a:t>粒子同时放射的情况，则放射源中通常是有一种以上的放射性元素存在。</a:t>
            </a:r>
            <a:endParaRPr lang="en-US" altLang="zh-CN" sz="3000" dirty="0"/>
          </a:p>
          <a:p>
            <a:pPr marL="514350" indent="-514350">
              <a:lnSpc>
                <a:spcPct val="150000"/>
              </a:lnSpc>
              <a:buAutoNum type="arabicPeriod" startAt="2"/>
            </a:pPr>
            <a:r>
              <a:rPr lang="zh-CN" altLang="zh-CN" sz="3000" dirty="0"/>
              <a:t>γ</a:t>
            </a:r>
            <a:r>
              <a:rPr lang="zh-CN" altLang="en-US" sz="3000" dirty="0"/>
              <a:t>射线</a:t>
            </a:r>
            <a:r>
              <a:rPr lang="zh-CN" altLang="en-US" sz="3000" b="1" u="sng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经常</a:t>
            </a:r>
            <a:r>
              <a:rPr lang="zh-CN" altLang="en-US" sz="3000" dirty="0"/>
              <a:t>伴随着</a:t>
            </a:r>
            <a:r>
              <a:rPr lang="el-GR" altLang="zh-CN" sz="3000" dirty="0"/>
              <a:t>α</a:t>
            </a:r>
            <a:r>
              <a:rPr lang="zh-CN" altLang="en-US" sz="3000" dirty="0"/>
              <a:t>或</a:t>
            </a:r>
            <a:r>
              <a:rPr lang="el-GR" altLang="zh-CN" sz="3000" dirty="0"/>
              <a:t>β</a:t>
            </a:r>
            <a:r>
              <a:rPr lang="zh-CN" altLang="en-US" sz="3000" dirty="0"/>
              <a:t>射线一起产生。</a:t>
            </a:r>
            <a:endParaRPr lang="en-US" altLang="zh-CN" sz="3000" dirty="0"/>
          </a:p>
          <a:p>
            <a:pPr marL="514350" indent="-514350">
              <a:buNone/>
            </a:pPr>
            <a:r>
              <a:rPr lang="en-US" altLang="zh-CN" sz="3000" dirty="0"/>
              <a:t>	</a:t>
            </a:r>
            <a:r>
              <a:rPr lang="zh-CN" altLang="en-US" sz="2400" dirty="0"/>
              <a:t>放出</a:t>
            </a:r>
            <a:r>
              <a:rPr lang="zh-CN" altLang="zh-CN" sz="2400" dirty="0"/>
              <a:t>γ</a:t>
            </a:r>
            <a:r>
              <a:rPr lang="zh-CN" altLang="en-US" sz="2400" dirty="0"/>
              <a:t>射线是为了使产生的新原子核从激发态变成基态。</a:t>
            </a:r>
            <a:endParaRPr lang="en-US" altLang="zh-CN" sz="2400" dirty="0"/>
          </a:p>
          <a:p>
            <a:pPr marL="514350" indent="-514350">
              <a:buNone/>
            </a:pP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001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800" b="1" dirty="0">
                <a:latin typeface="+mn-ea"/>
              </a:rPr>
              <a:t>25.2 </a:t>
            </a:r>
            <a:r>
              <a:rPr lang="zh-CN" altLang="en-US" sz="4800" b="1" dirty="0">
                <a:latin typeface="+mn-ea"/>
              </a:rPr>
              <a:t>放射性元素的衰变</a:t>
            </a:r>
            <a:endParaRPr lang="en-US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382000" cy="58674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sz="3000" dirty="0"/>
              <a:t>原子序数大于</a:t>
            </a:r>
            <a:r>
              <a:rPr lang="en-US" altLang="zh-CN" sz="3000" dirty="0"/>
              <a:t>82</a:t>
            </a:r>
            <a:r>
              <a:rPr lang="zh-CN" altLang="en-US" sz="3000" dirty="0"/>
              <a:t>的天然存在的元素都具有放射性。</a:t>
            </a:r>
            <a:endParaRPr lang="en-US" altLang="zh-CN" sz="3000" dirty="0"/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sz="3000" dirty="0"/>
              <a:t>也有些原子序数小于或等于</a:t>
            </a:r>
            <a:r>
              <a:rPr lang="en-US" altLang="zh-CN" sz="3000" dirty="0"/>
              <a:t>82</a:t>
            </a:r>
            <a:r>
              <a:rPr lang="zh-CN" altLang="en-US" sz="3000" dirty="0"/>
              <a:t>的天然存在的元素具有放射性。</a:t>
            </a:r>
            <a:endParaRPr lang="en-US" altLang="zh-CN" sz="3000" dirty="0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001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800" b="1" dirty="0">
                <a:latin typeface="+mn-ea"/>
              </a:rPr>
              <a:t>25.2.1 </a:t>
            </a:r>
            <a:r>
              <a:rPr lang="zh-CN" altLang="en-US" sz="4800" b="1" dirty="0">
                <a:latin typeface="+mn-ea"/>
              </a:rPr>
              <a:t>核的稳定性</a:t>
            </a:r>
            <a:endParaRPr lang="en-US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839200" cy="5867400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ü"/>
            </a:pPr>
            <a:r>
              <a:rPr lang="zh-CN" altLang="en-US" sz="3000" dirty="0"/>
              <a:t>核力：原子核内部的力量，其使质子中子结合在一起。</a:t>
            </a:r>
            <a:endParaRPr lang="en-US" altLang="zh-CN" sz="3000" dirty="0"/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sz="3000" dirty="0"/>
              <a:t>原子核的稳定性与</a:t>
            </a:r>
            <a:r>
              <a:rPr lang="en-US" altLang="zh-CN" sz="3000" dirty="0"/>
              <a:t>	       </a:t>
            </a:r>
            <a:r>
              <a:rPr lang="zh-CN" altLang="en-US" sz="3000" dirty="0"/>
              <a:t>的值有关</a:t>
            </a:r>
            <a:endParaRPr lang="en-US" altLang="zh-CN" sz="3000" dirty="0"/>
          </a:p>
          <a:p>
            <a:pPr>
              <a:buFont typeface="Wingdings" pitchFamily="2" charset="2"/>
              <a:buChar char="ü"/>
            </a:pPr>
            <a:r>
              <a:rPr lang="zh-CN" altLang="en-US" sz="3000" dirty="0"/>
              <a:t>原子序数 </a:t>
            </a:r>
            <a:r>
              <a:rPr lang="en-US" altLang="zh-CN" sz="3000" dirty="0"/>
              <a:t>1~20</a:t>
            </a:r>
            <a:r>
              <a:rPr lang="zh-CN" altLang="en-US" sz="3000" dirty="0"/>
              <a:t>的原子核，其</a:t>
            </a:r>
            <a:r>
              <a:rPr lang="en-US" altLang="zh-CN" sz="3000" dirty="0"/>
              <a:t>	  </a:t>
            </a:r>
            <a:r>
              <a:rPr lang="zh-CN" altLang="en-US" sz="3000" dirty="0"/>
              <a:t>值约等于</a:t>
            </a:r>
            <a:r>
              <a:rPr lang="en-US" altLang="zh-CN" sz="3000" dirty="0"/>
              <a:t>1</a:t>
            </a:r>
            <a:r>
              <a:rPr lang="zh-CN" altLang="en-US" sz="3000" dirty="0"/>
              <a:t>，为稳定核。</a:t>
            </a:r>
            <a:endParaRPr lang="en-US" altLang="zh-CN" sz="3000" dirty="0"/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sz="3000" dirty="0"/>
              <a:t>原子序数越大，</a:t>
            </a:r>
            <a:r>
              <a:rPr lang="en-US" altLang="zh-CN" sz="3000" dirty="0"/>
              <a:t>	</a:t>
            </a:r>
            <a:r>
              <a:rPr lang="zh-CN" altLang="en-US" sz="3000" dirty="0"/>
              <a:t>值约等于</a:t>
            </a:r>
            <a:r>
              <a:rPr lang="en-US" altLang="zh-CN" sz="3000" dirty="0"/>
              <a:t>1.5</a:t>
            </a:r>
            <a:r>
              <a:rPr lang="zh-CN" altLang="en-US" sz="3000" dirty="0"/>
              <a:t>，原子核才稳定。</a:t>
            </a:r>
            <a:endParaRPr lang="en-US" altLang="zh-CN" sz="3000" dirty="0"/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sz="3000" dirty="0"/>
              <a:t>一定条件下，稳定核也能转变成具有放射性的原子核。</a:t>
            </a:r>
            <a:endParaRPr lang="en-US" altLang="zh-CN" sz="3000" dirty="0"/>
          </a:p>
        </p:txBody>
      </p:sp>
      <p:grpSp>
        <p:nvGrpSpPr>
          <p:cNvPr id="4" name="Group 3"/>
          <p:cNvGrpSpPr/>
          <p:nvPr/>
        </p:nvGrpSpPr>
        <p:grpSpPr>
          <a:xfrm>
            <a:off x="3962400" y="1925360"/>
            <a:ext cx="702280" cy="817840"/>
            <a:chOff x="2881222" y="1573291"/>
            <a:chExt cx="530340" cy="817840"/>
          </a:xfrm>
        </p:grpSpPr>
        <p:grpSp>
          <p:nvGrpSpPr>
            <p:cNvPr id="6" name="Group 24"/>
            <p:cNvGrpSpPr/>
            <p:nvPr/>
          </p:nvGrpSpPr>
          <p:grpSpPr>
            <a:xfrm>
              <a:off x="2881222" y="1573291"/>
              <a:ext cx="530340" cy="523220"/>
              <a:chOff x="2881222" y="1573291"/>
              <a:chExt cx="530340" cy="523220"/>
            </a:xfrm>
          </p:grpSpPr>
          <p:cxnSp>
            <p:nvCxnSpPr>
              <p:cNvPr id="9" name="Straight Connector 8"/>
              <p:cNvCxnSpPr/>
              <p:nvPr/>
            </p:nvCxnSpPr>
            <p:spPr>
              <a:xfrm>
                <a:off x="2881222" y="2022478"/>
                <a:ext cx="414316" cy="1588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TextBox 9"/>
              <p:cNvSpPr txBox="1"/>
              <p:nvPr/>
            </p:nvSpPr>
            <p:spPr>
              <a:xfrm>
                <a:off x="2935660" y="1573291"/>
                <a:ext cx="47590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n</a:t>
                </a:r>
              </a:p>
            </p:txBody>
          </p:sp>
        </p:grpSp>
        <p:sp>
          <p:nvSpPr>
            <p:cNvPr id="8" name="TextBox 5"/>
            <p:cNvSpPr txBox="1"/>
            <p:nvPr/>
          </p:nvSpPr>
          <p:spPr>
            <a:xfrm>
              <a:off x="2938766" y="1867911"/>
              <a:ext cx="44629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/>
                <a:t>p </a:t>
              </a:r>
              <a:endParaRPr lang="en-US" sz="2800" dirty="0"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5393720" y="2534960"/>
            <a:ext cx="702280" cy="817840"/>
            <a:chOff x="2881222" y="1573291"/>
            <a:chExt cx="530340" cy="817840"/>
          </a:xfrm>
        </p:grpSpPr>
        <p:grpSp>
          <p:nvGrpSpPr>
            <p:cNvPr id="12" name="Group 24"/>
            <p:cNvGrpSpPr/>
            <p:nvPr/>
          </p:nvGrpSpPr>
          <p:grpSpPr>
            <a:xfrm>
              <a:off x="2881222" y="1573291"/>
              <a:ext cx="530340" cy="523220"/>
              <a:chOff x="2881222" y="1573291"/>
              <a:chExt cx="530340" cy="523220"/>
            </a:xfrm>
          </p:grpSpPr>
          <p:cxnSp>
            <p:nvCxnSpPr>
              <p:cNvPr id="14" name="Straight Connector 13"/>
              <p:cNvCxnSpPr/>
              <p:nvPr/>
            </p:nvCxnSpPr>
            <p:spPr>
              <a:xfrm>
                <a:off x="2881222" y="2022478"/>
                <a:ext cx="414316" cy="1588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/>
              <p:cNvSpPr txBox="1"/>
              <p:nvPr/>
            </p:nvSpPr>
            <p:spPr>
              <a:xfrm>
                <a:off x="2935660" y="1573291"/>
                <a:ext cx="47590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n</a:t>
                </a:r>
              </a:p>
            </p:txBody>
          </p:sp>
        </p:grpSp>
        <p:sp>
          <p:nvSpPr>
            <p:cNvPr id="13" name="TextBox 5"/>
            <p:cNvSpPr txBox="1"/>
            <p:nvPr/>
          </p:nvSpPr>
          <p:spPr>
            <a:xfrm>
              <a:off x="2938766" y="1867911"/>
              <a:ext cx="44629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/>
                <a:t>p </a:t>
              </a:r>
              <a:endParaRPr lang="en-US" sz="2800" dirty="0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3336320" y="3657600"/>
            <a:ext cx="702280" cy="817840"/>
            <a:chOff x="2881222" y="1573291"/>
            <a:chExt cx="530340" cy="817840"/>
          </a:xfrm>
        </p:grpSpPr>
        <p:grpSp>
          <p:nvGrpSpPr>
            <p:cNvPr id="17" name="Group 24"/>
            <p:cNvGrpSpPr/>
            <p:nvPr/>
          </p:nvGrpSpPr>
          <p:grpSpPr>
            <a:xfrm>
              <a:off x="2881222" y="1573291"/>
              <a:ext cx="530340" cy="523220"/>
              <a:chOff x="2881222" y="1573291"/>
              <a:chExt cx="530340" cy="523220"/>
            </a:xfrm>
          </p:grpSpPr>
          <p:cxnSp>
            <p:nvCxnSpPr>
              <p:cNvPr id="19" name="Straight Connector 18"/>
              <p:cNvCxnSpPr/>
              <p:nvPr/>
            </p:nvCxnSpPr>
            <p:spPr>
              <a:xfrm>
                <a:off x="2881222" y="2022478"/>
                <a:ext cx="414316" cy="1588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TextBox 19"/>
              <p:cNvSpPr txBox="1"/>
              <p:nvPr/>
            </p:nvSpPr>
            <p:spPr>
              <a:xfrm>
                <a:off x="2935660" y="1573291"/>
                <a:ext cx="47590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n</a:t>
                </a:r>
              </a:p>
            </p:txBody>
          </p:sp>
        </p:grpSp>
        <p:sp>
          <p:nvSpPr>
            <p:cNvPr id="18" name="TextBox 5"/>
            <p:cNvSpPr txBox="1"/>
            <p:nvPr/>
          </p:nvSpPr>
          <p:spPr>
            <a:xfrm>
              <a:off x="2938766" y="1867911"/>
              <a:ext cx="44629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/>
                <a:t>p </a:t>
              </a:r>
              <a:endParaRPr lang="en-US" sz="2800" dirty="0"/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1295400" y="1295400"/>
            <a:ext cx="6757792" cy="5029200"/>
            <a:chOff x="2280346" y="1981200"/>
            <a:chExt cx="6148192" cy="4191000"/>
          </a:xfrm>
        </p:grpSpPr>
        <p:pic>
          <p:nvPicPr>
            <p:cNvPr id="21" name="Picture 20" descr="heh.jpg"/>
            <p:cNvPicPr>
              <a:picLocks noChangeAspect="1"/>
            </p:cNvPicPr>
            <p:nvPr/>
          </p:nvPicPr>
          <p:blipFill>
            <a:blip r:embed="rId3"/>
            <a:srcRect l="19271" t="26626"/>
            <a:stretch>
              <a:fillRect/>
            </a:stretch>
          </p:blipFill>
          <p:spPr>
            <a:xfrm>
              <a:off x="2280346" y="1981200"/>
              <a:ext cx="6148192" cy="4191000"/>
            </a:xfrm>
            <a:prstGeom prst="rect">
              <a:avLst/>
            </a:prstGeom>
          </p:spPr>
        </p:pic>
        <p:cxnSp>
          <p:nvCxnSpPr>
            <p:cNvPr id="23" name="Straight Connector 22"/>
            <p:cNvCxnSpPr/>
            <p:nvPr/>
          </p:nvCxnSpPr>
          <p:spPr>
            <a:xfrm>
              <a:off x="6172200" y="2362200"/>
              <a:ext cx="152400" cy="76200"/>
            </a:xfrm>
            <a:prstGeom prst="line">
              <a:avLst/>
            </a:prstGeom>
            <a:ln>
              <a:solidFill>
                <a:srgbClr val="FFFF00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001000" cy="1202485"/>
          </a:xfrm>
        </p:spPr>
        <p:txBody>
          <a:bodyPr>
            <a:noAutofit/>
          </a:bodyPr>
          <a:lstStyle/>
          <a:p>
            <a:pPr algn="l"/>
            <a:r>
              <a:rPr lang="zh-CN" altLang="en-US" sz="4800" b="1" dirty="0">
                <a:latin typeface="+mn-ea"/>
              </a:rPr>
              <a:t>思考题</a:t>
            </a:r>
            <a:r>
              <a:rPr lang="en-US" altLang="zh-CN" sz="4800" b="1" dirty="0">
                <a:latin typeface="+mn-ea"/>
              </a:rPr>
              <a:t>25c</a:t>
            </a:r>
            <a:endParaRPr lang="en-US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382000" cy="5867400"/>
          </a:xfrm>
        </p:spPr>
        <p:txBody>
          <a:bodyPr>
            <a:noAutofit/>
          </a:bodyPr>
          <a:lstStyle/>
          <a:p>
            <a:pPr marL="514350" indent="-514350">
              <a:spcBef>
                <a:spcPts val="600"/>
              </a:spcBef>
              <a:buAutoNum type="arabicPeriod"/>
            </a:pPr>
            <a:r>
              <a:rPr lang="zh-CN" altLang="en-US" sz="3000" dirty="0"/>
              <a:t>人工放射性元素：原子序数</a:t>
            </a:r>
            <a:r>
              <a:rPr lang="en-US" altLang="zh-CN" sz="3000" dirty="0"/>
              <a:t>95-118 </a:t>
            </a:r>
          </a:p>
          <a:p>
            <a:pPr marL="514350" indent="-514350">
              <a:spcBef>
                <a:spcPts val="600"/>
              </a:spcBef>
              <a:buNone/>
            </a:pPr>
            <a:endParaRPr lang="en-US" altLang="zh-CN" sz="3000" dirty="0"/>
          </a:p>
          <a:p>
            <a:pPr>
              <a:spcBef>
                <a:spcPts val="600"/>
              </a:spcBef>
              <a:buNone/>
            </a:pPr>
            <a:r>
              <a:rPr lang="en-US" altLang="zh-CN" sz="3000" dirty="0"/>
              <a:t>2. </a:t>
            </a:r>
            <a:r>
              <a:rPr lang="zh-CN" altLang="en-US" sz="3000" dirty="0"/>
              <a:t>原子序数 </a:t>
            </a:r>
            <a:r>
              <a:rPr lang="en-US" altLang="zh-CN" sz="3000" dirty="0"/>
              <a:t>1~20</a:t>
            </a:r>
            <a:r>
              <a:rPr lang="zh-CN" altLang="en-US" sz="3000" dirty="0"/>
              <a:t>的原子核，其</a:t>
            </a:r>
            <a:r>
              <a:rPr lang="en-US" altLang="zh-CN" sz="3000" dirty="0"/>
              <a:t>n/p</a:t>
            </a:r>
            <a:r>
              <a:rPr lang="zh-CN" altLang="en-US" sz="3000" dirty="0"/>
              <a:t>值约等于</a:t>
            </a:r>
            <a:r>
              <a:rPr lang="en-US" altLang="zh-CN" sz="3000" dirty="0"/>
              <a:t>1</a:t>
            </a:r>
            <a:r>
              <a:rPr lang="zh-CN" altLang="en-US" sz="3000" dirty="0"/>
              <a:t>，为稳定核。</a:t>
            </a:r>
            <a:endParaRPr lang="en-US" altLang="zh-CN" sz="3000" dirty="0"/>
          </a:p>
          <a:p>
            <a:pPr>
              <a:spcBef>
                <a:spcPts val="600"/>
              </a:spcBef>
              <a:buNone/>
            </a:pPr>
            <a:r>
              <a:rPr lang="en-US" altLang="zh-CN" sz="3000" baseline="30000" dirty="0"/>
              <a:t>12</a:t>
            </a:r>
            <a:r>
              <a:rPr lang="en-US" altLang="zh-CN" sz="3000" dirty="0"/>
              <a:t>C </a:t>
            </a:r>
            <a:r>
              <a:rPr lang="zh-CN" altLang="en-US" sz="3000" dirty="0"/>
              <a:t>中子数</a:t>
            </a:r>
            <a:r>
              <a:rPr lang="en-US" altLang="zh-CN" sz="3000" dirty="0"/>
              <a:t>=6</a:t>
            </a:r>
            <a:r>
              <a:rPr lang="zh-CN" altLang="en-US" sz="3000" dirty="0"/>
              <a:t>，质子数</a:t>
            </a:r>
            <a:r>
              <a:rPr lang="en-US" altLang="zh-CN" sz="3000" dirty="0"/>
              <a:t>=6</a:t>
            </a:r>
            <a:r>
              <a:rPr lang="zh-CN" altLang="en-US" sz="3000" dirty="0"/>
              <a:t>，</a:t>
            </a:r>
            <a:r>
              <a:rPr lang="en-US" altLang="zh-CN" sz="3000" dirty="0"/>
              <a:t>n/p = 1</a:t>
            </a:r>
            <a:r>
              <a:rPr lang="zh-CN" altLang="en-US" sz="3000" dirty="0"/>
              <a:t>，是稳定核。</a:t>
            </a:r>
            <a:endParaRPr lang="en-US" altLang="zh-CN" sz="3000" dirty="0"/>
          </a:p>
          <a:p>
            <a:pPr>
              <a:spcBef>
                <a:spcPts val="600"/>
              </a:spcBef>
              <a:buNone/>
            </a:pPr>
            <a:r>
              <a:rPr lang="en-US" altLang="zh-CN" sz="3000" baseline="30000" dirty="0"/>
              <a:t>14</a:t>
            </a:r>
            <a:r>
              <a:rPr lang="en-US" altLang="zh-CN" sz="3000" dirty="0"/>
              <a:t> C</a:t>
            </a:r>
            <a:r>
              <a:rPr lang="zh-CN" altLang="en-US" sz="3000" dirty="0"/>
              <a:t>中子数</a:t>
            </a:r>
            <a:r>
              <a:rPr lang="en-US" altLang="zh-CN" sz="3000" dirty="0"/>
              <a:t>=8</a:t>
            </a:r>
            <a:r>
              <a:rPr lang="zh-CN" altLang="en-US" sz="3000" dirty="0"/>
              <a:t>，质子数</a:t>
            </a:r>
            <a:r>
              <a:rPr lang="en-US" altLang="zh-CN" sz="3000" dirty="0"/>
              <a:t>=6</a:t>
            </a:r>
            <a:r>
              <a:rPr lang="zh-CN" altLang="en-US" sz="3000" dirty="0"/>
              <a:t>，</a:t>
            </a:r>
            <a:r>
              <a:rPr lang="en-US" altLang="zh-CN" sz="3000" dirty="0"/>
              <a:t>n/p = 1.3</a:t>
            </a:r>
            <a:r>
              <a:rPr lang="zh-CN" altLang="en-US" sz="3000" dirty="0"/>
              <a:t>，是不稳定核，具有放射性。</a:t>
            </a:r>
            <a:endParaRPr lang="en-US" altLang="zh-CN" sz="3000" baseline="30000" dirty="0"/>
          </a:p>
          <a:p>
            <a:pPr>
              <a:spcBef>
                <a:spcPts val="600"/>
              </a:spcBef>
              <a:buNone/>
            </a:pPr>
            <a:endParaRPr lang="en-US" altLang="zh-CN" sz="3000" dirty="0"/>
          </a:p>
          <a:p>
            <a:pPr marL="514350" indent="-514350">
              <a:spcBef>
                <a:spcPts val="600"/>
              </a:spcBef>
              <a:buAutoNum type="arabicPeriod"/>
            </a:pPr>
            <a:endParaRPr lang="en-US" altLang="zh-CN" sz="3000" dirty="0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001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800" b="1" dirty="0">
                <a:latin typeface="+mn-ea"/>
              </a:rPr>
              <a:t>25.2.2 </a:t>
            </a:r>
            <a:r>
              <a:rPr lang="zh-CN" altLang="en-US" sz="4800" b="1" dirty="0">
                <a:latin typeface="+mn-ea"/>
              </a:rPr>
              <a:t>核衰变的种类</a:t>
            </a:r>
            <a:endParaRPr lang="en-US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382000" cy="5867400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ü"/>
            </a:pPr>
            <a:r>
              <a:rPr lang="zh-CN" altLang="en-US" sz="3000" dirty="0"/>
              <a:t>核衰变：不稳定原子核放射出放射线而变成另一种原子核的过程。</a:t>
            </a:r>
            <a:endParaRPr lang="en-US" altLang="zh-CN" sz="3000" dirty="0"/>
          </a:p>
          <a:p>
            <a:pPr>
              <a:buFont typeface="Wingdings" pitchFamily="2" charset="2"/>
              <a:buChar char="ü"/>
            </a:pPr>
            <a:r>
              <a:rPr lang="zh-CN" altLang="en-US" sz="3000" dirty="0"/>
              <a:t>放射变化中，质量数与核电荷数都是守恒的。</a:t>
            </a:r>
            <a:endParaRPr lang="en-US" altLang="zh-CN" sz="3000" dirty="0"/>
          </a:p>
          <a:p>
            <a:pPr>
              <a:buFont typeface="Wingdings" pitchFamily="2" charset="2"/>
              <a:buChar char="ü"/>
            </a:pPr>
            <a:r>
              <a:rPr lang="zh-CN" altLang="en-US" sz="3000" dirty="0"/>
              <a:t>基本符号：</a:t>
            </a:r>
            <a:endParaRPr lang="en-US" altLang="zh-CN" sz="3000" dirty="0"/>
          </a:p>
          <a:p>
            <a:pPr lvl="1">
              <a:buNone/>
            </a:pPr>
            <a:r>
              <a:rPr lang="zh-CN" altLang="en-US" sz="3000" dirty="0"/>
              <a:t>质子</a:t>
            </a:r>
            <a:r>
              <a:rPr lang="en-US" altLang="zh-CN" sz="3000" dirty="0"/>
              <a:t>p		</a:t>
            </a:r>
            <a:r>
              <a:rPr lang="zh-CN" altLang="en-US" sz="3000" dirty="0"/>
              <a:t>中子</a:t>
            </a:r>
            <a:r>
              <a:rPr lang="en-US" altLang="zh-CN" sz="3000" dirty="0"/>
              <a:t>n	</a:t>
            </a:r>
            <a:r>
              <a:rPr lang="zh-CN" altLang="en-US" sz="3000" dirty="0"/>
              <a:t>电子</a:t>
            </a:r>
            <a:r>
              <a:rPr lang="en-US" altLang="zh-CN" sz="3000" dirty="0"/>
              <a:t>e</a:t>
            </a:r>
            <a:r>
              <a:rPr lang="en-US" altLang="zh-CN" sz="3000" baseline="30000" dirty="0"/>
              <a:t>-</a:t>
            </a:r>
            <a:r>
              <a:rPr lang="zh-CN" altLang="en-US" sz="3000" dirty="0"/>
              <a:t>    </a:t>
            </a:r>
            <a:r>
              <a:rPr lang="en-US" altLang="zh-CN" sz="3000" dirty="0"/>
              <a:t>	</a:t>
            </a:r>
            <a:r>
              <a:rPr lang="zh-CN" altLang="en-US" sz="3000" dirty="0"/>
              <a:t>正子   </a:t>
            </a:r>
            <a:endParaRPr lang="en-US" altLang="zh-CN" sz="3000" dirty="0"/>
          </a:p>
          <a:p>
            <a:pPr lvl="1">
              <a:buNone/>
            </a:pPr>
            <a:r>
              <a:rPr lang="en-US" altLang="zh-CN" sz="3000" dirty="0"/>
              <a:t>    H		   n		   e		   </a:t>
            </a:r>
            <a:r>
              <a:rPr lang="en-US" altLang="zh-CN" sz="3000" dirty="0" err="1"/>
              <a:t>e</a:t>
            </a:r>
            <a:endParaRPr lang="en-US" altLang="zh-CN" sz="3000" dirty="0"/>
          </a:p>
          <a:p>
            <a:pPr lvl="1">
              <a:buNone/>
            </a:pPr>
            <a:endParaRPr lang="en-US" altLang="zh-CN" sz="3000" dirty="0"/>
          </a:p>
          <a:p>
            <a:pPr lvl="1">
              <a:buNone/>
            </a:pPr>
            <a:r>
              <a:rPr lang="en-US" altLang="zh-CN" sz="3000" dirty="0"/>
              <a:t>		</a:t>
            </a:r>
            <a:r>
              <a:rPr lang="zh-CN" altLang="en-US" sz="3000" dirty="0"/>
              <a:t>质子数</a:t>
            </a:r>
            <a:r>
              <a:rPr lang="en-US" altLang="zh-CN" sz="3000" dirty="0"/>
              <a:t>+ </a:t>
            </a:r>
            <a:r>
              <a:rPr lang="zh-CN" altLang="en-US" sz="3000" dirty="0"/>
              <a:t>中子数</a:t>
            </a:r>
            <a:r>
              <a:rPr lang="en-US" altLang="zh-CN" sz="3000" dirty="0"/>
              <a:t>= </a:t>
            </a:r>
            <a:r>
              <a:rPr lang="zh-CN" altLang="en-US" sz="3000" dirty="0"/>
              <a:t>质量数 </a:t>
            </a:r>
            <a:r>
              <a:rPr lang="en-US" altLang="zh-CN" sz="3000" dirty="0"/>
              <a:t>A</a:t>
            </a:r>
          </a:p>
          <a:p>
            <a:pPr lvl="1">
              <a:buNone/>
            </a:pPr>
            <a:r>
              <a:rPr lang="en-US" altLang="zh-CN" sz="3000" dirty="0"/>
              <a:t>		</a:t>
            </a:r>
            <a:r>
              <a:rPr lang="zh-CN" altLang="en-US" sz="3000" dirty="0"/>
              <a:t>原子序数</a:t>
            </a:r>
            <a:r>
              <a:rPr lang="en-US" altLang="zh-CN" sz="3000" dirty="0"/>
              <a:t>/</a:t>
            </a:r>
            <a:r>
              <a:rPr lang="zh-CN" altLang="en-US" sz="3000" dirty="0"/>
              <a:t>质子数：</a:t>
            </a:r>
            <a:r>
              <a:rPr lang="en-US" altLang="zh-CN" sz="3000" dirty="0"/>
              <a:t>Z</a:t>
            </a:r>
          </a:p>
        </p:txBody>
      </p:sp>
      <p:grpSp>
        <p:nvGrpSpPr>
          <p:cNvPr id="6" name="Group 6"/>
          <p:cNvGrpSpPr>
            <a:grpSpLocks/>
          </p:cNvGrpSpPr>
          <p:nvPr/>
        </p:nvGrpSpPr>
        <p:grpSpPr bwMode="auto">
          <a:xfrm>
            <a:off x="838200" y="3657600"/>
            <a:ext cx="533400" cy="674133"/>
            <a:chOff x="1219200" y="4496024"/>
            <a:chExt cx="533400" cy="673634"/>
          </a:xfrm>
        </p:grpSpPr>
        <p:sp>
          <p:nvSpPr>
            <p:cNvPr id="7" name="TextBox 7"/>
            <p:cNvSpPr txBox="1">
              <a:spLocks noChangeArrowheads="1"/>
            </p:cNvSpPr>
            <p:nvPr/>
          </p:nvSpPr>
          <p:spPr bwMode="auto">
            <a:xfrm>
              <a:off x="1219200" y="4800600"/>
              <a:ext cx="457200" cy="3690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  1</a:t>
              </a:r>
            </a:p>
          </p:txBody>
        </p:sp>
        <p:sp>
          <p:nvSpPr>
            <p:cNvPr id="8" name="TextBox 8"/>
            <p:cNvSpPr txBox="1">
              <a:spLocks noChangeArrowheads="1"/>
            </p:cNvSpPr>
            <p:nvPr/>
          </p:nvSpPr>
          <p:spPr bwMode="auto">
            <a:xfrm>
              <a:off x="1295400" y="4496024"/>
              <a:ext cx="4572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1</a:t>
              </a:r>
            </a:p>
          </p:txBody>
        </p:sp>
      </p:grpSp>
      <p:grpSp>
        <p:nvGrpSpPr>
          <p:cNvPr id="9" name="Group 6"/>
          <p:cNvGrpSpPr>
            <a:grpSpLocks/>
          </p:cNvGrpSpPr>
          <p:nvPr/>
        </p:nvGrpSpPr>
        <p:grpSpPr bwMode="auto">
          <a:xfrm>
            <a:off x="3048000" y="3680106"/>
            <a:ext cx="533400" cy="663294"/>
            <a:chOff x="1143000" y="4507129"/>
            <a:chExt cx="533400" cy="662803"/>
          </a:xfrm>
        </p:grpSpPr>
        <p:sp>
          <p:nvSpPr>
            <p:cNvPr id="10" name="TextBox 7"/>
            <p:cNvSpPr txBox="1">
              <a:spLocks noChangeArrowheads="1"/>
            </p:cNvSpPr>
            <p:nvPr/>
          </p:nvSpPr>
          <p:spPr bwMode="auto">
            <a:xfrm>
              <a:off x="1143000" y="4800600"/>
              <a:ext cx="4572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  0  </a:t>
              </a:r>
            </a:p>
          </p:txBody>
        </p:sp>
        <p:sp>
          <p:nvSpPr>
            <p:cNvPr id="11" name="TextBox 8"/>
            <p:cNvSpPr txBox="1">
              <a:spLocks noChangeArrowheads="1"/>
            </p:cNvSpPr>
            <p:nvPr/>
          </p:nvSpPr>
          <p:spPr bwMode="auto">
            <a:xfrm>
              <a:off x="1219200" y="4507129"/>
              <a:ext cx="4572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1</a:t>
              </a:r>
            </a:p>
          </p:txBody>
        </p:sp>
      </p:grpSp>
      <p:grpSp>
        <p:nvGrpSpPr>
          <p:cNvPr id="18" name="Group 6"/>
          <p:cNvGrpSpPr>
            <a:grpSpLocks/>
          </p:cNvGrpSpPr>
          <p:nvPr/>
        </p:nvGrpSpPr>
        <p:grpSpPr bwMode="auto">
          <a:xfrm>
            <a:off x="6705600" y="3657600"/>
            <a:ext cx="533400" cy="674406"/>
            <a:chOff x="1219200" y="4496025"/>
            <a:chExt cx="533400" cy="673907"/>
          </a:xfrm>
        </p:grpSpPr>
        <p:sp>
          <p:nvSpPr>
            <p:cNvPr id="19" name="TextBox 7"/>
            <p:cNvSpPr txBox="1">
              <a:spLocks noChangeArrowheads="1"/>
            </p:cNvSpPr>
            <p:nvPr/>
          </p:nvSpPr>
          <p:spPr bwMode="auto">
            <a:xfrm>
              <a:off x="1219200" y="4800600"/>
              <a:ext cx="4572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  1  </a:t>
              </a:r>
            </a:p>
          </p:txBody>
        </p:sp>
        <p:sp>
          <p:nvSpPr>
            <p:cNvPr id="20" name="TextBox 8"/>
            <p:cNvSpPr txBox="1">
              <a:spLocks noChangeArrowheads="1"/>
            </p:cNvSpPr>
            <p:nvPr/>
          </p:nvSpPr>
          <p:spPr bwMode="auto">
            <a:xfrm>
              <a:off x="1295400" y="4496025"/>
              <a:ext cx="4572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0</a:t>
              </a:r>
            </a:p>
          </p:txBody>
        </p:sp>
      </p:grpSp>
      <p:grpSp>
        <p:nvGrpSpPr>
          <p:cNvPr id="21" name="Group 6"/>
          <p:cNvGrpSpPr>
            <a:grpSpLocks/>
          </p:cNvGrpSpPr>
          <p:nvPr/>
        </p:nvGrpSpPr>
        <p:grpSpPr bwMode="auto">
          <a:xfrm>
            <a:off x="4800600" y="3657600"/>
            <a:ext cx="609600" cy="663021"/>
            <a:chOff x="1143000" y="4507128"/>
            <a:chExt cx="609600" cy="662530"/>
          </a:xfrm>
        </p:grpSpPr>
        <p:sp>
          <p:nvSpPr>
            <p:cNvPr id="22" name="TextBox 7"/>
            <p:cNvSpPr txBox="1">
              <a:spLocks noChangeArrowheads="1"/>
            </p:cNvSpPr>
            <p:nvPr/>
          </p:nvSpPr>
          <p:spPr bwMode="auto">
            <a:xfrm>
              <a:off x="1143000" y="4800600"/>
              <a:ext cx="533400" cy="3690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  -1  </a:t>
              </a:r>
            </a:p>
          </p:txBody>
        </p:sp>
        <p:sp>
          <p:nvSpPr>
            <p:cNvPr id="23" name="TextBox 8"/>
            <p:cNvSpPr txBox="1">
              <a:spLocks noChangeArrowheads="1"/>
            </p:cNvSpPr>
            <p:nvPr/>
          </p:nvSpPr>
          <p:spPr bwMode="auto">
            <a:xfrm>
              <a:off x="1295400" y="4507128"/>
              <a:ext cx="4572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0</a:t>
              </a:r>
            </a:p>
          </p:txBody>
        </p:sp>
      </p:grpSp>
      <p:sp>
        <p:nvSpPr>
          <p:cNvPr id="33" name="Rounded Rectangle 32"/>
          <p:cNvSpPr/>
          <p:nvPr/>
        </p:nvSpPr>
        <p:spPr>
          <a:xfrm>
            <a:off x="838200" y="3581400"/>
            <a:ext cx="914400" cy="685800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ounded Rectangle 33"/>
          <p:cNvSpPr/>
          <p:nvPr/>
        </p:nvSpPr>
        <p:spPr>
          <a:xfrm>
            <a:off x="3124200" y="3581400"/>
            <a:ext cx="914400" cy="685800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ounded Rectangle 34"/>
          <p:cNvSpPr/>
          <p:nvPr/>
        </p:nvSpPr>
        <p:spPr>
          <a:xfrm>
            <a:off x="4876800" y="3581400"/>
            <a:ext cx="914400" cy="685800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ounded Rectangle 35"/>
          <p:cNvSpPr/>
          <p:nvPr/>
        </p:nvSpPr>
        <p:spPr>
          <a:xfrm>
            <a:off x="6781800" y="3581400"/>
            <a:ext cx="914400" cy="685800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3" grpId="0" animBg="1"/>
      <p:bldP spid="34" grpId="0" animBg="1"/>
      <p:bldP spid="35" grpId="0" animBg="1"/>
      <p:bldP spid="3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001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800" b="1" dirty="0">
                <a:latin typeface="+mn-ea"/>
              </a:rPr>
              <a:t>25.2.2 </a:t>
            </a:r>
            <a:r>
              <a:rPr lang="zh-CN" altLang="en-US" sz="4800" b="1" dirty="0">
                <a:latin typeface="+mn-ea"/>
              </a:rPr>
              <a:t>核衰变的种类</a:t>
            </a:r>
            <a:endParaRPr lang="en-US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382000" cy="58674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zh-CN" sz="3000" dirty="0"/>
              <a:t>1. </a:t>
            </a:r>
            <a:r>
              <a:rPr lang="zh-CN" altLang="zh-CN" sz="3000" dirty="0"/>
              <a:t>α</a:t>
            </a:r>
            <a:r>
              <a:rPr lang="zh-CN" altLang="en-US" sz="3000" dirty="0"/>
              <a:t>衰变</a:t>
            </a:r>
            <a:r>
              <a:rPr lang="en-US" altLang="zh-CN" sz="3000" dirty="0"/>
              <a:t>	     X  </a:t>
            </a:r>
            <a:r>
              <a:rPr lang="en-US" altLang="zh-CN" sz="3000" dirty="0">
                <a:sym typeface="Wingdings" pitchFamily="2" charset="2"/>
              </a:rPr>
              <a:t>    He</a:t>
            </a:r>
            <a:r>
              <a:rPr lang="en-US" altLang="zh-CN" sz="3000" baseline="30000" dirty="0">
                <a:sym typeface="Wingdings" pitchFamily="2" charset="2"/>
              </a:rPr>
              <a:t> </a:t>
            </a:r>
            <a:r>
              <a:rPr lang="en-US" altLang="zh-CN" sz="3000" dirty="0">
                <a:sym typeface="Wingdings" pitchFamily="2" charset="2"/>
              </a:rPr>
              <a:t>   + </a:t>
            </a:r>
            <a:r>
              <a:rPr lang="en-US" altLang="zh-CN" sz="3000" dirty="0"/>
              <a:t>      Y 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3000" dirty="0"/>
              <a:t>2. </a:t>
            </a:r>
            <a:r>
              <a:rPr lang="el-GR" altLang="zh-CN" sz="3000" dirty="0"/>
              <a:t>β</a:t>
            </a:r>
            <a:r>
              <a:rPr lang="zh-CN" altLang="en-US" sz="3000" dirty="0"/>
              <a:t>衰变</a:t>
            </a:r>
            <a:r>
              <a:rPr lang="en-US" altLang="zh-CN" sz="3000" dirty="0"/>
              <a:t>	     X  </a:t>
            </a:r>
            <a:r>
              <a:rPr lang="en-US" altLang="zh-CN" sz="3000" dirty="0">
                <a:sym typeface="Wingdings" pitchFamily="2" charset="2"/>
              </a:rPr>
              <a:t>     e	    + 	     Y</a:t>
            </a:r>
            <a:endParaRPr lang="en-US" altLang="zh-CN" sz="3000" dirty="0"/>
          </a:p>
          <a:p>
            <a:pPr>
              <a:buNone/>
            </a:pPr>
            <a:r>
              <a:rPr lang="en-US" altLang="zh-CN" sz="3000" dirty="0"/>
              <a:t>	</a:t>
            </a:r>
            <a:r>
              <a:rPr lang="zh-CN" altLang="en-US" sz="3000" dirty="0"/>
              <a:t>中子</a:t>
            </a:r>
            <a:r>
              <a:rPr lang="en-US" altLang="zh-CN" sz="3000" dirty="0">
                <a:sym typeface="Wingdings" pitchFamily="2" charset="2"/>
              </a:rPr>
              <a:t> </a:t>
            </a:r>
            <a:r>
              <a:rPr lang="zh-CN" altLang="en-US" sz="3000" dirty="0">
                <a:sym typeface="Wingdings" pitchFamily="2" charset="2"/>
              </a:rPr>
              <a:t>质子</a:t>
            </a:r>
            <a:r>
              <a:rPr lang="en-US" altLang="zh-CN" sz="3000" dirty="0">
                <a:sym typeface="Wingdings" pitchFamily="2" charset="2"/>
              </a:rPr>
              <a:t>+</a:t>
            </a:r>
            <a:r>
              <a:rPr lang="zh-CN" altLang="en-US" sz="3000" dirty="0">
                <a:sym typeface="Wingdings" pitchFamily="2" charset="2"/>
              </a:rPr>
              <a:t>电子</a:t>
            </a:r>
            <a:endParaRPr lang="en-US" altLang="zh-CN" sz="3000" dirty="0">
              <a:sym typeface="Wingdings" pitchFamily="2" charset="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3000" dirty="0"/>
              <a:t>3. </a:t>
            </a:r>
            <a:r>
              <a:rPr lang="el-GR" altLang="zh-CN" sz="3000" dirty="0"/>
              <a:t>γ</a:t>
            </a:r>
            <a:r>
              <a:rPr lang="zh-CN" altLang="en-US" sz="3000" dirty="0"/>
              <a:t>衰变</a:t>
            </a:r>
            <a:r>
              <a:rPr lang="en-US" altLang="zh-CN" sz="3000" dirty="0"/>
              <a:t>	     X  </a:t>
            </a:r>
            <a:r>
              <a:rPr lang="en-US" altLang="zh-CN" sz="3000" dirty="0">
                <a:sym typeface="Wingdings" pitchFamily="2" charset="2"/>
              </a:rPr>
              <a:t>     X + </a:t>
            </a:r>
            <a:r>
              <a:rPr lang="el-GR" altLang="zh-CN" sz="3000" dirty="0"/>
              <a:t>γ</a:t>
            </a:r>
            <a:endParaRPr lang="en-US" altLang="zh-CN" sz="3000" dirty="0"/>
          </a:p>
          <a:p>
            <a:pPr>
              <a:lnSpc>
                <a:spcPct val="150000"/>
              </a:lnSpc>
              <a:buNone/>
            </a:pPr>
            <a:r>
              <a:rPr lang="en-US" altLang="zh-CN" sz="3000" dirty="0"/>
              <a:t>4. </a:t>
            </a:r>
            <a:r>
              <a:rPr lang="el-GR" altLang="zh-CN" sz="3000" dirty="0"/>
              <a:t>β</a:t>
            </a:r>
            <a:r>
              <a:rPr lang="en-US" altLang="zh-CN" sz="3000" baseline="30000" dirty="0"/>
              <a:t>+</a:t>
            </a:r>
            <a:r>
              <a:rPr lang="en-US" altLang="zh-CN" sz="3000" dirty="0"/>
              <a:t> </a:t>
            </a:r>
            <a:r>
              <a:rPr lang="zh-CN" altLang="en-US" sz="3000" dirty="0"/>
              <a:t>衰变</a:t>
            </a:r>
            <a:r>
              <a:rPr lang="en-US" altLang="zh-CN" sz="3000" dirty="0"/>
              <a:t>	     X </a:t>
            </a:r>
            <a:r>
              <a:rPr lang="en-US" altLang="zh-CN" sz="3000" dirty="0">
                <a:sym typeface="Wingdings" pitchFamily="2" charset="2"/>
              </a:rPr>
              <a:t>      e  + 	Y</a:t>
            </a:r>
          </a:p>
          <a:p>
            <a:pPr>
              <a:buNone/>
            </a:pPr>
            <a:r>
              <a:rPr lang="en-US" altLang="zh-CN" sz="3000" dirty="0">
                <a:sym typeface="Wingdings" pitchFamily="2" charset="2"/>
              </a:rPr>
              <a:t>	</a:t>
            </a:r>
            <a:r>
              <a:rPr lang="zh-CN" altLang="en-US" sz="3000" dirty="0">
                <a:sym typeface="Wingdings" pitchFamily="2" charset="2"/>
              </a:rPr>
              <a:t>质子</a:t>
            </a:r>
            <a:r>
              <a:rPr lang="en-US" altLang="zh-CN" sz="3000" dirty="0">
                <a:sym typeface="Wingdings" pitchFamily="2" charset="2"/>
              </a:rPr>
              <a:t></a:t>
            </a:r>
            <a:r>
              <a:rPr lang="zh-CN" altLang="en-US" sz="3000" dirty="0">
                <a:sym typeface="Wingdings" pitchFamily="2" charset="2"/>
              </a:rPr>
              <a:t>中子</a:t>
            </a:r>
            <a:r>
              <a:rPr lang="en-US" altLang="zh-CN" sz="3000" dirty="0">
                <a:sym typeface="Wingdings" pitchFamily="2" charset="2"/>
              </a:rPr>
              <a:t>+</a:t>
            </a:r>
            <a:r>
              <a:rPr lang="zh-CN" altLang="en-US" sz="3000" dirty="0">
                <a:sym typeface="Wingdings" pitchFamily="2" charset="2"/>
              </a:rPr>
              <a:t>正子</a:t>
            </a:r>
            <a:endParaRPr lang="en-US" altLang="zh-CN" sz="3000" dirty="0">
              <a:sym typeface="Wingdings" pitchFamily="2" charset="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3000" dirty="0"/>
              <a:t>5. </a:t>
            </a:r>
            <a:r>
              <a:rPr lang="zh-CN" altLang="en-US" sz="3000" dirty="0"/>
              <a:t>电子俘获</a:t>
            </a:r>
            <a:r>
              <a:rPr lang="en-US" altLang="zh-CN" sz="3000" dirty="0"/>
              <a:t>/K</a:t>
            </a:r>
            <a:r>
              <a:rPr lang="zh-CN" altLang="en-US" sz="3000" dirty="0"/>
              <a:t>层俘获</a:t>
            </a:r>
            <a:r>
              <a:rPr lang="en-US" altLang="zh-CN" sz="3000" dirty="0"/>
              <a:t>	</a:t>
            </a:r>
            <a:r>
              <a:rPr lang="zh-CN" altLang="en-US" sz="3000" dirty="0"/>
              <a:t>     </a:t>
            </a:r>
            <a:r>
              <a:rPr lang="en-US" altLang="zh-CN" sz="3000" dirty="0"/>
              <a:t>X +     e  </a:t>
            </a:r>
            <a:r>
              <a:rPr lang="en-US" altLang="zh-CN" sz="3000" dirty="0">
                <a:sym typeface="Wingdings" pitchFamily="2" charset="2"/>
              </a:rPr>
              <a:t>    Y </a:t>
            </a:r>
          </a:p>
          <a:p>
            <a:pPr>
              <a:buNone/>
            </a:pPr>
            <a:r>
              <a:rPr lang="en-US" altLang="zh-CN" sz="3000" dirty="0">
                <a:sym typeface="Wingdings" pitchFamily="2" charset="2"/>
              </a:rPr>
              <a:t>	</a:t>
            </a:r>
            <a:r>
              <a:rPr lang="zh-CN" altLang="en-US" sz="3000" dirty="0">
                <a:sym typeface="Wingdings" pitchFamily="2" charset="2"/>
              </a:rPr>
              <a:t>质子</a:t>
            </a:r>
            <a:r>
              <a:rPr lang="en-US" altLang="zh-CN" sz="3000" dirty="0">
                <a:sym typeface="Wingdings" pitchFamily="2" charset="2"/>
              </a:rPr>
              <a:t>+ </a:t>
            </a:r>
            <a:r>
              <a:rPr lang="zh-CN" altLang="en-US" sz="3000" dirty="0">
                <a:sym typeface="Wingdings" pitchFamily="2" charset="2"/>
              </a:rPr>
              <a:t>电子 </a:t>
            </a:r>
            <a:r>
              <a:rPr lang="en-US" altLang="zh-CN" sz="3000" dirty="0">
                <a:sym typeface="Wingdings" pitchFamily="2" charset="2"/>
              </a:rPr>
              <a:t> </a:t>
            </a:r>
            <a:r>
              <a:rPr lang="zh-CN" altLang="en-US" sz="3000" dirty="0">
                <a:sym typeface="Wingdings" pitchFamily="2" charset="2"/>
              </a:rPr>
              <a:t>中子</a:t>
            </a:r>
            <a:endParaRPr lang="en-US" altLang="zh-CN" sz="3000" dirty="0"/>
          </a:p>
        </p:txBody>
      </p:sp>
      <p:grpSp>
        <p:nvGrpSpPr>
          <p:cNvPr id="4" name="Group 6"/>
          <p:cNvGrpSpPr>
            <a:grpSpLocks/>
          </p:cNvGrpSpPr>
          <p:nvPr/>
        </p:nvGrpSpPr>
        <p:grpSpPr bwMode="auto">
          <a:xfrm>
            <a:off x="2209800" y="1001712"/>
            <a:ext cx="533400" cy="750888"/>
            <a:chOff x="1219200" y="4419600"/>
            <a:chExt cx="533400" cy="750332"/>
          </a:xfrm>
        </p:grpSpPr>
        <p:sp>
          <p:nvSpPr>
            <p:cNvPr id="7" name="TextBox 7"/>
            <p:cNvSpPr txBox="1">
              <a:spLocks noChangeArrowheads="1"/>
            </p:cNvSpPr>
            <p:nvPr/>
          </p:nvSpPr>
          <p:spPr bwMode="auto">
            <a:xfrm>
              <a:off x="1219200" y="4800600"/>
              <a:ext cx="4572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  z  </a:t>
              </a:r>
            </a:p>
          </p:txBody>
        </p:sp>
        <p:sp>
          <p:nvSpPr>
            <p:cNvPr id="8" name="TextBox 8"/>
            <p:cNvSpPr txBox="1">
              <a:spLocks noChangeArrowheads="1"/>
            </p:cNvSpPr>
            <p:nvPr/>
          </p:nvSpPr>
          <p:spPr bwMode="auto">
            <a:xfrm>
              <a:off x="1295400" y="4419600"/>
              <a:ext cx="4572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A</a:t>
              </a:r>
            </a:p>
          </p:txBody>
        </p:sp>
      </p:grpSp>
      <p:grpSp>
        <p:nvGrpSpPr>
          <p:cNvPr id="6" name="Group 6"/>
          <p:cNvGrpSpPr>
            <a:grpSpLocks/>
          </p:cNvGrpSpPr>
          <p:nvPr/>
        </p:nvGrpSpPr>
        <p:grpSpPr bwMode="auto">
          <a:xfrm>
            <a:off x="3352800" y="990600"/>
            <a:ext cx="533400" cy="750888"/>
            <a:chOff x="1143000" y="4419600"/>
            <a:chExt cx="533400" cy="750332"/>
          </a:xfrm>
        </p:grpSpPr>
        <p:sp>
          <p:nvSpPr>
            <p:cNvPr id="10" name="TextBox 7"/>
            <p:cNvSpPr txBox="1">
              <a:spLocks noChangeArrowheads="1"/>
            </p:cNvSpPr>
            <p:nvPr/>
          </p:nvSpPr>
          <p:spPr bwMode="auto">
            <a:xfrm>
              <a:off x="1143000" y="4800600"/>
              <a:ext cx="4572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  2  </a:t>
              </a:r>
            </a:p>
          </p:txBody>
        </p:sp>
        <p:sp>
          <p:nvSpPr>
            <p:cNvPr id="11" name="TextBox 8"/>
            <p:cNvSpPr txBox="1">
              <a:spLocks noChangeArrowheads="1"/>
            </p:cNvSpPr>
            <p:nvPr/>
          </p:nvSpPr>
          <p:spPr bwMode="auto">
            <a:xfrm>
              <a:off x="1219200" y="4419600"/>
              <a:ext cx="4572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4</a:t>
              </a:r>
            </a:p>
          </p:txBody>
        </p:sp>
      </p:grpSp>
      <p:grpSp>
        <p:nvGrpSpPr>
          <p:cNvPr id="9" name="Group 6"/>
          <p:cNvGrpSpPr>
            <a:grpSpLocks/>
          </p:cNvGrpSpPr>
          <p:nvPr/>
        </p:nvGrpSpPr>
        <p:grpSpPr bwMode="auto">
          <a:xfrm>
            <a:off x="4648202" y="1001712"/>
            <a:ext cx="1066800" cy="750888"/>
            <a:chOff x="1184031" y="4419600"/>
            <a:chExt cx="492369" cy="750332"/>
          </a:xfrm>
        </p:grpSpPr>
        <p:sp>
          <p:nvSpPr>
            <p:cNvPr id="16" name="TextBox 7"/>
            <p:cNvSpPr txBox="1">
              <a:spLocks noChangeArrowheads="1"/>
            </p:cNvSpPr>
            <p:nvPr/>
          </p:nvSpPr>
          <p:spPr bwMode="auto">
            <a:xfrm>
              <a:off x="1184031" y="4800600"/>
              <a:ext cx="4572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  Z - 2  </a:t>
              </a:r>
            </a:p>
          </p:txBody>
        </p:sp>
        <p:sp>
          <p:nvSpPr>
            <p:cNvPr id="17" name="TextBox 8"/>
            <p:cNvSpPr txBox="1">
              <a:spLocks noChangeArrowheads="1"/>
            </p:cNvSpPr>
            <p:nvPr/>
          </p:nvSpPr>
          <p:spPr bwMode="auto">
            <a:xfrm>
              <a:off x="1219200" y="4419600"/>
              <a:ext cx="457200" cy="3690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A - 4</a:t>
              </a:r>
            </a:p>
          </p:txBody>
        </p:sp>
      </p:grpSp>
      <p:grpSp>
        <p:nvGrpSpPr>
          <p:cNvPr id="12" name="Group 6"/>
          <p:cNvGrpSpPr>
            <a:grpSpLocks/>
          </p:cNvGrpSpPr>
          <p:nvPr/>
        </p:nvGrpSpPr>
        <p:grpSpPr bwMode="auto">
          <a:xfrm>
            <a:off x="2209800" y="1839912"/>
            <a:ext cx="533400" cy="750888"/>
            <a:chOff x="1219200" y="4419600"/>
            <a:chExt cx="533400" cy="750332"/>
          </a:xfrm>
        </p:grpSpPr>
        <p:sp>
          <p:nvSpPr>
            <p:cNvPr id="19" name="TextBox 7"/>
            <p:cNvSpPr txBox="1">
              <a:spLocks noChangeArrowheads="1"/>
            </p:cNvSpPr>
            <p:nvPr/>
          </p:nvSpPr>
          <p:spPr bwMode="auto">
            <a:xfrm>
              <a:off x="1219200" y="4800600"/>
              <a:ext cx="4572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  Z  </a:t>
              </a:r>
            </a:p>
          </p:txBody>
        </p:sp>
        <p:sp>
          <p:nvSpPr>
            <p:cNvPr id="20" name="TextBox 8"/>
            <p:cNvSpPr txBox="1">
              <a:spLocks noChangeArrowheads="1"/>
            </p:cNvSpPr>
            <p:nvPr/>
          </p:nvSpPr>
          <p:spPr bwMode="auto">
            <a:xfrm>
              <a:off x="1295400" y="4419600"/>
              <a:ext cx="4572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A</a:t>
              </a:r>
            </a:p>
          </p:txBody>
        </p:sp>
      </p:grpSp>
      <p:grpSp>
        <p:nvGrpSpPr>
          <p:cNvPr id="13" name="Group 6"/>
          <p:cNvGrpSpPr>
            <a:grpSpLocks/>
          </p:cNvGrpSpPr>
          <p:nvPr/>
        </p:nvGrpSpPr>
        <p:grpSpPr bwMode="auto">
          <a:xfrm>
            <a:off x="3352800" y="1840185"/>
            <a:ext cx="609600" cy="750615"/>
            <a:chOff x="1143000" y="4419599"/>
            <a:chExt cx="609600" cy="750059"/>
          </a:xfrm>
        </p:grpSpPr>
        <p:sp>
          <p:nvSpPr>
            <p:cNvPr id="22" name="TextBox 7"/>
            <p:cNvSpPr txBox="1">
              <a:spLocks noChangeArrowheads="1"/>
            </p:cNvSpPr>
            <p:nvPr/>
          </p:nvSpPr>
          <p:spPr bwMode="auto">
            <a:xfrm>
              <a:off x="1143000" y="4800600"/>
              <a:ext cx="533400" cy="3690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  -1  </a:t>
              </a:r>
            </a:p>
          </p:txBody>
        </p:sp>
        <p:sp>
          <p:nvSpPr>
            <p:cNvPr id="23" name="TextBox 8"/>
            <p:cNvSpPr txBox="1">
              <a:spLocks noChangeArrowheads="1"/>
            </p:cNvSpPr>
            <p:nvPr/>
          </p:nvSpPr>
          <p:spPr bwMode="auto">
            <a:xfrm>
              <a:off x="1295400" y="4419599"/>
              <a:ext cx="4572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0</a:t>
              </a:r>
            </a:p>
          </p:txBody>
        </p:sp>
      </p:grpSp>
      <p:grpSp>
        <p:nvGrpSpPr>
          <p:cNvPr id="14" name="Group 6"/>
          <p:cNvGrpSpPr>
            <a:grpSpLocks/>
          </p:cNvGrpSpPr>
          <p:nvPr/>
        </p:nvGrpSpPr>
        <p:grpSpPr bwMode="auto">
          <a:xfrm>
            <a:off x="4800600" y="1840184"/>
            <a:ext cx="685800" cy="750616"/>
            <a:chOff x="1219200" y="4419599"/>
            <a:chExt cx="685800" cy="750060"/>
          </a:xfrm>
        </p:grpSpPr>
        <p:sp>
          <p:nvSpPr>
            <p:cNvPr id="25" name="TextBox 7"/>
            <p:cNvSpPr txBox="1">
              <a:spLocks noChangeArrowheads="1"/>
            </p:cNvSpPr>
            <p:nvPr/>
          </p:nvSpPr>
          <p:spPr bwMode="auto">
            <a:xfrm>
              <a:off x="1219200" y="4800600"/>
              <a:ext cx="685800" cy="3690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  Z+1  </a:t>
              </a:r>
            </a:p>
          </p:txBody>
        </p:sp>
        <p:sp>
          <p:nvSpPr>
            <p:cNvPr id="26" name="TextBox 8"/>
            <p:cNvSpPr txBox="1">
              <a:spLocks noChangeArrowheads="1"/>
            </p:cNvSpPr>
            <p:nvPr/>
          </p:nvSpPr>
          <p:spPr bwMode="auto">
            <a:xfrm>
              <a:off x="1371600" y="4419599"/>
              <a:ext cx="4572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A</a:t>
              </a:r>
            </a:p>
          </p:txBody>
        </p:sp>
      </p:grpSp>
      <p:grpSp>
        <p:nvGrpSpPr>
          <p:cNvPr id="15" name="Group 6"/>
          <p:cNvGrpSpPr>
            <a:grpSpLocks/>
          </p:cNvGrpSpPr>
          <p:nvPr/>
        </p:nvGrpSpPr>
        <p:grpSpPr bwMode="auto">
          <a:xfrm>
            <a:off x="2286000" y="3124200"/>
            <a:ext cx="533400" cy="750888"/>
            <a:chOff x="1219200" y="4419600"/>
            <a:chExt cx="533400" cy="750332"/>
          </a:xfrm>
        </p:grpSpPr>
        <p:sp>
          <p:nvSpPr>
            <p:cNvPr id="28" name="TextBox 7"/>
            <p:cNvSpPr txBox="1">
              <a:spLocks noChangeArrowheads="1"/>
            </p:cNvSpPr>
            <p:nvPr/>
          </p:nvSpPr>
          <p:spPr bwMode="auto">
            <a:xfrm>
              <a:off x="1219200" y="4800600"/>
              <a:ext cx="4572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  Z  </a:t>
              </a:r>
            </a:p>
          </p:txBody>
        </p:sp>
        <p:sp>
          <p:nvSpPr>
            <p:cNvPr id="29" name="TextBox 8"/>
            <p:cNvSpPr txBox="1">
              <a:spLocks noChangeArrowheads="1"/>
            </p:cNvSpPr>
            <p:nvPr/>
          </p:nvSpPr>
          <p:spPr bwMode="auto">
            <a:xfrm>
              <a:off x="1295400" y="4419600"/>
              <a:ext cx="4572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A</a:t>
              </a:r>
            </a:p>
          </p:txBody>
        </p:sp>
      </p:grpSp>
      <p:grpSp>
        <p:nvGrpSpPr>
          <p:cNvPr id="30" name="Group 6"/>
          <p:cNvGrpSpPr>
            <a:grpSpLocks/>
          </p:cNvGrpSpPr>
          <p:nvPr/>
        </p:nvGrpSpPr>
        <p:grpSpPr bwMode="auto">
          <a:xfrm>
            <a:off x="3429000" y="3124200"/>
            <a:ext cx="533400" cy="750887"/>
            <a:chOff x="1219200" y="4419600"/>
            <a:chExt cx="533400" cy="750331"/>
          </a:xfrm>
        </p:grpSpPr>
        <p:sp>
          <p:nvSpPr>
            <p:cNvPr id="33" name="TextBox 7"/>
            <p:cNvSpPr txBox="1">
              <a:spLocks noChangeArrowheads="1"/>
            </p:cNvSpPr>
            <p:nvPr/>
          </p:nvSpPr>
          <p:spPr bwMode="auto">
            <a:xfrm>
              <a:off x="1219200" y="4800599"/>
              <a:ext cx="4572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  Z  </a:t>
              </a:r>
            </a:p>
          </p:txBody>
        </p:sp>
        <p:sp>
          <p:nvSpPr>
            <p:cNvPr id="34" name="TextBox 8"/>
            <p:cNvSpPr txBox="1">
              <a:spLocks noChangeArrowheads="1"/>
            </p:cNvSpPr>
            <p:nvPr/>
          </p:nvSpPr>
          <p:spPr bwMode="auto">
            <a:xfrm>
              <a:off x="1295400" y="4419600"/>
              <a:ext cx="4572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A</a:t>
              </a:r>
            </a:p>
          </p:txBody>
        </p:sp>
      </p:grpSp>
      <p:grpSp>
        <p:nvGrpSpPr>
          <p:cNvPr id="36" name="Group 6"/>
          <p:cNvGrpSpPr>
            <a:grpSpLocks/>
          </p:cNvGrpSpPr>
          <p:nvPr/>
        </p:nvGrpSpPr>
        <p:grpSpPr bwMode="auto">
          <a:xfrm>
            <a:off x="2286000" y="3897312"/>
            <a:ext cx="533400" cy="750888"/>
            <a:chOff x="1219200" y="4419600"/>
            <a:chExt cx="533400" cy="750332"/>
          </a:xfrm>
        </p:grpSpPr>
        <p:sp>
          <p:nvSpPr>
            <p:cNvPr id="37" name="TextBox 7"/>
            <p:cNvSpPr txBox="1">
              <a:spLocks noChangeArrowheads="1"/>
            </p:cNvSpPr>
            <p:nvPr/>
          </p:nvSpPr>
          <p:spPr bwMode="auto">
            <a:xfrm>
              <a:off x="1219200" y="4800600"/>
              <a:ext cx="4572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  Z  </a:t>
              </a:r>
            </a:p>
          </p:txBody>
        </p:sp>
        <p:sp>
          <p:nvSpPr>
            <p:cNvPr id="38" name="TextBox 8"/>
            <p:cNvSpPr txBox="1">
              <a:spLocks noChangeArrowheads="1"/>
            </p:cNvSpPr>
            <p:nvPr/>
          </p:nvSpPr>
          <p:spPr bwMode="auto">
            <a:xfrm>
              <a:off x="1295400" y="4419600"/>
              <a:ext cx="4572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A</a:t>
              </a:r>
            </a:p>
          </p:txBody>
        </p:sp>
      </p:grpSp>
      <p:grpSp>
        <p:nvGrpSpPr>
          <p:cNvPr id="39" name="Group 6"/>
          <p:cNvGrpSpPr>
            <a:grpSpLocks/>
          </p:cNvGrpSpPr>
          <p:nvPr/>
        </p:nvGrpSpPr>
        <p:grpSpPr bwMode="auto">
          <a:xfrm>
            <a:off x="3276600" y="3897585"/>
            <a:ext cx="685800" cy="750615"/>
            <a:chOff x="1066800" y="4419599"/>
            <a:chExt cx="685800" cy="750059"/>
          </a:xfrm>
        </p:grpSpPr>
        <p:sp>
          <p:nvSpPr>
            <p:cNvPr id="40" name="TextBox 7"/>
            <p:cNvSpPr txBox="1">
              <a:spLocks noChangeArrowheads="1"/>
            </p:cNvSpPr>
            <p:nvPr/>
          </p:nvSpPr>
          <p:spPr bwMode="auto">
            <a:xfrm>
              <a:off x="1066800" y="4800600"/>
              <a:ext cx="609600" cy="3690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   +1  </a:t>
              </a:r>
            </a:p>
          </p:txBody>
        </p:sp>
        <p:sp>
          <p:nvSpPr>
            <p:cNvPr id="41" name="TextBox 8"/>
            <p:cNvSpPr txBox="1">
              <a:spLocks noChangeArrowheads="1"/>
            </p:cNvSpPr>
            <p:nvPr/>
          </p:nvSpPr>
          <p:spPr bwMode="auto">
            <a:xfrm>
              <a:off x="1295400" y="4419599"/>
              <a:ext cx="4572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0</a:t>
              </a:r>
            </a:p>
          </p:txBody>
        </p:sp>
      </p:grpSp>
      <p:grpSp>
        <p:nvGrpSpPr>
          <p:cNvPr id="42" name="Group 6"/>
          <p:cNvGrpSpPr>
            <a:grpSpLocks/>
          </p:cNvGrpSpPr>
          <p:nvPr/>
        </p:nvGrpSpPr>
        <p:grpSpPr bwMode="auto">
          <a:xfrm>
            <a:off x="4419600" y="3886200"/>
            <a:ext cx="609600" cy="750613"/>
            <a:chOff x="1143000" y="4419600"/>
            <a:chExt cx="609600" cy="750057"/>
          </a:xfrm>
        </p:grpSpPr>
        <p:sp>
          <p:nvSpPr>
            <p:cNvPr id="43" name="TextBox 7"/>
            <p:cNvSpPr txBox="1">
              <a:spLocks noChangeArrowheads="1"/>
            </p:cNvSpPr>
            <p:nvPr/>
          </p:nvSpPr>
          <p:spPr bwMode="auto">
            <a:xfrm>
              <a:off x="1143000" y="4800599"/>
              <a:ext cx="609600" cy="3690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  Z-1  </a:t>
              </a:r>
            </a:p>
          </p:txBody>
        </p:sp>
        <p:sp>
          <p:nvSpPr>
            <p:cNvPr id="44" name="TextBox 8"/>
            <p:cNvSpPr txBox="1">
              <a:spLocks noChangeArrowheads="1"/>
            </p:cNvSpPr>
            <p:nvPr/>
          </p:nvSpPr>
          <p:spPr bwMode="auto">
            <a:xfrm>
              <a:off x="1295400" y="4419600"/>
              <a:ext cx="4572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A</a:t>
              </a:r>
            </a:p>
          </p:txBody>
        </p:sp>
      </p:grpSp>
      <p:grpSp>
        <p:nvGrpSpPr>
          <p:cNvPr id="45" name="Group 6"/>
          <p:cNvGrpSpPr>
            <a:grpSpLocks/>
          </p:cNvGrpSpPr>
          <p:nvPr/>
        </p:nvGrpSpPr>
        <p:grpSpPr bwMode="auto">
          <a:xfrm>
            <a:off x="4114800" y="5268912"/>
            <a:ext cx="533400" cy="750888"/>
            <a:chOff x="1219200" y="4419600"/>
            <a:chExt cx="533400" cy="750332"/>
          </a:xfrm>
        </p:grpSpPr>
        <p:sp>
          <p:nvSpPr>
            <p:cNvPr id="46" name="TextBox 7"/>
            <p:cNvSpPr txBox="1">
              <a:spLocks noChangeArrowheads="1"/>
            </p:cNvSpPr>
            <p:nvPr/>
          </p:nvSpPr>
          <p:spPr bwMode="auto">
            <a:xfrm>
              <a:off x="1219200" y="4800600"/>
              <a:ext cx="4572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  Z  </a:t>
              </a:r>
            </a:p>
          </p:txBody>
        </p:sp>
        <p:sp>
          <p:nvSpPr>
            <p:cNvPr id="47" name="TextBox 8"/>
            <p:cNvSpPr txBox="1">
              <a:spLocks noChangeArrowheads="1"/>
            </p:cNvSpPr>
            <p:nvPr/>
          </p:nvSpPr>
          <p:spPr bwMode="auto">
            <a:xfrm>
              <a:off x="1295400" y="4419600"/>
              <a:ext cx="4572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A</a:t>
              </a:r>
            </a:p>
          </p:txBody>
        </p:sp>
      </p:grpSp>
      <p:grpSp>
        <p:nvGrpSpPr>
          <p:cNvPr id="48" name="Group 6"/>
          <p:cNvGrpSpPr>
            <a:grpSpLocks/>
          </p:cNvGrpSpPr>
          <p:nvPr/>
        </p:nvGrpSpPr>
        <p:grpSpPr bwMode="auto">
          <a:xfrm>
            <a:off x="4953000" y="5269185"/>
            <a:ext cx="609600" cy="750615"/>
            <a:chOff x="1143000" y="4419599"/>
            <a:chExt cx="609600" cy="750059"/>
          </a:xfrm>
        </p:grpSpPr>
        <p:sp>
          <p:nvSpPr>
            <p:cNvPr id="49" name="TextBox 7"/>
            <p:cNvSpPr txBox="1">
              <a:spLocks noChangeArrowheads="1"/>
            </p:cNvSpPr>
            <p:nvPr/>
          </p:nvSpPr>
          <p:spPr bwMode="auto">
            <a:xfrm>
              <a:off x="1143000" y="4800600"/>
              <a:ext cx="533400" cy="3690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  -1  </a:t>
              </a:r>
            </a:p>
          </p:txBody>
        </p:sp>
        <p:sp>
          <p:nvSpPr>
            <p:cNvPr id="50" name="TextBox 8"/>
            <p:cNvSpPr txBox="1">
              <a:spLocks noChangeArrowheads="1"/>
            </p:cNvSpPr>
            <p:nvPr/>
          </p:nvSpPr>
          <p:spPr bwMode="auto">
            <a:xfrm>
              <a:off x="1295400" y="4419599"/>
              <a:ext cx="4572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0</a:t>
              </a:r>
            </a:p>
          </p:txBody>
        </p:sp>
      </p:grpSp>
      <p:grpSp>
        <p:nvGrpSpPr>
          <p:cNvPr id="51" name="Group 6"/>
          <p:cNvGrpSpPr>
            <a:grpSpLocks/>
          </p:cNvGrpSpPr>
          <p:nvPr/>
        </p:nvGrpSpPr>
        <p:grpSpPr bwMode="auto">
          <a:xfrm>
            <a:off x="6019800" y="5269187"/>
            <a:ext cx="609600" cy="750613"/>
            <a:chOff x="1143000" y="4419600"/>
            <a:chExt cx="609600" cy="750057"/>
          </a:xfrm>
        </p:grpSpPr>
        <p:sp>
          <p:nvSpPr>
            <p:cNvPr id="52" name="TextBox 7"/>
            <p:cNvSpPr txBox="1">
              <a:spLocks noChangeArrowheads="1"/>
            </p:cNvSpPr>
            <p:nvPr/>
          </p:nvSpPr>
          <p:spPr bwMode="auto">
            <a:xfrm>
              <a:off x="1143000" y="4800599"/>
              <a:ext cx="609600" cy="3690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  Z-1  </a:t>
              </a:r>
            </a:p>
          </p:txBody>
        </p:sp>
        <p:sp>
          <p:nvSpPr>
            <p:cNvPr id="53" name="TextBox 8"/>
            <p:cNvSpPr txBox="1">
              <a:spLocks noChangeArrowheads="1"/>
            </p:cNvSpPr>
            <p:nvPr/>
          </p:nvSpPr>
          <p:spPr bwMode="auto">
            <a:xfrm>
              <a:off x="1295400" y="4419600"/>
              <a:ext cx="4572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001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800" b="1" dirty="0">
                <a:latin typeface="+mn-ea"/>
              </a:rPr>
              <a:t>25.2.2 </a:t>
            </a:r>
            <a:r>
              <a:rPr lang="zh-CN" altLang="en-US" sz="4800" b="1" dirty="0">
                <a:latin typeface="+mn-ea"/>
              </a:rPr>
              <a:t>核衰变的种类</a:t>
            </a:r>
            <a:endParaRPr lang="en-US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382000" cy="5867400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ü"/>
            </a:pPr>
            <a:r>
              <a:rPr lang="zh-CN" altLang="en-US" sz="3000" dirty="0"/>
              <a:t>核衰变的目的是改变</a:t>
            </a:r>
            <a:r>
              <a:rPr lang="en-US" altLang="zh-CN" sz="3000" dirty="0"/>
              <a:t>	</a:t>
            </a:r>
            <a:r>
              <a:rPr lang="zh-CN" altLang="en-US" sz="3000" dirty="0"/>
              <a:t>值，使不稳定核变成稳定核。</a:t>
            </a:r>
            <a:endParaRPr lang="en-US" altLang="zh-CN" sz="3000" dirty="0"/>
          </a:p>
          <a:p>
            <a:pPr>
              <a:buFont typeface="Wingdings" pitchFamily="2" charset="2"/>
              <a:buChar char="ü"/>
            </a:pPr>
            <a:r>
              <a:rPr lang="zh-CN" altLang="en-US" sz="3000" dirty="0"/>
              <a:t>在稳定带以上的原子核进行</a:t>
            </a:r>
            <a:r>
              <a:rPr lang="el-GR" altLang="zh-CN" sz="3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β</a:t>
            </a:r>
            <a:r>
              <a:rPr lang="zh-CN" altLang="en-US" sz="3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衰变</a:t>
            </a:r>
            <a:r>
              <a:rPr lang="zh-CN" altLang="en-US" sz="3000" dirty="0"/>
              <a:t>，增加质子数，使</a:t>
            </a:r>
            <a:r>
              <a:rPr lang="en-US" altLang="zh-CN" sz="3000" dirty="0"/>
              <a:t>	      </a:t>
            </a:r>
            <a:r>
              <a:rPr lang="zh-CN" altLang="en-US" sz="3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降低</a:t>
            </a:r>
            <a:r>
              <a:rPr lang="zh-CN" altLang="en-US" sz="3000" dirty="0"/>
              <a:t>；</a:t>
            </a:r>
            <a:endParaRPr lang="en-US" altLang="zh-CN" sz="3000" dirty="0"/>
          </a:p>
          <a:p>
            <a:pPr>
              <a:buFont typeface="Wingdings" pitchFamily="2" charset="2"/>
              <a:buChar char="ü"/>
            </a:pPr>
            <a:r>
              <a:rPr lang="zh-CN" altLang="en-US" sz="3000" dirty="0"/>
              <a:t>在稳定带以下的原子核进行</a:t>
            </a:r>
            <a:r>
              <a:rPr lang="el-GR" altLang="zh-CN" sz="30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β</a:t>
            </a:r>
            <a:r>
              <a:rPr lang="en-US" altLang="zh-CN" sz="3000" b="1" baseline="300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</a:t>
            </a:r>
            <a:r>
              <a:rPr lang="zh-CN" altLang="en-US" sz="30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衰变或电子俘获</a:t>
            </a:r>
            <a:r>
              <a:rPr lang="zh-CN" altLang="en-US" sz="3000" dirty="0"/>
              <a:t>，减少质子数，使</a:t>
            </a:r>
            <a:r>
              <a:rPr lang="en-US" altLang="zh-CN" sz="3000" dirty="0"/>
              <a:t>	</a:t>
            </a:r>
            <a:r>
              <a:rPr lang="zh-CN" altLang="en-US" sz="30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增加</a:t>
            </a:r>
            <a:r>
              <a:rPr lang="zh-CN" altLang="en-US" sz="3000" dirty="0"/>
              <a:t>；</a:t>
            </a:r>
            <a:endParaRPr lang="en-US" altLang="zh-CN" sz="3000" dirty="0"/>
          </a:p>
          <a:p>
            <a:pPr>
              <a:buFont typeface="Wingdings" pitchFamily="2" charset="2"/>
              <a:buChar char="ü"/>
            </a:pP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质子数大于</a:t>
            </a:r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82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的原子核通常进行</a:t>
            </a:r>
            <a:r>
              <a:rPr lang="el-GR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α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衰变。</a:t>
            </a:r>
            <a:endParaRPr lang="en-US" altLang="zh-CN" sz="3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>
              <a:buFont typeface="Wingdings" pitchFamily="2" charset="2"/>
              <a:buChar char="ü"/>
            </a:pPr>
            <a:r>
              <a:rPr lang="zh-CN" altLang="en-US" sz="2400" dirty="0"/>
              <a:t>质子数大于</a:t>
            </a:r>
            <a:r>
              <a:rPr lang="en-US" altLang="zh-CN" sz="2400" dirty="0"/>
              <a:t>82</a:t>
            </a:r>
            <a:r>
              <a:rPr lang="zh-CN" altLang="en-US" sz="2400" dirty="0"/>
              <a:t>的原子核因含太多质子而不稳定。</a:t>
            </a:r>
            <a:endParaRPr lang="en-US" altLang="zh-CN" sz="2400" dirty="0"/>
          </a:p>
          <a:p>
            <a:pPr lvl="1">
              <a:buFont typeface="Wingdings" pitchFamily="2" charset="2"/>
              <a:buChar char="ü"/>
            </a:pPr>
            <a:r>
              <a:rPr lang="el-GR" altLang="zh-CN" sz="2400" dirty="0"/>
              <a:t>α</a:t>
            </a:r>
            <a:r>
              <a:rPr lang="zh-CN" altLang="en-US" sz="2400" dirty="0"/>
              <a:t>衰变是失去质子最快、最直接的方法。</a:t>
            </a:r>
            <a:endParaRPr lang="en-US" altLang="zh-CN" sz="2600" dirty="0"/>
          </a:p>
          <a:p>
            <a:pPr>
              <a:buFont typeface="Wingdings" pitchFamily="2" charset="2"/>
              <a:buChar char="ü"/>
            </a:pPr>
            <a:endParaRPr lang="en-US" altLang="zh-CN" sz="3000" dirty="0"/>
          </a:p>
        </p:txBody>
      </p:sp>
      <p:grpSp>
        <p:nvGrpSpPr>
          <p:cNvPr id="6" name="Group 5"/>
          <p:cNvGrpSpPr/>
          <p:nvPr/>
        </p:nvGrpSpPr>
        <p:grpSpPr>
          <a:xfrm>
            <a:off x="4326920" y="838200"/>
            <a:ext cx="702280" cy="817840"/>
            <a:chOff x="2881222" y="1573291"/>
            <a:chExt cx="530340" cy="817840"/>
          </a:xfrm>
        </p:grpSpPr>
        <p:grpSp>
          <p:nvGrpSpPr>
            <p:cNvPr id="7" name="Group 24"/>
            <p:cNvGrpSpPr/>
            <p:nvPr/>
          </p:nvGrpSpPr>
          <p:grpSpPr>
            <a:xfrm>
              <a:off x="2881222" y="1573291"/>
              <a:ext cx="530340" cy="523220"/>
              <a:chOff x="2881222" y="1573291"/>
              <a:chExt cx="530340" cy="523220"/>
            </a:xfrm>
          </p:grpSpPr>
          <p:cxnSp>
            <p:nvCxnSpPr>
              <p:cNvPr id="9" name="Straight Connector 8"/>
              <p:cNvCxnSpPr/>
              <p:nvPr/>
            </p:nvCxnSpPr>
            <p:spPr>
              <a:xfrm>
                <a:off x="2881222" y="2022478"/>
                <a:ext cx="414316" cy="1588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TextBox 9"/>
              <p:cNvSpPr txBox="1"/>
              <p:nvPr/>
            </p:nvSpPr>
            <p:spPr>
              <a:xfrm>
                <a:off x="2935660" y="1573291"/>
                <a:ext cx="47590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n</a:t>
                </a:r>
              </a:p>
            </p:txBody>
          </p:sp>
        </p:grpSp>
        <p:sp>
          <p:nvSpPr>
            <p:cNvPr id="8" name="TextBox 5"/>
            <p:cNvSpPr txBox="1"/>
            <p:nvPr/>
          </p:nvSpPr>
          <p:spPr>
            <a:xfrm>
              <a:off x="2938766" y="1867911"/>
              <a:ext cx="44629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/>
                <a:t>p </a:t>
              </a:r>
              <a:endParaRPr lang="en-US" sz="2800" dirty="0"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1219200" y="2306360"/>
            <a:ext cx="702280" cy="817840"/>
            <a:chOff x="2881222" y="1573291"/>
            <a:chExt cx="530340" cy="817840"/>
          </a:xfrm>
        </p:grpSpPr>
        <p:grpSp>
          <p:nvGrpSpPr>
            <p:cNvPr id="12" name="Group 24"/>
            <p:cNvGrpSpPr/>
            <p:nvPr/>
          </p:nvGrpSpPr>
          <p:grpSpPr>
            <a:xfrm>
              <a:off x="2881222" y="1573291"/>
              <a:ext cx="530340" cy="523220"/>
              <a:chOff x="2881222" y="1573291"/>
              <a:chExt cx="530340" cy="523220"/>
            </a:xfrm>
          </p:grpSpPr>
          <p:cxnSp>
            <p:nvCxnSpPr>
              <p:cNvPr id="14" name="Straight Connector 13"/>
              <p:cNvCxnSpPr/>
              <p:nvPr/>
            </p:nvCxnSpPr>
            <p:spPr>
              <a:xfrm>
                <a:off x="2881222" y="2022478"/>
                <a:ext cx="414316" cy="1588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/>
              <p:cNvSpPr txBox="1"/>
              <p:nvPr/>
            </p:nvSpPr>
            <p:spPr>
              <a:xfrm>
                <a:off x="2935660" y="1573291"/>
                <a:ext cx="47590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n</a:t>
                </a:r>
              </a:p>
            </p:txBody>
          </p:sp>
        </p:grpSp>
        <p:sp>
          <p:nvSpPr>
            <p:cNvPr id="13" name="TextBox 5"/>
            <p:cNvSpPr txBox="1"/>
            <p:nvPr/>
          </p:nvSpPr>
          <p:spPr>
            <a:xfrm>
              <a:off x="2938766" y="1867911"/>
              <a:ext cx="44629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/>
                <a:t>p </a:t>
              </a:r>
              <a:endParaRPr lang="en-US" sz="2800" dirty="0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3488720" y="3352800"/>
            <a:ext cx="702280" cy="817840"/>
            <a:chOff x="2881222" y="1573291"/>
            <a:chExt cx="530340" cy="817840"/>
          </a:xfrm>
        </p:grpSpPr>
        <p:grpSp>
          <p:nvGrpSpPr>
            <p:cNvPr id="17" name="Group 24"/>
            <p:cNvGrpSpPr/>
            <p:nvPr/>
          </p:nvGrpSpPr>
          <p:grpSpPr>
            <a:xfrm>
              <a:off x="2881222" y="1573291"/>
              <a:ext cx="530340" cy="523220"/>
              <a:chOff x="2881222" y="1573291"/>
              <a:chExt cx="530340" cy="523220"/>
            </a:xfrm>
          </p:grpSpPr>
          <p:cxnSp>
            <p:nvCxnSpPr>
              <p:cNvPr id="19" name="Straight Connector 18"/>
              <p:cNvCxnSpPr/>
              <p:nvPr/>
            </p:nvCxnSpPr>
            <p:spPr>
              <a:xfrm>
                <a:off x="2881222" y="2022478"/>
                <a:ext cx="414316" cy="1588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TextBox 19"/>
              <p:cNvSpPr txBox="1"/>
              <p:nvPr/>
            </p:nvSpPr>
            <p:spPr>
              <a:xfrm>
                <a:off x="2935660" y="1573291"/>
                <a:ext cx="47590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n</a:t>
                </a:r>
              </a:p>
            </p:txBody>
          </p:sp>
        </p:grpSp>
        <p:sp>
          <p:nvSpPr>
            <p:cNvPr id="18" name="TextBox 5"/>
            <p:cNvSpPr txBox="1"/>
            <p:nvPr/>
          </p:nvSpPr>
          <p:spPr>
            <a:xfrm>
              <a:off x="2938766" y="1867911"/>
              <a:ext cx="44629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/>
                <a:t>p </a:t>
              </a:r>
              <a:endParaRPr lang="en-US" sz="2800" dirty="0"/>
            </a:p>
          </p:txBody>
        </p:sp>
      </p:grp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001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800" b="1" dirty="0">
                <a:latin typeface="+mn-ea"/>
              </a:rPr>
              <a:t>25.2.2 </a:t>
            </a:r>
            <a:r>
              <a:rPr lang="zh-CN" altLang="en-US" sz="4800" b="1" dirty="0">
                <a:latin typeface="+mn-ea"/>
              </a:rPr>
              <a:t>核衰变的种类</a:t>
            </a:r>
            <a:endParaRPr lang="en-US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382000" cy="58674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zh-CN" altLang="en-US" sz="3000" dirty="0"/>
              <a:t>问题解决</a:t>
            </a:r>
            <a:endParaRPr lang="en-US" altLang="zh-CN" sz="3000" dirty="0"/>
          </a:p>
          <a:p>
            <a:pPr>
              <a:lnSpc>
                <a:spcPct val="150000"/>
              </a:lnSpc>
              <a:buNone/>
            </a:pPr>
            <a:r>
              <a:rPr lang="en-US" altLang="zh-CN" sz="3000" dirty="0"/>
              <a:t>(1) 		Po  </a:t>
            </a:r>
            <a:r>
              <a:rPr lang="en-US" altLang="zh-CN" sz="3000" dirty="0">
                <a:sym typeface="Wingdings" pitchFamily="2" charset="2"/>
              </a:rPr>
              <a:t> 	</a:t>
            </a:r>
            <a:r>
              <a:rPr lang="en-US" altLang="zh-CN" sz="3000" dirty="0" err="1">
                <a:sym typeface="Wingdings" pitchFamily="2" charset="2"/>
              </a:rPr>
              <a:t>Pb</a:t>
            </a:r>
            <a:r>
              <a:rPr lang="en-US" altLang="zh-CN" sz="3000" dirty="0">
                <a:sym typeface="Wingdings" pitchFamily="2" charset="2"/>
              </a:rPr>
              <a:t>  + 	     He</a:t>
            </a:r>
            <a:endParaRPr lang="en-US" altLang="zh-CN" sz="3000" dirty="0"/>
          </a:p>
          <a:p>
            <a:pPr>
              <a:lnSpc>
                <a:spcPct val="150000"/>
              </a:lnSpc>
              <a:buNone/>
            </a:pPr>
            <a:r>
              <a:rPr lang="en-US" altLang="zh-CN" sz="3000" dirty="0"/>
              <a:t>(2) 		Cs  </a:t>
            </a:r>
            <a:r>
              <a:rPr lang="en-US" altLang="zh-CN" sz="3000" dirty="0">
                <a:sym typeface="Wingdings" pitchFamily="2" charset="2"/>
              </a:rPr>
              <a:t> 	</a:t>
            </a:r>
            <a:r>
              <a:rPr lang="en-US" altLang="zh-CN" sz="3000" dirty="0" err="1">
                <a:sym typeface="Wingdings" pitchFamily="2" charset="2"/>
              </a:rPr>
              <a:t>Ba</a:t>
            </a:r>
            <a:r>
              <a:rPr lang="en-US" altLang="zh-CN" sz="3000" dirty="0">
                <a:sym typeface="Wingdings" pitchFamily="2" charset="2"/>
              </a:rPr>
              <a:t>  + 	     e</a:t>
            </a:r>
            <a:endParaRPr lang="en-US" altLang="zh-CN" sz="3000" dirty="0"/>
          </a:p>
          <a:p>
            <a:pPr>
              <a:lnSpc>
                <a:spcPct val="150000"/>
              </a:lnSpc>
              <a:buNone/>
            </a:pPr>
            <a:r>
              <a:rPr lang="en-US" altLang="zh-CN" sz="3000" dirty="0"/>
              <a:t>(3)	 	C  </a:t>
            </a:r>
            <a:r>
              <a:rPr lang="en-US" altLang="zh-CN" sz="3000" dirty="0">
                <a:sym typeface="Wingdings" pitchFamily="2" charset="2"/>
              </a:rPr>
              <a:t> 		N  + 	     e</a:t>
            </a:r>
            <a:endParaRPr lang="en-US" altLang="zh-CN" sz="3000" dirty="0"/>
          </a:p>
        </p:txBody>
      </p:sp>
      <p:grpSp>
        <p:nvGrpSpPr>
          <p:cNvPr id="6" name="Group 6"/>
          <p:cNvGrpSpPr>
            <a:grpSpLocks/>
          </p:cNvGrpSpPr>
          <p:nvPr/>
        </p:nvGrpSpPr>
        <p:grpSpPr bwMode="auto">
          <a:xfrm>
            <a:off x="1676400" y="1839912"/>
            <a:ext cx="783773" cy="1027613"/>
            <a:chOff x="1219200" y="4419600"/>
            <a:chExt cx="457201" cy="1026852"/>
          </a:xfrm>
        </p:grpSpPr>
        <p:sp>
          <p:nvSpPr>
            <p:cNvPr id="7" name="TextBox 7"/>
            <p:cNvSpPr txBox="1">
              <a:spLocks noChangeArrowheads="1"/>
            </p:cNvSpPr>
            <p:nvPr/>
          </p:nvSpPr>
          <p:spPr bwMode="auto">
            <a:xfrm>
              <a:off x="1219200" y="4800600"/>
              <a:ext cx="457200" cy="6458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  84  </a:t>
              </a:r>
            </a:p>
          </p:txBody>
        </p:sp>
        <p:sp>
          <p:nvSpPr>
            <p:cNvPr id="8" name="TextBox 8"/>
            <p:cNvSpPr txBox="1">
              <a:spLocks noChangeArrowheads="1"/>
            </p:cNvSpPr>
            <p:nvPr/>
          </p:nvSpPr>
          <p:spPr bwMode="auto">
            <a:xfrm>
              <a:off x="1219201" y="4419600"/>
              <a:ext cx="4572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212</a:t>
              </a:r>
            </a:p>
          </p:txBody>
        </p:sp>
      </p:grpSp>
      <p:grpSp>
        <p:nvGrpSpPr>
          <p:cNvPr id="9" name="Group 6"/>
          <p:cNvGrpSpPr>
            <a:grpSpLocks/>
          </p:cNvGrpSpPr>
          <p:nvPr/>
        </p:nvGrpSpPr>
        <p:grpSpPr bwMode="auto">
          <a:xfrm>
            <a:off x="3483427" y="1828801"/>
            <a:ext cx="783773" cy="750614"/>
            <a:chOff x="1219200" y="4419600"/>
            <a:chExt cx="457201" cy="750058"/>
          </a:xfrm>
        </p:grpSpPr>
        <p:sp>
          <p:nvSpPr>
            <p:cNvPr id="10" name="TextBox 7"/>
            <p:cNvSpPr txBox="1">
              <a:spLocks noChangeArrowheads="1"/>
            </p:cNvSpPr>
            <p:nvPr/>
          </p:nvSpPr>
          <p:spPr bwMode="auto">
            <a:xfrm>
              <a:off x="1219200" y="4800600"/>
              <a:ext cx="457200" cy="3690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  82  </a:t>
              </a:r>
            </a:p>
          </p:txBody>
        </p:sp>
        <p:sp>
          <p:nvSpPr>
            <p:cNvPr id="11" name="TextBox 8"/>
            <p:cNvSpPr txBox="1">
              <a:spLocks noChangeArrowheads="1"/>
            </p:cNvSpPr>
            <p:nvPr/>
          </p:nvSpPr>
          <p:spPr bwMode="auto">
            <a:xfrm>
              <a:off x="1219201" y="4419600"/>
              <a:ext cx="4572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208</a:t>
              </a:r>
            </a:p>
          </p:txBody>
        </p:sp>
      </p:grpSp>
      <p:grpSp>
        <p:nvGrpSpPr>
          <p:cNvPr id="12" name="Group 6"/>
          <p:cNvGrpSpPr>
            <a:grpSpLocks/>
          </p:cNvGrpSpPr>
          <p:nvPr/>
        </p:nvGrpSpPr>
        <p:grpSpPr bwMode="auto">
          <a:xfrm>
            <a:off x="5029200" y="1839912"/>
            <a:ext cx="533400" cy="750888"/>
            <a:chOff x="1143000" y="4419600"/>
            <a:chExt cx="533400" cy="750332"/>
          </a:xfrm>
        </p:grpSpPr>
        <p:sp>
          <p:nvSpPr>
            <p:cNvPr id="13" name="TextBox 7"/>
            <p:cNvSpPr txBox="1">
              <a:spLocks noChangeArrowheads="1"/>
            </p:cNvSpPr>
            <p:nvPr/>
          </p:nvSpPr>
          <p:spPr bwMode="auto">
            <a:xfrm>
              <a:off x="1143000" y="4800600"/>
              <a:ext cx="4572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  2  </a:t>
              </a:r>
            </a:p>
          </p:txBody>
        </p:sp>
        <p:sp>
          <p:nvSpPr>
            <p:cNvPr id="14" name="TextBox 8"/>
            <p:cNvSpPr txBox="1">
              <a:spLocks noChangeArrowheads="1"/>
            </p:cNvSpPr>
            <p:nvPr/>
          </p:nvSpPr>
          <p:spPr bwMode="auto">
            <a:xfrm>
              <a:off x="1219200" y="4419600"/>
              <a:ext cx="4572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4</a:t>
              </a:r>
            </a:p>
          </p:txBody>
        </p:sp>
      </p:grpSp>
      <p:grpSp>
        <p:nvGrpSpPr>
          <p:cNvPr id="15" name="Group 6"/>
          <p:cNvGrpSpPr>
            <a:grpSpLocks/>
          </p:cNvGrpSpPr>
          <p:nvPr/>
        </p:nvGrpSpPr>
        <p:grpSpPr bwMode="auto">
          <a:xfrm>
            <a:off x="1676400" y="2629988"/>
            <a:ext cx="783773" cy="750614"/>
            <a:chOff x="1219200" y="4419600"/>
            <a:chExt cx="457201" cy="750058"/>
          </a:xfrm>
        </p:grpSpPr>
        <p:sp>
          <p:nvSpPr>
            <p:cNvPr id="16" name="TextBox 7"/>
            <p:cNvSpPr txBox="1">
              <a:spLocks noChangeArrowheads="1"/>
            </p:cNvSpPr>
            <p:nvPr/>
          </p:nvSpPr>
          <p:spPr bwMode="auto">
            <a:xfrm>
              <a:off x="1219200" y="4800600"/>
              <a:ext cx="457200" cy="3690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  55  </a:t>
              </a:r>
            </a:p>
          </p:txBody>
        </p:sp>
        <p:sp>
          <p:nvSpPr>
            <p:cNvPr id="17" name="TextBox 8"/>
            <p:cNvSpPr txBox="1">
              <a:spLocks noChangeArrowheads="1"/>
            </p:cNvSpPr>
            <p:nvPr/>
          </p:nvSpPr>
          <p:spPr bwMode="auto">
            <a:xfrm>
              <a:off x="1219201" y="4419600"/>
              <a:ext cx="4572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137</a:t>
              </a:r>
            </a:p>
          </p:txBody>
        </p:sp>
      </p:grpSp>
      <p:grpSp>
        <p:nvGrpSpPr>
          <p:cNvPr id="18" name="Group 6"/>
          <p:cNvGrpSpPr>
            <a:grpSpLocks/>
          </p:cNvGrpSpPr>
          <p:nvPr/>
        </p:nvGrpSpPr>
        <p:grpSpPr bwMode="auto">
          <a:xfrm>
            <a:off x="3483427" y="2618876"/>
            <a:ext cx="783773" cy="750614"/>
            <a:chOff x="1219200" y="4419600"/>
            <a:chExt cx="457201" cy="750058"/>
          </a:xfrm>
        </p:grpSpPr>
        <p:sp>
          <p:nvSpPr>
            <p:cNvPr id="19" name="TextBox 7"/>
            <p:cNvSpPr txBox="1">
              <a:spLocks noChangeArrowheads="1"/>
            </p:cNvSpPr>
            <p:nvPr/>
          </p:nvSpPr>
          <p:spPr bwMode="auto">
            <a:xfrm>
              <a:off x="1219200" y="4800600"/>
              <a:ext cx="457200" cy="3690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  56  </a:t>
              </a:r>
            </a:p>
          </p:txBody>
        </p:sp>
        <p:sp>
          <p:nvSpPr>
            <p:cNvPr id="20" name="TextBox 8"/>
            <p:cNvSpPr txBox="1">
              <a:spLocks noChangeArrowheads="1"/>
            </p:cNvSpPr>
            <p:nvPr/>
          </p:nvSpPr>
          <p:spPr bwMode="auto">
            <a:xfrm>
              <a:off x="1219201" y="4419600"/>
              <a:ext cx="4572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137</a:t>
              </a:r>
            </a:p>
          </p:txBody>
        </p:sp>
      </p:grpSp>
      <p:grpSp>
        <p:nvGrpSpPr>
          <p:cNvPr id="21" name="Group 6"/>
          <p:cNvGrpSpPr>
            <a:grpSpLocks/>
          </p:cNvGrpSpPr>
          <p:nvPr/>
        </p:nvGrpSpPr>
        <p:grpSpPr bwMode="auto">
          <a:xfrm>
            <a:off x="4953000" y="2629987"/>
            <a:ext cx="838200" cy="1027613"/>
            <a:chOff x="1143000" y="4419600"/>
            <a:chExt cx="533400" cy="1026852"/>
          </a:xfrm>
        </p:grpSpPr>
        <p:sp>
          <p:nvSpPr>
            <p:cNvPr id="22" name="TextBox 7"/>
            <p:cNvSpPr txBox="1">
              <a:spLocks noChangeArrowheads="1"/>
            </p:cNvSpPr>
            <p:nvPr/>
          </p:nvSpPr>
          <p:spPr bwMode="auto">
            <a:xfrm>
              <a:off x="1143000" y="4800600"/>
              <a:ext cx="457200" cy="6458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  -1  </a:t>
              </a:r>
            </a:p>
          </p:txBody>
        </p:sp>
        <p:sp>
          <p:nvSpPr>
            <p:cNvPr id="23" name="TextBox 8"/>
            <p:cNvSpPr txBox="1">
              <a:spLocks noChangeArrowheads="1"/>
            </p:cNvSpPr>
            <p:nvPr/>
          </p:nvSpPr>
          <p:spPr bwMode="auto">
            <a:xfrm>
              <a:off x="1219200" y="4419600"/>
              <a:ext cx="4572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0</a:t>
              </a:r>
            </a:p>
          </p:txBody>
        </p:sp>
      </p:grpSp>
      <p:grpSp>
        <p:nvGrpSpPr>
          <p:cNvPr id="24" name="Group 6"/>
          <p:cNvGrpSpPr>
            <a:grpSpLocks/>
          </p:cNvGrpSpPr>
          <p:nvPr/>
        </p:nvGrpSpPr>
        <p:grpSpPr bwMode="auto">
          <a:xfrm>
            <a:off x="1883227" y="3363912"/>
            <a:ext cx="783773" cy="750614"/>
            <a:chOff x="1219200" y="4419600"/>
            <a:chExt cx="457201" cy="750058"/>
          </a:xfrm>
        </p:grpSpPr>
        <p:sp>
          <p:nvSpPr>
            <p:cNvPr id="25" name="TextBox 7"/>
            <p:cNvSpPr txBox="1">
              <a:spLocks noChangeArrowheads="1"/>
            </p:cNvSpPr>
            <p:nvPr/>
          </p:nvSpPr>
          <p:spPr bwMode="auto">
            <a:xfrm>
              <a:off x="1219200" y="4800600"/>
              <a:ext cx="457200" cy="3690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  6  </a:t>
              </a:r>
            </a:p>
          </p:txBody>
        </p:sp>
        <p:sp>
          <p:nvSpPr>
            <p:cNvPr id="26" name="TextBox 8"/>
            <p:cNvSpPr txBox="1">
              <a:spLocks noChangeArrowheads="1"/>
            </p:cNvSpPr>
            <p:nvPr/>
          </p:nvSpPr>
          <p:spPr bwMode="auto">
            <a:xfrm>
              <a:off x="1219201" y="4419600"/>
              <a:ext cx="4572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14</a:t>
              </a:r>
            </a:p>
          </p:txBody>
        </p:sp>
      </p:grpSp>
      <p:grpSp>
        <p:nvGrpSpPr>
          <p:cNvPr id="27" name="Group 6"/>
          <p:cNvGrpSpPr>
            <a:grpSpLocks/>
          </p:cNvGrpSpPr>
          <p:nvPr/>
        </p:nvGrpSpPr>
        <p:grpSpPr bwMode="auto">
          <a:xfrm>
            <a:off x="3635827" y="3352800"/>
            <a:ext cx="783773" cy="750614"/>
            <a:chOff x="1219200" y="4419600"/>
            <a:chExt cx="457201" cy="750058"/>
          </a:xfrm>
        </p:grpSpPr>
        <p:sp>
          <p:nvSpPr>
            <p:cNvPr id="28" name="TextBox 7"/>
            <p:cNvSpPr txBox="1">
              <a:spLocks noChangeArrowheads="1"/>
            </p:cNvSpPr>
            <p:nvPr/>
          </p:nvSpPr>
          <p:spPr bwMode="auto">
            <a:xfrm>
              <a:off x="1219200" y="4800600"/>
              <a:ext cx="457200" cy="3690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  7  </a:t>
              </a:r>
            </a:p>
          </p:txBody>
        </p:sp>
        <p:sp>
          <p:nvSpPr>
            <p:cNvPr id="29" name="TextBox 8"/>
            <p:cNvSpPr txBox="1">
              <a:spLocks noChangeArrowheads="1"/>
            </p:cNvSpPr>
            <p:nvPr/>
          </p:nvSpPr>
          <p:spPr bwMode="auto">
            <a:xfrm>
              <a:off x="1219201" y="4419600"/>
              <a:ext cx="4572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14</a:t>
              </a:r>
            </a:p>
          </p:txBody>
        </p:sp>
      </p:grpSp>
      <p:grpSp>
        <p:nvGrpSpPr>
          <p:cNvPr id="30" name="Group 6"/>
          <p:cNvGrpSpPr>
            <a:grpSpLocks/>
          </p:cNvGrpSpPr>
          <p:nvPr/>
        </p:nvGrpSpPr>
        <p:grpSpPr bwMode="auto">
          <a:xfrm>
            <a:off x="4953000" y="3363911"/>
            <a:ext cx="838200" cy="1027613"/>
            <a:chOff x="1143000" y="4419600"/>
            <a:chExt cx="533400" cy="1026852"/>
          </a:xfrm>
        </p:grpSpPr>
        <p:sp>
          <p:nvSpPr>
            <p:cNvPr id="31" name="TextBox 7"/>
            <p:cNvSpPr txBox="1">
              <a:spLocks noChangeArrowheads="1"/>
            </p:cNvSpPr>
            <p:nvPr/>
          </p:nvSpPr>
          <p:spPr bwMode="auto">
            <a:xfrm>
              <a:off x="1143000" y="4800600"/>
              <a:ext cx="457200" cy="6458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  -1  </a:t>
              </a:r>
            </a:p>
          </p:txBody>
        </p:sp>
        <p:sp>
          <p:nvSpPr>
            <p:cNvPr id="32" name="TextBox 8"/>
            <p:cNvSpPr txBox="1">
              <a:spLocks noChangeArrowheads="1"/>
            </p:cNvSpPr>
            <p:nvPr/>
          </p:nvSpPr>
          <p:spPr bwMode="auto">
            <a:xfrm>
              <a:off x="1219200" y="4419600"/>
              <a:ext cx="4572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0</a:t>
              </a:r>
            </a:p>
          </p:txBody>
        </p:sp>
      </p:grpSp>
      <p:sp>
        <p:nvSpPr>
          <p:cNvPr id="33" name="Rounded Rectangle 32"/>
          <p:cNvSpPr/>
          <p:nvPr/>
        </p:nvSpPr>
        <p:spPr>
          <a:xfrm>
            <a:off x="5105400" y="1828800"/>
            <a:ext cx="914400" cy="685800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ounded Rectangle 33"/>
          <p:cNvSpPr/>
          <p:nvPr/>
        </p:nvSpPr>
        <p:spPr>
          <a:xfrm>
            <a:off x="5105400" y="2590800"/>
            <a:ext cx="914400" cy="685800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ounded Rectangle 34"/>
          <p:cNvSpPr/>
          <p:nvPr/>
        </p:nvSpPr>
        <p:spPr>
          <a:xfrm>
            <a:off x="3505200" y="3429000"/>
            <a:ext cx="914400" cy="685800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  <p:bldP spid="3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001000" cy="1202485"/>
          </a:xfrm>
        </p:spPr>
        <p:txBody>
          <a:bodyPr>
            <a:noAutofit/>
          </a:bodyPr>
          <a:lstStyle/>
          <a:p>
            <a:pPr algn="l"/>
            <a:r>
              <a:rPr lang="zh-CN" altLang="en-US" sz="4800" b="1" dirty="0">
                <a:latin typeface="+mn-ea"/>
              </a:rPr>
              <a:t>思考题</a:t>
            </a:r>
            <a:r>
              <a:rPr lang="en-US" altLang="zh-CN" sz="4800" b="1" dirty="0">
                <a:latin typeface="+mn-ea"/>
              </a:rPr>
              <a:t>25d</a:t>
            </a:r>
            <a:endParaRPr lang="en-US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52400"/>
            <a:ext cx="8382000" cy="58674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None/>
            </a:pPr>
            <a:endParaRPr lang="en-US" altLang="zh-CN" sz="3000" dirty="0"/>
          </a:p>
          <a:p>
            <a:pPr>
              <a:lnSpc>
                <a:spcPct val="150000"/>
              </a:lnSpc>
              <a:buNone/>
            </a:pPr>
            <a:r>
              <a:rPr lang="en-US" altLang="zh-CN" sz="3000" dirty="0"/>
              <a:t>(1) 		K  </a:t>
            </a:r>
            <a:r>
              <a:rPr lang="en-US" altLang="zh-CN" sz="3000" dirty="0">
                <a:sym typeface="Wingdings" pitchFamily="2" charset="2"/>
              </a:rPr>
              <a:t> 		Ca+ 	     e</a:t>
            </a:r>
            <a:endParaRPr lang="en-US" altLang="zh-CN" sz="3000" dirty="0"/>
          </a:p>
          <a:p>
            <a:pPr>
              <a:lnSpc>
                <a:spcPct val="150000"/>
              </a:lnSpc>
              <a:buNone/>
            </a:pPr>
            <a:r>
              <a:rPr lang="en-US" altLang="zh-CN" sz="3000" dirty="0"/>
              <a:t>(2) 		Na </a:t>
            </a:r>
            <a:r>
              <a:rPr lang="en-US" altLang="zh-CN" sz="3000" dirty="0">
                <a:sym typeface="Wingdings" pitchFamily="2" charset="2"/>
              </a:rPr>
              <a:t> 	Ne  + 	     e</a:t>
            </a:r>
            <a:endParaRPr lang="en-US" altLang="zh-CN" sz="3000" dirty="0"/>
          </a:p>
          <a:p>
            <a:pPr marL="514350" indent="-514350">
              <a:lnSpc>
                <a:spcPct val="150000"/>
              </a:lnSpc>
              <a:buAutoNum type="arabicParenBoth" startAt="3"/>
            </a:pPr>
            <a:r>
              <a:rPr lang="en-US" altLang="zh-CN" sz="3000" dirty="0"/>
              <a:t> 		</a:t>
            </a:r>
            <a:r>
              <a:rPr lang="en-US" altLang="zh-CN" sz="3000" dirty="0" err="1"/>
              <a:t>Ar</a:t>
            </a:r>
            <a:r>
              <a:rPr lang="en-US" altLang="zh-CN" sz="3000" dirty="0"/>
              <a:t>  	+ 	e  </a:t>
            </a:r>
            <a:r>
              <a:rPr lang="en-US" altLang="zh-CN" sz="3000" dirty="0">
                <a:sym typeface="Wingdings" pitchFamily="2" charset="2"/>
              </a:rPr>
              <a:t>        </a:t>
            </a:r>
            <a:r>
              <a:rPr lang="en-US" altLang="zh-CN" sz="3000" dirty="0" err="1">
                <a:sym typeface="Wingdings" pitchFamily="2" charset="2"/>
              </a:rPr>
              <a:t>Cl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lnSpc>
                <a:spcPct val="150000"/>
              </a:lnSpc>
              <a:buFont typeface="Arial" pitchFamily="34" charset="0"/>
              <a:buAutoNum type="arabicParenBoth" startAt="3"/>
            </a:pPr>
            <a:r>
              <a:rPr lang="en-US" altLang="zh-CN" sz="3000" dirty="0"/>
              <a:t> 		Al 	+        He </a:t>
            </a:r>
            <a:r>
              <a:rPr lang="en-US" altLang="zh-CN" sz="3000" dirty="0">
                <a:sym typeface="Wingdings" pitchFamily="2" charset="2"/>
              </a:rPr>
              <a:t>      P   +       n </a:t>
            </a:r>
            <a:endParaRPr lang="en-US" altLang="zh-CN" sz="3000" dirty="0"/>
          </a:p>
          <a:p>
            <a:pPr marL="514350" indent="-514350">
              <a:lnSpc>
                <a:spcPct val="150000"/>
              </a:lnSpc>
              <a:buFont typeface="Arial" pitchFamily="34" charset="0"/>
              <a:buAutoNum type="arabicParenBoth" startAt="3"/>
            </a:pPr>
            <a:r>
              <a:rPr lang="en-US" altLang="zh-CN" sz="3000" dirty="0"/>
              <a:t> 		N	+        H   </a:t>
            </a:r>
            <a:r>
              <a:rPr lang="en-US" altLang="zh-CN" sz="3000" dirty="0">
                <a:sym typeface="Wingdings" pitchFamily="2" charset="2"/>
              </a:rPr>
              <a:t>       C	 +      He</a:t>
            </a:r>
            <a:endParaRPr lang="en-US" altLang="zh-CN" sz="3000" dirty="0"/>
          </a:p>
          <a:p>
            <a:pPr marL="514350" indent="-514350">
              <a:lnSpc>
                <a:spcPct val="150000"/>
              </a:lnSpc>
              <a:buAutoNum type="arabicParenBoth" startAt="3"/>
            </a:pPr>
            <a:endParaRPr lang="en-US" altLang="zh-CN" sz="3000" dirty="0"/>
          </a:p>
        </p:txBody>
      </p:sp>
      <p:grpSp>
        <p:nvGrpSpPr>
          <p:cNvPr id="4" name="Group 6"/>
          <p:cNvGrpSpPr>
            <a:grpSpLocks/>
          </p:cNvGrpSpPr>
          <p:nvPr/>
        </p:nvGrpSpPr>
        <p:grpSpPr bwMode="auto">
          <a:xfrm>
            <a:off x="1676399" y="1078194"/>
            <a:ext cx="859971" cy="674130"/>
            <a:chOff x="1219200" y="4496027"/>
            <a:chExt cx="501650" cy="673631"/>
          </a:xfrm>
        </p:grpSpPr>
        <p:sp>
          <p:nvSpPr>
            <p:cNvPr id="7" name="TextBox 7"/>
            <p:cNvSpPr txBox="1">
              <a:spLocks noChangeArrowheads="1"/>
            </p:cNvSpPr>
            <p:nvPr/>
          </p:nvSpPr>
          <p:spPr bwMode="auto">
            <a:xfrm>
              <a:off x="1219200" y="4800600"/>
              <a:ext cx="457200" cy="3690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  19  </a:t>
              </a:r>
            </a:p>
          </p:txBody>
        </p:sp>
        <p:sp>
          <p:nvSpPr>
            <p:cNvPr id="8" name="TextBox 8"/>
            <p:cNvSpPr txBox="1">
              <a:spLocks noChangeArrowheads="1"/>
            </p:cNvSpPr>
            <p:nvPr/>
          </p:nvSpPr>
          <p:spPr bwMode="auto">
            <a:xfrm>
              <a:off x="1263650" y="4496027"/>
              <a:ext cx="4572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40</a:t>
              </a:r>
            </a:p>
          </p:txBody>
        </p:sp>
      </p:grpSp>
      <p:grpSp>
        <p:nvGrpSpPr>
          <p:cNvPr id="6" name="Group 6"/>
          <p:cNvGrpSpPr>
            <a:grpSpLocks/>
          </p:cNvGrpSpPr>
          <p:nvPr/>
        </p:nvGrpSpPr>
        <p:grpSpPr bwMode="auto">
          <a:xfrm>
            <a:off x="3483427" y="1078193"/>
            <a:ext cx="859973" cy="663021"/>
            <a:chOff x="1219200" y="4507128"/>
            <a:chExt cx="501651" cy="662530"/>
          </a:xfrm>
        </p:grpSpPr>
        <p:sp>
          <p:nvSpPr>
            <p:cNvPr id="10" name="TextBox 7"/>
            <p:cNvSpPr txBox="1">
              <a:spLocks noChangeArrowheads="1"/>
            </p:cNvSpPr>
            <p:nvPr/>
          </p:nvSpPr>
          <p:spPr bwMode="auto">
            <a:xfrm>
              <a:off x="1219200" y="4800600"/>
              <a:ext cx="457200" cy="3690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  20  </a:t>
              </a:r>
            </a:p>
          </p:txBody>
        </p:sp>
        <p:sp>
          <p:nvSpPr>
            <p:cNvPr id="11" name="TextBox 8"/>
            <p:cNvSpPr txBox="1">
              <a:spLocks noChangeArrowheads="1"/>
            </p:cNvSpPr>
            <p:nvPr/>
          </p:nvSpPr>
          <p:spPr bwMode="auto">
            <a:xfrm>
              <a:off x="1263651" y="4507128"/>
              <a:ext cx="4572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40</a:t>
              </a:r>
            </a:p>
          </p:txBody>
        </p:sp>
      </p:grpSp>
      <p:grpSp>
        <p:nvGrpSpPr>
          <p:cNvPr id="9" name="Group 6"/>
          <p:cNvGrpSpPr>
            <a:grpSpLocks/>
          </p:cNvGrpSpPr>
          <p:nvPr/>
        </p:nvGrpSpPr>
        <p:grpSpPr bwMode="auto">
          <a:xfrm>
            <a:off x="4953000" y="1078191"/>
            <a:ext cx="609600" cy="674133"/>
            <a:chOff x="1066800" y="4496024"/>
            <a:chExt cx="609600" cy="673634"/>
          </a:xfrm>
        </p:grpSpPr>
        <p:sp>
          <p:nvSpPr>
            <p:cNvPr id="13" name="TextBox 7"/>
            <p:cNvSpPr txBox="1">
              <a:spLocks noChangeArrowheads="1"/>
            </p:cNvSpPr>
            <p:nvPr/>
          </p:nvSpPr>
          <p:spPr bwMode="auto">
            <a:xfrm>
              <a:off x="1066800" y="4800600"/>
              <a:ext cx="533400" cy="3690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  -1  </a:t>
              </a:r>
            </a:p>
          </p:txBody>
        </p:sp>
        <p:sp>
          <p:nvSpPr>
            <p:cNvPr id="14" name="TextBox 8"/>
            <p:cNvSpPr txBox="1">
              <a:spLocks noChangeArrowheads="1"/>
            </p:cNvSpPr>
            <p:nvPr/>
          </p:nvSpPr>
          <p:spPr bwMode="auto">
            <a:xfrm>
              <a:off x="1219200" y="4496024"/>
              <a:ext cx="4572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0</a:t>
              </a:r>
            </a:p>
          </p:txBody>
        </p:sp>
      </p:grpSp>
      <p:grpSp>
        <p:nvGrpSpPr>
          <p:cNvPr id="12" name="Group 6"/>
          <p:cNvGrpSpPr>
            <a:grpSpLocks/>
          </p:cNvGrpSpPr>
          <p:nvPr/>
        </p:nvGrpSpPr>
        <p:grpSpPr bwMode="auto">
          <a:xfrm>
            <a:off x="1676400" y="1840193"/>
            <a:ext cx="859973" cy="702208"/>
            <a:chOff x="1219200" y="4467970"/>
            <a:chExt cx="501651" cy="701688"/>
          </a:xfrm>
        </p:grpSpPr>
        <p:sp>
          <p:nvSpPr>
            <p:cNvPr id="16" name="TextBox 7"/>
            <p:cNvSpPr txBox="1">
              <a:spLocks noChangeArrowheads="1"/>
            </p:cNvSpPr>
            <p:nvPr/>
          </p:nvSpPr>
          <p:spPr bwMode="auto">
            <a:xfrm>
              <a:off x="1219200" y="4800600"/>
              <a:ext cx="457200" cy="3690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  11  </a:t>
              </a:r>
            </a:p>
          </p:txBody>
        </p:sp>
        <p:sp>
          <p:nvSpPr>
            <p:cNvPr id="17" name="TextBox 8"/>
            <p:cNvSpPr txBox="1">
              <a:spLocks noChangeArrowheads="1"/>
            </p:cNvSpPr>
            <p:nvPr/>
          </p:nvSpPr>
          <p:spPr bwMode="auto">
            <a:xfrm>
              <a:off x="1263651" y="4467970"/>
              <a:ext cx="4572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20</a:t>
              </a:r>
            </a:p>
          </p:txBody>
        </p:sp>
      </p:grpSp>
      <p:grpSp>
        <p:nvGrpSpPr>
          <p:cNvPr id="15" name="Group 6"/>
          <p:cNvGrpSpPr>
            <a:grpSpLocks/>
          </p:cNvGrpSpPr>
          <p:nvPr/>
        </p:nvGrpSpPr>
        <p:grpSpPr bwMode="auto">
          <a:xfrm>
            <a:off x="3483426" y="1840194"/>
            <a:ext cx="805544" cy="691099"/>
            <a:chOff x="1219200" y="4479073"/>
            <a:chExt cx="469901" cy="690587"/>
          </a:xfrm>
        </p:grpSpPr>
        <p:sp>
          <p:nvSpPr>
            <p:cNvPr id="19" name="TextBox 7"/>
            <p:cNvSpPr txBox="1">
              <a:spLocks noChangeArrowheads="1"/>
            </p:cNvSpPr>
            <p:nvPr/>
          </p:nvSpPr>
          <p:spPr bwMode="auto">
            <a:xfrm>
              <a:off x="1219200" y="4800601"/>
              <a:ext cx="457200" cy="3690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10  </a:t>
              </a:r>
            </a:p>
          </p:txBody>
        </p:sp>
        <p:sp>
          <p:nvSpPr>
            <p:cNvPr id="20" name="TextBox 8"/>
            <p:cNvSpPr txBox="1">
              <a:spLocks noChangeArrowheads="1"/>
            </p:cNvSpPr>
            <p:nvPr/>
          </p:nvSpPr>
          <p:spPr bwMode="auto">
            <a:xfrm>
              <a:off x="1231901" y="4479073"/>
              <a:ext cx="4572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20</a:t>
              </a:r>
            </a:p>
          </p:txBody>
        </p:sp>
      </p:grpSp>
      <p:grpSp>
        <p:nvGrpSpPr>
          <p:cNvPr id="18" name="Group 6"/>
          <p:cNvGrpSpPr>
            <a:grpSpLocks/>
          </p:cNvGrpSpPr>
          <p:nvPr/>
        </p:nvGrpSpPr>
        <p:grpSpPr bwMode="auto">
          <a:xfrm>
            <a:off x="4953000" y="1840193"/>
            <a:ext cx="914400" cy="702208"/>
            <a:chOff x="1143000" y="4467970"/>
            <a:chExt cx="581891" cy="701688"/>
          </a:xfrm>
        </p:grpSpPr>
        <p:sp>
          <p:nvSpPr>
            <p:cNvPr id="22" name="TextBox 7"/>
            <p:cNvSpPr txBox="1">
              <a:spLocks noChangeArrowheads="1"/>
            </p:cNvSpPr>
            <p:nvPr/>
          </p:nvSpPr>
          <p:spPr bwMode="auto">
            <a:xfrm>
              <a:off x="1143000" y="4800600"/>
              <a:ext cx="457200" cy="3690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  +1  </a:t>
              </a:r>
            </a:p>
          </p:txBody>
        </p:sp>
        <p:sp>
          <p:nvSpPr>
            <p:cNvPr id="23" name="TextBox 8"/>
            <p:cNvSpPr txBox="1">
              <a:spLocks noChangeArrowheads="1"/>
            </p:cNvSpPr>
            <p:nvPr/>
          </p:nvSpPr>
          <p:spPr bwMode="auto">
            <a:xfrm>
              <a:off x="1267691" y="4467970"/>
              <a:ext cx="4572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0</a:t>
              </a:r>
            </a:p>
          </p:txBody>
        </p:sp>
      </p:grpSp>
      <p:grpSp>
        <p:nvGrpSpPr>
          <p:cNvPr id="21" name="Group 6"/>
          <p:cNvGrpSpPr>
            <a:grpSpLocks/>
          </p:cNvGrpSpPr>
          <p:nvPr/>
        </p:nvGrpSpPr>
        <p:grpSpPr bwMode="auto">
          <a:xfrm>
            <a:off x="1752600" y="2602191"/>
            <a:ext cx="914402" cy="674135"/>
            <a:chOff x="1143000" y="4496025"/>
            <a:chExt cx="533401" cy="673636"/>
          </a:xfrm>
        </p:grpSpPr>
        <p:sp>
          <p:nvSpPr>
            <p:cNvPr id="25" name="TextBox 7"/>
            <p:cNvSpPr txBox="1">
              <a:spLocks noChangeArrowheads="1"/>
            </p:cNvSpPr>
            <p:nvPr/>
          </p:nvSpPr>
          <p:spPr bwMode="auto">
            <a:xfrm>
              <a:off x="1143000" y="4800602"/>
              <a:ext cx="457200" cy="3690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  18  </a:t>
              </a:r>
            </a:p>
          </p:txBody>
        </p:sp>
        <p:sp>
          <p:nvSpPr>
            <p:cNvPr id="26" name="TextBox 8"/>
            <p:cNvSpPr txBox="1">
              <a:spLocks noChangeArrowheads="1"/>
            </p:cNvSpPr>
            <p:nvPr/>
          </p:nvSpPr>
          <p:spPr bwMode="auto">
            <a:xfrm>
              <a:off x="1219201" y="4496025"/>
              <a:ext cx="4572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37</a:t>
              </a:r>
            </a:p>
          </p:txBody>
        </p:sp>
      </p:grpSp>
      <p:grpSp>
        <p:nvGrpSpPr>
          <p:cNvPr id="24" name="Group 6"/>
          <p:cNvGrpSpPr>
            <a:grpSpLocks/>
          </p:cNvGrpSpPr>
          <p:nvPr/>
        </p:nvGrpSpPr>
        <p:grpSpPr bwMode="auto">
          <a:xfrm>
            <a:off x="4953000" y="2602193"/>
            <a:ext cx="859973" cy="663020"/>
            <a:chOff x="1219200" y="4507129"/>
            <a:chExt cx="501651" cy="662529"/>
          </a:xfrm>
        </p:grpSpPr>
        <p:sp>
          <p:nvSpPr>
            <p:cNvPr id="28" name="TextBox 7"/>
            <p:cNvSpPr txBox="1">
              <a:spLocks noChangeArrowheads="1"/>
            </p:cNvSpPr>
            <p:nvPr/>
          </p:nvSpPr>
          <p:spPr bwMode="auto">
            <a:xfrm>
              <a:off x="1219200" y="4800600"/>
              <a:ext cx="457200" cy="3690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  17  </a:t>
              </a:r>
            </a:p>
          </p:txBody>
        </p:sp>
        <p:sp>
          <p:nvSpPr>
            <p:cNvPr id="29" name="TextBox 8"/>
            <p:cNvSpPr txBox="1">
              <a:spLocks noChangeArrowheads="1"/>
            </p:cNvSpPr>
            <p:nvPr/>
          </p:nvSpPr>
          <p:spPr bwMode="auto">
            <a:xfrm>
              <a:off x="1263651" y="4507129"/>
              <a:ext cx="4572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37</a:t>
              </a:r>
            </a:p>
          </p:txBody>
        </p:sp>
      </p:grpSp>
      <p:grpSp>
        <p:nvGrpSpPr>
          <p:cNvPr id="27" name="Group 6"/>
          <p:cNvGrpSpPr>
            <a:grpSpLocks/>
          </p:cNvGrpSpPr>
          <p:nvPr/>
        </p:nvGrpSpPr>
        <p:grpSpPr bwMode="auto">
          <a:xfrm>
            <a:off x="3581400" y="2641380"/>
            <a:ext cx="838200" cy="940020"/>
            <a:chOff x="1143000" y="4507129"/>
            <a:chExt cx="533400" cy="939324"/>
          </a:xfrm>
        </p:grpSpPr>
        <p:sp>
          <p:nvSpPr>
            <p:cNvPr id="31" name="TextBox 7"/>
            <p:cNvSpPr txBox="1">
              <a:spLocks noChangeArrowheads="1"/>
            </p:cNvSpPr>
            <p:nvPr/>
          </p:nvSpPr>
          <p:spPr bwMode="auto">
            <a:xfrm>
              <a:off x="1143000" y="4800601"/>
              <a:ext cx="457200" cy="6458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  -1  </a:t>
              </a:r>
            </a:p>
          </p:txBody>
        </p:sp>
        <p:sp>
          <p:nvSpPr>
            <p:cNvPr id="32" name="TextBox 8"/>
            <p:cNvSpPr txBox="1">
              <a:spLocks noChangeArrowheads="1"/>
            </p:cNvSpPr>
            <p:nvPr/>
          </p:nvSpPr>
          <p:spPr bwMode="auto">
            <a:xfrm>
              <a:off x="1219200" y="4507129"/>
              <a:ext cx="4572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0</a:t>
              </a:r>
            </a:p>
          </p:txBody>
        </p:sp>
      </p:grpSp>
      <p:sp>
        <p:nvSpPr>
          <p:cNvPr id="33" name="Rounded Rectangle 32"/>
          <p:cNvSpPr/>
          <p:nvPr/>
        </p:nvSpPr>
        <p:spPr>
          <a:xfrm>
            <a:off x="4953000" y="1066800"/>
            <a:ext cx="990600" cy="685800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ounded Rectangle 33"/>
          <p:cNvSpPr/>
          <p:nvPr/>
        </p:nvSpPr>
        <p:spPr>
          <a:xfrm>
            <a:off x="4953000" y="1828800"/>
            <a:ext cx="990600" cy="685800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ounded Rectangle 34"/>
          <p:cNvSpPr/>
          <p:nvPr/>
        </p:nvSpPr>
        <p:spPr>
          <a:xfrm>
            <a:off x="3429000" y="2590800"/>
            <a:ext cx="914400" cy="685800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6" name="Group 6"/>
          <p:cNvGrpSpPr>
            <a:grpSpLocks/>
          </p:cNvGrpSpPr>
          <p:nvPr/>
        </p:nvGrpSpPr>
        <p:grpSpPr bwMode="auto">
          <a:xfrm>
            <a:off x="1752600" y="3364191"/>
            <a:ext cx="914402" cy="674135"/>
            <a:chOff x="1143000" y="4496025"/>
            <a:chExt cx="533401" cy="673636"/>
          </a:xfrm>
        </p:grpSpPr>
        <p:sp>
          <p:nvSpPr>
            <p:cNvPr id="37" name="TextBox 7"/>
            <p:cNvSpPr txBox="1">
              <a:spLocks noChangeArrowheads="1"/>
            </p:cNvSpPr>
            <p:nvPr/>
          </p:nvSpPr>
          <p:spPr bwMode="auto">
            <a:xfrm>
              <a:off x="1143000" y="4800602"/>
              <a:ext cx="457200" cy="3690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  13  </a:t>
              </a:r>
            </a:p>
          </p:txBody>
        </p:sp>
        <p:sp>
          <p:nvSpPr>
            <p:cNvPr id="38" name="TextBox 8"/>
            <p:cNvSpPr txBox="1">
              <a:spLocks noChangeArrowheads="1"/>
            </p:cNvSpPr>
            <p:nvPr/>
          </p:nvSpPr>
          <p:spPr bwMode="auto">
            <a:xfrm>
              <a:off x="1219201" y="4496025"/>
              <a:ext cx="4572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27</a:t>
              </a:r>
            </a:p>
          </p:txBody>
        </p:sp>
      </p:grpSp>
      <p:grpSp>
        <p:nvGrpSpPr>
          <p:cNvPr id="39" name="Group 6"/>
          <p:cNvGrpSpPr>
            <a:grpSpLocks/>
          </p:cNvGrpSpPr>
          <p:nvPr/>
        </p:nvGrpSpPr>
        <p:grpSpPr bwMode="auto">
          <a:xfrm>
            <a:off x="4953000" y="3364193"/>
            <a:ext cx="859973" cy="663020"/>
            <a:chOff x="1219200" y="4507129"/>
            <a:chExt cx="501651" cy="662529"/>
          </a:xfrm>
        </p:grpSpPr>
        <p:sp>
          <p:nvSpPr>
            <p:cNvPr id="40" name="TextBox 7"/>
            <p:cNvSpPr txBox="1">
              <a:spLocks noChangeArrowheads="1"/>
            </p:cNvSpPr>
            <p:nvPr/>
          </p:nvSpPr>
          <p:spPr bwMode="auto">
            <a:xfrm>
              <a:off x="1219200" y="4800600"/>
              <a:ext cx="457200" cy="3690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  15  </a:t>
              </a:r>
            </a:p>
          </p:txBody>
        </p:sp>
        <p:sp>
          <p:nvSpPr>
            <p:cNvPr id="41" name="TextBox 8"/>
            <p:cNvSpPr txBox="1">
              <a:spLocks noChangeArrowheads="1"/>
            </p:cNvSpPr>
            <p:nvPr/>
          </p:nvSpPr>
          <p:spPr bwMode="auto">
            <a:xfrm>
              <a:off x="1263651" y="4507129"/>
              <a:ext cx="4572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30</a:t>
              </a:r>
            </a:p>
          </p:txBody>
        </p:sp>
      </p:grpSp>
      <p:grpSp>
        <p:nvGrpSpPr>
          <p:cNvPr id="42" name="Group 6"/>
          <p:cNvGrpSpPr>
            <a:grpSpLocks/>
          </p:cNvGrpSpPr>
          <p:nvPr/>
        </p:nvGrpSpPr>
        <p:grpSpPr bwMode="auto">
          <a:xfrm>
            <a:off x="3624942" y="3403381"/>
            <a:ext cx="794657" cy="663020"/>
            <a:chOff x="1170709" y="4507129"/>
            <a:chExt cx="505691" cy="662529"/>
          </a:xfrm>
        </p:grpSpPr>
        <p:sp>
          <p:nvSpPr>
            <p:cNvPr id="43" name="TextBox 7"/>
            <p:cNvSpPr txBox="1">
              <a:spLocks noChangeArrowheads="1"/>
            </p:cNvSpPr>
            <p:nvPr/>
          </p:nvSpPr>
          <p:spPr bwMode="auto">
            <a:xfrm>
              <a:off x="1170709" y="4800600"/>
              <a:ext cx="457200" cy="3690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  2  </a:t>
              </a:r>
            </a:p>
          </p:txBody>
        </p:sp>
        <p:sp>
          <p:nvSpPr>
            <p:cNvPr id="44" name="TextBox 8"/>
            <p:cNvSpPr txBox="1">
              <a:spLocks noChangeArrowheads="1"/>
            </p:cNvSpPr>
            <p:nvPr/>
          </p:nvSpPr>
          <p:spPr bwMode="auto">
            <a:xfrm>
              <a:off x="1219200" y="4507129"/>
              <a:ext cx="4572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4</a:t>
              </a:r>
            </a:p>
          </p:txBody>
        </p:sp>
      </p:grpSp>
      <p:grpSp>
        <p:nvGrpSpPr>
          <p:cNvPr id="45" name="Group 6"/>
          <p:cNvGrpSpPr>
            <a:grpSpLocks/>
          </p:cNvGrpSpPr>
          <p:nvPr/>
        </p:nvGrpSpPr>
        <p:grpSpPr bwMode="auto">
          <a:xfrm>
            <a:off x="6172200" y="3336392"/>
            <a:ext cx="914400" cy="702208"/>
            <a:chOff x="1143000" y="4467970"/>
            <a:chExt cx="581891" cy="701688"/>
          </a:xfrm>
        </p:grpSpPr>
        <p:sp>
          <p:nvSpPr>
            <p:cNvPr id="46" name="TextBox 7"/>
            <p:cNvSpPr txBox="1">
              <a:spLocks noChangeArrowheads="1"/>
            </p:cNvSpPr>
            <p:nvPr/>
          </p:nvSpPr>
          <p:spPr bwMode="auto">
            <a:xfrm>
              <a:off x="1143000" y="4800600"/>
              <a:ext cx="457200" cy="3690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    0  </a:t>
              </a:r>
            </a:p>
          </p:txBody>
        </p:sp>
        <p:sp>
          <p:nvSpPr>
            <p:cNvPr id="47" name="TextBox 8"/>
            <p:cNvSpPr txBox="1">
              <a:spLocks noChangeArrowheads="1"/>
            </p:cNvSpPr>
            <p:nvPr/>
          </p:nvSpPr>
          <p:spPr bwMode="auto">
            <a:xfrm>
              <a:off x="1267691" y="4467970"/>
              <a:ext cx="4572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1</a:t>
              </a:r>
            </a:p>
          </p:txBody>
        </p:sp>
      </p:grpSp>
      <p:grpSp>
        <p:nvGrpSpPr>
          <p:cNvPr id="48" name="Group 6"/>
          <p:cNvGrpSpPr>
            <a:grpSpLocks/>
          </p:cNvGrpSpPr>
          <p:nvPr/>
        </p:nvGrpSpPr>
        <p:grpSpPr bwMode="auto">
          <a:xfrm>
            <a:off x="1752600" y="4142599"/>
            <a:ext cx="783774" cy="674135"/>
            <a:chOff x="1142999" y="4496025"/>
            <a:chExt cx="457201" cy="673636"/>
          </a:xfrm>
        </p:grpSpPr>
        <p:sp>
          <p:nvSpPr>
            <p:cNvPr id="49" name="TextBox 7"/>
            <p:cNvSpPr txBox="1">
              <a:spLocks noChangeArrowheads="1"/>
            </p:cNvSpPr>
            <p:nvPr/>
          </p:nvSpPr>
          <p:spPr bwMode="auto">
            <a:xfrm>
              <a:off x="1143000" y="4800602"/>
              <a:ext cx="457200" cy="3690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  7  </a:t>
              </a:r>
            </a:p>
          </p:txBody>
        </p:sp>
        <p:sp>
          <p:nvSpPr>
            <p:cNvPr id="50" name="TextBox 8"/>
            <p:cNvSpPr txBox="1">
              <a:spLocks noChangeArrowheads="1"/>
            </p:cNvSpPr>
            <p:nvPr/>
          </p:nvSpPr>
          <p:spPr bwMode="auto">
            <a:xfrm>
              <a:off x="1142999" y="4496025"/>
              <a:ext cx="4572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14</a:t>
              </a:r>
            </a:p>
          </p:txBody>
        </p:sp>
      </p:grpSp>
      <p:grpSp>
        <p:nvGrpSpPr>
          <p:cNvPr id="51" name="Group 6"/>
          <p:cNvGrpSpPr>
            <a:grpSpLocks/>
          </p:cNvGrpSpPr>
          <p:nvPr/>
        </p:nvGrpSpPr>
        <p:grpSpPr bwMode="auto">
          <a:xfrm>
            <a:off x="4953000" y="4142601"/>
            <a:ext cx="859973" cy="663020"/>
            <a:chOff x="1219200" y="4507129"/>
            <a:chExt cx="501651" cy="662529"/>
          </a:xfrm>
        </p:grpSpPr>
        <p:sp>
          <p:nvSpPr>
            <p:cNvPr id="52" name="TextBox 7"/>
            <p:cNvSpPr txBox="1">
              <a:spLocks noChangeArrowheads="1"/>
            </p:cNvSpPr>
            <p:nvPr/>
          </p:nvSpPr>
          <p:spPr bwMode="auto">
            <a:xfrm>
              <a:off x="1219200" y="4800600"/>
              <a:ext cx="457200" cy="3690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  6  </a:t>
              </a:r>
            </a:p>
          </p:txBody>
        </p:sp>
        <p:sp>
          <p:nvSpPr>
            <p:cNvPr id="53" name="TextBox 8"/>
            <p:cNvSpPr txBox="1">
              <a:spLocks noChangeArrowheads="1"/>
            </p:cNvSpPr>
            <p:nvPr/>
          </p:nvSpPr>
          <p:spPr bwMode="auto">
            <a:xfrm>
              <a:off x="1263651" y="4507129"/>
              <a:ext cx="4572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11</a:t>
              </a:r>
            </a:p>
          </p:txBody>
        </p:sp>
      </p:grpSp>
      <p:grpSp>
        <p:nvGrpSpPr>
          <p:cNvPr id="54" name="Group 6"/>
          <p:cNvGrpSpPr>
            <a:grpSpLocks/>
          </p:cNvGrpSpPr>
          <p:nvPr/>
        </p:nvGrpSpPr>
        <p:grpSpPr bwMode="auto">
          <a:xfrm>
            <a:off x="3624942" y="4181789"/>
            <a:ext cx="794657" cy="663020"/>
            <a:chOff x="1170709" y="4507129"/>
            <a:chExt cx="505691" cy="662529"/>
          </a:xfrm>
        </p:grpSpPr>
        <p:sp>
          <p:nvSpPr>
            <p:cNvPr id="55" name="TextBox 7"/>
            <p:cNvSpPr txBox="1">
              <a:spLocks noChangeArrowheads="1"/>
            </p:cNvSpPr>
            <p:nvPr/>
          </p:nvSpPr>
          <p:spPr bwMode="auto">
            <a:xfrm>
              <a:off x="1170709" y="4800600"/>
              <a:ext cx="457200" cy="3690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  1  </a:t>
              </a:r>
            </a:p>
          </p:txBody>
        </p:sp>
        <p:sp>
          <p:nvSpPr>
            <p:cNvPr id="56" name="TextBox 8"/>
            <p:cNvSpPr txBox="1">
              <a:spLocks noChangeArrowheads="1"/>
            </p:cNvSpPr>
            <p:nvPr/>
          </p:nvSpPr>
          <p:spPr bwMode="auto">
            <a:xfrm>
              <a:off x="1219200" y="4507129"/>
              <a:ext cx="4572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1</a:t>
              </a:r>
            </a:p>
          </p:txBody>
        </p:sp>
      </p:grpSp>
      <p:grpSp>
        <p:nvGrpSpPr>
          <p:cNvPr id="57" name="Group 6"/>
          <p:cNvGrpSpPr>
            <a:grpSpLocks/>
          </p:cNvGrpSpPr>
          <p:nvPr/>
        </p:nvGrpSpPr>
        <p:grpSpPr bwMode="auto">
          <a:xfrm>
            <a:off x="6172200" y="4114800"/>
            <a:ext cx="914400" cy="702208"/>
            <a:chOff x="1143000" y="4467970"/>
            <a:chExt cx="581891" cy="701688"/>
          </a:xfrm>
        </p:grpSpPr>
        <p:sp>
          <p:nvSpPr>
            <p:cNvPr id="58" name="TextBox 7"/>
            <p:cNvSpPr txBox="1">
              <a:spLocks noChangeArrowheads="1"/>
            </p:cNvSpPr>
            <p:nvPr/>
          </p:nvSpPr>
          <p:spPr bwMode="auto">
            <a:xfrm>
              <a:off x="1143000" y="4800600"/>
              <a:ext cx="457200" cy="3690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    2  </a:t>
              </a:r>
            </a:p>
          </p:txBody>
        </p:sp>
        <p:sp>
          <p:nvSpPr>
            <p:cNvPr id="59" name="TextBox 8"/>
            <p:cNvSpPr txBox="1">
              <a:spLocks noChangeArrowheads="1"/>
            </p:cNvSpPr>
            <p:nvPr/>
          </p:nvSpPr>
          <p:spPr bwMode="auto">
            <a:xfrm>
              <a:off x="1267691" y="4467970"/>
              <a:ext cx="4572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4</a:t>
              </a:r>
            </a:p>
          </p:txBody>
        </p:sp>
      </p:grpSp>
      <p:sp>
        <p:nvSpPr>
          <p:cNvPr id="60" name="Rounded Rectangle 59"/>
          <p:cNvSpPr/>
          <p:nvPr/>
        </p:nvSpPr>
        <p:spPr>
          <a:xfrm>
            <a:off x="6172200" y="3352800"/>
            <a:ext cx="914400" cy="685800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ounded Rectangle 60"/>
          <p:cNvSpPr/>
          <p:nvPr/>
        </p:nvSpPr>
        <p:spPr>
          <a:xfrm>
            <a:off x="6324600" y="4191000"/>
            <a:ext cx="914400" cy="685800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  <p:bldP spid="35" grpId="0" animBg="1"/>
      <p:bldP spid="60" grpId="0" animBg="1"/>
      <p:bldP spid="6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001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800" b="1" dirty="0">
                <a:latin typeface="+mn-ea"/>
              </a:rPr>
              <a:t>25.2.2 </a:t>
            </a:r>
            <a:r>
              <a:rPr lang="zh-CN" altLang="en-US" sz="4800" b="1" dirty="0">
                <a:latin typeface="+mn-ea"/>
              </a:rPr>
              <a:t>核衰变的种类</a:t>
            </a:r>
            <a:endParaRPr lang="en-US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382000" cy="58674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zh-CN" altLang="en-US" sz="3000" dirty="0"/>
              <a:t>交流分享 </a:t>
            </a:r>
            <a:r>
              <a:rPr lang="zh-CN" altLang="en-US" sz="2400" dirty="0"/>
              <a:t>答案</a:t>
            </a:r>
            <a:r>
              <a:rPr lang="en-US" altLang="zh-CN" sz="2400" dirty="0"/>
              <a:t>pg345</a:t>
            </a:r>
            <a:endParaRPr lang="en-US" altLang="zh-CN" sz="3000" dirty="0"/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sz="3000" dirty="0"/>
              <a:t>如果质子数和质量数都减少</a:t>
            </a:r>
            <a:r>
              <a:rPr lang="en-US" altLang="zh-CN" sz="3000" dirty="0"/>
              <a:t>—</a:t>
            </a:r>
            <a:r>
              <a:rPr lang="zh-CN" altLang="en-US" sz="3000" dirty="0"/>
              <a:t>发生</a:t>
            </a:r>
            <a:r>
              <a:rPr lang="el-GR" altLang="zh-CN" sz="3000" dirty="0"/>
              <a:t>α</a:t>
            </a:r>
            <a:r>
              <a:rPr lang="zh-CN" altLang="en-US" sz="3000" dirty="0"/>
              <a:t>衰变。</a:t>
            </a:r>
            <a:endParaRPr lang="en-US" altLang="zh-CN" sz="3000" dirty="0"/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sz="3000" dirty="0"/>
              <a:t>如果质量数不变而质子数增加</a:t>
            </a:r>
            <a:r>
              <a:rPr lang="en-US" altLang="zh-CN" sz="3000" dirty="0"/>
              <a:t>—</a:t>
            </a:r>
            <a:r>
              <a:rPr lang="zh-CN" altLang="en-US" sz="3000" dirty="0"/>
              <a:t>发生</a:t>
            </a:r>
            <a:r>
              <a:rPr lang="el-GR" altLang="zh-CN" sz="3000" dirty="0"/>
              <a:t>β</a:t>
            </a:r>
            <a:r>
              <a:rPr lang="zh-CN" altLang="en-US" sz="3000" dirty="0"/>
              <a:t>衰变。</a:t>
            </a:r>
            <a:endParaRPr lang="en-US" altLang="zh-CN" sz="3000" dirty="0"/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sz="3000" dirty="0"/>
              <a:t>如果质子数和质量数都不变</a:t>
            </a:r>
            <a:r>
              <a:rPr lang="en-US" altLang="zh-CN" sz="3000" dirty="0"/>
              <a:t>—</a:t>
            </a:r>
            <a:r>
              <a:rPr lang="zh-CN" altLang="en-US" sz="3000" dirty="0"/>
              <a:t>发生</a:t>
            </a:r>
            <a:r>
              <a:rPr lang="el-GR" altLang="zh-CN" sz="3000" dirty="0"/>
              <a:t>γ</a:t>
            </a:r>
            <a:r>
              <a:rPr lang="zh-CN" altLang="en-US" sz="3000" dirty="0"/>
              <a:t>衰变。</a:t>
            </a:r>
            <a:endParaRPr lang="en-US" altLang="zh-CN" sz="3000" dirty="0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001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800" b="1" dirty="0">
                <a:latin typeface="+mn-ea"/>
              </a:rPr>
              <a:t>25.2.2 </a:t>
            </a:r>
            <a:r>
              <a:rPr lang="zh-CN" altLang="en-US" sz="4800" b="1" dirty="0">
                <a:latin typeface="+mn-ea"/>
              </a:rPr>
              <a:t>核衰变的种类</a:t>
            </a:r>
            <a:endParaRPr lang="en-US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382000" cy="58674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zh-CN" altLang="en-US" sz="3000" dirty="0"/>
              <a:t>资料链接</a:t>
            </a:r>
            <a:r>
              <a:rPr lang="en-US" altLang="zh-CN" sz="3000" dirty="0"/>
              <a:t>pg346</a:t>
            </a:r>
          </a:p>
          <a:p>
            <a:pPr>
              <a:lnSpc>
                <a:spcPct val="150000"/>
              </a:lnSpc>
              <a:buNone/>
            </a:pPr>
            <a:r>
              <a:rPr lang="zh-CN" altLang="en-US" sz="3000" dirty="0"/>
              <a:t>复杂的核反应往往同时伴随着一种以上的衰变。</a:t>
            </a:r>
            <a:endParaRPr lang="en-US" altLang="zh-CN" sz="3000" dirty="0"/>
          </a:p>
          <a:p>
            <a:pPr>
              <a:lnSpc>
                <a:spcPct val="150000"/>
              </a:lnSpc>
              <a:buNone/>
            </a:pPr>
            <a:r>
              <a:rPr lang="en-US" altLang="zh-CN" sz="3000" dirty="0"/>
              <a:t>(1) 		U   </a:t>
            </a:r>
            <a:r>
              <a:rPr lang="en-US" altLang="zh-CN" sz="3000" dirty="0">
                <a:sym typeface="Wingdings" pitchFamily="2" charset="2"/>
              </a:rPr>
              <a:t> 	</a:t>
            </a:r>
            <a:r>
              <a:rPr lang="en-US" altLang="zh-CN" sz="3000" dirty="0" err="1">
                <a:sym typeface="Wingdings" pitchFamily="2" charset="2"/>
              </a:rPr>
              <a:t>Pb</a:t>
            </a:r>
            <a:r>
              <a:rPr lang="en-US" altLang="zh-CN" sz="3000" dirty="0">
                <a:sym typeface="Wingdings" pitchFamily="2" charset="2"/>
              </a:rPr>
              <a:t>  + 	8   He  + 6 	  e</a:t>
            </a:r>
            <a:endParaRPr lang="en-US" altLang="zh-CN" sz="3000" dirty="0"/>
          </a:p>
          <a:p>
            <a:pPr>
              <a:lnSpc>
                <a:spcPct val="150000"/>
              </a:lnSpc>
              <a:buNone/>
            </a:pPr>
            <a:r>
              <a:rPr lang="en-US" altLang="zh-CN" sz="3000" dirty="0"/>
              <a:t>(2) 		</a:t>
            </a:r>
            <a:r>
              <a:rPr lang="en-US" altLang="zh-CN" sz="3000" dirty="0" err="1"/>
              <a:t>Th</a:t>
            </a:r>
            <a:r>
              <a:rPr lang="en-US" altLang="zh-CN" sz="3000" dirty="0"/>
              <a:t>  </a:t>
            </a:r>
            <a:r>
              <a:rPr lang="en-US" altLang="zh-CN" sz="3000" dirty="0">
                <a:sym typeface="Wingdings" pitchFamily="2" charset="2"/>
              </a:rPr>
              <a:t> 	</a:t>
            </a:r>
            <a:r>
              <a:rPr lang="en-US" altLang="zh-CN" sz="3000" dirty="0" err="1">
                <a:sym typeface="Wingdings" pitchFamily="2" charset="2"/>
              </a:rPr>
              <a:t>Pb</a:t>
            </a:r>
            <a:r>
              <a:rPr lang="en-US" altLang="zh-CN" sz="3000" dirty="0">
                <a:sym typeface="Wingdings" pitchFamily="2" charset="2"/>
              </a:rPr>
              <a:t>  + 	 6   He  + 4 	  e</a:t>
            </a:r>
            <a:endParaRPr lang="en-US" altLang="zh-CN" sz="3000" dirty="0"/>
          </a:p>
          <a:p>
            <a:pPr>
              <a:lnSpc>
                <a:spcPct val="150000"/>
              </a:lnSpc>
              <a:buNone/>
            </a:pPr>
            <a:r>
              <a:rPr lang="en-US" altLang="zh-CN" sz="3000" dirty="0"/>
              <a:t>(3)	 	U  </a:t>
            </a:r>
            <a:r>
              <a:rPr lang="en-US" altLang="zh-CN" sz="3000" dirty="0">
                <a:sym typeface="Wingdings" pitchFamily="2" charset="2"/>
              </a:rPr>
              <a:t> 		 </a:t>
            </a:r>
            <a:r>
              <a:rPr lang="en-US" altLang="zh-CN" sz="3000" dirty="0" err="1">
                <a:sym typeface="Wingdings" pitchFamily="2" charset="2"/>
              </a:rPr>
              <a:t>Pb</a:t>
            </a:r>
            <a:r>
              <a:rPr lang="en-US" altLang="zh-CN" sz="3000" dirty="0">
                <a:sym typeface="Wingdings" pitchFamily="2" charset="2"/>
              </a:rPr>
              <a:t>  +  7   He  + 4 	  e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3000" dirty="0"/>
              <a:t>		</a:t>
            </a:r>
            <a:r>
              <a:rPr lang="zh-CN" altLang="en-US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不是同一原子核同时放射</a:t>
            </a:r>
            <a:r>
              <a:rPr lang="el-GR" altLang="zh-CN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α</a:t>
            </a:r>
            <a:r>
              <a:rPr lang="zh-CN" altLang="en-US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及</a:t>
            </a:r>
            <a:r>
              <a:rPr lang="el-GR" altLang="zh-CN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β</a:t>
            </a:r>
            <a:r>
              <a:rPr lang="zh-CN" altLang="en-US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粒子</a:t>
            </a:r>
            <a:endParaRPr lang="en-US" altLang="zh-CN" sz="36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4" name="Group 6"/>
          <p:cNvGrpSpPr>
            <a:grpSpLocks/>
          </p:cNvGrpSpPr>
          <p:nvPr/>
        </p:nvGrpSpPr>
        <p:grpSpPr bwMode="auto">
          <a:xfrm>
            <a:off x="1676400" y="2638926"/>
            <a:ext cx="783773" cy="750614"/>
            <a:chOff x="1219200" y="4419600"/>
            <a:chExt cx="457201" cy="750058"/>
          </a:xfrm>
        </p:grpSpPr>
        <p:sp>
          <p:nvSpPr>
            <p:cNvPr id="7" name="TextBox 7"/>
            <p:cNvSpPr txBox="1">
              <a:spLocks noChangeArrowheads="1"/>
            </p:cNvSpPr>
            <p:nvPr/>
          </p:nvSpPr>
          <p:spPr bwMode="auto">
            <a:xfrm>
              <a:off x="1219200" y="4800600"/>
              <a:ext cx="457200" cy="3690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  92  </a:t>
              </a:r>
            </a:p>
          </p:txBody>
        </p:sp>
        <p:sp>
          <p:nvSpPr>
            <p:cNvPr id="8" name="TextBox 8"/>
            <p:cNvSpPr txBox="1">
              <a:spLocks noChangeArrowheads="1"/>
            </p:cNvSpPr>
            <p:nvPr/>
          </p:nvSpPr>
          <p:spPr bwMode="auto">
            <a:xfrm>
              <a:off x="1219201" y="4419600"/>
              <a:ext cx="4572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238</a:t>
              </a:r>
            </a:p>
          </p:txBody>
        </p:sp>
      </p:grpSp>
      <p:grpSp>
        <p:nvGrpSpPr>
          <p:cNvPr id="6" name="Group 6"/>
          <p:cNvGrpSpPr>
            <a:grpSpLocks/>
          </p:cNvGrpSpPr>
          <p:nvPr/>
        </p:nvGrpSpPr>
        <p:grpSpPr bwMode="auto">
          <a:xfrm>
            <a:off x="3483427" y="2627814"/>
            <a:ext cx="783773" cy="750614"/>
            <a:chOff x="1219200" y="4419600"/>
            <a:chExt cx="457201" cy="750058"/>
          </a:xfrm>
        </p:grpSpPr>
        <p:sp>
          <p:nvSpPr>
            <p:cNvPr id="10" name="TextBox 7"/>
            <p:cNvSpPr txBox="1">
              <a:spLocks noChangeArrowheads="1"/>
            </p:cNvSpPr>
            <p:nvPr/>
          </p:nvSpPr>
          <p:spPr bwMode="auto">
            <a:xfrm>
              <a:off x="1219200" y="4800600"/>
              <a:ext cx="457200" cy="3690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  82  </a:t>
              </a:r>
            </a:p>
          </p:txBody>
        </p:sp>
        <p:sp>
          <p:nvSpPr>
            <p:cNvPr id="11" name="TextBox 8"/>
            <p:cNvSpPr txBox="1">
              <a:spLocks noChangeArrowheads="1"/>
            </p:cNvSpPr>
            <p:nvPr/>
          </p:nvSpPr>
          <p:spPr bwMode="auto">
            <a:xfrm>
              <a:off x="1219201" y="4419600"/>
              <a:ext cx="4572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206</a:t>
              </a:r>
            </a:p>
          </p:txBody>
        </p:sp>
      </p:grpSp>
      <p:grpSp>
        <p:nvGrpSpPr>
          <p:cNvPr id="9" name="Group 6"/>
          <p:cNvGrpSpPr>
            <a:grpSpLocks/>
          </p:cNvGrpSpPr>
          <p:nvPr/>
        </p:nvGrpSpPr>
        <p:grpSpPr bwMode="auto">
          <a:xfrm>
            <a:off x="5105400" y="2638925"/>
            <a:ext cx="533400" cy="750888"/>
            <a:chOff x="1143000" y="4419600"/>
            <a:chExt cx="533400" cy="750332"/>
          </a:xfrm>
        </p:grpSpPr>
        <p:sp>
          <p:nvSpPr>
            <p:cNvPr id="13" name="TextBox 7"/>
            <p:cNvSpPr txBox="1">
              <a:spLocks noChangeArrowheads="1"/>
            </p:cNvSpPr>
            <p:nvPr/>
          </p:nvSpPr>
          <p:spPr bwMode="auto">
            <a:xfrm>
              <a:off x="1143000" y="4800600"/>
              <a:ext cx="4572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  2  </a:t>
              </a:r>
            </a:p>
          </p:txBody>
        </p:sp>
        <p:sp>
          <p:nvSpPr>
            <p:cNvPr id="14" name="TextBox 8"/>
            <p:cNvSpPr txBox="1">
              <a:spLocks noChangeArrowheads="1"/>
            </p:cNvSpPr>
            <p:nvPr/>
          </p:nvSpPr>
          <p:spPr bwMode="auto">
            <a:xfrm>
              <a:off x="1219200" y="4419600"/>
              <a:ext cx="4572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4</a:t>
              </a:r>
            </a:p>
          </p:txBody>
        </p:sp>
      </p:grpSp>
      <p:grpSp>
        <p:nvGrpSpPr>
          <p:cNvPr id="12" name="Group 6"/>
          <p:cNvGrpSpPr>
            <a:grpSpLocks/>
          </p:cNvGrpSpPr>
          <p:nvPr/>
        </p:nvGrpSpPr>
        <p:grpSpPr bwMode="auto">
          <a:xfrm>
            <a:off x="1676400" y="3429001"/>
            <a:ext cx="783773" cy="750614"/>
            <a:chOff x="1219200" y="4419600"/>
            <a:chExt cx="457201" cy="750058"/>
          </a:xfrm>
        </p:grpSpPr>
        <p:sp>
          <p:nvSpPr>
            <p:cNvPr id="16" name="TextBox 7"/>
            <p:cNvSpPr txBox="1">
              <a:spLocks noChangeArrowheads="1"/>
            </p:cNvSpPr>
            <p:nvPr/>
          </p:nvSpPr>
          <p:spPr bwMode="auto">
            <a:xfrm>
              <a:off x="1219200" y="4800600"/>
              <a:ext cx="457200" cy="3690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  90  </a:t>
              </a:r>
            </a:p>
          </p:txBody>
        </p:sp>
        <p:sp>
          <p:nvSpPr>
            <p:cNvPr id="17" name="TextBox 8"/>
            <p:cNvSpPr txBox="1">
              <a:spLocks noChangeArrowheads="1"/>
            </p:cNvSpPr>
            <p:nvPr/>
          </p:nvSpPr>
          <p:spPr bwMode="auto">
            <a:xfrm>
              <a:off x="1219201" y="4419600"/>
              <a:ext cx="4572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232</a:t>
              </a:r>
            </a:p>
          </p:txBody>
        </p:sp>
      </p:grpSp>
      <p:grpSp>
        <p:nvGrpSpPr>
          <p:cNvPr id="15" name="Group 6"/>
          <p:cNvGrpSpPr>
            <a:grpSpLocks/>
          </p:cNvGrpSpPr>
          <p:nvPr/>
        </p:nvGrpSpPr>
        <p:grpSpPr bwMode="auto">
          <a:xfrm>
            <a:off x="3483427" y="3417889"/>
            <a:ext cx="783773" cy="750614"/>
            <a:chOff x="1219200" y="4419600"/>
            <a:chExt cx="457201" cy="750058"/>
          </a:xfrm>
        </p:grpSpPr>
        <p:sp>
          <p:nvSpPr>
            <p:cNvPr id="19" name="TextBox 7"/>
            <p:cNvSpPr txBox="1">
              <a:spLocks noChangeArrowheads="1"/>
            </p:cNvSpPr>
            <p:nvPr/>
          </p:nvSpPr>
          <p:spPr bwMode="auto">
            <a:xfrm>
              <a:off x="1219200" y="4800600"/>
              <a:ext cx="457200" cy="3690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  82  </a:t>
              </a:r>
            </a:p>
          </p:txBody>
        </p:sp>
        <p:sp>
          <p:nvSpPr>
            <p:cNvPr id="20" name="TextBox 8"/>
            <p:cNvSpPr txBox="1">
              <a:spLocks noChangeArrowheads="1"/>
            </p:cNvSpPr>
            <p:nvPr/>
          </p:nvSpPr>
          <p:spPr bwMode="auto">
            <a:xfrm>
              <a:off x="1219201" y="4419600"/>
              <a:ext cx="4572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208</a:t>
              </a:r>
            </a:p>
          </p:txBody>
        </p:sp>
      </p:grpSp>
      <p:grpSp>
        <p:nvGrpSpPr>
          <p:cNvPr id="18" name="Group 6"/>
          <p:cNvGrpSpPr>
            <a:grpSpLocks/>
          </p:cNvGrpSpPr>
          <p:nvPr/>
        </p:nvGrpSpPr>
        <p:grpSpPr bwMode="auto">
          <a:xfrm>
            <a:off x="6553200" y="3429000"/>
            <a:ext cx="838200" cy="1027613"/>
            <a:chOff x="1143000" y="4419600"/>
            <a:chExt cx="533400" cy="1026852"/>
          </a:xfrm>
        </p:grpSpPr>
        <p:sp>
          <p:nvSpPr>
            <p:cNvPr id="22" name="TextBox 7"/>
            <p:cNvSpPr txBox="1">
              <a:spLocks noChangeArrowheads="1"/>
            </p:cNvSpPr>
            <p:nvPr/>
          </p:nvSpPr>
          <p:spPr bwMode="auto">
            <a:xfrm>
              <a:off x="1143000" y="4800600"/>
              <a:ext cx="457200" cy="6458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  -1  </a:t>
              </a:r>
            </a:p>
          </p:txBody>
        </p:sp>
        <p:sp>
          <p:nvSpPr>
            <p:cNvPr id="23" name="TextBox 8"/>
            <p:cNvSpPr txBox="1">
              <a:spLocks noChangeArrowheads="1"/>
            </p:cNvSpPr>
            <p:nvPr/>
          </p:nvSpPr>
          <p:spPr bwMode="auto">
            <a:xfrm>
              <a:off x="1219200" y="4419600"/>
              <a:ext cx="4572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0</a:t>
              </a:r>
            </a:p>
          </p:txBody>
        </p:sp>
      </p:grpSp>
      <p:grpSp>
        <p:nvGrpSpPr>
          <p:cNvPr id="21" name="Group 6"/>
          <p:cNvGrpSpPr>
            <a:grpSpLocks/>
          </p:cNvGrpSpPr>
          <p:nvPr/>
        </p:nvGrpSpPr>
        <p:grpSpPr bwMode="auto">
          <a:xfrm>
            <a:off x="1654627" y="4162925"/>
            <a:ext cx="805542" cy="750614"/>
            <a:chOff x="1085851" y="4419600"/>
            <a:chExt cx="469900" cy="750058"/>
          </a:xfrm>
        </p:grpSpPr>
        <p:sp>
          <p:nvSpPr>
            <p:cNvPr id="25" name="TextBox 7"/>
            <p:cNvSpPr txBox="1">
              <a:spLocks noChangeArrowheads="1"/>
            </p:cNvSpPr>
            <p:nvPr/>
          </p:nvSpPr>
          <p:spPr bwMode="auto">
            <a:xfrm>
              <a:off x="1085851" y="4800600"/>
              <a:ext cx="457200" cy="3690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  92  </a:t>
              </a:r>
            </a:p>
          </p:txBody>
        </p:sp>
        <p:sp>
          <p:nvSpPr>
            <p:cNvPr id="26" name="TextBox 8"/>
            <p:cNvSpPr txBox="1">
              <a:spLocks noChangeArrowheads="1"/>
            </p:cNvSpPr>
            <p:nvPr/>
          </p:nvSpPr>
          <p:spPr bwMode="auto">
            <a:xfrm>
              <a:off x="1098551" y="4419600"/>
              <a:ext cx="4572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235</a:t>
              </a:r>
            </a:p>
          </p:txBody>
        </p:sp>
      </p:grpSp>
      <p:grpSp>
        <p:nvGrpSpPr>
          <p:cNvPr id="24" name="Group 6"/>
          <p:cNvGrpSpPr>
            <a:grpSpLocks/>
          </p:cNvGrpSpPr>
          <p:nvPr/>
        </p:nvGrpSpPr>
        <p:grpSpPr bwMode="auto">
          <a:xfrm>
            <a:off x="3581401" y="4151813"/>
            <a:ext cx="838200" cy="750614"/>
            <a:chOff x="1187451" y="4419600"/>
            <a:chExt cx="488950" cy="750058"/>
          </a:xfrm>
        </p:grpSpPr>
        <p:sp>
          <p:nvSpPr>
            <p:cNvPr id="28" name="TextBox 7"/>
            <p:cNvSpPr txBox="1">
              <a:spLocks noChangeArrowheads="1"/>
            </p:cNvSpPr>
            <p:nvPr/>
          </p:nvSpPr>
          <p:spPr bwMode="auto">
            <a:xfrm>
              <a:off x="1187451" y="4800600"/>
              <a:ext cx="457200" cy="3690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  82  </a:t>
              </a:r>
            </a:p>
          </p:txBody>
        </p:sp>
        <p:sp>
          <p:nvSpPr>
            <p:cNvPr id="29" name="TextBox 8"/>
            <p:cNvSpPr txBox="1">
              <a:spLocks noChangeArrowheads="1"/>
            </p:cNvSpPr>
            <p:nvPr/>
          </p:nvSpPr>
          <p:spPr bwMode="auto">
            <a:xfrm>
              <a:off x="1219201" y="4419600"/>
              <a:ext cx="4572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207</a:t>
              </a:r>
            </a:p>
          </p:txBody>
        </p:sp>
      </p:grpSp>
      <p:grpSp>
        <p:nvGrpSpPr>
          <p:cNvPr id="27" name="Group 6"/>
          <p:cNvGrpSpPr>
            <a:grpSpLocks/>
          </p:cNvGrpSpPr>
          <p:nvPr/>
        </p:nvGrpSpPr>
        <p:grpSpPr bwMode="auto">
          <a:xfrm>
            <a:off x="6553200" y="4162924"/>
            <a:ext cx="838200" cy="1027613"/>
            <a:chOff x="1143000" y="4419600"/>
            <a:chExt cx="533400" cy="1026852"/>
          </a:xfrm>
        </p:grpSpPr>
        <p:sp>
          <p:nvSpPr>
            <p:cNvPr id="31" name="TextBox 7"/>
            <p:cNvSpPr txBox="1">
              <a:spLocks noChangeArrowheads="1"/>
            </p:cNvSpPr>
            <p:nvPr/>
          </p:nvSpPr>
          <p:spPr bwMode="auto">
            <a:xfrm>
              <a:off x="1143000" y="4800600"/>
              <a:ext cx="457200" cy="6458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  -1  </a:t>
              </a:r>
            </a:p>
          </p:txBody>
        </p:sp>
        <p:sp>
          <p:nvSpPr>
            <p:cNvPr id="32" name="TextBox 8"/>
            <p:cNvSpPr txBox="1">
              <a:spLocks noChangeArrowheads="1"/>
            </p:cNvSpPr>
            <p:nvPr/>
          </p:nvSpPr>
          <p:spPr bwMode="auto">
            <a:xfrm>
              <a:off x="1219200" y="4419600"/>
              <a:ext cx="4572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0</a:t>
              </a:r>
            </a:p>
          </p:txBody>
        </p:sp>
      </p:grpSp>
      <p:sp>
        <p:nvSpPr>
          <p:cNvPr id="33" name="Rounded Rectangle 32"/>
          <p:cNvSpPr/>
          <p:nvPr/>
        </p:nvSpPr>
        <p:spPr>
          <a:xfrm>
            <a:off x="4953000" y="2627813"/>
            <a:ext cx="914400" cy="685800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6" name="Group 6"/>
          <p:cNvGrpSpPr>
            <a:grpSpLocks/>
          </p:cNvGrpSpPr>
          <p:nvPr/>
        </p:nvGrpSpPr>
        <p:grpSpPr bwMode="auto">
          <a:xfrm>
            <a:off x="6477000" y="2590800"/>
            <a:ext cx="838200" cy="1027613"/>
            <a:chOff x="1143000" y="4419600"/>
            <a:chExt cx="533400" cy="1026852"/>
          </a:xfrm>
        </p:grpSpPr>
        <p:sp>
          <p:nvSpPr>
            <p:cNvPr id="37" name="TextBox 7"/>
            <p:cNvSpPr txBox="1">
              <a:spLocks noChangeArrowheads="1"/>
            </p:cNvSpPr>
            <p:nvPr/>
          </p:nvSpPr>
          <p:spPr bwMode="auto">
            <a:xfrm>
              <a:off x="1143000" y="4800600"/>
              <a:ext cx="457200" cy="6458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  -1  </a:t>
              </a:r>
            </a:p>
          </p:txBody>
        </p:sp>
        <p:sp>
          <p:nvSpPr>
            <p:cNvPr id="38" name="TextBox 8"/>
            <p:cNvSpPr txBox="1">
              <a:spLocks noChangeArrowheads="1"/>
            </p:cNvSpPr>
            <p:nvPr/>
          </p:nvSpPr>
          <p:spPr bwMode="auto">
            <a:xfrm>
              <a:off x="1219200" y="4419600"/>
              <a:ext cx="4572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0</a:t>
              </a:r>
            </a:p>
          </p:txBody>
        </p:sp>
      </p:grpSp>
      <p:sp>
        <p:nvSpPr>
          <p:cNvPr id="34" name="Rounded Rectangle 33"/>
          <p:cNvSpPr/>
          <p:nvPr/>
        </p:nvSpPr>
        <p:spPr>
          <a:xfrm>
            <a:off x="6248400" y="2627813"/>
            <a:ext cx="914400" cy="685800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9" name="Group 6"/>
          <p:cNvGrpSpPr>
            <a:grpSpLocks/>
          </p:cNvGrpSpPr>
          <p:nvPr/>
        </p:nvGrpSpPr>
        <p:grpSpPr bwMode="auto">
          <a:xfrm>
            <a:off x="5181600" y="3400925"/>
            <a:ext cx="533400" cy="750888"/>
            <a:chOff x="1143000" y="4419600"/>
            <a:chExt cx="533400" cy="750332"/>
          </a:xfrm>
        </p:grpSpPr>
        <p:sp>
          <p:nvSpPr>
            <p:cNvPr id="40" name="TextBox 7"/>
            <p:cNvSpPr txBox="1">
              <a:spLocks noChangeArrowheads="1"/>
            </p:cNvSpPr>
            <p:nvPr/>
          </p:nvSpPr>
          <p:spPr bwMode="auto">
            <a:xfrm>
              <a:off x="1143000" y="4800600"/>
              <a:ext cx="4572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  2  </a:t>
              </a:r>
            </a:p>
          </p:txBody>
        </p:sp>
        <p:sp>
          <p:nvSpPr>
            <p:cNvPr id="41" name="TextBox 8"/>
            <p:cNvSpPr txBox="1">
              <a:spLocks noChangeArrowheads="1"/>
            </p:cNvSpPr>
            <p:nvPr/>
          </p:nvSpPr>
          <p:spPr bwMode="auto">
            <a:xfrm>
              <a:off x="1219200" y="4419600"/>
              <a:ext cx="4572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4</a:t>
              </a:r>
            </a:p>
          </p:txBody>
        </p:sp>
      </p:grpSp>
      <p:grpSp>
        <p:nvGrpSpPr>
          <p:cNvPr id="42" name="Group 6"/>
          <p:cNvGrpSpPr>
            <a:grpSpLocks/>
          </p:cNvGrpSpPr>
          <p:nvPr/>
        </p:nvGrpSpPr>
        <p:grpSpPr bwMode="auto">
          <a:xfrm>
            <a:off x="5181600" y="4151813"/>
            <a:ext cx="533400" cy="750888"/>
            <a:chOff x="1143000" y="4419600"/>
            <a:chExt cx="533400" cy="750332"/>
          </a:xfrm>
        </p:grpSpPr>
        <p:sp>
          <p:nvSpPr>
            <p:cNvPr id="43" name="TextBox 7"/>
            <p:cNvSpPr txBox="1">
              <a:spLocks noChangeArrowheads="1"/>
            </p:cNvSpPr>
            <p:nvPr/>
          </p:nvSpPr>
          <p:spPr bwMode="auto">
            <a:xfrm>
              <a:off x="1143000" y="4800600"/>
              <a:ext cx="4572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  2  </a:t>
              </a:r>
            </a:p>
          </p:txBody>
        </p:sp>
        <p:sp>
          <p:nvSpPr>
            <p:cNvPr id="44" name="TextBox 8"/>
            <p:cNvSpPr txBox="1">
              <a:spLocks noChangeArrowheads="1"/>
            </p:cNvSpPr>
            <p:nvPr/>
          </p:nvSpPr>
          <p:spPr bwMode="auto">
            <a:xfrm>
              <a:off x="1219200" y="4419600"/>
              <a:ext cx="4572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4</a:t>
              </a:r>
            </a:p>
          </p:txBody>
        </p:sp>
      </p:grpSp>
      <p:sp>
        <p:nvSpPr>
          <p:cNvPr id="45" name="Rounded Rectangle 44"/>
          <p:cNvSpPr/>
          <p:nvPr/>
        </p:nvSpPr>
        <p:spPr>
          <a:xfrm>
            <a:off x="5029200" y="3389813"/>
            <a:ext cx="914400" cy="685800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ounded Rectangle 45"/>
          <p:cNvSpPr/>
          <p:nvPr/>
        </p:nvSpPr>
        <p:spPr>
          <a:xfrm>
            <a:off x="6324600" y="3389813"/>
            <a:ext cx="914400" cy="685800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ounded Rectangle 46"/>
          <p:cNvSpPr/>
          <p:nvPr/>
        </p:nvSpPr>
        <p:spPr>
          <a:xfrm>
            <a:off x="5029200" y="4228013"/>
            <a:ext cx="914400" cy="685800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ounded Rectangle 47"/>
          <p:cNvSpPr/>
          <p:nvPr/>
        </p:nvSpPr>
        <p:spPr>
          <a:xfrm>
            <a:off x="6324600" y="4228013"/>
            <a:ext cx="914400" cy="685800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3" grpId="0" animBg="1"/>
      <p:bldP spid="34" grpId="0" animBg="1"/>
      <p:bldP spid="45" grpId="0" animBg="1"/>
      <p:bldP spid="46" grpId="0" animBg="1"/>
      <p:bldP spid="47" grpId="0" animBg="1"/>
      <p:bldP spid="4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001000" cy="1202485"/>
          </a:xfrm>
        </p:spPr>
        <p:txBody>
          <a:bodyPr>
            <a:noAutofit/>
          </a:bodyPr>
          <a:lstStyle/>
          <a:p>
            <a:pPr algn="l"/>
            <a:r>
              <a:rPr lang="zh-CN" altLang="en-US" sz="4800" b="1" dirty="0">
                <a:latin typeface="+mn-ea"/>
              </a:rPr>
              <a:t>思考题</a:t>
            </a:r>
            <a:r>
              <a:rPr lang="en-US" altLang="zh-CN" sz="4800" b="1" dirty="0">
                <a:latin typeface="+mn-ea"/>
              </a:rPr>
              <a:t>25e</a:t>
            </a:r>
            <a:endParaRPr lang="en-US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382000" cy="58674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altLang="zh-CN" sz="3000" dirty="0"/>
              <a:t>1. 	   K </a:t>
            </a:r>
            <a:r>
              <a:rPr lang="en-US" altLang="zh-CN" sz="3000" dirty="0">
                <a:sym typeface="Wingdings" pitchFamily="2" charset="2"/>
              </a:rPr>
              <a:t> </a:t>
            </a:r>
            <a:r>
              <a:rPr lang="en-US" altLang="zh-CN" sz="3000" dirty="0"/>
              <a:t>       Ca  +        e</a:t>
            </a:r>
          </a:p>
          <a:p>
            <a:pPr>
              <a:buNone/>
            </a:pPr>
            <a:endParaRPr lang="en-US" altLang="zh-CN" sz="3000" dirty="0"/>
          </a:p>
          <a:p>
            <a:pPr>
              <a:buNone/>
            </a:pPr>
            <a:r>
              <a:rPr lang="en-US" altLang="zh-CN" sz="3000" dirty="0"/>
              <a:t>2. 		</a:t>
            </a:r>
            <a:r>
              <a:rPr lang="zh-CN" altLang="en-US" sz="3000" dirty="0"/>
              <a:t>中子</a:t>
            </a:r>
            <a:r>
              <a:rPr lang="en-US" altLang="zh-CN" sz="3000" dirty="0"/>
              <a:t>	 </a:t>
            </a:r>
            <a:r>
              <a:rPr lang="zh-CN" altLang="en-US" sz="3000" dirty="0"/>
              <a:t>质子</a:t>
            </a:r>
            <a:r>
              <a:rPr lang="en-US" altLang="zh-CN" sz="3000" dirty="0"/>
              <a:t>	</a:t>
            </a:r>
            <a:r>
              <a:rPr lang="zh-CN" altLang="en-US" sz="3000" dirty="0"/>
              <a:t>电子 正电子</a:t>
            </a:r>
            <a:r>
              <a:rPr lang="en-US" altLang="zh-CN" sz="3000" dirty="0"/>
              <a:t> </a:t>
            </a:r>
            <a:r>
              <a:rPr lang="el-GR" altLang="zh-CN" sz="3000" dirty="0"/>
              <a:t>α</a:t>
            </a:r>
            <a:r>
              <a:rPr lang="zh-CN" altLang="en-US" sz="3000" dirty="0"/>
              <a:t>粒子  </a:t>
            </a:r>
            <a:r>
              <a:rPr lang="el-GR" altLang="zh-CN" sz="3000" dirty="0"/>
              <a:t>β</a:t>
            </a:r>
            <a:r>
              <a:rPr lang="zh-CN" altLang="en-US" sz="3000" dirty="0"/>
              <a:t>粒子</a:t>
            </a:r>
            <a:endParaRPr lang="en-US" altLang="zh-CN" sz="3000" dirty="0"/>
          </a:p>
          <a:p>
            <a:pPr>
              <a:buNone/>
            </a:pPr>
            <a:r>
              <a:rPr lang="en-US" altLang="zh-CN" sz="3000" dirty="0"/>
              <a:t>	</a:t>
            </a:r>
            <a:r>
              <a:rPr lang="zh-CN" altLang="en-US" sz="3000" dirty="0"/>
              <a:t>电荷数：</a:t>
            </a:r>
            <a:r>
              <a:rPr lang="en-US" altLang="zh-CN" sz="3000" dirty="0"/>
              <a:t>0	+1	-1	  +1	     +2 	       -1</a:t>
            </a:r>
          </a:p>
          <a:p>
            <a:pPr>
              <a:buNone/>
            </a:pPr>
            <a:r>
              <a:rPr lang="en-US" altLang="zh-CN" sz="3000" dirty="0"/>
              <a:t>	</a:t>
            </a:r>
            <a:r>
              <a:rPr lang="zh-CN" altLang="en-US" sz="3000" dirty="0"/>
              <a:t>质量数：</a:t>
            </a:r>
            <a:r>
              <a:rPr lang="en-US" altLang="zh-CN" sz="3000" dirty="0"/>
              <a:t>1	1	0 	  0	       4	        0 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3000" dirty="0"/>
              <a:t>3. 	    Ra  </a:t>
            </a:r>
            <a:r>
              <a:rPr lang="en-US" altLang="zh-CN" sz="3000" dirty="0">
                <a:sym typeface="Wingdings" pitchFamily="2" charset="2"/>
              </a:rPr>
              <a:t>	</a:t>
            </a:r>
            <a:r>
              <a:rPr lang="en-US" altLang="zh-CN" sz="3000" dirty="0" err="1">
                <a:sym typeface="Wingdings" pitchFamily="2" charset="2"/>
              </a:rPr>
              <a:t>Rn</a:t>
            </a:r>
            <a:r>
              <a:rPr lang="en-US" altLang="zh-CN" sz="3000" dirty="0">
                <a:sym typeface="Wingdings" pitchFamily="2" charset="2"/>
              </a:rPr>
              <a:t>   +       He 	</a:t>
            </a:r>
            <a:r>
              <a:rPr lang="el-GR" altLang="zh-CN" sz="3000" dirty="0"/>
              <a:t> α</a:t>
            </a:r>
            <a:r>
              <a:rPr lang="zh-CN" altLang="en-US" sz="3000" dirty="0"/>
              <a:t>衰变</a:t>
            </a:r>
            <a:endParaRPr lang="en-US" altLang="zh-CN" sz="3000" dirty="0"/>
          </a:p>
          <a:p>
            <a:pPr>
              <a:lnSpc>
                <a:spcPct val="150000"/>
              </a:lnSpc>
              <a:buNone/>
            </a:pPr>
            <a:r>
              <a:rPr lang="en-US" altLang="zh-CN" sz="3000" dirty="0"/>
              <a:t>4. 	     Ne</a:t>
            </a:r>
            <a:r>
              <a:rPr lang="en-US" altLang="zh-CN" sz="3000" dirty="0">
                <a:sym typeface="Wingdings" pitchFamily="2" charset="2"/>
              </a:rPr>
              <a:t> 	Na   +       e		</a:t>
            </a:r>
            <a:r>
              <a:rPr lang="el-GR" altLang="zh-CN" sz="3000" dirty="0"/>
              <a:t> β</a:t>
            </a:r>
            <a:r>
              <a:rPr lang="zh-CN" altLang="en-US" sz="3000" dirty="0"/>
              <a:t>衰变</a:t>
            </a:r>
            <a:endParaRPr lang="en-US" altLang="zh-CN" sz="3000" dirty="0"/>
          </a:p>
        </p:txBody>
      </p:sp>
      <p:grpSp>
        <p:nvGrpSpPr>
          <p:cNvPr id="4" name="Group 6"/>
          <p:cNvGrpSpPr>
            <a:grpSpLocks/>
          </p:cNvGrpSpPr>
          <p:nvPr/>
        </p:nvGrpSpPr>
        <p:grpSpPr bwMode="auto">
          <a:xfrm>
            <a:off x="1197427" y="925786"/>
            <a:ext cx="783773" cy="750614"/>
            <a:chOff x="1219200" y="4419600"/>
            <a:chExt cx="457201" cy="750058"/>
          </a:xfrm>
        </p:grpSpPr>
        <p:sp>
          <p:nvSpPr>
            <p:cNvPr id="7" name="TextBox 7"/>
            <p:cNvSpPr txBox="1">
              <a:spLocks noChangeArrowheads="1"/>
            </p:cNvSpPr>
            <p:nvPr/>
          </p:nvSpPr>
          <p:spPr bwMode="auto">
            <a:xfrm>
              <a:off x="1219200" y="4800600"/>
              <a:ext cx="457200" cy="3690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19  </a:t>
              </a:r>
            </a:p>
          </p:txBody>
        </p:sp>
        <p:sp>
          <p:nvSpPr>
            <p:cNvPr id="8" name="TextBox 8"/>
            <p:cNvSpPr txBox="1">
              <a:spLocks noChangeArrowheads="1"/>
            </p:cNvSpPr>
            <p:nvPr/>
          </p:nvSpPr>
          <p:spPr bwMode="auto">
            <a:xfrm>
              <a:off x="1219201" y="4419600"/>
              <a:ext cx="4572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40</a:t>
              </a:r>
            </a:p>
          </p:txBody>
        </p:sp>
      </p:grpSp>
      <p:grpSp>
        <p:nvGrpSpPr>
          <p:cNvPr id="6" name="Group 6"/>
          <p:cNvGrpSpPr>
            <a:grpSpLocks/>
          </p:cNvGrpSpPr>
          <p:nvPr/>
        </p:nvGrpSpPr>
        <p:grpSpPr bwMode="auto">
          <a:xfrm>
            <a:off x="2569027" y="914674"/>
            <a:ext cx="783773" cy="750614"/>
            <a:chOff x="1219200" y="4419600"/>
            <a:chExt cx="457201" cy="750058"/>
          </a:xfrm>
        </p:grpSpPr>
        <p:sp>
          <p:nvSpPr>
            <p:cNvPr id="10" name="TextBox 7"/>
            <p:cNvSpPr txBox="1">
              <a:spLocks noChangeArrowheads="1"/>
            </p:cNvSpPr>
            <p:nvPr/>
          </p:nvSpPr>
          <p:spPr bwMode="auto">
            <a:xfrm>
              <a:off x="1219200" y="4800600"/>
              <a:ext cx="457200" cy="3690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20  </a:t>
              </a:r>
            </a:p>
          </p:txBody>
        </p:sp>
        <p:sp>
          <p:nvSpPr>
            <p:cNvPr id="11" name="TextBox 8"/>
            <p:cNvSpPr txBox="1">
              <a:spLocks noChangeArrowheads="1"/>
            </p:cNvSpPr>
            <p:nvPr/>
          </p:nvSpPr>
          <p:spPr bwMode="auto">
            <a:xfrm>
              <a:off x="1219201" y="4419600"/>
              <a:ext cx="4572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40</a:t>
              </a:r>
            </a:p>
          </p:txBody>
        </p:sp>
      </p:grpSp>
      <p:grpSp>
        <p:nvGrpSpPr>
          <p:cNvPr id="9" name="Group 6"/>
          <p:cNvGrpSpPr>
            <a:grpSpLocks/>
          </p:cNvGrpSpPr>
          <p:nvPr/>
        </p:nvGrpSpPr>
        <p:grpSpPr bwMode="auto">
          <a:xfrm>
            <a:off x="3962400" y="914400"/>
            <a:ext cx="609600" cy="750614"/>
            <a:chOff x="1143000" y="4419600"/>
            <a:chExt cx="609600" cy="750058"/>
          </a:xfrm>
        </p:grpSpPr>
        <p:sp>
          <p:nvSpPr>
            <p:cNvPr id="13" name="TextBox 7"/>
            <p:cNvSpPr txBox="1">
              <a:spLocks noChangeArrowheads="1"/>
            </p:cNvSpPr>
            <p:nvPr/>
          </p:nvSpPr>
          <p:spPr bwMode="auto">
            <a:xfrm>
              <a:off x="1143000" y="4800600"/>
              <a:ext cx="609600" cy="3690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  -1  </a:t>
              </a:r>
            </a:p>
          </p:txBody>
        </p:sp>
        <p:sp>
          <p:nvSpPr>
            <p:cNvPr id="14" name="TextBox 8"/>
            <p:cNvSpPr txBox="1">
              <a:spLocks noChangeArrowheads="1"/>
            </p:cNvSpPr>
            <p:nvPr/>
          </p:nvSpPr>
          <p:spPr bwMode="auto">
            <a:xfrm>
              <a:off x="1219200" y="4419600"/>
              <a:ext cx="4572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 0</a:t>
              </a:r>
            </a:p>
          </p:txBody>
        </p:sp>
      </p:grpSp>
      <p:grpSp>
        <p:nvGrpSpPr>
          <p:cNvPr id="12" name="Group 6"/>
          <p:cNvGrpSpPr>
            <a:grpSpLocks/>
          </p:cNvGrpSpPr>
          <p:nvPr/>
        </p:nvGrpSpPr>
        <p:grpSpPr bwMode="auto">
          <a:xfrm>
            <a:off x="1197427" y="3821112"/>
            <a:ext cx="783773" cy="750614"/>
            <a:chOff x="1219200" y="4419600"/>
            <a:chExt cx="457201" cy="750058"/>
          </a:xfrm>
        </p:grpSpPr>
        <p:sp>
          <p:nvSpPr>
            <p:cNvPr id="16" name="TextBox 7"/>
            <p:cNvSpPr txBox="1">
              <a:spLocks noChangeArrowheads="1"/>
            </p:cNvSpPr>
            <p:nvPr/>
          </p:nvSpPr>
          <p:spPr bwMode="auto">
            <a:xfrm>
              <a:off x="1219200" y="4800600"/>
              <a:ext cx="457200" cy="3690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  88  </a:t>
              </a:r>
            </a:p>
          </p:txBody>
        </p:sp>
        <p:sp>
          <p:nvSpPr>
            <p:cNvPr id="17" name="TextBox 8"/>
            <p:cNvSpPr txBox="1">
              <a:spLocks noChangeArrowheads="1"/>
            </p:cNvSpPr>
            <p:nvPr/>
          </p:nvSpPr>
          <p:spPr bwMode="auto">
            <a:xfrm>
              <a:off x="1219201" y="4419600"/>
              <a:ext cx="4572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226</a:t>
              </a:r>
            </a:p>
          </p:txBody>
        </p:sp>
      </p:grpSp>
      <p:grpSp>
        <p:nvGrpSpPr>
          <p:cNvPr id="15" name="Group 6"/>
          <p:cNvGrpSpPr>
            <a:grpSpLocks/>
          </p:cNvGrpSpPr>
          <p:nvPr/>
        </p:nvGrpSpPr>
        <p:grpSpPr bwMode="auto">
          <a:xfrm>
            <a:off x="2645227" y="3810000"/>
            <a:ext cx="783773" cy="750614"/>
            <a:chOff x="1219200" y="4419600"/>
            <a:chExt cx="457201" cy="750058"/>
          </a:xfrm>
        </p:grpSpPr>
        <p:sp>
          <p:nvSpPr>
            <p:cNvPr id="19" name="TextBox 7"/>
            <p:cNvSpPr txBox="1">
              <a:spLocks noChangeArrowheads="1"/>
            </p:cNvSpPr>
            <p:nvPr/>
          </p:nvSpPr>
          <p:spPr bwMode="auto">
            <a:xfrm>
              <a:off x="1219200" y="4800600"/>
              <a:ext cx="457200" cy="3690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  86  </a:t>
              </a:r>
            </a:p>
          </p:txBody>
        </p:sp>
        <p:sp>
          <p:nvSpPr>
            <p:cNvPr id="20" name="TextBox 8"/>
            <p:cNvSpPr txBox="1">
              <a:spLocks noChangeArrowheads="1"/>
            </p:cNvSpPr>
            <p:nvPr/>
          </p:nvSpPr>
          <p:spPr bwMode="auto">
            <a:xfrm>
              <a:off x="1219201" y="4419600"/>
              <a:ext cx="4572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222</a:t>
              </a:r>
            </a:p>
          </p:txBody>
        </p:sp>
      </p:grpSp>
      <p:grpSp>
        <p:nvGrpSpPr>
          <p:cNvPr id="18" name="Group 6"/>
          <p:cNvGrpSpPr>
            <a:grpSpLocks/>
          </p:cNvGrpSpPr>
          <p:nvPr/>
        </p:nvGrpSpPr>
        <p:grpSpPr bwMode="auto">
          <a:xfrm>
            <a:off x="4267200" y="4611187"/>
            <a:ext cx="838200" cy="1027613"/>
            <a:chOff x="1143000" y="4419600"/>
            <a:chExt cx="533400" cy="1026852"/>
          </a:xfrm>
        </p:grpSpPr>
        <p:sp>
          <p:nvSpPr>
            <p:cNvPr id="22" name="TextBox 7"/>
            <p:cNvSpPr txBox="1">
              <a:spLocks noChangeArrowheads="1"/>
            </p:cNvSpPr>
            <p:nvPr/>
          </p:nvSpPr>
          <p:spPr bwMode="auto">
            <a:xfrm>
              <a:off x="1143000" y="4800600"/>
              <a:ext cx="457200" cy="6458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  -1  </a:t>
              </a:r>
            </a:p>
          </p:txBody>
        </p:sp>
        <p:sp>
          <p:nvSpPr>
            <p:cNvPr id="23" name="TextBox 8"/>
            <p:cNvSpPr txBox="1">
              <a:spLocks noChangeArrowheads="1"/>
            </p:cNvSpPr>
            <p:nvPr/>
          </p:nvSpPr>
          <p:spPr bwMode="auto">
            <a:xfrm>
              <a:off x="1219200" y="4419600"/>
              <a:ext cx="4572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0</a:t>
              </a:r>
            </a:p>
          </p:txBody>
        </p:sp>
      </p:grpSp>
      <p:grpSp>
        <p:nvGrpSpPr>
          <p:cNvPr id="21" name="Group 6"/>
          <p:cNvGrpSpPr>
            <a:grpSpLocks/>
          </p:cNvGrpSpPr>
          <p:nvPr/>
        </p:nvGrpSpPr>
        <p:grpSpPr bwMode="auto">
          <a:xfrm>
            <a:off x="1295400" y="4583386"/>
            <a:ext cx="805542" cy="750614"/>
            <a:chOff x="1085851" y="4419600"/>
            <a:chExt cx="469900" cy="750058"/>
          </a:xfrm>
        </p:grpSpPr>
        <p:sp>
          <p:nvSpPr>
            <p:cNvPr id="25" name="TextBox 7"/>
            <p:cNvSpPr txBox="1">
              <a:spLocks noChangeArrowheads="1"/>
            </p:cNvSpPr>
            <p:nvPr/>
          </p:nvSpPr>
          <p:spPr bwMode="auto">
            <a:xfrm>
              <a:off x="1085851" y="4800600"/>
              <a:ext cx="457200" cy="3690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10  </a:t>
              </a:r>
            </a:p>
          </p:txBody>
        </p:sp>
        <p:sp>
          <p:nvSpPr>
            <p:cNvPr id="26" name="TextBox 8"/>
            <p:cNvSpPr txBox="1">
              <a:spLocks noChangeArrowheads="1"/>
            </p:cNvSpPr>
            <p:nvPr/>
          </p:nvSpPr>
          <p:spPr bwMode="auto">
            <a:xfrm>
              <a:off x="1098551" y="4419600"/>
              <a:ext cx="4572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23</a:t>
              </a:r>
            </a:p>
          </p:txBody>
        </p:sp>
      </p:grpSp>
      <p:grpSp>
        <p:nvGrpSpPr>
          <p:cNvPr id="24" name="Group 6"/>
          <p:cNvGrpSpPr>
            <a:grpSpLocks/>
          </p:cNvGrpSpPr>
          <p:nvPr/>
        </p:nvGrpSpPr>
        <p:grpSpPr bwMode="auto">
          <a:xfrm>
            <a:off x="2743200" y="4572000"/>
            <a:ext cx="838200" cy="750614"/>
            <a:chOff x="1187451" y="4419600"/>
            <a:chExt cx="488950" cy="750058"/>
          </a:xfrm>
        </p:grpSpPr>
        <p:sp>
          <p:nvSpPr>
            <p:cNvPr id="28" name="TextBox 7"/>
            <p:cNvSpPr txBox="1">
              <a:spLocks noChangeArrowheads="1"/>
            </p:cNvSpPr>
            <p:nvPr/>
          </p:nvSpPr>
          <p:spPr bwMode="auto">
            <a:xfrm>
              <a:off x="1187451" y="4800600"/>
              <a:ext cx="457200" cy="3690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  11  </a:t>
              </a:r>
            </a:p>
          </p:txBody>
        </p:sp>
        <p:sp>
          <p:nvSpPr>
            <p:cNvPr id="29" name="TextBox 8"/>
            <p:cNvSpPr txBox="1">
              <a:spLocks noChangeArrowheads="1"/>
            </p:cNvSpPr>
            <p:nvPr/>
          </p:nvSpPr>
          <p:spPr bwMode="auto">
            <a:xfrm>
              <a:off x="1219201" y="4419600"/>
              <a:ext cx="4572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23</a:t>
              </a:r>
            </a:p>
          </p:txBody>
        </p:sp>
      </p:grpSp>
      <p:sp>
        <p:nvSpPr>
          <p:cNvPr id="33" name="Rounded Rectangle 32"/>
          <p:cNvSpPr/>
          <p:nvPr/>
        </p:nvSpPr>
        <p:spPr>
          <a:xfrm>
            <a:off x="3886200" y="914400"/>
            <a:ext cx="914400" cy="685800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ounded Rectangle 33"/>
          <p:cNvSpPr/>
          <p:nvPr/>
        </p:nvSpPr>
        <p:spPr>
          <a:xfrm>
            <a:off x="5943600" y="3810000"/>
            <a:ext cx="1005840" cy="685800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6"/>
          <p:cNvGrpSpPr>
            <a:grpSpLocks/>
          </p:cNvGrpSpPr>
          <p:nvPr/>
        </p:nvGrpSpPr>
        <p:grpSpPr bwMode="auto">
          <a:xfrm>
            <a:off x="4267200" y="3810000"/>
            <a:ext cx="533400" cy="750888"/>
            <a:chOff x="1143000" y="4419600"/>
            <a:chExt cx="533400" cy="750332"/>
          </a:xfrm>
        </p:grpSpPr>
        <p:sp>
          <p:nvSpPr>
            <p:cNvPr id="40" name="TextBox 7"/>
            <p:cNvSpPr txBox="1">
              <a:spLocks noChangeArrowheads="1"/>
            </p:cNvSpPr>
            <p:nvPr/>
          </p:nvSpPr>
          <p:spPr bwMode="auto">
            <a:xfrm>
              <a:off x="1143000" y="4800600"/>
              <a:ext cx="4572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  2  </a:t>
              </a:r>
            </a:p>
          </p:txBody>
        </p:sp>
        <p:sp>
          <p:nvSpPr>
            <p:cNvPr id="41" name="TextBox 8"/>
            <p:cNvSpPr txBox="1">
              <a:spLocks noChangeArrowheads="1"/>
            </p:cNvSpPr>
            <p:nvPr/>
          </p:nvSpPr>
          <p:spPr bwMode="auto">
            <a:xfrm>
              <a:off x="1219200" y="4419600"/>
              <a:ext cx="4572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4</a:t>
              </a:r>
            </a:p>
          </p:txBody>
        </p:sp>
      </p:grpSp>
      <p:sp>
        <p:nvSpPr>
          <p:cNvPr id="45" name="Rounded Rectangle 44"/>
          <p:cNvSpPr/>
          <p:nvPr/>
        </p:nvSpPr>
        <p:spPr>
          <a:xfrm>
            <a:off x="4191000" y="3810000"/>
            <a:ext cx="914400" cy="685800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ounded Rectangle 46"/>
          <p:cNvSpPr/>
          <p:nvPr/>
        </p:nvSpPr>
        <p:spPr>
          <a:xfrm>
            <a:off x="4191000" y="4648200"/>
            <a:ext cx="914400" cy="685800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ounded Rectangle 47"/>
          <p:cNvSpPr/>
          <p:nvPr/>
        </p:nvSpPr>
        <p:spPr>
          <a:xfrm>
            <a:off x="5943600" y="4648200"/>
            <a:ext cx="1005840" cy="685800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3" grpId="0" animBg="1"/>
      <p:bldP spid="34" grpId="0" animBg="1"/>
      <p:bldP spid="45" grpId="0" animBg="1"/>
      <p:bldP spid="47" grpId="0" animBg="1"/>
      <p:bldP spid="4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001000" cy="1202485"/>
          </a:xfrm>
        </p:spPr>
        <p:txBody>
          <a:bodyPr>
            <a:noAutofit/>
          </a:bodyPr>
          <a:lstStyle/>
          <a:p>
            <a:pPr algn="l"/>
            <a:r>
              <a:rPr lang="zh-CN" altLang="en-US" sz="4800" b="1" dirty="0">
                <a:latin typeface="+mn-ea"/>
              </a:rPr>
              <a:t>统考题</a:t>
            </a:r>
            <a:endParaRPr lang="en-US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382000" cy="5867400"/>
          </a:xfrm>
        </p:spPr>
        <p:txBody>
          <a:bodyPr>
            <a:noAutofit/>
          </a:bodyPr>
          <a:lstStyle/>
          <a:p>
            <a:pPr marL="514350" indent="-514350">
              <a:buAutoNum type="arabicPeriod"/>
            </a:pPr>
            <a:r>
              <a:rPr lang="zh-CN" altLang="en-US" sz="3000" dirty="0"/>
              <a:t>在核聚变反应  </a:t>
            </a:r>
            <a:r>
              <a:rPr lang="en-US" altLang="zh-CN" sz="3000" baseline="30000" dirty="0"/>
              <a:t>2</a:t>
            </a:r>
            <a:r>
              <a:rPr lang="en-US" altLang="zh-CN" sz="3000" dirty="0"/>
              <a:t>H + </a:t>
            </a:r>
            <a:r>
              <a:rPr lang="en-US" altLang="zh-CN" sz="3000" baseline="30000" dirty="0"/>
              <a:t>3</a:t>
            </a:r>
            <a:r>
              <a:rPr lang="en-US" altLang="zh-CN" sz="3000" dirty="0"/>
              <a:t>H </a:t>
            </a:r>
            <a:r>
              <a:rPr lang="en-US" altLang="zh-CN" sz="3000" dirty="0">
                <a:sym typeface="Wingdings" pitchFamily="2" charset="2"/>
              </a:rPr>
              <a:t> </a:t>
            </a:r>
            <a:r>
              <a:rPr lang="en-US" altLang="zh-CN" sz="3000" baseline="30000" dirty="0">
                <a:sym typeface="Wingdings" pitchFamily="2" charset="2"/>
              </a:rPr>
              <a:t>4</a:t>
            </a:r>
            <a:r>
              <a:rPr lang="en-US" altLang="zh-CN" sz="3000" dirty="0">
                <a:sym typeface="Wingdings" pitchFamily="2" charset="2"/>
              </a:rPr>
              <a:t>He + y</a:t>
            </a:r>
            <a:r>
              <a:rPr lang="zh-CN" altLang="en-US" sz="3000" dirty="0">
                <a:sym typeface="Wingdings" pitchFamily="2" charset="2"/>
              </a:rPr>
              <a:t>里，</a:t>
            </a:r>
            <a:r>
              <a:rPr lang="en-US" altLang="zh-CN" sz="3000" dirty="0">
                <a:sym typeface="Wingdings" pitchFamily="2" charset="2"/>
              </a:rPr>
              <a:t>y</a:t>
            </a:r>
            <a:r>
              <a:rPr lang="zh-CN" altLang="en-US" sz="3000" dirty="0">
                <a:sym typeface="Wingdings" pitchFamily="2" charset="2"/>
              </a:rPr>
              <a:t>是指什么？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	A </a:t>
            </a:r>
            <a:r>
              <a:rPr lang="el-GR" altLang="zh-CN" sz="3000" dirty="0">
                <a:sym typeface="Wingdings" pitchFamily="2" charset="2"/>
              </a:rPr>
              <a:t>α</a:t>
            </a:r>
            <a:r>
              <a:rPr lang="zh-CN" altLang="en-US" sz="3000" dirty="0">
                <a:sym typeface="Wingdings" pitchFamily="2" charset="2"/>
              </a:rPr>
              <a:t>粒子</a:t>
            </a:r>
            <a:r>
              <a:rPr lang="en-US" altLang="zh-CN" sz="3000" dirty="0">
                <a:sym typeface="Wingdings" pitchFamily="2" charset="2"/>
              </a:rPr>
              <a:t>		B </a:t>
            </a:r>
            <a:r>
              <a:rPr lang="el-GR" altLang="zh-CN" sz="3000" dirty="0">
                <a:sym typeface="Wingdings" pitchFamily="2" charset="2"/>
              </a:rPr>
              <a:t>β</a:t>
            </a:r>
            <a:r>
              <a:rPr lang="zh-CN" altLang="en-US" sz="3000" dirty="0">
                <a:sym typeface="Wingdings" pitchFamily="2" charset="2"/>
              </a:rPr>
              <a:t>粒子</a:t>
            </a:r>
            <a:r>
              <a:rPr lang="en-US" altLang="zh-CN" sz="3000" dirty="0">
                <a:sym typeface="Wingdings" pitchFamily="2" charset="2"/>
              </a:rPr>
              <a:t>	C </a:t>
            </a:r>
            <a:r>
              <a:rPr lang="el-GR" altLang="zh-CN" sz="3000" dirty="0">
                <a:sym typeface="Wingdings" pitchFamily="2" charset="2"/>
              </a:rPr>
              <a:t>γ</a:t>
            </a:r>
            <a:r>
              <a:rPr lang="zh-CN" altLang="en-US" sz="3000" dirty="0">
                <a:sym typeface="Wingdings" pitchFamily="2" charset="2"/>
              </a:rPr>
              <a:t>射线</a:t>
            </a:r>
            <a:r>
              <a:rPr lang="en-US" altLang="zh-CN" sz="3000" dirty="0">
                <a:sym typeface="Wingdings" pitchFamily="2" charset="2"/>
              </a:rPr>
              <a:t>	D</a:t>
            </a:r>
            <a:r>
              <a:rPr lang="zh-CN" altLang="en-US" sz="3000" dirty="0">
                <a:sym typeface="Wingdings" pitchFamily="2" charset="2"/>
              </a:rPr>
              <a:t>中子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altLang="zh-CN" sz="3000" dirty="0" err="1">
                <a:sym typeface="Wingdings" pitchFamily="2" charset="2"/>
              </a:rPr>
              <a:t>Ans</a:t>
            </a:r>
            <a:r>
              <a:rPr lang="en-US" altLang="zh-CN" sz="3000" dirty="0">
                <a:sym typeface="Wingdings" pitchFamily="2" charset="2"/>
              </a:rPr>
              <a:t>: D</a:t>
            </a:r>
          </a:p>
          <a:p>
            <a:pPr marL="514350" indent="-514350">
              <a:buAutoNum type="arabicPeriod" startAt="2"/>
            </a:pPr>
            <a:r>
              <a:rPr lang="zh-CN" altLang="en-US" sz="3000" dirty="0">
                <a:sym typeface="Wingdings" pitchFamily="2" charset="2"/>
              </a:rPr>
              <a:t>         值大于</a:t>
            </a:r>
            <a:r>
              <a:rPr lang="en-US" altLang="zh-CN" sz="3000" dirty="0">
                <a:sym typeface="Wingdings" pitchFamily="2" charset="2"/>
              </a:rPr>
              <a:t>1</a:t>
            </a:r>
            <a:r>
              <a:rPr lang="zh-CN" altLang="en-US" sz="3000" dirty="0">
                <a:sym typeface="Wingdings" pitchFamily="2" charset="2"/>
              </a:rPr>
              <a:t>的原子核，会发生下列哪种衰变以达至稳定？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	A </a:t>
            </a:r>
            <a:r>
              <a:rPr lang="el-GR" altLang="zh-CN" sz="3000" dirty="0">
                <a:sym typeface="Wingdings" pitchFamily="2" charset="2"/>
              </a:rPr>
              <a:t>α</a:t>
            </a:r>
            <a:r>
              <a:rPr lang="zh-CN" altLang="en-US" sz="3000" dirty="0">
                <a:sym typeface="Wingdings" pitchFamily="2" charset="2"/>
              </a:rPr>
              <a:t>衰变</a:t>
            </a:r>
            <a:r>
              <a:rPr lang="en-US" altLang="zh-CN" sz="3000" dirty="0">
                <a:sym typeface="Wingdings" pitchFamily="2" charset="2"/>
              </a:rPr>
              <a:t>		B </a:t>
            </a:r>
            <a:r>
              <a:rPr lang="el-GR" altLang="zh-CN" sz="3000" dirty="0">
                <a:sym typeface="Wingdings" pitchFamily="2" charset="2"/>
              </a:rPr>
              <a:t>β</a:t>
            </a:r>
            <a:r>
              <a:rPr lang="zh-CN" altLang="en-US" sz="3000" dirty="0">
                <a:sym typeface="Wingdings" pitchFamily="2" charset="2"/>
              </a:rPr>
              <a:t>衰变</a:t>
            </a:r>
            <a:r>
              <a:rPr lang="en-US" altLang="zh-CN" sz="3000" dirty="0">
                <a:sym typeface="Wingdings" pitchFamily="2" charset="2"/>
              </a:rPr>
              <a:t>	C</a:t>
            </a:r>
            <a:r>
              <a:rPr lang="el-GR" altLang="zh-CN" sz="3000" dirty="0">
                <a:sym typeface="Wingdings" pitchFamily="2" charset="2"/>
              </a:rPr>
              <a:t> β</a:t>
            </a:r>
            <a:r>
              <a:rPr lang="en-US" altLang="zh-CN" sz="3000" baseline="30000" dirty="0">
                <a:sym typeface="Wingdings" pitchFamily="2" charset="2"/>
              </a:rPr>
              <a:t>+</a:t>
            </a:r>
            <a:r>
              <a:rPr lang="zh-CN" altLang="en-US" sz="3000" dirty="0">
                <a:sym typeface="Wingdings" pitchFamily="2" charset="2"/>
              </a:rPr>
              <a:t>衰变</a:t>
            </a:r>
            <a:r>
              <a:rPr lang="en-US" altLang="zh-CN" sz="3000" dirty="0">
                <a:sym typeface="Wingdings" pitchFamily="2" charset="2"/>
              </a:rPr>
              <a:t>	D</a:t>
            </a:r>
            <a:r>
              <a:rPr lang="zh-CN" altLang="en-US" sz="3000" dirty="0">
                <a:sym typeface="Wingdings" pitchFamily="2" charset="2"/>
              </a:rPr>
              <a:t>电子俘获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altLang="zh-CN" sz="3000" dirty="0" err="1">
                <a:sym typeface="Wingdings" pitchFamily="2" charset="2"/>
              </a:rPr>
              <a:t>Ans</a:t>
            </a:r>
            <a:r>
              <a:rPr lang="en-US" altLang="zh-CN" sz="3000" dirty="0">
                <a:sym typeface="Wingdings" pitchFamily="2" charset="2"/>
              </a:rPr>
              <a:t>: B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990600" y="2458760"/>
            <a:ext cx="702280" cy="817840"/>
            <a:chOff x="2881222" y="1573291"/>
            <a:chExt cx="530340" cy="817840"/>
          </a:xfrm>
        </p:grpSpPr>
        <p:grpSp>
          <p:nvGrpSpPr>
            <p:cNvPr id="7" name="Group 24"/>
            <p:cNvGrpSpPr/>
            <p:nvPr/>
          </p:nvGrpSpPr>
          <p:grpSpPr>
            <a:xfrm>
              <a:off x="2881222" y="1573291"/>
              <a:ext cx="530340" cy="523220"/>
              <a:chOff x="2881222" y="1573291"/>
              <a:chExt cx="530340" cy="523220"/>
            </a:xfrm>
          </p:grpSpPr>
          <p:cxnSp>
            <p:nvCxnSpPr>
              <p:cNvPr id="9" name="Straight Connector 8"/>
              <p:cNvCxnSpPr/>
              <p:nvPr/>
            </p:nvCxnSpPr>
            <p:spPr>
              <a:xfrm>
                <a:off x="2881222" y="2022478"/>
                <a:ext cx="414316" cy="1588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TextBox 9"/>
              <p:cNvSpPr txBox="1"/>
              <p:nvPr/>
            </p:nvSpPr>
            <p:spPr>
              <a:xfrm>
                <a:off x="2935660" y="1573291"/>
                <a:ext cx="47590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n</a:t>
                </a:r>
              </a:p>
            </p:txBody>
          </p:sp>
        </p:grpSp>
        <p:sp>
          <p:nvSpPr>
            <p:cNvPr id="8" name="TextBox 5"/>
            <p:cNvSpPr txBox="1"/>
            <p:nvPr/>
          </p:nvSpPr>
          <p:spPr>
            <a:xfrm>
              <a:off x="2938766" y="1867911"/>
              <a:ext cx="44629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/>
                <a:t>p </a:t>
              </a:r>
              <a:endParaRPr lang="en-US" sz="2800" dirty="0"/>
            </a:p>
          </p:txBody>
        </p:sp>
      </p:grp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001000" cy="1202485"/>
          </a:xfrm>
        </p:spPr>
        <p:txBody>
          <a:bodyPr>
            <a:noAutofit/>
          </a:bodyPr>
          <a:lstStyle/>
          <a:p>
            <a:pPr algn="l"/>
            <a:r>
              <a:rPr lang="zh-CN" altLang="en-US" sz="4800" b="1" dirty="0">
                <a:latin typeface="+mn-ea"/>
              </a:rPr>
              <a:t>历届考题</a:t>
            </a:r>
            <a:endParaRPr lang="en-US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382000" cy="5867400"/>
          </a:xfrm>
        </p:spPr>
        <p:txBody>
          <a:bodyPr>
            <a:noAutofit/>
          </a:bodyPr>
          <a:lstStyle/>
          <a:p>
            <a:pPr marL="514350" indent="-514350">
              <a:buAutoNum type="arabicPeriod"/>
            </a:pPr>
            <a:r>
              <a:rPr lang="en-US" altLang="zh-CN" sz="3000" dirty="0">
                <a:sym typeface="Wingdings" pitchFamily="2" charset="2"/>
              </a:rPr>
              <a:t>1mol       U</a:t>
            </a:r>
            <a:r>
              <a:rPr lang="zh-CN" altLang="en-US" sz="3000" dirty="0">
                <a:sym typeface="Wingdings" pitchFamily="2" charset="2"/>
              </a:rPr>
              <a:t>若它的衰变在</a:t>
            </a:r>
            <a:r>
              <a:rPr lang="en-US" altLang="zh-CN" sz="3000" dirty="0">
                <a:sym typeface="Wingdings" pitchFamily="2" charset="2"/>
              </a:rPr>
              <a:t>STP</a:t>
            </a:r>
            <a:r>
              <a:rPr lang="zh-CN" altLang="en-US" sz="3000" dirty="0">
                <a:sym typeface="Wingdings" pitchFamily="2" charset="2"/>
              </a:rPr>
              <a:t>时进行可生成</a:t>
            </a:r>
            <a:r>
              <a:rPr lang="en-US" altLang="zh-CN" sz="3000" dirty="0">
                <a:sym typeface="Wingdings" pitchFamily="2" charset="2"/>
              </a:rPr>
              <a:t>156.8L </a:t>
            </a:r>
            <a:r>
              <a:rPr lang="zh-CN" altLang="en-US" sz="3000" dirty="0">
                <a:sym typeface="Wingdings" pitchFamily="2" charset="2"/>
              </a:rPr>
              <a:t>的氦气又有</a:t>
            </a:r>
            <a:r>
              <a:rPr lang="en-US" altLang="zh-CN" sz="3000" dirty="0">
                <a:sym typeface="Wingdings" pitchFamily="2" charset="2"/>
              </a:rPr>
              <a:t>4</a:t>
            </a:r>
            <a:r>
              <a:rPr lang="zh-CN" altLang="en-US" sz="3000" dirty="0">
                <a:sym typeface="Wingdings" pitchFamily="2" charset="2"/>
              </a:rPr>
              <a:t>次</a:t>
            </a:r>
            <a:r>
              <a:rPr lang="el-GR" altLang="zh-CN" sz="3000" dirty="0">
                <a:sym typeface="Wingdings" pitchFamily="2" charset="2"/>
              </a:rPr>
              <a:t>β</a:t>
            </a:r>
            <a:r>
              <a:rPr lang="zh-CN" altLang="en-US" sz="3000" dirty="0">
                <a:sym typeface="Wingdings" pitchFamily="2" charset="2"/>
              </a:rPr>
              <a:t>衰变，则最后生成稳定核含有多少个中子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	A 143		B 129		C 124		D125</a:t>
            </a:r>
          </a:p>
          <a:p>
            <a:pPr marL="514350" indent="-514350">
              <a:buNone/>
            </a:pPr>
            <a:r>
              <a:rPr lang="en-US" altLang="zh-CN" sz="3000" dirty="0" err="1">
                <a:sym typeface="Wingdings" pitchFamily="2" charset="2"/>
              </a:rPr>
              <a:t>Ans</a:t>
            </a:r>
            <a:r>
              <a:rPr lang="en-US" altLang="zh-CN" sz="3000" dirty="0">
                <a:sym typeface="Wingdings" pitchFamily="2" charset="2"/>
              </a:rPr>
              <a:t>: D</a:t>
            </a:r>
          </a:p>
          <a:p>
            <a:pPr marL="514350" indent="-514350">
              <a:buAutoNum type="arabicPeriod" startAt="2"/>
            </a:pPr>
            <a:r>
              <a:rPr lang="zh-CN" altLang="en-US" sz="3000" dirty="0">
                <a:sym typeface="Wingdings" pitchFamily="2" charset="2"/>
              </a:rPr>
              <a:t>         值小于稳定带的原子核，会发生下列哪种衰变以达至稳定？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	  I </a:t>
            </a:r>
            <a:r>
              <a:rPr lang="el-GR" altLang="zh-CN" sz="3000" dirty="0">
                <a:sym typeface="Wingdings" pitchFamily="2" charset="2"/>
              </a:rPr>
              <a:t>α</a:t>
            </a:r>
            <a:r>
              <a:rPr lang="zh-CN" altLang="en-US" sz="3000" dirty="0">
                <a:sym typeface="Wingdings" pitchFamily="2" charset="2"/>
              </a:rPr>
              <a:t>衰变</a:t>
            </a:r>
            <a:r>
              <a:rPr lang="en-US" altLang="zh-CN" sz="3000" dirty="0">
                <a:sym typeface="Wingdings" pitchFamily="2" charset="2"/>
              </a:rPr>
              <a:t>     II </a:t>
            </a:r>
            <a:r>
              <a:rPr lang="el-GR" altLang="zh-CN" sz="3000" dirty="0">
                <a:sym typeface="Wingdings" pitchFamily="2" charset="2"/>
              </a:rPr>
              <a:t>β</a:t>
            </a:r>
            <a:r>
              <a:rPr lang="zh-CN" altLang="en-US" sz="3000" dirty="0">
                <a:sym typeface="Wingdings" pitchFamily="2" charset="2"/>
              </a:rPr>
              <a:t>衰变</a:t>
            </a:r>
            <a:r>
              <a:rPr lang="en-US" altLang="zh-CN" sz="3000" dirty="0">
                <a:sym typeface="Wingdings" pitchFamily="2" charset="2"/>
              </a:rPr>
              <a:t>	   III</a:t>
            </a:r>
            <a:r>
              <a:rPr lang="el-GR" altLang="zh-CN" sz="3000" dirty="0">
                <a:sym typeface="Wingdings" pitchFamily="2" charset="2"/>
              </a:rPr>
              <a:t> β</a:t>
            </a:r>
            <a:r>
              <a:rPr lang="en-US" altLang="zh-CN" sz="3000" baseline="30000" dirty="0">
                <a:sym typeface="Wingdings" pitchFamily="2" charset="2"/>
              </a:rPr>
              <a:t>+</a:t>
            </a:r>
            <a:r>
              <a:rPr lang="zh-CN" altLang="en-US" sz="3000" dirty="0">
                <a:sym typeface="Wingdings" pitchFamily="2" charset="2"/>
              </a:rPr>
              <a:t>衰变</a:t>
            </a:r>
            <a:r>
              <a:rPr lang="en-US" altLang="zh-CN" sz="3000" dirty="0">
                <a:sym typeface="Wingdings" pitchFamily="2" charset="2"/>
              </a:rPr>
              <a:t>     IV</a:t>
            </a:r>
            <a:r>
              <a:rPr lang="zh-CN" altLang="en-US" sz="3000" dirty="0">
                <a:sym typeface="Wingdings" pitchFamily="2" charset="2"/>
              </a:rPr>
              <a:t>电子俘获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			</a:t>
            </a:r>
            <a:r>
              <a:rPr lang="en-US" altLang="zh-CN" sz="3000" dirty="0" err="1">
                <a:sym typeface="Wingdings" pitchFamily="2" charset="2"/>
              </a:rPr>
              <a:t>Ans</a:t>
            </a:r>
            <a:r>
              <a:rPr lang="en-US" altLang="zh-CN" sz="3000" dirty="0">
                <a:sym typeface="Wingdings" pitchFamily="2" charset="2"/>
              </a:rPr>
              <a:t>: III</a:t>
            </a:r>
            <a:r>
              <a:rPr lang="zh-CN" altLang="en-US" sz="3000" dirty="0">
                <a:sym typeface="Wingdings" pitchFamily="2" charset="2"/>
              </a:rPr>
              <a:t>、</a:t>
            </a:r>
            <a:r>
              <a:rPr lang="en-US" altLang="zh-CN" sz="3000" dirty="0">
                <a:sym typeface="Wingdings" pitchFamily="2" charset="2"/>
              </a:rPr>
              <a:t>IV</a:t>
            </a:r>
          </a:p>
        </p:txBody>
      </p:sp>
      <p:grpSp>
        <p:nvGrpSpPr>
          <p:cNvPr id="4" name="Group 5"/>
          <p:cNvGrpSpPr/>
          <p:nvPr/>
        </p:nvGrpSpPr>
        <p:grpSpPr>
          <a:xfrm>
            <a:off x="1066800" y="3373160"/>
            <a:ext cx="702280" cy="817840"/>
            <a:chOff x="2881222" y="1573291"/>
            <a:chExt cx="530340" cy="817840"/>
          </a:xfrm>
        </p:grpSpPr>
        <p:grpSp>
          <p:nvGrpSpPr>
            <p:cNvPr id="6" name="Group 24"/>
            <p:cNvGrpSpPr/>
            <p:nvPr/>
          </p:nvGrpSpPr>
          <p:grpSpPr>
            <a:xfrm>
              <a:off x="2881222" y="1573291"/>
              <a:ext cx="530340" cy="523220"/>
              <a:chOff x="2881222" y="1573291"/>
              <a:chExt cx="530340" cy="523220"/>
            </a:xfrm>
          </p:grpSpPr>
          <p:cxnSp>
            <p:nvCxnSpPr>
              <p:cNvPr id="9" name="Straight Connector 8"/>
              <p:cNvCxnSpPr/>
              <p:nvPr/>
            </p:nvCxnSpPr>
            <p:spPr>
              <a:xfrm>
                <a:off x="2881222" y="2022478"/>
                <a:ext cx="414316" cy="1588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TextBox 9"/>
              <p:cNvSpPr txBox="1"/>
              <p:nvPr/>
            </p:nvSpPr>
            <p:spPr>
              <a:xfrm>
                <a:off x="2935660" y="1573291"/>
                <a:ext cx="47590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n</a:t>
                </a:r>
              </a:p>
            </p:txBody>
          </p:sp>
        </p:grpSp>
        <p:sp>
          <p:nvSpPr>
            <p:cNvPr id="8" name="TextBox 5"/>
            <p:cNvSpPr txBox="1"/>
            <p:nvPr/>
          </p:nvSpPr>
          <p:spPr>
            <a:xfrm>
              <a:off x="2938766" y="1867911"/>
              <a:ext cx="44629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/>
                <a:t>p </a:t>
              </a:r>
              <a:endParaRPr lang="en-US" sz="2800" dirty="0"/>
            </a:p>
          </p:txBody>
        </p:sp>
      </p:grpSp>
      <p:grpSp>
        <p:nvGrpSpPr>
          <p:cNvPr id="11" name="Group 6"/>
          <p:cNvGrpSpPr>
            <a:grpSpLocks/>
          </p:cNvGrpSpPr>
          <p:nvPr/>
        </p:nvGrpSpPr>
        <p:grpSpPr bwMode="auto">
          <a:xfrm>
            <a:off x="1730827" y="914401"/>
            <a:ext cx="783773" cy="750614"/>
            <a:chOff x="1219200" y="4419600"/>
            <a:chExt cx="457201" cy="750058"/>
          </a:xfrm>
        </p:grpSpPr>
        <p:sp>
          <p:nvSpPr>
            <p:cNvPr id="12" name="TextBox 7"/>
            <p:cNvSpPr txBox="1">
              <a:spLocks noChangeArrowheads="1"/>
            </p:cNvSpPr>
            <p:nvPr/>
          </p:nvSpPr>
          <p:spPr bwMode="auto">
            <a:xfrm>
              <a:off x="1219200" y="4800600"/>
              <a:ext cx="457200" cy="3690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  92  </a:t>
              </a:r>
            </a:p>
          </p:txBody>
        </p:sp>
        <p:sp>
          <p:nvSpPr>
            <p:cNvPr id="13" name="TextBox 8"/>
            <p:cNvSpPr txBox="1">
              <a:spLocks noChangeArrowheads="1"/>
            </p:cNvSpPr>
            <p:nvPr/>
          </p:nvSpPr>
          <p:spPr bwMode="auto">
            <a:xfrm>
              <a:off x="1219201" y="4419600"/>
              <a:ext cx="4572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235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001000" cy="1202485"/>
          </a:xfrm>
        </p:spPr>
        <p:txBody>
          <a:bodyPr>
            <a:noAutofit/>
          </a:bodyPr>
          <a:lstStyle/>
          <a:p>
            <a:pPr algn="l"/>
            <a:r>
              <a:rPr lang="zh-CN" altLang="en-US" sz="4800" b="1" dirty="0">
                <a:latin typeface="+mn-ea"/>
              </a:rPr>
              <a:t>历届考题</a:t>
            </a:r>
            <a:endParaRPr lang="en-US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382000" cy="5867400"/>
          </a:xfrm>
        </p:spPr>
        <p:txBody>
          <a:bodyPr>
            <a:noAutofit/>
          </a:bodyPr>
          <a:lstStyle/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3. </a:t>
            </a:r>
            <a:r>
              <a:rPr lang="zh-CN" altLang="en-US" sz="3000" dirty="0">
                <a:sym typeface="Wingdings" pitchFamily="2" charset="2"/>
              </a:rPr>
              <a:t>有一</a:t>
            </a:r>
            <a:r>
              <a:rPr lang="en-US" altLang="zh-CN" sz="3000" dirty="0">
                <a:sym typeface="Wingdings" pitchFamily="2" charset="2"/>
              </a:rPr>
              <a:t>IVA</a:t>
            </a:r>
            <a:r>
              <a:rPr lang="zh-CN" altLang="en-US" sz="3000" dirty="0">
                <a:sym typeface="Wingdings" pitchFamily="2" charset="2"/>
              </a:rPr>
              <a:t>族的放射性元素，它连续放射两个</a:t>
            </a:r>
            <a:r>
              <a:rPr lang="el-GR" altLang="zh-CN" sz="3000" dirty="0">
                <a:sym typeface="Wingdings" pitchFamily="2" charset="2"/>
              </a:rPr>
              <a:t>β</a:t>
            </a:r>
            <a:r>
              <a:rPr lang="en-US" altLang="zh-CN" sz="3000" baseline="30000" dirty="0">
                <a:sym typeface="Wingdings" pitchFamily="2" charset="2"/>
              </a:rPr>
              <a:t>+</a:t>
            </a:r>
            <a:r>
              <a:rPr lang="en-US" altLang="zh-CN" sz="3000" dirty="0">
                <a:sym typeface="Wingdings" pitchFamily="2" charset="2"/>
              </a:rPr>
              <a:t> </a:t>
            </a:r>
            <a:r>
              <a:rPr lang="zh-CN" altLang="en-US" sz="3000" dirty="0">
                <a:sym typeface="Wingdings" pitchFamily="2" charset="2"/>
              </a:rPr>
              <a:t>粒子，一个</a:t>
            </a:r>
            <a:r>
              <a:rPr lang="el-GR" altLang="zh-CN" sz="3000" dirty="0">
                <a:sym typeface="Wingdings" pitchFamily="2" charset="2"/>
              </a:rPr>
              <a:t>α</a:t>
            </a:r>
            <a:r>
              <a:rPr lang="zh-CN" altLang="en-US" sz="3000" dirty="0">
                <a:sym typeface="Wingdings" pitchFamily="2" charset="2"/>
              </a:rPr>
              <a:t>粒子和三个</a:t>
            </a:r>
            <a:r>
              <a:rPr lang="el-GR" altLang="zh-CN" sz="3000" dirty="0">
                <a:sym typeface="Wingdings" pitchFamily="2" charset="2"/>
              </a:rPr>
              <a:t>β</a:t>
            </a:r>
            <a:r>
              <a:rPr lang="zh-CN" altLang="en-US" sz="3000" dirty="0">
                <a:sym typeface="Wingdings" pitchFamily="2" charset="2"/>
              </a:rPr>
              <a:t>粒子后，则生成物位于周期表的哪一族？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	 </a:t>
            </a:r>
            <a:r>
              <a:rPr lang="en-US" altLang="zh-CN" sz="3000" dirty="0" err="1">
                <a:sym typeface="Wingdings" pitchFamily="2" charset="2"/>
              </a:rPr>
              <a:t>Ans</a:t>
            </a:r>
            <a:r>
              <a:rPr lang="en-US" altLang="zh-CN" sz="3000" dirty="0">
                <a:sym typeface="Wingdings" pitchFamily="2" charset="2"/>
              </a:rPr>
              <a:t>: </a:t>
            </a:r>
            <a:r>
              <a:rPr lang="en-US" altLang="zh-CN" sz="3000">
                <a:sym typeface="Wingdings" pitchFamily="2" charset="2"/>
              </a:rPr>
              <a:t>IIIA </a:t>
            </a:r>
            <a:endParaRPr lang="en-US" altLang="zh-CN" sz="3000" dirty="0"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001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800" b="1" dirty="0">
                <a:latin typeface="+mn-ea"/>
              </a:rPr>
              <a:t>25.2.2 </a:t>
            </a:r>
            <a:r>
              <a:rPr lang="zh-CN" altLang="en-US" sz="4800" b="1" dirty="0">
                <a:latin typeface="+mn-ea"/>
              </a:rPr>
              <a:t>核衰变的种类</a:t>
            </a:r>
            <a:endParaRPr lang="en-US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382000" cy="58674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zh-CN" altLang="en-US" sz="3000" dirty="0"/>
              <a:t>补充资料</a:t>
            </a:r>
            <a:endParaRPr lang="en-US" altLang="zh-CN" sz="3000" dirty="0"/>
          </a:p>
          <a:p>
            <a:pPr>
              <a:buFont typeface="Wingdings" pitchFamily="2" charset="2"/>
              <a:buChar char="ü"/>
            </a:pPr>
            <a:r>
              <a:rPr lang="zh-CN" altLang="en-US" sz="3000" dirty="0"/>
              <a:t>位移定律：放射性元素在进行衰变后，它在元素周期表的位置有所移动。</a:t>
            </a:r>
            <a:endParaRPr lang="en-US" altLang="zh-CN" sz="3000" dirty="0"/>
          </a:p>
          <a:p>
            <a:pPr>
              <a:buFont typeface="Wingdings" pitchFamily="2" charset="2"/>
              <a:buChar char="ü"/>
            </a:pPr>
            <a:endParaRPr lang="en-US" altLang="zh-CN" sz="3000" dirty="0"/>
          </a:p>
          <a:p>
            <a:pPr>
              <a:buFont typeface="Wingdings" pitchFamily="2" charset="2"/>
              <a:buChar char="ü"/>
            </a:pPr>
            <a:r>
              <a:rPr lang="zh-CN" altLang="en-US" sz="3000" dirty="0"/>
              <a:t>例题：位于</a:t>
            </a:r>
            <a:r>
              <a:rPr lang="en-US" altLang="zh-CN" sz="3000" dirty="0"/>
              <a:t>IIIA</a:t>
            </a:r>
            <a:r>
              <a:rPr lang="zh-CN" altLang="en-US" sz="3000" dirty="0"/>
              <a:t>族及第</a:t>
            </a:r>
            <a:r>
              <a:rPr lang="en-US" altLang="zh-CN" sz="3000" dirty="0"/>
              <a:t>4</a:t>
            </a:r>
            <a:r>
              <a:rPr lang="zh-CN" altLang="en-US" sz="3000" dirty="0"/>
              <a:t>周期的元素进行</a:t>
            </a:r>
            <a:r>
              <a:rPr lang="el-GR" altLang="zh-CN" sz="3000" dirty="0">
                <a:sym typeface="Wingdings" pitchFamily="2" charset="2"/>
              </a:rPr>
              <a:t>α</a:t>
            </a:r>
            <a:r>
              <a:rPr lang="zh-CN" altLang="en-US" sz="3000" dirty="0">
                <a:sym typeface="Wingdings" pitchFamily="2" charset="2"/>
              </a:rPr>
              <a:t>衰变后，形成</a:t>
            </a:r>
            <a:r>
              <a:rPr lang="en-US" altLang="zh-CN" sz="3000" dirty="0">
                <a:sym typeface="Wingdings" pitchFamily="2" charset="2"/>
              </a:rPr>
              <a:t>y</a:t>
            </a:r>
            <a:r>
              <a:rPr lang="zh-CN" altLang="en-US" sz="3000" dirty="0">
                <a:sym typeface="Wingdings" pitchFamily="2" charset="2"/>
              </a:rPr>
              <a:t>元素，问</a:t>
            </a:r>
            <a:r>
              <a:rPr lang="en-US" altLang="zh-CN" sz="3000" dirty="0">
                <a:sym typeface="Wingdings" pitchFamily="2" charset="2"/>
              </a:rPr>
              <a:t>y</a:t>
            </a:r>
            <a:r>
              <a:rPr lang="zh-CN" altLang="en-US" sz="3000" dirty="0">
                <a:sym typeface="Wingdings" pitchFamily="2" charset="2"/>
              </a:rPr>
              <a:t>元素位于元素周期表的什么位置？</a:t>
            </a:r>
            <a:endParaRPr lang="en-US" altLang="zh-CN" sz="3000" dirty="0">
              <a:sym typeface="Wingdings" pitchFamily="2" charset="2"/>
            </a:endParaRPr>
          </a:p>
          <a:p>
            <a:pPr>
              <a:buFont typeface="Wingdings" pitchFamily="2" charset="2"/>
              <a:buChar char="ü"/>
            </a:pPr>
            <a:r>
              <a:rPr lang="zh-CN" altLang="en-US" sz="3000" dirty="0">
                <a:sym typeface="Wingdings" pitchFamily="2" charset="2"/>
              </a:rPr>
              <a:t>答：</a:t>
            </a:r>
            <a:r>
              <a:rPr lang="en-US" altLang="zh-CN" sz="3000" dirty="0">
                <a:sym typeface="Wingdings" pitchFamily="2" charset="2"/>
              </a:rPr>
              <a:t>IB</a:t>
            </a:r>
            <a:r>
              <a:rPr lang="zh-CN" altLang="en-US" sz="3000" dirty="0">
                <a:sym typeface="Wingdings" pitchFamily="2" charset="2"/>
              </a:rPr>
              <a:t>族，第</a:t>
            </a:r>
            <a:r>
              <a:rPr lang="en-US" altLang="zh-CN" sz="3000" dirty="0">
                <a:sym typeface="Wingdings" pitchFamily="2" charset="2"/>
              </a:rPr>
              <a:t>4</a:t>
            </a:r>
            <a:r>
              <a:rPr lang="zh-CN" altLang="en-US" sz="3000" dirty="0">
                <a:sym typeface="Wingdings" pitchFamily="2" charset="2"/>
              </a:rPr>
              <a:t>周期。</a:t>
            </a:r>
            <a:endParaRPr lang="en-US" altLang="zh-CN" sz="3000" dirty="0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001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800" b="1" dirty="0">
                <a:latin typeface="+mn-ea"/>
              </a:rPr>
              <a:t>25.2.3 </a:t>
            </a:r>
            <a:r>
              <a:rPr lang="zh-CN" altLang="en-US" sz="4800" b="1" dirty="0">
                <a:latin typeface="+mn-ea"/>
              </a:rPr>
              <a:t>半衰期</a:t>
            </a:r>
            <a:endParaRPr lang="en-US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382000" cy="586740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Font typeface="Wingdings" pitchFamily="2" charset="2"/>
              <a:buChar char="ü"/>
            </a:pPr>
            <a:r>
              <a:rPr lang="zh-CN" altLang="en-US" sz="3000" dirty="0"/>
              <a:t>半衰期：放射性元素的原子核衰变到原来一半数量所需要的时间。符号 </a:t>
            </a:r>
            <a:r>
              <a:rPr lang="en-US" altLang="zh-CN" sz="3000" dirty="0"/>
              <a:t>T</a:t>
            </a:r>
            <a:r>
              <a:rPr lang="en-US" altLang="zh-CN" sz="3000" baseline="-25000" dirty="0"/>
              <a:t>1/2</a:t>
            </a:r>
            <a:r>
              <a:rPr lang="en-US" altLang="zh-CN" sz="3000" dirty="0"/>
              <a:t> </a:t>
            </a:r>
          </a:p>
          <a:p>
            <a:pPr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ü"/>
            </a:pPr>
            <a:r>
              <a:rPr lang="zh-CN" altLang="en-US" sz="3000" dirty="0"/>
              <a:t>衰变率</a:t>
            </a:r>
            <a:r>
              <a:rPr lang="en-US" altLang="zh-CN" sz="3000" dirty="0"/>
              <a:t>= -	= </a:t>
            </a:r>
            <a:r>
              <a:rPr lang="el-GR" altLang="zh-CN" sz="3000" dirty="0"/>
              <a:t>λ</a:t>
            </a:r>
            <a:r>
              <a:rPr lang="en-US" altLang="zh-CN" sz="3000" dirty="0"/>
              <a:t>N </a:t>
            </a:r>
          </a:p>
          <a:p>
            <a:pPr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ü"/>
            </a:pPr>
            <a:r>
              <a:rPr lang="zh-CN" altLang="en-US" sz="3000" dirty="0"/>
              <a:t>衰变常数</a:t>
            </a:r>
            <a:r>
              <a:rPr lang="el-GR" altLang="zh-CN" sz="3000" dirty="0"/>
              <a:t>λ</a:t>
            </a:r>
            <a:r>
              <a:rPr lang="zh-CN" altLang="en-US" sz="3000" dirty="0"/>
              <a:t>：某一放射性元素的特征常数。</a:t>
            </a:r>
            <a:endParaRPr lang="en-US" altLang="zh-CN" sz="3000" baseline="30000" dirty="0"/>
          </a:p>
          <a:p>
            <a:pPr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ü"/>
            </a:pPr>
            <a:r>
              <a:rPr lang="en-US" altLang="zh-CN" sz="3000" baseline="30000" dirty="0"/>
              <a:t> </a:t>
            </a:r>
            <a:r>
              <a:rPr lang="en-US" altLang="zh-CN" sz="3000" dirty="0"/>
              <a:t>	T</a:t>
            </a:r>
            <a:r>
              <a:rPr lang="en-US" altLang="zh-CN" sz="3000" baseline="-25000" dirty="0"/>
              <a:t>1/2</a:t>
            </a:r>
            <a:r>
              <a:rPr lang="en-US" altLang="zh-CN" sz="3000" dirty="0"/>
              <a:t> = </a:t>
            </a:r>
          </a:p>
          <a:p>
            <a:pPr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ü"/>
            </a:pPr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</a:t>
            </a:r>
            <a:r>
              <a:rPr lang="en-US" altLang="zh-CN" sz="3000" b="1" baseline="-25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1/2 </a:t>
            </a:r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与</a:t>
            </a:r>
            <a:r>
              <a:rPr lang="el-GR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λ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是放射性元素的特征常数，都不受外界温度、压强及化学变化的影响。</a:t>
            </a:r>
            <a:endParaRPr lang="en-US" altLang="zh-CN" sz="3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ü"/>
            </a:pP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	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剩余的分数  </a:t>
            </a:r>
            <a:endParaRPr lang="en-US" altLang="zh-CN" sz="3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2380811" y="1905000"/>
            <a:ext cx="667189" cy="914400"/>
            <a:chOff x="2881222" y="1552931"/>
            <a:chExt cx="503840" cy="914400"/>
          </a:xfrm>
        </p:grpSpPr>
        <p:grpSp>
          <p:nvGrpSpPr>
            <p:cNvPr id="7" name="Group 24"/>
            <p:cNvGrpSpPr/>
            <p:nvPr/>
          </p:nvGrpSpPr>
          <p:grpSpPr>
            <a:xfrm>
              <a:off x="2881222" y="1552931"/>
              <a:ext cx="488345" cy="523220"/>
              <a:chOff x="2881222" y="1552931"/>
              <a:chExt cx="488345" cy="523220"/>
            </a:xfrm>
          </p:grpSpPr>
          <p:cxnSp>
            <p:nvCxnSpPr>
              <p:cNvPr id="9" name="Straight Connector 8"/>
              <p:cNvCxnSpPr/>
              <p:nvPr/>
            </p:nvCxnSpPr>
            <p:spPr>
              <a:xfrm>
                <a:off x="2881222" y="2022478"/>
                <a:ext cx="414316" cy="1588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TextBox 9"/>
              <p:cNvSpPr txBox="1"/>
              <p:nvPr/>
            </p:nvSpPr>
            <p:spPr>
              <a:xfrm>
                <a:off x="2893665" y="1552931"/>
                <a:ext cx="47590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 err="1"/>
                  <a:t>dN</a:t>
                </a:r>
                <a:r>
                  <a:rPr lang="en-US" sz="2800" dirty="0"/>
                  <a:t> </a:t>
                </a:r>
              </a:p>
            </p:txBody>
          </p:sp>
        </p:grpSp>
        <p:sp>
          <p:nvSpPr>
            <p:cNvPr id="8" name="TextBox 5"/>
            <p:cNvSpPr txBox="1"/>
            <p:nvPr/>
          </p:nvSpPr>
          <p:spPr>
            <a:xfrm>
              <a:off x="2938766" y="1944111"/>
              <a:ext cx="44629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/>
                <a:t>dt </a:t>
              </a:r>
              <a:endParaRPr lang="en-US" sz="2800" dirty="0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2286000" y="3263205"/>
            <a:ext cx="1524002" cy="1384995"/>
            <a:chOff x="2881222" y="1552931"/>
            <a:chExt cx="592754" cy="1384995"/>
          </a:xfrm>
        </p:grpSpPr>
        <p:grpSp>
          <p:nvGrpSpPr>
            <p:cNvPr id="17" name="Group 24"/>
            <p:cNvGrpSpPr/>
            <p:nvPr/>
          </p:nvGrpSpPr>
          <p:grpSpPr>
            <a:xfrm>
              <a:off x="2881222" y="1552931"/>
              <a:ext cx="488345" cy="1384995"/>
              <a:chOff x="2881222" y="1552931"/>
              <a:chExt cx="488345" cy="1384995"/>
            </a:xfrm>
          </p:grpSpPr>
          <p:cxnSp>
            <p:nvCxnSpPr>
              <p:cNvPr id="19" name="Straight Connector 18"/>
              <p:cNvCxnSpPr/>
              <p:nvPr/>
            </p:nvCxnSpPr>
            <p:spPr>
              <a:xfrm>
                <a:off x="2881222" y="2022478"/>
                <a:ext cx="414316" cy="1588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TextBox 19"/>
              <p:cNvSpPr txBox="1"/>
              <p:nvPr/>
            </p:nvSpPr>
            <p:spPr>
              <a:xfrm>
                <a:off x="2893665" y="1552931"/>
                <a:ext cx="475902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dirty="0"/>
                  <a:t>0.693</a:t>
                </a:r>
                <a:r>
                  <a:rPr lang="en-US" sz="2800" dirty="0"/>
                  <a:t> </a:t>
                </a:r>
              </a:p>
            </p:txBody>
          </p:sp>
        </p:grpSp>
        <p:sp>
          <p:nvSpPr>
            <p:cNvPr id="18" name="TextBox 5"/>
            <p:cNvSpPr txBox="1"/>
            <p:nvPr/>
          </p:nvSpPr>
          <p:spPr>
            <a:xfrm>
              <a:off x="3027680" y="1944111"/>
              <a:ext cx="44629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/>
                <a:t>λ </a:t>
              </a:r>
              <a:endParaRPr lang="en-US" sz="2800" dirty="0"/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4343400" y="5105400"/>
            <a:ext cx="3429000" cy="1219200"/>
            <a:chOff x="2971800" y="5105400"/>
            <a:chExt cx="3429000" cy="1219200"/>
          </a:xfrm>
        </p:grpSpPr>
        <p:grpSp>
          <p:nvGrpSpPr>
            <p:cNvPr id="26" name="Group 25"/>
            <p:cNvGrpSpPr/>
            <p:nvPr/>
          </p:nvGrpSpPr>
          <p:grpSpPr>
            <a:xfrm>
              <a:off x="5428809" y="5105400"/>
              <a:ext cx="971991" cy="795755"/>
              <a:chOff x="2881222" y="1610021"/>
              <a:chExt cx="488345" cy="795755"/>
            </a:xfrm>
          </p:grpSpPr>
          <p:grpSp>
            <p:nvGrpSpPr>
              <p:cNvPr id="27" name="Group 24"/>
              <p:cNvGrpSpPr/>
              <p:nvPr/>
            </p:nvGrpSpPr>
            <p:grpSpPr>
              <a:xfrm>
                <a:off x="2881222" y="1610021"/>
                <a:ext cx="488345" cy="461665"/>
                <a:chOff x="2881222" y="1610021"/>
                <a:chExt cx="488345" cy="461665"/>
              </a:xfrm>
            </p:grpSpPr>
            <p:cxnSp>
              <p:nvCxnSpPr>
                <p:cNvPr id="29" name="Straight Connector 28"/>
                <p:cNvCxnSpPr/>
                <p:nvPr/>
              </p:nvCxnSpPr>
              <p:spPr>
                <a:xfrm>
                  <a:off x="2881222" y="2022478"/>
                  <a:ext cx="275646" cy="1588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0" name="TextBox 29"/>
                <p:cNvSpPr txBox="1"/>
                <p:nvPr/>
              </p:nvSpPr>
              <p:spPr>
                <a:xfrm>
                  <a:off x="2893665" y="1610021"/>
                  <a:ext cx="475902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dirty="0"/>
                    <a:t>t </a:t>
                  </a:r>
                </a:p>
              </p:txBody>
            </p:sp>
          </p:grpSp>
          <p:sp>
            <p:nvSpPr>
              <p:cNvPr id="28" name="TextBox 5"/>
              <p:cNvSpPr txBox="1"/>
              <p:nvPr/>
            </p:nvSpPr>
            <p:spPr>
              <a:xfrm>
                <a:off x="2881224" y="1944111"/>
                <a:ext cx="44629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/>
                  <a:t>T</a:t>
                </a:r>
                <a:r>
                  <a:rPr lang="en-US" altLang="zh-CN" sz="2400" baseline="-25000" dirty="0"/>
                  <a:t>1/2</a:t>
                </a:r>
                <a:r>
                  <a:rPr lang="en-US" altLang="zh-CN" sz="2400" dirty="0"/>
                  <a:t>  </a:t>
                </a:r>
                <a:endParaRPr lang="en-US" sz="2400" dirty="0"/>
              </a:p>
            </p:txBody>
          </p:sp>
        </p:grpSp>
        <p:grpSp>
          <p:nvGrpSpPr>
            <p:cNvPr id="31" name="Group 30"/>
            <p:cNvGrpSpPr/>
            <p:nvPr/>
          </p:nvGrpSpPr>
          <p:grpSpPr>
            <a:xfrm>
              <a:off x="2971800" y="5281137"/>
              <a:ext cx="2209800" cy="1043463"/>
              <a:chOff x="2209800" y="2234625"/>
              <a:chExt cx="2209800" cy="1043463"/>
            </a:xfrm>
          </p:grpSpPr>
          <p:grpSp>
            <p:nvGrpSpPr>
              <p:cNvPr id="32" name="Group 4"/>
              <p:cNvGrpSpPr/>
              <p:nvPr/>
            </p:nvGrpSpPr>
            <p:grpSpPr>
              <a:xfrm>
                <a:off x="2209800" y="2234625"/>
                <a:ext cx="2209800" cy="1043463"/>
                <a:chOff x="2209800" y="1396425"/>
                <a:chExt cx="2209800" cy="1043463"/>
              </a:xfrm>
            </p:grpSpPr>
            <p:grpSp>
              <p:nvGrpSpPr>
                <p:cNvPr id="34" name="Group 10"/>
                <p:cNvGrpSpPr/>
                <p:nvPr/>
              </p:nvGrpSpPr>
              <p:grpSpPr>
                <a:xfrm>
                  <a:off x="2209800" y="1396425"/>
                  <a:ext cx="2209800" cy="1043463"/>
                  <a:chOff x="2209800" y="1396425"/>
                  <a:chExt cx="2209800" cy="1043463"/>
                </a:xfrm>
              </p:grpSpPr>
              <p:sp>
                <p:nvSpPr>
                  <p:cNvPr id="36" name="TextBox 35"/>
                  <p:cNvSpPr txBox="1"/>
                  <p:nvPr/>
                </p:nvSpPr>
                <p:spPr>
                  <a:xfrm>
                    <a:off x="2438400" y="1447800"/>
                    <a:ext cx="685800" cy="58477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3200" b="1" dirty="0"/>
                      <a:t>N</a:t>
                    </a:r>
                    <a:endParaRPr lang="en-US" sz="3200" b="1" dirty="0"/>
                  </a:p>
                </p:txBody>
              </p:sp>
              <p:cxnSp>
                <p:nvCxnSpPr>
                  <p:cNvPr id="37" name="Straight Connector 36"/>
                  <p:cNvCxnSpPr/>
                  <p:nvPr/>
                </p:nvCxnSpPr>
                <p:spPr>
                  <a:xfrm>
                    <a:off x="2209800" y="1905000"/>
                    <a:ext cx="838200" cy="1588"/>
                  </a:xfrm>
                  <a:prstGeom prst="line">
                    <a:avLst/>
                  </a:prstGeom>
                  <a:ln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" name="Straight Connector 37"/>
                  <p:cNvCxnSpPr/>
                  <p:nvPr/>
                </p:nvCxnSpPr>
                <p:spPr>
                  <a:xfrm>
                    <a:off x="3581400" y="1905000"/>
                    <a:ext cx="838200" cy="1588"/>
                  </a:xfrm>
                  <a:prstGeom prst="line">
                    <a:avLst/>
                  </a:prstGeom>
                  <a:ln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9" name="TextBox 38"/>
                  <p:cNvSpPr txBox="1"/>
                  <p:nvPr/>
                </p:nvSpPr>
                <p:spPr>
                  <a:xfrm>
                    <a:off x="2438400" y="1855113"/>
                    <a:ext cx="685800" cy="58477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3200" b="1" dirty="0"/>
                      <a:t>N</a:t>
                    </a:r>
                    <a:r>
                      <a:rPr lang="en-US" altLang="zh-CN" sz="3200" b="1" baseline="-25000" dirty="0"/>
                      <a:t>0</a:t>
                    </a:r>
                    <a:endParaRPr lang="en-US" sz="3200" b="1" dirty="0"/>
                  </a:p>
                </p:txBody>
              </p:sp>
              <p:sp>
                <p:nvSpPr>
                  <p:cNvPr id="40" name="TextBox 39"/>
                  <p:cNvSpPr txBox="1"/>
                  <p:nvPr/>
                </p:nvSpPr>
                <p:spPr>
                  <a:xfrm>
                    <a:off x="3733800" y="1396425"/>
                    <a:ext cx="685800" cy="58477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3200" b="1" dirty="0"/>
                      <a:t>1</a:t>
                    </a:r>
                    <a:endParaRPr lang="en-US" sz="3200" b="1" dirty="0"/>
                  </a:p>
                </p:txBody>
              </p:sp>
            </p:grpSp>
            <p:sp>
              <p:nvSpPr>
                <p:cNvPr id="35" name="TextBox 34"/>
                <p:cNvSpPr txBox="1"/>
                <p:nvPr/>
              </p:nvSpPr>
              <p:spPr>
                <a:xfrm>
                  <a:off x="3733800" y="1855113"/>
                  <a:ext cx="685800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3200" b="1" dirty="0"/>
                    <a:t>2</a:t>
                  </a:r>
                  <a:endParaRPr lang="en-US" sz="3200" b="1" dirty="0"/>
                </a:p>
              </p:txBody>
            </p:sp>
          </p:grpSp>
          <p:sp>
            <p:nvSpPr>
              <p:cNvPr id="33" name="TextBox 32"/>
              <p:cNvSpPr txBox="1"/>
              <p:nvPr/>
            </p:nvSpPr>
            <p:spPr>
              <a:xfrm>
                <a:off x="3200400" y="2540913"/>
                <a:ext cx="68580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b="1" dirty="0"/>
                  <a:t>=</a:t>
                </a:r>
                <a:endParaRPr lang="en-US" sz="3200" b="1" dirty="0"/>
              </a:p>
            </p:txBody>
          </p:sp>
        </p:grpSp>
        <p:sp>
          <p:nvSpPr>
            <p:cNvPr id="41" name="TextBox 5"/>
            <p:cNvSpPr txBox="1"/>
            <p:nvPr/>
          </p:nvSpPr>
          <p:spPr>
            <a:xfrm>
              <a:off x="4114800" y="5325070"/>
              <a:ext cx="182880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5400" dirty="0"/>
                <a:t>(    )  </a:t>
              </a:r>
              <a:endParaRPr lang="en-US" sz="5400" dirty="0"/>
            </a:p>
          </p:txBody>
        </p:sp>
      </p:grp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001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800" b="1" dirty="0">
                <a:latin typeface="+mn-ea"/>
              </a:rPr>
              <a:t>25.2.3 </a:t>
            </a:r>
            <a:r>
              <a:rPr lang="zh-CN" altLang="en-US" sz="4800" b="1" dirty="0">
                <a:latin typeface="+mn-ea"/>
              </a:rPr>
              <a:t>半衰期</a:t>
            </a:r>
            <a:endParaRPr lang="en-US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534400" cy="58674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zh-CN" altLang="en-US" sz="2800" dirty="0"/>
              <a:t>例</a:t>
            </a:r>
            <a:r>
              <a:rPr lang="en-US" altLang="zh-CN" sz="2800" dirty="0"/>
              <a:t>1. </a:t>
            </a:r>
            <a:r>
              <a:rPr lang="zh-CN" altLang="en-US" sz="3000" dirty="0"/>
              <a:t>已知：</a:t>
            </a:r>
            <a:r>
              <a:rPr lang="en-US" altLang="zh-CN" sz="3000" dirty="0"/>
              <a:t>m=1mg</a:t>
            </a:r>
            <a:r>
              <a:rPr lang="zh-CN" altLang="en-US" sz="3000" dirty="0"/>
              <a:t>，</a:t>
            </a:r>
            <a:r>
              <a:rPr lang="en-US" altLang="zh-CN" sz="3000" dirty="0"/>
              <a:t>T</a:t>
            </a:r>
            <a:r>
              <a:rPr lang="en-US" altLang="zh-CN" sz="3000" baseline="-25000" dirty="0"/>
              <a:t>1/2</a:t>
            </a:r>
            <a:r>
              <a:rPr lang="en-US" altLang="zh-CN" sz="3000" dirty="0"/>
              <a:t> = 4.5x10</a:t>
            </a:r>
            <a:r>
              <a:rPr lang="en-US" altLang="zh-CN" sz="3000" baseline="30000" dirty="0"/>
              <a:t>9</a:t>
            </a:r>
            <a:r>
              <a:rPr lang="en-US" altLang="zh-CN" sz="3000" dirty="0"/>
              <a:t> </a:t>
            </a:r>
            <a:r>
              <a:rPr lang="zh-CN" altLang="en-US" sz="3000" dirty="0"/>
              <a:t>年</a:t>
            </a:r>
            <a:endParaRPr lang="en-US" altLang="zh-CN" sz="3000" dirty="0"/>
          </a:p>
          <a:p>
            <a:pPr>
              <a:buNone/>
            </a:pPr>
            <a:r>
              <a:rPr lang="en-US" altLang="zh-CN" sz="3000" dirty="0"/>
              <a:t> 		</a:t>
            </a:r>
            <a:r>
              <a:rPr lang="en-US" altLang="zh-CN" sz="3000" baseline="30000" dirty="0"/>
              <a:t>238</a:t>
            </a:r>
            <a:r>
              <a:rPr lang="en-US" altLang="zh-CN" sz="3000" dirty="0"/>
              <a:t>U  </a:t>
            </a:r>
            <a:r>
              <a:rPr lang="zh-CN" altLang="en-US" sz="3000" dirty="0"/>
              <a:t>经衰变  </a:t>
            </a:r>
            <a:r>
              <a:rPr lang="en-US" altLang="zh-CN" sz="3000" baseline="30000" dirty="0"/>
              <a:t>206</a:t>
            </a:r>
            <a:r>
              <a:rPr lang="en-US" altLang="zh-CN" sz="3000" dirty="0"/>
              <a:t>Pb</a:t>
            </a:r>
          </a:p>
          <a:p>
            <a:pPr>
              <a:buNone/>
            </a:pPr>
            <a:r>
              <a:rPr lang="en-US" altLang="zh-CN" sz="3000" dirty="0"/>
              <a:t>		238mg	    206mg</a:t>
            </a:r>
          </a:p>
          <a:p>
            <a:pPr>
              <a:buNone/>
            </a:pPr>
            <a:r>
              <a:rPr lang="en-US" altLang="zh-CN" sz="3000" dirty="0"/>
              <a:t>		</a:t>
            </a:r>
            <a:r>
              <a:rPr lang="en-US" altLang="zh-CN" sz="3000" dirty="0" err="1"/>
              <a:t>xmg</a:t>
            </a:r>
            <a:r>
              <a:rPr lang="en-US" altLang="zh-CN" sz="3000" dirty="0"/>
              <a:t>		    0.257mg</a:t>
            </a:r>
          </a:p>
          <a:p>
            <a:pPr>
              <a:buNone/>
            </a:pPr>
            <a:endParaRPr lang="en-US" altLang="zh-CN" sz="3000" dirty="0"/>
          </a:p>
          <a:p>
            <a:pPr>
              <a:buNone/>
            </a:pPr>
            <a:endParaRPr lang="en-US" altLang="zh-CN" sz="3000" dirty="0"/>
          </a:p>
          <a:p>
            <a:pPr>
              <a:buNone/>
            </a:pPr>
            <a:r>
              <a:rPr lang="zh-CN" altLang="en-US" sz="2400" dirty="0"/>
              <a:t>两边取对数  </a:t>
            </a:r>
            <a:endParaRPr lang="en-US" altLang="zh-CN" sz="2400" dirty="0"/>
          </a:p>
        </p:txBody>
      </p:sp>
      <p:sp>
        <p:nvSpPr>
          <p:cNvPr id="54" name="TextBox 5"/>
          <p:cNvSpPr txBox="1"/>
          <p:nvPr/>
        </p:nvSpPr>
        <p:spPr>
          <a:xfrm>
            <a:off x="5791200" y="2286000"/>
            <a:ext cx="2362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x = 0.297mg  </a:t>
            </a:r>
            <a:endParaRPr lang="en-US" sz="2800" dirty="0"/>
          </a:p>
        </p:txBody>
      </p:sp>
      <p:grpSp>
        <p:nvGrpSpPr>
          <p:cNvPr id="55" name="Group 54"/>
          <p:cNvGrpSpPr/>
          <p:nvPr/>
        </p:nvGrpSpPr>
        <p:grpSpPr>
          <a:xfrm>
            <a:off x="914400" y="2286000"/>
            <a:ext cx="4143404" cy="915194"/>
            <a:chOff x="2285190" y="2895600"/>
            <a:chExt cx="3929884" cy="915194"/>
          </a:xfrm>
        </p:grpSpPr>
        <p:cxnSp>
          <p:nvCxnSpPr>
            <p:cNvPr id="56" name="Straight Arrow Connector 55"/>
            <p:cNvCxnSpPr/>
            <p:nvPr/>
          </p:nvCxnSpPr>
          <p:spPr>
            <a:xfrm rot="5400000">
              <a:off x="1827990" y="3352800"/>
              <a:ext cx="915194" cy="79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Arrow Connector 56"/>
            <p:cNvCxnSpPr/>
            <p:nvPr/>
          </p:nvCxnSpPr>
          <p:spPr>
            <a:xfrm rot="5400000">
              <a:off x="5795180" y="3313906"/>
              <a:ext cx="838200" cy="158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/>
          </p:nvCxnSpPr>
          <p:spPr>
            <a:xfrm>
              <a:off x="3768165" y="3048000"/>
              <a:ext cx="838200" cy="6096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/>
          </p:nvCxnSpPr>
          <p:spPr>
            <a:xfrm rot="10800000" flipV="1">
              <a:off x="3768166" y="3048000"/>
              <a:ext cx="838200" cy="6096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0" name="TextBox 5"/>
          <p:cNvSpPr txBox="1"/>
          <p:nvPr/>
        </p:nvSpPr>
        <p:spPr>
          <a:xfrm>
            <a:off x="5791200" y="2819400"/>
            <a:ext cx="2362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02060"/>
                </a:solidFill>
              </a:rPr>
              <a:t>m</a:t>
            </a:r>
            <a:r>
              <a:rPr lang="en-US" altLang="zh-CN" sz="2800" b="1" baseline="-25000" dirty="0">
                <a:solidFill>
                  <a:srgbClr val="002060"/>
                </a:solidFill>
              </a:rPr>
              <a:t>0</a:t>
            </a:r>
            <a:r>
              <a:rPr lang="en-US" altLang="zh-CN" sz="2800" b="1" dirty="0">
                <a:solidFill>
                  <a:srgbClr val="002060"/>
                </a:solidFill>
              </a:rPr>
              <a:t> = 1.297mg  </a:t>
            </a:r>
            <a:endParaRPr lang="en-US" sz="2800" b="1" dirty="0">
              <a:solidFill>
                <a:srgbClr val="002060"/>
              </a:solidFill>
            </a:endParaRPr>
          </a:p>
        </p:txBody>
      </p:sp>
      <p:graphicFrame>
        <p:nvGraphicFramePr>
          <p:cNvPr id="78" name="Object 77"/>
          <p:cNvGraphicFramePr>
            <a:graphicFrameLocks noChangeAspect="1"/>
          </p:cNvGraphicFramePr>
          <p:nvPr/>
        </p:nvGraphicFramePr>
        <p:xfrm>
          <a:off x="1905000" y="3962400"/>
          <a:ext cx="2918013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6" name="Equation" r:id="rId4" imgW="1180800" imgH="431640" progId="Equation.3">
                  <p:embed/>
                </p:oleObj>
              </mc:Choice>
              <mc:Fallback>
                <p:oleObj name="Equation" r:id="rId4" imgW="1180800" imgH="4316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3962400"/>
                        <a:ext cx="2918013" cy="1066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" name="Object 3"/>
          <p:cNvGraphicFramePr>
            <a:graphicFrameLocks noChangeAspect="1"/>
          </p:cNvGraphicFramePr>
          <p:nvPr/>
        </p:nvGraphicFramePr>
        <p:xfrm>
          <a:off x="1941512" y="4953000"/>
          <a:ext cx="2478088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7" name="Equation" r:id="rId6" imgW="1002960" imgH="634680" progId="Equation.3">
                  <p:embed/>
                </p:oleObj>
              </mc:Choice>
              <mc:Fallback>
                <p:oleObj name="Equation" r:id="rId6" imgW="1002960" imgH="63468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1512" y="4953000"/>
                        <a:ext cx="2478088" cy="1371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4"/>
          <p:cNvGraphicFramePr>
            <a:graphicFrameLocks noChangeAspect="1"/>
          </p:cNvGraphicFramePr>
          <p:nvPr/>
        </p:nvGraphicFramePr>
        <p:xfrm>
          <a:off x="5138739" y="3505200"/>
          <a:ext cx="4005262" cy="1462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8" name="Equation" r:id="rId8" imgW="1562040" imgH="647640" progId="Equation.3">
                  <p:embed/>
                </p:oleObj>
              </mc:Choice>
              <mc:Fallback>
                <p:oleObj name="Equation" r:id="rId8" imgW="1562040" imgH="64764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38739" y="3505200"/>
                        <a:ext cx="4005262" cy="14620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9" name="Object 5"/>
          <p:cNvGraphicFramePr>
            <a:graphicFrameLocks noChangeAspect="1"/>
          </p:cNvGraphicFramePr>
          <p:nvPr/>
        </p:nvGraphicFramePr>
        <p:xfrm>
          <a:off x="5168900" y="5030788"/>
          <a:ext cx="2603500" cy="51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9" name="Equation" r:id="rId10" imgW="1015920" imgH="228600" progId="Equation.3">
                  <p:embed/>
                </p:oleObj>
              </mc:Choice>
              <mc:Fallback>
                <p:oleObj name="Equation" r:id="rId10" imgW="1015920" imgH="22860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68900" y="5030788"/>
                        <a:ext cx="2603500" cy="5159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0" name="Object 6"/>
          <p:cNvGraphicFramePr>
            <a:graphicFrameLocks noChangeAspect="1"/>
          </p:cNvGraphicFramePr>
          <p:nvPr/>
        </p:nvGraphicFramePr>
        <p:xfrm>
          <a:off x="2362200" y="3074988"/>
          <a:ext cx="1912938" cy="1116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0" name="Equation" r:id="rId12" imgW="774360" imgH="482400" progId="Equation.3">
                  <p:embed/>
                </p:oleObj>
              </mc:Choice>
              <mc:Fallback>
                <p:oleObj name="Equation" r:id="rId12" imgW="774360" imgH="48240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3074988"/>
                        <a:ext cx="1912938" cy="11160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4" grpId="0"/>
      <p:bldP spid="6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001000" cy="1202485"/>
          </a:xfrm>
        </p:spPr>
        <p:txBody>
          <a:bodyPr>
            <a:noAutofit/>
          </a:bodyPr>
          <a:lstStyle/>
          <a:p>
            <a:pPr algn="l"/>
            <a:r>
              <a:rPr lang="zh-CN" altLang="en-US" sz="4800" b="1" dirty="0">
                <a:latin typeface="+mn-ea"/>
              </a:rPr>
              <a:t>思考题</a:t>
            </a:r>
            <a:r>
              <a:rPr lang="en-US" altLang="zh-CN" sz="4800" b="1" dirty="0">
                <a:latin typeface="+mn-ea"/>
              </a:rPr>
              <a:t>25f</a:t>
            </a:r>
            <a:endParaRPr lang="en-US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382000" cy="5867400"/>
          </a:xfrm>
        </p:spPr>
        <p:txBody>
          <a:bodyPr>
            <a:noAutofit/>
          </a:bodyPr>
          <a:lstStyle/>
          <a:p>
            <a:pPr marL="514350" indent="-514350">
              <a:spcBef>
                <a:spcPts val="0"/>
              </a:spcBef>
              <a:buAutoNum type="arabicPeriod"/>
            </a:pPr>
            <a:r>
              <a:rPr lang="en-US" altLang="zh-CN" sz="3000" dirty="0"/>
              <a:t>IIA </a:t>
            </a:r>
            <a:r>
              <a:rPr lang="zh-CN" altLang="en-US" sz="3000" dirty="0"/>
              <a:t>族  </a:t>
            </a:r>
            <a:r>
              <a:rPr lang="en-US" altLang="zh-CN" sz="3000" dirty="0"/>
              <a:t>	</a:t>
            </a:r>
            <a:r>
              <a:rPr lang="en-US" altLang="zh-CN" sz="3000" baseline="-25000" dirty="0" err="1"/>
              <a:t>x</a:t>
            </a:r>
            <a:r>
              <a:rPr lang="en-US" altLang="zh-CN" sz="3000" dirty="0" err="1"/>
              <a:t>X</a:t>
            </a:r>
            <a:r>
              <a:rPr lang="en-US" altLang="zh-CN" sz="3000" dirty="0"/>
              <a:t>  </a:t>
            </a:r>
            <a:r>
              <a:rPr lang="en-US" altLang="zh-CN" sz="3000" dirty="0">
                <a:sym typeface="Wingdings" pitchFamily="2" charset="2"/>
              </a:rPr>
              <a:t>   </a:t>
            </a:r>
            <a:r>
              <a:rPr lang="en-US" altLang="zh-CN" sz="3000" baseline="-25000" dirty="0" err="1">
                <a:sym typeface="Wingdings" pitchFamily="2" charset="2"/>
              </a:rPr>
              <a:t>y</a:t>
            </a:r>
            <a:r>
              <a:rPr lang="en-US" altLang="zh-CN" sz="3000" dirty="0" err="1">
                <a:sym typeface="Wingdings" pitchFamily="2" charset="2"/>
              </a:rPr>
              <a:t>Y</a:t>
            </a:r>
            <a:r>
              <a:rPr lang="en-US" altLang="zh-CN" sz="3000" dirty="0">
                <a:sym typeface="Wingdings" pitchFamily="2" charset="2"/>
              </a:rPr>
              <a:t>  + 3   He</a:t>
            </a:r>
            <a:r>
              <a:rPr lang="zh-CN" altLang="en-US" sz="3000" dirty="0"/>
              <a:t>  </a:t>
            </a:r>
            <a:endParaRPr lang="en-US" altLang="zh-CN" sz="3000" dirty="0"/>
          </a:p>
          <a:p>
            <a:pPr marL="514350" indent="-514350">
              <a:spcBef>
                <a:spcPts val="0"/>
              </a:spcBef>
              <a:buNone/>
            </a:pPr>
            <a:r>
              <a:rPr lang="en-US" altLang="zh-CN" sz="3000" dirty="0"/>
              <a:t>		x = y + 6 </a:t>
            </a:r>
          </a:p>
          <a:p>
            <a:pPr marL="514350" indent="-514350">
              <a:spcBef>
                <a:spcPts val="0"/>
              </a:spcBef>
              <a:buNone/>
            </a:pPr>
            <a:r>
              <a:rPr lang="en-US" altLang="zh-CN" sz="3000" dirty="0"/>
              <a:t>	    y = x-6 </a:t>
            </a:r>
          </a:p>
          <a:p>
            <a:pPr marL="514350" indent="-514350">
              <a:spcBef>
                <a:spcPts val="0"/>
              </a:spcBef>
              <a:buNone/>
            </a:pPr>
            <a:r>
              <a:rPr lang="zh-CN" altLang="en-US" sz="3000" dirty="0"/>
              <a:t>答：</a:t>
            </a:r>
            <a:r>
              <a:rPr lang="en-US" altLang="zh-CN" sz="3000" dirty="0"/>
              <a:t>IVA</a:t>
            </a:r>
            <a:r>
              <a:rPr lang="zh-CN" altLang="en-US" sz="3000" dirty="0"/>
              <a:t>族</a:t>
            </a:r>
            <a:endParaRPr lang="en-US" altLang="zh-CN" sz="3000" dirty="0"/>
          </a:p>
          <a:p>
            <a:pPr marL="514350" indent="-514350">
              <a:spcBef>
                <a:spcPts val="0"/>
              </a:spcBef>
              <a:buNone/>
            </a:pPr>
            <a:r>
              <a:rPr lang="en-US" altLang="zh-CN" sz="3000" dirty="0"/>
              <a:t>2. </a:t>
            </a:r>
            <a:r>
              <a:rPr lang="zh-CN" altLang="en-US" sz="3000" dirty="0"/>
              <a:t>已知 </a:t>
            </a:r>
            <a:r>
              <a:rPr lang="en-US" altLang="zh-CN" sz="3000" dirty="0"/>
              <a:t>T</a:t>
            </a:r>
            <a:r>
              <a:rPr lang="en-US" altLang="zh-CN" sz="3000" baseline="-25000" dirty="0"/>
              <a:t>1/2</a:t>
            </a:r>
            <a:r>
              <a:rPr lang="en-US" altLang="zh-CN" sz="3000" dirty="0"/>
              <a:t> =30</a:t>
            </a:r>
            <a:r>
              <a:rPr lang="zh-CN" altLang="en-US" sz="3000" dirty="0"/>
              <a:t>年 ，</a:t>
            </a:r>
            <a:r>
              <a:rPr lang="en-US" altLang="zh-CN" sz="3000" dirty="0"/>
              <a:t>t=10</a:t>
            </a:r>
            <a:r>
              <a:rPr lang="zh-CN" altLang="en-US" sz="3000" dirty="0"/>
              <a:t>年 </a:t>
            </a:r>
            <a:endParaRPr lang="en-US" altLang="zh-CN" sz="3000" dirty="0"/>
          </a:p>
          <a:p>
            <a:pPr marL="514350" indent="-514350">
              <a:spcBef>
                <a:spcPts val="0"/>
              </a:spcBef>
              <a:buNone/>
            </a:pPr>
            <a:endParaRPr lang="en-US" altLang="zh-CN" sz="3000" dirty="0"/>
          </a:p>
        </p:txBody>
      </p:sp>
      <p:grpSp>
        <p:nvGrpSpPr>
          <p:cNvPr id="32" name="Group 6"/>
          <p:cNvGrpSpPr>
            <a:grpSpLocks/>
          </p:cNvGrpSpPr>
          <p:nvPr/>
        </p:nvGrpSpPr>
        <p:grpSpPr bwMode="auto">
          <a:xfrm>
            <a:off x="4191000" y="914400"/>
            <a:ext cx="533400" cy="750888"/>
            <a:chOff x="1143000" y="4419600"/>
            <a:chExt cx="533400" cy="750332"/>
          </a:xfrm>
        </p:grpSpPr>
        <p:sp>
          <p:nvSpPr>
            <p:cNvPr id="34" name="TextBox 7"/>
            <p:cNvSpPr txBox="1">
              <a:spLocks noChangeArrowheads="1"/>
            </p:cNvSpPr>
            <p:nvPr/>
          </p:nvSpPr>
          <p:spPr bwMode="auto">
            <a:xfrm>
              <a:off x="1143000" y="4800600"/>
              <a:ext cx="4572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  2  </a:t>
              </a:r>
            </a:p>
          </p:txBody>
        </p:sp>
        <p:sp>
          <p:nvSpPr>
            <p:cNvPr id="42" name="TextBox 8"/>
            <p:cNvSpPr txBox="1">
              <a:spLocks noChangeArrowheads="1"/>
            </p:cNvSpPr>
            <p:nvPr/>
          </p:nvSpPr>
          <p:spPr bwMode="auto">
            <a:xfrm>
              <a:off x="1219200" y="4419600"/>
              <a:ext cx="4572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4</a:t>
              </a:r>
            </a:p>
          </p:txBody>
        </p:sp>
      </p:grpSp>
      <p:graphicFrame>
        <p:nvGraphicFramePr>
          <p:cNvPr id="2050" name="Object 2"/>
          <p:cNvGraphicFramePr>
            <a:graphicFrameLocks noChangeAspect="1"/>
          </p:cNvGraphicFramePr>
          <p:nvPr/>
        </p:nvGraphicFramePr>
        <p:xfrm>
          <a:off x="2362200" y="3200400"/>
          <a:ext cx="1912938" cy="1116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2" name="Equation" r:id="rId4" imgW="774360" imgH="482400" progId="Equation.3">
                  <p:embed/>
                </p:oleObj>
              </mc:Choice>
              <mc:Fallback>
                <p:oleObj name="Equation" r:id="rId4" imgW="774360" imgH="4824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3200400"/>
                        <a:ext cx="1912938" cy="11160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1" name="Object 3"/>
          <p:cNvGraphicFramePr>
            <a:graphicFrameLocks noChangeAspect="1"/>
          </p:cNvGraphicFramePr>
          <p:nvPr/>
        </p:nvGraphicFramePr>
        <p:xfrm>
          <a:off x="2424113" y="4094163"/>
          <a:ext cx="1787525" cy="1057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3" name="Equation" r:id="rId6" imgW="723600" imgH="457200" progId="Equation.3">
                  <p:embed/>
                </p:oleObj>
              </mc:Choice>
              <mc:Fallback>
                <p:oleObj name="Equation" r:id="rId6" imgW="723600" imgH="45720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4113" y="4094163"/>
                        <a:ext cx="1787525" cy="1057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2" name="Object 4"/>
          <p:cNvGraphicFramePr>
            <a:graphicFrameLocks noChangeAspect="1"/>
          </p:cNvGraphicFramePr>
          <p:nvPr/>
        </p:nvGraphicFramePr>
        <p:xfrm>
          <a:off x="2408237" y="4953000"/>
          <a:ext cx="2163763" cy="998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4" name="Equation" r:id="rId8" imgW="876240" imgH="431640" progId="Equation.3">
                  <p:embed/>
                </p:oleObj>
              </mc:Choice>
              <mc:Fallback>
                <p:oleObj name="Equation" r:id="rId8" imgW="876240" imgH="43164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8237" y="4953000"/>
                        <a:ext cx="2163763" cy="9985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001000" cy="1202485"/>
          </a:xfrm>
        </p:spPr>
        <p:txBody>
          <a:bodyPr>
            <a:noAutofit/>
          </a:bodyPr>
          <a:lstStyle/>
          <a:p>
            <a:pPr algn="l"/>
            <a:r>
              <a:rPr lang="zh-CN" altLang="en-US" sz="4800" b="1" dirty="0">
                <a:latin typeface="+mn-ea"/>
              </a:rPr>
              <a:t>思考题</a:t>
            </a:r>
            <a:r>
              <a:rPr lang="en-US" altLang="zh-CN" sz="4800" b="1" dirty="0">
                <a:latin typeface="+mn-ea"/>
              </a:rPr>
              <a:t>25f</a:t>
            </a:r>
            <a:endParaRPr lang="en-US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534400" cy="58674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altLang="zh-CN" sz="2800" dirty="0"/>
              <a:t>3. </a:t>
            </a:r>
            <a:r>
              <a:rPr lang="en-US" altLang="zh-CN" sz="2800" baseline="30000" dirty="0"/>
              <a:t>14</a:t>
            </a:r>
            <a:r>
              <a:rPr lang="en-US" altLang="zh-CN" sz="2800" dirty="0"/>
              <a:t>C </a:t>
            </a:r>
            <a:r>
              <a:rPr lang="zh-CN" altLang="en-US" sz="2800" dirty="0"/>
              <a:t>的</a:t>
            </a:r>
            <a:r>
              <a:rPr lang="en-US" altLang="zh-CN" sz="2800" dirty="0"/>
              <a:t>T</a:t>
            </a:r>
            <a:r>
              <a:rPr lang="en-US" altLang="zh-CN" sz="2800" baseline="-25000" dirty="0"/>
              <a:t>1/2</a:t>
            </a:r>
            <a:r>
              <a:rPr lang="en-US" altLang="zh-CN" sz="2800" dirty="0"/>
              <a:t> </a:t>
            </a:r>
            <a:r>
              <a:rPr lang="zh-CN" altLang="en-US" sz="2800" dirty="0"/>
              <a:t>为</a:t>
            </a:r>
            <a:r>
              <a:rPr lang="en-US" altLang="zh-CN" sz="2800" dirty="0"/>
              <a:t>5730</a:t>
            </a:r>
            <a:r>
              <a:rPr lang="zh-CN" altLang="en-US" sz="2800" dirty="0"/>
              <a:t>年。</a:t>
            </a:r>
            <a:endParaRPr lang="en-US" altLang="zh-CN" sz="2800" dirty="0"/>
          </a:p>
          <a:p>
            <a:pPr>
              <a:buNone/>
            </a:pPr>
            <a:r>
              <a:rPr lang="zh-CN" altLang="en-US" sz="3000" dirty="0"/>
              <a:t>已知：</a:t>
            </a:r>
            <a:r>
              <a:rPr lang="en-US" altLang="zh-CN" sz="3000" dirty="0"/>
              <a:t>	        = 6.25% = 0.0625 </a:t>
            </a:r>
            <a:r>
              <a:rPr lang="zh-CN" altLang="en-US" sz="3000" dirty="0"/>
              <a:t>， </a:t>
            </a:r>
            <a:r>
              <a:rPr lang="en-US" altLang="zh-CN" sz="3000" dirty="0"/>
              <a:t>T</a:t>
            </a:r>
            <a:r>
              <a:rPr lang="en-US" altLang="zh-CN" sz="3000" baseline="-25000" dirty="0"/>
              <a:t>1/2</a:t>
            </a:r>
            <a:r>
              <a:rPr lang="en-US" altLang="zh-CN" sz="3000" dirty="0"/>
              <a:t> = 5730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3000" dirty="0"/>
              <a:t> </a:t>
            </a:r>
            <a:r>
              <a:rPr lang="zh-CN" altLang="en-US" sz="3000" dirty="0"/>
              <a:t>公式：</a:t>
            </a:r>
            <a:endParaRPr lang="en-US" altLang="zh-CN" sz="3000" dirty="0"/>
          </a:p>
          <a:p>
            <a:pPr>
              <a:buNone/>
            </a:pPr>
            <a:endParaRPr lang="en-US" altLang="zh-CN" sz="3000" dirty="0"/>
          </a:p>
          <a:p>
            <a:pPr>
              <a:lnSpc>
                <a:spcPct val="150000"/>
              </a:lnSpc>
              <a:buNone/>
            </a:pPr>
            <a:r>
              <a:rPr lang="zh-CN" altLang="en-US" sz="2800" dirty="0"/>
              <a:t>两边取对数  </a:t>
            </a:r>
            <a:r>
              <a:rPr lang="en-US" altLang="zh-CN" sz="3000" dirty="0"/>
              <a:t>log 0.0625 = 	   log ½  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3000" dirty="0"/>
              <a:t>				t = 		     x 5730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3000" dirty="0"/>
              <a:t>				   = 22920 </a:t>
            </a:r>
            <a:r>
              <a:rPr lang="zh-CN" altLang="en-US" sz="3000" dirty="0"/>
              <a:t>年</a:t>
            </a:r>
            <a:endParaRPr lang="en-US" altLang="zh-CN" sz="3000" dirty="0"/>
          </a:p>
        </p:txBody>
      </p:sp>
      <p:grpSp>
        <p:nvGrpSpPr>
          <p:cNvPr id="6" name="Group 10"/>
          <p:cNvGrpSpPr/>
          <p:nvPr/>
        </p:nvGrpSpPr>
        <p:grpSpPr>
          <a:xfrm>
            <a:off x="2057400" y="1447800"/>
            <a:ext cx="762000" cy="715090"/>
            <a:chOff x="2362200" y="1540133"/>
            <a:chExt cx="762000" cy="715090"/>
          </a:xfrm>
        </p:grpSpPr>
        <p:sp>
          <p:nvSpPr>
            <p:cNvPr id="7" name="TextBox 6"/>
            <p:cNvSpPr txBox="1"/>
            <p:nvPr/>
          </p:nvSpPr>
          <p:spPr>
            <a:xfrm>
              <a:off x="2438400" y="1540133"/>
              <a:ext cx="685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/>
                <a:t>N</a:t>
              </a:r>
              <a:endParaRPr lang="en-US" sz="2000" b="1" dirty="0"/>
            </a:p>
          </p:txBody>
        </p:sp>
        <p:cxnSp>
          <p:nvCxnSpPr>
            <p:cNvPr id="8" name="Straight Connector 7"/>
            <p:cNvCxnSpPr/>
            <p:nvPr/>
          </p:nvCxnSpPr>
          <p:spPr>
            <a:xfrm>
              <a:off x="2362200" y="1905000"/>
              <a:ext cx="731520" cy="1588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" name="TextBox 8"/>
            <p:cNvSpPr txBox="1"/>
            <p:nvPr/>
          </p:nvSpPr>
          <p:spPr>
            <a:xfrm>
              <a:off x="2438400" y="1855113"/>
              <a:ext cx="685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/>
                <a:t>N</a:t>
              </a:r>
              <a:r>
                <a:rPr lang="en-US" altLang="zh-CN" sz="2000" b="1" baseline="-25000" dirty="0"/>
                <a:t>0</a:t>
              </a:r>
              <a:endParaRPr lang="en-US" sz="2000" b="1" dirty="0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819398" y="1905000"/>
            <a:ext cx="3080827" cy="930533"/>
            <a:chOff x="2971800" y="5332512"/>
            <a:chExt cx="3080827" cy="930533"/>
          </a:xfrm>
        </p:grpSpPr>
        <p:grpSp>
          <p:nvGrpSpPr>
            <p:cNvPr id="11" name="Group 25"/>
            <p:cNvGrpSpPr/>
            <p:nvPr/>
          </p:nvGrpSpPr>
          <p:grpSpPr>
            <a:xfrm>
              <a:off x="5105398" y="5380910"/>
              <a:ext cx="947229" cy="628710"/>
              <a:chOff x="2718734" y="1885531"/>
              <a:chExt cx="475904" cy="628710"/>
            </a:xfrm>
          </p:grpSpPr>
          <p:grpSp>
            <p:nvGrpSpPr>
              <p:cNvPr id="23" name="Group 24"/>
              <p:cNvGrpSpPr/>
              <p:nvPr/>
            </p:nvGrpSpPr>
            <p:grpSpPr>
              <a:xfrm>
                <a:off x="2718736" y="1885531"/>
                <a:ext cx="475902" cy="400110"/>
                <a:chOff x="2718736" y="1885531"/>
                <a:chExt cx="475902" cy="400110"/>
              </a:xfrm>
            </p:grpSpPr>
            <p:cxnSp>
              <p:nvCxnSpPr>
                <p:cNvPr id="25" name="Straight Connector 24"/>
                <p:cNvCxnSpPr/>
                <p:nvPr/>
              </p:nvCxnSpPr>
              <p:spPr>
                <a:xfrm>
                  <a:off x="2749363" y="2207853"/>
                  <a:ext cx="275646" cy="1588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6" name="TextBox 25"/>
                <p:cNvSpPr txBox="1"/>
                <p:nvPr/>
              </p:nvSpPr>
              <p:spPr>
                <a:xfrm>
                  <a:off x="2718736" y="1885531"/>
                  <a:ext cx="47590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000" dirty="0"/>
                    <a:t>t </a:t>
                  </a:r>
                </a:p>
              </p:txBody>
            </p:sp>
          </p:grpSp>
          <p:sp>
            <p:nvSpPr>
              <p:cNvPr id="24" name="TextBox 5"/>
              <p:cNvSpPr txBox="1"/>
              <p:nvPr/>
            </p:nvSpPr>
            <p:spPr>
              <a:xfrm>
                <a:off x="2718734" y="2114131"/>
                <a:ext cx="44629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dirty="0"/>
                  <a:t>T</a:t>
                </a:r>
                <a:r>
                  <a:rPr lang="en-US" altLang="zh-CN" sz="2000" baseline="-25000" dirty="0"/>
                  <a:t>1/2</a:t>
                </a:r>
                <a:r>
                  <a:rPr lang="en-US" altLang="zh-CN" sz="2000" dirty="0"/>
                  <a:t>  </a:t>
                </a:r>
                <a:endParaRPr lang="en-US" sz="2000" dirty="0"/>
              </a:p>
            </p:txBody>
          </p:sp>
        </p:grpSp>
        <p:grpSp>
          <p:nvGrpSpPr>
            <p:cNvPr id="12" name="Group 30"/>
            <p:cNvGrpSpPr/>
            <p:nvPr/>
          </p:nvGrpSpPr>
          <p:grpSpPr>
            <a:xfrm>
              <a:off x="2971800" y="5332512"/>
              <a:ext cx="2209800" cy="930533"/>
              <a:chOff x="2209800" y="2286000"/>
              <a:chExt cx="2209800" cy="930533"/>
            </a:xfrm>
          </p:grpSpPr>
          <p:grpSp>
            <p:nvGrpSpPr>
              <p:cNvPr id="14" name="Group 4"/>
              <p:cNvGrpSpPr/>
              <p:nvPr/>
            </p:nvGrpSpPr>
            <p:grpSpPr>
              <a:xfrm>
                <a:off x="2209800" y="2286000"/>
                <a:ext cx="2209800" cy="930533"/>
                <a:chOff x="2209800" y="1447800"/>
                <a:chExt cx="2209800" cy="930533"/>
              </a:xfrm>
            </p:grpSpPr>
            <p:grpSp>
              <p:nvGrpSpPr>
                <p:cNvPr id="16" name="Group 10"/>
                <p:cNvGrpSpPr/>
                <p:nvPr/>
              </p:nvGrpSpPr>
              <p:grpSpPr>
                <a:xfrm>
                  <a:off x="2209800" y="1447800"/>
                  <a:ext cx="2209800" cy="930533"/>
                  <a:chOff x="2209800" y="1447800"/>
                  <a:chExt cx="2209800" cy="930533"/>
                </a:xfrm>
              </p:grpSpPr>
              <p:sp>
                <p:nvSpPr>
                  <p:cNvPr id="18" name="TextBox 17"/>
                  <p:cNvSpPr txBox="1"/>
                  <p:nvPr/>
                </p:nvSpPr>
                <p:spPr>
                  <a:xfrm>
                    <a:off x="2438400" y="1447800"/>
                    <a:ext cx="685800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2800" dirty="0"/>
                      <a:t>N</a:t>
                    </a:r>
                    <a:endParaRPr lang="en-US" sz="2800" dirty="0"/>
                  </a:p>
                </p:txBody>
              </p:sp>
              <p:cxnSp>
                <p:nvCxnSpPr>
                  <p:cNvPr id="19" name="Straight Connector 18"/>
                  <p:cNvCxnSpPr/>
                  <p:nvPr/>
                </p:nvCxnSpPr>
                <p:spPr>
                  <a:xfrm>
                    <a:off x="2209800" y="1905000"/>
                    <a:ext cx="838200" cy="1588"/>
                  </a:xfrm>
                  <a:prstGeom prst="line">
                    <a:avLst/>
                  </a:prstGeom>
                  <a:ln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" name="Straight Connector 19"/>
                  <p:cNvCxnSpPr/>
                  <p:nvPr/>
                </p:nvCxnSpPr>
                <p:spPr>
                  <a:xfrm>
                    <a:off x="3733802" y="1905000"/>
                    <a:ext cx="457200" cy="1588"/>
                  </a:xfrm>
                  <a:prstGeom prst="line">
                    <a:avLst/>
                  </a:prstGeom>
                  <a:ln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1" name="TextBox 20"/>
                  <p:cNvSpPr txBox="1"/>
                  <p:nvPr/>
                </p:nvSpPr>
                <p:spPr>
                  <a:xfrm>
                    <a:off x="2438400" y="1855113"/>
                    <a:ext cx="685800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2800" dirty="0"/>
                      <a:t>N</a:t>
                    </a:r>
                    <a:r>
                      <a:rPr lang="en-US" altLang="zh-CN" sz="2800" baseline="-25000" dirty="0"/>
                      <a:t>0</a:t>
                    </a:r>
                    <a:endParaRPr lang="en-US" sz="2800" dirty="0"/>
                  </a:p>
                </p:txBody>
              </p:sp>
              <p:sp>
                <p:nvSpPr>
                  <p:cNvPr id="22" name="TextBox 21"/>
                  <p:cNvSpPr txBox="1"/>
                  <p:nvPr/>
                </p:nvSpPr>
                <p:spPr>
                  <a:xfrm>
                    <a:off x="3733800" y="1525488"/>
                    <a:ext cx="685800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2800" dirty="0"/>
                      <a:t>1</a:t>
                    </a:r>
                    <a:endParaRPr lang="en-US" sz="2800" dirty="0"/>
                  </a:p>
                </p:txBody>
              </p:sp>
            </p:grpSp>
            <p:sp>
              <p:nvSpPr>
                <p:cNvPr id="17" name="TextBox 16"/>
                <p:cNvSpPr txBox="1"/>
                <p:nvPr/>
              </p:nvSpPr>
              <p:spPr>
                <a:xfrm>
                  <a:off x="3733800" y="1820108"/>
                  <a:ext cx="68580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800" dirty="0"/>
                    <a:t>2</a:t>
                  </a:r>
                  <a:endParaRPr lang="en-US" sz="2800" dirty="0"/>
                </a:p>
              </p:txBody>
            </p:sp>
          </p:grpSp>
          <p:sp>
            <p:nvSpPr>
              <p:cNvPr id="15" name="TextBox 14"/>
              <p:cNvSpPr txBox="1"/>
              <p:nvPr/>
            </p:nvSpPr>
            <p:spPr>
              <a:xfrm>
                <a:off x="3200400" y="2540913"/>
                <a:ext cx="685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dirty="0"/>
                  <a:t>=</a:t>
                </a:r>
                <a:endParaRPr lang="en-US" sz="2800" dirty="0"/>
              </a:p>
            </p:txBody>
          </p:sp>
        </p:grpSp>
        <p:sp>
          <p:nvSpPr>
            <p:cNvPr id="13" name="TextBox 5"/>
            <p:cNvSpPr txBox="1"/>
            <p:nvPr/>
          </p:nvSpPr>
          <p:spPr>
            <a:xfrm>
              <a:off x="4191002" y="5407223"/>
              <a:ext cx="18288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800" dirty="0"/>
                <a:t>(    )  </a:t>
              </a:r>
              <a:endParaRPr lang="en-US" sz="4800" dirty="0"/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2590800" y="2590800"/>
            <a:ext cx="3385626" cy="1081445"/>
            <a:chOff x="2667002" y="5181600"/>
            <a:chExt cx="3385626" cy="1081445"/>
          </a:xfrm>
        </p:grpSpPr>
        <p:grpSp>
          <p:nvGrpSpPr>
            <p:cNvPr id="28" name="Group 25"/>
            <p:cNvGrpSpPr/>
            <p:nvPr/>
          </p:nvGrpSpPr>
          <p:grpSpPr>
            <a:xfrm>
              <a:off x="4979103" y="5181600"/>
              <a:ext cx="1073525" cy="685800"/>
              <a:chOff x="2655280" y="1686221"/>
              <a:chExt cx="539357" cy="685800"/>
            </a:xfrm>
          </p:grpSpPr>
          <p:grpSp>
            <p:nvGrpSpPr>
              <p:cNvPr id="40" name="Group 24"/>
              <p:cNvGrpSpPr/>
              <p:nvPr/>
            </p:nvGrpSpPr>
            <p:grpSpPr>
              <a:xfrm>
                <a:off x="2718732" y="1686221"/>
                <a:ext cx="475905" cy="400110"/>
                <a:chOff x="2718732" y="1686221"/>
                <a:chExt cx="475905" cy="400110"/>
              </a:xfrm>
            </p:grpSpPr>
            <p:cxnSp>
              <p:nvCxnSpPr>
                <p:cNvPr id="42" name="Straight Connector 41"/>
                <p:cNvCxnSpPr/>
                <p:nvPr/>
              </p:nvCxnSpPr>
              <p:spPr>
                <a:xfrm>
                  <a:off x="2718732" y="2022478"/>
                  <a:ext cx="229705" cy="1588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3" name="TextBox 42"/>
                <p:cNvSpPr txBox="1"/>
                <p:nvPr/>
              </p:nvSpPr>
              <p:spPr>
                <a:xfrm>
                  <a:off x="2718735" y="1686221"/>
                  <a:ext cx="47590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000" dirty="0"/>
                    <a:t>t </a:t>
                  </a:r>
                </a:p>
              </p:txBody>
            </p:sp>
          </p:grpSp>
          <p:sp>
            <p:nvSpPr>
              <p:cNvPr id="41" name="TextBox 5"/>
              <p:cNvSpPr txBox="1"/>
              <p:nvPr/>
            </p:nvSpPr>
            <p:spPr>
              <a:xfrm>
                <a:off x="2655280" y="1971911"/>
                <a:ext cx="44629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dirty="0"/>
                  <a:t>5730  </a:t>
                </a:r>
                <a:endParaRPr lang="en-US" sz="2000" dirty="0"/>
              </a:p>
            </p:txBody>
          </p:sp>
        </p:grpSp>
        <p:grpSp>
          <p:nvGrpSpPr>
            <p:cNvPr id="29" name="Group 30"/>
            <p:cNvGrpSpPr/>
            <p:nvPr/>
          </p:nvGrpSpPr>
          <p:grpSpPr>
            <a:xfrm>
              <a:off x="2667002" y="5334000"/>
              <a:ext cx="2514598" cy="929045"/>
              <a:chOff x="1905002" y="2287488"/>
              <a:chExt cx="2514598" cy="929045"/>
            </a:xfrm>
          </p:grpSpPr>
          <p:grpSp>
            <p:nvGrpSpPr>
              <p:cNvPr id="31" name="Group 4"/>
              <p:cNvGrpSpPr/>
              <p:nvPr/>
            </p:nvGrpSpPr>
            <p:grpSpPr>
              <a:xfrm>
                <a:off x="1905002" y="2287488"/>
                <a:ext cx="2514598" cy="929045"/>
                <a:chOff x="1905002" y="1449288"/>
                <a:chExt cx="2514598" cy="929045"/>
              </a:xfrm>
            </p:grpSpPr>
            <p:grpSp>
              <p:nvGrpSpPr>
                <p:cNvPr id="33" name="Group 10"/>
                <p:cNvGrpSpPr/>
                <p:nvPr/>
              </p:nvGrpSpPr>
              <p:grpSpPr>
                <a:xfrm>
                  <a:off x="1905002" y="1449288"/>
                  <a:ext cx="2514598" cy="776645"/>
                  <a:chOff x="1905002" y="1449288"/>
                  <a:chExt cx="2514598" cy="776645"/>
                </a:xfrm>
              </p:grpSpPr>
              <p:sp>
                <p:nvSpPr>
                  <p:cNvPr id="35" name="TextBox 34"/>
                  <p:cNvSpPr txBox="1"/>
                  <p:nvPr/>
                </p:nvSpPr>
                <p:spPr>
                  <a:xfrm>
                    <a:off x="1905002" y="1702713"/>
                    <a:ext cx="1295398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2800" dirty="0"/>
                      <a:t>0.0625</a:t>
                    </a:r>
                    <a:endParaRPr lang="en-US" sz="2800" dirty="0"/>
                  </a:p>
                </p:txBody>
              </p:sp>
              <p:cxnSp>
                <p:nvCxnSpPr>
                  <p:cNvPr id="37" name="Straight Connector 36"/>
                  <p:cNvCxnSpPr/>
                  <p:nvPr/>
                </p:nvCxnSpPr>
                <p:spPr>
                  <a:xfrm>
                    <a:off x="3733802" y="1905000"/>
                    <a:ext cx="457200" cy="1588"/>
                  </a:xfrm>
                  <a:prstGeom prst="line">
                    <a:avLst/>
                  </a:prstGeom>
                  <a:ln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9" name="TextBox 38"/>
                  <p:cNvSpPr txBox="1"/>
                  <p:nvPr/>
                </p:nvSpPr>
                <p:spPr>
                  <a:xfrm>
                    <a:off x="3733800" y="1449288"/>
                    <a:ext cx="685800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2800" dirty="0"/>
                      <a:t>1</a:t>
                    </a:r>
                    <a:endParaRPr lang="en-US" sz="2800" dirty="0"/>
                  </a:p>
                </p:txBody>
              </p:sp>
            </p:grpSp>
            <p:sp>
              <p:nvSpPr>
                <p:cNvPr id="34" name="TextBox 33"/>
                <p:cNvSpPr txBox="1"/>
                <p:nvPr/>
              </p:nvSpPr>
              <p:spPr>
                <a:xfrm>
                  <a:off x="3733800" y="1855113"/>
                  <a:ext cx="68580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800" dirty="0"/>
                    <a:t>2</a:t>
                  </a:r>
                  <a:endParaRPr lang="en-US" sz="2800" dirty="0"/>
                </a:p>
              </p:txBody>
            </p:sp>
          </p:grpSp>
          <p:sp>
            <p:nvSpPr>
              <p:cNvPr id="32" name="TextBox 31"/>
              <p:cNvSpPr txBox="1"/>
              <p:nvPr/>
            </p:nvSpPr>
            <p:spPr>
              <a:xfrm>
                <a:off x="3200400" y="2540913"/>
                <a:ext cx="685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dirty="0"/>
                  <a:t>=</a:t>
                </a:r>
                <a:endParaRPr lang="en-US" sz="2800" dirty="0"/>
              </a:p>
            </p:txBody>
          </p:sp>
        </p:grpSp>
        <p:sp>
          <p:nvSpPr>
            <p:cNvPr id="30" name="TextBox 5"/>
            <p:cNvSpPr txBox="1"/>
            <p:nvPr/>
          </p:nvSpPr>
          <p:spPr>
            <a:xfrm>
              <a:off x="4114800" y="5334000"/>
              <a:ext cx="18288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800" dirty="0"/>
                <a:t>(    )  </a:t>
              </a:r>
              <a:endParaRPr lang="en-US" sz="4800" dirty="0"/>
            </a:p>
          </p:txBody>
        </p:sp>
      </p:grpSp>
      <p:grpSp>
        <p:nvGrpSpPr>
          <p:cNvPr id="44" name="Group 3"/>
          <p:cNvGrpSpPr/>
          <p:nvPr/>
        </p:nvGrpSpPr>
        <p:grpSpPr>
          <a:xfrm>
            <a:off x="4267200" y="3352800"/>
            <a:ext cx="914400" cy="970240"/>
            <a:chOff x="2766134" y="1573291"/>
            <a:chExt cx="690526" cy="970240"/>
          </a:xfrm>
        </p:grpSpPr>
        <p:grpSp>
          <p:nvGrpSpPr>
            <p:cNvPr id="45" name="Group 24"/>
            <p:cNvGrpSpPr/>
            <p:nvPr/>
          </p:nvGrpSpPr>
          <p:grpSpPr>
            <a:xfrm>
              <a:off x="2823676" y="1573291"/>
              <a:ext cx="621473" cy="523220"/>
              <a:chOff x="2823676" y="1573291"/>
              <a:chExt cx="621473" cy="523220"/>
            </a:xfrm>
          </p:grpSpPr>
          <p:cxnSp>
            <p:nvCxnSpPr>
              <p:cNvPr id="47" name="Straight Connector 8"/>
              <p:cNvCxnSpPr/>
              <p:nvPr/>
            </p:nvCxnSpPr>
            <p:spPr>
              <a:xfrm>
                <a:off x="2823676" y="2022478"/>
                <a:ext cx="621473" cy="1588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TextBox 47"/>
              <p:cNvSpPr txBox="1"/>
              <p:nvPr/>
            </p:nvSpPr>
            <p:spPr>
              <a:xfrm>
                <a:off x="2935660" y="1573291"/>
                <a:ext cx="47590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t</a:t>
                </a:r>
              </a:p>
            </p:txBody>
          </p:sp>
        </p:grpSp>
        <p:sp>
          <p:nvSpPr>
            <p:cNvPr id="46" name="TextBox 5"/>
            <p:cNvSpPr txBox="1"/>
            <p:nvPr/>
          </p:nvSpPr>
          <p:spPr>
            <a:xfrm>
              <a:off x="2766134" y="2020311"/>
              <a:ext cx="69052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/>
                <a:t>5730 </a:t>
              </a:r>
              <a:endParaRPr lang="en-US" sz="2800" dirty="0"/>
            </a:p>
          </p:txBody>
        </p:sp>
      </p:grpSp>
      <p:grpSp>
        <p:nvGrpSpPr>
          <p:cNvPr id="49" name="Group 3"/>
          <p:cNvGrpSpPr/>
          <p:nvPr/>
        </p:nvGrpSpPr>
        <p:grpSpPr>
          <a:xfrm>
            <a:off x="3733800" y="4211360"/>
            <a:ext cx="2133600" cy="970240"/>
            <a:chOff x="2708591" y="1563111"/>
            <a:chExt cx="1611228" cy="970240"/>
          </a:xfrm>
        </p:grpSpPr>
        <p:grpSp>
          <p:nvGrpSpPr>
            <p:cNvPr id="50" name="Group 24"/>
            <p:cNvGrpSpPr/>
            <p:nvPr/>
          </p:nvGrpSpPr>
          <p:grpSpPr>
            <a:xfrm>
              <a:off x="2708591" y="1563111"/>
              <a:ext cx="1269070" cy="523220"/>
              <a:chOff x="2708591" y="1563111"/>
              <a:chExt cx="1269070" cy="523220"/>
            </a:xfrm>
          </p:grpSpPr>
          <p:cxnSp>
            <p:nvCxnSpPr>
              <p:cNvPr id="52" name="Straight Connector 8"/>
              <p:cNvCxnSpPr/>
              <p:nvPr/>
            </p:nvCxnSpPr>
            <p:spPr>
              <a:xfrm>
                <a:off x="2766135" y="2022478"/>
                <a:ext cx="1104842" cy="1588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" name="TextBox 52"/>
              <p:cNvSpPr txBox="1"/>
              <p:nvPr/>
            </p:nvSpPr>
            <p:spPr>
              <a:xfrm>
                <a:off x="2708591" y="1563111"/>
                <a:ext cx="126907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log0.0625</a:t>
                </a:r>
              </a:p>
            </p:txBody>
          </p:sp>
        </p:grpSp>
        <p:sp>
          <p:nvSpPr>
            <p:cNvPr id="51" name="TextBox 5"/>
            <p:cNvSpPr txBox="1"/>
            <p:nvPr/>
          </p:nvSpPr>
          <p:spPr>
            <a:xfrm>
              <a:off x="2766135" y="2010131"/>
              <a:ext cx="155368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/>
                <a:t>log 0.5 </a:t>
              </a:r>
              <a:endParaRPr lang="en-US" sz="2800" dirty="0"/>
            </a:p>
          </p:txBody>
        </p:sp>
      </p:grp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001000" cy="1202485"/>
          </a:xfrm>
        </p:spPr>
        <p:txBody>
          <a:bodyPr>
            <a:noAutofit/>
          </a:bodyPr>
          <a:lstStyle/>
          <a:p>
            <a:pPr algn="l"/>
            <a:r>
              <a:rPr lang="zh-CN" altLang="en-US" sz="4800" b="1" dirty="0"/>
              <a:t>补充题</a:t>
            </a:r>
            <a:endParaRPr lang="en-US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382000" cy="58674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altLang="zh-CN" sz="3000" dirty="0"/>
              <a:t>1. </a:t>
            </a:r>
            <a:r>
              <a:rPr lang="en-US" altLang="zh-CN" sz="3000" baseline="30000" dirty="0"/>
              <a:t>226</a:t>
            </a:r>
            <a:r>
              <a:rPr lang="en-US" altLang="zh-CN" sz="3000" dirty="0"/>
              <a:t>Ra</a:t>
            </a:r>
            <a:r>
              <a:rPr lang="zh-CN" altLang="en-US" sz="3000" dirty="0"/>
              <a:t>的</a:t>
            </a:r>
            <a:r>
              <a:rPr lang="en-US" altLang="zh-CN" sz="3000" dirty="0"/>
              <a:t>T</a:t>
            </a:r>
            <a:r>
              <a:rPr lang="en-US" altLang="zh-CN" sz="3000" baseline="-25000" dirty="0"/>
              <a:t>1/2</a:t>
            </a:r>
            <a:r>
              <a:rPr lang="en-US" altLang="zh-CN" sz="3000" dirty="0"/>
              <a:t> </a:t>
            </a:r>
            <a:r>
              <a:rPr lang="zh-CN" altLang="en-US" sz="3000" dirty="0"/>
              <a:t>是</a:t>
            </a:r>
            <a:r>
              <a:rPr lang="en-US" altLang="zh-CN" sz="3000" dirty="0"/>
              <a:t>1620</a:t>
            </a:r>
            <a:r>
              <a:rPr lang="zh-CN" altLang="en-US" sz="3000" dirty="0"/>
              <a:t>年，求</a:t>
            </a:r>
            <a:r>
              <a:rPr lang="en-US" altLang="zh-CN" sz="3000" dirty="0"/>
              <a:t>(1)</a:t>
            </a:r>
            <a:r>
              <a:rPr lang="zh-CN" altLang="en-US" sz="3000" dirty="0"/>
              <a:t>其衰变常数</a:t>
            </a:r>
            <a:r>
              <a:rPr lang="en-US" altLang="zh-CN" sz="3000" dirty="0"/>
              <a:t>(2)</a:t>
            </a:r>
            <a:r>
              <a:rPr lang="zh-CN" altLang="en-US" sz="3000" dirty="0"/>
              <a:t>此放射性元素</a:t>
            </a:r>
            <a:r>
              <a:rPr lang="en-US" altLang="zh-CN" sz="3000" dirty="0"/>
              <a:t>100</a:t>
            </a:r>
            <a:r>
              <a:rPr lang="zh-CN" altLang="en-US" sz="3000" dirty="0"/>
              <a:t>年剩余的百分数。</a:t>
            </a:r>
            <a:endParaRPr lang="en-US" altLang="zh-CN" sz="3000" dirty="0"/>
          </a:p>
          <a:p>
            <a:pPr>
              <a:lnSpc>
                <a:spcPct val="150000"/>
              </a:lnSpc>
              <a:buNone/>
            </a:pPr>
            <a:r>
              <a:rPr lang="en-US" altLang="zh-CN" sz="3000" dirty="0"/>
              <a:t>(1)	T</a:t>
            </a:r>
            <a:r>
              <a:rPr lang="en-US" altLang="zh-CN" sz="3000" baseline="-25000" dirty="0"/>
              <a:t>1/2</a:t>
            </a:r>
            <a:r>
              <a:rPr lang="en-US" altLang="zh-CN" sz="3000" dirty="0"/>
              <a:t> = 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3000" dirty="0"/>
              <a:t>    	 </a:t>
            </a:r>
            <a:r>
              <a:rPr lang="el-GR" altLang="zh-CN" sz="3000" dirty="0"/>
              <a:t>λ</a:t>
            </a:r>
            <a:r>
              <a:rPr lang="en-US" altLang="zh-CN" sz="3000" dirty="0"/>
              <a:t>  = 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3000" dirty="0"/>
              <a:t>	     	    =  4.28 x 10</a:t>
            </a:r>
            <a:r>
              <a:rPr lang="en-US" altLang="zh-CN" sz="3000" baseline="30000" dirty="0"/>
              <a:t>-4</a:t>
            </a:r>
            <a:r>
              <a:rPr lang="en-US" altLang="zh-CN" sz="3000" dirty="0"/>
              <a:t> </a:t>
            </a:r>
            <a:r>
              <a:rPr lang="zh-CN" altLang="en-US" sz="3000" dirty="0"/>
              <a:t>年</a:t>
            </a:r>
            <a:r>
              <a:rPr lang="en-US" altLang="zh-CN" sz="3000" baseline="30000" dirty="0"/>
              <a:t>-1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3000" dirty="0"/>
              <a:t>(2)</a:t>
            </a:r>
          </a:p>
          <a:p>
            <a:pPr>
              <a:lnSpc>
                <a:spcPct val="150000"/>
              </a:lnSpc>
              <a:buNone/>
            </a:pPr>
            <a:endParaRPr lang="en-US" altLang="zh-CN" sz="3000" dirty="0"/>
          </a:p>
          <a:p>
            <a:pPr>
              <a:buNone/>
            </a:pPr>
            <a:r>
              <a:rPr lang="en-US" altLang="zh-CN" sz="3000" dirty="0"/>
              <a:t>			  = 0.958 </a:t>
            </a:r>
          </a:p>
          <a:p>
            <a:pPr>
              <a:buNone/>
            </a:pPr>
            <a:r>
              <a:rPr lang="en-US" altLang="zh-CN" sz="3000" dirty="0"/>
              <a:t>			 = 95.8%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2249639" y="1981200"/>
            <a:ext cx="1255561" cy="1384995"/>
            <a:chOff x="2881222" y="1552931"/>
            <a:chExt cx="488345" cy="1384995"/>
          </a:xfrm>
        </p:grpSpPr>
        <p:grpSp>
          <p:nvGrpSpPr>
            <p:cNvPr id="13" name="Group 24"/>
            <p:cNvGrpSpPr/>
            <p:nvPr/>
          </p:nvGrpSpPr>
          <p:grpSpPr>
            <a:xfrm>
              <a:off x="2881222" y="1552931"/>
              <a:ext cx="488345" cy="1384995"/>
              <a:chOff x="2881222" y="1552931"/>
              <a:chExt cx="488345" cy="1384995"/>
            </a:xfrm>
          </p:grpSpPr>
          <p:cxnSp>
            <p:nvCxnSpPr>
              <p:cNvPr id="15" name="Straight Connector 14"/>
              <p:cNvCxnSpPr/>
              <p:nvPr/>
            </p:nvCxnSpPr>
            <p:spPr>
              <a:xfrm>
                <a:off x="2881222" y="2022478"/>
                <a:ext cx="414316" cy="1588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TextBox 15"/>
              <p:cNvSpPr txBox="1"/>
              <p:nvPr/>
            </p:nvSpPr>
            <p:spPr>
              <a:xfrm>
                <a:off x="2893665" y="1552931"/>
                <a:ext cx="475902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dirty="0"/>
                  <a:t>0.693</a:t>
                </a:r>
                <a:r>
                  <a:rPr lang="en-US" sz="2800" dirty="0"/>
                  <a:t> </a:t>
                </a:r>
              </a:p>
            </p:txBody>
          </p:sp>
        </p:grpSp>
        <p:sp>
          <p:nvSpPr>
            <p:cNvPr id="14" name="TextBox 5"/>
            <p:cNvSpPr txBox="1"/>
            <p:nvPr/>
          </p:nvSpPr>
          <p:spPr>
            <a:xfrm>
              <a:off x="3027680" y="1944111"/>
              <a:ext cx="17955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/>
                <a:t>λ </a:t>
              </a:r>
              <a:endParaRPr lang="en-US" sz="2800" dirty="0"/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1219200" y="4051995"/>
            <a:ext cx="3429000" cy="1219200"/>
            <a:chOff x="2971800" y="5105400"/>
            <a:chExt cx="3429000" cy="1219200"/>
          </a:xfrm>
        </p:grpSpPr>
        <p:grpSp>
          <p:nvGrpSpPr>
            <p:cNvPr id="18" name="Group 25"/>
            <p:cNvGrpSpPr/>
            <p:nvPr/>
          </p:nvGrpSpPr>
          <p:grpSpPr>
            <a:xfrm>
              <a:off x="5428809" y="5105400"/>
              <a:ext cx="971991" cy="795755"/>
              <a:chOff x="2881222" y="1610021"/>
              <a:chExt cx="488345" cy="795755"/>
            </a:xfrm>
          </p:grpSpPr>
          <p:grpSp>
            <p:nvGrpSpPr>
              <p:cNvPr id="30" name="Group 24"/>
              <p:cNvGrpSpPr/>
              <p:nvPr/>
            </p:nvGrpSpPr>
            <p:grpSpPr>
              <a:xfrm>
                <a:off x="2881222" y="1610021"/>
                <a:ext cx="488345" cy="461665"/>
                <a:chOff x="2881222" y="1610021"/>
                <a:chExt cx="488345" cy="461665"/>
              </a:xfrm>
            </p:grpSpPr>
            <p:cxnSp>
              <p:nvCxnSpPr>
                <p:cNvPr id="32" name="Straight Connector 31"/>
                <p:cNvCxnSpPr/>
                <p:nvPr/>
              </p:nvCxnSpPr>
              <p:spPr>
                <a:xfrm>
                  <a:off x="2881222" y="2022478"/>
                  <a:ext cx="275646" cy="1588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3" name="TextBox 32"/>
                <p:cNvSpPr txBox="1"/>
                <p:nvPr/>
              </p:nvSpPr>
              <p:spPr>
                <a:xfrm>
                  <a:off x="2893665" y="1610021"/>
                  <a:ext cx="475902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dirty="0"/>
                    <a:t>t </a:t>
                  </a:r>
                </a:p>
              </p:txBody>
            </p:sp>
          </p:grpSp>
          <p:sp>
            <p:nvSpPr>
              <p:cNvPr id="31" name="TextBox 5"/>
              <p:cNvSpPr txBox="1"/>
              <p:nvPr/>
            </p:nvSpPr>
            <p:spPr>
              <a:xfrm>
                <a:off x="2881224" y="1944111"/>
                <a:ext cx="44629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/>
                  <a:t>T</a:t>
                </a:r>
                <a:r>
                  <a:rPr lang="en-US" altLang="zh-CN" sz="2400" baseline="-25000" dirty="0"/>
                  <a:t>1/2</a:t>
                </a:r>
                <a:r>
                  <a:rPr lang="en-US" altLang="zh-CN" sz="2400" dirty="0"/>
                  <a:t>  </a:t>
                </a:r>
                <a:endParaRPr lang="en-US" sz="2400" dirty="0"/>
              </a:p>
            </p:txBody>
          </p:sp>
        </p:grpSp>
        <p:grpSp>
          <p:nvGrpSpPr>
            <p:cNvPr id="19" name="Group 30"/>
            <p:cNvGrpSpPr/>
            <p:nvPr/>
          </p:nvGrpSpPr>
          <p:grpSpPr>
            <a:xfrm>
              <a:off x="2971800" y="5281137"/>
              <a:ext cx="2209800" cy="1043463"/>
              <a:chOff x="2209800" y="2234625"/>
              <a:chExt cx="2209800" cy="1043463"/>
            </a:xfrm>
          </p:grpSpPr>
          <p:grpSp>
            <p:nvGrpSpPr>
              <p:cNvPr id="21" name="Group 4"/>
              <p:cNvGrpSpPr/>
              <p:nvPr/>
            </p:nvGrpSpPr>
            <p:grpSpPr>
              <a:xfrm>
                <a:off x="2209800" y="2234625"/>
                <a:ext cx="2209800" cy="1043463"/>
                <a:chOff x="2209800" y="1396425"/>
                <a:chExt cx="2209800" cy="1043463"/>
              </a:xfrm>
            </p:grpSpPr>
            <p:grpSp>
              <p:nvGrpSpPr>
                <p:cNvPr id="23" name="Group 10"/>
                <p:cNvGrpSpPr/>
                <p:nvPr/>
              </p:nvGrpSpPr>
              <p:grpSpPr>
                <a:xfrm>
                  <a:off x="2209800" y="1396425"/>
                  <a:ext cx="2209800" cy="1043463"/>
                  <a:chOff x="2209800" y="1396425"/>
                  <a:chExt cx="2209800" cy="1043463"/>
                </a:xfrm>
              </p:grpSpPr>
              <p:sp>
                <p:nvSpPr>
                  <p:cNvPr id="25" name="TextBox 24"/>
                  <p:cNvSpPr txBox="1"/>
                  <p:nvPr/>
                </p:nvSpPr>
                <p:spPr>
                  <a:xfrm>
                    <a:off x="2438400" y="1447800"/>
                    <a:ext cx="685800" cy="58477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3200" b="1" dirty="0"/>
                      <a:t>N</a:t>
                    </a:r>
                    <a:endParaRPr lang="en-US" sz="3200" b="1" dirty="0"/>
                  </a:p>
                </p:txBody>
              </p:sp>
              <p:cxnSp>
                <p:nvCxnSpPr>
                  <p:cNvPr id="26" name="Straight Connector 25"/>
                  <p:cNvCxnSpPr/>
                  <p:nvPr/>
                </p:nvCxnSpPr>
                <p:spPr>
                  <a:xfrm>
                    <a:off x="2209800" y="1905000"/>
                    <a:ext cx="838200" cy="1588"/>
                  </a:xfrm>
                  <a:prstGeom prst="line">
                    <a:avLst/>
                  </a:prstGeom>
                  <a:ln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" name="Straight Connector 26"/>
                  <p:cNvCxnSpPr/>
                  <p:nvPr/>
                </p:nvCxnSpPr>
                <p:spPr>
                  <a:xfrm>
                    <a:off x="3581400" y="1905000"/>
                    <a:ext cx="838200" cy="1588"/>
                  </a:xfrm>
                  <a:prstGeom prst="line">
                    <a:avLst/>
                  </a:prstGeom>
                  <a:ln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8" name="TextBox 27"/>
                  <p:cNvSpPr txBox="1"/>
                  <p:nvPr/>
                </p:nvSpPr>
                <p:spPr>
                  <a:xfrm>
                    <a:off x="2438400" y="1855113"/>
                    <a:ext cx="685800" cy="58477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3200" b="1" dirty="0"/>
                      <a:t>N</a:t>
                    </a:r>
                    <a:r>
                      <a:rPr lang="en-US" altLang="zh-CN" sz="3200" b="1" baseline="-25000" dirty="0"/>
                      <a:t>0</a:t>
                    </a:r>
                    <a:endParaRPr lang="en-US" sz="3200" b="1" dirty="0"/>
                  </a:p>
                </p:txBody>
              </p:sp>
              <p:sp>
                <p:nvSpPr>
                  <p:cNvPr id="29" name="TextBox 28"/>
                  <p:cNvSpPr txBox="1"/>
                  <p:nvPr/>
                </p:nvSpPr>
                <p:spPr>
                  <a:xfrm>
                    <a:off x="3733800" y="1396425"/>
                    <a:ext cx="685800" cy="58477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3200" b="1" dirty="0"/>
                      <a:t>1</a:t>
                    </a:r>
                    <a:endParaRPr lang="en-US" sz="3200" b="1" dirty="0"/>
                  </a:p>
                </p:txBody>
              </p:sp>
            </p:grpSp>
            <p:sp>
              <p:nvSpPr>
                <p:cNvPr id="24" name="TextBox 23"/>
                <p:cNvSpPr txBox="1"/>
                <p:nvPr/>
              </p:nvSpPr>
              <p:spPr>
                <a:xfrm>
                  <a:off x="3733800" y="1855113"/>
                  <a:ext cx="685800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3200" b="1" dirty="0"/>
                    <a:t>2</a:t>
                  </a:r>
                  <a:endParaRPr lang="en-US" sz="3200" b="1" dirty="0"/>
                </a:p>
              </p:txBody>
            </p:sp>
          </p:grpSp>
          <p:sp>
            <p:nvSpPr>
              <p:cNvPr id="22" name="TextBox 21"/>
              <p:cNvSpPr txBox="1"/>
              <p:nvPr/>
            </p:nvSpPr>
            <p:spPr>
              <a:xfrm>
                <a:off x="3200400" y="2540913"/>
                <a:ext cx="68580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b="1" dirty="0"/>
                  <a:t>=</a:t>
                </a:r>
                <a:endParaRPr lang="en-US" sz="3200" b="1" dirty="0"/>
              </a:p>
            </p:txBody>
          </p:sp>
        </p:grpSp>
        <p:sp>
          <p:nvSpPr>
            <p:cNvPr id="20" name="TextBox 5"/>
            <p:cNvSpPr txBox="1"/>
            <p:nvPr/>
          </p:nvSpPr>
          <p:spPr>
            <a:xfrm>
              <a:off x="4114800" y="5325070"/>
              <a:ext cx="182880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5400" dirty="0"/>
                <a:t>(    )  </a:t>
              </a:r>
              <a:endParaRPr lang="en-US" sz="5400" dirty="0"/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2057399" y="2819400"/>
            <a:ext cx="1371601" cy="1384995"/>
            <a:chOff x="2851583" y="1552931"/>
            <a:chExt cx="533478" cy="1384995"/>
          </a:xfrm>
        </p:grpSpPr>
        <p:grpSp>
          <p:nvGrpSpPr>
            <p:cNvPr id="35" name="Group 24"/>
            <p:cNvGrpSpPr/>
            <p:nvPr/>
          </p:nvGrpSpPr>
          <p:grpSpPr>
            <a:xfrm>
              <a:off x="2881222" y="1552931"/>
              <a:ext cx="488345" cy="1384995"/>
              <a:chOff x="2881222" y="1552931"/>
              <a:chExt cx="488345" cy="1384995"/>
            </a:xfrm>
          </p:grpSpPr>
          <p:cxnSp>
            <p:nvCxnSpPr>
              <p:cNvPr id="37" name="Straight Connector 36"/>
              <p:cNvCxnSpPr/>
              <p:nvPr/>
            </p:nvCxnSpPr>
            <p:spPr>
              <a:xfrm>
                <a:off x="2881222" y="2022478"/>
                <a:ext cx="414316" cy="1588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TextBox 37"/>
              <p:cNvSpPr txBox="1"/>
              <p:nvPr/>
            </p:nvSpPr>
            <p:spPr>
              <a:xfrm>
                <a:off x="2893665" y="1552931"/>
                <a:ext cx="475902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dirty="0"/>
                  <a:t>0.693</a:t>
                </a:r>
                <a:r>
                  <a:rPr lang="en-US" sz="2800" dirty="0"/>
                  <a:t> </a:t>
                </a:r>
              </a:p>
            </p:txBody>
          </p:sp>
        </p:grpSp>
        <p:sp>
          <p:nvSpPr>
            <p:cNvPr id="36" name="TextBox 5"/>
            <p:cNvSpPr txBox="1"/>
            <p:nvPr/>
          </p:nvSpPr>
          <p:spPr>
            <a:xfrm>
              <a:off x="2851583" y="1944111"/>
              <a:ext cx="53347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/>
                <a:t>1620</a:t>
              </a:r>
              <a:r>
                <a:rPr lang="zh-CN" altLang="en-US" sz="2800" dirty="0"/>
                <a:t>年</a:t>
              </a:r>
              <a:r>
                <a:rPr lang="en-US" altLang="zh-CN" sz="2800" dirty="0"/>
                <a:t> </a:t>
              </a:r>
              <a:endParaRPr lang="en-US" sz="2800" dirty="0"/>
            </a:p>
          </p:txBody>
        </p:sp>
      </p:grpSp>
      <p:grpSp>
        <p:nvGrpSpPr>
          <p:cNvPr id="39" name="Group 38"/>
          <p:cNvGrpSpPr/>
          <p:nvPr/>
        </p:nvGrpSpPr>
        <p:grpSpPr>
          <a:xfrm>
            <a:off x="2286000" y="4885730"/>
            <a:ext cx="2362200" cy="1223665"/>
            <a:chOff x="3962400" y="5100935"/>
            <a:chExt cx="2438400" cy="1223665"/>
          </a:xfrm>
        </p:grpSpPr>
        <p:grpSp>
          <p:nvGrpSpPr>
            <p:cNvPr id="40" name="Group 25"/>
            <p:cNvGrpSpPr/>
            <p:nvPr/>
          </p:nvGrpSpPr>
          <p:grpSpPr>
            <a:xfrm>
              <a:off x="5428809" y="5100935"/>
              <a:ext cx="971991" cy="770930"/>
              <a:chOff x="2881222" y="1605556"/>
              <a:chExt cx="488345" cy="770930"/>
            </a:xfrm>
          </p:grpSpPr>
          <p:grpSp>
            <p:nvGrpSpPr>
              <p:cNvPr id="52" name="Group 24"/>
              <p:cNvGrpSpPr/>
              <p:nvPr/>
            </p:nvGrpSpPr>
            <p:grpSpPr>
              <a:xfrm>
                <a:off x="2881222" y="1605556"/>
                <a:ext cx="488345" cy="461665"/>
                <a:chOff x="2881222" y="1605556"/>
                <a:chExt cx="488345" cy="461665"/>
              </a:xfrm>
            </p:grpSpPr>
            <p:cxnSp>
              <p:nvCxnSpPr>
                <p:cNvPr id="54" name="Straight Connector 53"/>
                <p:cNvCxnSpPr/>
                <p:nvPr/>
              </p:nvCxnSpPr>
              <p:spPr>
                <a:xfrm>
                  <a:off x="2881222" y="2022478"/>
                  <a:ext cx="459410" cy="1588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5" name="TextBox 54"/>
                <p:cNvSpPr txBox="1"/>
                <p:nvPr/>
              </p:nvSpPr>
              <p:spPr>
                <a:xfrm>
                  <a:off x="2893665" y="1605556"/>
                  <a:ext cx="475902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dirty="0"/>
                    <a:t>100 </a:t>
                  </a:r>
                </a:p>
              </p:txBody>
            </p:sp>
          </p:grpSp>
          <p:sp>
            <p:nvSpPr>
              <p:cNvPr id="53" name="TextBox 5"/>
              <p:cNvSpPr txBox="1"/>
              <p:nvPr/>
            </p:nvSpPr>
            <p:spPr>
              <a:xfrm>
                <a:off x="2881224" y="1914821"/>
                <a:ext cx="44629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/>
                  <a:t>1620  </a:t>
                </a:r>
                <a:endParaRPr lang="en-US" sz="2400" dirty="0"/>
              </a:p>
            </p:txBody>
          </p:sp>
        </p:grpSp>
        <p:grpSp>
          <p:nvGrpSpPr>
            <p:cNvPr id="41" name="Group 30"/>
            <p:cNvGrpSpPr/>
            <p:nvPr/>
          </p:nvGrpSpPr>
          <p:grpSpPr>
            <a:xfrm>
              <a:off x="3962400" y="5281137"/>
              <a:ext cx="1219200" cy="1043463"/>
              <a:chOff x="3200400" y="2234625"/>
              <a:chExt cx="1219200" cy="1043463"/>
            </a:xfrm>
          </p:grpSpPr>
          <p:grpSp>
            <p:nvGrpSpPr>
              <p:cNvPr id="43" name="Group 4"/>
              <p:cNvGrpSpPr/>
              <p:nvPr/>
            </p:nvGrpSpPr>
            <p:grpSpPr>
              <a:xfrm>
                <a:off x="3581400" y="2234625"/>
                <a:ext cx="838200" cy="1043463"/>
                <a:chOff x="3581400" y="1396425"/>
                <a:chExt cx="838200" cy="1043463"/>
              </a:xfrm>
            </p:grpSpPr>
            <p:grpSp>
              <p:nvGrpSpPr>
                <p:cNvPr id="45" name="Group 10"/>
                <p:cNvGrpSpPr/>
                <p:nvPr/>
              </p:nvGrpSpPr>
              <p:grpSpPr>
                <a:xfrm>
                  <a:off x="3581400" y="1396425"/>
                  <a:ext cx="838200" cy="584775"/>
                  <a:chOff x="3581400" y="1396425"/>
                  <a:chExt cx="838200" cy="584775"/>
                </a:xfrm>
              </p:grpSpPr>
              <p:cxnSp>
                <p:nvCxnSpPr>
                  <p:cNvPr id="49" name="Straight Connector 48"/>
                  <p:cNvCxnSpPr/>
                  <p:nvPr/>
                </p:nvCxnSpPr>
                <p:spPr>
                  <a:xfrm>
                    <a:off x="3581400" y="1905000"/>
                    <a:ext cx="838200" cy="1588"/>
                  </a:xfrm>
                  <a:prstGeom prst="line">
                    <a:avLst/>
                  </a:prstGeom>
                  <a:ln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51" name="TextBox 50"/>
                  <p:cNvSpPr txBox="1"/>
                  <p:nvPr/>
                </p:nvSpPr>
                <p:spPr>
                  <a:xfrm>
                    <a:off x="3733800" y="1396425"/>
                    <a:ext cx="685800" cy="58477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3200" b="1" dirty="0"/>
                      <a:t>1</a:t>
                    </a:r>
                    <a:endParaRPr lang="en-US" sz="3200" b="1" dirty="0"/>
                  </a:p>
                </p:txBody>
              </p:sp>
            </p:grpSp>
            <p:sp>
              <p:nvSpPr>
                <p:cNvPr id="46" name="TextBox 45"/>
                <p:cNvSpPr txBox="1"/>
                <p:nvPr/>
              </p:nvSpPr>
              <p:spPr>
                <a:xfrm>
                  <a:off x="3733800" y="1855113"/>
                  <a:ext cx="685800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3200" b="1" dirty="0"/>
                    <a:t>2</a:t>
                  </a:r>
                  <a:endParaRPr lang="en-US" sz="3200" b="1" dirty="0"/>
                </a:p>
              </p:txBody>
            </p:sp>
          </p:grpSp>
          <p:sp>
            <p:nvSpPr>
              <p:cNvPr id="44" name="TextBox 43"/>
              <p:cNvSpPr txBox="1"/>
              <p:nvPr/>
            </p:nvSpPr>
            <p:spPr>
              <a:xfrm>
                <a:off x="3200400" y="2540913"/>
                <a:ext cx="68580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b="1" dirty="0"/>
                  <a:t>=</a:t>
                </a:r>
                <a:endParaRPr lang="en-US" sz="3200" b="1" dirty="0"/>
              </a:p>
            </p:txBody>
          </p:sp>
        </p:grpSp>
        <p:sp>
          <p:nvSpPr>
            <p:cNvPr id="42" name="TextBox 5"/>
            <p:cNvSpPr txBox="1"/>
            <p:nvPr/>
          </p:nvSpPr>
          <p:spPr>
            <a:xfrm>
              <a:off x="4114800" y="5325070"/>
              <a:ext cx="182880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5400" dirty="0"/>
                <a:t>(    )  </a:t>
              </a:r>
              <a:endParaRPr lang="en-US" sz="5400" dirty="0"/>
            </a:p>
          </p:txBody>
        </p:sp>
      </p:grp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001000" cy="1202485"/>
          </a:xfrm>
        </p:spPr>
        <p:txBody>
          <a:bodyPr>
            <a:noAutofit/>
          </a:bodyPr>
          <a:lstStyle/>
          <a:p>
            <a:pPr algn="l"/>
            <a:r>
              <a:rPr lang="zh-CN" altLang="en-US" sz="4800" b="1" dirty="0">
                <a:latin typeface="+mn-ea"/>
              </a:rPr>
              <a:t>补充题</a:t>
            </a:r>
            <a:endParaRPr lang="en-US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382000" cy="58674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altLang="zh-CN" sz="3000" dirty="0"/>
              <a:t>2. 1g  </a:t>
            </a:r>
            <a:r>
              <a:rPr lang="en-US" altLang="zh-CN" sz="3000" baseline="30000" dirty="0"/>
              <a:t>90</a:t>
            </a:r>
            <a:r>
              <a:rPr lang="en-US" altLang="zh-CN" sz="3000" dirty="0"/>
              <a:t>Sr</a:t>
            </a:r>
            <a:r>
              <a:rPr lang="zh-CN" altLang="en-US" sz="3000" dirty="0"/>
              <a:t>经两年后，剩下</a:t>
            </a:r>
            <a:r>
              <a:rPr lang="en-US" altLang="zh-CN" sz="3000" dirty="0"/>
              <a:t>0.953g</a:t>
            </a:r>
            <a:r>
              <a:rPr lang="zh-CN" altLang="en-US" sz="3000" dirty="0"/>
              <a:t>，</a:t>
            </a:r>
            <a:endParaRPr lang="en-US" altLang="zh-CN" sz="3000" dirty="0"/>
          </a:p>
          <a:p>
            <a:pPr>
              <a:buNone/>
            </a:pPr>
            <a:r>
              <a:rPr lang="en-US" altLang="zh-CN" sz="3000" dirty="0"/>
              <a:t>	</a:t>
            </a:r>
            <a:r>
              <a:rPr lang="zh-CN" altLang="en-US" sz="3000" dirty="0"/>
              <a:t>求</a:t>
            </a:r>
            <a:r>
              <a:rPr lang="en-US" altLang="zh-CN" sz="3000" dirty="0"/>
              <a:t>(1)</a:t>
            </a:r>
            <a:r>
              <a:rPr lang="en-US" altLang="zh-CN" sz="3000" baseline="30000" dirty="0"/>
              <a:t>90</a:t>
            </a:r>
            <a:r>
              <a:rPr lang="en-US" altLang="zh-CN" sz="3000" dirty="0"/>
              <a:t>Sr </a:t>
            </a:r>
            <a:r>
              <a:rPr lang="zh-CN" altLang="en-US" sz="3000" dirty="0"/>
              <a:t>的</a:t>
            </a:r>
            <a:r>
              <a:rPr lang="en-US" altLang="zh-CN" sz="3000" dirty="0"/>
              <a:t>T</a:t>
            </a:r>
            <a:r>
              <a:rPr lang="en-US" altLang="zh-CN" sz="3000" baseline="-25000" dirty="0"/>
              <a:t>1/2</a:t>
            </a:r>
            <a:r>
              <a:rPr lang="en-US" altLang="zh-CN" sz="3000" dirty="0"/>
              <a:t> 	(2)5</a:t>
            </a:r>
            <a:r>
              <a:rPr lang="zh-CN" altLang="en-US" sz="3000" dirty="0"/>
              <a:t>年后</a:t>
            </a:r>
            <a:r>
              <a:rPr lang="en-US" altLang="zh-CN" sz="3000" baseline="30000" dirty="0"/>
              <a:t>90</a:t>
            </a:r>
            <a:r>
              <a:rPr lang="en-US" altLang="zh-CN" sz="3000" dirty="0"/>
              <a:t>Sr</a:t>
            </a:r>
            <a:r>
              <a:rPr lang="zh-CN" altLang="en-US" sz="3000" dirty="0"/>
              <a:t>剩下多少？</a:t>
            </a:r>
            <a:endParaRPr lang="en-US" altLang="zh-CN" sz="3000" dirty="0"/>
          </a:p>
          <a:p>
            <a:pPr>
              <a:buNone/>
            </a:pPr>
            <a:r>
              <a:rPr lang="zh-CN" altLang="en-US" sz="3000" dirty="0"/>
              <a:t>已知</a:t>
            </a:r>
            <a:r>
              <a:rPr lang="en-US" altLang="zh-CN" sz="3000" dirty="0"/>
              <a:t>	m</a:t>
            </a:r>
            <a:r>
              <a:rPr lang="en-US" altLang="zh-CN" sz="3000" baseline="-25000" dirty="0"/>
              <a:t>0</a:t>
            </a:r>
            <a:r>
              <a:rPr lang="en-US" altLang="zh-CN" sz="3000" dirty="0"/>
              <a:t> </a:t>
            </a:r>
            <a:r>
              <a:rPr lang="en-US" altLang="zh-CN" sz="3000" baseline="-25000" dirty="0"/>
              <a:t> </a:t>
            </a:r>
            <a:r>
              <a:rPr lang="en-US" altLang="zh-CN" sz="3000" dirty="0"/>
              <a:t>= 1g</a:t>
            </a:r>
            <a:r>
              <a:rPr lang="zh-CN" altLang="en-US" sz="3000" dirty="0"/>
              <a:t>，</a:t>
            </a:r>
            <a:r>
              <a:rPr lang="en-US" altLang="zh-CN" sz="3000" dirty="0"/>
              <a:t>t=2</a:t>
            </a:r>
            <a:r>
              <a:rPr lang="zh-CN" altLang="en-US" sz="3000" dirty="0"/>
              <a:t>年，</a:t>
            </a:r>
            <a:r>
              <a:rPr lang="en-US" altLang="zh-CN" sz="3000" dirty="0"/>
              <a:t>m = 0.953 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3000" dirty="0"/>
              <a:t>(1)</a:t>
            </a:r>
          </a:p>
          <a:p>
            <a:pPr>
              <a:lnSpc>
                <a:spcPct val="150000"/>
              </a:lnSpc>
              <a:buNone/>
            </a:pPr>
            <a:endParaRPr lang="en-US" altLang="zh-CN" sz="3000" dirty="0"/>
          </a:p>
          <a:p>
            <a:pPr>
              <a:buNone/>
            </a:pPr>
            <a:r>
              <a:rPr lang="en-US" altLang="zh-CN" sz="3000" dirty="0"/>
              <a:t>			T</a:t>
            </a:r>
            <a:r>
              <a:rPr lang="en-US" altLang="zh-CN" sz="3000" baseline="-25000" dirty="0"/>
              <a:t>1/2</a:t>
            </a:r>
            <a:r>
              <a:rPr lang="en-US" altLang="zh-CN" sz="3000" dirty="0"/>
              <a:t> = 28.8 </a:t>
            </a:r>
            <a:r>
              <a:rPr lang="zh-CN" altLang="en-US" sz="3000" dirty="0"/>
              <a:t>年</a:t>
            </a:r>
            <a:endParaRPr lang="en-US" altLang="zh-CN" sz="3000" dirty="0"/>
          </a:p>
          <a:p>
            <a:pPr>
              <a:buNone/>
            </a:pPr>
            <a:r>
              <a:rPr lang="en-US" altLang="zh-CN" sz="3000" dirty="0"/>
              <a:t>(2) t=5</a:t>
            </a:r>
            <a:r>
              <a:rPr lang="zh-CN" altLang="en-US" sz="3000" dirty="0"/>
              <a:t>年，</a:t>
            </a:r>
            <a:r>
              <a:rPr lang="en-US" altLang="zh-CN" sz="3000" dirty="0"/>
              <a:t>m</a:t>
            </a:r>
            <a:r>
              <a:rPr lang="en-US" altLang="zh-CN" sz="3000" baseline="-25000" dirty="0"/>
              <a:t>0</a:t>
            </a:r>
            <a:r>
              <a:rPr lang="en-US" altLang="zh-CN" sz="3000" dirty="0"/>
              <a:t>=1g</a:t>
            </a:r>
            <a:r>
              <a:rPr lang="zh-CN" altLang="en-US" sz="3000" dirty="0"/>
              <a:t>，</a:t>
            </a:r>
            <a:endParaRPr lang="en-US" altLang="zh-CN" sz="3000" dirty="0"/>
          </a:p>
          <a:p>
            <a:pPr>
              <a:buNone/>
            </a:pPr>
            <a:r>
              <a:rPr lang="en-US" altLang="zh-CN" sz="3000" dirty="0"/>
              <a:t>			T</a:t>
            </a:r>
            <a:r>
              <a:rPr lang="en-US" altLang="zh-CN" sz="3000" baseline="-25000" dirty="0"/>
              <a:t>1/2</a:t>
            </a:r>
            <a:r>
              <a:rPr lang="en-US" altLang="zh-CN" sz="3000" dirty="0"/>
              <a:t> =28.8</a:t>
            </a:r>
          </a:p>
        </p:txBody>
      </p:sp>
      <p:grpSp>
        <p:nvGrpSpPr>
          <p:cNvPr id="6" name="Group 9"/>
          <p:cNvGrpSpPr/>
          <p:nvPr/>
        </p:nvGrpSpPr>
        <p:grpSpPr>
          <a:xfrm>
            <a:off x="1676400" y="2433935"/>
            <a:ext cx="3276600" cy="1147465"/>
            <a:chOff x="2971800" y="5177135"/>
            <a:chExt cx="3276600" cy="1147465"/>
          </a:xfrm>
        </p:grpSpPr>
        <p:grpSp>
          <p:nvGrpSpPr>
            <p:cNvPr id="10" name="Group 25"/>
            <p:cNvGrpSpPr/>
            <p:nvPr/>
          </p:nvGrpSpPr>
          <p:grpSpPr>
            <a:xfrm>
              <a:off x="5257800" y="5177135"/>
              <a:ext cx="990600" cy="766465"/>
              <a:chOff x="2795301" y="1681756"/>
              <a:chExt cx="497694" cy="766465"/>
            </a:xfrm>
          </p:grpSpPr>
          <p:grpSp>
            <p:nvGrpSpPr>
              <p:cNvPr id="11" name="Group 24"/>
              <p:cNvGrpSpPr/>
              <p:nvPr/>
            </p:nvGrpSpPr>
            <p:grpSpPr>
              <a:xfrm>
                <a:off x="2795301" y="1681756"/>
                <a:ext cx="497694" cy="461665"/>
                <a:chOff x="2795301" y="1681756"/>
                <a:chExt cx="497694" cy="461665"/>
              </a:xfrm>
            </p:grpSpPr>
            <p:cxnSp>
              <p:nvCxnSpPr>
                <p:cNvPr id="25" name="Straight Connector 24"/>
                <p:cNvCxnSpPr/>
                <p:nvPr/>
              </p:nvCxnSpPr>
              <p:spPr>
                <a:xfrm>
                  <a:off x="2795301" y="2065633"/>
                  <a:ext cx="275646" cy="1588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6" name="TextBox 25"/>
                <p:cNvSpPr txBox="1"/>
                <p:nvPr/>
              </p:nvSpPr>
              <p:spPr>
                <a:xfrm>
                  <a:off x="2817093" y="1681756"/>
                  <a:ext cx="475902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dirty="0"/>
                    <a:t>t </a:t>
                  </a:r>
                </a:p>
              </p:txBody>
            </p:sp>
          </p:grpSp>
          <p:sp>
            <p:nvSpPr>
              <p:cNvPr id="24" name="TextBox 5"/>
              <p:cNvSpPr txBox="1"/>
              <p:nvPr/>
            </p:nvSpPr>
            <p:spPr>
              <a:xfrm>
                <a:off x="2808415" y="1986556"/>
                <a:ext cx="44629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/>
                  <a:t>T</a:t>
                </a:r>
                <a:r>
                  <a:rPr lang="en-US" altLang="zh-CN" sz="2400" baseline="-25000" dirty="0"/>
                  <a:t>1/2</a:t>
                </a:r>
                <a:r>
                  <a:rPr lang="en-US" altLang="zh-CN" sz="2400" dirty="0"/>
                  <a:t>  </a:t>
                </a:r>
                <a:endParaRPr lang="en-US" sz="2400" dirty="0"/>
              </a:p>
            </p:txBody>
          </p:sp>
        </p:grpSp>
        <p:grpSp>
          <p:nvGrpSpPr>
            <p:cNvPr id="12" name="Group 30"/>
            <p:cNvGrpSpPr/>
            <p:nvPr/>
          </p:nvGrpSpPr>
          <p:grpSpPr>
            <a:xfrm>
              <a:off x="2971800" y="5281137"/>
              <a:ext cx="2209800" cy="1043463"/>
              <a:chOff x="2209800" y="2234625"/>
              <a:chExt cx="2209800" cy="1043463"/>
            </a:xfrm>
          </p:grpSpPr>
          <p:grpSp>
            <p:nvGrpSpPr>
              <p:cNvPr id="14" name="Group 4"/>
              <p:cNvGrpSpPr/>
              <p:nvPr/>
            </p:nvGrpSpPr>
            <p:grpSpPr>
              <a:xfrm>
                <a:off x="2209800" y="2234625"/>
                <a:ext cx="2209800" cy="1043463"/>
                <a:chOff x="2209800" y="1396425"/>
                <a:chExt cx="2209800" cy="1043463"/>
              </a:xfrm>
            </p:grpSpPr>
            <p:grpSp>
              <p:nvGrpSpPr>
                <p:cNvPr id="16" name="Group 10"/>
                <p:cNvGrpSpPr/>
                <p:nvPr/>
              </p:nvGrpSpPr>
              <p:grpSpPr>
                <a:xfrm>
                  <a:off x="2209800" y="1396425"/>
                  <a:ext cx="2209800" cy="1043463"/>
                  <a:chOff x="2209800" y="1396425"/>
                  <a:chExt cx="2209800" cy="1043463"/>
                </a:xfrm>
              </p:grpSpPr>
              <p:sp>
                <p:nvSpPr>
                  <p:cNvPr id="18" name="TextBox 17"/>
                  <p:cNvSpPr txBox="1"/>
                  <p:nvPr/>
                </p:nvSpPr>
                <p:spPr>
                  <a:xfrm>
                    <a:off x="2438400" y="1447800"/>
                    <a:ext cx="685800" cy="58477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3200" dirty="0"/>
                      <a:t>m</a:t>
                    </a:r>
                  </a:p>
                </p:txBody>
              </p:sp>
              <p:cxnSp>
                <p:nvCxnSpPr>
                  <p:cNvPr id="19" name="Straight Connector 18"/>
                  <p:cNvCxnSpPr/>
                  <p:nvPr/>
                </p:nvCxnSpPr>
                <p:spPr>
                  <a:xfrm>
                    <a:off x="2209800" y="1905000"/>
                    <a:ext cx="838200" cy="1588"/>
                  </a:xfrm>
                  <a:prstGeom prst="line">
                    <a:avLst/>
                  </a:prstGeom>
                  <a:ln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" name="Straight Connector 19"/>
                  <p:cNvCxnSpPr/>
                  <p:nvPr/>
                </p:nvCxnSpPr>
                <p:spPr>
                  <a:xfrm>
                    <a:off x="3581400" y="1905000"/>
                    <a:ext cx="838200" cy="1588"/>
                  </a:xfrm>
                  <a:prstGeom prst="line">
                    <a:avLst/>
                  </a:prstGeom>
                  <a:ln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1" name="TextBox 20"/>
                  <p:cNvSpPr txBox="1"/>
                  <p:nvPr/>
                </p:nvSpPr>
                <p:spPr>
                  <a:xfrm>
                    <a:off x="2438400" y="1855113"/>
                    <a:ext cx="685800" cy="58477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3200" dirty="0"/>
                      <a:t>m</a:t>
                    </a:r>
                    <a:r>
                      <a:rPr lang="en-US" altLang="zh-CN" sz="3200" baseline="-25000" dirty="0"/>
                      <a:t>0</a:t>
                    </a:r>
                    <a:endParaRPr lang="en-US" sz="3200" dirty="0"/>
                  </a:p>
                </p:txBody>
              </p:sp>
              <p:sp>
                <p:nvSpPr>
                  <p:cNvPr id="22" name="TextBox 21"/>
                  <p:cNvSpPr txBox="1"/>
                  <p:nvPr/>
                </p:nvSpPr>
                <p:spPr>
                  <a:xfrm>
                    <a:off x="3733800" y="1396425"/>
                    <a:ext cx="685800" cy="58477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3200" dirty="0"/>
                      <a:t>1</a:t>
                    </a:r>
                    <a:endParaRPr lang="en-US" sz="3200" dirty="0"/>
                  </a:p>
                </p:txBody>
              </p:sp>
            </p:grpSp>
            <p:sp>
              <p:nvSpPr>
                <p:cNvPr id="17" name="TextBox 16"/>
                <p:cNvSpPr txBox="1"/>
                <p:nvPr/>
              </p:nvSpPr>
              <p:spPr>
                <a:xfrm>
                  <a:off x="3733800" y="1855113"/>
                  <a:ext cx="685800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3200" dirty="0"/>
                    <a:t>2</a:t>
                  </a:r>
                  <a:endParaRPr lang="en-US" sz="3200" dirty="0"/>
                </a:p>
              </p:txBody>
            </p:sp>
          </p:grpSp>
          <p:sp>
            <p:nvSpPr>
              <p:cNvPr id="15" name="TextBox 14"/>
              <p:cNvSpPr txBox="1"/>
              <p:nvPr/>
            </p:nvSpPr>
            <p:spPr>
              <a:xfrm>
                <a:off x="3200400" y="2540913"/>
                <a:ext cx="68580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dirty="0"/>
                  <a:t>=</a:t>
                </a:r>
                <a:endParaRPr lang="en-US" sz="3200" dirty="0"/>
              </a:p>
            </p:txBody>
          </p:sp>
        </p:grpSp>
        <p:sp>
          <p:nvSpPr>
            <p:cNvPr id="13" name="TextBox 5"/>
            <p:cNvSpPr txBox="1"/>
            <p:nvPr/>
          </p:nvSpPr>
          <p:spPr>
            <a:xfrm>
              <a:off x="4114800" y="5325070"/>
              <a:ext cx="182880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5400" dirty="0"/>
                <a:t>(    )  </a:t>
              </a:r>
              <a:endParaRPr lang="en-US" sz="5400" dirty="0"/>
            </a:p>
          </p:txBody>
        </p:sp>
      </p:grpSp>
      <p:grpSp>
        <p:nvGrpSpPr>
          <p:cNvPr id="54" name="Group 9"/>
          <p:cNvGrpSpPr/>
          <p:nvPr/>
        </p:nvGrpSpPr>
        <p:grpSpPr>
          <a:xfrm>
            <a:off x="1524000" y="3200400"/>
            <a:ext cx="3581400" cy="1219200"/>
            <a:chOff x="2819400" y="5105400"/>
            <a:chExt cx="3581400" cy="1219200"/>
          </a:xfrm>
        </p:grpSpPr>
        <p:grpSp>
          <p:nvGrpSpPr>
            <p:cNvPr id="55" name="Group 25"/>
            <p:cNvGrpSpPr/>
            <p:nvPr/>
          </p:nvGrpSpPr>
          <p:grpSpPr>
            <a:xfrm>
              <a:off x="5428809" y="5105400"/>
              <a:ext cx="971991" cy="795755"/>
              <a:chOff x="2881222" y="1610021"/>
              <a:chExt cx="488345" cy="795755"/>
            </a:xfrm>
          </p:grpSpPr>
          <p:grpSp>
            <p:nvGrpSpPr>
              <p:cNvPr id="67" name="Group 24"/>
              <p:cNvGrpSpPr/>
              <p:nvPr/>
            </p:nvGrpSpPr>
            <p:grpSpPr>
              <a:xfrm>
                <a:off x="2881222" y="1610021"/>
                <a:ext cx="488345" cy="461665"/>
                <a:chOff x="2881222" y="1610021"/>
                <a:chExt cx="488345" cy="461665"/>
              </a:xfrm>
            </p:grpSpPr>
            <p:cxnSp>
              <p:nvCxnSpPr>
                <p:cNvPr id="69" name="Straight Connector 68"/>
                <p:cNvCxnSpPr/>
                <p:nvPr/>
              </p:nvCxnSpPr>
              <p:spPr>
                <a:xfrm>
                  <a:off x="2881222" y="2022478"/>
                  <a:ext cx="275646" cy="1588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0" name="TextBox 69"/>
                <p:cNvSpPr txBox="1"/>
                <p:nvPr/>
              </p:nvSpPr>
              <p:spPr>
                <a:xfrm>
                  <a:off x="2893665" y="1610021"/>
                  <a:ext cx="475902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400" dirty="0"/>
                    <a:t>2</a:t>
                  </a:r>
                  <a:r>
                    <a:rPr lang="en-US" sz="2400" dirty="0"/>
                    <a:t> </a:t>
                  </a:r>
                </a:p>
              </p:txBody>
            </p:sp>
          </p:grpSp>
          <p:sp>
            <p:nvSpPr>
              <p:cNvPr id="68" name="TextBox 5"/>
              <p:cNvSpPr txBox="1"/>
              <p:nvPr/>
            </p:nvSpPr>
            <p:spPr>
              <a:xfrm>
                <a:off x="2881224" y="1944111"/>
                <a:ext cx="44629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/>
                  <a:t>T</a:t>
                </a:r>
                <a:r>
                  <a:rPr lang="en-US" altLang="zh-CN" sz="2400" baseline="-25000" dirty="0"/>
                  <a:t>1/2</a:t>
                </a:r>
                <a:r>
                  <a:rPr lang="en-US" altLang="zh-CN" sz="2400" dirty="0"/>
                  <a:t>  </a:t>
                </a:r>
                <a:endParaRPr lang="en-US" sz="2400" dirty="0"/>
              </a:p>
            </p:txBody>
          </p:sp>
        </p:grpSp>
        <p:grpSp>
          <p:nvGrpSpPr>
            <p:cNvPr id="56" name="Group 30"/>
            <p:cNvGrpSpPr/>
            <p:nvPr/>
          </p:nvGrpSpPr>
          <p:grpSpPr>
            <a:xfrm>
              <a:off x="2819400" y="5281137"/>
              <a:ext cx="2362200" cy="1043463"/>
              <a:chOff x="2057400" y="2234625"/>
              <a:chExt cx="2362200" cy="1043463"/>
            </a:xfrm>
          </p:grpSpPr>
          <p:grpSp>
            <p:nvGrpSpPr>
              <p:cNvPr id="58" name="Group 4"/>
              <p:cNvGrpSpPr/>
              <p:nvPr/>
            </p:nvGrpSpPr>
            <p:grpSpPr>
              <a:xfrm>
                <a:off x="2057400" y="2234625"/>
                <a:ext cx="2362200" cy="1043463"/>
                <a:chOff x="2057400" y="1396425"/>
                <a:chExt cx="2362200" cy="1043463"/>
              </a:xfrm>
            </p:grpSpPr>
            <p:grpSp>
              <p:nvGrpSpPr>
                <p:cNvPr id="60" name="Group 10"/>
                <p:cNvGrpSpPr/>
                <p:nvPr/>
              </p:nvGrpSpPr>
              <p:grpSpPr>
                <a:xfrm>
                  <a:off x="2057400" y="1396425"/>
                  <a:ext cx="2362200" cy="1043463"/>
                  <a:chOff x="2057400" y="1396425"/>
                  <a:chExt cx="2362200" cy="1043463"/>
                </a:xfrm>
              </p:grpSpPr>
              <p:sp>
                <p:nvSpPr>
                  <p:cNvPr id="62" name="TextBox 61"/>
                  <p:cNvSpPr txBox="1"/>
                  <p:nvPr/>
                </p:nvSpPr>
                <p:spPr>
                  <a:xfrm>
                    <a:off x="2057400" y="1447800"/>
                    <a:ext cx="1371600" cy="58477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3200" dirty="0"/>
                      <a:t>0.953</a:t>
                    </a:r>
                    <a:endParaRPr lang="en-US" sz="3200" dirty="0"/>
                  </a:p>
                </p:txBody>
              </p:sp>
              <p:cxnSp>
                <p:nvCxnSpPr>
                  <p:cNvPr id="63" name="Straight Connector 62"/>
                  <p:cNvCxnSpPr/>
                  <p:nvPr/>
                </p:nvCxnSpPr>
                <p:spPr>
                  <a:xfrm>
                    <a:off x="2209800" y="1905000"/>
                    <a:ext cx="838200" cy="1588"/>
                  </a:xfrm>
                  <a:prstGeom prst="line">
                    <a:avLst/>
                  </a:prstGeom>
                  <a:ln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4" name="Straight Connector 63"/>
                  <p:cNvCxnSpPr/>
                  <p:nvPr/>
                </p:nvCxnSpPr>
                <p:spPr>
                  <a:xfrm>
                    <a:off x="3581400" y="1905000"/>
                    <a:ext cx="838200" cy="1588"/>
                  </a:xfrm>
                  <a:prstGeom prst="line">
                    <a:avLst/>
                  </a:prstGeom>
                  <a:ln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5" name="TextBox 64"/>
                  <p:cNvSpPr txBox="1"/>
                  <p:nvPr/>
                </p:nvSpPr>
                <p:spPr>
                  <a:xfrm>
                    <a:off x="2438400" y="1855113"/>
                    <a:ext cx="685800" cy="58477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3200" dirty="0"/>
                      <a:t>1</a:t>
                    </a:r>
                    <a:endParaRPr lang="en-US" sz="3200" dirty="0"/>
                  </a:p>
                </p:txBody>
              </p:sp>
              <p:sp>
                <p:nvSpPr>
                  <p:cNvPr id="66" name="TextBox 65"/>
                  <p:cNvSpPr txBox="1"/>
                  <p:nvPr/>
                </p:nvSpPr>
                <p:spPr>
                  <a:xfrm>
                    <a:off x="3733800" y="1396425"/>
                    <a:ext cx="685800" cy="58477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3200" dirty="0"/>
                      <a:t>1</a:t>
                    </a:r>
                    <a:endParaRPr lang="en-US" sz="3200" dirty="0"/>
                  </a:p>
                </p:txBody>
              </p:sp>
            </p:grpSp>
            <p:sp>
              <p:nvSpPr>
                <p:cNvPr id="61" name="TextBox 60"/>
                <p:cNvSpPr txBox="1"/>
                <p:nvPr/>
              </p:nvSpPr>
              <p:spPr>
                <a:xfrm>
                  <a:off x="3733800" y="1855113"/>
                  <a:ext cx="685800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3200" dirty="0"/>
                    <a:t>2</a:t>
                  </a:r>
                  <a:endParaRPr lang="en-US" sz="3200" dirty="0"/>
                </a:p>
              </p:txBody>
            </p:sp>
          </p:grpSp>
          <p:sp>
            <p:nvSpPr>
              <p:cNvPr id="59" name="TextBox 58"/>
              <p:cNvSpPr txBox="1"/>
              <p:nvPr/>
            </p:nvSpPr>
            <p:spPr>
              <a:xfrm>
                <a:off x="3200400" y="2540913"/>
                <a:ext cx="68580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dirty="0"/>
                  <a:t>=</a:t>
                </a:r>
                <a:endParaRPr lang="en-US" sz="3200" dirty="0"/>
              </a:p>
            </p:txBody>
          </p:sp>
        </p:grpSp>
        <p:sp>
          <p:nvSpPr>
            <p:cNvPr id="57" name="TextBox 5"/>
            <p:cNvSpPr txBox="1"/>
            <p:nvPr/>
          </p:nvSpPr>
          <p:spPr>
            <a:xfrm>
              <a:off x="4114800" y="5325070"/>
              <a:ext cx="182880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5400" dirty="0"/>
                <a:t>(    )  </a:t>
              </a:r>
              <a:endParaRPr lang="en-US" sz="5400" dirty="0"/>
            </a:p>
          </p:txBody>
        </p:sp>
      </p:grpSp>
      <p:grpSp>
        <p:nvGrpSpPr>
          <p:cNvPr id="71" name="Group 9"/>
          <p:cNvGrpSpPr/>
          <p:nvPr/>
        </p:nvGrpSpPr>
        <p:grpSpPr>
          <a:xfrm>
            <a:off x="4996375" y="4567535"/>
            <a:ext cx="3233225" cy="1071265"/>
            <a:chOff x="2971800" y="5253335"/>
            <a:chExt cx="3233225" cy="1071265"/>
          </a:xfrm>
        </p:grpSpPr>
        <p:grpSp>
          <p:nvGrpSpPr>
            <p:cNvPr id="72" name="Group 25"/>
            <p:cNvGrpSpPr/>
            <p:nvPr/>
          </p:nvGrpSpPr>
          <p:grpSpPr>
            <a:xfrm>
              <a:off x="5181602" y="5253335"/>
              <a:ext cx="1023423" cy="766465"/>
              <a:chOff x="2757019" y="1757956"/>
              <a:chExt cx="514185" cy="766465"/>
            </a:xfrm>
          </p:grpSpPr>
          <p:grpSp>
            <p:nvGrpSpPr>
              <p:cNvPr id="84" name="Group 24"/>
              <p:cNvGrpSpPr/>
              <p:nvPr/>
            </p:nvGrpSpPr>
            <p:grpSpPr>
              <a:xfrm>
                <a:off x="2795302" y="1757956"/>
                <a:ext cx="475902" cy="461665"/>
                <a:chOff x="2795302" y="1757956"/>
                <a:chExt cx="475902" cy="461665"/>
              </a:xfrm>
            </p:grpSpPr>
            <p:cxnSp>
              <p:nvCxnSpPr>
                <p:cNvPr id="86" name="Straight Connector 85"/>
                <p:cNvCxnSpPr/>
                <p:nvPr/>
              </p:nvCxnSpPr>
              <p:spPr>
                <a:xfrm>
                  <a:off x="2795303" y="2141833"/>
                  <a:ext cx="275646" cy="1588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7" name="TextBox 86"/>
                <p:cNvSpPr txBox="1"/>
                <p:nvPr/>
              </p:nvSpPr>
              <p:spPr>
                <a:xfrm>
                  <a:off x="2795302" y="1757956"/>
                  <a:ext cx="475902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400" dirty="0"/>
                    <a:t>5</a:t>
                  </a:r>
                  <a:r>
                    <a:rPr lang="en-US" sz="2400" dirty="0"/>
                    <a:t> </a:t>
                  </a:r>
                </a:p>
              </p:txBody>
            </p:sp>
          </p:grpSp>
          <p:sp>
            <p:nvSpPr>
              <p:cNvPr id="85" name="TextBox 5"/>
              <p:cNvSpPr txBox="1"/>
              <p:nvPr/>
            </p:nvSpPr>
            <p:spPr>
              <a:xfrm>
                <a:off x="2757019" y="2062756"/>
                <a:ext cx="44629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/>
                  <a:t>28.8  </a:t>
                </a:r>
                <a:endParaRPr lang="en-US" sz="2400" dirty="0"/>
              </a:p>
            </p:txBody>
          </p:sp>
        </p:grpSp>
        <p:grpSp>
          <p:nvGrpSpPr>
            <p:cNvPr id="73" name="Group 30"/>
            <p:cNvGrpSpPr/>
            <p:nvPr/>
          </p:nvGrpSpPr>
          <p:grpSpPr>
            <a:xfrm>
              <a:off x="2971800" y="5281137"/>
              <a:ext cx="2209800" cy="1043463"/>
              <a:chOff x="2209800" y="2234625"/>
              <a:chExt cx="2209800" cy="1043463"/>
            </a:xfrm>
          </p:grpSpPr>
          <p:grpSp>
            <p:nvGrpSpPr>
              <p:cNvPr id="75" name="Group 4"/>
              <p:cNvGrpSpPr/>
              <p:nvPr/>
            </p:nvGrpSpPr>
            <p:grpSpPr>
              <a:xfrm>
                <a:off x="2209800" y="2234625"/>
                <a:ext cx="2209800" cy="1043463"/>
                <a:chOff x="2209800" y="1396425"/>
                <a:chExt cx="2209800" cy="1043463"/>
              </a:xfrm>
            </p:grpSpPr>
            <p:grpSp>
              <p:nvGrpSpPr>
                <p:cNvPr id="77" name="Group 10"/>
                <p:cNvGrpSpPr/>
                <p:nvPr/>
              </p:nvGrpSpPr>
              <p:grpSpPr>
                <a:xfrm>
                  <a:off x="2209800" y="1396425"/>
                  <a:ext cx="2209800" cy="1043463"/>
                  <a:chOff x="2209800" y="1396425"/>
                  <a:chExt cx="2209800" cy="1043463"/>
                </a:xfrm>
              </p:grpSpPr>
              <p:sp>
                <p:nvSpPr>
                  <p:cNvPr id="79" name="TextBox 78"/>
                  <p:cNvSpPr txBox="1"/>
                  <p:nvPr/>
                </p:nvSpPr>
                <p:spPr>
                  <a:xfrm>
                    <a:off x="2438400" y="1447800"/>
                    <a:ext cx="1371600" cy="58477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3200" dirty="0"/>
                      <a:t>m</a:t>
                    </a:r>
                  </a:p>
                </p:txBody>
              </p:sp>
              <p:cxnSp>
                <p:nvCxnSpPr>
                  <p:cNvPr id="80" name="Straight Connector 79"/>
                  <p:cNvCxnSpPr/>
                  <p:nvPr/>
                </p:nvCxnSpPr>
                <p:spPr>
                  <a:xfrm>
                    <a:off x="2209800" y="1905000"/>
                    <a:ext cx="838200" cy="1588"/>
                  </a:xfrm>
                  <a:prstGeom prst="line">
                    <a:avLst/>
                  </a:prstGeom>
                  <a:ln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1" name="Straight Connector 80"/>
                  <p:cNvCxnSpPr/>
                  <p:nvPr/>
                </p:nvCxnSpPr>
                <p:spPr>
                  <a:xfrm>
                    <a:off x="3581400" y="1905000"/>
                    <a:ext cx="838200" cy="1588"/>
                  </a:xfrm>
                  <a:prstGeom prst="line">
                    <a:avLst/>
                  </a:prstGeom>
                  <a:ln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2" name="TextBox 81"/>
                  <p:cNvSpPr txBox="1"/>
                  <p:nvPr/>
                </p:nvSpPr>
                <p:spPr>
                  <a:xfrm>
                    <a:off x="2438400" y="1855113"/>
                    <a:ext cx="685800" cy="58477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3200" dirty="0"/>
                      <a:t>1</a:t>
                    </a:r>
                    <a:endParaRPr lang="en-US" sz="3200" dirty="0"/>
                  </a:p>
                </p:txBody>
              </p:sp>
              <p:sp>
                <p:nvSpPr>
                  <p:cNvPr id="83" name="TextBox 82"/>
                  <p:cNvSpPr txBox="1"/>
                  <p:nvPr/>
                </p:nvSpPr>
                <p:spPr>
                  <a:xfrm>
                    <a:off x="3733800" y="1396425"/>
                    <a:ext cx="685800" cy="58477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3200" dirty="0"/>
                      <a:t>1</a:t>
                    </a:r>
                    <a:endParaRPr lang="en-US" sz="3200" dirty="0"/>
                  </a:p>
                </p:txBody>
              </p:sp>
            </p:grpSp>
            <p:sp>
              <p:nvSpPr>
                <p:cNvPr id="78" name="TextBox 77"/>
                <p:cNvSpPr txBox="1"/>
                <p:nvPr/>
              </p:nvSpPr>
              <p:spPr>
                <a:xfrm>
                  <a:off x="3733800" y="1855113"/>
                  <a:ext cx="685800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3200" dirty="0"/>
                    <a:t>2</a:t>
                  </a:r>
                  <a:endParaRPr lang="en-US" sz="3200" dirty="0"/>
                </a:p>
              </p:txBody>
            </p:sp>
          </p:grpSp>
          <p:sp>
            <p:nvSpPr>
              <p:cNvPr id="76" name="TextBox 75"/>
              <p:cNvSpPr txBox="1"/>
              <p:nvPr/>
            </p:nvSpPr>
            <p:spPr>
              <a:xfrm>
                <a:off x="3200400" y="2540913"/>
                <a:ext cx="68580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dirty="0"/>
                  <a:t>=</a:t>
                </a:r>
                <a:endParaRPr lang="en-US" sz="3200" dirty="0"/>
              </a:p>
            </p:txBody>
          </p:sp>
        </p:grpSp>
        <p:sp>
          <p:nvSpPr>
            <p:cNvPr id="74" name="TextBox 5"/>
            <p:cNvSpPr txBox="1"/>
            <p:nvPr/>
          </p:nvSpPr>
          <p:spPr>
            <a:xfrm>
              <a:off x="4114800" y="5325070"/>
              <a:ext cx="182880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5400" dirty="0"/>
                <a:t>(    )  </a:t>
              </a:r>
              <a:endParaRPr lang="en-US" sz="5400" dirty="0"/>
            </a:p>
          </p:txBody>
        </p:sp>
      </p:grpSp>
      <p:sp>
        <p:nvSpPr>
          <p:cNvPr id="88" name="Rectangle 87"/>
          <p:cNvSpPr/>
          <p:nvPr/>
        </p:nvSpPr>
        <p:spPr>
          <a:xfrm>
            <a:off x="5711247" y="5389602"/>
            <a:ext cx="1832553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000" dirty="0"/>
              <a:t>m= 0.887g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88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001000" cy="1202485"/>
          </a:xfrm>
        </p:spPr>
        <p:txBody>
          <a:bodyPr>
            <a:noAutofit/>
          </a:bodyPr>
          <a:lstStyle/>
          <a:p>
            <a:pPr algn="l"/>
            <a:r>
              <a:rPr lang="zh-CN" altLang="en-US" sz="4800" b="1" dirty="0">
                <a:latin typeface="+mn-ea"/>
              </a:rPr>
              <a:t>补充题</a:t>
            </a:r>
            <a:endParaRPr lang="en-US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382000" cy="5867400"/>
          </a:xfrm>
        </p:spPr>
        <p:txBody>
          <a:bodyPr>
            <a:noAutofit/>
          </a:bodyPr>
          <a:lstStyle/>
          <a:p>
            <a:pPr marL="514350" indent="-514350">
              <a:buNone/>
            </a:pPr>
            <a:r>
              <a:rPr lang="en-US" altLang="zh-CN" sz="2800" dirty="0"/>
              <a:t>3. </a:t>
            </a:r>
            <a:r>
              <a:rPr lang="zh-CN" altLang="en-US" sz="2800" dirty="0"/>
              <a:t>某放射性元素</a:t>
            </a:r>
            <a:r>
              <a:rPr lang="en-US" altLang="zh-CN" sz="2800" dirty="0"/>
              <a:t>2g</a:t>
            </a:r>
            <a:r>
              <a:rPr lang="zh-CN" altLang="en-US" sz="2800" dirty="0"/>
              <a:t>，</a:t>
            </a:r>
            <a:r>
              <a:rPr lang="en-US" altLang="zh-CN" sz="2800" dirty="0"/>
              <a:t>10</a:t>
            </a:r>
            <a:r>
              <a:rPr lang="zh-CN" altLang="en-US" sz="2800" dirty="0"/>
              <a:t>年后衰变</a:t>
            </a:r>
            <a:r>
              <a:rPr lang="en-US" altLang="zh-CN" sz="2800" dirty="0"/>
              <a:t>0.5g</a:t>
            </a:r>
            <a:r>
              <a:rPr lang="zh-CN" altLang="en-US" sz="2800" dirty="0"/>
              <a:t>，求该元素的半衰期。</a:t>
            </a:r>
            <a:endParaRPr lang="en-US" altLang="zh-CN" sz="2800" dirty="0"/>
          </a:p>
          <a:p>
            <a:pPr>
              <a:lnSpc>
                <a:spcPct val="150000"/>
              </a:lnSpc>
              <a:buNone/>
            </a:pPr>
            <a:r>
              <a:rPr lang="en-US" altLang="zh-CN" sz="2800" dirty="0"/>
              <a:t>	</a:t>
            </a:r>
            <a:r>
              <a:rPr lang="zh-CN" altLang="en-US" sz="2800" dirty="0"/>
              <a:t>已知：</a:t>
            </a:r>
            <a:r>
              <a:rPr lang="en-US" altLang="zh-CN" sz="2800" dirty="0"/>
              <a:t>m</a:t>
            </a:r>
            <a:r>
              <a:rPr lang="en-US" altLang="zh-CN" sz="2800" baseline="-25000" dirty="0"/>
              <a:t>0</a:t>
            </a:r>
            <a:r>
              <a:rPr lang="en-US" altLang="zh-CN" sz="2800" dirty="0"/>
              <a:t> =2g</a:t>
            </a:r>
            <a:r>
              <a:rPr lang="zh-CN" altLang="en-US" sz="2800" dirty="0"/>
              <a:t>，</a:t>
            </a:r>
            <a:r>
              <a:rPr lang="en-US" altLang="zh-CN" sz="2800" dirty="0"/>
              <a:t>m</a:t>
            </a:r>
            <a:r>
              <a:rPr lang="en-US" altLang="zh-CN" sz="2800" baseline="-25000" dirty="0"/>
              <a:t> </a:t>
            </a:r>
            <a:r>
              <a:rPr lang="en-US" altLang="zh-CN" sz="2800" dirty="0"/>
              <a:t>= 2g-0.5g =1.5g</a:t>
            </a:r>
            <a:r>
              <a:rPr lang="zh-CN" altLang="en-US" sz="2800" dirty="0"/>
              <a:t>，</a:t>
            </a:r>
            <a:r>
              <a:rPr lang="en-US" altLang="zh-CN" sz="2800" dirty="0"/>
              <a:t>t=10</a:t>
            </a:r>
            <a:r>
              <a:rPr lang="zh-CN" altLang="en-US" sz="2800" dirty="0"/>
              <a:t>年</a:t>
            </a:r>
            <a:endParaRPr lang="en-US" altLang="zh-CN" sz="2800" dirty="0"/>
          </a:p>
          <a:p>
            <a:pPr>
              <a:lnSpc>
                <a:spcPct val="150000"/>
              </a:lnSpc>
              <a:buNone/>
            </a:pPr>
            <a:r>
              <a:rPr lang="en-US" altLang="zh-CN" sz="2800" dirty="0"/>
              <a:t>		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2800" dirty="0"/>
              <a:t>			</a:t>
            </a:r>
          </a:p>
          <a:p>
            <a:pPr>
              <a:lnSpc>
                <a:spcPct val="150000"/>
              </a:lnSpc>
              <a:buNone/>
            </a:pPr>
            <a:endParaRPr lang="en-US" altLang="zh-CN" sz="2800" dirty="0"/>
          </a:p>
          <a:p>
            <a:pPr>
              <a:lnSpc>
                <a:spcPct val="150000"/>
              </a:lnSpc>
              <a:buNone/>
            </a:pPr>
            <a:r>
              <a:rPr lang="en-US" altLang="zh-CN" sz="2800" dirty="0"/>
              <a:t>			T</a:t>
            </a:r>
            <a:r>
              <a:rPr lang="en-US" altLang="zh-CN" sz="2800" baseline="-25000" dirty="0"/>
              <a:t>1/2</a:t>
            </a:r>
            <a:r>
              <a:rPr lang="en-US" altLang="zh-CN" sz="2800" dirty="0"/>
              <a:t> =			x 10</a:t>
            </a:r>
            <a:r>
              <a:rPr lang="zh-CN" altLang="en-US" sz="2800" dirty="0"/>
              <a:t>年</a:t>
            </a:r>
            <a:endParaRPr lang="en-US" altLang="zh-CN" sz="2800" dirty="0"/>
          </a:p>
          <a:p>
            <a:pPr>
              <a:lnSpc>
                <a:spcPct val="150000"/>
              </a:lnSpc>
              <a:buNone/>
            </a:pPr>
            <a:r>
              <a:rPr lang="en-US" altLang="zh-CN" sz="2800" dirty="0"/>
              <a:t>			       = 24.09</a:t>
            </a:r>
            <a:r>
              <a:rPr lang="zh-CN" altLang="en-US" sz="2800" dirty="0"/>
              <a:t>年</a:t>
            </a:r>
            <a:r>
              <a:rPr lang="en-US" altLang="zh-CN" sz="2800" dirty="0"/>
              <a:t> </a:t>
            </a:r>
          </a:p>
        </p:txBody>
      </p:sp>
      <p:grpSp>
        <p:nvGrpSpPr>
          <p:cNvPr id="4" name="Group 70"/>
          <p:cNvGrpSpPr/>
          <p:nvPr/>
        </p:nvGrpSpPr>
        <p:grpSpPr>
          <a:xfrm>
            <a:off x="2159700" y="3414355"/>
            <a:ext cx="3098100" cy="1157645"/>
            <a:chOff x="2971800" y="5105400"/>
            <a:chExt cx="3098100" cy="1157645"/>
          </a:xfrm>
        </p:grpSpPr>
        <p:grpSp>
          <p:nvGrpSpPr>
            <p:cNvPr id="6" name="Group 25"/>
            <p:cNvGrpSpPr/>
            <p:nvPr/>
          </p:nvGrpSpPr>
          <p:grpSpPr>
            <a:xfrm>
              <a:off x="5166361" y="5105400"/>
              <a:ext cx="903539" cy="734200"/>
              <a:chOff x="2749361" y="1610021"/>
              <a:chExt cx="453953" cy="734200"/>
            </a:xfrm>
          </p:grpSpPr>
          <p:grpSp>
            <p:nvGrpSpPr>
              <p:cNvPr id="7" name="Group 24"/>
              <p:cNvGrpSpPr/>
              <p:nvPr/>
            </p:nvGrpSpPr>
            <p:grpSpPr>
              <a:xfrm>
                <a:off x="2749361" y="1610021"/>
                <a:ext cx="275646" cy="414045"/>
                <a:chOff x="2749361" y="1610021"/>
                <a:chExt cx="275646" cy="414045"/>
              </a:xfrm>
            </p:grpSpPr>
            <p:cxnSp>
              <p:nvCxnSpPr>
                <p:cNvPr id="97" name="Straight Connector 96"/>
                <p:cNvCxnSpPr/>
                <p:nvPr/>
              </p:nvCxnSpPr>
              <p:spPr>
                <a:xfrm>
                  <a:off x="2749361" y="2022478"/>
                  <a:ext cx="275646" cy="1588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8" name="TextBox 97"/>
                <p:cNvSpPr txBox="1"/>
                <p:nvPr/>
              </p:nvSpPr>
              <p:spPr>
                <a:xfrm>
                  <a:off x="2795301" y="1610021"/>
                  <a:ext cx="229705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000" dirty="0"/>
                    <a:t>10</a:t>
                  </a:r>
                  <a:r>
                    <a:rPr lang="en-US" sz="2000" dirty="0"/>
                    <a:t> </a:t>
                  </a:r>
                </a:p>
              </p:txBody>
            </p:sp>
          </p:grpSp>
          <p:sp>
            <p:nvSpPr>
              <p:cNvPr id="96" name="TextBox 5"/>
              <p:cNvSpPr txBox="1"/>
              <p:nvPr/>
            </p:nvSpPr>
            <p:spPr>
              <a:xfrm>
                <a:off x="2757018" y="1944111"/>
                <a:ext cx="44629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dirty="0"/>
                  <a:t>  T</a:t>
                </a:r>
                <a:r>
                  <a:rPr lang="en-US" altLang="zh-CN" sz="2000" baseline="-25000" dirty="0"/>
                  <a:t>1/2</a:t>
                </a:r>
                <a:r>
                  <a:rPr lang="en-US" altLang="zh-CN" sz="2000" dirty="0"/>
                  <a:t>  </a:t>
                </a:r>
                <a:endParaRPr lang="en-US" sz="2000" dirty="0"/>
              </a:p>
            </p:txBody>
          </p:sp>
        </p:grpSp>
        <p:grpSp>
          <p:nvGrpSpPr>
            <p:cNvPr id="8" name="Group 30"/>
            <p:cNvGrpSpPr/>
            <p:nvPr/>
          </p:nvGrpSpPr>
          <p:grpSpPr>
            <a:xfrm>
              <a:off x="2971800" y="5281137"/>
              <a:ext cx="2209800" cy="981908"/>
              <a:chOff x="2209800" y="2234625"/>
              <a:chExt cx="2209800" cy="981908"/>
            </a:xfrm>
          </p:grpSpPr>
          <p:grpSp>
            <p:nvGrpSpPr>
              <p:cNvPr id="9" name="Group 4"/>
              <p:cNvGrpSpPr/>
              <p:nvPr/>
            </p:nvGrpSpPr>
            <p:grpSpPr>
              <a:xfrm>
                <a:off x="2209800" y="2234625"/>
                <a:ext cx="2209800" cy="981908"/>
                <a:chOff x="2209800" y="1396425"/>
                <a:chExt cx="2209800" cy="981908"/>
              </a:xfrm>
            </p:grpSpPr>
            <p:grpSp>
              <p:nvGrpSpPr>
                <p:cNvPr id="10" name="Group 10"/>
                <p:cNvGrpSpPr/>
                <p:nvPr/>
              </p:nvGrpSpPr>
              <p:grpSpPr>
                <a:xfrm>
                  <a:off x="2209800" y="1396425"/>
                  <a:ext cx="2209800" cy="981908"/>
                  <a:chOff x="2209800" y="1396425"/>
                  <a:chExt cx="2209800" cy="981908"/>
                </a:xfrm>
              </p:grpSpPr>
              <p:sp>
                <p:nvSpPr>
                  <p:cNvPr id="90" name="TextBox 89"/>
                  <p:cNvSpPr txBox="1"/>
                  <p:nvPr/>
                </p:nvSpPr>
                <p:spPr>
                  <a:xfrm>
                    <a:off x="2438400" y="1447800"/>
                    <a:ext cx="685800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2800" dirty="0"/>
                      <a:t>1.5</a:t>
                    </a:r>
                    <a:endParaRPr lang="en-US" sz="2800" dirty="0"/>
                  </a:p>
                </p:txBody>
              </p:sp>
              <p:cxnSp>
                <p:nvCxnSpPr>
                  <p:cNvPr id="91" name="Straight Connector 90"/>
                  <p:cNvCxnSpPr/>
                  <p:nvPr/>
                </p:nvCxnSpPr>
                <p:spPr>
                  <a:xfrm>
                    <a:off x="2209800" y="1905000"/>
                    <a:ext cx="838200" cy="1588"/>
                  </a:xfrm>
                  <a:prstGeom prst="line">
                    <a:avLst/>
                  </a:prstGeom>
                  <a:ln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2" name="Straight Connector 91"/>
                  <p:cNvCxnSpPr/>
                  <p:nvPr/>
                </p:nvCxnSpPr>
                <p:spPr>
                  <a:xfrm>
                    <a:off x="3581400" y="1905000"/>
                    <a:ext cx="838200" cy="1588"/>
                  </a:xfrm>
                  <a:prstGeom prst="line">
                    <a:avLst/>
                  </a:prstGeom>
                  <a:ln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93" name="TextBox 92"/>
                  <p:cNvSpPr txBox="1"/>
                  <p:nvPr/>
                </p:nvSpPr>
                <p:spPr>
                  <a:xfrm>
                    <a:off x="2590800" y="1855113"/>
                    <a:ext cx="685800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2800" dirty="0"/>
                      <a:t>2</a:t>
                    </a:r>
                    <a:endParaRPr lang="en-US" sz="2800" dirty="0"/>
                  </a:p>
                </p:txBody>
              </p:sp>
              <p:sp>
                <p:nvSpPr>
                  <p:cNvPr id="94" name="TextBox 93"/>
                  <p:cNvSpPr txBox="1"/>
                  <p:nvPr/>
                </p:nvSpPr>
                <p:spPr>
                  <a:xfrm>
                    <a:off x="3733800" y="1396425"/>
                    <a:ext cx="685800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2800" dirty="0"/>
                      <a:t>1</a:t>
                    </a:r>
                    <a:endParaRPr lang="en-US" sz="2800" dirty="0"/>
                  </a:p>
                </p:txBody>
              </p:sp>
            </p:grpSp>
            <p:sp>
              <p:nvSpPr>
                <p:cNvPr id="89" name="TextBox 88"/>
                <p:cNvSpPr txBox="1"/>
                <p:nvPr/>
              </p:nvSpPr>
              <p:spPr>
                <a:xfrm>
                  <a:off x="3733800" y="1855113"/>
                  <a:ext cx="68580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800" dirty="0"/>
                    <a:t>2</a:t>
                  </a:r>
                  <a:endParaRPr lang="en-US" sz="2800" dirty="0"/>
                </a:p>
              </p:txBody>
            </p:sp>
          </p:grpSp>
          <p:sp>
            <p:nvSpPr>
              <p:cNvPr id="84" name="TextBox 83"/>
              <p:cNvSpPr txBox="1"/>
              <p:nvPr/>
            </p:nvSpPr>
            <p:spPr>
              <a:xfrm>
                <a:off x="3200400" y="2540913"/>
                <a:ext cx="685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dirty="0"/>
                  <a:t>=</a:t>
                </a:r>
                <a:endParaRPr lang="en-US" sz="2800" dirty="0"/>
              </a:p>
            </p:txBody>
          </p:sp>
        </p:grpSp>
        <p:sp>
          <p:nvSpPr>
            <p:cNvPr id="75" name="TextBox 5"/>
            <p:cNvSpPr txBox="1"/>
            <p:nvPr/>
          </p:nvSpPr>
          <p:spPr>
            <a:xfrm>
              <a:off x="4114800" y="5325070"/>
              <a:ext cx="18288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800" dirty="0"/>
                <a:t>(     )  </a:t>
              </a:r>
              <a:endParaRPr lang="en-US" sz="4800" dirty="0"/>
            </a:p>
          </p:txBody>
        </p:sp>
      </p:grpSp>
      <p:sp>
        <p:nvSpPr>
          <p:cNvPr id="47" name="Rounded Rectangle 46"/>
          <p:cNvSpPr/>
          <p:nvPr/>
        </p:nvSpPr>
        <p:spPr>
          <a:xfrm>
            <a:off x="3657600" y="2057400"/>
            <a:ext cx="2133600" cy="457200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8" name="Group 47"/>
          <p:cNvGrpSpPr/>
          <p:nvPr/>
        </p:nvGrpSpPr>
        <p:grpSpPr>
          <a:xfrm>
            <a:off x="2133600" y="2438400"/>
            <a:ext cx="3429000" cy="1157645"/>
            <a:chOff x="2971800" y="5105400"/>
            <a:chExt cx="3429000" cy="1157645"/>
          </a:xfrm>
        </p:grpSpPr>
        <p:grpSp>
          <p:nvGrpSpPr>
            <p:cNvPr id="49" name="Group 25"/>
            <p:cNvGrpSpPr/>
            <p:nvPr/>
          </p:nvGrpSpPr>
          <p:grpSpPr>
            <a:xfrm>
              <a:off x="5428809" y="5105400"/>
              <a:ext cx="971991" cy="734200"/>
              <a:chOff x="2881222" y="1610021"/>
              <a:chExt cx="488345" cy="734200"/>
            </a:xfrm>
          </p:grpSpPr>
          <p:grpSp>
            <p:nvGrpSpPr>
              <p:cNvPr id="61" name="Group 24"/>
              <p:cNvGrpSpPr/>
              <p:nvPr/>
            </p:nvGrpSpPr>
            <p:grpSpPr>
              <a:xfrm>
                <a:off x="2881222" y="1610021"/>
                <a:ext cx="488345" cy="414045"/>
                <a:chOff x="2881222" y="1610021"/>
                <a:chExt cx="488345" cy="414045"/>
              </a:xfrm>
            </p:grpSpPr>
            <p:cxnSp>
              <p:nvCxnSpPr>
                <p:cNvPr id="63" name="Straight Connector 62"/>
                <p:cNvCxnSpPr/>
                <p:nvPr/>
              </p:nvCxnSpPr>
              <p:spPr>
                <a:xfrm>
                  <a:off x="2881222" y="2022478"/>
                  <a:ext cx="275646" cy="1588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4" name="TextBox 63"/>
                <p:cNvSpPr txBox="1"/>
                <p:nvPr/>
              </p:nvSpPr>
              <p:spPr>
                <a:xfrm>
                  <a:off x="2893665" y="1610021"/>
                  <a:ext cx="47590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000" dirty="0"/>
                    <a:t>t </a:t>
                  </a:r>
                </a:p>
              </p:txBody>
            </p:sp>
          </p:grpSp>
          <p:sp>
            <p:nvSpPr>
              <p:cNvPr id="62" name="TextBox 5"/>
              <p:cNvSpPr txBox="1"/>
              <p:nvPr/>
            </p:nvSpPr>
            <p:spPr>
              <a:xfrm>
                <a:off x="2881224" y="1944111"/>
                <a:ext cx="44629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dirty="0"/>
                  <a:t>T</a:t>
                </a:r>
                <a:r>
                  <a:rPr lang="en-US" altLang="zh-CN" sz="2000" baseline="-25000" dirty="0"/>
                  <a:t>1/2</a:t>
                </a:r>
                <a:r>
                  <a:rPr lang="en-US" altLang="zh-CN" sz="2000" dirty="0"/>
                  <a:t>  </a:t>
                </a:r>
                <a:endParaRPr lang="en-US" sz="2000" dirty="0"/>
              </a:p>
            </p:txBody>
          </p:sp>
        </p:grpSp>
        <p:grpSp>
          <p:nvGrpSpPr>
            <p:cNvPr id="50" name="Group 30"/>
            <p:cNvGrpSpPr/>
            <p:nvPr/>
          </p:nvGrpSpPr>
          <p:grpSpPr>
            <a:xfrm>
              <a:off x="2971800" y="5281137"/>
              <a:ext cx="2209800" cy="981908"/>
              <a:chOff x="2209800" y="2234625"/>
              <a:chExt cx="2209800" cy="981908"/>
            </a:xfrm>
          </p:grpSpPr>
          <p:grpSp>
            <p:nvGrpSpPr>
              <p:cNvPr id="52" name="Group 4"/>
              <p:cNvGrpSpPr/>
              <p:nvPr/>
            </p:nvGrpSpPr>
            <p:grpSpPr>
              <a:xfrm>
                <a:off x="2209800" y="2234625"/>
                <a:ext cx="2209800" cy="981908"/>
                <a:chOff x="2209800" y="1396425"/>
                <a:chExt cx="2209800" cy="981908"/>
              </a:xfrm>
            </p:grpSpPr>
            <p:grpSp>
              <p:nvGrpSpPr>
                <p:cNvPr id="54" name="Group 10"/>
                <p:cNvGrpSpPr/>
                <p:nvPr/>
              </p:nvGrpSpPr>
              <p:grpSpPr>
                <a:xfrm>
                  <a:off x="2209800" y="1396425"/>
                  <a:ext cx="2209800" cy="981908"/>
                  <a:chOff x="2209800" y="1396425"/>
                  <a:chExt cx="2209800" cy="981908"/>
                </a:xfrm>
              </p:grpSpPr>
              <p:sp>
                <p:nvSpPr>
                  <p:cNvPr id="56" name="TextBox 55"/>
                  <p:cNvSpPr txBox="1"/>
                  <p:nvPr/>
                </p:nvSpPr>
                <p:spPr>
                  <a:xfrm>
                    <a:off x="2438400" y="1447800"/>
                    <a:ext cx="685800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2800" dirty="0"/>
                      <a:t>m</a:t>
                    </a:r>
                    <a:endParaRPr lang="en-US" sz="2800" dirty="0"/>
                  </a:p>
                </p:txBody>
              </p:sp>
              <p:cxnSp>
                <p:nvCxnSpPr>
                  <p:cNvPr id="57" name="Straight Connector 56"/>
                  <p:cNvCxnSpPr/>
                  <p:nvPr/>
                </p:nvCxnSpPr>
                <p:spPr>
                  <a:xfrm>
                    <a:off x="2209800" y="1905000"/>
                    <a:ext cx="838200" cy="1588"/>
                  </a:xfrm>
                  <a:prstGeom prst="line">
                    <a:avLst/>
                  </a:prstGeom>
                  <a:ln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8" name="Straight Connector 57"/>
                  <p:cNvCxnSpPr/>
                  <p:nvPr/>
                </p:nvCxnSpPr>
                <p:spPr>
                  <a:xfrm>
                    <a:off x="3581400" y="1905000"/>
                    <a:ext cx="838200" cy="1588"/>
                  </a:xfrm>
                  <a:prstGeom prst="line">
                    <a:avLst/>
                  </a:prstGeom>
                  <a:ln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59" name="TextBox 58"/>
                  <p:cNvSpPr txBox="1"/>
                  <p:nvPr/>
                </p:nvSpPr>
                <p:spPr>
                  <a:xfrm>
                    <a:off x="2438400" y="1855113"/>
                    <a:ext cx="685800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2800" dirty="0"/>
                      <a:t>m</a:t>
                    </a:r>
                    <a:r>
                      <a:rPr lang="en-US" altLang="zh-CN" sz="2800" baseline="-25000" dirty="0"/>
                      <a:t>0</a:t>
                    </a:r>
                    <a:endParaRPr lang="en-US" sz="2800" dirty="0"/>
                  </a:p>
                </p:txBody>
              </p:sp>
              <p:sp>
                <p:nvSpPr>
                  <p:cNvPr id="60" name="TextBox 59"/>
                  <p:cNvSpPr txBox="1"/>
                  <p:nvPr/>
                </p:nvSpPr>
                <p:spPr>
                  <a:xfrm>
                    <a:off x="3733800" y="1396425"/>
                    <a:ext cx="685800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2800" dirty="0"/>
                      <a:t>1</a:t>
                    </a:r>
                    <a:endParaRPr lang="en-US" sz="2800" dirty="0"/>
                  </a:p>
                </p:txBody>
              </p:sp>
            </p:grpSp>
            <p:sp>
              <p:nvSpPr>
                <p:cNvPr id="55" name="TextBox 54"/>
                <p:cNvSpPr txBox="1"/>
                <p:nvPr/>
              </p:nvSpPr>
              <p:spPr>
                <a:xfrm>
                  <a:off x="3733800" y="1855113"/>
                  <a:ext cx="68580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800" dirty="0"/>
                    <a:t>2</a:t>
                  </a:r>
                  <a:endParaRPr lang="en-US" sz="2800" dirty="0"/>
                </a:p>
              </p:txBody>
            </p:sp>
          </p:grpSp>
          <p:sp>
            <p:nvSpPr>
              <p:cNvPr id="53" name="TextBox 52"/>
              <p:cNvSpPr txBox="1"/>
              <p:nvPr/>
            </p:nvSpPr>
            <p:spPr>
              <a:xfrm>
                <a:off x="3200400" y="2540913"/>
                <a:ext cx="685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dirty="0"/>
                  <a:t>=</a:t>
                </a:r>
                <a:endParaRPr lang="en-US" sz="2800" dirty="0"/>
              </a:p>
            </p:txBody>
          </p:sp>
        </p:grpSp>
        <p:sp>
          <p:nvSpPr>
            <p:cNvPr id="51" name="TextBox 5"/>
            <p:cNvSpPr txBox="1"/>
            <p:nvPr/>
          </p:nvSpPr>
          <p:spPr>
            <a:xfrm>
              <a:off x="4114800" y="5325070"/>
              <a:ext cx="18288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800" dirty="0"/>
                <a:t>(     )  </a:t>
              </a:r>
              <a:endParaRPr lang="en-US" sz="4800" dirty="0"/>
            </a:p>
          </p:txBody>
        </p:sp>
      </p:grpSp>
      <p:grpSp>
        <p:nvGrpSpPr>
          <p:cNvPr id="65" name="Group 3"/>
          <p:cNvGrpSpPr/>
          <p:nvPr/>
        </p:nvGrpSpPr>
        <p:grpSpPr>
          <a:xfrm>
            <a:off x="3124200" y="4744760"/>
            <a:ext cx="2057400" cy="970240"/>
            <a:chOff x="2708591" y="1563111"/>
            <a:chExt cx="1553684" cy="970240"/>
          </a:xfrm>
        </p:grpSpPr>
        <p:grpSp>
          <p:nvGrpSpPr>
            <p:cNvPr id="66" name="Group 24"/>
            <p:cNvGrpSpPr/>
            <p:nvPr/>
          </p:nvGrpSpPr>
          <p:grpSpPr>
            <a:xfrm>
              <a:off x="2763030" y="1563111"/>
              <a:ext cx="1269070" cy="523220"/>
              <a:chOff x="2763030" y="1563111"/>
              <a:chExt cx="1269070" cy="523220"/>
            </a:xfrm>
          </p:grpSpPr>
          <p:cxnSp>
            <p:nvCxnSpPr>
              <p:cNvPr id="68" name="Straight Connector 8"/>
              <p:cNvCxnSpPr/>
              <p:nvPr/>
            </p:nvCxnSpPr>
            <p:spPr>
              <a:xfrm>
                <a:off x="2766135" y="2022478"/>
                <a:ext cx="1104842" cy="1588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9" name="TextBox 68"/>
              <p:cNvSpPr txBox="1"/>
              <p:nvPr/>
            </p:nvSpPr>
            <p:spPr>
              <a:xfrm>
                <a:off x="2763030" y="1563111"/>
                <a:ext cx="126907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log0.5</a:t>
                </a:r>
              </a:p>
            </p:txBody>
          </p:sp>
        </p:grpSp>
        <p:sp>
          <p:nvSpPr>
            <p:cNvPr id="67" name="TextBox 5"/>
            <p:cNvSpPr txBox="1"/>
            <p:nvPr/>
          </p:nvSpPr>
          <p:spPr>
            <a:xfrm>
              <a:off x="2708591" y="2010131"/>
              <a:ext cx="155368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/>
                <a:t>log 0.75 </a:t>
              </a:r>
              <a:endParaRPr lang="en-US" sz="2800" dirty="0"/>
            </a:p>
          </p:txBody>
        </p:sp>
      </p:grp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7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001000" cy="1202485"/>
          </a:xfrm>
        </p:spPr>
        <p:txBody>
          <a:bodyPr>
            <a:noAutofit/>
          </a:bodyPr>
          <a:lstStyle/>
          <a:p>
            <a:pPr algn="l"/>
            <a:r>
              <a:rPr lang="zh-CN" altLang="en-US" sz="4800" b="1" dirty="0">
                <a:latin typeface="+mn-ea"/>
              </a:rPr>
              <a:t>补充题</a:t>
            </a:r>
            <a:endParaRPr lang="en-US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382000" cy="5867400"/>
          </a:xfrm>
        </p:spPr>
        <p:txBody>
          <a:bodyPr>
            <a:noAutofit/>
          </a:bodyPr>
          <a:lstStyle/>
          <a:p>
            <a:pPr marL="514350" indent="-514350">
              <a:buNone/>
            </a:pPr>
            <a:r>
              <a:rPr lang="en-US" altLang="zh-CN" sz="2800" dirty="0"/>
              <a:t>4. A</a:t>
            </a:r>
            <a:r>
              <a:rPr lang="zh-CN" altLang="en-US" sz="2800" dirty="0"/>
              <a:t>、</a:t>
            </a:r>
            <a:r>
              <a:rPr lang="en-US" altLang="zh-CN" sz="2800" dirty="0"/>
              <a:t>B</a:t>
            </a:r>
            <a:r>
              <a:rPr lang="zh-CN" altLang="en-US" sz="2800" dirty="0"/>
              <a:t>两种放射性元素均经一次</a:t>
            </a:r>
            <a:r>
              <a:rPr lang="el-GR" altLang="zh-CN" sz="2800" dirty="0"/>
              <a:t>α</a:t>
            </a:r>
            <a:r>
              <a:rPr lang="zh-CN" altLang="en-US" sz="2800" dirty="0"/>
              <a:t>衰变即形成稳定核，且</a:t>
            </a:r>
            <a:r>
              <a:rPr lang="en-US" altLang="zh-CN" sz="2800" dirty="0"/>
              <a:t>A</a:t>
            </a:r>
            <a:r>
              <a:rPr lang="zh-CN" altLang="en-US" sz="2800" dirty="0"/>
              <a:t>之半衰期为</a:t>
            </a:r>
            <a:r>
              <a:rPr lang="en-US" altLang="zh-CN" sz="2800" dirty="0"/>
              <a:t>10</a:t>
            </a:r>
            <a:r>
              <a:rPr lang="zh-CN" altLang="en-US" sz="2800" dirty="0"/>
              <a:t>天，</a:t>
            </a:r>
            <a:r>
              <a:rPr lang="en-US" altLang="zh-CN" sz="2800" dirty="0"/>
              <a:t>B</a:t>
            </a:r>
            <a:r>
              <a:rPr lang="zh-CN" altLang="en-US" sz="2800" dirty="0"/>
              <a:t>之半衰期为</a:t>
            </a:r>
            <a:r>
              <a:rPr lang="en-US" altLang="zh-CN" sz="2800" dirty="0"/>
              <a:t>40</a:t>
            </a:r>
            <a:r>
              <a:rPr lang="zh-CN" altLang="en-US" sz="2800" dirty="0"/>
              <a:t>天，今</a:t>
            </a:r>
            <a:r>
              <a:rPr lang="en-US" altLang="zh-CN" sz="2800" dirty="0"/>
              <a:t>A</a:t>
            </a:r>
            <a:r>
              <a:rPr lang="zh-CN" altLang="en-US" sz="2800" dirty="0"/>
              <a:t>、</a:t>
            </a:r>
            <a:r>
              <a:rPr lang="en-US" altLang="zh-CN" sz="2800" dirty="0"/>
              <a:t>B</a:t>
            </a:r>
            <a:r>
              <a:rPr lang="zh-CN" altLang="en-US" sz="2800" dirty="0"/>
              <a:t>各</a:t>
            </a:r>
            <a:r>
              <a:rPr lang="en-US" altLang="zh-CN" sz="2800" dirty="0"/>
              <a:t>1mol</a:t>
            </a:r>
            <a:r>
              <a:rPr lang="zh-CN" altLang="en-US" sz="2800" dirty="0"/>
              <a:t>，经</a:t>
            </a:r>
            <a:r>
              <a:rPr lang="en-US" altLang="zh-CN" sz="2800" dirty="0"/>
              <a:t>40</a:t>
            </a:r>
            <a:r>
              <a:rPr lang="zh-CN" altLang="en-US" sz="2800" dirty="0"/>
              <a:t>天后，其放射强度</a:t>
            </a:r>
            <a:r>
              <a:rPr lang="en-US" altLang="zh-CN" sz="2800" dirty="0"/>
              <a:t>(R)</a:t>
            </a:r>
            <a:r>
              <a:rPr lang="zh-CN" altLang="en-US" sz="2800" dirty="0"/>
              <a:t>比为多少？</a:t>
            </a:r>
            <a:endParaRPr lang="en-US" altLang="zh-CN" sz="2800" dirty="0"/>
          </a:p>
          <a:p>
            <a:pPr>
              <a:lnSpc>
                <a:spcPct val="150000"/>
              </a:lnSpc>
              <a:buNone/>
            </a:pPr>
            <a:r>
              <a:rPr lang="en-US" altLang="zh-CN" sz="2800" dirty="0"/>
              <a:t>	R </a:t>
            </a:r>
            <a:r>
              <a:rPr lang="zh-CN" altLang="en-US" sz="2800" dirty="0"/>
              <a:t>与</a:t>
            </a:r>
            <a:r>
              <a:rPr lang="en-US" altLang="zh-CN" sz="2800" dirty="0"/>
              <a:t>N(</a:t>
            </a:r>
            <a:r>
              <a:rPr lang="zh-CN" altLang="en-US" sz="2800" dirty="0"/>
              <a:t>或</a:t>
            </a:r>
            <a:r>
              <a:rPr lang="en-US" altLang="zh-CN" sz="2800" dirty="0"/>
              <a:t>m)</a:t>
            </a:r>
            <a:r>
              <a:rPr lang="zh-CN" altLang="en-US" sz="2800" dirty="0"/>
              <a:t>成正比，与</a:t>
            </a:r>
            <a:r>
              <a:rPr lang="en-US" altLang="zh-CN" sz="2800" dirty="0"/>
              <a:t>T</a:t>
            </a:r>
            <a:r>
              <a:rPr lang="en-US" altLang="zh-CN" sz="2800" baseline="-25000" dirty="0"/>
              <a:t>1/2</a:t>
            </a:r>
            <a:r>
              <a:rPr lang="en-US" altLang="zh-CN" sz="2800" dirty="0"/>
              <a:t> </a:t>
            </a:r>
            <a:r>
              <a:rPr lang="zh-CN" altLang="en-US" sz="2800" dirty="0"/>
              <a:t>成反比</a:t>
            </a:r>
            <a:endParaRPr lang="en-US" altLang="zh-CN" sz="2800" dirty="0"/>
          </a:p>
          <a:p>
            <a:pPr>
              <a:lnSpc>
                <a:spcPct val="150000"/>
              </a:lnSpc>
              <a:buNone/>
            </a:pPr>
            <a:r>
              <a:rPr lang="en-US" altLang="zh-CN" sz="2800" dirty="0"/>
              <a:t>		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2800" dirty="0"/>
              <a:t>			N</a:t>
            </a:r>
            <a:r>
              <a:rPr lang="en-US" altLang="zh-CN" sz="2800" baseline="-25000" dirty="0"/>
              <a:t>A</a:t>
            </a:r>
            <a:r>
              <a:rPr lang="en-US" altLang="zh-CN" sz="2800" dirty="0"/>
              <a:t> = 1/16		 N</a:t>
            </a:r>
            <a:r>
              <a:rPr lang="en-US" altLang="zh-CN" sz="2800" baseline="-25000" dirty="0"/>
              <a:t>B</a:t>
            </a:r>
            <a:r>
              <a:rPr lang="en-US" altLang="zh-CN" sz="2800" dirty="0"/>
              <a:t> = 1/2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2800" dirty="0"/>
              <a:t> 			R</a:t>
            </a:r>
            <a:r>
              <a:rPr lang="en-US" altLang="zh-CN" sz="2800" baseline="-25000" dirty="0"/>
              <a:t>A</a:t>
            </a:r>
            <a:r>
              <a:rPr lang="en-US" altLang="zh-CN" sz="2800" dirty="0"/>
              <a:t> </a:t>
            </a:r>
            <a:r>
              <a:rPr lang="zh-CN" altLang="en-US" sz="2800" dirty="0"/>
              <a:t>：</a:t>
            </a:r>
            <a:r>
              <a:rPr lang="en-US" altLang="zh-CN" sz="2800" dirty="0"/>
              <a:t>R</a:t>
            </a:r>
            <a:r>
              <a:rPr lang="en-US" altLang="zh-CN" sz="2800" baseline="-25000" dirty="0"/>
              <a:t>B</a:t>
            </a:r>
            <a:r>
              <a:rPr lang="en-US" altLang="zh-CN" sz="2800" dirty="0"/>
              <a:t> =		</a:t>
            </a:r>
            <a:r>
              <a:rPr lang="zh-CN" altLang="en-US" sz="2800" dirty="0"/>
              <a:t>： </a:t>
            </a:r>
            <a:r>
              <a:rPr lang="en-US" altLang="zh-CN" sz="2800" dirty="0"/>
              <a:t> 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2800" dirty="0"/>
              <a:t>				    = 1:2</a:t>
            </a:r>
          </a:p>
        </p:txBody>
      </p:sp>
      <p:grpSp>
        <p:nvGrpSpPr>
          <p:cNvPr id="71" name="Group 70"/>
          <p:cNvGrpSpPr/>
          <p:nvPr/>
        </p:nvGrpSpPr>
        <p:grpSpPr>
          <a:xfrm>
            <a:off x="1295400" y="2804755"/>
            <a:ext cx="3098100" cy="1157645"/>
            <a:chOff x="2971800" y="5105400"/>
            <a:chExt cx="3098100" cy="1157645"/>
          </a:xfrm>
        </p:grpSpPr>
        <p:grpSp>
          <p:nvGrpSpPr>
            <p:cNvPr id="72" name="Group 25"/>
            <p:cNvGrpSpPr/>
            <p:nvPr/>
          </p:nvGrpSpPr>
          <p:grpSpPr>
            <a:xfrm>
              <a:off x="5166361" y="5105400"/>
              <a:ext cx="903539" cy="734200"/>
              <a:chOff x="2749361" y="1610021"/>
              <a:chExt cx="453953" cy="734200"/>
            </a:xfrm>
          </p:grpSpPr>
          <p:grpSp>
            <p:nvGrpSpPr>
              <p:cNvPr id="95" name="Group 24"/>
              <p:cNvGrpSpPr/>
              <p:nvPr/>
            </p:nvGrpSpPr>
            <p:grpSpPr>
              <a:xfrm>
                <a:off x="2749361" y="1610021"/>
                <a:ext cx="275646" cy="414045"/>
                <a:chOff x="2749361" y="1610021"/>
                <a:chExt cx="275646" cy="414045"/>
              </a:xfrm>
            </p:grpSpPr>
            <p:cxnSp>
              <p:nvCxnSpPr>
                <p:cNvPr id="97" name="Straight Connector 96"/>
                <p:cNvCxnSpPr/>
                <p:nvPr/>
              </p:nvCxnSpPr>
              <p:spPr>
                <a:xfrm>
                  <a:off x="2749361" y="2022478"/>
                  <a:ext cx="275646" cy="1588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8" name="TextBox 97"/>
                <p:cNvSpPr txBox="1"/>
                <p:nvPr/>
              </p:nvSpPr>
              <p:spPr>
                <a:xfrm>
                  <a:off x="2795301" y="1610021"/>
                  <a:ext cx="229705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000" dirty="0"/>
                    <a:t>40 </a:t>
                  </a:r>
                </a:p>
              </p:txBody>
            </p:sp>
          </p:grpSp>
          <p:sp>
            <p:nvSpPr>
              <p:cNvPr id="96" name="TextBox 5"/>
              <p:cNvSpPr txBox="1"/>
              <p:nvPr/>
            </p:nvSpPr>
            <p:spPr>
              <a:xfrm>
                <a:off x="2757018" y="1944111"/>
                <a:ext cx="44629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dirty="0"/>
                  <a:t>  10  </a:t>
                </a:r>
                <a:endParaRPr lang="en-US" sz="2000" dirty="0"/>
              </a:p>
            </p:txBody>
          </p:sp>
        </p:grpSp>
        <p:grpSp>
          <p:nvGrpSpPr>
            <p:cNvPr id="73" name="Group 30"/>
            <p:cNvGrpSpPr/>
            <p:nvPr/>
          </p:nvGrpSpPr>
          <p:grpSpPr>
            <a:xfrm>
              <a:off x="2971800" y="5281137"/>
              <a:ext cx="2209800" cy="981908"/>
              <a:chOff x="2209800" y="2234625"/>
              <a:chExt cx="2209800" cy="981908"/>
            </a:xfrm>
          </p:grpSpPr>
          <p:grpSp>
            <p:nvGrpSpPr>
              <p:cNvPr id="77" name="Group 4"/>
              <p:cNvGrpSpPr/>
              <p:nvPr/>
            </p:nvGrpSpPr>
            <p:grpSpPr>
              <a:xfrm>
                <a:off x="2209800" y="2234625"/>
                <a:ext cx="2209800" cy="981908"/>
                <a:chOff x="2209800" y="1396425"/>
                <a:chExt cx="2209800" cy="981908"/>
              </a:xfrm>
            </p:grpSpPr>
            <p:grpSp>
              <p:nvGrpSpPr>
                <p:cNvPr id="88" name="Group 10"/>
                <p:cNvGrpSpPr/>
                <p:nvPr/>
              </p:nvGrpSpPr>
              <p:grpSpPr>
                <a:xfrm>
                  <a:off x="2209800" y="1396425"/>
                  <a:ext cx="2209800" cy="981908"/>
                  <a:chOff x="2209800" y="1396425"/>
                  <a:chExt cx="2209800" cy="981908"/>
                </a:xfrm>
              </p:grpSpPr>
              <p:sp>
                <p:nvSpPr>
                  <p:cNvPr id="90" name="TextBox 89"/>
                  <p:cNvSpPr txBox="1"/>
                  <p:nvPr/>
                </p:nvSpPr>
                <p:spPr>
                  <a:xfrm>
                    <a:off x="2438400" y="1447800"/>
                    <a:ext cx="685800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2800" dirty="0"/>
                      <a:t>N</a:t>
                    </a:r>
                    <a:r>
                      <a:rPr lang="en-US" altLang="zh-CN" sz="2800" baseline="-25000" dirty="0"/>
                      <a:t>A</a:t>
                    </a:r>
                    <a:endParaRPr lang="en-US" sz="2800" dirty="0"/>
                  </a:p>
                </p:txBody>
              </p:sp>
              <p:cxnSp>
                <p:nvCxnSpPr>
                  <p:cNvPr id="91" name="Straight Connector 90"/>
                  <p:cNvCxnSpPr/>
                  <p:nvPr/>
                </p:nvCxnSpPr>
                <p:spPr>
                  <a:xfrm>
                    <a:off x="2209800" y="1905000"/>
                    <a:ext cx="838200" cy="1588"/>
                  </a:xfrm>
                  <a:prstGeom prst="line">
                    <a:avLst/>
                  </a:prstGeom>
                  <a:ln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2" name="Straight Connector 91"/>
                  <p:cNvCxnSpPr/>
                  <p:nvPr/>
                </p:nvCxnSpPr>
                <p:spPr>
                  <a:xfrm>
                    <a:off x="3581400" y="1905000"/>
                    <a:ext cx="838200" cy="1588"/>
                  </a:xfrm>
                  <a:prstGeom prst="line">
                    <a:avLst/>
                  </a:prstGeom>
                  <a:ln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93" name="TextBox 92"/>
                  <p:cNvSpPr txBox="1"/>
                  <p:nvPr/>
                </p:nvSpPr>
                <p:spPr>
                  <a:xfrm>
                    <a:off x="2438400" y="1855113"/>
                    <a:ext cx="685800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2800" dirty="0"/>
                      <a:t>N</a:t>
                    </a:r>
                    <a:r>
                      <a:rPr lang="en-US" altLang="zh-CN" sz="2800" baseline="-25000" dirty="0"/>
                      <a:t>0</a:t>
                    </a:r>
                    <a:endParaRPr lang="en-US" sz="2800" dirty="0"/>
                  </a:p>
                </p:txBody>
              </p:sp>
              <p:sp>
                <p:nvSpPr>
                  <p:cNvPr id="94" name="TextBox 93"/>
                  <p:cNvSpPr txBox="1"/>
                  <p:nvPr/>
                </p:nvSpPr>
                <p:spPr>
                  <a:xfrm>
                    <a:off x="3733800" y="1396425"/>
                    <a:ext cx="685800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2800" dirty="0"/>
                      <a:t>1</a:t>
                    </a:r>
                    <a:endParaRPr lang="en-US" sz="2800" dirty="0"/>
                  </a:p>
                </p:txBody>
              </p:sp>
            </p:grpSp>
            <p:sp>
              <p:nvSpPr>
                <p:cNvPr id="89" name="TextBox 88"/>
                <p:cNvSpPr txBox="1"/>
                <p:nvPr/>
              </p:nvSpPr>
              <p:spPr>
                <a:xfrm>
                  <a:off x="3733800" y="1855113"/>
                  <a:ext cx="68580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800" dirty="0"/>
                    <a:t>2</a:t>
                  </a:r>
                  <a:endParaRPr lang="en-US" sz="2800" dirty="0"/>
                </a:p>
              </p:txBody>
            </p:sp>
          </p:grpSp>
          <p:sp>
            <p:nvSpPr>
              <p:cNvPr id="84" name="TextBox 83"/>
              <p:cNvSpPr txBox="1"/>
              <p:nvPr/>
            </p:nvSpPr>
            <p:spPr>
              <a:xfrm>
                <a:off x="3200400" y="2540913"/>
                <a:ext cx="685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dirty="0"/>
                  <a:t>=</a:t>
                </a:r>
                <a:endParaRPr lang="en-US" sz="2800" dirty="0"/>
              </a:p>
            </p:txBody>
          </p:sp>
        </p:grpSp>
        <p:sp>
          <p:nvSpPr>
            <p:cNvPr id="75" name="TextBox 5"/>
            <p:cNvSpPr txBox="1"/>
            <p:nvPr/>
          </p:nvSpPr>
          <p:spPr>
            <a:xfrm>
              <a:off x="4114800" y="5325070"/>
              <a:ext cx="18288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800" dirty="0"/>
                <a:t>(     )  </a:t>
              </a:r>
              <a:endParaRPr lang="en-US" sz="4800" dirty="0"/>
            </a:p>
          </p:txBody>
        </p:sp>
      </p:grpSp>
      <p:grpSp>
        <p:nvGrpSpPr>
          <p:cNvPr id="99" name="Group 98"/>
          <p:cNvGrpSpPr/>
          <p:nvPr/>
        </p:nvGrpSpPr>
        <p:grpSpPr>
          <a:xfrm>
            <a:off x="4674300" y="2743200"/>
            <a:ext cx="3098100" cy="1157645"/>
            <a:chOff x="2971800" y="5105400"/>
            <a:chExt cx="3098100" cy="1157645"/>
          </a:xfrm>
        </p:grpSpPr>
        <p:grpSp>
          <p:nvGrpSpPr>
            <p:cNvPr id="100" name="Group 25"/>
            <p:cNvGrpSpPr/>
            <p:nvPr/>
          </p:nvGrpSpPr>
          <p:grpSpPr>
            <a:xfrm>
              <a:off x="5166361" y="5105400"/>
              <a:ext cx="903539" cy="734200"/>
              <a:chOff x="2749361" y="1610021"/>
              <a:chExt cx="453953" cy="734200"/>
            </a:xfrm>
          </p:grpSpPr>
          <p:grpSp>
            <p:nvGrpSpPr>
              <p:cNvPr id="112" name="Group 24"/>
              <p:cNvGrpSpPr/>
              <p:nvPr/>
            </p:nvGrpSpPr>
            <p:grpSpPr>
              <a:xfrm>
                <a:off x="2749361" y="1610021"/>
                <a:ext cx="275646" cy="414045"/>
                <a:chOff x="2749361" y="1610021"/>
                <a:chExt cx="275646" cy="414045"/>
              </a:xfrm>
            </p:grpSpPr>
            <p:cxnSp>
              <p:nvCxnSpPr>
                <p:cNvPr id="114" name="Straight Connector 113"/>
                <p:cNvCxnSpPr/>
                <p:nvPr/>
              </p:nvCxnSpPr>
              <p:spPr>
                <a:xfrm>
                  <a:off x="2749361" y="2022478"/>
                  <a:ext cx="275646" cy="1588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15" name="TextBox 114"/>
                <p:cNvSpPr txBox="1"/>
                <p:nvPr/>
              </p:nvSpPr>
              <p:spPr>
                <a:xfrm>
                  <a:off x="2795301" y="1610021"/>
                  <a:ext cx="229705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000" dirty="0"/>
                    <a:t>40 </a:t>
                  </a:r>
                </a:p>
              </p:txBody>
            </p:sp>
          </p:grpSp>
          <p:sp>
            <p:nvSpPr>
              <p:cNvPr id="113" name="TextBox 5"/>
              <p:cNvSpPr txBox="1"/>
              <p:nvPr/>
            </p:nvSpPr>
            <p:spPr>
              <a:xfrm>
                <a:off x="2757018" y="1944111"/>
                <a:ext cx="44629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dirty="0"/>
                  <a:t>  40  </a:t>
                </a:r>
                <a:endParaRPr lang="en-US" sz="2000" dirty="0"/>
              </a:p>
            </p:txBody>
          </p:sp>
        </p:grpSp>
        <p:grpSp>
          <p:nvGrpSpPr>
            <p:cNvPr id="101" name="Group 30"/>
            <p:cNvGrpSpPr/>
            <p:nvPr/>
          </p:nvGrpSpPr>
          <p:grpSpPr>
            <a:xfrm>
              <a:off x="2971800" y="5281137"/>
              <a:ext cx="2209800" cy="981908"/>
              <a:chOff x="2209800" y="2234625"/>
              <a:chExt cx="2209800" cy="981908"/>
            </a:xfrm>
          </p:grpSpPr>
          <p:grpSp>
            <p:nvGrpSpPr>
              <p:cNvPr id="103" name="Group 4"/>
              <p:cNvGrpSpPr/>
              <p:nvPr/>
            </p:nvGrpSpPr>
            <p:grpSpPr>
              <a:xfrm>
                <a:off x="2209800" y="2234625"/>
                <a:ext cx="2209800" cy="981908"/>
                <a:chOff x="2209800" y="1396425"/>
                <a:chExt cx="2209800" cy="981908"/>
              </a:xfrm>
            </p:grpSpPr>
            <p:grpSp>
              <p:nvGrpSpPr>
                <p:cNvPr id="105" name="Group 10"/>
                <p:cNvGrpSpPr/>
                <p:nvPr/>
              </p:nvGrpSpPr>
              <p:grpSpPr>
                <a:xfrm>
                  <a:off x="2209800" y="1396425"/>
                  <a:ext cx="2209800" cy="981908"/>
                  <a:chOff x="2209800" y="1396425"/>
                  <a:chExt cx="2209800" cy="981908"/>
                </a:xfrm>
              </p:grpSpPr>
              <p:sp>
                <p:nvSpPr>
                  <p:cNvPr id="107" name="TextBox 106"/>
                  <p:cNvSpPr txBox="1"/>
                  <p:nvPr/>
                </p:nvSpPr>
                <p:spPr>
                  <a:xfrm>
                    <a:off x="2438400" y="1447800"/>
                    <a:ext cx="685800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2800" dirty="0"/>
                      <a:t>N</a:t>
                    </a:r>
                    <a:r>
                      <a:rPr lang="en-US" altLang="zh-CN" sz="2800" baseline="-25000" dirty="0"/>
                      <a:t>B</a:t>
                    </a:r>
                    <a:endParaRPr lang="en-US" sz="2800" dirty="0"/>
                  </a:p>
                </p:txBody>
              </p:sp>
              <p:cxnSp>
                <p:nvCxnSpPr>
                  <p:cNvPr id="108" name="Straight Connector 107"/>
                  <p:cNvCxnSpPr/>
                  <p:nvPr/>
                </p:nvCxnSpPr>
                <p:spPr>
                  <a:xfrm>
                    <a:off x="2209800" y="1905000"/>
                    <a:ext cx="838200" cy="1588"/>
                  </a:xfrm>
                  <a:prstGeom prst="line">
                    <a:avLst/>
                  </a:prstGeom>
                  <a:ln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9" name="Straight Connector 108"/>
                  <p:cNvCxnSpPr/>
                  <p:nvPr/>
                </p:nvCxnSpPr>
                <p:spPr>
                  <a:xfrm>
                    <a:off x="3581400" y="1905000"/>
                    <a:ext cx="838200" cy="1588"/>
                  </a:xfrm>
                  <a:prstGeom prst="line">
                    <a:avLst/>
                  </a:prstGeom>
                  <a:ln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10" name="TextBox 109"/>
                  <p:cNvSpPr txBox="1"/>
                  <p:nvPr/>
                </p:nvSpPr>
                <p:spPr>
                  <a:xfrm>
                    <a:off x="2438400" y="1855113"/>
                    <a:ext cx="685800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2800" dirty="0"/>
                      <a:t>N</a:t>
                    </a:r>
                    <a:r>
                      <a:rPr lang="en-US" altLang="zh-CN" sz="2800" baseline="-25000" dirty="0"/>
                      <a:t>0</a:t>
                    </a:r>
                    <a:endParaRPr lang="en-US" sz="2800" dirty="0"/>
                  </a:p>
                </p:txBody>
              </p:sp>
              <p:sp>
                <p:nvSpPr>
                  <p:cNvPr id="111" name="TextBox 110"/>
                  <p:cNvSpPr txBox="1"/>
                  <p:nvPr/>
                </p:nvSpPr>
                <p:spPr>
                  <a:xfrm>
                    <a:off x="3733800" y="1396425"/>
                    <a:ext cx="685800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2800" dirty="0"/>
                      <a:t>1</a:t>
                    </a:r>
                    <a:endParaRPr lang="en-US" sz="2800" dirty="0"/>
                  </a:p>
                </p:txBody>
              </p:sp>
            </p:grpSp>
            <p:sp>
              <p:nvSpPr>
                <p:cNvPr id="106" name="TextBox 105"/>
                <p:cNvSpPr txBox="1"/>
                <p:nvPr/>
              </p:nvSpPr>
              <p:spPr>
                <a:xfrm>
                  <a:off x="3733800" y="1855113"/>
                  <a:ext cx="68580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800" dirty="0"/>
                    <a:t>2</a:t>
                  </a:r>
                  <a:endParaRPr lang="en-US" sz="2800" dirty="0"/>
                </a:p>
              </p:txBody>
            </p:sp>
          </p:grpSp>
          <p:sp>
            <p:nvSpPr>
              <p:cNvPr id="104" name="TextBox 103"/>
              <p:cNvSpPr txBox="1"/>
              <p:nvPr/>
            </p:nvSpPr>
            <p:spPr>
              <a:xfrm>
                <a:off x="3200400" y="2540913"/>
                <a:ext cx="685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dirty="0"/>
                  <a:t>=</a:t>
                </a:r>
                <a:endParaRPr lang="en-US" sz="2800" dirty="0"/>
              </a:p>
            </p:txBody>
          </p:sp>
        </p:grpSp>
        <p:sp>
          <p:nvSpPr>
            <p:cNvPr id="102" name="TextBox 5"/>
            <p:cNvSpPr txBox="1"/>
            <p:nvPr/>
          </p:nvSpPr>
          <p:spPr>
            <a:xfrm>
              <a:off x="4114800" y="5325070"/>
              <a:ext cx="18288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800" dirty="0"/>
                <a:t>(     )  </a:t>
              </a:r>
              <a:endParaRPr lang="en-US" sz="4800" dirty="0"/>
            </a:p>
          </p:txBody>
        </p:sp>
      </p:grpSp>
      <p:grpSp>
        <p:nvGrpSpPr>
          <p:cNvPr id="116" name="Group 10"/>
          <p:cNvGrpSpPr/>
          <p:nvPr/>
        </p:nvGrpSpPr>
        <p:grpSpPr>
          <a:xfrm>
            <a:off x="3886200" y="4505980"/>
            <a:ext cx="914400" cy="904220"/>
            <a:chOff x="2209800" y="1449288"/>
            <a:chExt cx="914400" cy="904220"/>
          </a:xfrm>
        </p:grpSpPr>
        <p:sp>
          <p:nvSpPr>
            <p:cNvPr id="117" name="TextBox 116"/>
            <p:cNvSpPr txBox="1"/>
            <p:nvPr/>
          </p:nvSpPr>
          <p:spPr>
            <a:xfrm>
              <a:off x="2286000" y="1449288"/>
              <a:ext cx="6858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/>
                <a:t>N</a:t>
              </a:r>
              <a:r>
                <a:rPr lang="en-US" altLang="zh-CN" sz="2800" baseline="-25000" dirty="0"/>
                <a:t>A</a:t>
              </a:r>
              <a:endParaRPr lang="en-US" sz="2800" dirty="0"/>
            </a:p>
          </p:txBody>
        </p:sp>
        <p:cxnSp>
          <p:nvCxnSpPr>
            <p:cNvPr id="118" name="Straight Connector 117"/>
            <p:cNvCxnSpPr/>
            <p:nvPr/>
          </p:nvCxnSpPr>
          <p:spPr>
            <a:xfrm>
              <a:off x="2209800" y="1905000"/>
              <a:ext cx="838200" cy="1588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9" name="TextBox 118"/>
            <p:cNvSpPr txBox="1"/>
            <p:nvPr/>
          </p:nvSpPr>
          <p:spPr>
            <a:xfrm>
              <a:off x="2209800" y="1830288"/>
              <a:ext cx="9144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/>
                <a:t>T</a:t>
              </a:r>
              <a:r>
                <a:rPr lang="en-US" altLang="zh-CN" sz="2800" baseline="-25000" dirty="0"/>
                <a:t>A</a:t>
              </a:r>
              <a:r>
                <a:rPr lang="en-US" altLang="zh-CN" sz="2800" dirty="0"/>
                <a:t> </a:t>
              </a:r>
              <a:r>
                <a:rPr lang="en-US" altLang="zh-CN" sz="2800" baseline="-25000" dirty="0"/>
                <a:t>1/2</a:t>
              </a:r>
              <a:endParaRPr lang="en-US" sz="2800" dirty="0"/>
            </a:p>
          </p:txBody>
        </p:sp>
      </p:grpSp>
      <p:grpSp>
        <p:nvGrpSpPr>
          <p:cNvPr id="120" name="Group 10"/>
          <p:cNvGrpSpPr/>
          <p:nvPr/>
        </p:nvGrpSpPr>
        <p:grpSpPr>
          <a:xfrm>
            <a:off x="5257800" y="4495800"/>
            <a:ext cx="914400" cy="904220"/>
            <a:chOff x="2209800" y="1449288"/>
            <a:chExt cx="914400" cy="904220"/>
          </a:xfrm>
        </p:grpSpPr>
        <p:sp>
          <p:nvSpPr>
            <p:cNvPr id="121" name="TextBox 120"/>
            <p:cNvSpPr txBox="1"/>
            <p:nvPr/>
          </p:nvSpPr>
          <p:spPr>
            <a:xfrm>
              <a:off x="2286000" y="1449288"/>
              <a:ext cx="6858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/>
                <a:t>N</a:t>
              </a:r>
              <a:r>
                <a:rPr lang="en-US" altLang="zh-CN" sz="2800" baseline="-25000" dirty="0"/>
                <a:t>B</a:t>
              </a:r>
              <a:endParaRPr lang="en-US" sz="2800" dirty="0"/>
            </a:p>
          </p:txBody>
        </p:sp>
        <p:cxnSp>
          <p:nvCxnSpPr>
            <p:cNvPr id="122" name="Straight Connector 121"/>
            <p:cNvCxnSpPr/>
            <p:nvPr/>
          </p:nvCxnSpPr>
          <p:spPr>
            <a:xfrm>
              <a:off x="2209800" y="1905000"/>
              <a:ext cx="838200" cy="1588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3" name="TextBox 122"/>
            <p:cNvSpPr txBox="1"/>
            <p:nvPr/>
          </p:nvSpPr>
          <p:spPr>
            <a:xfrm>
              <a:off x="2209800" y="1830288"/>
              <a:ext cx="9144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/>
                <a:t>T</a:t>
              </a:r>
              <a:r>
                <a:rPr lang="en-US" altLang="zh-CN" sz="2800" baseline="-25000" dirty="0"/>
                <a:t>B</a:t>
              </a:r>
              <a:r>
                <a:rPr lang="en-US" altLang="zh-CN" sz="2800" dirty="0"/>
                <a:t> </a:t>
              </a:r>
              <a:r>
                <a:rPr lang="en-US" altLang="zh-CN" sz="2800" baseline="-25000" dirty="0"/>
                <a:t>1/2</a:t>
              </a:r>
              <a:endParaRPr lang="en-US" sz="2800" dirty="0"/>
            </a:p>
          </p:txBody>
        </p:sp>
      </p:grp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001000" cy="1202485"/>
          </a:xfrm>
        </p:spPr>
        <p:txBody>
          <a:bodyPr>
            <a:noAutofit/>
          </a:bodyPr>
          <a:lstStyle/>
          <a:p>
            <a:pPr algn="l"/>
            <a:r>
              <a:rPr lang="zh-CN" altLang="en-US" sz="4800" b="1" dirty="0">
                <a:latin typeface="+mn-ea"/>
              </a:rPr>
              <a:t>补充题</a:t>
            </a:r>
            <a:endParaRPr lang="en-US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382000" cy="5867400"/>
          </a:xfrm>
        </p:spPr>
        <p:txBody>
          <a:bodyPr>
            <a:noAutofit/>
          </a:bodyPr>
          <a:lstStyle/>
          <a:p>
            <a:pPr marL="514350" indent="-514350">
              <a:buNone/>
            </a:pPr>
            <a:r>
              <a:rPr lang="en-US" altLang="zh-CN" sz="2800" dirty="0"/>
              <a:t>5. </a:t>
            </a:r>
            <a:r>
              <a:rPr lang="zh-CN" altLang="en-US" sz="2800" dirty="0"/>
              <a:t>半衰期各位</a:t>
            </a:r>
            <a:r>
              <a:rPr lang="en-US" altLang="zh-CN" sz="2800" dirty="0"/>
              <a:t>T</a:t>
            </a:r>
            <a:r>
              <a:rPr lang="zh-CN" altLang="en-US" sz="2800" dirty="0"/>
              <a:t>、</a:t>
            </a:r>
            <a:r>
              <a:rPr lang="en-US" altLang="zh-CN" sz="2800" dirty="0"/>
              <a:t>2T</a:t>
            </a:r>
            <a:r>
              <a:rPr lang="zh-CN" altLang="en-US" sz="2800" dirty="0"/>
              <a:t>的</a:t>
            </a:r>
            <a:r>
              <a:rPr lang="en-US" altLang="zh-CN" sz="2800" dirty="0"/>
              <a:t>A</a:t>
            </a:r>
            <a:r>
              <a:rPr lang="zh-CN" altLang="en-US" sz="2800" dirty="0"/>
              <a:t>、</a:t>
            </a:r>
            <a:r>
              <a:rPr lang="en-US" altLang="zh-CN" sz="2800" dirty="0"/>
              <a:t>B</a:t>
            </a:r>
            <a:r>
              <a:rPr lang="zh-CN" altLang="en-US" sz="2800" dirty="0"/>
              <a:t>两种放射性元素各为</a:t>
            </a:r>
            <a:r>
              <a:rPr lang="en-US" altLang="zh-CN" sz="2800" dirty="0"/>
              <a:t>N</a:t>
            </a:r>
            <a:r>
              <a:rPr lang="en-US" altLang="zh-CN" sz="2800" baseline="-25000" dirty="0"/>
              <a:t>0</a:t>
            </a:r>
            <a:r>
              <a:rPr lang="en-US" altLang="zh-CN" sz="2800" dirty="0"/>
              <a:t> </a:t>
            </a:r>
            <a:r>
              <a:rPr lang="zh-CN" altLang="en-US" sz="2800" dirty="0"/>
              <a:t>个原子核，经过若干时间后，两种原子核数和为</a:t>
            </a:r>
            <a:r>
              <a:rPr lang="en-US" altLang="zh-CN" sz="2800" dirty="0"/>
              <a:t>5/16 N</a:t>
            </a:r>
            <a:r>
              <a:rPr lang="en-US" altLang="zh-CN" sz="2800" baseline="-25000" dirty="0"/>
              <a:t>0</a:t>
            </a:r>
            <a:r>
              <a:rPr lang="en-US" altLang="zh-CN" sz="2800" dirty="0"/>
              <a:t> </a:t>
            </a:r>
            <a:r>
              <a:rPr lang="zh-CN" altLang="en-US" sz="2800" dirty="0"/>
              <a:t>？</a:t>
            </a:r>
            <a:endParaRPr lang="en-US" altLang="zh-CN" sz="2800" dirty="0"/>
          </a:p>
          <a:p>
            <a:pPr marL="514350" indent="-514350">
              <a:buNone/>
            </a:pPr>
            <a:r>
              <a:rPr lang="en-US" altLang="zh-CN" sz="2800" dirty="0"/>
              <a:t>	</a:t>
            </a:r>
            <a:r>
              <a:rPr lang="zh-CN" altLang="en-US" sz="2800" dirty="0"/>
              <a:t>设经过时间为</a:t>
            </a:r>
            <a:r>
              <a:rPr lang="en-US" altLang="zh-CN" sz="2800" dirty="0"/>
              <a:t>t</a:t>
            </a:r>
          </a:p>
          <a:p>
            <a:pPr marL="514350" indent="-514350">
              <a:buNone/>
            </a:pPr>
            <a:r>
              <a:rPr lang="en-US" altLang="zh-CN" sz="2800" dirty="0"/>
              <a:t>			N</a:t>
            </a:r>
            <a:r>
              <a:rPr lang="en-US" altLang="zh-CN" sz="2800" baseline="-25000" dirty="0"/>
              <a:t>A</a:t>
            </a:r>
            <a:r>
              <a:rPr lang="en-US" altLang="zh-CN" sz="2800" dirty="0"/>
              <a:t> + N</a:t>
            </a:r>
            <a:r>
              <a:rPr lang="en-US" altLang="zh-CN" sz="2800" baseline="-25000" dirty="0"/>
              <a:t>B</a:t>
            </a:r>
            <a:r>
              <a:rPr lang="en-US" altLang="zh-CN" sz="2800" dirty="0"/>
              <a:t>  = 5/16 N</a:t>
            </a:r>
            <a:r>
              <a:rPr lang="en-US" altLang="zh-CN" sz="2800" baseline="-25000" dirty="0"/>
              <a:t>0</a:t>
            </a:r>
            <a:r>
              <a:rPr lang="en-US" altLang="zh-CN" sz="2800" dirty="0"/>
              <a:t> </a:t>
            </a:r>
          </a:p>
          <a:p>
            <a:pPr marL="514350" indent="-514350">
              <a:buNone/>
            </a:pPr>
            <a:r>
              <a:rPr lang="en-US" altLang="zh-CN" sz="2800" dirty="0"/>
              <a:t>(½ )</a:t>
            </a:r>
            <a:r>
              <a:rPr lang="en-US" altLang="zh-CN" sz="2800" baseline="30000" dirty="0"/>
              <a:t>t/T</a:t>
            </a:r>
            <a:r>
              <a:rPr lang="en-US" altLang="zh-CN" sz="2800" dirty="0"/>
              <a:t> N</a:t>
            </a:r>
            <a:r>
              <a:rPr lang="en-US" altLang="zh-CN" sz="2800" baseline="-25000" dirty="0"/>
              <a:t>0</a:t>
            </a:r>
            <a:r>
              <a:rPr lang="en-US" altLang="zh-CN" sz="2800" dirty="0"/>
              <a:t> + (½ )</a:t>
            </a:r>
            <a:r>
              <a:rPr lang="en-US" altLang="zh-CN" sz="2800" baseline="30000" dirty="0"/>
              <a:t>t/2T</a:t>
            </a:r>
            <a:r>
              <a:rPr lang="en-US" altLang="zh-CN" sz="2800" dirty="0"/>
              <a:t> N</a:t>
            </a:r>
            <a:r>
              <a:rPr lang="en-US" altLang="zh-CN" sz="2800" baseline="-25000" dirty="0"/>
              <a:t>0</a:t>
            </a:r>
            <a:r>
              <a:rPr lang="en-US" altLang="zh-CN" sz="2800" dirty="0"/>
              <a:t> = 5/16 N</a:t>
            </a:r>
            <a:r>
              <a:rPr lang="en-US" altLang="zh-CN" sz="2800" baseline="-25000" dirty="0"/>
              <a:t>0</a:t>
            </a:r>
            <a:r>
              <a:rPr lang="en-US" altLang="zh-CN" sz="2800" dirty="0"/>
              <a:t> </a:t>
            </a:r>
          </a:p>
          <a:p>
            <a:pPr marL="514350" indent="-514350">
              <a:buNone/>
            </a:pPr>
            <a:r>
              <a:rPr lang="en-US" altLang="zh-CN" sz="2800" dirty="0"/>
              <a:t>	   (½ )</a:t>
            </a:r>
            <a:r>
              <a:rPr lang="en-US" altLang="zh-CN" sz="2800" baseline="30000" dirty="0"/>
              <a:t>t/T</a:t>
            </a:r>
            <a:r>
              <a:rPr lang="en-US" altLang="zh-CN" sz="2800" dirty="0"/>
              <a:t> + (½ )</a:t>
            </a:r>
            <a:r>
              <a:rPr lang="en-US" altLang="zh-CN" sz="2800" baseline="30000" dirty="0"/>
              <a:t>t/2T</a:t>
            </a:r>
            <a:r>
              <a:rPr lang="en-US" altLang="zh-CN" sz="2800" dirty="0"/>
              <a:t>  = 5/16 </a:t>
            </a:r>
          </a:p>
          <a:p>
            <a:pPr marL="514350" indent="-514350">
              <a:buNone/>
            </a:pPr>
            <a:r>
              <a:rPr lang="en-US" altLang="zh-CN" sz="2800" dirty="0"/>
              <a:t>			</a:t>
            </a:r>
            <a:r>
              <a:rPr lang="zh-CN" altLang="en-US" sz="2800" dirty="0"/>
              <a:t>解得</a:t>
            </a:r>
            <a:r>
              <a:rPr lang="en-US" altLang="zh-CN" sz="2800" dirty="0"/>
              <a:t>	t= 4T</a:t>
            </a:r>
          </a:p>
          <a:p>
            <a:pPr marL="514350" indent="-514350">
              <a:buNone/>
            </a:pP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001000" cy="1202485"/>
          </a:xfrm>
        </p:spPr>
        <p:txBody>
          <a:bodyPr>
            <a:noAutofit/>
          </a:bodyPr>
          <a:lstStyle/>
          <a:p>
            <a:pPr algn="l"/>
            <a:r>
              <a:rPr lang="zh-CN" altLang="en-US" sz="4800" b="1" dirty="0">
                <a:latin typeface="+mn-ea"/>
              </a:rPr>
              <a:t>统考题</a:t>
            </a:r>
            <a:endParaRPr lang="en-US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382000" cy="5867400"/>
          </a:xfrm>
        </p:spPr>
        <p:txBody>
          <a:bodyPr>
            <a:noAutofit/>
          </a:bodyPr>
          <a:lstStyle/>
          <a:p>
            <a:pPr marL="514350" indent="-514350">
              <a:buAutoNum type="arabicPeriod"/>
            </a:pPr>
            <a:r>
              <a:rPr lang="zh-CN" altLang="en-US" sz="2800" dirty="0"/>
              <a:t>某放射性同位素的半衰期是</a:t>
            </a:r>
            <a:r>
              <a:rPr lang="en-US" altLang="zh-CN" sz="2800" dirty="0"/>
              <a:t>4</a:t>
            </a:r>
            <a:r>
              <a:rPr lang="zh-CN" altLang="en-US" sz="2800" dirty="0"/>
              <a:t>个月。现有这种同位素</a:t>
            </a:r>
            <a:r>
              <a:rPr lang="en-US" altLang="zh-CN" sz="2800" dirty="0"/>
              <a:t>40g</a:t>
            </a:r>
            <a:r>
              <a:rPr lang="zh-CN" altLang="en-US" sz="2800" dirty="0"/>
              <a:t>，经</a:t>
            </a:r>
            <a:r>
              <a:rPr lang="en-US" altLang="zh-CN" sz="2800" dirty="0"/>
              <a:t>1</a:t>
            </a:r>
            <a:r>
              <a:rPr lang="zh-CN" altLang="en-US" sz="2800" dirty="0"/>
              <a:t>年后，将剩下多少克未衰变？</a:t>
            </a:r>
            <a:endParaRPr lang="en-US" altLang="zh-CN" sz="2800" dirty="0"/>
          </a:p>
          <a:p>
            <a:pPr marL="514350" indent="-514350">
              <a:buAutoNum type="arabicPeriod"/>
            </a:pPr>
            <a:r>
              <a:rPr lang="zh-CN" altLang="en-US" sz="2800" dirty="0"/>
              <a:t>某病人接受 </a:t>
            </a:r>
            <a:r>
              <a:rPr lang="en-US" altLang="zh-CN" sz="2800" baseline="30000" dirty="0"/>
              <a:t>131</a:t>
            </a:r>
            <a:r>
              <a:rPr lang="en-US" altLang="zh-CN" sz="2800" dirty="0"/>
              <a:t> I</a:t>
            </a:r>
            <a:r>
              <a:rPr lang="zh-CN" altLang="en-US" sz="2800" dirty="0"/>
              <a:t>药剂治疗甲状腺癌。</a:t>
            </a:r>
            <a:r>
              <a:rPr lang="en-US" altLang="zh-CN" sz="2800" baseline="30000" dirty="0"/>
              <a:t> 131</a:t>
            </a:r>
            <a:r>
              <a:rPr lang="en-US" altLang="zh-CN" sz="2800" dirty="0"/>
              <a:t> I</a:t>
            </a:r>
            <a:r>
              <a:rPr lang="zh-CN" altLang="en-US" sz="2800" dirty="0"/>
              <a:t>的半衰期是</a:t>
            </a:r>
            <a:r>
              <a:rPr lang="en-US" altLang="zh-CN" sz="2800" dirty="0"/>
              <a:t>8.05</a:t>
            </a:r>
            <a:r>
              <a:rPr lang="zh-CN" altLang="en-US" sz="2800" dirty="0"/>
              <a:t>天。第一剂药里含</a:t>
            </a:r>
            <a:r>
              <a:rPr lang="en-US" altLang="zh-CN" sz="2800" dirty="0"/>
              <a:t>12mg</a:t>
            </a:r>
            <a:r>
              <a:rPr lang="zh-CN" altLang="en-US" sz="2800" dirty="0"/>
              <a:t>的</a:t>
            </a:r>
            <a:r>
              <a:rPr lang="en-US" altLang="zh-CN" sz="2800" baseline="30000" dirty="0"/>
              <a:t>131</a:t>
            </a:r>
            <a:r>
              <a:rPr lang="en-US" altLang="zh-CN" sz="2800" dirty="0"/>
              <a:t> I</a:t>
            </a:r>
            <a:r>
              <a:rPr lang="zh-CN" altLang="en-US" sz="2800" dirty="0"/>
              <a:t>，过了</a:t>
            </a:r>
            <a:r>
              <a:rPr lang="en-US" altLang="zh-CN" sz="2800" dirty="0"/>
              <a:t>16.1</a:t>
            </a:r>
            <a:r>
              <a:rPr lang="zh-CN" altLang="en-US" sz="2800" dirty="0"/>
              <a:t>天后，体内还剩下多少克的</a:t>
            </a:r>
            <a:r>
              <a:rPr lang="en-US" altLang="zh-CN" sz="2800" baseline="30000" dirty="0"/>
              <a:t>131</a:t>
            </a:r>
            <a:r>
              <a:rPr lang="en-US" altLang="zh-CN" sz="2800" dirty="0"/>
              <a:t> I</a:t>
            </a:r>
            <a:r>
              <a:rPr lang="zh-CN" altLang="en-US" sz="2800" dirty="0"/>
              <a:t>？</a:t>
            </a:r>
            <a:endParaRPr lang="en-US" altLang="zh-CN" sz="2800" dirty="0"/>
          </a:p>
          <a:p>
            <a:pPr marL="514350" indent="-514350">
              <a:buAutoNum type="arabicPeriod"/>
            </a:pPr>
            <a:r>
              <a:rPr lang="zh-CN" altLang="en-US" sz="2800" dirty="0"/>
              <a:t>有</a:t>
            </a:r>
            <a:r>
              <a:rPr lang="en-US" altLang="zh-CN" sz="2800" dirty="0"/>
              <a:t>2.0g</a:t>
            </a:r>
            <a:r>
              <a:rPr lang="zh-CN" altLang="en-US" sz="2800" dirty="0"/>
              <a:t>某放射同位素，其半衰期为</a:t>
            </a:r>
            <a:r>
              <a:rPr lang="en-US" altLang="zh-CN" sz="2800" dirty="0"/>
              <a:t>1620</a:t>
            </a:r>
            <a:r>
              <a:rPr lang="zh-CN" altLang="en-US" sz="2800" dirty="0"/>
              <a:t>年，则经过多少年剩余</a:t>
            </a:r>
            <a:r>
              <a:rPr lang="en-US" altLang="zh-CN" sz="2800" dirty="0"/>
              <a:t>0.5g</a:t>
            </a:r>
            <a:r>
              <a:rPr lang="zh-CN" altLang="en-US" sz="2800" dirty="0"/>
              <a:t>为衰变？</a:t>
            </a:r>
            <a:endParaRPr lang="en-US" altLang="zh-CN" sz="2800" dirty="0"/>
          </a:p>
          <a:p>
            <a:pPr marL="514350" indent="-514350">
              <a:buAutoNum type="arabicPeriod"/>
            </a:pPr>
            <a:r>
              <a:rPr lang="zh-CN" altLang="en-US" sz="2800" dirty="0"/>
              <a:t>放射性元素</a:t>
            </a:r>
            <a:r>
              <a:rPr lang="en-US" altLang="zh-CN" sz="2800" dirty="0"/>
              <a:t>X</a:t>
            </a:r>
            <a:r>
              <a:rPr lang="zh-CN" altLang="en-US" sz="2800" dirty="0"/>
              <a:t>和</a:t>
            </a:r>
            <a:r>
              <a:rPr lang="en-US" altLang="zh-CN" sz="2800" dirty="0"/>
              <a:t>Y</a:t>
            </a:r>
            <a:r>
              <a:rPr lang="zh-CN" altLang="en-US" sz="2800" dirty="0"/>
              <a:t>的半衰期分别是</a:t>
            </a:r>
            <a:r>
              <a:rPr lang="en-US" altLang="zh-CN" sz="2800" dirty="0"/>
              <a:t>15h</a:t>
            </a:r>
            <a:r>
              <a:rPr lang="zh-CN" altLang="en-US" sz="2800" dirty="0"/>
              <a:t>和</a:t>
            </a:r>
            <a:r>
              <a:rPr lang="en-US" altLang="zh-CN" sz="2800" dirty="0"/>
              <a:t>5h</a:t>
            </a:r>
            <a:r>
              <a:rPr lang="zh-CN" altLang="en-US" sz="2800" dirty="0"/>
              <a:t>。若开始时，</a:t>
            </a:r>
            <a:r>
              <a:rPr lang="en-US" altLang="zh-CN" sz="2800" dirty="0"/>
              <a:t>Y</a:t>
            </a:r>
            <a:r>
              <a:rPr lang="zh-CN" altLang="en-US" sz="2800" dirty="0"/>
              <a:t>的质量是</a:t>
            </a:r>
            <a:r>
              <a:rPr lang="en-US" altLang="zh-CN" sz="2800" dirty="0"/>
              <a:t>X</a:t>
            </a:r>
            <a:r>
              <a:rPr lang="zh-CN" altLang="en-US" sz="2800" dirty="0"/>
              <a:t>的</a:t>
            </a:r>
            <a:r>
              <a:rPr lang="en-US" altLang="zh-CN" sz="2800" dirty="0"/>
              <a:t>4</a:t>
            </a:r>
            <a:r>
              <a:rPr lang="zh-CN" altLang="en-US" sz="2800" dirty="0"/>
              <a:t>倍，经过多少小时后，</a:t>
            </a:r>
            <a:r>
              <a:rPr lang="en-US" altLang="zh-CN" sz="2800" dirty="0"/>
              <a:t>X</a:t>
            </a:r>
            <a:r>
              <a:rPr lang="zh-CN" altLang="en-US" sz="2800" dirty="0"/>
              <a:t>和</a:t>
            </a:r>
            <a:r>
              <a:rPr lang="en-US" altLang="zh-CN" sz="2800" dirty="0"/>
              <a:t>Y</a:t>
            </a:r>
            <a:r>
              <a:rPr lang="zh-CN" altLang="en-US" sz="2800" dirty="0"/>
              <a:t>所剩的质量相等？</a:t>
            </a:r>
            <a:endParaRPr lang="en-US" altLang="zh-CN" sz="2800" dirty="0"/>
          </a:p>
        </p:txBody>
      </p:sp>
      <p:sp>
        <p:nvSpPr>
          <p:cNvPr id="6" name="TextBox 5"/>
          <p:cNvSpPr txBox="1"/>
          <p:nvPr/>
        </p:nvSpPr>
        <p:spPr>
          <a:xfrm>
            <a:off x="7463673" y="1381780"/>
            <a:ext cx="5373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5g</a:t>
            </a:r>
            <a:endParaRPr lang="en-US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467600" y="2753380"/>
            <a:ext cx="8290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3mg</a:t>
            </a:r>
            <a:endParaRPr lang="en-US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467600" y="3667780"/>
            <a:ext cx="12763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3240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年</a:t>
            </a:r>
            <a:endParaRPr lang="en-US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467600" y="5115580"/>
            <a:ext cx="7425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15h</a:t>
            </a:r>
            <a:endParaRPr lang="en-US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001000" cy="1202485"/>
          </a:xfrm>
        </p:spPr>
        <p:txBody>
          <a:bodyPr>
            <a:noAutofit/>
          </a:bodyPr>
          <a:lstStyle/>
          <a:p>
            <a:pPr algn="l"/>
            <a:r>
              <a:rPr lang="zh-CN" altLang="en-US" sz="4800" b="1" dirty="0">
                <a:latin typeface="+mn-ea"/>
              </a:rPr>
              <a:t>统考题</a:t>
            </a:r>
            <a:endParaRPr lang="en-US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382000" cy="5867400"/>
          </a:xfrm>
        </p:spPr>
        <p:txBody>
          <a:bodyPr>
            <a:noAutofit/>
          </a:bodyPr>
          <a:lstStyle/>
          <a:p>
            <a:pPr marL="514350" indent="-514350">
              <a:buNone/>
            </a:pPr>
            <a:r>
              <a:rPr lang="en-US" altLang="zh-CN" sz="2800" dirty="0"/>
              <a:t>5. </a:t>
            </a:r>
            <a:r>
              <a:rPr lang="en-US" altLang="zh-CN" sz="2800" baseline="30000" dirty="0"/>
              <a:t>14</a:t>
            </a:r>
            <a:r>
              <a:rPr lang="en-US" altLang="zh-CN" sz="2800" dirty="0"/>
              <a:t>C</a:t>
            </a:r>
            <a:r>
              <a:rPr lang="zh-CN" altLang="en-US" sz="2800" dirty="0"/>
              <a:t>进行</a:t>
            </a:r>
            <a:r>
              <a:rPr lang="el-GR" altLang="zh-CN" sz="2800" dirty="0"/>
              <a:t>β</a:t>
            </a:r>
            <a:r>
              <a:rPr lang="zh-CN" altLang="en-US" sz="2800" dirty="0"/>
              <a:t>衰变且它的半衰期是</a:t>
            </a:r>
            <a:r>
              <a:rPr lang="en-US" altLang="zh-CN" sz="2800" dirty="0"/>
              <a:t>5730</a:t>
            </a:r>
            <a:r>
              <a:rPr lang="zh-CN" altLang="en-US" sz="2800" dirty="0"/>
              <a:t>年。试写出以上核反应的配平方程式，并说明以上论述的含义。</a:t>
            </a:r>
            <a:endParaRPr lang="en-US" altLang="zh-CN" sz="2800" dirty="0"/>
          </a:p>
          <a:p>
            <a:pPr marL="514350" indent="-514350">
              <a:buNone/>
            </a:pPr>
            <a:r>
              <a:rPr lang="en-US" altLang="zh-CN" sz="2800" dirty="0"/>
              <a:t>6. </a:t>
            </a:r>
            <a:r>
              <a:rPr lang="zh-CN" altLang="en-US" sz="2800" dirty="0"/>
              <a:t>考古学常以</a:t>
            </a:r>
            <a:r>
              <a:rPr lang="en-US" altLang="zh-CN" sz="2800" baseline="30000" dirty="0"/>
              <a:t>14</a:t>
            </a:r>
            <a:r>
              <a:rPr lang="en-US" altLang="zh-CN" sz="2800" dirty="0"/>
              <a:t>C</a:t>
            </a:r>
            <a:r>
              <a:rPr lang="zh-CN" altLang="en-US" sz="2800" dirty="0"/>
              <a:t>探测古物年龄，它的半衰期是</a:t>
            </a:r>
            <a:r>
              <a:rPr lang="en-US" altLang="zh-CN" sz="2800" dirty="0"/>
              <a:t>5730</a:t>
            </a:r>
            <a:r>
              <a:rPr lang="zh-CN" altLang="en-US" sz="2800" dirty="0"/>
              <a:t>年。若探测到含有</a:t>
            </a:r>
            <a:r>
              <a:rPr lang="en-US" altLang="zh-CN" sz="2800" dirty="0"/>
              <a:t>1g </a:t>
            </a:r>
            <a:r>
              <a:rPr lang="en-US" altLang="zh-CN" sz="2800" baseline="30000" dirty="0"/>
              <a:t>14</a:t>
            </a:r>
            <a:r>
              <a:rPr lang="en-US" altLang="zh-CN" sz="2800" dirty="0"/>
              <a:t>C</a:t>
            </a:r>
            <a:r>
              <a:rPr lang="zh-CN" altLang="en-US" sz="2800" dirty="0"/>
              <a:t>第某古物放射性信号每小时为</a:t>
            </a:r>
            <a:r>
              <a:rPr lang="en-US" altLang="zh-CN" sz="2800" dirty="0"/>
              <a:t>115</a:t>
            </a:r>
            <a:r>
              <a:rPr lang="zh-CN" altLang="en-US" sz="2800" dirty="0"/>
              <a:t>次，试推测该古物的年龄。</a:t>
            </a:r>
            <a:r>
              <a:rPr lang="en-US" altLang="zh-CN" sz="2800" dirty="0"/>
              <a:t> </a:t>
            </a:r>
            <a:r>
              <a:rPr lang="zh-CN" altLang="en-US" sz="2800" dirty="0"/>
              <a:t>已知每</a:t>
            </a:r>
            <a:r>
              <a:rPr lang="en-US" altLang="zh-CN" sz="2800" dirty="0"/>
              <a:t>1g </a:t>
            </a:r>
            <a:r>
              <a:rPr lang="en-US" altLang="zh-CN" sz="2800" baseline="30000" dirty="0"/>
              <a:t>14</a:t>
            </a:r>
            <a:r>
              <a:rPr lang="en-US" altLang="zh-CN" sz="2800" dirty="0"/>
              <a:t>C</a:t>
            </a:r>
            <a:r>
              <a:rPr lang="zh-CN" altLang="en-US" sz="2800" dirty="0"/>
              <a:t>的原有放射性信号每小时为</a:t>
            </a:r>
            <a:r>
              <a:rPr lang="en-US" altLang="zh-CN" sz="2800" dirty="0"/>
              <a:t>920</a:t>
            </a:r>
            <a:r>
              <a:rPr lang="zh-CN" altLang="en-US" sz="2800" dirty="0"/>
              <a:t>次。</a:t>
            </a:r>
            <a:endParaRPr lang="en-US" altLang="zh-CN" sz="2800" dirty="0"/>
          </a:p>
          <a:p>
            <a:pPr marL="514350" indent="-514350">
              <a:buNone/>
            </a:pPr>
            <a:r>
              <a:rPr lang="en-US" altLang="zh-CN" sz="2800" dirty="0"/>
              <a:t>7. 		  I </a:t>
            </a:r>
            <a:r>
              <a:rPr lang="zh-CN" altLang="en-US" sz="2800" dirty="0"/>
              <a:t>是人工合成的放射性同位素，常用于医疗上作为放射性治疗。下列哪种说法不正确？</a:t>
            </a:r>
            <a:endParaRPr lang="en-US" altLang="zh-CN" sz="2800" dirty="0"/>
          </a:p>
          <a:p>
            <a:pPr marL="514350" indent="-514350">
              <a:buNone/>
            </a:pPr>
            <a:r>
              <a:rPr lang="en-US" altLang="zh-CN" sz="2800" dirty="0"/>
              <a:t>	A </a:t>
            </a:r>
            <a:r>
              <a:rPr lang="zh-CN" altLang="en-US" sz="2800" dirty="0"/>
              <a:t>它原子核内中子数比质子数多</a:t>
            </a:r>
            <a:r>
              <a:rPr lang="en-US" altLang="zh-CN" sz="2800" dirty="0"/>
              <a:t>25</a:t>
            </a:r>
            <a:r>
              <a:rPr lang="zh-CN" altLang="en-US" sz="2800" dirty="0"/>
              <a:t>个</a:t>
            </a:r>
            <a:r>
              <a:rPr lang="en-US" altLang="zh-CN" sz="2800" dirty="0"/>
              <a:t>	</a:t>
            </a:r>
          </a:p>
          <a:p>
            <a:pPr marL="514350" indent="-514350">
              <a:buNone/>
            </a:pPr>
            <a:r>
              <a:rPr lang="en-US" altLang="zh-CN" sz="2800" dirty="0"/>
              <a:t>	B </a:t>
            </a:r>
            <a:r>
              <a:rPr lang="zh-CN" altLang="en-US" sz="2800" dirty="0"/>
              <a:t>它可用来治疗甲状腺肿大</a:t>
            </a:r>
            <a:endParaRPr lang="en-US" altLang="zh-CN" sz="2800" dirty="0"/>
          </a:p>
          <a:p>
            <a:pPr marL="514350" indent="-514350">
              <a:buNone/>
            </a:pPr>
            <a:r>
              <a:rPr lang="en-US" altLang="zh-CN" sz="2800" dirty="0"/>
              <a:t>	C </a:t>
            </a:r>
            <a:r>
              <a:rPr lang="zh-CN" altLang="en-US" sz="2800" dirty="0"/>
              <a:t>它的核内有</a:t>
            </a:r>
            <a:r>
              <a:rPr lang="en-US" altLang="zh-CN" sz="2800" dirty="0"/>
              <a:t>53</a:t>
            </a:r>
            <a:r>
              <a:rPr lang="zh-CN" altLang="en-US" sz="2800" dirty="0"/>
              <a:t>个质子</a:t>
            </a:r>
            <a:endParaRPr lang="en-US" altLang="zh-CN" sz="2800" dirty="0"/>
          </a:p>
          <a:p>
            <a:pPr marL="514350" indent="-514350">
              <a:buNone/>
            </a:pPr>
            <a:r>
              <a:rPr lang="en-US" altLang="zh-CN" sz="2800" dirty="0"/>
              <a:t>	D </a:t>
            </a:r>
            <a:r>
              <a:rPr lang="zh-CN" altLang="en-US" sz="2800" dirty="0"/>
              <a:t>它与</a:t>
            </a:r>
            <a:r>
              <a:rPr lang="en-US" altLang="zh-CN" sz="2800" dirty="0"/>
              <a:t>	    I</a:t>
            </a:r>
            <a:r>
              <a:rPr lang="zh-CN" altLang="en-US" sz="2800" dirty="0"/>
              <a:t>互为同素异形体</a:t>
            </a:r>
            <a:endParaRPr lang="en-US" altLang="zh-CN" sz="2800" dirty="0"/>
          </a:p>
          <a:p>
            <a:pPr marL="514350" indent="-514350">
              <a:buNone/>
            </a:pPr>
            <a:endParaRPr lang="en-US" altLang="zh-CN" sz="2800" dirty="0"/>
          </a:p>
        </p:txBody>
      </p:sp>
      <p:grpSp>
        <p:nvGrpSpPr>
          <p:cNvPr id="10" name="Group 6"/>
          <p:cNvGrpSpPr>
            <a:grpSpLocks/>
          </p:cNvGrpSpPr>
          <p:nvPr/>
        </p:nvGrpSpPr>
        <p:grpSpPr bwMode="auto">
          <a:xfrm>
            <a:off x="914400" y="3668713"/>
            <a:ext cx="685800" cy="663020"/>
            <a:chOff x="1219200" y="4419601"/>
            <a:chExt cx="457200" cy="662529"/>
          </a:xfrm>
        </p:grpSpPr>
        <p:sp>
          <p:nvSpPr>
            <p:cNvPr id="11" name="TextBox 7"/>
            <p:cNvSpPr txBox="1">
              <a:spLocks noChangeArrowheads="1"/>
            </p:cNvSpPr>
            <p:nvPr/>
          </p:nvSpPr>
          <p:spPr bwMode="auto">
            <a:xfrm>
              <a:off x="1219200" y="4713071"/>
              <a:ext cx="457200" cy="3690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  53 </a:t>
              </a:r>
            </a:p>
          </p:txBody>
        </p:sp>
        <p:sp>
          <p:nvSpPr>
            <p:cNvPr id="12" name="TextBox 8"/>
            <p:cNvSpPr txBox="1">
              <a:spLocks noChangeArrowheads="1"/>
            </p:cNvSpPr>
            <p:nvPr/>
          </p:nvSpPr>
          <p:spPr bwMode="auto">
            <a:xfrm>
              <a:off x="1219200" y="4419601"/>
              <a:ext cx="457200" cy="6458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131</a:t>
              </a:r>
            </a:p>
          </p:txBody>
        </p:sp>
      </p:grpSp>
      <p:grpSp>
        <p:nvGrpSpPr>
          <p:cNvPr id="13" name="Group 6"/>
          <p:cNvGrpSpPr>
            <a:grpSpLocks/>
          </p:cNvGrpSpPr>
          <p:nvPr/>
        </p:nvGrpSpPr>
        <p:grpSpPr bwMode="auto">
          <a:xfrm>
            <a:off x="1981200" y="6194980"/>
            <a:ext cx="685800" cy="663020"/>
            <a:chOff x="1219200" y="4419601"/>
            <a:chExt cx="457200" cy="662529"/>
          </a:xfrm>
        </p:grpSpPr>
        <p:sp>
          <p:nvSpPr>
            <p:cNvPr id="14" name="TextBox 7"/>
            <p:cNvSpPr txBox="1">
              <a:spLocks noChangeArrowheads="1"/>
            </p:cNvSpPr>
            <p:nvPr/>
          </p:nvSpPr>
          <p:spPr bwMode="auto">
            <a:xfrm>
              <a:off x="1219200" y="4713071"/>
              <a:ext cx="457200" cy="3690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  53 </a:t>
              </a:r>
            </a:p>
          </p:txBody>
        </p:sp>
        <p:sp>
          <p:nvSpPr>
            <p:cNvPr id="15" name="TextBox 8"/>
            <p:cNvSpPr txBox="1">
              <a:spLocks noChangeArrowheads="1"/>
            </p:cNvSpPr>
            <p:nvPr/>
          </p:nvSpPr>
          <p:spPr bwMode="auto">
            <a:xfrm>
              <a:off x="1219200" y="4419601"/>
              <a:ext cx="457200" cy="3690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127</a:t>
              </a:r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7162800" y="5715000"/>
            <a:ext cx="10631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Ans:D</a:t>
            </a:r>
            <a:endParaRPr lang="en-US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086600" y="3210580"/>
            <a:ext cx="10983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17190</a:t>
            </a:r>
            <a:endParaRPr lang="en-US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001000" cy="1202485"/>
          </a:xfrm>
        </p:spPr>
        <p:txBody>
          <a:bodyPr>
            <a:noAutofit/>
          </a:bodyPr>
          <a:lstStyle/>
          <a:p>
            <a:pPr algn="l"/>
            <a:r>
              <a:rPr lang="zh-CN" altLang="en-US" sz="4800" b="1" dirty="0">
                <a:latin typeface="+mn-ea"/>
              </a:rPr>
              <a:t>历届考题</a:t>
            </a:r>
            <a:endParaRPr lang="en-US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382000" cy="5867400"/>
          </a:xfrm>
        </p:spPr>
        <p:txBody>
          <a:bodyPr>
            <a:noAutofit/>
          </a:bodyPr>
          <a:lstStyle/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1. </a:t>
            </a:r>
            <a:r>
              <a:rPr lang="zh-CN" altLang="en-US" sz="3000" dirty="0">
                <a:sym typeface="Wingdings" pitchFamily="2" charset="2"/>
              </a:rPr>
              <a:t>下列有关核化学的叙述，何者正确？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	A </a:t>
            </a:r>
            <a:r>
              <a:rPr lang="zh-CN" altLang="en-US" sz="3000" dirty="0">
                <a:sym typeface="Wingdings" pitchFamily="2" charset="2"/>
              </a:rPr>
              <a:t>若</a:t>
            </a:r>
            <a:r>
              <a:rPr lang="en-US" altLang="zh-CN" sz="3000" dirty="0">
                <a:sym typeface="Wingdings" pitchFamily="2" charset="2"/>
              </a:rPr>
              <a:t>UF</a:t>
            </a:r>
            <a:r>
              <a:rPr lang="en-US" altLang="zh-CN" sz="3000" baseline="-25000" dirty="0">
                <a:sym typeface="Wingdings" pitchFamily="2" charset="2"/>
              </a:rPr>
              <a:t>3</a:t>
            </a:r>
            <a:r>
              <a:rPr lang="en-US" altLang="zh-CN" sz="3000" dirty="0">
                <a:sym typeface="Wingdings" pitchFamily="2" charset="2"/>
              </a:rPr>
              <a:t> </a:t>
            </a:r>
            <a:r>
              <a:rPr lang="zh-CN" altLang="en-US" sz="3000" dirty="0">
                <a:sym typeface="Wingdings" pitchFamily="2" charset="2"/>
              </a:rPr>
              <a:t>，</a:t>
            </a:r>
            <a:r>
              <a:rPr lang="en-US" altLang="zh-CN" sz="3000" dirty="0">
                <a:sym typeface="Wingdings" pitchFamily="2" charset="2"/>
              </a:rPr>
              <a:t>U</a:t>
            </a:r>
            <a:r>
              <a:rPr lang="en-US" altLang="zh-CN" sz="3000" baseline="-25000" dirty="0">
                <a:sym typeface="Wingdings" pitchFamily="2" charset="2"/>
              </a:rPr>
              <a:t>3</a:t>
            </a:r>
            <a:r>
              <a:rPr lang="en-US" altLang="zh-CN" sz="3000" dirty="0">
                <a:sym typeface="Wingdings" pitchFamily="2" charset="2"/>
              </a:rPr>
              <a:t>O</a:t>
            </a:r>
            <a:r>
              <a:rPr lang="en-US" altLang="zh-CN" sz="3000" baseline="-25000" dirty="0">
                <a:sym typeface="Wingdings" pitchFamily="2" charset="2"/>
              </a:rPr>
              <a:t>8</a:t>
            </a:r>
            <a:r>
              <a:rPr lang="zh-CN" altLang="en-US" sz="3000" dirty="0">
                <a:sym typeface="Wingdings" pitchFamily="2" charset="2"/>
              </a:rPr>
              <a:t>之放射性强度相同时，则其摩尔数比为</a:t>
            </a:r>
            <a:r>
              <a:rPr lang="en-US" altLang="zh-CN" sz="3000" dirty="0">
                <a:sym typeface="Wingdings" pitchFamily="2" charset="2"/>
              </a:rPr>
              <a:t>1:3</a:t>
            </a:r>
            <a:r>
              <a:rPr lang="zh-CN" altLang="en-US" sz="3000" dirty="0">
                <a:sym typeface="Wingdings" pitchFamily="2" charset="2"/>
              </a:rPr>
              <a:t>。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	B </a:t>
            </a:r>
            <a:r>
              <a:rPr lang="zh-CN" altLang="en-US" sz="3000" dirty="0">
                <a:sym typeface="Wingdings" pitchFamily="2" charset="2"/>
              </a:rPr>
              <a:t>原子序数在</a:t>
            </a:r>
            <a:r>
              <a:rPr lang="en-US" altLang="zh-CN" sz="3000" dirty="0">
                <a:sym typeface="Wingdings" pitchFamily="2" charset="2"/>
              </a:rPr>
              <a:t>20-82</a:t>
            </a:r>
            <a:r>
              <a:rPr lang="zh-CN" altLang="en-US" sz="3000" dirty="0">
                <a:sym typeface="Wingdings" pitchFamily="2" charset="2"/>
              </a:rPr>
              <a:t>之间的原子，以中子数少过质子数的原子核最为稳定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	C </a:t>
            </a:r>
            <a:r>
              <a:rPr lang="zh-CN" altLang="en-US" sz="3000" dirty="0">
                <a:sym typeface="Wingdings" pitchFamily="2" charset="2"/>
              </a:rPr>
              <a:t>放射元素之放射强度与其半衰期成反比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	D </a:t>
            </a:r>
            <a:r>
              <a:rPr lang="zh-CN" altLang="en-US" sz="3000" dirty="0">
                <a:sym typeface="Wingdings" pitchFamily="2" charset="2"/>
              </a:rPr>
              <a:t>在第一半衰期剩下</a:t>
            </a:r>
            <a:r>
              <a:rPr lang="en-US" altLang="zh-CN" sz="3000" dirty="0">
                <a:sym typeface="Wingdings" pitchFamily="2" charset="2"/>
              </a:rPr>
              <a:t>50%</a:t>
            </a:r>
            <a:r>
              <a:rPr lang="zh-CN" altLang="en-US" sz="3000" dirty="0">
                <a:sym typeface="Wingdings" pitchFamily="2" charset="2"/>
              </a:rPr>
              <a:t>放射性物质，在第二半衰期完全消失。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05600" y="1905000"/>
            <a:ext cx="7152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r>
              <a:rPr lang="en-MY" altLang="zh-CN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:1</a:t>
            </a:r>
            <a:endParaRPr lang="en-US" sz="3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705600" y="2920425"/>
            <a:ext cx="13997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n/p &gt; 1</a:t>
            </a:r>
            <a:endParaRPr lang="en-US" sz="3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90600" y="5410200"/>
            <a:ext cx="11480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Ans:C</a:t>
            </a:r>
            <a:endParaRPr lang="en-US" sz="3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324600" y="4596825"/>
            <a:ext cx="13131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剩</a:t>
            </a:r>
            <a:r>
              <a:rPr lang="en-US" altLang="zh-CN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25%</a:t>
            </a:r>
            <a:endParaRPr lang="en-US" sz="3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001000" cy="1202485"/>
          </a:xfrm>
        </p:spPr>
        <p:txBody>
          <a:bodyPr>
            <a:noAutofit/>
          </a:bodyPr>
          <a:lstStyle/>
          <a:p>
            <a:pPr algn="l"/>
            <a:r>
              <a:rPr lang="zh-CN" altLang="en-US" sz="4800" b="1" dirty="0">
                <a:latin typeface="+mn-ea"/>
              </a:rPr>
              <a:t>历届考题</a:t>
            </a:r>
            <a:endParaRPr lang="en-US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382000" cy="5867400"/>
          </a:xfrm>
        </p:spPr>
        <p:txBody>
          <a:bodyPr>
            <a:noAutofit/>
          </a:bodyPr>
          <a:lstStyle/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2. </a:t>
            </a:r>
            <a:r>
              <a:rPr lang="zh-CN" altLang="en-US" sz="3000" dirty="0">
                <a:sym typeface="Wingdings" pitchFamily="2" charset="2"/>
              </a:rPr>
              <a:t>放射性元素</a:t>
            </a:r>
            <a:r>
              <a:rPr lang="en-US" altLang="zh-CN" sz="3000" dirty="0">
                <a:sym typeface="Wingdings" pitchFamily="2" charset="2"/>
              </a:rPr>
              <a:t>25g</a:t>
            </a:r>
            <a:r>
              <a:rPr lang="zh-CN" altLang="en-US" sz="3000" dirty="0">
                <a:sym typeface="Wingdings" pitchFamily="2" charset="2"/>
              </a:rPr>
              <a:t>，经</a:t>
            </a:r>
            <a:r>
              <a:rPr lang="en-US" altLang="zh-CN" sz="3000" dirty="0">
                <a:sym typeface="Wingdings" pitchFamily="2" charset="2"/>
              </a:rPr>
              <a:t>30min</a:t>
            </a:r>
            <a:r>
              <a:rPr lang="zh-CN" altLang="en-US" sz="3000" dirty="0">
                <a:sym typeface="Wingdings" pitchFamily="2" charset="2"/>
              </a:rPr>
              <a:t>后，剩下</a:t>
            </a:r>
            <a:r>
              <a:rPr lang="en-US" altLang="zh-CN" sz="3000" dirty="0">
                <a:sym typeface="Wingdings" pitchFamily="2" charset="2"/>
              </a:rPr>
              <a:t>5g</a:t>
            </a:r>
            <a:r>
              <a:rPr lang="zh-CN" altLang="en-US" sz="3000" dirty="0">
                <a:sym typeface="Wingdings" pitchFamily="2" charset="2"/>
              </a:rPr>
              <a:t>未衰变；如果开始时该元素有</a:t>
            </a:r>
            <a:r>
              <a:rPr lang="en-US" altLang="zh-CN" sz="3000" dirty="0">
                <a:sym typeface="Wingdings" pitchFamily="2" charset="2"/>
              </a:rPr>
              <a:t>100g</a:t>
            </a:r>
            <a:r>
              <a:rPr lang="zh-CN" altLang="en-US" sz="3000" dirty="0">
                <a:sym typeface="Wingdings" pitchFamily="2" charset="2"/>
              </a:rPr>
              <a:t>，经过</a:t>
            </a:r>
            <a:r>
              <a:rPr lang="en-US" altLang="zh-CN" sz="3000" dirty="0">
                <a:sym typeface="Wingdings" pitchFamily="2" charset="2"/>
              </a:rPr>
              <a:t>1</a:t>
            </a:r>
            <a:r>
              <a:rPr lang="zh-CN" altLang="en-US" sz="3000" dirty="0">
                <a:sym typeface="Wingdings" pitchFamily="2" charset="2"/>
              </a:rPr>
              <a:t>小时后衰变多少克？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	T</a:t>
            </a:r>
            <a:r>
              <a:rPr lang="en-US" altLang="zh-CN" sz="3000" baseline="-25000" dirty="0">
                <a:sym typeface="Wingdings" pitchFamily="2" charset="2"/>
              </a:rPr>
              <a:t>1/2</a:t>
            </a:r>
            <a:r>
              <a:rPr lang="en-US" altLang="zh-CN" sz="3000" dirty="0">
                <a:sym typeface="Wingdings" pitchFamily="2" charset="2"/>
              </a:rPr>
              <a:t> =12.92min</a:t>
            </a: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	</a:t>
            </a:r>
            <a:r>
              <a:rPr lang="zh-CN" altLang="en-US" sz="3000" dirty="0">
                <a:sym typeface="Wingdings" pitchFamily="2" charset="2"/>
              </a:rPr>
              <a:t>剩下</a:t>
            </a:r>
            <a:r>
              <a:rPr lang="en-US" altLang="zh-CN" sz="3000" dirty="0">
                <a:sym typeface="Wingdings" pitchFamily="2" charset="2"/>
              </a:rPr>
              <a:t>4g</a:t>
            </a: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	</a:t>
            </a:r>
            <a:r>
              <a:rPr lang="zh-CN" altLang="en-US" sz="3000" dirty="0">
                <a:sym typeface="Wingdings" pitchFamily="2" charset="2"/>
              </a:rPr>
              <a:t>衰变了</a:t>
            </a:r>
            <a:r>
              <a:rPr lang="en-US" altLang="zh-CN" sz="3000" dirty="0">
                <a:sym typeface="Wingdings" pitchFamily="2" charset="2"/>
              </a:rPr>
              <a:t>96g</a:t>
            </a: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3. </a:t>
            </a:r>
            <a:r>
              <a:rPr lang="zh-CN" altLang="en-US" sz="3000" dirty="0">
                <a:sym typeface="Wingdings" pitchFamily="2" charset="2"/>
              </a:rPr>
              <a:t>已知</a:t>
            </a:r>
            <a:r>
              <a:rPr lang="en-US" altLang="zh-CN" sz="3000" baseline="30000" dirty="0">
                <a:sym typeface="Wingdings" pitchFamily="2" charset="2"/>
              </a:rPr>
              <a:t>238</a:t>
            </a:r>
            <a:r>
              <a:rPr lang="en-US" altLang="zh-CN" sz="3000" dirty="0">
                <a:sym typeface="Wingdings" pitchFamily="2" charset="2"/>
              </a:rPr>
              <a:t>U</a:t>
            </a:r>
            <a:r>
              <a:rPr lang="zh-CN" altLang="en-US" sz="3000" dirty="0">
                <a:sym typeface="Wingdings" pitchFamily="2" charset="2"/>
              </a:rPr>
              <a:t>经衰变后最终变成</a:t>
            </a:r>
            <a:r>
              <a:rPr lang="en-US" altLang="zh-CN" sz="3000" baseline="30000" dirty="0">
                <a:sym typeface="Wingdings" pitchFamily="2" charset="2"/>
              </a:rPr>
              <a:t>206</a:t>
            </a:r>
            <a:r>
              <a:rPr lang="en-US" altLang="zh-CN" sz="3000" dirty="0">
                <a:sym typeface="Wingdings" pitchFamily="2" charset="2"/>
              </a:rPr>
              <a:t>Pb</a:t>
            </a:r>
            <a:r>
              <a:rPr lang="zh-CN" altLang="en-US" sz="3000" dirty="0">
                <a:sym typeface="Wingdings" pitchFamily="2" charset="2"/>
              </a:rPr>
              <a:t>，铀的半衰期是</a:t>
            </a:r>
            <a:r>
              <a:rPr lang="en-US" altLang="zh-CN" sz="3000" dirty="0">
                <a:sym typeface="Wingdings" pitchFamily="2" charset="2"/>
              </a:rPr>
              <a:t>4.5x10</a:t>
            </a:r>
            <a:r>
              <a:rPr lang="en-US" altLang="zh-CN" sz="3000" baseline="30000" dirty="0">
                <a:sym typeface="Wingdings" pitchFamily="2" charset="2"/>
              </a:rPr>
              <a:t>9</a:t>
            </a:r>
            <a:r>
              <a:rPr lang="zh-CN" altLang="en-US" sz="3000" dirty="0">
                <a:sym typeface="Wingdings" pitchFamily="2" charset="2"/>
              </a:rPr>
              <a:t>年。某岩石样品含铀及铅的物质的量之比为</a:t>
            </a:r>
            <a:r>
              <a:rPr lang="en-US" altLang="zh-CN" sz="3000" dirty="0">
                <a:sym typeface="Wingdings" pitchFamily="2" charset="2"/>
              </a:rPr>
              <a:t>1:7</a:t>
            </a:r>
            <a:r>
              <a:rPr lang="zh-CN" altLang="en-US" sz="3000" dirty="0">
                <a:sym typeface="Wingdings" pitchFamily="2" charset="2"/>
              </a:rPr>
              <a:t>，则该岩石的年龄为多少？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			</a:t>
            </a:r>
            <a:r>
              <a:rPr lang="en-US" altLang="zh-CN" sz="3000" dirty="0" err="1">
                <a:sym typeface="Wingdings" pitchFamily="2" charset="2"/>
              </a:rPr>
              <a:t>Ans</a:t>
            </a:r>
            <a:r>
              <a:rPr lang="zh-CN" altLang="en-US" sz="3000" dirty="0">
                <a:sym typeface="Wingdings" pitchFamily="2" charset="2"/>
              </a:rPr>
              <a:t>： </a:t>
            </a:r>
            <a:r>
              <a:rPr lang="en-US" altLang="zh-CN" sz="3000" dirty="0">
                <a:sym typeface="Wingdings" pitchFamily="2" charset="2"/>
              </a:rPr>
              <a:t>1.35 x 10</a:t>
            </a:r>
            <a:r>
              <a:rPr lang="en-US" altLang="zh-CN" sz="3000" baseline="30000" dirty="0">
                <a:sym typeface="Wingdings" pitchFamily="2" charset="2"/>
              </a:rPr>
              <a:t>10</a:t>
            </a:r>
            <a:r>
              <a:rPr lang="en-US" altLang="zh-CN" sz="3000" dirty="0">
                <a:sym typeface="Wingdings" pitchFamily="2" charset="2"/>
              </a:rPr>
              <a:t> </a:t>
            </a:r>
            <a:r>
              <a:rPr lang="zh-CN" altLang="en-US" sz="3000" dirty="0">
                <a:sym typeface="Wingdings" pitchFamily="2" charset="2"/>
              </a:rPr>
              <a:t>年</a:t>
            </a:r>
            <a:endParaRPr lang="en-US" altLang="zh-CN" sz="3000" dirty="0"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001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800" b="1" dirty="0">
                <a:latin typeface="+mn-ea"/>
              </a:rPr>
              <a:t>25.3 </a:t>
            </a:r>
            <a:r>
              <a:rPr lang="zh-CN" altLang="en-US" sz="4800" b="1" dirty="0">
                <a:latin typeface="+mn-ea"/>
              </a:rPr>
              <a:t>放射性同位素的应用</a:t>
            </a:r>
            <a:endParaRPr lang="en-US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52600" y="990600"/>
            <a:ext cx="7010400" cy="5867400"/>
          </a:xfrm>
        </p:spPr>
        <p:txBody>
          <a:bodyPr>
            <a:noAutofit/>
          </a:bodyPr>
          <a:lstStyle/>
          <a:p>
            <a:pPr marL="514350" indent="-514350">
              <a:buFont typeface="Wingdings" pitchFamily="2" charset="2"/>
              <a:buChar char="Ø"/>
            </a:pPr>
            <a:r>
              <a:rPr lang="zh-CN" altLang="en-US" sz="3000" dirty="0"/>
              <a:t>考古学和地质学</a:t>
            </a:r>
            <a:endParaRPr lang="en-US" altLang="zh-CN" sz="3000" dirty="0"/>
          </a:p>
          <a:p>
            <a:pPr marL="514350" indent="-514350">
              <a:buNone/>
            </a:pPr>
            <a:r>
              <a:rPr lang="en-US" altLang="zh-CN" sz="2800" baseline="30000" dirty="0"/>
              <a:t> </a:t>
            </a:r>
            <a:r>
              <a:rPr lang="en-US" altLang="zh-CN" sz="2800" dirty="0"/>
              <a:t> 1. </a:t>
            </a:r>
            <a:r>
              <a:rPr lang="en-US" altLang="zh-CN" sz="2800" baseline="30000" dirty="0"/>
              <a:t> </a:t>
            </a:r>
            <a:r>
              <a:rPr lang="en-US" altLang="zh-CN" sz="2800" dirty="0"/>
              <a:t> 	N  +  	   n  </a:t>
            </a:r>
            <a:r>
              <a:rPr lang="en-US" altLang="zh-CN" sz="2800" dirty="0">
                <a:sym typeface="Wingdings" pitchFamily="2" charset="2"/>
              </a:rPr>
              <a:t>     C  +     H </a:t>
            </a:r>
          </a:p>
          <a:p>
            <a:pPr marL="514350" indent="-514350">
              <a:buNone/>
            </a:pPr>
            <a:r>
              <a:rPr lang="en-US" altLang="zh-CN" sz="2800" dirty="0">
                <a:sym typeface="Wingdings" pitchFamily="2" charset="2"/>
              </a:rPr>
              <a:t>          C       e   +       N</a:t>
            </a:r>
            <a:endParaRPr lang="en-US" altLang="zh-CN" sz="2800" baseline="30000" dirty="0"/>
          </a:p>
          <a:p>
            <a:pPr marL="514350" indent="-514350">
              <a:buNone/>
            </a:pPr>
            <a:r>
              <a:rPr lang="en-US" altLang="zh-CN" sz="2800" dirty="0"/>
              <a:t>  2. </a:t>
            </a:r>
            <a:r>
              <a:rPr lang="en-US" altLang="zh-CN" sz="2800" baseline="30000" dirty="0"/>
              <a:t>238</a:t>
            </a:r>
            <a:r>
              <a:rPr lang="en-US" altLang="zh-CN" sz="2800" dirty="0"/>
              <a:t>U – </a:t>
            </a:r>
            <a:r>
              <a:rPr lang="en-US" altLang="zh-CN" sz="2800" baseline="30000" dirty="0"/>
              <a:t>206</a:t>
            </a:r>
            <a:r>
              <a:rPr lang="en-US" altLang="zh-CN" sz="2800" dirty="0"/>
              <a:t>Pb </a:t>
            </a:r>
          </a:p>
          <a:p>
            <a:pPr marL="514350" indent="-514350">
              <a:buNone/>
            </a:pPr>
            <a:r>
              <a:rPr lang="en-US" altLang="zh-CN" sz="2800" dirty="0"/>
              <a:t>  3. </a:t>
            </a:r>
            <a:r>
              <a:rPr lang="en-US" altLang="zh-CN" sz="2800" baseline="30000" dirty="0"/>
              <a:t>40</a:t>
            </a:r>
            <a:r>
              <a:rPr lang="en-US" altLang="zh-CN" sz="2800" dirty="0"/>
              <a:t>K – </a:t>
            </a:r>
            <a:r>
              <a:rPr lang="en-US" altLang="zh-CN" sz="2800" baseline="30000" dirty="0"/>
              <a:t>40</a:t>
            </a:r>
            <a:r>
              <a:rPr lang="en-US" altLang="zh-CN" sz="2800" dirty="0"/>
              <a:t>Ar</a:t>
            </a:r>
          </a:p>
          <a:p>
            <a:pPr marL="514350" indent="-514350">
              <a:buNone/>
            </a:pPr>
            <a:r>
              <a:rPr lang="zh-CN" altLang="en-US" sz="3000" dirty="0"/>
              <a:t>用于：推算古物年代</a:t>
            </a:r>
            <a:endParaRPr lang="en-US" altLang="zh-CN" sz="3000" dirty="0"/>
          </a:p>
          <a:p>
            <a:pPr marL="514350" indent="-514350">
              <a:buNone/>
            </a:pPr>
            <a:r>
              <a:rPr lang="en-US" altLang="zh-CN" sz="3000" dirty="0"/>
              <a:t>		</a:t>
            </a:r>
            <a:r>
              <a:rPr lang="zh-CN" altLang="en-US" sz="3000" dirty="0"/>
              <a:t>岩石、矿物年龄</a:t>
            </a:r>
            <a:endParaRPr lang="en-US" altLang="zh-CN" sz="3000" dirty="0"/>
          </a:p>
          <a:p>
            <a:pPr marL="514350" indent="-514350">
              <a:buNone/>
            </a:pPr>
            <a:r>
              <a:rPr lang="en-US" altLang="zh-CN" sz="3000" dirty="0"/>
              <a:t>		</a:t>
            </a:r>
            <a:r>
              <a:rPr lang="zh-CN" altLang="en-US" sz="3000" dirty="0"/>
              <a:t>地球、月球、太阳年龄</a:t>
            </a:r>
            <a:endParaRPr lang="en-US" altLang="zh-CN" sz="3000" dirty="0"/>
          </a:p>
          <a:p>
            <a:pPr marL="514350" indent="-514350">
              <a:buNone/>
            </a:pPr>
            <a:r>
              <a:rPr lang="en-US" altLang="zh-CN" sz="3000" baseline="30000" dirty="0"/>
              <a:t>		60</a:t>
            </a:r>
            <a:r>
              <a:rPr lang="en-US" altLang="zh-CN" sz="3000" dirty="0"/>
              <a:t>Co</a:t>
            </a:r>
            <a:r>
              <a:rPr lang="zh-CN" altLang="en-US" sz="3000" dirty="0"/>
              <a:t>探测石油、煤田位置与厚薄</a:t>
            </a:r>
            <a:endParaRPr lang="en-US" altLang="zh-CN" sz="3000" dirty="0"/>
          </a:p>
        </p:txBody>
      </p:sp>
      <p:grpSp>
        <p:nvGrpSpPr>
          <p:cNvPr id="6" name="Group 6"/>
          <p:cNvGrpSpPr>
            <a:grpSpLocks/>
          </p:cNvGrpSpPr>
          <p:nvPr/>
        </p:nvGrpSpPr>
        <p:grpSpPr bwMode="auto">
          <a:xfrm>
            <a:off x="2286000" y="1382711"/>
            <a:ext cx="457200" cy="663294"/>
            <a:chOff x="1219200" y="4419600"/>
            <a:chExt cx="457200" cy="662803"/>
          </a:xfrm>
        </p:grpSpPr>
        <p:sp>
          <p:nvSpPr>
            <p:cNvPr id="7" name="TextBox 7"/>
            <p:cNvSpPr txBox="1">
              <a:spLocks noChangeArrowheads="1"/>
            </p:cNvSpPr>
            <p:nvPr/>
          </p:nvSpPr>
          <p:spPr bwMode="auto">
            <a:xfrm>
              <a:off x="1219200" y="4713071"/>
              <a:ext cx="4572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  7  </a:t>
              </a:r>
            </a:p>
          </p:txBody>
        </p:sp>
        <p:sp>
          <p:nvSpPr>
            <p:cNvPr id="8" name="TextBox 8"/>
            <p:cNvSpPr txBox="1">
              <a:spLocks noChangeArrowheads="1"/>
            </p:cNvSpPr>
            <p:nvPr/>
          </p:nvSpPr>
          <p:spPr bwMode="auto">
            <a:xfrm>
              <a:off x="1219200" y="4419600"/>
              <a:ext cx="4572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14</a:t>
              </a:r>
            </a:p>
          </p:txBody>
        </p:sp>
      </p:grpSp>
      <p:grpSp>
        <p:nvGrpSpPr>
          <p:cNvPr id="12" name="Group 6"/>
          <p:cNvGrpSpPr>
            <a:grpSpLocks/>
          </p:cNvGrpSpPr>
          <p:nvPr/>
        </p:nvGrpSpPr>
        <p:grpSpPr bwMode="auto">
          <a:xfrm>
            <a:off x="3505200" y="1371600"/>
            <a:ext cx="533400" cy="663294"/>
            <a:chOff x="1219200" y="4419600"/>
            <a:chExt cx="533400" cy="662803"/>
          </a:xfrm>
        </p:grpSpPr>
        <p:sp>
          <p:nvSpPr>
            <p:cNvPr id="13" name="TextBox 7"/>
            <p:cNvSpPr txBox="1">
              <a:spLocks noChangeArrowheads="1"/>
            </p:cNvSpPr>
            <p:nvPr/>
          </p:nvSpPr>
          <p:spPr bwMode="auto">
            <a:xfrm>
              <a:off x="1219200" y="4713071"/>
              <a:ext cx="4572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  0  </a:t>
              </a:r>
            </a:p>
          </p:txBody>
        </p:sp>
        <p:sp>
          <p:nvSpPr>
            <p:cNvPr id="14" name="TextBox 8"/>
            <p:cNvSpPr txBox="1">
              <a:spLocks noChangeArrowheads="1"/>
            </p:cNvSpPr>
            <p:nvPr/>
          </p:nvSpPr>
          <p:spPr bwMode="auto">
            <a:xfrm>
              <a:off x="1295400" y="4419600"/>
              <a:ext cx="4572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1</a:t>
              </a:r>
            </a:p>
          </p:txBody>
        </p:sp>
      </p:grpSp>
      <p:grpSp>
        <p:nvGrpSpPr>
          <p:cNvPr id="15" name="Group 6"/>
          <p:cNvGrpSpPr>
            <a:grpSpLocks/>
          </p:cNvGrpSpPr>
          <p:nvPr/>
        </p:nvGrpSpPr>
        <p:grpSpPr bwMode="auto">
          <a:xfrm>
            <a:off x="4572000" y="1371600"/>
            <a:ext cx="457200" cy="663294"/>
            <a:chOff x="1219200" y="4419600"/>
            <a:chExt cx="457200" cy="662803"/>
          </a:xfrm>
        </p:grpSpPr>
        <p:sp>
          <p:nvSpPr>
            <p:cNvPr id="16" name="TextBox 7"/>
            <p:cNvSpPr txBox="1">
              <a:spLocks noChangeArrowheads="1"/>
            </p:cNvSpPr>
            <p:nvPr/>
          </p:nvSpPr>
          <p:spPr bwMode="auto">
            <a:xfrm>
              <a:off x="1219200" y="4713071"/>
              <a:ext cx="4572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  6   </a:t>
              </a:r>
            </a:p>
          </p:txBody>
        </p:sp>
        <p:sp>
          <p:nvSpPr>
            <p:cNvPr id="17" name="TextBox 8"/>
            <p:cNvSpPr txBox="1">
              <a:spLocks noChangeArrowheads="1"/>
            </p:cNvSpPr>
            <p:nvPr/>
          </p:nvSpPr>
          <p:spPr bwMode="auto">
            <a:xfrm>
              <a:off x="1219200" y="4419600"/>
              <a:ext cx="4572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14</a:t>
              </a:r>
            </a:p>
          </p:txBody>
        </p:sp>
      </p:grpSp>
      <p:grpSp>
        <p:nvGrpSpPr>
          <p:cNvPr id="18" name="Group 6"/>
          <p:cNvGrpSpPr>
            <a:grpSpLocks/>
          </p:cNvGrpSpPr>
          <p:nvPr/>
        </p:nvGrpSpPr>
        <p:grpSpPr bwMode="auto">
          <a:xfrm>
            <a:off x="5562600" y="1371600"/>
            <a:ext cx="533400" cy="663294"/>
            <a:chOff x="1219200" y="4419600"/>
            <a:chExt cx="533400" cy="662803"/>
          </a:xfrm>
        </p:grpSpPr>
        <p:sp>
          <p:nvSpPr>
            <p:cNvPr id="19" name="TextBox 7"/>
            <p:cNvSpPr txBox="1">
              <a:spLocks noChangeArrowheads="1"/>
            </p:cNvSpPr>
            <p:nvPr/>
          </p:nvSpPr>
          <p:spPr bwMode="auto">
            <a:xfrm>
              <a:off x="1219200" y="4713071"/>
              <a:ext cx="4572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  1  </a:t>
              </a:r>
            </a:p>
          </p:txBody>
        </p:sp>
        <p:sp>
          <p:nvSpPr>
            <p:cNvPr id="20" name="TextBox 8"/>
            <p:cNvSpPr txBox="1">
              <a:spLocks noChangeArrowheads="1"/>
            </p:cNvSpPr>
            <p:nvPr/>
          </p:nvSpPr>
          <p:spPr bwMode="auto">
            <a:xfrm>
              <a:off x="1295400" y="4419600"/>
              <a:ext cx="4572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1</a:t>
              </a:r>
            </a:p>
          </p:txBody>
        </p:sp>
      </p:grpSp>
      <p:grpSp>
        <p:nvGrpSpPr>
          <p:cNvPr id="21" name="Group 6"/>
          <p:cNvGrpSpPr>
            <a:grpSpLocks/>
          </p:cNvGrpSpPr>
          <p:nvPr/>
        </p:nvGrpSpPr>
        <p:grpSpPr bwMode="auto">
          <a:xfrm>
            <a:off x="2286000" y="1927506"/>
            <a:ext cx="457200" cy="663294"/>
            <a:chOff x="1219200" y="4419600"/>
            <a:chExt cx="457200" cy="662803"/>
          </a:xfrm>
        </p:grpSpPr>
        <p:sp>
          <p:nvSpPr>
            <p:cNvPr id="22" name="TextBox 7"/>
            <p:cNvSpPr txBox="1">
              <a:spLocks noChangeArrowheads="1"/>
            </p:cNvSpPr>
            <p:nvPr/>
          </p:nvSpPr>
          <p:spPr bwMode="auto">
            <a:xfrm>
              <a:off x="1219200" y="4713071"/>
              <a:ext cx="4572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  6   </a:t>
              </a:r>
            </a:p>
          </p:txBody>
        </p:sp>
        <p:sp>
          <p:nvSpPr>
            <p:cNvPr id="23" name="TextBox 8"/>
            <p:cNvSpPr txBox="1">
              <a:spLocks noChangeArrowheads="1"/>
            </p:cNvSpPr>
            <p:nvPr/>
          </p:nvSpPr>
          <p:spPr bwMode="auto">
            <a:xfrm>
              <a:off x="1219200" y="4419600"/>
              <a:ext cx="4572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14</a:t>
              </a:r>
            </a:p>
          </p:txBody>
        </p:sp>
      </p:grpSp>
      <p:grpSp>
        <p:nvGrpSpPr>
          <p:cNvPr id="24" name="Group 6"/>
          <p:cNvGrpSpPr>
            <a:grpSpLocks/>
          </p:cNvGrpSpPr>
          <p:nvPr/>
        </p:nvGrpSpPr>
        <p:grpSpPr bwMode="auto">
          <a:xfrm>
            <a:off x="3352800" y="1927508"/>
            <a:ext cx="609600" cy="663018"/>
            <a:chOff x="1143000" y="4419600"/>
            <a:chExt cx="609600" cy="662527"/>
          </a:xfrm>
        </p:grpSpPr>
        <p:sp>
          <p:nvSpPr>
            <p:cNvPr id="25" name="TextBox 7"/>
            <p:cNvSpPr txBox="1">
              <a:spLocks noChangeArrowheads="1"/>
            </p:cNvSpPr>
            <p:nvPr/>
          </p:nvSpPr>
          <p:spPr bwMode="auto">
            <a:xfrm>
              <a:off x="1143000" y="4713069"/>
              <a:ext cx="533400" cy="3690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  -1  </a:t>
              </a:r>
            </a:p>
          </p:txBody>
        </p:sp>
        <p:sp>
          <p:nvSpPr>
            <p:cNvPr id="26" name="TextBox 8"/>
            <p:cNvSpPr txBox="1">
              <a:spLocks noChangeArrowheads="1"/>
            </p:cNvSpPr>
            <p:nvPr/>
          </p:nvSpPr>
          <p:spPr bwMode="auto">
            <a:xfrm>
              <a:off x="1295400" y="4419600"/>
              <a:ext cx="4572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0</a:t>
              </a:r>
            </a:p>
          </p:txBody>
        </p:sp>
      </p:grpSp>
      <p:grpSp>
        <p:nvGrpSpPr>
          <p:cNvPr id="27" name="Group 6"/>
          <p:cNvGrpSpPr>
            <a:grpSpLocks/>
          </p:cNvGrpSpPr>
          <p:nvPr/>
        </p:nvGrpSpPr>
        <p:grpSpPr bwMode="auto">
          <a:xfrm>
            <a:off x="4572000" y="1927506"/>
            <a:ext cx="457200" cy="663294"/>
            <a:chOff x="1143000" y="4419600"/>
            <a:chExt cx="457200" cy="662803"/>
          </a:xfrm>
        </p:grpSpPr>
        <p:sp>
          <p:nvSpPr>
            <p:cNvPr id="28" name="TextBox 7"/>
            <p:cNvSpPr txBox="1">
              <a:spLocks noChangeArrowheads="1"/>
            </p:cNvSpPr>
            <p:nvPr/>
          </p:nvSpPr>
          <p:spPr bwMode="auto">
            <a:xfrm>
              <a:off x="1143000" y="4713071"/>
              <a:ext cx="4572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  7  </a:t>
              </a:r>
            </a:p>
          </p:txBody>
        </p:sp>
        <p:sp>
          <p:nvSpPr>
            <p:cNvPr id="29" name="TextBox 8"/>
            <p:cNvSpPr txBox="1">
              <a:spLocks noChangeArrowheads="1"/>
            </p:cNvSpPr>
            <p:nvPr/>
          </p:nvSpPr>
          <p:spPr bwMode="auto">
            <a:xfrm>
              <a:off x="1143000" y="4419600"/>
              <a:ext cx="4572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latin typeface="Calibri" pitchFamily="34" charset="0"/>
                </a:rPr>
                <a:t>14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001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800" b="1" dirty="0">
                <a:latin typeface="+mn-ea"/>
              </a:rPr>
              <a:t>25.3 </a:t>
            </a:r>
            <a:r>
              <a:rPr lang="zh-CN" altLang="en-US" sz="4800" b="1" dirty="0">
                <a:latin typeface="+mn-ea"/>
              </a:rPr>
              <a:t>放射性同位素的应用</a:t>
            </a:r>
            <a:endParaRPr lang="en-US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914400"/>
            <a:ext cx="6934200" cy="5867400"/>
          </a:xfrm>
        </p:spPr>
        <p:txBody>
          <a:bodyPr>
            <a:noAutofit/>
          </a:bodyPr>
          <a:lstStyle/>
          <a:p>
            <a:pPr marL="514350" indent="-514350">
              <a:buFont typeface="Wingdings" pitchFamily="2" charset="2"/>
              <a:buChar char="Ø"/>
            </a:pPr>
            <a:r>
              <a:rPr lang="zh-CN" altLang="en-US" sz="2800" dirty="0"/>
              <a:t>医学</a:t>
            </a:r>
            <a:endParaRPr lang="en-US" altLang="zh-CN" sz="2800" dirty="0"/>
          </a:p>
          <a:p>
            <a:pPr marL="914400" lvl="1" indent="-514350">
              <a:buFont typeface="Wingdings" pitchFamily="2" charset="2"/>
              <a:buChar char="Ø"/>
            </a:pPr>
            <a:r>
              <a:rPr lang="zh-CN" altLang="en-US" sz="2400" dirty="0"/>
              <a:t>放射线用于治疗癌症（</a:t>
            </a:r>
            <a:r>
              <a:rPr lang="en-US" altLang="zh-CN" sz="2400" baseline="30000" dirty="0"/>
              <a:t>60</a:t>
            </a:r>
            <a:r>
              <a:rPr lang="en-US" altLang="zh-CN" sz="2400" dirty="0"/>
              <a:t>Co</a:t>
            </a:r>
            <a:r>
              <a:rPr lang="zh-CN" altLang="en-US" sz="2400" dirty="0"/>
              <a:t>、</a:t>
            </a:r>
            <a:r>
              <a:rPr lang="en-US" altLang="zh-CN" sz="2400" baseline="30000" dirty="0"/>
              <a:t>32</a:t>
            </a:r>
            <a:r>
              <a:rPr lang="en-US" altLang="zh-CN" sz="2400" dirty="0"/>
              <a:t>P</a:t>
            </a:r>
            <a:r>
              <a:rPr lang="zh-CN" altLang="en-US" sz="2400" dirty="0"/>
              <a:t>、</a:t>
            </a:r>
            <a:r>
              <a:rPr lang="en-US" altLang="zh-CN" sz="2400" baseline="30000" dirty="0"/>
              <a:t>90</a:t>
            </a:r>
            <a:r>
              <a:rPr lang="en-US" altLang="zh-CN" sz="2400" dirty="0"/>
              <a:t>Sr</a:t>
            </a:r>
            <a:r>
              <a:rPr lang="zh-CN" altLang="en-US" sz="2400" dirty="0"/>
              <a:t>、</a:t>
            </a:r>
            <a:r>
              <a:rPr lang="en-US" altLang="zh-CN" sz="2400" baseline="30000" dirty="0"/>
              <a:t>131</a:t>
            </a:r>
            <a:r>
              <a:rPr lang="en-US" altLang="zh-CN" sz="2400" dirty="0"/>
              <a:t>I</a:t>
            </a:r>
            <a:r>
              <a:rPr lang="zh-CN" altLang="en-US" sz="2400" dirty="0"/>
              <a:t> ）</a:t>
            </a:r>
            <a:endParaRPr lang="en-US" altLang="zh-CN" sz="2400" dirty="0"/>
          </a:p>
          <a:p>
            <a:pPr marL="914400" lvl="1" indent="-514350">
              <a:buFont typeface="Wingdings" pitchFamily="2" charset="2"/>
              <a:buChar char="Ø"/>
            </a:pPr>
            <a:r>
              <a:rPr lang="zh-CN" altLang="en-US" sz="2400" dirty="0"/>
              <a:t>示踪原子用于检查人体器官的功能</a:t>
            </a:r>
            <a:endParaRPr lang="en-US" altLang="zh-CN" sz="2400" dirty="0"/>
          </a:p>
          <a:p>
            <a:pPr marL="514350" indent="-514350">
              <a:buFont typeface="Wingdings" pitchFamily="2" charset="2"/>
              <a:buChar char="Ø"/>
            </a:pPr>
            <a:r>
              <a:rPr lang="zh-CN" altLang="en-US" sz="2800" dirty="0"/>
              <a:t>工业</a:t>
            </a:r>
            <a:endParaRPr lang="en-US" altLang="zh-CN" sz="2800" dirty="0"/>
          </a:p>
          <a:p>
            <a:pPr marL="914400" lvl="1" indent="-514350">
              <a:buFont typeface="Wingdings" pitchFamily="2" charset="2"/>
              <a:buChar char="Ø"/>
            </a:pPr>
            <a:r>
              <a:rPr lang="zh-CN" altLang="en-US" sz="2400" dirty="0"/>
              <a:t>测定物料的厚度并控制产物的厚薄</a:t>
            </a:r>
            <a:endParaRPr lang="en-US" altLang="zh-CN" sz="2400" dirty="0"/>
          </a:p>
          <a:p>
            <a:pPr marL="914400" lvl="1" indent="-514350">
              <a:buFont typeface="Wingdings" pitchFamily="2" charset="2"/>
              <a:buChar char="Ø"/>
            </a:pPr>
            <a:r>
              <a:rPr lang="zh-CN" altLang="en-US" sz="2400" dirty="0"/>
              <a:t>检验机械内部的裂纹、磨损</a:t>
            </a:r>
            <a:endParaRPr lang="en-US" altLang="zh-CN" sz="2400" dirty="0"/>
          </a:p>
          <a:p>
            <a:pPr marL="914400" lvl="1" indent="-514350">
              <a:buFont typeface="Wingdings" pitchFamily="2" charset="2"/>
              <a:buChar char="Ø"/>
            </a:pPr>
            <a:r>
              <a:rPr lang="zh-CN" altLang="en-US" sz="2400" dirty="0"/>
              <a:t>检查管道泄漏及阻塞</a:t>
            </a:r>
            <a:endParaRPr lang="en-US" altLang="zh-CN" sz="2400" dirty="0"/>
          </a:p>
          <a:p>
            <a:pPr marL="514350" indent="-514350">
              <a:buFont typeface="Wingdings" pitchFamily="2" charset="2"/>
              <a:buChar char="Ø"/>
            </a:pPr>
            <a:r>
              <a:rPr lang="zh-CN" altLang="en-US" sz="2800" dirty="0"/>
              <a:t>农业</a:t>
            </a:r>
            <a:endParaRPr lang="en-US" altLang="zh-CN" sz="2800" dirty="0"/>
          </a:p>
          <a:p>
            <a:pPr marL="914400" lvl="1" indent="-514350">
              <a:buFont typeface="Wingdings" pitchFamily="2" charset="2"/>
              <a:buChar char="Ø"/>
            </a:pPr>
            <a:r>
              <a:rPr lang="zh-CN" altLang="en-US" sz="2400" dirty="0"/>
              <a:t>改良作物品种</a:t>
            </a:r>
            <a:endParaRPr lang="en-US" altLang="zh-CN" sz="2400" dirty="0"/>
          </a:p>
          <a:p>
            <a:pPr marL="914400" lvl="1" indent="-514350">
              <a:buFont typeface="Wingdings" pitchFamily="2" charset="2"/>
              <a:buChar char="Ø"/>
            </a:pPr>
            <a:r>
              <a:rPr lang="zh-CN" altLang="en-US" sz="2400" dirty="0"/>
              <a:t>防止害虫</a:t>
            </a:r>
            <a:endParaRPr lang="en-US" altLang="zh-CN" sz="2400" dirty="0"/>
          </a:p>
          <a:p>
            <a:pPr marL="914400" lvl="1" indent="-514350">
              <a:buFont typeface="Wingdings" pitchFamily="2" charset="2"/>
              <a:buChar char="Ø"/>
            </a:pPr>
            <a:r>
              <a:rPr lang="zh-CN" altLang="en-US" sz="2400" dirty="0"/>
              <a:t>检测施肥效果</a:t>
            </a:r>
            <a:endParaRPr lang="en-US" altLang="zh-CN" sz="2400" dirty="0"/>
          </a:p>
          <a:p>
            <a:pPr marL="914400" lvl="1" indent="-514350">
              <a:buFont typeface="Wingdings" pitchFamily="2" charset="2"/>
              <a:buChar char="Ø"/>
            </a:pPr>
            <a:r>
              <a:rPr lang="zh-CN" altLang="en-US" sz="2400" dirty="0"/>
              <a:t>延缓或抑制蔬果发芽或成熟变质</a:t>
            </a:r>
            <a:endParaRPr lang="en-US" altLang="zh-CN" sz="2400" dirty="0"/>
          </a:p>
          <a:p>
            <a:pPr marL="914400" lvl="1" indent="-514350">
              <a:buFont typeface="Wingdings" pitchFamily="2" charset="2"/>
              <a:buChar char="Ø"/>
            </a:pPr>
            <a:endParaRPr lang="en-US" altLang="zh-CN" sz="2400" dirty="0"/>
          </a:p>
          <a:p>
            <a:pPr marL="514350" indent="-514350">
              <a:buFont typeface="Wingdings" pitchFamily="2" charset="2"/>
              <a:buChar char="Ø"/>
            </a:pPr>
            <a:endParaRPr lang="en-US" altLang="zh-CN" sz="2800" dirty="0"/>
          </a:p>
        </p:txBody>
      </p:sp>
      <p:sp>
        <p:nvSpPr>
          <p:cNvPr id="6" name="Rectangle 5"/>
          <p:cNvSpPr/>
          <p:nvPr/>
        </p:nvSpPr>
        <p:spPr>
          <a:xfrm>
            <a:off x="6655475" y="3810000"/>
            <a:ext cx="2031325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002060"/>
                </a:solidFill>
              </a:rPr>
              <a:t>思考题</a:t>
            </a:r>
            <a:r>
              <a:rPr lang="en-US" altLang="zh-CN" sz="3200" b="1" dirty="0">
                <a:solidFill>
                  <a:srgbClr val="002060"/>
                </a:solidFill>
              </a:rPr>
              <a:t>25g</a:t>
            </a:r>
          </a:p>
          <a:p>
            <a:r>
              <a:rPr lang="en-US" sz="3200" b="1" dirty="0">
                <a:solidFill>
                  <a:srgbClr val="002060"/>
                </a:solidFill>
              </a:rPr>
              <a:t>2. C </a:t>
            </a: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b="1" dirty="0">
                <a:latin typeface="+mn-ea"/>
              </a:rPr>
              <a:t>25.4 </a:t>
            </a:r>
            <a:r>
              <a:rPr lang="zh-CN" altLang="en-US" b="1" dirty="0">
                <a:latin typeface="+mn-ea"/>
              </a:rPr>
              <a:t>核能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90800" y="990600"/>
            <a:ext cx="6096000" cy="5867400"/>
          </a:xfrm>
        </p:spPr>
        <p:txBody>
          <a:bodyPr>
            <a:noAutofit/>
          </a:bodyPr>
          <a:lstStyle/>
          <a:p>
            <a:pPr marL="514350" indent="-514350">
              <a:spcBef>
                <a:spcPts val="1200"/>
              </a:spcBef>
              <a:buFont typeface="Wingdings" pitchFamily="2" charset="2"/>
              <a:buChar char="ü"/>
            </a:pPr>
            <a:r>
              <a:rPr lang="zh-CN" altLang="en-US" sz="3000" dirty="0"/>
              <a:t>核能：原子核结构发生变化时所放出来的能量。</a:t>
            </a:r>
            <a:endParaRPr lang="en-US" altLang="zh-CN" sz="3000" dirty="0"/>
          </a:p>
          <a:p>
            <a:pPr marL="514350" indent="-514350">
              <a:spcBef>
                <a:spcPts val="1200"/>
              </a:spcBef>
              <a:buFont typeface="Wingdings" pitchFamily="2" charset="2"/>
              <a:buChar char="ü"/>
            </a:pPr>
            <a:r>
              <a:rPr lang="en-US" altLang="zh-CN" sz="3000" dirty="0"/>
              <a:t>E</a:t>
            </a:r>
            <a:r>
              <a:rPr lang="en-US" altLang="zh-CN" sz="3000" baseline="-25000" dirty="0"/>
              <a:t>1</a:t>
            </a:r>
            <a:r>
              <a:rPr lang="en-US" altLang="zh-CN" sz="3000" dirty="0"/>
              <a:t> </a:t>
            </a:r>
            <a:r>
              <a:rPr lang="zh-CN" altLang="en-US" sz="3000" dirty="0"/>
              <a:t>衰变放出的能量</a:t>
            </a:r>
            <a:endParaRPr lang="en-US" altLang="zh-CN" sz="3000" dirty="0"/>
          </a:p>
          <a:p>
            <a:pPr marL="514350" indent="-514350">
              <a:spcBef>
                <a:spcPts val="1200"/>
              </a:spcBef>
              <a:buFont typeface="Wingdings" pitchFamily="2" charset="2"/>
              <a:buChar char="ü"/>
            </a:pPr>
            <a:r>
              <a:rPr lang="en-US" altLang="zh-CN" sz="3000" dirty="0"/>
              <a:t>E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 </a:t>
            </a:r>
            <a:r>
              <a:rPr lang="zh-CN" altLang="en-US" sz="3000" dirty="0"/>
              <a:t>核裂变放出的能量（原子弹）</a:t>
            </a:r>
            <a:endParaRPr lang="en-US" altLang="zh-CN" sz="3000" dirty="0"/>
          </a:p>
          <a:p>
            <a:pPr marL="514350" indent="-514350">
              <a:spcBef>
                <a:spcPts val="1200"/>
              </a:spcBef>
              <a:buFont typeface="Wingdings" pitchFamily="2" charset="2"/>
              <a:buChar char="ü"/>
            </a:pPr>
            <a:r>
              <a:rPr lang="en-US" altLang="zh-CN" sz="3000" dirty="0"/>
              <a:t>E</a:t>
            </a:r>
            <a:r>
              <a:rPr lang="en-US" altLang="zh-CN" sz="3000" baseline="-25000" dirty="0"/>
              <a:t>3</a:t>
            </a:r>
            <a:r>
              <a:rPr lang="en-US" altLang="zh-CN" sz="3000" dirty="0"/>
              <a:t> </a:t>
            </a:r>
            <a:r>
              <a:rPr lang="zh-CN" altLang="en-US" sz="3000" dirty="0"/>
              <a:t>核聚变放出的能量（氢弹）</a:t>
            </a:r>
            <a:endParaRPr lang="en-US" altLang="zh-CN" sz="3000" dirty="0"/>
          </a:p>
          <a:p>
            <a:pPr marL="514350" indent="-514350">
              <a:spcBef>
                <a:spcPts val="1200"/>
              </a:spcBef>
              <a:buFont typeface="Wingdings" pitchFamily="2" charset="2"/>
              <a:buChar char="ü"/>
            </a:pPr>
            <a:r>
              <a:rPr lang="en-US" altLang="zh-CN" sz="3000" dirty="0"/>
              <a:t>E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 = 3x10</a:t>
            </a:r>
            <a:r>
              <a:rPr lang="en-US" altLang="zh-CN" sz="3000" baseline="30000" dirty="0"/>
              <a:t>6</a:t>
            </a:r>
            <a:r>
              <a:rPr lang="en-US" altLang="zh-CN" sz="3000" dirty="0"/>
              <a:t> E</a:t>
            </a:r>
            <a:r>
              <a:rPr lang="en-US" altLang="zh-CN" sz="3000" baseline="-25000" dirty="0"/>
              <a:t>1</a:t>
            </a:r>
            <a:r>
              <a:rPr lang="en-US" altLang="zh-CN" sz="3000" dirty="0"/>
              <a:t> </a:t>
            </a:r>
          </a:p>
          <a:p>
            <a:pPr marL="514350" indent="-514350">
              <a:spcBef>
                <a:spcPts val="1200"/>
              </a:spcBef>
              <a:buFont typeface="Wingdings" pitchFamily="2" charset="2"/>
              <a:buChar char="ü"/>
            </a:pPr>
            <a:r>
              <a:rPr lang="en-US" altLang="zh-CN" sz="3000" dirty="0"/>
              <a:t>E</a:t>
            </a:r>
            <a:r>
              <a:rPr lang="en-US" altLang="zh-CN" sz="3000" baseline="-25000" dirty="0"/>
              <a:t>3</a:t>
            </a:r>
            <a:r>
              <a:rPr lang="en-US" altLang="zh-CN" sz="3000" dirty="0"/>
              <a:t> = 10E</a:t>
            </a:r>
            <a:r>
              <a:rPr lang="en-US" altLang="zh-CN" sz="3000" baseline="-25000" dirty="0"/>
              <a:t>2</a:t>
            </a:r>
          </a:p>
          <a:p>
            <a:pPr marL="514350" indent="-514350">
              <a:spcBef>
                <a:spcPts val="1200"/>
              </a:spcBef>
              <a:buFont typeface="Wingdings" pitchFamily="2" charset="2"/>
              <a:buChar char="ü"/>
            </a:pPr>
            <a:r>
              <a:rPr lang="en-US" altLang="zh-CN" sz="3000" dirty="0"/>
              <a:t>E</a:t>
            </a:r>
            <a:r>
              <a:rPr lang="en-US" altLang="zh-CN" sz="3000" baseline="-25000" dirty="0"/>
              <a:t>3</a:t>
            </a:r>
            <a:r>
              <a:rPr lang="en-US" altLang="zh-CN" sz="3000" dirty="0"/>
              <a:t> &gt; E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 &gt; E</a:t>
            </a:r>
            <a:r>
              <a:rPr lang="en-US" altLang="zh-CN" sz="3000" baseline="-25000" dirty="0"/>
              <a:t>1</a:t>
            </a:r>
            <a:endParaRPr lang="en-US" altLang="zh-CN" sz="3000" dirty="0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b="1" dirty="0">
                <a:latin typeface="+mn-ea"/>
              </a:rPr>
              <a:t>25.4.1 </a:t>
            </a:r>
            <a:r>
              <a:rPr lang="zh-CN" altLang="en-US" b="1" dirty="0">
                <a:latin typeface="+mn-ea"/>
              </a:rPr>
              <a:t>核裂变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8686800" cy="5867400"/>
          </a:xfrm>
        </p:spPr>
        <p:txBody>
          <a:bodyPr>
            <a:noAutofit/>
          </a:bodyPr>
          <a:lstStyle/>
          <a:p>
            <a:pPr marL="914400" lvl="1" indent="-514350">
              <a:buFont typeface="Wingdings" pitchFamily="2" charset="2"/>
              <a:buChar char="ü"/>
            </a:pPr>
            <a:r>
              <a:rPr lang="zh-CN" altLang="en-US" dirty="0"/>
              <a:t>核裂变：用中子撞击一个重原子核时，该原子核会分裂成许多较小的核和几个中子的过程。</a:t>
            </a:r>
            <a:endParaRPr lang="en-US" altLang="zh-CN" dirty="0"/>
          </a:p>
          <a:p>
            <a:pPr marL="914400" lvl="1" indent="-514350">
              <a:buFont typeface="Wingdings" pitchFamily="2" charset="2"/>
              <a:buChar char="ü"/>
            </a:pPr>
            <a:r>
              <a:rPr lang="zh-CN" altLang="en-US" dirty="0"/>
              <a:t>条件：需用中子撞击一个重原子核</a:t>
            </a:r>
            <a:endParaRPr lang="en-US" altLang="zh-CN" dirty="0"/>
          </a:p>
          <a:p>
            <a:pPr marL="914400" lvl="1" indent="-514350">
              <a:buFont typeface="Wingdings" pitchFamily="2" charset="2"/>
              <a:buChar char="ü"/>
            </a:pPr>
            <a:r>
              <a:rPr lang="zh-CN" altLang="en-US" dirty="0"/>
              <a:t>特征：放出更多中子</a:t>
            </a:r>
            <a:endParaRPr lang="en-US" altLang="zh-CN" dirty="0"/>
          </a:p>
          <a:p>
            <a:pPr marL="914400" lvl="1" indent="-514350">
              <a:buNone/>
            </a:pPr>
            <a:r>
              <a:rPr lang="en-US" altLang="zh-CN" dirty="0"/>
              <a:t>		</a:t>
            </a:r>
            <a:r>
              <a:rPr lang="zh-CN" altLang="en-US" dirty="0"/>
              <a:t>无固定产物，产物具有放射性</a:t>
            </a:r>
            <a:endParaRPr lang="en-US" altLang="zh-CN" dirty="0"/>
          </a:p>
          <a:p>
            <a:pPr marL="914400" lvl="1" indent="-514350">
              <a:buNone/>
            </a:pPr>
            <a:r>
              <a:rPr lang="en-US" altLang="zh-CN" dirty="0"/>
              <a:t>		</a:t>
            </a:r>
            <a:r>
              <a:rPr lang="zh-CN" altLang="en-US" dirty="0"/>
              <a:t>放出射线</a:t>
            </a:r>
            <a:endParaRPr lang="en-US" altLang="zh-CN" dirty="0"/>
          </a:p>
          <a:p>
            <a:pPr marL="914400" lvl="1" indent="-514350">
              <a:buNone/>
            </a:pPr>
            <a:r>
              <a:rPr lang="en-US" altLang="zh-CN" dirty="0"/>
              <a:t>		</a:t>
            </a:r>
            <a:r>
              <a:rPr lang="zh-CN" altLang="en-US" dirty="0"/>
              <a:t>放出巨大的能量</a:t>
            </a:r>
            <a:endParaRPr lang="en-US" altLang="zh-CN" dirty="0"/>
          </a:p>
          <a:p>
            <a:pPr marL="514350" indent="-514350">
              <a:buNone/>
            </a:pPr>
            <a:endParaRPr lang="en-US" altLang="zh-CN" dirty="0"/>
          </a:p>
          <a:p>
            <a:pPr marL="514350" indent="-514350">
              <a:buFont typeface="Wingdings" pitchFamily="2" charset="2"/>
              <a:buChar char="ü"/>
            </a:pPr>
            <a:endParaRPr lang="en-US" altLang="zh-CN" dirty="0"/>
          </a:p>
        </p:txBody>
      </p:sp>
      <p:pic>
        <p:nvPicPr>
          <p:cNvPr id="6" name="Picture 5" descr="uuu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4577" y="2895600"/>
            <a:ext cx="5794623" cy="35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b="1" dirty="0">
                <a:latin typeface="+mn-ea"/>
              </a:rPr>
              <a:t>25.4.1 </a:t>
            </a:r>
            <a:r>
              <a:rPr lang="zh-CN" altLang="en-US" b="1" dirty="0">
                <a:latin typeface="+mn-ea"/>
              </a:rPr>
              <a:t>核裂变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382000" cy="5867400"/>
          </a:xfrm>
        </p:spPr>
        <p:txBody>
          <a:bodyPr>
            <a:noAutofit/>
          </a:bodyPr>
          <a:lstStyle/>
          <a:p>
            <a:pPr marL="514350" indent="-514350">
              <a:buFont typeface="Wingdings" pitchFamily="2" charset="2"/>
              <a:buChar char="ü"/>
            </a:pPr>
            <a:r>
              <a:rPr lang="zh-CN" altLang="en-US" sz="2800" dirty="0"/>
              <a:t>核链式反应：用一个中子撞击一个重原子核，结果分裂时产生更多的中子，这些中子再撞击其它原子核，这样连续不断核裂变过程。</a:t>
            </a:r>
            <a:endParaRPr lang="en-US" altLang="zh-CN" sz="2800" dirty="0"/>
          </a:p>
          <a:p>
            <a:pPr marL="914400" lvl="1" indent="-514350">
              <a:buFont typeface="Wingdings" pitchFamily="2" charset="2"/>
              <a:buChar char="ü"/>
            </a:pPr>
            <a:r>
              <a:rPr lang="zh-CN" altLang="en-US" sz="2400" dirty="0"/>
              <a:t>制成原子弹的原理（不受控制的链式反应）</a:t>
            </a:r>
            <a:endParaRPr lang="en-US" altLang="zh-CN" sz="2400" dirty="0"/>
          </a:p>
          <a:p>
            <a:pPr marL="514350" indent="-514350">
              <a:buFont typeface="Wingdings" pitchFamily="2" charset="2"/>
              <a:buChar char="ü"/>
            </a:pPr>
            <a:r>
              <a:rPr lang="zh-CN" altLang="en-US" sz="2800" dirty="0"/>
              <a:t>临界质量：能够维持链式反应所需的重原子核的最低质量。</a:t>
            </a:r>
            <a:endParaRPr lang="en-US" altLang="zh-CN" sz="2800" dirty="0"/>
          </a:p>
        </p:txBody>
      </p:sp>
      <p:grpSp>
        <p:nvGrpSpPr>
          <p:cNvPr id="8" name="Group 7"/>
          <p:cNvGrpSpPr/>
          <p:nvPr/>
        </p:nvGrpSpPr>
        <p:grpSpPr>
          <a:xfrm>
            <a:off x="2819401" y="3276600"/>
            <a:ext cx="5257799" cy="3581399"/>
            <a:chOff x="838200" y="3276600"/>
            <a:chExt cx="7910945" cy="3428999"/>
          </a:xfrm>
        </p:grpSpPr>
        <p:pic>
          <p:nvPicPr>
            <p:cNvPr id="6" name="Picture 5" descr="u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8200" y="3276600"/>
              <a:ext cx="7910945" cy="3428999"/>
            </a:xfrm>
            <a:prstGeom prst="rect">
              <a:avLst/>
            </a:prstGeom>
          </p:spPr>
        </p:pic>
        <p:sp>
          <p:nvSpPr>
            <p:cNvPr id="7" name="Rounded Rectangle 6"/>
            <p:cNvSpPr/>
            <p:nvPr/>
          </p:nvSpPr>
          <p:spPr>
            <a:xfrm>
              <a:off x="6957390" y="6172200"/>
              <a:ext cx="1447800" cy="457200"/>
            </a:xfrm>
            <a:prstGeom prst="roundRect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b="1" dirty="0">
                <a:latin typeface="+mn-ea"/>
              </a:rPr>
              <a:t>25.4.1 </a:t>
            </a:r>
            <a:r>
              <a:rPr lang="zh-CN" altLang="en-US" b="1" dirty="0">
                <a:latin typeface="+mn-ea"/>
              </a:rPr>
              <a:t>核裂变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382000" cy="5867400"/>
          </a:xfrm>
        </p:spPr>
        <p:txBody>
          <a:bodyPr>
            <a:noAutofit/>
          </a:bodyPr>
          <a:lstStyle/>
          <a:p>
            <a:pPr marL="514350" indent="-514350">
              <a:buFont typeface="Wingdings" pitchFamily="2" charset="2"/>
              <a:buChar char="ü"/>
            </a:pPr>
            <a:r>
              <a:rPr lang="zh-CN" altLang="en-US" sz="2800" dirty="0"/>
              <a:t>核反应堆：在人工控制下，不起爆炸的链式反应的装置。</a:t>
            </a:r>
            <a:endParaRPr lang="en-US" altLang="zh-CN" sz="2800" dirty="0"/>
          </a:p>
          <a:p>
            <a:pPr marL="914400" lvl="1" indent="-514350">
              <a:buFont typeface="Wingdings" pitchFamily="2" charset="2"/>
              <a:buChar char="ü"/>
            </a:pPr>
            <a:r>
              <a:rPr lang="zh-CN" altLang="en-US" dirty="0"/>
              <a:t>核能发电站</a:t>
            </a:r>
            <a:endParaRPr lang="en-US" altLang="zh-CN" dirty="0"/>
          </a:p>
          <a:p>
            <a:pPr marL="914400" lvl="1" indent="-514350">
              <a:buFont typeface="Wingdings" pitchFamily="2" charset="2"/>
              <a:buChar char="ü"/>
            </a:pPr>
            <a:r>
              <a:rPr lang="zh-CN" altLang="en-US" dirty="0"/>
              <a:t>核燃料：</a:t>
            </a:r>
            <a:r>
              <a:rPr lang="en-US" altLang="zh-CN" dirty="0"/>
              <a:t>U</a:t>
            </a:r>
            <a:r>
              <a:rPr lang="zh-CN" altLang="en-US" dirty="0"/>
              <a:t>棒（约含有</a:t>
            </a:r>
            <a:r>
              <a:rPr lang="en-US" altLang="zh-CN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3%</a:t>
            </a:r>
            <a:r>
              <a:rPr lang="en-US" altLang="zh-CN" b="1" baseline="30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CN" baseline="30000" dirty="0"/>
              <a:t>235</a:t>
            </a:r>
            <a:r>
              <a:rPr lang="en-US" altLang="zh-CN" dirty="0"/>
              <a:t> U </a:t>
            </a:r>
            <a:r>
              <a:rPr lang="zh-CN" altLang="en-US" dirty="0"/>
              <a:t>）</a:t>
            </a:r>
            <a:endParaRPr lang="en-US" altLang="zh-CN" dirty="0"/>
          </a:p>
          <a:p>
            <a:pPr marL="514350" indent="-514350">
              <a:buFont typeface="Wingdings" pitchFamily="2" charset="2"/>
              <a:buChar char="ü"/>
            </a:pPr>
            <a:r>
              <a:rPr lang="zh-CN" altLang="en-US" sz="2800" dirty="0"/>
              <a:t>核反应堆产生放射线、放射性同位素（核废料）。</a:t>
            </a:r>
            <a:endParaRPr lang="en-US" altLang="zh-CN" sz="2800" dirty="0"/>
          </a:p>
          <a:p>
            <a:pPr marL="514350" indent="-514350">
              <a:buFont typeface="Wingdings" pitchFamily="2" charset="2"/>
              <a:buChar char="ü"/>
            </a:pPr>
            <a:r>
              <a:rPr lang="zh-CN" altLang="en-US" sz="2800" dirty="0"/>
              <a:t>因此核反应堆的建造、核废料的处理都需谨慎。</a:t>
            </a:r>
            <a:endParaRPr lang="en-US" altLang="zh-CN" sz="2800" dirty="0"/>
          </a:p>
          <a:p>
            <a:pPr marL="914400" lvl="1" indent="-514350">
              <a:buNone/>
            </a:pPr>
            <a:endParaRPr lang="en-US" altLang="zh-CN" sz="2400" dirty="0"/>
          </a:p>
        </p:txBody>
      </p:sp>
      <p:grpSp>
        <p:nvGrpSpPr>
          <p:cNvPr id="8" name="Group 7"/>
          <p:cNvGrpSpPr/>
          <p:nvPr/>
        </p:nvGrpSpPr>
        <p:grpSpPr>
          <a:xfrm>
            <a:off x="228600" y="1905000"/>
            <a:ext cx="8610600" cy="4572000"/>
            <a:chOff x="228600" y="934206"/>
            <a:chExt cx="8458200" cy="5923794"/>
          </a:xfrm>
        </p:grpSpPr>
        <p:pic>
          <p:nvPicPr>
            <p:cNvPr id="6" name="Picture 5" descr="u1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8600" y="934206"/>
              <a:ext cx="8458200" cy="5923794"/>
            </a:xfrm>
            <a:prstGeom prst="rect">
              <a:avLst/>
            </a:prstGeom>
          </p:spPr>
        </p:pic>
        <p:sp>
          <p:nvSpPr>
            <p:cNvPr id="7" name="Rounded Rectangle 6"/>
            <p:cNvSpPr/>
            <p:nvPr/>
          </p:nvSpPr>
          <p:spPr>
            <a:xfrm>
              <a:off x="6019800" y="5638800"/>
              <a:ext cx="2667000" cy="1139613"/>
            </a:xfrm>
            <a:prstGeom prst="roundRect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318968" y="2133600"/>
            <a:ext cx="3262432" cy="46166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吸收中子，使反应减速</a:t>
            </a:r>
            <a:endParaRPr lang="en-US" sz="2400" dirty="0"/>
          </a:p>
        </p:txBody>
      </p:sp>
      <p:sp>
        <p:nvSpPr>
          <p:cNvPr id="10" name="Curved Down Arrow 9"/>
          <p:cNvSpPr/>
          <p:nvPr/>
        </p:nvSpPr>
        <p:spPr>
          <a:xfrm rot="17508304">
            <a:off x="-39620" y="3315367"/>
            <a:ext cx="1858517" cy="352123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zh-CN" altLang="en-US" b="1" dirty="0"/>
              <a:t>思考题</a:t>
            </a:r>
            <a:r>
              <a:rPr lang="en-US" altLang="zh-CN" b="1" dirty="0"/>
              <a:t>25h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90600"/>
            <a:ext cx="8077200" cy="5867400"/>
          </a:xfrm>
        </p:spPr>
        <p:txBody>
          <a:bodyPr>
            <a:noAutofit/>
          </a:bodyPr>
          <a:lstStyle/>
          <a:p>
            <a:pPr marL="514350" indent="-514350">
              <a:spcBef>
                <a:spcPts val="1200"/>
              </a:spcBef>
              <a:buAutoNum type="arabicPeriod"/>
            </a:pPr>
            <a:r>
              <a:rPr lang="zh-CN" altLang="en-US" sz="3000" dirty="0"/>
              <a:t>核能是原子核发生变化时释放出来的能量。</a:t>
            </a:r>
            <a:endParaRPr lang="en-US" altLang="zh-CN" sz="3000" dirty="0"/>
          </a:p>
          <a:p>
            <a:pPr marL="514350" indent="-514350">
              <a:spcBef>
                <a:spcPts val="1200"/>
              </a:spcBef>
              <a:buAutoNum type="arabicPeriod"/>
            </a:pPr>
            <a:r>
              <a:rPr lang="zh-CN" altLang="en-US" sz="3000" dirty="0"/>
              <a:t>核能远远大于化石燃料产生的能量。</a:t>
            </a:r>
            <a:endParaRPr lang="en-US" altLang="zh-CN" sz="3000" dirty="0"/>
          </a:p>
          <a:p>
            <a:pPr marL="514350" indent="-514350">
              <a:spcBef>
                <a:spcPts val="1200"/>
              </a:spcBef>
              <a:buNone/>
            </a:pPr>
            <a:r>
              <a:rPr lang="en-US" altLang="zh-CN" sz="3000" dirty="0"/>
              <a:t>	</a:t>
            </a:r>
            <a:r>
              <a:rPr lang="zh-CN" altLang="en-US" sz="3000" dirty="0"/>
              <a:t>化石燃料的燃烧造成空气污染，核能无污染，但需注意核辐射带来的影响。</a:t>
            </a:r>
            <a:endParaRPr lang="en-US" altLang="zh-CN" sz="3000" dirty="0"/>
          </a:p>
          <a:p>
            <a:pPr marL="514350" indent="-514350">
              <a:spcBef>
                <a:spcPts val="1200"/>
              </a:spcBef>
              <a:buNone/>
            </a:pPr>
            <a:endParaRPr lang="en-US" altLang="zh-CN" sz="3000" dirty="0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b="1" dirty="0">
                <a:latin typeface="+mn-ea"/>
              </a:rPr>
              <a:t>25.4.2 </a:t>
            </a:r>
            <a:r>
              <a:rPr lang="zh-CN" altLang="en-US" b="1" dirty="0">
                <a:latin typeface="+mn-ea"/>
              </a:rPr>
              <a:t>核聚变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382000" cy="5867400"/>
          </a:xfrm>
        </p:spPr>
        <p:txBody>
          <a:bodyPr>
            <a:noAutofit/>
          </a:bodyPr>
          <a:lstStyle/>
          <a:p>
            <a:pPr marL="514350" indent="-514350">
              <a:buFont typeface="Wingdings" pitchFamily="2" charset="2"/>
              <a:buChar char="ü"/>
            </a:pPr>
            <a:r>
              <a:rPr lang="zh-CN" altLang="en-US" sz="2800" dirty="0"/>
              <a:t>核聚变：轻原子核结合成较重的原子核的过程。</a:t>
            </a:r>
            <a:endParaRPr lang="en-US" altLang="zh-CN" sz="2800" dirty="0"/>
          </a:p>
          <a:p>
            <a:pPr marL="514350" indent="-514350">
              <a:buFont typeface="Wingdings" pitchFamily="2" charset="2"/>
              <a:buChar char="ü"/>
            </a:pPr>
            <a:r>
              <a:rPr lang="zh-CN" altLang="en-US" sz="2800" dirty="0"/>
              <a:t>反应条件：需</a:t>
            </a:r>
            <a:r>
              <a:rPr lang="en-US" altLang="zh-CN" sz="2800" dirty="0"/>
              <a:t>1</a:t>
            </a:r>
            <a:r>
              <a:rPr lang="zh-CN" altLang="en-US" sz="2800" dirty="0"/>
              <a:t>亿摄氏度的高温</a:t>
            </a:r>
            <a:endParaRPr lang="en-US" altLang="zh-CN" sz="2800" dirty="0"/>
          </a:p>
          <a:p>
            <a:pPr marL="514350" indent="-514350">
              <a:buNone/>
            </a:pPr>
            <a:r>
              <a:rPr lang="en-US" altLang="zh-CN" sz="2800" dirty="0"/>
              <a:t>			</a:t>
            </a:r>
            <a:r>
              <a:rPr lang="zh-CN" altLang="en-US" sz="2800" dirty="0"/>
              <a:t>（原子弹爆炸产生的温度）</a:t>
            </a:r>
            <a:endParaRPr lang="en-US" altLang="zh-CN" sz="2800" dirty="0"/>
          </a:p>
          <a:p>
            <a:pPr marL="514350" indent="-514350">
              <a:buFont typeface="Wingdings" pitchFamily="2" charset="2"/>
              <a:buChar char="ü"/>
            </a:pPr>
            <a:r>
              <a:rPr lang="zh-CN" altLang="en-US" sz="2800" dirty="0"/>
              <a:t>与核裂变比较</a:t>
            </a:r>
            <a:endParaRPr lang="en-US" altLang="zh-CN" sz="2800" dirty="0"/>
          </a:p>
          <a:p>
            <a:pPr marL="514350" indent="-514350">
              <a:buNone/>
            </a:pPr>
            <a:r>
              <a:rPr lang="en-US" altLang="zh-CN" sz="2800" dirty="0"/>
              <a:t>	</a:t>
            </a:r>
            <a:r>
              <a:rPr lang="zh-CN" altLang="en-US" sz="2800" dirty="0"/>
              <a:t>优点：</a:t>
            </a:r>
            <a:r>
              <a:rPr lang="en-US" altLang="zh-CN" sz="2800" dirty="0"/>
              <a:t>	</a:t>
            </a:r>
            <a:r>
              <a:rPr lang="zh-CN" altLang="en-US" sz="2800" dirty="0"/>
              <a:t>释放的能量大</a:t>
            </a:r>
            <a:endParaRPr lang="en-US" altLang="zh-CN" sz="2800" dirty="0"/>
          </a:p>
          <a:p>
            <a:pPr marL="514350" indent="-514350">
              <a:buNone/>
            </a:pPr>
            <a:r>
              <a:rPr lang="en-US" altLang="zh-CN" sz="2800" dirty="0"/>
              <a:t>			</a:t>
            </a:r>
            <a:r>
              <a:rPr lang="zh-CN" altLang="en-US" sz="2800" dirty="0"/>
              <a:t>燃料易得</a:t>
            </a:r>
            <a:endParaRPr lang="en-US" altLang="zh-CN" sz="2800" dirty="0"/>
          </a:p>
          <a:p>
            <a:pPr marL="514350" indent="-514350">
              <a:buNone/>
            </a:pPr>
            <a:r>
              <a:rPr lang="en-US" altLang="zh-CN" sz="2800" dirty="0"/>
              <a:t>			</a:t>
            </a:r>
            <a:r>
              <a:rPr lang="zh-CN" altLang="en-US" sz="2800" dirty="0"/>
              <a:t>放射性废料极少</a:t>
            </a:r>
            <a:endParaRPr lang="en-US" altLang="zh-CN" sz="2800" dirty="0"/>
          </a:p>
          <a:p>
            <a:pPr marL="514350" indent="-514350">
              <a:buNone/>
            </a:pPr>
            <a:r>
              <a:rPr lang="en-US" altLang="zh-CN" sz="2800" dirty="0"/>
              <a:t>			</a:t>
            </a:r>
            <a:r>
              <a:rPr lang="zh-CN" altLang="en-US" sz="2800" dirty="0"/>
              <a:t>没临界质量的限制</a:t>
            </a:r>
            <a:endParaRPr lang="en-US" altLang="zh-CN" sz="2800" dirty="0"/>
          </a:p>
          <a:p>
            <a:pPr marL="514350" indent="-514350">
              <a:buNone/>
            </a:pPr>
            <a:endParaRPr lang="en-US" altLang="zh-CN" sz="2800" dirty="0"/>
          </a:p>
          <a:p>
            <a:pPr marL="514350" indent="-514350">
              <a:buNone/>
            </a:pPr>
            <a:r>
              <a:rPr lang="en-US" altLang="zh-CN" sz="2800" dirty="0"/>
              <a:t>			</a:t>
            </a:r>
          </a:p>
        </p:txBody>
      </p:sp>
      <p:pic>
        <p:nvPicPr>
          <p:cNvPr id="6" name="Picture 5" descr="ju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5600" y="3352800"/>
            <a:ext cx="5876925" cy="3403882"/>
          </a:xfrm>
          <a:prstGeom prst="rect">
            <a:avLst/>
          </a:prstGeom>
        </p:spPr>
      </p:pic>
      <p:pic>
        <p:nvPicPr>
          <p:cNvPr id="8" name="Picture 7" descr="juuu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9400" y="609600"/>
            <a:ext cx="6004002" cy="3196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b="1" dirty="0">
                <a:latin typeface="+mn-ea"/>
              </a:rPr>
              <a:t>25.4.3 </a:t>
            </a:r>
            <a:r>
              <a:rPr lang="zh-CN" altLang="en-US" b="1" dirty="0">
                <a:latin typeface="+mn-ea"/>
              </a:rPr>
              <a:t>辐射对人类的伤害及其防护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57400" y="990600"/>
            <a:ext cx="6629400" cy="5867400"/>
          </a:xfrm>
        </p:spPr>
        <p:txBody>
          <a:bodyPr>
            <a:noAutofit/>
          </a:bodyPr>
          <a:lstStyle/>
          <a:p>
            <a:pPr marL="514350" indent="-514350">
              <a:spcBef>
                <a:spcPts val="1200"/>
              </a:spcBef>
              <a:buFont typeface="Wingdings" pitchFamily="2" charset="2"/>
              <a:buChar char="ü"/>
            </a:pPr>
            <a:r>
              <a:rPr lang="zh-CN" altLang="en-US" sz="3000" dirty="0"/>
              <a:t>医学上普遍地采用放射性物质作为诊断方式。</a:t>
            </a:r>
            <a:endParaRPr lang="en-US" altLang="zh-CN" sz="3000" dirty="0"/>
          </a:p>
          <a:p>
            <a:pPr marL="514350" indent="-514350">
              <a:spcBef>
                <a:spcPts val="1200"/>
              </a:spcBef>
              <a:buFont typeface="Wingdings" pitchFamily="2" charset="2"/>
              <a:buChar char="ü"/>
            </a:pPr>
            <a:r>
              <a:rPr lang="zh-CN" altLang="en-US" sz="3000" dirty="0"/>
              <a:t>但辐射会使细胞死亡或丧失功能，也能引起癌症。</a:t>
            </a:r>
            <a:endParaRPr lang="en-US" altLang="zh-CN" sz="3000" dirty="0"/>
          </a:p>
          <a:p>
            <a:pPr marL="514350" indent="-514350">
              <a:spcBef>
                <a:spcPts val="1200"/>
              </a:spcBef>
              <a:buFont typeface="Wingdings" pitchFamily="2" charset="2"/>
              <a:buChar char="ü"/>
            </a:pPr>
            <a:r>
              <a:rPr lang="zh-CN" altLang="en-US" sz="3000" dirty="0"/>
              <a:t>决定照射量的因素：</a:t>
            </a:r>
            <a:endParaRPr lang="en-US" altLang="zh-CN" sz="3000" dirty="0"/>
          </a:p>
          <a:p>
            <a:pPr marL="514350" indent="-514350">
              <a:spcBef>
                <a:spcPts val="1200"/>
              </a:spcBef>
              <a:buNone/>
            </a:pPr>
            <a:r>
              <a:rPr lang="en-US" altLang="zh-CN" sz="3000" dirty="0"/>
              <a:t>	</a:t>
            </a:r>
            <a:r>
              <a:rPr lang="zh-CN" altLang="en-US" sz="3000" dirty="0"/>
              <a:t>照射时间、辐射源的距离、与辐射源间的屏蔽</a:t>
            </a:r>
            <a:endParaRPr lang="en-US" altLang="zh-CN" sz="3000" dirty="0"/>
          </a:p>
          <a:p>
            <a:pPr marL="514350" indent="-514350">
              <a:spcBef>
                <a:spcPts val="1200"/>
              </a:spcBef>
              <a:buFont typeface="Wingdings" pitchFamily="2" charset="2"/>
              <a:buChar char="ü"/>
            </a:pPr>
            <a:r>
              <a:rPr lang="zh-CN" altLang="en-US" sz="3000" dirty="0"/>
              <a:t>医疗上选用半衰期短，能量低的同位素进行诊断以减少对人体的伤害。</a:t>
            </a:r>
            <a:endParaRPr lang="en-US" altLang="zh-CN" sz="3000" dirty="0"/>
          </a:p>
          <a:p>
            <a:pPr marL="514350" indent="-514350">
              <a:spcBef>
                <a:spcPts val="1200"/>
              </a:spcBef>
              <a:buNone/>
            </a:pPr>
            <a:endParaRPr lang="en-US" altLang="zh-CN" sz="3000" dirty="0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001000" cy="1202485"/>
          </a:xfrm>
        </p:spPr>
        <p:txBody>
          <a:bodyPr>
            <a:noAutofit/>
          </a:bodyPr>
          <a:lstStyle/>
          <a:p>
            <a:pPr algn="l"/>
            <a:r>
              <a:rPr lang="zh-CN" altLang="en-US" sz="4800" b="1" dirty="0">
                <a:latin typeface="+mn-ea"/>
              </a:rPr>
              <a:t>历届考题</a:t>
            </a:r>
            <a:endParaRPr lang="en-US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382000" cy="5867400"/>
          </a:xfrm>
        </p:spPr>
        <p:txBody>
          <a:bodyPr>
            <a:noAutofit/>
          </a:bodyPr>
          <a:lstStyle/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1. </a:t>
            </a:r>
            <a:r>
              <a:rPr lang="zh-CN" altLang="en-US" sz="3000" dirty="0">
                <a:sym typeface="Wingdings" pitchFamily="2" charset="2"/>
              </a:rPr>
              <a:t>下列有关核化学的叙述，何者正确？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	A </a:t>
            </a:r>
            <a:r>
              <a:rPr lang="zh-CN" altLang="en-US" sz="3000" dirty="0">
                <a:sym typeface="Wingdings" pitchFamily="2" charset="2"/>
              </a:rPr>
              <a:t>核能发电用燃料铀的纯度极高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	B </a:t>
            </a:r>
            <a:r>
              <a:rPr lang="zh-CN" altLang="en-US" sz="3000" dirty="0">
                <a:sym typeface="Wingdings" pitchFamily="2" charset="2"/>
              </a:rPr>
              <a:t>裂变与聚变所放出的能量几乎相等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	C </a:t>
            </a:r>
            <a:r>
              <a:rPr lang="zh-CN" altLang="en-US" sz="3000" dirty="0">
                <a:sym typeface="Wingdings" pitchFamily="2" charset="2"/>
              </a:rPr>
              <a:t>温度越高衰变越快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	D  </a:t>
            </a:r>
            <a:r>
              <a:rPr lang="en-US" altLang="zh-CN" sz="3000" baseline="30000" dirty="0">
                <a:sym typeface="Wingdings" pitchFamily="2" charset="2"/>
              </a:rPr>
              <a:t>60</a:t>
            </a:r>
            <a:r>
              <a:rPr lang="en-US" altLang="zh-CN" sz="3000" dirty="0">
                <a:sym typeface="Wingdings" pitchFamily="2" charset="2"/>
              </a:rPr>
              <a:t>Co</a:t>
            </a:r>
            <a:r>
              <a:rPr lang="zh-CN" altLang="en-US" sz="3000" dirty="0">
                <a:sym typeface="Wingdings" pitchFamily="2" charset="2"/>
              </a:rPr>
              <a:t>放出的射线，可用以检查金属内部结构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altLang="zh-CN" sz="3000" dirty="0" err="1">
                <a:sym typeface="Wingdings" pitchFamily="2" charset="2"/>
              </a:rPr>
              <a:t>Ans</a:t>
            </a:r>
            <a:r>
              <a:rPr lang="en-US" altLang="zh-CN" sz="3000" dirty="0">
                <a:sym typeface="Wingdings" pitchFamily="2" charset="2"/>
              </a:rPr>
              <a:t>: D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1524000"/>
            <a:ext cx="6928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3%</a:t>
            </a:r>
            <a:endParaRPr lang="en-US" sz="3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086600" y="2057400"/>
            <a:ext cx="101341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10</a:t>
            </a:r>
            <a:r>
              <a:rPr lang="zh-CN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倍</a:t>
            </a:r>
            <a:endParaRPr lang="en-US" sz="3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724400" y="2615625"/>
            <a:ext cx="34900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衰变不受</a:t>
            </a:r>
            <a:r>
              <a:rPr lang="en-US" altLang="zh-CN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</a:t>
            </a:r>
            <a:r>
              <a:rPr lang="zh-CN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、</a:t>
            </a:r>
            <a:r>
              <a:rPr lang="en-US" altLang="zh-CN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</a:t>
            </a:r>
            <a:r>
              <a:rPr lang="zh-CN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影响</a:t>
            </a:r>
            <a:endParaRPr lang="en-US" sz="3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0" grpId="0"/>
      <p:bldP spid="11" grpId="0"/>
      <p:bldP spid="13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zh-CN" altLang="en-US" b="1" dirty="0"/>
              <a:t>思考题</a:t>
            </a:r>
            <a:r>
              <a:rPr lang="en-US" altLang="zh-CN" b="1" dirty="0"/>
              <a:t>25j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90600"/>
            <a:ext cx="8077200" cy="5867400"/>
          </a:xfrm>
        </p:spPr>
        <p:txBody>
          <a:bodyPr>
            <a:noAutofit/>
          </a:bodyPr>
          <a:lstStyle/>
          <a:p>
            <a:pPr marL="514350" indent="-514350">
              <a:spcBef>
                <a:spcPts val="1200"/>
              </a:spcBef>
              <a:buNone/>
            </a:pPr>
            <a:r>
              <a:rPr lang="en-US" altLang="zh-CN" sz="3000" dirty="0"/>
              <a:t>2. </a:t>
            </a:r>
            <a:r>
              <a:rPr lang="zh-CN" altLang="en-US" sz="3000" dirty="0"/>
              <a:t>少量的辐射不会危及人类的健康，过量时对人体会产生伤害，使人致病、致癌、致死。</a:t>
            </a:r>
            <a:endParaRPr lang="en-US" altLang="zh-CN" sz="3000" dirty="0"/>
          </a:p>
          <a:p>
            <a:pPr marL="514350" indent="-514350">
              <a:spcBef>
                <a:spcPts val="1200"/>
              </a:spcBef>
              <a:buNone/>
            </a:pPr>
            <a:r>
              <a:rPr lang="zh-CN" altLang="en-US" sz="3000" dirty="0"/>
              <a:t>受辐射时间越长，受到的辐射剂量就越大，危害也越大。</a:t>
            </a:r>
            <a:endParaRPr lang="en-US" altLang="zh-CN" sz="3000" dirty="0"/>
          </a:p>
          <a:p>
            <a:pPr marL="514350" indent="-514350">
              <a:spcBef>
                <a:spcPts val="1200"/>
              </a:spcBef>
              <a:buNone/>
            </a:pPr>
            <a:r>
              <a:rPr lang="zh-CN" altLang="en-US" sz="3000" dirty="0"/>
              <a:t>辐射的防护</a:t>
            </a:r>
            <a:r>
              <a:rPr lang="en-US" altLang="zh-CN" sz="3000" dirty="0"/>
              <a:t>:</a:t>
            </a:r>
          </a:p>
          <a:p>
            <a:pPr marL="514350" indent="-514350">
              <a:spcBef>
                <a:spcPts val="1200"/>
              </a:spcBef>
              <a:buAutoNum type="arabicPeriod"/>
            </a:pPr>
            <a:r>
              <a:rPr lang="zh-CN" altLang="en-US" sz="3000" dirty="0"/>
              <a:t>避免接触辐射源</a:t>
            </a:r>
            <a:endParaRPr lang="en-US" altLang="zh-CN" sz="3000" dirty="0"/>
          </a:p>
          <a:p>
            <a:pPr marL="514350" indent="-514350">
              <a:spcBef>
                <a:spcPts val="1200"/>
              </a:spcBef>
              <a:buAutoNum type="arabicPeriod"/>
            </a:pPr>
            <a:r>
              <a:rPr lang="zh-CN" altLang="en-US" sz="3000" dirty="0"/>
              <a:t>进食防辐射食物</a:t>
            </a:r>
            <a:endParaRPr lang="en-US" altLang="zh-CN" sz="3000" dirty="0"/>
          </a:p>
          <a:p>
            <a:pPr marL="514350" indent="-514350">
              <a:spcBef>
                <a:spcPts val="1200"/>
              </a:spcBef>
              <a:buAutoNum type="arabicPeriod"/>
            </a:pPr>
            <a:r>
              <a:rPr lang="zh-CN" altLang="en-US" sz="3000" dirty="0"/>
              <a:t>药物防辐射</a:t>
            </a:r>
            <a:endParaRPr lang="en-US" altLang="zh-CN" sz="3000" dirty="0"/>
          </a:p>
          <a:p>
            <a:pPr marL="514350" indent="-514350">
              <a:spcBef>
                <a:spcPts val="1200"/>
              </a:spcBef>
              <a:buNone/>
            </a:pPr>
            <a:endParaRPr lang="en-US" altLang="zh-CN" sz="3000" dirty="0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zh-CN" altLang="en-US" b="1" dirty="0">
                <a:latin typeface="+mn-ea"/>
              </a:rPr>
              <a:t>选择题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382000" cy="5867400"/>
          </a:xfrm>
        </p:spPr>
        <p:txBody>
          <a:bodyPr>
            <a:noAutofit/>
          </a:bodyPr>
          <a:lstStyle/>
          <a:p>
            <a:pPr marL="514350" indent="-514350">
              <a:buAutoNum type="arabicPeriod"/>
            </a:pPr>
            <a:r>
              <a:rPr lang="en-US" altLang="zh-CN" sz="2800" dirty="0"/>
              <a:t>B </a:t>
            </a:r>
            <a:r>
              <a:rPr lang="zh-CN" altLang="en-US" sz="2800" dirty="0"/>
              <a:t>放射现象说明原子核能释放出更小的微粒</a:t>
            </a:r>
            <a:endParaRPr lang="en-US" altLang="zh-CN" sz="2800" dirty="0"/>
          </a:p>
          <a:p>
            <a:pPr marL="514350" indent="-514350">
              <a:buAutoNum type="arabicPeriod"/>
            </a:pPr>
            <a:r>
              <a:rPr lang="en-US" altLang="zh-CN" sz="2800" dirty="0"/>
              <a:t>D </a:t>
            </a:r>
          </a:p>
          <a:p>
            <a:pPr marL="514350" indent="-514350">
              <a:buAutoNum type="arabicPeriod"/>
            </a:pPr>
            <a:r>
              <a:rPr lang="en-US" altLang="zh-CN" sz="2800" dirty="0"/>
              <a:t>B </a:t>
            </a:r>
            <a:r>
              <a:rPr lang="zh-CN" altLang="en-US" sz="2800" dirty="0"/>
              <a:t>核衰变可能放射出中子，中子不显电性</a:t>
            </a:r>
            <a:endParaRPr lang="en-US" altLang="zh-CN" sz="2800" dirty="0"/>
          </a:p>
          <a:p>
            <a:pPr marL="514350" indent="-514350">
              <a:buAutoNum type="arabicPeriod"/>
            </a:pPr>
            <a:r>
              <a:rPr lang="en-US" altLang="zh-CN" sz="2800" dirty="0"/>
              <a:t>D	2</a:t>
            </a:r>
            <a:r>
              <a:rPr lang="en-US" altLang="zh-CN" sz="2800" baseline="30000" dirty="0"/>
              <a:t>6</a:t>
            </a:r>
            <a:r>
              <a:rPr lang="en-US" altLang="zh-CN" sz="2800" dirty="0"/>
              <a:t> : 2</a:t>
            </a:r>
            <a:r>
              <a:rPr lang="en-US" altLang="zh-CN" sz="2800" baseline="30000" dirty="0"/>
              <a:t>2</a:t>
            </a:r>
            <a:r>
              <a:rPr lang="en-US" altLang="zh-CN" sz="2800" dirty="0"/>
              <a:t> = 16:1</a:t>
            </a:r>
          </a:p>
          <a:p>
            <a:pPr marL="514350" indent="-514350">
              <a:buAutoNum type="arabicPeriod"/>
            </a:pPr>
            <a:r>
              <a:rPr lang="en-US" altLang="zh-CN" sz="2800" dirty="0"/>
              <a:t>A </a:t>
            </a:r>
            <a:r>
              <a:rPr lang="zh-CN" altLang="en-US" sz="2800" dirty="0"/>
              <a:t>不一定，也可能伴随其他衰变产生</a:t>
            </a:r>
            <a:endParaRPr lang="en-US" altLang="zh-CN" sz="2800" dirty="0"/>
          </a:p>
          <a:p>
            <a:pPr marL="514350" indent="-514350">
              <a:buFont typeface="+mj-lt"/>
              <a:buAutoNum type="arabicPeriod" startAt="6"/>
            </a:pPr>
            <a:r>
              <a:rPr lang="en-US" altLang="zh-CN" sz="2800" dirty="0"/>
              <a:t>A </a:t>
            </a:r>
            <a:r>
              <a:rPr lang="zh-CN" altLang="en-US" sz="2800" dirty="0"/>
              <a:t>衰变速度快，对人体影响小</a:t>
            </a:r>
            <a:endParaRPr lang="en-US" altLang="zh-CN" sz="2800" dirty="0"/>
          </a:p>
          <a:p>
            <a:pPr marL="514350" indent="-514350">
              <a:buFont typeface="+mj-lt"/>
              <a:buAutoNum type="arabicPeriod" startAt="6"/>
            </a:pPr>
            <a:r>
              <a:rPr lang="en-US" altLang="zh-CN" sz="2800" dirty="0"/>
              <a:t>D </a:t>
            </a:r>
          </a:p>
          <a:p>
            <a:pPr marL="514350" indent="-514350">
              <a:buFont typeface="+mj-lt"/>
              <a:buAutoNum type="arabicPeriod" startAt="6"/>
            </a:pPr>
            <a:r>
              <a:rPr lang="en-US" altLang="zh-CN" sz="2800" dirty="0"/>
              <a:t>D </a:t>
            </a:r>
            <a:r>
              <a:rPr lang="zh-CN" altLang="en-US" sz="2800" dirty="0"/>
              <a:t>中子显电中性，不受原子核的静电作用，运动过程中不受影响，速度、方向不变，动能不变，穿透能力更强。</a:t>
            </a:r>
            <a:endParaRPr lang="en-US" altLang="zh-CN" sz="2800" dirty="0"/>
          </a:p>
          <a:p>
            <a:pPr marL="514350" indent="-514350">
              <a:buFont typeface="+mj-lt"/>
              <a:buAutoNum type="arabicPeriod" startAt="6"/>
            </a:pPr>
            <a:r>
              <a:rPr lang="en-US" altLang="zh-CN" sz="2800" dirty="0"/>
              <a:t>B </a:t>
            </a:r>
            <a:r>
              <a:rPr lang="zh-CN" altLang="en-US" sz="2800" dirty="0"/>
              <a:t>核聚变较核裂变难进行</a:t>
            </a: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ctur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zh-CN" altLang="en-US" b="1" dirty="0">
                <a:latin typeface="+mn-ea"/>
              </a:rPr>
              <a:t>作答题</a:t>
            </a:r>
            <a:r>
              <a:rPr lang="en-US" altLang="zh-CN" b="1" dirty="0">
                <a:latin typeface="+mn-ea"/>
              </a:rPr>
              <a:t>1</a:t>
            </a:r>
            <a:r>
              <a:rPr lang="zh-CN" altLang="en-US" b="1" dirty="0">
                <a:latin typeface="+mn-ea"/>
              </a:rPr>
              <a:t>，</a:t>
            </a:r>
            <a:r>
              <a:rPr lang="en-US" altLang="zh-CN" b="1" dirty="0">
                <a:latin typeface="+mn-ea"/>
              </a:rPr>
              <a:t>2</a:t>
            </a:r>
            <a:r>
              <a:rPr lang="zh-CN" altLang="en-US" b="1" dirty="0">
                <a:latin typeface="+mn-ea"/>
              </a:rPr>
              <a:t>，</a:t>
            </a:r>
            <a:r>
              <a:rPr lang="en-US" altLang="zh-CN" b="1" dirty="0">
                <a:latin typeface="+mn-ea"/>
              </a:rPr>
              <a:t>3</a:t>
            </a:r>
            <a:r>
              <a:rPr lang="zh-CN" altLang="en-US" b="1" dirty="0">
                <a:latin typeface="+mn-ea"/>
              </a:rPr>
              <a:t>，</a:t>
            </a:r>
            <a:r>
              <a:rPr lang="en-US" altLang="zh-CN" b="1" dirty="0">
                <a:latin typeface="+mn-ea"/>
              </a:rPr>
              <a:t>5</a:t>
            </a:r>
            <a:r>
              <a:rPr lang="zh-CN" altLang="en-US" b="1" dirty="0">
                <a:latin typeface="+mn-ea"/>
              </a:rPr>
              <a:t>，</a:t>
            </a:r>
            <a:r>
              <a:rPr lang="en-US" altLang="zh-CN" b="1" dirty="0">
                <a:latin typeface="+mn-ea"/>
              </a:rPr>
              <a:t>6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57400" y="990600"/>
            <a:ext cx="6629400" cy="5867400"/>
          </a:xfrm>
        </p:spPr>
        <p:txBody>
          <a:bodyPr>
            <a:noAutofit/>
          </a:bodyPr>
          <a:lstStyle/>
          <a:p>
            <a:pPr marL="514350" indent="-514350">
              <a:buNone/>
            </a:pPr>
            <a:r>
              <a:rPr lang="en-US" altLang="zh-CN" sz="2800" dirty="0"/>
              <a:t>3. </a:t>
            </a:r>
            <a:r>
              <a:rPr lang="zh-CN" altLang="en-US" sz="2800" dirty="0"/>
              <a:t>需写出计算过程</a:t>
            </a:r>
            <a:endParaRPr lang="en-US" altLang="zh-CN" sz="2800" dirty="0"/>
          </a:p>
          <a:p>
            <a:pPr marL="514350" indent="-514350">
              <a:buNone/>
            </a:pPr>
            <a:r>
              <a:rPr lang="en-US" altLang="zh-CN" sz="2800" dirty="0"/>
              <a:t>5.</a:t>
            </a:r>
            <a:r>
              <a:rPr lang="zh-CN" altLang="en-US" sz="2800" dirty="0"/>
              <a:t>需写出计算过程</a:t>
            </a:r>
            <a:endParaRPr lang="en-US" altLang="zh-CN" sz="2800" dirty="0"/>
          </a:p>
          <a:p>
            <a:pPr marL="514350" indent="-514350">
              <a:buNone/>
            </a:pPr>
            <a:r>
              <a:rPr lang="en-US" altLang="zh-CN" sz="2800" dirty="0"/>
              <a:t>6. </a:t>
            </a:r>
            <a:r>
              <a:rPr lang="zh-CN" altLang="en-US" sz="2800" dirty="0"/>
              <a:t>写出核反应方程式</a:t>
            </a:r>
            <a:endParaRPr lang="en-US" altLang="zh-CN" sz="2800" dirty="0"/>
          </a:p>
          <a:p>
            <a:pPr marL="514350" indent="-514350">
              <a:buNone/>
            </a:pPr>
            <a:r>
              <a:rPr lang="en-US" altLang="zh-CN" sz="2800" dirty="0"/>
              <a:t>4. </a:t>
            </a:r>
            <a:r>
              <a:rPr lang="en-US" altLang="zh-CN" sz="2800" baseline="30000" dirty="0"/>
              <a:t>12</a:t>
            </a:r>
            <a:r>
              <a:rPr lang="en-US" altLang="zh-CN" sz="2800" dirty="0"/>
              <a:t>C </a:t>
            </a:r>
            <a:r>
              <a:rPr lang="zh-CN" altLang="en-US" sz="2800" dirty="0"/>
              <a:t>质量</a:t>
            </a:r>
            <a:r>
              <a:rPr lang="en-US" altLang="zh-CN" sz="2800" dirty="0"/>
              <a:t>m</a:t>
            </a:r>
            <a:r>
              <a:rPr lang="zh-CN" altLang="en-US" sz="2800" dirty="0"/>
              <a:t>，</a:t>
            </a:r>
            <a:r>
              <a:rPr lang="en-US" altLang="zh-CN" sz="2800" dirty="0"/>
              <a:t>W</a:t>
            </a:r>
            <a:r>
              <a:rPr lang="zh-CN" altLang="en-US" sz="2800" dirty="0"/>
              <a:t>质量</a:t>
            </a:r>
            <a:r>
              <a:rPr lang="en-US" altLang="zh-CN" sz="2800" dirty="0"/>
              <a:t>n </a:t>
            </a:r>
          </a:p>
          <a:p>
            <a:pPr marL="514350" indent="-514350">
              <a:buNone/>
            </a:pPr>
            <a:r>
              <a:rPr lang="en-US" altLang="zh-CN" sz="2800" dirty="0"/>
              <a:t> </a:t>
            </a:r>
            <a:r>
              <a:rPr lang="zh-CN" altLang="en-US" sz="2800" dirty="0"/>
              <a:t>则</a:t>
            </a:r>
            <a:r>
              <a:rPr lang="en-US" altLang="zh-CN" sz="2800" dirty="0"/>
              <a:t>W</a:t>
            </a:r>
            <a:r>
              <a:rPr lang="zh-CN" altLang="en-US" sz="2800" dirty="0"/>
              <a:t>的相对原子质量</a:t>
            </a:r>
            <a:r>
              <a:rPr lang="en-US" altLang="zh-CN" sz="2800" dirty="0"/>
              <a:t>= n :  m/12</a:t>
            </a:r>
          </a:p>
          <a:p>
            <a:pPr marL="514350" indent="-514350">
              <a:buNone/>
            </a:pPr>
            <a:r>
              <a:rPr lang="en-US" altLang="zh-CN" sz="2800" dirty="0"/>
              <a:t>				      = 12n/m</a:t>
            </a:r>
          </a:p>
          <a:p>
            <a:pPr marL="514350" indent="-514350">
              <a:buNone/>
            </a:pPr>
            <a:r>
              <a:rPr lang="en-US" altLang="zh-CN" sz="2800" dirty="0"/>
              <a:t>W</a:t>
            </a:r>
            <a:r>
              <a:rPr lang="zh-CN" altLang="en-US" sz="2800" dirty="0"/>
              <a:t>相对原子质量</a:t>
            </a:r>
            <a:r>
              <a:rPr lang="en-US" altLang="zh-CN" sz="2800" dirty="0"/>
              <a:t>=W</a:t>
            </a:r>
            <a:r>
              <a:rPr lang="zh-CN" altLang="en-US" sz="2800" dirty="0"/>
              <a:t>质量数</a:t>
            </a:r>
            <a:endParaRPr lang="en-US" altLang="zh-CN" sz="2800" dirty="0"/>
          </a:p>
          <a:p>
            <a:pPr marL="514350" indent="-514350">
              <a:buNone/>
            </a:pPr>
            <a:r>
              <a:rPr lang="en-US" altLang="zh-CN" sz="2800" dirty="0"/>
              <a:t>W</a:t>
            </a:r>
            <a:r>
              <a:rPr lang="zh-CN" altLang="en-US" sz="2800" dirty="0"/>
              <a:t>质子数</a:t>
            </a:r>
            <a:r>
              <a:rPr lang="en-US" altLang="zh-CN" sz="2800" dirty="0"/>
              <a:t>=</a:t>
            </a:r>
            <a:r>
              <a:rPr lang="zh-CN" altLang="en-US" sz="2800" dirty="0"/>
              <a:t>质量数</a:t>
            </a:r>
            <a:r>
              <a:rPr lang="en-US" altLang="zh-CN" sz="2800" dirty="0"/>
              <a:t>-</a:t>
            </a:r>
            <a:r>
              <a:rPr lang="zh-CN" altLang="en-US" sz="2800" dirty="0"/>
              <a:t>中子数</a:t>
            </a:r>
            <a:endParaRPr lang="en-US" altLang="zh-CN" sz="2800" dirty="0"/>
          </a:p>
          <a:p>
            <a:pPr marL="514350" indent="-514350">
              <a:buNone/>
            </a:pPr>
            <a:r>
              <a:rPr lang="en-US" altLang="zh-CN" sz="2800" dirty="0"/>
              <a:t>		      = 12n/m – a </a:t>
            </a:r>
          </a:p>
          <a:p>
            <a:pPr marL="514350" indent="-514350">
              <a:buNone/>
            </a:pP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6138640</TotalTime>
  <Words>5168</Words>
  <Application>Microsoft Office PowerPoint</Application>
  <PresentationFormat>On-screen Show (4:3)</PresentationFormat>
  <Paragraphs>655</Paragraphs>
  <Slides>48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4" baseType="lpstr">
      <vt:lpstr>宋体</vt:lpstr>
      <vt:lpstr>Arial</vt:lpstr>
      <vt:lpstr>Calibri</vt:lpstr>
      <vt:lpstr>Wingdings</vt:lpstr>
      <vt:lpstr>Office Theme</vt:lpstr>
      <vt:lpstr>Equation</vt:lpstr>
      <vt:lpstr>第25章  核化学</vt:lpstr>
      <vt:lpstr>第25章 核化学</vt:lpstr>
      <vt:lpstr>25.1 天然放射性元素</vt:lpstr>
      <vt:lpstr>思考题25a</vt:lpstr>
      <vt:lpstr>25.1 .2 放射线的种类和性质</vt:lpstr>
      <vt:lpstr>25.1 .2 放射线的种类和性质</vt:lpstr>
      <vt:lpstr>25.1.2 放射线的种类和性质 </vt:lpstr>
      <vt:lpstr>25.2 放射性元素的衰变</vt:lpstr>
      <vt:lpstr>25.2.1 核的稳定性</vt:lpstr>
      <vt:lpstr>思考题25c</vt:lpstr>
      <vt:lpstr>25.2.2 核衰变的种类</vt:lpstr>
      <vt:lpstr>25.2.2 核衰变的种类</vt:lpstr>
      <vt:lpstr>25.2.2 核衰变的种类</vt:lpstr>
      <vt:lpstr>25.2.2 核衰变的种类</vt:lpstr>
      <vt:lpstr>思考题25d</vt:lpstr>
      <vt:lpstr>25.2.2 核衰变的种类</vt:lpstr>
      <vt:lpstr>25.2.2 核衰变的种类</vt:lpstr>
      <vt:lpstr>思考题25e</vt:lpstr>
      <vt:lpstr>统考题</vt:lpstr>
      <vt:lpstr>历届考题</vt:lpstr>
      <vt:lpstr>历届考题</vt:lpstr>
      <vt:lpstr>25.2.2 核衰变的种类</vt:lpstr>
      <vt:lpstr>25.2.3 半衰期</vt:lpstr>
      <vt:lpstr>25.2.3 半衰期</vt:lpstr>
      <vt:lpstr>思考题25f</vt:lpstr>
      <vt:lpstr>思考题25f</vt:lpstr>
      <vt:lpstr>补充题</vt:lpstr>
      <vt:lpstr>补充题</vt:lpstr>
      <vt:lpstr>补充题</vt:lpstr>
      <vt:lpstr>补充题</vt:lpstr>
      <vt:lpstr>补充题</vt:lpstr>
      <vt:lpstr>统考题</vt:lpstr>
      <vt:lpstr>统考题</vt:lpstr>
      <vt:lpstr>历届考题</vt:lpstr>
      <vt:lpstr>历届考题</vt:lpstr>
      <vt:lpstr>25.3 放射性同位素的应用</vt:lpstr>
      <vt:lpstr>25.3 放射性同位素的应用</vt:lpstr>
      <vt:lpstr>25.4 核能</vt:lpstr>
      <vt:lpstr>25.4.1 核裂变</vt:lpstr>
      <vt:lpstr>25.4.1 核裂变</vt:lpstr>
      <vt:lpstr>25.4.1 核裂变</vt:lpstr>
      <vt:lpstr>思考题25h</vt:lpstr>
      <vt:lpstr>25.4.2 核聚变</vt:lpstr>
      <vt:lpstr>25.4.3 辐射对人类的伤害及其防护</vt:lpstr>
      <vt:lpstr>历届考题</vt:lpstr>
      <vt:lpstr>思考题25j</vt:lpstr>
      <vt:lpstr>选择题</vt:lpstr>
      <vt:lpstr>作答题1，2，3，5，6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User</cp:lastModifiedBy>
  <cp:revision>181</cp:revision>
  <dcterms:created xsi:type="dcterms:W3CDTF">2018-09-03T09:52:37Z</dcterms:created>
  <dcterms:modified xsi:type="dcterms:W3CDTF">2020-02-26T13:08:15Z</dcterms:modified>
</cp:coreProperties>
</file>