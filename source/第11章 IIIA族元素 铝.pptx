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sldIdLst>
    <p:sldId id="256" r:id="rId2"/>
    <p:sldId id="321" r:id="rId3"/>
    <p:sldId id="322" r:id="rId4"/>
    <p:sldId id="336" r:id="rId5"/>
    <p:sldId id="323" r:id="rId6"/>
    <p:sldId id="332" r:id="rId7"/>
    <p:sldId id="337" r:id="rId8"/>
    <p:sldId id="338" r:id="rId9"/>
    <p:sldId id="333" r:id="rId10"/>
    <p:sldId id="339" r:id="rId11"/>
    <p:sldId id="340" r:id="rId12"/>
    <p:sldId id="324" r:id="rId13"/>
    <p:sldId id="334" r:id="rId14"/>
    <p:sldId id="344" r:id="rId15"/>
    <p:sldId id="345" r:id="rId16"/>
    <p:sldId id="346" r:id="rId17"/>
    <p:sldId id="335" r:id="rId18"/>
    <p:sldId id="343" r:id="rId19"/>
    <p:sldId id="342" r:id="rId20"/>
    <p:sldId id="325" r:id="rId21"/>
    <p:sldId id="341" r:id="rId22"/>
    <p:sldId id="347" r:id="rId23"/>
    <p:sldId id="348" r:id="rId24"/>
    <p:sldId id="349" r:id="rId25"/>
    <p:sldId id="350" r:id="rId26"/>
    <p:sldId id="351" r:id="rId27"/>
    <p:sldId id="352" r:id="rId28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buFont typeface="Arial" pitchFamily="34" charset="0"/>
      <a:defRPr kern="1200">
        <a:solidFill>
          <a:schemeClr val="tx1"/>
        </a:solidFill>
        <a:latin typeface="Calibri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buFont typeface="Arial" pitchFamily="34" charset="0"/>
      <a:defRPr kern="1200">
        <a:solidFill>
          <a:schemeClr val="tx1"/>
        </a:solidFill>
        <a:latin typeface="Calibri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buFont typeface="Arial" pitchFamily="34" charset="0"/>
      <a:defRPr kern="1200">
        <a:solidFill>
          <a:schemeClr val="tx1"/>
        </a:solidFill>
        <a:latin typeface="Calibri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buFont typeface="Arial" pitchFamily="34" charset="0"/>
      <a:defRPr kern="1200">
        <a:solidFill>
          <a:schemeClr val="tx1"/>
        </a:solidFill>
        <a:latin typeface="Calibri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buFont typeface="Arial" pitchFamily="34" charset="0"/>
      <a:defRPr kern="1200">
        <a:solidFill>
          <a:schemeClr val="tx1"/>
        </a:solidFill>
        <a:latin typeface="Calibri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314B9"/>
    <a:srgbClr val="4A2C2C"/>
    <a:srgbClr val="906542"/>
    <a:srgbClr val="6E5A42"/>
    <a:srgbClr val="A2956E"/>
    <a:srgbClr val="CC3300"/>
    <a:srgbClr val="3A2222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4927" autoAdjust="0"/>
    <p:restoredTop sz="94660"/>
  </p:normalViewPr>
  <p:slideViewPr>
    <p:cSldViewPr>
      <p:cViewPr varScale="1">
        <p:scale>
          <a:sx n="72" d="100"/>
          <a:sy n="72" d="100"/>
        </p:scale>
        <p:origin x="-570" y="-102"/>
      </p:cViewPr>
      <p:guideLst>
        <p:guide orient="horz" pos="2122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ms-MY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ms-MY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59723F3-EA2D-440A-B61B-CB3A61301C2E}" type="datetimeFigureOut">
              <a:rPr lang="en-US" altLang="ms-MY"/>
              <a:pPr/>
              <a:t>11/27/2018</a:t>
            </a:fld>
            <a:endParaRPr lang="en-US" altLang="ms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B22FA37-8C41-4E9B-85C9-694C3CA41837}" type="slidenum">
              <a:rPr lang="en-US" altLang="ms-MY"/>
              <a:pPr/>
              <a:t>‹#›</a:t>
            </a:fld>
            <a:endParaRPr lang="en-US" altLang="ms-MY"/>
          </a:p>
        </p:txBody>
      </p:sp>
    </p:spTree>
    <p:extLst>
      <p:ext uri="{BB962C8B-B14F-4D97-AF65-F5344CB8AC3E}">
        <p14:creationId xmlns:p14="http://schemas.microsoft.com/office/powerpoint/2010/main" xmlns="" val="1502730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ms-MY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ms-MY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A780C4D-09CA-46E3-853E-35EB6329C356}" type="datetimeFigureOut">
              <a:rPr lang="en-US" altLang="ms-MY"/>
              <a:pPr/>
              <a:t>11/27/2018</a:t>
            </a:fld>
            <a:endParaRPr lang="en-US" altLang="ms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A12A969-FE6B-4384-80F4-B0B68BF05F39}" type="slidenum">
              <a:rPr lang="en-US" altLang="ms-MY"/>
              <a:pPr/>
              <a:t>‹#›</a:t>
            </a:fld>
            <a:endParaRPr lang="en-US" altLang="ms-MY"/>
          </a:p>
        </p:txBody>
      </p:sp>
    </p:spTree>
    <p:extLst>
      <p:ext uri="{BB962C8B-B14F-4D97-AF65-F5344CB8AC3E}">
        <p14:creationId xmlns:p14="http://schemas.microsoft.com/office/powerpoint/2010/main" xmlns="" val="38050249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ms-MY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7A9C67E-F93D-4EEE-A635-14A28FAC2FA8}" type="datetimeFigureOut">
              <a:rPr lang="en-US" altLang="ms-MY"/>
              <a:pPr/>
              <a:t>11/27/2018</a:t>
            </a:fld>
            <a:endParaRPr lang="en-US" altLang="ms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630A7A1-6BE7-410A-AFEE-737052E58907}" type="slidenum">
              <a:rPr lang="en-US" altLang="ms-MY"/>
              <a:pPr/>
              <a:t>‹#›</a:t>
            </a:fld>
            <a:endParaRPr lang="en-US" altLang="ms-MY"/>
          </a:p>
        </p:txBody>
      </p:sp>
    </p:spTree>
    <p:extLst>
      <p:ext uri="{BB962C8B-B14F-4D97-AF65-F5344CB8AC3E}">
        <p14:creationId xmlns:p14="http://schemas.microsoft.com/office/powerpoint/2010/main" xmlns="" val="1493768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ms-MY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ms-MY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29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ms-MY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57B5EC1-EB5D-46B9-8E76-A959A47594D5}" type="datetimeFigureOut">
              <a:rPr lang="en-US" altLang="ms-MY"/>
              <a:pPr/>
              <a:t>11/27/2018</a:t>
            </a:fld>
            <a:endParaRPr lang="en-US" altLang="ms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C89FF7E-BAB3-42CC-AB8C-FA47AB3FCCD2}" type="slidenum">
              <a:rPr lang="en-US" altLang="ms-MY"/>
              <a:pPr/>
              <a:t>‹#›</a:t>
            </a:fld>
            <a:endParaRPr lang="en-US" altLang="ms-MY"/>
          </a:p>
        </p:txBody>
      </p:sp>
    </p:spTree>
    <p:extLst>
      <p:ext uri="{BB962C8B-B14F-4D97-AF65-F5344CB8AC3E}">
        <p14:creationId xmlns:p14="http://schemas.microsoft.com/office/powerpoint/2010/main" xmlns="" val="25297793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ms-MY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ms-MY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ms-MY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3977253-90F5-442A-98A7-325A41DDBBE5}" type="datetimeFigureOut">
              <a:rPr lang="en-US" altLang="ms-MY"/>
              <a:pPr/>
              <a:t>11/27/2018</a:t>
            </a:fld>
            <a:endParaRPr lang="en-US" altLang="ms-MY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58C91BD-5873-4C04-BC10-1C5B3FFE89D5}" type="slidenum">
              <a:rPr lang="en-US" altLang="ms-MY"/>
              <a:pPr/>
              <a:t>‹#›</a:t>
            </a:fld>
            <a:endParaRPr lang="en-US" altLang="ms-MY"/>
          </a:p>
        </p:txBody>
      </p:sp>
    </p:spTree>
    <p:extLst>
      <p:ext uri="{BB962C8B-B14F-4D97-AF65-F5344CB8AC3E}">
        <p14:creationId xmlns:p14="http://schemas.microsoft.com/office/powerpoint/2010/main" xmlns="" val="36374258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ms-MY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7A92C43-95BD-49AB-ABF9-79530A05AC1C}" type="datetimeFigureOut">
              <a:rPr lang="en-US" altLang="ms-MY"/>
              <a:pPr/>
              <a:t>11/27/2018</a:t>
            </a:fld>
            <a:endParaRPr lang="en-US" altLang="ms-MY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2A41B3D-886A-43F2-980D-523433FBF8B8}" type="slidenum">
              <a:rPr lang="en-US" altLang="ms-MY"/>
              <a:pPr/>
              <a:t>‹#›</a:t>
            </a:fld>
            <a:endParaRPr lang="en-US" altLang="ms-MY"/>
          </a:p>
        </p:txBody>
      </p:sp>
    </p:spTree>
    <p:extLst>
      <p:ext uri="{BB962C8B-B14F-4D97-AF65-F5344CB8AC3E}">
        <p14:creationId xmlns:p14="http://schemas.microsoft.com/office/powerpoint/2010/main" xmlns="" val="4069854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3BB183E-8E62-4134-9BBB-242D6DC8A277}" type="datetimeFigureOut">
              <a:rPr lang="en-US" altLang="ms-MY"/>
              <a:pPr/>
              <a:t>11/27/2018</a:t>
            </a:fld>
            <a:endParaRPr lang="en-US" altLang="ms-MY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4EDD56F-7D3A-4AA6-A42E-C322863F1772}" type="slidenum">
              <a:rPr lang="en-US" altLang="ms-MY"/>
              <a:pPr/>
              <a:t>‹#›</a:t>
            </a:fld>
            <a:endParaRPr lang="en-US" altLang="ms-MY"/>
          </a:p>
        </p:txBody>
      </p:sp>
    </p:spTree>
    <p:extLst>
      <p:ext uri="{BB962C8B-B14F-4D97-AF65-F5344CB8AC3E}">
        <p14:creationId xmlns:p14="http://schemas.microsoft.com/office/powerpoint/2010/main" xmlns="" val="7444734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ms-MY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ms-MY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AEA1F16-1551-43C8-911E-B8ADD05AE0F8}" type="datetimeFigureOut">
              <a:rPr lang="en-US" altLang="ms-MY"/>
              <a:pPr/>
              <a:t>11/27/2018</a:t>
            </a:fld>
            <a:endParaRPr lang="en-US" altLang="ms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CB1AE60-6D37-44A6-A36B-9F102BEA3003}" type="slidenum">
              <a:rPr lang="en-US" altLang="ms-MY"/>
              <a:pPr/>
              <a:t>‹#›</a:t>
            </a:fld>
            <a:endParaRPr lang="en-US" altLang="ms-MY"/>
          </a:p>
        </p:txBody>
      </p:sp>
    </p:spTree>
    <p:extLst>
      <p:ext uri="{BB962C8B-B14F-4D97-AF65-F5344CB8AC3E}">
        <p14:creationId xmlns:p14="http://schemas.microsoft.com/office/powerpoint/2010/main" xmlns="" val="28125364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ms-MY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ms-MY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0EDD667-AE2B-4CEC-844B-8D7B30E73672}" type="datetimeFigureOut">
              <a:rPr lang="en-US" altLang="ms-MY"/>
              <a:pPr/>
              <a:t>11/27/2018</a:t>
            </a:fld>
            <a:endParaRPr lang="en-US" altLang="ms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2136C4-25E1-4309-9029-DB349206D049}" type="slidenum">
              <a:rPr lang="en-US" altLang="ms-MY"/>
              <a:pPr/>
              <a:t>‹#›</a:t>
            </a:fld>
            <a:endParaRPr lang="en-US" altLang="ms-MY"/>
          </a:p>
        </p:txBody>
      </p:sp>
    </p:spTree>
    <p:extLst>
      <p:ext uri="{BB962C8B-B14F-4D97-AF65-F5344CB8AC3E}">
        <p14:creationId xmlns:p14="http://schemas.microsoft.com/office/powerpoint/2010/main" xmlns="" val="16425575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ms-MY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ms-MY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FD632D5-7155-4806-A648-FBF5E0FA7D95}" type="datetimeFigureOut">
              <a:rPr lang="en-US" altLang="ms-MY"/>
              <a:pPr/>
              <a:t>11/27/2018</a:t>
            </a:fld>
            <a:endParaRPr lang="en-US" altLang="ms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3FB29B9-8AE7-4350-845C-1487E04C6076}" type="slidenum">
              <a:rPr lang="en-US" altLang="ms-MY"/>
              <a:pPr/>
              <a:t>‹#›</a:t>
            </a:fld>
            <a:endParaRPr lang="en-US" altLang="ms-MY"/>
          </a:p>
        </p:txBody>
      </p:sp>
    </p:spTree>
    <p:extLst>
      <p:ext uri="{BB962C8B-B14F-4D97-AF65-F5344CB8AC3E}">
        <p14:creationId xmlns:p14="http://schemas.microsoft.com/office/powerpoint/2010/main" xmlns="" val="18055173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10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ms-MY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ms-MY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FAE9A92-44C0-49F7-A18A-1AA8647BC1BB}" type="datetimeFigureOut">
              <a:rPr lang="en-US" altLang="ms-MY"/>
              <a:pPr/>
              <a:t>11/27/2018</a:t>
            </a:fld>
            <a:endParaRPr lang="en-US" altLang="ms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D51E846-F00B-4914-AC44-0215942D3878}" type="slidenum">
              <a:rPr lang="en-US" altLang="ms-MY"/>
              <a:pPr/>
              <a:t>‹#›</a:t>
            </a:fld>
            <a:endParaRPr lang="en-US" altLang="ms-MY"/>
          </a:p>
        </p:txBody>
      </p:sp>
    </p:spTree>
    <p:extLst>
      <p:ext uri="{BB962C8B-B14F-4D97-AF65-F5344CB8AC3E}">
        <p14:creationId xmlns:p14="http://schemas.microsoft.com/office/powerpoint/2010/main" xmlns="" val="25488792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90500"/>
            <a:ext cx="8229600" cy="58261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ms-MY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174750"/>
            <a:ext cx="40386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ms-MY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74750"/>
            <a:ext cx="40386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ms-MY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D77C5EA0-6FB9-4E59-9339-88D6B9B2BD14}" type="datetimeFigureOut">
              <a:rPr lang="en-US" altLang="ms-MY"/>
              <a:pPr/>
              <a:t>11/27/2018</a:t>
            </a:fld>
            <a:endParaRPr lang="en-US" altLang="ms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ms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91B1AF71-F316-4EAC-AEF3-4847EFCFA26C}" type="slidenum">
              <a:rPr lang="en-US" altLang="ms-MY"/>
              <a:pPr/>
              <a:t>‹#›</a:t>
            </a:fld>
            <a:endParaRPr lang="en-US" altLang="ms-MY"/>
          </a:p>
        </p:txBody>
      </p:sp>
    </p:spTree>
    <p:extLst>
      <p:ext uri="{BB962C8B-B14F-4D97-AF65-F5344CB8AC3E}">
        <p14:creationId xmlns:p14="http://schemas.microsoft.com/office/powerpoint/2010/main" xmlns="" val="9869590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ms-MY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ms-MY" smtClean="0"/>
              <a:t>Click to edit Master text styles</a:t>
            </a:r>
          </a:p>
          <a:p>
            <a:pPr lvl="1"/>
            <a:r>
              <a:rPr lang="en-US" altLang="ms-MY" smtClean="0"/>
              <a:t>Second level</a:t>
            </a:r>
          </a:p>
          <a:p>
            <a:pPr lvl="2"/>
            <a:r>
              <a:rPr lang="en-US" altLang="ms-MY" smtClean="0"/>
              <a:t>Third level</a:t>
            </a:r>
          </a:p>
          <a:p>
            <a:pPr lvl="3"/>
            <a:r>
              <a:rPr lang="en-US" altLang="ms-MY" smtClean="0"/>
              <a:t>Fourth level</a:t>
            </a:r>
          </a:p>
          <a:p>
            <a:pPr lvl="4"/>
            <a:r>
              <a:rPr lang="en-US" altLang="ms-MY" smtClean="0"/>
              <a:t>Fifth level</a:t>
            </a:r>
          </a:p>
        </p:txBody>
      </p:sp>
      <p:sp>
        <p:nvSpPr>
          <p:cNvPr id="1028" name="Date Placeholder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8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3A2222"/>
                </a:solidFill>
                <a:ea typeface="SimSun" pitchFamily="2" charset="-122"/>
              </a:defRPr>
            </a:lvl1pPr>
          </a:lstStyle>
          <a:p>
            <a:fld id="{7E24EEAC-35BC-4856-8CED-9FBE75CEEDF2}" type="datetimeFigureOut">
              <a:rPr lang="en-US" altLang="ms-MY"/>
              <a:pPr/>
              <a:t>11/27/2018</a:t>
            </a:fld>
            <a:endParaRPr lang="en-US" altLang="ms-MY"/>
          </a:p>
        </p:txBody>
      </p:sp>
      <p:sp>
        <p:nvSpPr>
          <p:cNvPr id="1029" name="Footer Placeholder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05200" y="6356350"/>
            <a:ext cx="2895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solidFill>
                  <a:srgbClr val="3A2222"/>
                </a:solidFill>
                <a:ea typeface="SimSun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1030" name="Slide Number Placeholder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34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3A2222"/>
                </a:solidFill>
                <a:ea typeface="SimSun" pitchFamily="2" charset="-122"/>
              </a:defRPr>
            </a:lvl1pPr>
          </a:lstStyle>
          <a:p>
            <a:fld id="{1FEBAB8A-3650-4634-A0E8-293825372500}" type="slidenum">
              <a:rPr lang="en-US" altLang="ms-MY"/>
              <a:pPr/>
              <a:t>‹#›</a:t>
            </a:fld>
            <a:endParaRPr lang="en-US" altLang="ms-MY"/>
          </a:p>
        </p:txBody>
      </p:sp>
      <p:sp>
        <p:nvSpPr>
          <p:cNvPr id="1031" name="TextBox 8"/>
          <p:cNvSpPr txBox="1">
            <a:spLocks noChangeArrowheads="1"/>
          </p:cNvSpPr>
          <p:nvPr/>
        </p:nvSpPr>
        <p:spPr bwMode="auto">
          <a:xfrm rot="16200000">
            <a:off x="-1751806" y="5163344"/>
            <a:ext cx="29892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/>
            <a:r>
              <a:rPr lang="bs-Latn-BA" altLang="en-US" sz="2000">
                <a:solidFill>
                  <a:srgbClr val="7F7F7F"/>
                </a:solidFill>
                <a:ea typeface="SimSun" pitchFamily="2" charset="-122"/>
              </a:rPr>
              <a:t> © free-ppt-templates.com</a:t>
            </a:r>
            <a:endParaRPr lang="en-US" altLang="ms-MY" sz="2000">
              <a:solidFill>
                <a:srgbClr val="7F7F7F"/>
              </a:solidFill>
              <a:ea typeface="SimSun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85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400" b="1">
          <a:solidFill>
            <a:srgbClr val="595959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400" b="1">
          <a:solidFill>
            <a:srgbClr val="595959"/>
          </a:solidFill>
          <a:latin typeface="Microsoft New Tai Lue" pitchFamily="34" charset="0"/>
          <a:ea typeface="Microsoft New Tai Lue" pitchFamily="34" charset="0"/>
          <a:cs typeface="Microsoft New Tai Lue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400" b="1">
          <a:solidFill>
            <a:srgbClr val="595959"/>
          </a:solidFill>
          <a:latin typeface="Microsoft New Tai Lue" pitchFamily="34" charset="0"/>
          <a:ea typeface="Microsoft New Tai Lue" pitchFamily="34" charset="0"/>
          <a:cs typeface="Microsoft New Tai Lue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400" b="1">
          <a:solidFill>
            <a:srgbClr val="595959"/>
          </a:solidFill>
          <a:latin typeface="Microsoft New Tai Lue" pitchFamily="34" charset="0"/>
          <a:ea typeface="Microsoft New Tai Lue" pitchFamily="34" charset="0"/>
          <a:cs typeface="Microsoft New Tai Lue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400" b="1">
          <a:solidFill>
            <a:srgbClr val="595959"/>
          </a:solidFill>
          <a:latin typeface="Microsoft New Tai Lue" pitchFamily="34" charset="0"/>
          <a:ea typeface="Microsoft New Tai Lue" pitchFamily="34" charset="0"/>
          <a:cs typeface="Microsoft New Tai Lue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5400" b="1">
          <a:solidFill>
            <a:srgbClr val="595959"/>
          </a:solidFill>
          <a:latin typeface="Microsoft New Tai Lue" pitchFamily="34" charset="0"/>
          <a:ea typeface="Microsoft New Tai Lue" pitchFamily="34" charset="0"/>
          <a:cs typeface="Microsoft New Tai Lue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5400" b="1">
          <a:solidFill>
            <a:srgbClr val="595959"/>
          </a:solidFill>
          <a:latin typeface="Microsoft New Tai Lue" pitchFamily="34" charset="0"/>
          <a:ea typeface="Microsoft New Tai Lue" pitchFamily="34" charset="0"/>
          <a:cs typeface="Microsoft New Tai Lue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5400" b="1">
          <a:solidFill>
            <a:srgbClr val="595959"/>
          </a:solidFill>
          <a:latin typeface="Microsoft New Tai Lue" pitchFamily="34" charset="0"/>
          <a:ea typeface="Microsoft New Tai Lue" pitchFamily="34" charset="0"/>
          <a:cs typeface="Microsoft New Tai Lue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5400" b="1">
          <a:solidFill>
            <a:srgbClr val="595959"/>
          </a:solidFill>
          <a:latin typeface="Microsoft New Tai Lue" pitchFamily="34" charset="0"/>
          <a:ea typeface="Microsoft New Tai Lue" pitchFamily="34" charset="0"/>
          <a:cs typeface="Microsoft New Tai Lue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>
          <a:solidFill>
            <a:srgbClr val="3A2222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>
          <a:solidFill>
            <a:srgbClr val="3A2222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>
          <a:solidFill>
            <a:srgbClr val="3A2222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>
          <a:solidFill>
            <a:srgbClr val="3A2222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rgbClr val="3A2222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rgbClr val="3A2222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rgbClr val="3A2222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rgbClr val="3A2222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rgbClr val="3A2222"/>
          </a:solidFill>
          <a:latin typeface="+mn-lt"/>
        </a:defRPr>
      </a:lvl9pPr>
    </p:bodyStyle>
    <p:otherStyle>
      <a:defPPr>
        <a:defRPr lang="ms-MY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Text Box 3"/>
          <p:cNvSpPr txBox="1">
            <a:spLocks noChangeArrowheads="1"/>
          </p:cNvSpPr>
          <p:nvPr/>
        </p:nvSpPr>
        <p:spPr bwMode="auto">
          <a:xfrm>
            <a:off x="1676400" y="838200"/>
            <a:ext cx="5562600" cy="3139321"/>
          </a:xfrm>
          <a:prstGeom prst="rect">
            <a:avLst/>
          </a:prstGeom>
          <a:noFill/>
          <a:ln>
            <a:noFill/>
          </a:ln>
          <a:effectLst>
            <a:outerShdw dist="99190" dir="13811666" algn="ctr" rotWithShape="0">
              <a:schemeClr val="hlink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6600" b="1" dirty="0">
                <a:latin typeface="+mn-lt"/>
                <a:ea typeface="KaiTi" charset="-122"/>
              </a:rPr>
              <a:t>第</a:t>
            </a:r>
            <a:r>
              <a:rPr lang="zh-CN" altLang="en-US" sz="6600" b="1" dirty="0" smtClean="0">
                <a:latin typeface="+mn-lt"/>
                <a:ea typeface="KaiTi" charset="-122"/>
              </a:rPr>
              <a:t>1</a:t>
            </a:r>
            <a:r>
              <a:rPr lang="en-US" altLang="zh-CN" sz="6600" b="1" dirty="0" smtClean="0">
                <a:latin typeface="+mn-lt"/>
                <a:ea typeface="KaiTi" charset="-122"/>
              </a:rPr>
              <a:t>1</a:t>
            </a:r>
            <a:r>
              <a:rPr lang="zh-CN" altLang="en-US" sz="6600" b="1" dirty="0" smtClean="0">
                <a:latin typeface="+mn-lt"/>
                <a:ea typeface="KaiTi" charset="-122"/>
              </a:rPr>
              <a:t>章</a:t>
            </a:r>
            <a:endParaRPr lang="zh-CN" altLang="en-US" sz="6600" b="1" dirty="0">
              <a:latin typeface="+mn-lt"/>
              <a:ea typeface="KaiTi" charset="-122"/>
            </a:endParaRPr>
          </a:p>
          <a:p>
            <a:pPr algn="ctr"/>
            <a:r>
              <a:rPr lang="en-US" altLang="en-US" sz="6600" b="1" dirty="0" smtClean="0">
                <a:latin typeface="+mn-lt"/>
                <a:ea typeface="KaiTi" charset="-122"/>
              </a:rPr>
              <a:t>IIIA</a:t>
            </a:r>
            <a:r>
              <a:rPr lang="zh-CN" altLang="en-US" sz="6600" b="1" dirty="0" smtClean="0">
                <a:latin typeface="+mn-lt"/>
                <a:ea typeface="KaiTi" charset="-122"/>
              </a:rPr>
              <a:t>族元素</a:t>
            </a:r>
            <a:endParaRPr lang="en-US" altLang="zh-CN" sz="6600" b="1" dirty="0" smtClean="0">
              <a:latin typeface="+mn-lt"/>
              <a:ea typeface="KaiTi" charset="-122"/>
            </a:endParaRPr>
          </a:p>
          <a:p>
            <a:pPr algn="ctr"/>
            <a:r>
              <a:rPr lang="zh-CN" altLang="en-US" sz="6600" b="1" dirty="0" smtClean="0">
                <a:latin typeface="+mn-lt"/>
                <a:ea typeface="KaiTi" charset="-122"/>
              </a:rPr>
              <a:t>铝</a:t>
            </a:r>
            <a:endParaRPr lang="ms-MY" altLang="en-US" sz="6600" b="1" dirty="0">
              <a:latin typeface="+mn-lt"/>
              <a:ea typeface="KaiTi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90600" y="4495800"/>
            <a:ext cx="77348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dirty="0" smtClean="0"/>
              <a:t>硼</a:t>
            </a:r>
            <a:r>
              <a:rPr lang="en-US" altLang="zh-CN" sz="3600" dirty="0" smtClean="0"/>
              <a:t>B</a:t>
            </a:r>
            <a:r>
              <a:rPr lang="zh-CN" altLang="en-US" sz="3600" dirty="0" smtClean="0"/>
              <a:t>、铝</a:t>
            </a:r>
            <a:r>
              <a:rPr lang="en-US" altLang="zh-CN" sz="3600" dirty="0" smtClean="0"/>
              <a:t>Al</a:t>
            </a:r>
            <a:r>
              <a:rPr lang="zh-CN" altLang="en-US" sz="3600" dirty="0" smtClean="0"/>
              <a:t>、镓</a:t>
            </a:r>
            <a:r>
              <a:rPr lang="en-US" altLang="zh-CN" sz="3600" dirty="0" err="1" smtClean="0"/>
              <a:t>Ga</a:t>
            </a:r>
            <a:r>
              <a:rPr lang="zh-CN" altLang="en-US" sz="3600" dirty="0" smtClean="0"/>
              <a:t>、铟</a:t>
            </a:r>
            <a:r>
              <a:rPr lang="en-US" altLang="zh-CN" sz="3600" dirty="0" smtClean="0"/>
              <a:t>In</a:t>
            </a:r>
            <a:r>
              <a:rPr lang="zh-CN" altLang="en-US" sz="3600" dirty="0" smtClean="0"/>
              <a:t>、铊</a:t>
            </a:r>
            <a:r>
              <a:rPr lang="en-US" altLang="zh-CN" sz="3600" dirty="0" smtClean="0"/>
              <a:t>Ti</a:t>
            </a:r>
            <a:r>
              <a:rPr lang="zh-CN" altLang="en-US" sz="3600" dirty="0" smtClean="0"/>
              <a:t>、</a:t>
            </a:r>
            <a:r>
              <a:rPr lang="zh-CN" altLang="en-US" sz="3600" dirty="0" smtClean="0"/>
              <a:t> </a:t>
            </a:r>
            <a:r>
              <a:rPr lang="zh-CN" altLang="en-US" sz="3600" dirty="0" smtClean="0"/>
              <a:t>鉨</a:t>
            </a:r>
            <a:r>
              <a:rPr lang="en-US" altLang="zh-CN" sz="3600" dirty="0" err="1" smtClean="0"/>
              <a:t>Nh</a:t>
            </a:r>
            <a:endParaRPr lang="en-US" sz="3600" dirty="0"/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273050"/>
            <a:ext cx="8001000" cy="5746750"/>
          </a:xfrm>
        </p:spPr>
        <p:txBody>
          <a:bodyPr/>
          <a:lstStyle/>
          <a:p>
            <a:pPr marL="0" indent="0">
              <a:lnSpc>
                <a:spcPct val="80000"/>
              </a:lnSpc>
              <a:buFontTx/>
              <a:buNone/>
            </a:pPr>
            <a:r>
              <a:rPr lang="en-US" altLang="zh-CN" sz="4000" b="1" u="sng" dirty="0" smtClean="0"/>
              <a:t>11.1 </a:t>
            </a:r>
            <a:r>
              <a:rPr lang="zh-CN" altLang="en-US" sz="4000" b="1" u="sng" dirty="0" smtClean="0"/>
              <a:t>铝的性质</a:t>
            </a:r>
            <a:endParaRPr lang="en-US" altLang="zh-CN" b="1" dirty="0" smtClean="0">
              <a:solidFill>
                <a:srgbClr val="4A2C2C"/>
              </a:solidFill>
            </a:endParaRPr>
          </a:p>
          <a:p>
            <a:pPr marL="0" indent="0">
              <a:lnSpc>
                <a:spcPct val="150000"/>
              </a:lnSpc>
            </a:pPr>
            <a:r>
              <a:rPr lang="zh-CN" altLang="en-US" b="1" dirty="0" smtClean="0">
                <a:solidFill>
                  <a:srgbClr val="4A2C2C"/>
                </a:solidFill>
              </a:rPr>
              <a:t>地壳中含量最多的金属元素。</a:t>
            </a:r>
            <a:endParaRPr lang="en-US" altLang="zh-CN" b="1" dirty="0" smtClean="0">
              <a:solidFill>
                <a:srgbClr val="4A2C2C"/>
              </a:solidFill>
            </a:endParaRPr>
          </a:p>
          <a:p>
            <a:pPr marL="0" indent="0">
              <a:lnSpc>
                <a:spcPct val="150000"/>
              </a:lnSpc>
            </a:pPr>
            <a:r>
              <a:rPr lang="zh-CN" altLang="en-US" b="1" dirty="0" smtClean="0">
                <a:solidFill>
                  <a:srgbClr val="4A2C2C"/>
                </a:solidFill>
              </a:rPr>
              <a:t>地壳中的四大元素：氧、硅、铝、铁</a:t>
            </a:r>
            <a:endParaRPr lang="en-US" altLang="zh-CN" b="1" dirty="0" smtClean="0">
              <a:solidFill>
                <a:srgbClr val="4A2C2C"/>
              </a:solidFill>
            </a:endParaRPr>
          </a:p>
          <a:p>
            <a:pPr marL="0" indent="0">
              <a:lnSpc>
                <a:spcPct val="150000"/>
              </a:lnSpc>
            </a:pPr>
            <a:r>
              <a:rPr lang="zh-CN" altLang="en-US" b="1" dirty="0" smtClean="0">
                <a:solidFill>
                  <a:srgbClr val="4A2C2C"/>
                </a:solidFill>
              </a:rPr>
              <a:t>第</a:t>
            </a:r>
            <a:r>
              <a:rPr lang="en-US" altLang="zh-CN" b="1" dirty="0" smtClean="0">
                <a:solidFill>
                  <a:srgbClr val="4A2C2C"/>
                </a:solidFill>
              </a:rPr>
              <a:t>3</a:t>
            </a:r>
            <a:r>
              <a:rPr lang="zh-CN" altLang="en-US" b="1" dirty="0" smtClean="0">
                <a:solidFill>
                  <a:srgbClr val="4A2C2C"/>
                </a:solidFill>
              </a:rPr>
              <a:t>周期，</a:t>
            </a:r>
            <a:r>
              <a:rPr lang="en-US" altLang="zh-CN" b="1" dirty="0" smtClean="0">
                <a:solidFill>
                  <a:srgbClr val="4A2C2C"/>
                </a:solidFill>
              </a:rPr>
              <a:t>IIIA</a:t>
            </a:r>
            <a:r>
              <a:rPr lang="zh-CN" altLang="en-US" b="1" dirty="0" smtClean="0">
                <a:solidFill>
                  <a:srgbClr val="4A2C2C"/>
                </a:solidFill>
              </a:rPr>
              <a:t>族</a:t>
            </a:r>
            <a:endParaRPr lang="en-US" altLang="zh-CN" b="1" dirty="0" smtClean="0">
              <a:solidFill>
                <a:srgbClr val="4A2C2C"/>
              </a:solidFill>
            </a:endParaRPr>
          </a:p>
          <a:p>
            <a:pPr marL="0" indent="0">
              <a:lnSpc>
                <a:spcPct val="150000"/>
              </a:lnSpc>
            </a:pPr>
            <a:r>
              <a:rPr lang="zh-CN" altLang="en-US" b="1" dirty="0" smtClean="0">
                <a:solidFill>
                  <a:srgbClr val="4A2C2C"/>
                </a:solidFill>
              </a:rPr>
              <a:t>电子排布式：</a:t>
            </a:r>
            <a:r>
              <a:rPr lang="en-US" altLang="zh-CN" b="1" dirty="0" smtClean="0">
                <a:solidFill>
                  <a:srgbClr val="4A2C2C"/>
                </a:solidFill>
              </a:rPr>
              <a:t>[Ne] 3s</a:t>
            </a:r>
            <a:r>
              <a:rPr lang="en-US" altLang="zh-CN" b="1" baseline="30000" dirty="0" smtClean="0">
                <a:solidFill>
                  <a:srgbClr val="4A2C2C"/>
                </a:solidFill>
              </a:rPr>
              <a:t>2</a:t>
            </a:r>
            <a:r>
              <a:rPr lang="en-US" altLang="zh-CN" b="1" dirty="0" smtClean="0">
                <a:solidFill>
                  <a:srgbClr val="4A2C2C"/>
                </a:solidFill>
              </a:rPr>
              <a:t> 3p</a:t>
            </a:r>
            <a:r>
              <a:rPr lang="en-US" altLang="zh-CN" b="1" baseline="30000" dirty="0" smtClean="0">
                <a:solidFill>
                  <a:srgbClr val="4A2C2C"/>
                </a:solidFill>
              </a:rPr>
              <a:t>1</a:t>
            </a:r>
          </a:p>
          <a:p>
            <a:pPr marL="0" indent="0">
              <a:lnSpc>
                <a:spcPct val="150000"/>
              </a:lnSpc>
            </a:pPr>
            <a:r>
              <a:rPr lang="zh-CN" altLang="en-US" b="1" dirty="0" smtClean="0">
                <a:solidFill>
                  <a:srgbClr val="4A2C2C"/>
                </a:solidFill>
              </a:rPr>
              <a:t>价电子：</a:t>
            </a:r>
            <a:r>
              <a:rPr lang="en-US" altLang="zh-CN" b="1" dirty="0" smtClean="0">
                <a:solidFill>
                  <a:srgbClr val="4A2C2C"/>
                </a:solidFill>
              </a:rPr>
              <a:t>3</a:t>
            </a:r>
            <a:r>
              <a:rPr lang="zh-CN" altLang="en-US" b="1" dirty="0" smtClean="0">
                <a:solidFill>
                  <a:srgbClr val="4A2C2C"/>
                </a:solidFill>
              </a:rPr>
              <a:t>个</a:t>
            </a:r>
            <a:endParaRPr lang="en-US" altLang="zh-CN" b="1" dirty="0" smtClean="0">
              <a:solidFill>
                <a:srgbClr val="4A2C2C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zh-CN" b="1" dirty="0" smtClean="0">
              <a:solidFill>
                <a:srgbClr val="FF0000"/>
              </a:solidFill>
            </a:endParaRPr>
          </a:p>
        </p:txBody>
      </p:sp>
      <p:pic>
        <p:nvPicPr>
          <p:cNvPr id="3074" name="Picture 2" descr="C:\Users\user\Desktop\Al1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410200" y="3886200"/>
            <a:ext cx="3505200" cy="25908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1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1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1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1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1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1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1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1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0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1" name="Picture 5" descr="C:\Users\user\Desktop\feiji1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16727" y="1295400"/>
            <a:ext cx="4689148" cy="2809875"/>
          </a:xfrm>
          <a:prstGeom prst="rect">
            <a:avLst/>
          </a:prstGeom>
          <a:noFill/>
        </p:spPr>
      </p:pic>
      <p:sp>
        <p:nvSpPr>
          <p:cNvPr id="6146" name="Rectangle 2"/>
          <p:cNvSpPr>
            <a:spLocks noGrp="1" noChangeArrowheads="1"/>
          </p:cNvSpPr>
          <p:nvPr>
            <p:ph idx="1"/>
          </p:nvPr>
        </p:nvSpPr>
        <p:spPr>
          <a:xfrm>
            <a:off x="685800" y="152400"/>
            <a:ext cx="7162800" cy="5364163"/>
          </a:xfrm>
          <a:extLst>
            <a:ext uri="{909E8E84-426E-40DD-AFC4-6F175D3DCCD1}">
              <a14:hiddenFill xmlns:a14="http://schemas.microsoft.com/office/drawing/2010/main" xmlns="">
                <a:solidFill>
                  <a:srgbClr val="3A2222"/>
                </a:solidFill>
              </a14:hiddenFill>
            </a:ext>
          </a:extLst>
        </p:spPr>
        <p:txBody>
          <a:bodyPr/>
          <a:lstStyle/>
          <a:p>
            <a:pPr marL="0" indent="0"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en-US" altLang="zh-CN" sz="4000" b="1" u="sng" dirty="0" smtClean="0">
                <a:latin typeface="+mn-ea"/>
              </a:rPr>
              <a:t>11.1.1</a:t>
            </a:r>
            <a:r>
              <a:rPr lang="zh-CN" altLang="en-US" sz="4000" b="1" u="sng" dirty="0" smtClean="0">
                <a:latin typeface="+mn-ea"/>
              </a:rPr>
              <a:t>铝的物理性质</a:t>
            </a:r>
            <a:endParaRPr lang="ms-MY" altLang="en-US" sz="2800" b="1" dirty="0">
              <a:latin typeface="+mn-ea"/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b="1" dirty="0" smtClean="0">
                <a:latin typeface="+mn-ea"/>
              </a:rPr>
              <a:t>银白色轻金属</a:t>
            </a:r>
            <a:endParaRPr lang="en-US" altLang="zh-CN" b="1" dirty="0" smtClean="0">
              <a:latin typeface="+mn-ea"/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b="1" dirty="0" smtClean="0">
                <a:latin typeface="+mn-ea"/>
              </a:rPr>
              <a:t>熔点低</a:t>
            </a:r>
            <a:r>
              <a:rPr lang="en-US" altLang="zh-CN" b="1" dirty="0" smtClean="0">
                <a:latin typeface="+mn-ea"/>
              </a:rPr>
              <a:t>660</a:t>
            </a:r>
            <a:r>
              <a:rPr lang="en-US" altLang="zh-CN" b="1" baseline="30000" dirty="0" smtClean="0">
                <a:latin typeface="+mn-ea"/>
              </a:rPr>
              <a:t>o</a:t>
            </a:r>
            <a:r>
              <a:rPr lang="en-US" altLang="zh-CN" b="1" dirty="0" smtClean="0">
                <a:latin typeface="+mn-ea"/>
              </a:rPr>
              <a:t>C 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b="1" dirty="0" smtClean="0">
                <a:latin typeface="+mn-ea"/>
              </a:rPr>
              <a:t>密度小</a:t>
            </a:r>
            <a:r>
              <a:rPr lang="en-US" altLang="zh-CN" b="1" dirty="0" smtClean="0">
                <a:latin typeface="+mn-ea"/>
              </a:rPr>
              <a:t>2700kgm</a:t>
            </a:r>
            <a:r>
              <a:rPr lang="en-US" altLang="zh-CN" b="1" baseline="30000" dirty="0" smtClean="0">
                <a:latin typeface="+mn-ea"/>
              </a:rPr>
              <a:t>-3</a:t>
            </a:r>
            <a:r>
              <a:rPr lang="en-US" altLang="zh-CN" b="1" dirty="0" smtClean="0">
                <a:latin typeface="+mn-ea"/>
              </a:rPr>
              <a:t> 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b="1" dirty="0" smtClean="0">
                <a:latin typeface="+mn-ea"/>
              </a:rPr>
              <a:t>硬度小</a:t>
            </a:r>
            <a:r>
              <a:rPr lang="en-US" altLang="zh-CN" b="1" dirty="0" smtClean="0">
                <a:latin typeface="+mn-ea"/>
              </a:rPr>
              <a:t>   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b="1" dirty="0" smtClean="0">
                <a:latin typeface="+mn-ea"/>
              </a:rPr>
              <a:t>具有金属特性</a:t>
            </a:r>
            <a:endParaRPr lang="en-US" altLang="zh-CN" b="1" dirty="0" smtClean="0">
              <a:latin typeface="+mn-ea"/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US" altLang="zh-CN" b="1" dirty="0" smtClean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186171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6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idx="1"/>
          </p:nvPr>
        </p:nvSpPr>
        <p:spPr>
          <a:xfrm>
            <a:off x="685800" y="152400"/>
            <a:ext cx="8001000" cy="6172200"/>
          </a:xfrm>
          <a:extLst>
            <a:ext uri="{909E8E84-426E-40DD-AFC4-6F175D3DCCD1}">
              <a14:hiddenFill xmlns:a14="http://schemas.microsoft.com/office/drawing/2010/main" xmlns="">
                <a:solidFill>
                  <a:srgbClr val="3A2222"/>
                </a:solidFill>
              </a14:hiddenFill>
            </a:ext>
          </a:extLst>
        </p:spPr>
        <p:txBody>
          <a:bodyPr/>
          <a:lstStyle/>
          <a:p>
            <a:pPr marL="0" indent="0"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zh-CN" altLang="en-US" sz="3600" b="1" u="sng" dirty="0" smtClean="0">
                <a:latin typeface="+mn-ea"/>
              </a:rPr>
              <a:t>铝的性质与用途</a:t>
            </a:r>
            <a:endParaRPr lang="ms-MY" altLang="en-US" sz="2400" b="1" dirty="0">
              <a:latin typeface="+mn-ea"/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sz="2800" b="1" dirty="0" smtClean="0">
                <a:latin typeface="+mn-ea"/>
              </a:rPr>
              <a:t>	</a:t>
            </a:r>
            <a:r>
              <a:rPr lang="zh-CN" altLang="en-US" sz="2800" b="1" u="sng" dirty="0" smtClean="0">
                <a:latin typeface="+mn-ea"/>
              </a:rPr>
              <a:t>用途</a:t>
            </a:r>
            <a:r>
              <a:rPr lang="en-US" altLang="zh-CN" sz="2800" b="1" dirty="0" smtClean="0">
                <a:latin typeface="+mn-ea"/>
              </a:rPr>
              <a:t>				</a:t>
            </a:r>
            <a:r>
              <a:rPr lang="zh-CN" altLang="en-US" sz="2800" b="1" u="sng" dirty="0" smtClean="0">
                <a:latin typeface="+mn-ea"/>
              </a:rPr>
              <a:t>性质</a:t>
            </a:r>
            <a:endParaRPr lang="en-US" altLang="zh-CN" sz="2800" b="1" u="sng" dirty="0" smtClean="0">
              <a:latin typeface="+mn-ea"/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zh-CN" altLang="en-US" sz="2800" b="1" dirty="0" smtClean="0">
                <a:latin typeface="+mn-ea"/>
              </a:rPr>
              <a:t>制作导线</a:t>
            </a:r>
            <a:r>
              <a:rPr lang="en-US" altLang="zh-CN" sz="2800" b="1" dirty="0" smtClean="0">
                <a:latin typeface="+mn-ea"/>
              </a:rPr>
              <a:t>				</a:t>
            </a:r>
            <a:r>
              <a:rPr lang="zh-CN" altLang="en-US" sz="2800" b="1" dirty="0" smtClean="0">
                <a:latin typeface="+mn-ea"/>
              </a:rPr>
              <a:t>导电性</a:t>
            </a:r>
            <a:endParaRPr lang="en-US" altLang="zh-CN" sz="2800" b="1" dirty="0" smtClean="0">
              <a:latin typeface="+mn-ea"/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zh-CN" altLang="en-US" sz="2800" b="1" dirty="0" smtClean="0">
                <a:latin typeface="+mn-ea"/>
              </a:rPr>
              <a:t>制成铝锅</a:t>
            </a:r>
            <a:r>
              <a:rPr lang="en-US" altLang="zh-CN" sz="2800" b="1" dirty="0" smtClean="0">
                <a:latin typeface="+mn-ea"/>
              </a:rPr>
              <a:t>				</a:t>
            </a:r>
            <a:r>
              <a:rPr lang="zh-CN" altLang="en-US" sz="2800" b="1" dirty="0" smtClean="0">
                <a:latin typeface="+mn-ea"/>
              </a:rPr>
              <a:t>导热性</a:t>
            </a:r>
            <a:endParaRPr lang="en-US" altLang="zh-CN" sz="2800" b="1" dirty="0" smtClean="0">
              <a:latin typeface="+mn-ea"/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zh-CN" altLang="en-US" sz="2800" b="1" dirty="0" smtClean="0">
                <a:latin typeface="+mn-ea"/>
              </a:rPr>
              <a:t>制成铝箔</a:t>
            </a:r>
            <a:r>
              <a:rPr lang="en-US" altLang="zh-CN" sz="2800" b="1" dirty="0" smtClean="0">
                <a:latin typeface="+mn-ea"/>
              </a:rPr>
              <a:t>				</a:t>
            </a:r>
            <a:r>
              <a:rPr lang="zh-CN" altLang="en-US" sz="2800" b="1" dirty="0" smtClean="0">
                <a:latin typeface="+mn-ea"/>
              </a:rPr>
              <a:t>延展性</a:t>
            </a:r>
            <a:endParaRPr lang="en-US" altLang="zh-CN" sz="2800" b="1" dirty="0" smtClean="0">
              <a:latin typeface="+mn-ea"/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zh-CN" altLang="en-US" sz="2800" b="1" dirty="0" smtClean="0">
                <a:latin typeface="+mn-ea"/>
              </a:rPr>
              <a:t>制成银色油漆</a:t>
            </a:r>
            <a:r>
              <a:rPr lang="en-US" altLang="zh-CN" sz="2800" b="1" dirty="0" smtClean="0">
                <a:latin typeface="+mn-ea"/>
              </a:rPr>
              <a:t>			</a:t>
            </a:r>
            <a:r>
              <a:rPr lang="zh-CN" altLang="en-US" sz="2800" b="1" dirty="0" smtClean="0">
                <a:latin typeface="+mn-ea"/>
              </a:rPr>
              <a:t>金属光泽</a:t>
            </a:r>
            <a:endParaRPr lang="en-US" altLang="zh-CN" sz="2800" b="1" dirty="0" smtClean="0">
              <a:latin typeface="+mn-ea"/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zh-CN" altLang="en-US" sz="2800" b="1" dirty="0" smtClean="0">
                <a:latin typeface="+mn-ea"/>
              </a:rPr>
              <a:t>制门窗、车轮骨架</a:t>
            </a:r>
            <a:r>
              <a:rPr lang="en-US" altLang="zh-CN" sz="2800" b="1" dirty="0" smtClean="0">
                <a:latin typeface="+mn-ea"/>
              </a:rPr>
              <a:t>		</a:t>
            </a:r>
            <a:r>
              <a:rPr lang="zh-CN" altLang="en-US" sz="2800" b="1" dirty="0" smtClean="0">
                <a:latin typeface="+mn-ea"/>
              </a:rPr>
              <a:t>合金强度高、抗腐蚀</a:t>
            </a:r>
            <a:endParaRPr lang="en-US" altLang="zh-CN" sz="2800" b="1" dirty="0" smtClean="0">
              <a:latin typeface="+mn-ea"/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US" altLang="zh-CN" sz="2800" b="1" dirty="0" smtClean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186171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1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6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idx="1"/>
          </p:nvPr>
        </p:nvSpPr>
        <p:spPr>
          <a:xfrm>
            <a:off x="609600" y="152400"/>
            <a:ext cx="8382000" cy="6705600"/>
          </a:xfrm>
          <a:extLst>
            <a:ext uri="{909E8E84-426E-40DD-AFC4-6F175D3DCCD1}">
              <a14:hiddenFill xmlns:a14="http://schemas.microsoft.com/office/drawing/2010/main" xmlns="">
                <a:solidFill>
                  <a:srgbClr val="3A2222"/>
                </a:solidFill>
              </a14:hiddenFill>
            </a:ext>
          </a:extLst>
        </p:spPr>
        <p:txBody>
          <a:bodyPr/>
          <a:lstStyle/>
          <a:p>
            <a:pPr marL="0" indent="0"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en-US" altLang="zh-CN" sz="4000" b="1" u="sng" dirty="0" smtClean="0">
                <a:latin typeface="+mn-ea"/>
              </a:rPr>
              <a:t>11.1.2</a:t>
            </a:r>
            <a:r>
              <a:rPr lang="zh-CN" altLang="en-US" sz="4000" b="1" u="sng" dirty="0" smtClean="0">
                <a:latin typeface="+mn-ea"/>
              </a:rPr>
              <a:t>铝的化学性质</a:t>
            </a:r>
            <a:endParaRPr lang="en-US" altLang="zh-CN" sz="4000" b="1" u="sng" dirty="0" smtClean="0">
              <a:latin typeface="+mn-ea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3000" b="1" dirty="0" smtClean="0">
                <a:latin typeface="+mn-ea"/>
              </a:rPr>
              <a:t>活泼，强还原剂。</a:t>
            </a:r>
            <a:endParaRPr lang="en-US" altLang="zh-CN" sz="3000" b="1" dirty="0" smtClean="0">
              <a:latin typeface="+mn-ea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3000" b="1" dirty="0" smtClean="0">
                <a:latin typeface="+mn-ea"/>
                <a:sym typeface="Wingdings" pitchFamily="2" charset="2"/>
              </a:rPr>
              <a:t>常温下，易被氧化生成致密而坚固的氧化膜。</a:t>
            </a:r>
            <a:endParaRPr lang="en-US" altLang="zh-CN" sz="3000" b="1" dirty="0" smtClean="0">
              <a:latin typeface="+mn-ea"/>
              <a:sym typeface="Wingdings" pitchFamily="2" charset="2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3000" b="1" dirty="0" smtClean="0">
                <a:latin typeface="+mn-ea"/>
                <a:sym typeface="Wingdings" pitchFamily="2" charset="2"/>
              </a:rPr>
              <a:t>强抗腐蚀性；耐水，冷浓硫酸，冷浓硝酸。</a:t>
            </a:r>
            <a:endParaRPr lang="en-US" altLang="zh-CN" sz="3000" b="1" dirty="0" smtClean="0">
              <a:latin typeface="+mn-ea"/>
              <a:sym typeface="Wingdings" pitchFamily="2" charset="2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3000" b="1" dirty="0" smtClean="0">
                <a:latin typeface="+mn-ea"/>
                <a:sym typeface="Wingdings" pitchFamily="2" charset="2"/>
              </a:rPr>
              <a:t>燃烧时产生白光及大量的热</a:t>
            </a:r>
            <a:endParaRPr lang="en-US" altLang="zh-CN" sz="3000" b="1" dirty="0" smtClean="0">
              <a:latin typeface="+mn-ea"/>
              <a:sym typeface="Wingdings" pitchFamily="2" charset="2"/>
            </a:endParaRPr>
          </a:p>
          <a:p>
            <a:pPr lvl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sz="3000" b="1" dirty="0" smtClean="0">
                <a:latin typeface="+mn-ea"/>
                <a:sym typeface="Wingdings" pitchFamily="2" charset="2"/>
              </a:rPr>
              <a:t>	4 Al + 3 O</a:t>
            </a:r>
            <a:r>
              <a:rPr lang="en-US" altLang="zh-CN" sz="3000" b="1" baseline="-25000" dirty="0" smtClean="0">
                <a:latin typeface="+mn-ea"/>
                <a:sym typeface="Wingdings" pitchFamily="2" charset="2"/>
              </a:rPr>
              <a:t>2</a:t>
            </a:r>
            <a:r>
              <a:rPr lang="en-US" altLang="zh-CN" sz="3000" b="1" dirty="0" smtClean="0">
                <a:latin typeface="+mn-ea"/>
                <a:sym typeface="Wingdings" pitchFamily="2" charset="2"/>
              </a:rPr>
              <a:t>  2 Al</a:t>
            </a:r>
            <a:r>
              <a:rPr lang="en-US" altLang="zh-CN" sz="3000" b="1" baseline="-25000" dirty="0" smtClean="0">
                <a:latin typeface="+mn-ea"/>
                <a:sym typeface="Wingdings" pitchFamily="2" charset="2"/>
              </a:rPr>
              <a:t>2</a:t>
            </a:r>
            <a:r>
              <a:rPr lang="en-US" altLang="zh-CN" sz="3000" b="1" dirty="0" smtClean="0">
                <a:latin typeface="+mn-ea"/>
                <a:sym typeface="Wingdings" pitchFamily="2" charset="2"/>
              </a:rPr>
              <a:t>O</a:t>
            </a:r>
            <a:r>
              <a:rPr lang="en-US" altLang="zh-CN" sz="3000" b="1" baseline="-25000" dirty="0" smtClean="0">
                <a:latin typeface="+mn-ea"/>
                <a:sym typeface="Wingdings" pitchFamily="2" charset="2"/>
              </a:rPr>
              <a:t>3</a:t>
            </a:r>
            <a:endParaRPr lang="ms-MY" altLang="en-US" sz="30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009299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6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idx="1"/>
          </p:nvPr>
        </p:nvSpPr>
        <p:spPr>
          <a:xfrm>
            <a:off x="685800" y="152400"/>
            <a:ext cx="8305800" cy="6705600"/>
          </a:xfrm>
          <a:extLst>
            <a:ext uri="{909E8E84-426E-40DD-AFC4-6F175D3DCCD1}">
              <a14:hiddenFill xmlns:a14="http://schemas.microsoft.com/office/drawing/2010/main" xmlns="">
                <a:solidFill>
                  <a:srgbClr val="3A2222"/>
                </a:solidFill>
              </a14:hiddenFill>
            </a:ext>
          </a:extLst>
        </p:spPr>
        <p:txBody>
          <a:bodyPr/>
          <a:lstStyle/>
          <a:p>
            <a:pPr marL="0" indent="0"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en-US" altLang="zh-CN" sz="4000" b="1" u="sng" dirty="0" smtClean="0">
                <a:latin typeface="+mn-ea"/>
              </a:rPr>
              <a:t>11.1.2</a:t>
            </a:r>
            <a:r>
              <a:rPr lang="zh-CN" altLang="en-US" sz="4000" b="1" u="sng" dirty="0" smtClean="0">
                <a:latin typeface="+mn-ea"/>
              </a:rPr>
              <a:t>铝的化学性质</a:t>
            </a:r>
            <a:endParaRPr lang="en-US" altLang="zh-CN" b="1" dirty="0" smtClean="0">
              <a:latin typeface="+mn-ea"/>
              <a:sym typeface="Wingdings" pitchFamily="2" charset="2"/>
            </a:endParaRPr>
          </a:p>
          <a:p>
            <a:pPr lvl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zh-CN" altLang="en-US" sz="3200" b="1" dirty="0" smtClean="0">
                <a:latin typeface="+mn-ea"/>
                <a:sym typeface="Wingdings" pitchFamily="2" charset="2"/>
              </a:rPr>
              <a:t>加热时能与非金属反应</a:t>
            </a:r>
            <a:endParaRPr lang="en-US" altLang="zh-CN" sz="3200" b="1" dirty="0" smtClean="0">
              <a:latin typeface="+mn-ea"/>
              <a:sym typeface="Wingdings" pitchFamily="2" charset="2"/>
            </a:endParaRPr>
          </a:p>
          <a:p>
            <a:pPr lvl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sz="3200" b="1" dirty="0" smtClean="0">
                <a:latin typeface="+mn-ea"/>
                <a:sym typeface="Wingdings" pitchFamily="2" charset="2"/>
              </a:rPr>
              <a:t>2 Al + 3 S  </a:t>
            </a:r>
          </a:p>
          <a:p>
            <a:pPr lvl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sz="3200" b="1" dirty="0" smtClean="0">
                <a:latin typeface="+mn-ea"/>
                <a:sym typeface="Wingdings" pitchFamily="2" charset="2"/>
              </a:rPr>
              <a:t>2 Al + 3 Cl</a:t>
            </a:r>
            <a:r>
              <a:rPr lang="en-US" altLang="zh-CN" sz="3200" b="1" baseline="-25000" dirty="0" smtClean="0">
                <a:latin typeface="+mn-ea"/>
                <a:sym typeface="Wingdings" pitchFamily="2" charset="2"/>
              </a:rPr>
              <a:t>2</a:t>
            </a:r>
            <a:r>
              <a:rPr lang="en-US" altLang="zh-CN" sz="3200" b="1" dirty="0" smtClean="0">
                <a:latin typeface="+mn-ea"/>
                <a:sym typeface="Wingdings" pitchFamily="2" charset="2"/>
              </a:rPr>
              <a:t> </a:t>
            </a:r>
          </a:p>
          <a:p>
            <a:pPr lvl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zh-CN" altLang="en-US" sz="3200" b="1" dirty="0" smtClean="0">
                <a:latin typeface="+mn-ea"/>
                <a:sym typeface="Wingdings" pitchFamily="2" charset="2"/>
              </a:rPr>
              <a:t>熔融状态能与水剧烈反应</a:t>
            </a:r>
            <a:endParaRPr lang="en-US" altLang="en-US" sz="3200" b="1" dirty="0" smtClean="0">
              <a:latin typeface="+mn-ea"/>
              <a:sym typeface="Wingdings" pitchFamily="2" charset="2"/>
            </a:endParaRPr>
          </a:p>
          <a:p>
            <a:pPr lvl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en-US" sz="3200" b="1" dirty="0" smtClean="0">
                <a:latin typeface="+mn-ea"/>
                <a:sym typeface="Wingdings" pitchFamily="2" charset="2"/>
              </a:rPr>
              <a:t> 2Al + 3 H</a:t>
            </a:r>
            <a:r>
              <a:rPr lang="en-US" altLang="en-US" sz="3200" b="1" baseline="-25000" dirty="0" smtClean="0">
                <a:latin typeface="+mn-ea"/>
                <a:sym typeface="Wingdings" pitchFamily="2" charset="2"/>
              </a:rPr>
              <a:t>2</a:t>
            </a:r>
            <a:r>
              <a:rPr lang="en-US" altLang="en-US" sz="3200" b="1" dirty="0" smtClean="0">
                <a:latin typeface="+mn-ea"/>
                <a:sym typeface="Wingdings" pitchFamily="2" charset="2"/>
              </a:rPr>
              <a:t>O </a:t>
            </a:r>
            <a:endParaRPr lang="ms-MY" altLang="en-US" b="1" dirty="0">
              <a:latin typeface="+mn-ea"/>
            </a:endParaRP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3810000" y="1828800"/>
            <a:ext cx="22860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3A2222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altLang="zh-CN" sz="3200" b="1" kern="0" dirty="0" smtClean="0">
                <a:solidFill>
                  <a:srgbClr val="3A2222"/>
                </a:solidFill>
                <a:latin typeface="+mn-ea"/>
                <a:sym typeface="Wingdings" pitchFamily="2" charset="2"/>
              </a:rPr>
              <a:t>Al</a:t>
            </a:r>
            <a:r>
              <a:rPr kumimoji="0" lang="en-US" altLang="zh-CN" sz="3200" b="1" i="0" u="none" strike="noStrike" kern="0" cap="none" spc="0" normalizeH="0" baseline="-25000" noProof="0" dirty="0" smtClean="0">
                <a:ln>
                  <a:noFill/>
                </a:ln>
                <a:solidFill>
                  <a:srgbClr val="3A2222"/>
                </a:solidFill>
                <a:effectLst/>
                <a:uLnTx/>
                <a:uFillTx/>
                <a:latin typeface="+mn-ea"/>
                <a:ea typeface="+mn-ea"/>
                <a:cs typeface="+mn-cs"/>
                <a:sym typeface="Wingdings" pitchFamily="2" charset="2"/>
              </a:rPr>
              <a:t>2</a:t>
            </a:r>
            <a:r>
              <a:rPr kumimoji="0" lang="en-US" altLang="zh-CN" sz="3200" b="1" i="0" u="none" strike="noStrike" kern="0" cap="none" spc="0" normalizeH="0" noProof="0" dirty="0" smtClean="0">
                <a:ln>
                  <a:noFill/>
                </a:ln>
                <a:solidFill>
                  <a:srgbClr val="3A2222"/>
                </a:solidFill>
                <a:effectLst/>
                <a:uLnTx/>
                <a:uFillTx/>
                <a:latin typeface="+mn-ea"/>
                <a:ea typeface="+mn-ea"/>
                <a:cs typeface="+mn-cs"/>
                <a:sym typeface="Wingdings" pitchFamily="2" charset="2"/>
              </a:rPr>
              <a:t>S</a:t>
            </a:r>
            <a:r>
              <a:rPr lang="en-US" altLang="zh-CN" sz="3200" b="1" kern="0" baseline="-25000" dirty="0" smtClean="0">
                <a:solidFill>
                  <a:srgbClr val="3A2222"/>
                </a:solidFill>
                <a:latin typeface="+mn-ea"/>
                <a:sym typeface="Wingdings" pitchFamily="2" charset="2"/>
              </a:rPr>
              <a:t>3</a:t>
            </a:r>
            <a:endParaRPr kumimoji="0" lang="en-US" altLang="zh-CN" sz="3200" b="1" i="0" u="none" strike="noStrike" kern="0" cap="none" spc="0" normalizeH="0" baseline="0" noProof="0" dirty="0" smtClean="0">
              <a:ln>
                <a:noFill/>
              </a:ln>
              <a:solidFill>
                <a:srgbClr val="3A2222"/>
              </a:solidFill>
              <a:effectLst/>
              <a:uLnTx/>
              <a:uFillTx/>
              <a:latin typeface="+mn-ea"/>
              <a:ea typeface="+mn-ea"/>
              <a:cs typeface="+mn-cs"/>
              <a:sym typeface="Wingdings" pitchFamily="2" charset="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altLang="zh-CN" sz="3200" b="1" i="0" u="none" strike="noStrike" kern="0" cap="none" spc="0" normalizeH="0" baseline="0" noProof="0" dirty="0" smtClean="0">
              <a:ln>
                <a:noFill/>
              </a:ln>
              <a:solidFill>
                <a:srgbClr val="3A2222"/>
              </a:solidFill>
              <a:effectLst/>
              <a:uLnTx/>
              <a:uFillTx/>
              <a:latin typeface="+mn-ea"/>
              <a:ea typeface="+mn-ea"/>
              <a:cs typeface="+mn-cs"/>
              <a:sym typeface="Wingdings" pitchFamily="2" charset="2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3962400" y="2667000"/>
            <a:ext cx="22860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3A2222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altLang="zh-CN" sz="3200" b="1" kern="0" dirty="0" smtClean="0">
                <a:solidFill>
                  <a:srgbClr val="3A2222"/>
                </a:solidFill>
                <a:latin typeface="+mn-ea"/>
                <a:sym typeface="Wingdings" pitchFamily="2" charset="2"/>
              </a:rPr>
              <a:t>2 AlCl</a:t>
            </a:r>
            <a:r>
              <a:rPr lang="en-US" altLang="zh-CN" sz="3200" b="1" kern="0" baseline="-25000" dirty="0" smtClean="0">
                <a:solidFill>
                  <a:srgbClr val="3A2222"/>
                </a:solidFill>
                <a:latin typeface="+mn-ea"/>
                <a:sym typeface="Wingdings" pitchFamily="2" charset="2"/>
              </a:rPr>
              <a:t>3</a:t>
            </a:r>
            <a:endParaRPr kumimoji="0" lang="en-US" altLang="zh-CN" sz="3200" b="1" i="0" u="none" strike="noStrike" kern="0" cap="none" spc="0" normalizeH="0" baseline="0" noProof="0" dirty="0" smtClean="0">
              <a:ln>
                <a:noFill/>
              </a:ln>
              <a:solidFill>
                <a:srgbClr val="3A2222"/>
              </a:solidFill>
              <a:effectLst/>
              <a:uLnTx/>
              <a:uFillTx/>
              <a:latin typeface="+mn-ea"/>
              <a:ea typeface="+mn-ea"/>
              <a:cs typeface="+mn-cs"/>
              <a:sym typeface="Wingdings" pitchFamily="2" charset="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altLang="zh-CN" sz="3200" b="1" i="0" u="none" strike="noStrike" kern="0" cap="none" spc="0" normalizeH="0" baseline="0" noProof="0" dirty="0" smtClean="0">
              <a:ln>
                <a:noFill/>
              </a:ln>
              <a:solidFill>
                <a:srgbClr val="3A2222"/>
              </a:solidFill>
              <a:effectLst/>
              <a:uLnTx/>
              <a:uFillTx/>
              <a:latin typeface="+mn-ea"/>
              <a:ea typeface="+mn-ea"/>
              <a:cs typeface="+mn-cs"/>
              <a:sym typeface="Wingdings" pitchFamily="2" charset="2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3962400" y="4419600"/>
            <a:ext cx="33528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3A2222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altLang="zh-CN" sz="3200" b="1" kern="0" dirty="0" smtClean="0">
                <a:solidFill>
                  <a:srgbClr val="3A2222"/>
                </a:solidFill>
                <a:latin typeface="+mn-ea"/>
                <a:sym typeface="Wingdings" pitchFamily="2" charset="2"/>
              </a:rPr>
              <a:t>Al</a:t>
            </a:r>
            <a:r>
              <a:rPr lang="en-US" altLang="zh-CN" sz="3200" b="1" kern="0" baseline="-25000" dirty="0" smtClean="0">
                <a:solidFill>
                  <a:srgbClr val="3A2222"/>
                </a:solidFill>
                <a:latin typeface="+mn-ea"/>
                <a:sym typeface="Wingdings" pitchFamily="2" charset="2"/>
              </a:rPr>
              <a:t>2</a:t>
            </a:r>
            <a:r>
              <a:rPr lang="en-US" altLang="zh-CN" sz="3200" b="1" kern="0" dirty="0" smtClean="0">
                <a:solidFill>
                  <a:srgbClr val="3A2222"/>
                </a:solidFill>
                <a:latin typeface="+mn-ea"/>
                <a:sym typeface="Wingdings" pitchFamily="2" charset="2"/>
              </a:rPr>
              <a:t>O</a:t>
            </a:r>
            <a:r>
              <a:rPr lang="en-US" altLang="zh-CN" sz="3200" b="1" kern="0" baseline="-25000" dirty="0" smtClean="0">
                <a:solidFill>
                  <a:srgbClr val="3A2222"/>
                </a:solidFill>
                <a:latin typeface="+mn-ea"/>
                <a:sym typeface="Wingdings" pitchFamily="2" charset="2"/>
              </a:rPr>
              <a:t>3</a:t>
            </a:r>
            <a:r>
              <a:rPr lang="en-US" altLang="zh-CN" sz="3200" b="1" kern="0" dirty="0" smtClean="0">
                <a:solidFill>
                  <a:srgbClr val="3A2222"/>
                </a:solidFill>
                <a:latin typeface="+mn-ea"/>
                <a:sym typeface="Wingdings" pitchFamily="2" charset="2"/>
              </a:rPr>
              <a:t> + 3 H</a:t>
            </a:r>
            <a:r>
              <a:rPr lang="en-US" altLang="zh-CN" sz="3200" b="1" kern="0" baseline="-25000" dirty="0" smtClean="0">
                <a:solidFill>
                  <a:srgbClr val="3A2222"/>
                </a:solidFill>
                <a:latin typeface="+mn-ea"/>
                <a:sym typeface="Wingdings" pitchFamily="2" charset="2"/>
              </a:rPr>
              <a:t>2</a:t>
            </a:r>
            <a:endParaRPr kumimoji="0" lang="en-US" altLang="zh-CN" sz="3200" b="1" i="0" u="none" strike="noStrike" kern="0" cap="none" spc="0" normalizeH="0" baseline="0" noProof="0" dirty="0" smtClean="0">
              <a:ln>
                <a:noFill/>
              </a:ln>
              <a:solidFill>
                <a:srgbClr val="3A2222"/>
              </a:solidFill>
              <a:effectLst/>
              <a:uLnTx/>
              <a:uFillTx/>
              <a:latin typeface="+mn-ea"/>
              <a:ea typeface="+mn-ea"/>
              <a:cs typeface="+mn-cs"/>
              <a:sym typeface="Wingdings" pitchFamily="2" charset="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altLang="zh-CN" sz="3200" b="1" i="0" u="none" strike="noStrike" kern="0" cap="none" spc="0" normalizeH="0" baseline="0" noProof="0" dirty="0" smtClean="0">
              <a:ln>
                <a:noFill/>
              </a:ln>
              <a:solidFill>
                <a:srgbClr val="3A2222"/>
              </a:solidFill>
              <a:effectLst/>
              <a:uLnTx/>
              <a:uFillTx/>
              <a:latin typeface="+mn-ea"/>
              <a:ea typeface="+mn-ea"/>
              <a:cs typeface="+mn-cs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009299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6" grpId="0" uiExpand="1" build="p"/>
      <p:bldP spid="3" grpId="0" build="p"/>
      <p:bldP spid="4" grpId="0" build="p"/>
      <p:bldP spid="5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idx="1"/>
          </p:nvPr>
        </p:nvSpPr>
        <p:spPr>
          <a:xfrm>
            <a:off x="533400" y="152400"/>
            <a:ext cx="8458200" cy="6705600"/>
          </a:xfrm>
          <a:extLst>
            <a:ext uri="{909E8E84-426E-40DD-AFC4-6F175D3DCCD1}">
              <a14:hiddenFill xmlns:a14="http://schemas.microsoft.com/office/drawing/2010/main" xmlns="">
                <a:solidFill>
                  <a:srgbClr val="3A2222"/>
                </a:solidFill>
              </a14:hiddenFill>
            </a:ext>
          </a:extLst>
        </p:spPr>
        <p:txBody>
          <a:bodyPr/>
          <a:lstStyle/>
          <a:p>
            <a:pPr marL="0" indent="0"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en-US" altLang="zh-CN" sz="4000" b="1" dirty="0" smtClean="0">
                <a:latin typeface="+mn-ea"/>
              </a:rPr>
              <a:t>  </a:t>
            </a:r>
            <a:r>
              <a:rPr lang="en-US" altLang="zh-CN" sz="4000" b="1" u="sng" dirty="0" smtClean="0">
                <a:latin typeface="+mn-ea"/>
              </a:rPr>
              <a:t>11.1.2</a:t>
            </a:r>
            <a:r>
              <a:rPr lang="zh-CN" altLang="en-US" sz="4000" b="1" u="sng" dirty="0" smtClean="0">
                <a:latin typeface="+mn-ea"/>
              </a:rPr>
              <a:t>铝的化学性质</a:t>
            </a:r>
            <a:endParaRPr lang="en-US" altLang="zh-CN" b="1" dirty="0" smtClean="0">
              <a:latin typeface="+mn-ea"/>
              <a:sym typeface="Wingdings" pitchFamily="2" charset="2"/>
            </a:endParaRPr>
          </a:p>
          <a:p>
            <a:pPr lvl="1">
              <a:spcBef>
                <a:spcPts val="600"/>
              </a:spcBef>
              <a:spcAft>
                <a:spcPts val="600"/>
              </a:spcAft>
              <a:buNone/>
            </a:pPr>
            <a:r>
              <a:rPr lang="zh-CN" altLang="en-US" sz="3100" b="1" dirty="0" smtClean="0">
                <a:latin typeface="+mn-ea"/>
                <a:sym typeface="Wingdings" pitchFamily="2" charset="2"/>
              </a:rPr>
              <a:t>活动</a:t>
            </a:r>
            <a:r>
              <a:rPr lang="en-US" altLang="zh-CN" sz="3100" b="1" dirty="0" smtClean="0">
                <a:latin typeface="+mn-ea"/>
                <a:sym typeface="Wingdings" pitchFamily="2" charset="2"/>
              </a:rPr>
              <a:t>1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zh-CN" altLang="en-US" sz="3100" b="1" dirty="0" smtClean="0">
                <a:latin typeface="+mn-ea"/>
                <a:sym typeface="Wingdings" pitchFamily="2" charset="2"/>
              </a:rPr>
              <a:t>开始时无明显现象，待氧化膜溶解后铝的表面有气泡产生。</a:t>
            </a:r>
            <a:endParaRPr lang="en-US" altLang="zh-CN" sz="3100" b="1" dirty="0" smtClean="0">
              <a:latin typeface="+mn-ea"/>
              <a:sym typeface="Wingdings" pitchFamily="2" charset="2"/>
            </a:endParaRPr>
          </a:p>
          <a:p>
            <a:pPr lvl="1">
              <a:spcBef>
                <a:spcPts val="600"/>
              </a:spcBef>
              <a:spcAft>
                <a:spcPts val="600"/>
              </a:spcAft>
              <a:buNone/>
            </a:pPr>
            <a:r>
              <a:rPr lang="zh-CN" altLang="en-US" sz="3100" b="1" dirty="0" smtClean="0">
                <a:latin typeface="+mn-ea"/>
                <a:sym typeface="Wingdings" pitchFamily="2" charset="2"/>
              </a:rPr>
              <a:t>表</a:t>
            </a:r>
            <a:r>
              <a:rPr lang="en-US" altLang="zh-CN" sz="3100" b="1" dirty="0" smtClean="0">
                <a:latin typeface="+mn-ea"/>
                <a:sym typeface="Wingdings" pitchFamily="2" charset="2"/>
              </a:rPr>
              <a:t>11-2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zh-CN" altLang="en-US" sz="3100" b="1" dirty="0" smtClean="0">
                <a:latin typeface="+mn-ea"/>
                <a:sym typeface="Wingdings" pitchFamily="2" charset="2"/>
              </a:rPr>
              <a:t>现象：铝条表面有气泡产生，试管壁发热</a:t>
            </a:r>
            <a:endParaRPr lang="en-US" altLang="zh-CN" sz="3100" b="1" dirty="0" smtClean="0">
              <a:latin typeface="+mn-ea"/>
              <a:sym typeface="Wingdings" pitchFamily="2" charset="2"/>
            </a:endParaRPr>
          </a:p>
          <a:p>
            <a:pPr lvl="1"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zh-CN" altLang="en-US" sz="3100" b="1" dirty="0" smtClean="0">
                <a:latin typeface="+mn-ea"/>
                <a:sym typeface="Wingdings" pitchFamily="2" charset="2"/>
              </a:rPr>
              <a:t>反应式：</a:t>
            </a:r>
            <a:r>
              <a:rPr lang="en-US" altLang="en-US" sz="3100" b="1" dirty="0" smtClean="0">
                <a:latin typeface="+mn-ea"/>
                <a:sym typeface="Wingdings" pitchFamily="2" charset="2"/>
              </a:rPr>
              <a:t>2 Al + </a:t>
            </a:r>
            <a:r>
              <a:rPr lang="en-US" altLang="zh-CN" sz="3100" b="1" dirty="0" smtClean="0">
                <a:latin typeface="+mn-ea"/>
                <a:sym typeface="Wingdings" pitchFamily="2" charset="2"/>
              </a:rPr>
              <a:t>6</a:t>
            </a:r>
            <a:r>
              <a:rPr lang="en-US" altLang="en-US" sz="3100" b="1" dirty="0" smtClean="0">
                <a:latin typeface="+mn-ea"/>
                <a:sym typeface="Wingdings" pitchFamily="2" charset="2"/>
              </a:rPr>
              <a:t> </a:t>
            </a:r>
            <a:r>
              <a:rPr lang="en-US" altLang="en-US" sz="3100" b="1" dirty="0" err="1" smtClean="0">
                <a:latin typeface="+mn-ea"/>
                <a:sym typeface="Wingdings" pitchFamily="2" charset="2"/>
              </a:rPr>
              <a:t>H</a:t>
            </a:r>
            <a:r>
              <a:rPr lang="en-US" altLang="zh-CN" sz="3100" b="1" dirty="0" err="1" smtClean="0">
                <a:latin typeface="+mn-ea"/>
                <a:sym typeface="Wingdings" pitchFamily="2" charset="2"/>
              </a:rPr>
              <a:t>Cl</a:t>
            </a:r>
            <a:r>
              <a:rPr lang="en-US" altLang="en-US" sz="3100" b="1" dirty="0" smtClean="0">
                <a:latin typeface="+mn-ea"/>
                <a:sym typeface="Wingdings" pitchFamily="2" charset="2"/>
              </a:rPr>
              <a:t> </a:t>
            </a:r>
            <a:endParaRPr lang="en-US" altLang="zh-CN" sz="3100" b="1" dirty="0" smtClean="0">
              <a:latin typeface="+mn-ea"/>
            </a:endParaRPr>
          </a:p>
          <a:p>
            <a:pPr lvl="1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sz="3100" b="1" dirty="0" smtClean="0">
                <a:latin typeface="+mn-ea"/>
              </a:rPr>
              <a:t>2 Al + 2 </a:t>
            </a:r>
            <a:r>
              <a:rPr lang="en-US" altLang="zh-CN" sz="3100" b="1" dirty="0" err="1" smtClean="0">
                <a:latin typeface="+mn-ea"/>
              </a:rPr>
              <a:t>NaOH</a:t>
            </a:r>
            <a:r>
              <a:rPr lang="en-US" altLang="zh-CN" sz="3100" b="1" dirty="0" smtClean="0">
                <a:latin typeface="+mn-ea"/>
              </a:rPr>
              <a:t> + 2H</a:t>
            </a:r>
            <a:r>
              <a:rPr lang="en-US" altLang="zh-CN" sz="3100" b="1" baseline="-25000" dirty="0" smtClean="0">
                <a:latin typeface="+mn-ea"/>
              </a:rPr>
              <a:t>2</a:t>
            </a:r>
            <a:r>
              <a:rPr lang="en-US" altLang="zh-CN" sz="3100" b="1" dirty="0" smtClean="0">
                <a:latin typeface="+mn-ea"/>
              </a:rPr>
              <a:t>O</a:t>
            </a:r>
            <a:r>
              <a:rPr lang="en-US" altLang="zh-CN" sz="3100" b="1" dirty="0" smtClean="0">
                <a:latin typeface="+mn-ea"/>
                <a:sym typeface="Wingdings" pitchFamily="2" charset="2"/>
              </a:rPr>
              <a:t>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None/>
            </a:pPr>
            <a:r>
              <a:rPr lang="zh-CN" altLang="en-US" sz="3100" b="1" dirty="0" smtClean="0">
                <a:latin typeface="+mn-ea"/>
                <a:sym typeface="Wingdings" pitchFamily="2" charset="2"/>
              </a:rPr>
              <a:t>活动</a:t>
            </a:r>
            <a:r>
              <a:rPr lang="en-US" altLang="zh-CN" sz="3100" b="1" dirty="0" smtClean="0">
                <a:latin typeface="+mn-ea"/>
                <a:sym typeface="Wingdings" pitchFamily="2" charset="2"/>
              </a:rPr>
              <a:t>2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zh-CN" altLang="en-US" sz="3100" b="1" dirty="0" smtClean="0">
                <a:latin typeface="+mn-ea"/>
                <a:sym typeface="Wingdings" pitchFamily="2" charset="2"/>
              </a:rPr>
              <a:t>铝能与强碱反应生成氢气，其它金属不能。</a:t>
            </a:r>
            <a:endParaRPr lang="en-US" altLang="zh-CN" sz="3100" b="1" dirty="0" smtClean="0">
              <a:latin typeface="+mn-ea"/>
            </a:endParaRPr>
          </a:p>
          <a:p>
            <a:pPr lvl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ms-MY" altLang="en-US" b="1" dirty="0">
              <a:latin typeface="+mn-ea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5715000" y="3657600"/>
            <a:ext cx="33528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3A2222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altLang="zh-CN" sz="3200" b="1" kern="0" dirty="0" smtClean="0">
                <a:solidFill>
                  <a:schemeClr val="bg2">
                    <a:lumMod val="10000"/>
                  </a:schemeClr>
                </a:solidFill>
                <a:latin typeface="+mn-ea"/>
                <a:sym typeface="Wingdings" pitchFamily="2" charset="2"/>
              </a:rPr>
              <a:t>2 AlCl</a:t>
            </a:r>
            <a:r>
              <a:rPr lang="en-US" altLang="zh-CN" sz="3200" b="1" kern="0" baseline="-25000" dirty="0" smtClean="0">
                <a:solidFill>
                  <a:schemeClr val="bg2">
                    <a:lumMod val="10000"/>
                  </a:schemeClr>
                </a:solidFill>
                <a:latin typeface="+mn-ea"/>
                <a:sym typeface="Wingdings" pitchFamily="2" charset="2"/>
              </a:rPr>
              <a:t>3</a:t>
            </a:r>
            <a:r>
              <a:rPr lang="en-US" altLang="zh-CN" sz="3200" b="1" kern="0" dirty="0" smtClean="0">
                <a:solidFill>
                  <a:schemeClr val="bg2">
                    <a:lumMod val="10000"/>
                  </a:schemeClr>
                </a:solidFill>
                <a:latin typeface="+mn-ea"/>
                <a:sym typeface="Wingdings" pitchFamily="2" charset="2"/>
              </a:rPr>
              <a:t> + 3 H</a:t>
            </a:r>
            <a:r>
              <a:rPr lang="en-US" altLang="zh-CN" sz="3200" b="1" kern="0" baseline="-25000" dirty="0" smtClean="0">
                <a:solidFill>
                  <a:schemeClr val="bg2">
                    <a:lumMod val="10000"/>
                  </a:schemeClr>
                </a:solidFill>
                <a:latin typeface="+mn-ea"/>
                <a:sym typeface="Wingdings" pitchFamily="2" charset="2"/>
              </a:rPr>
              <a:t>2</a:t>
            </a:r>
            <a:endParaRPr kumimoji="0" lang="en-US" altLang="zh-CN" sz="3200" b="1" i="0" u="none" strike="noStrike" kern="0" cap="none" spc="0" normalizeH="0" baseline="0" noProof="0" dirty="0" smtClean="0">
              <a:ln>
                <a:noFill/>
              </a:ln>
              <a:solidFill>
                <a:schemeClr val="bg2">
                  <a:lumMod val="10000"/>
                </a:schemeClr>
              </a:solidFill>
              <a:effectLst/>
              <a:uLnTx/>
              <a:uFillTx/>
              <a:latin typeface="+mn-ea"/>
              <a:ea typeface="+mn-ea"/>
              <a:cs typeface="+mn-cs"/>
              <a:sym typeface="Wingdings" pitchFamily="2" charset="2"/>
            </a:endParaRP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5410200" y="4343400"/>
            <a:ext cx="33528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3A2222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en-US" altLang="zh-CN" sz="3200" b="1" kern="0" dirty="0" smtClean="0">
                <a:solidFill>
                  <a:schemeClr val="bg2">
                    <a:lumMod val="10000"/>
                  </a:schemeClr>
                </a:solidFill>
                <a:latin typeface="+mn-ea"/>
                <a:sym typeface="Wingdings" pitchFamily="2" charset="2"/>
              </a:rPr>
              <a:t> </a:t>
            </a:r>
            <a:r>
              <a:rPr lang="en-US" altLang="zh-CN" sz="3200" b="1" dirty="0" smtClean="0">
                <a:solidFill>
                  <a:schemeClr val="bg2">
                    <a:lumMod val="10000"/>
                  </a:schemeClr>
                </a:solidFill>
                <a:latin typeface="+mn-ea"/>
                <a:sym typeface="Wingdings" pitchFamily="2" charset="2"/>
              </a:rPr>
              <a:t>2 NaAlO</a:t>
            </a:r>
            <a:r>
              <a:rPr lang="en-US" altLang="zh-CN" sz="3200" b="1" baseline="-25000" dirty="0" smtClean="0">
                <a:solidFill>
                  <a:schemeClr val="bg2">
                    <a:lumMod val="10000"/>
                  </a:schemeClr>
                </a:solidFill>
                <a:latin typeface="+mn-ea"/>
                <a:sym typeface="Wingdings" pitchFamily="2" charset="2"/>
              </a:rPr>
              <a:t>2</a:t>
            </a:r>
            <a:r>
              <a:rPr lang="en-US" altLang="zh-CN" sz="3200" b="1" dirty="0" smtClean="0">
                <a:solidFill>
                  <a:schemeClr val="bg2">
                    <a:lumMod val="10000"/>
                  </a:schemeClr>
                </a:solidFill>
                <a:latin typeface="+mn-ea"/>
                <a:sym typeface="Wingdings" pitchFamily="2" charset="2"/>
              </a:rPr>
              <a:t> + 3 H</a:t>
            </a:r>
            <a:r>
              <a:rPr lang="en-US" altLang="zh-CN" sz="3200" b="1" baseline="-25000" dirty="0" smtClean="0">
                <a:solidFill>
                  <a:schemeClr val="bg2">
                    <a:lumMod val="10000"/>
                  </a:schemeClr>
                </a:solidFill>
                <a:latin typeface="+mn-ea"/>
                <a:sym typeface="Wingdings" pitchFamily="2" charset="2"/>
              </a:rPr>
              <a:t>2</a:t>
            </a:r>
            <a:endParaRPr kumimoji="0" lang="en-US" altLang="zh-CN" sz="3200" b="1" i="0" u="none" strike="noStrike" kern="0" cap="none" spc="0" normalizeH="0" baseline="0" noProof="0" dirty="0" smtClean="0">
              <a:ln>
                <a:noFill/>
              </a:ln>
              <a:solidFill>
                <a:schemeClr val="bg2">
                  <a:lumMod val="10000"/>
                </a:schemeClr>
              </a:solidFill>
              <a:effectLst/>
              <a:uLnTx/>
              <a:uFillTx/>
              <a:latin typeface="+mn-ea"/>
              <a:ea typeface="+mn-ea"/>
              <a:cs typeface="+mn-cs"/>
              <a:sym typeface="Wingdings" pitchFamily="2" charset="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altLang="zh-CN" sz="3200" b="1" i="0" u="none" strike="noStrike" kern="0" cap="none" spc="0" normalizeH="0" baseline="0" noProof="0" dirty="0" smtClean="0">
              <a:ln>
                <a:noFill/>
              </a:ln>
              <a:solidFill>
                <a:schemeClr val="bg2">
                  <a:lumMod val="10000"/>
                </a:schemeClr>
              </a:solidFill>
              <a:effectLst/>
              <a:uLnTx/>
              <a:uFillTx/>
              <a:latin typeface="+mn-ea"/>
              <a:ea typeface="+mn-ea"/>
              <a:cs typeface="+mn-cs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009299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61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61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614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6" grpId="1" uiExpand="1" build="p"/>
      <p:bldP spid="5" grpId="0" build="p"/>
      <p:bldP spid="6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idx="1"/>
          </p:nvPr>
        </p:nvSpPr>
        <p:spPr>
          <a:xfrm>
            <a:off x="609600" y="152400"/>
            <a:ext cx="8382000" cy="6705600"/>
          </a:xfrm>
          <a:extLst>
            <a:ext uri="{909E8E84-426E-40DD-AFC4-6F175D3DCCD1}">
              <a14:hiddenFill xmlns:a14="http://schemas.microsoft.com/office/drawing/2010/main" xmlns="">
                <a:solidFill>
                  <a:srgbClr val="3A2222"/>
                </a:solidFill>
              </a14:hiddenFill>
            </a:ext>
          </a:extLst>
        </p:spPr>
        <p:txBody>
          <a:bodyPr/>
          <a:lstStyle/>
          <a:p>
            <a:pPr marL="0" indent="0"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en-US" altLang="zh-CN" sz="4000" b="1" u="sng" dirty="0" smtClean="0">
                <a:latin typeface="+mn-ea"/>
              </a:rPr>
              <a:t>11.1.2</a:t>
            </a:r>
            <a:r>
              <a:rPr lang="zh-CN" altLang="en-US" sz="4000" b="1" u="sng" dirty="0" smtClean="0">
                <a:latin typeface="+mn-ea"/>
              </a:rPr>
              <a:t>铝的化学性质</a:t>
            </a:r>
            <a:endParaRPr lang="en-US" altLang="zh-CN" sz="4000" b="1" u="sng" dirty="0" smtClean="0">
              <a:latin typeface="+mn-ea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3000" b="1" dirty="0" smtClean="0">
                <a:latin typeface="+mn-ea"/>
              </a:rPr>
              <a:t>铝是</a:t>
            </a:r>
            <a:r>
              <a:rPr lang="zh-CN" altLang="en-US" sz="3000" b="1" u="sng" dirty="0" smtClean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两性金属</a:t>
            </a:r>
            <a:r>
              <a:rPr lang="zh-CN" altLang="en-US" sz="3000" b="1" dirty="0" smtClean="0">
                <a:latin typeface="+mn-ea"/>
              </a:rPr>
              <a:t>，能与酸反应又能与强碱反应生成盐和氢气。</a:t>
            </a:r>
            <a:endParaRPr lang="en-US" altLang="zh-CN" sz="3000" b="1" dirty="0" smtClean="0">
              <a:latin typeface="+mn-ea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3000" b="1" dirty="0" smtClean="0">
                <a:latin typeface="+mn-ea"/>
                <a:sym typeface="Wingdings" pitchFamily="2" charset="2"/>
              </a:rPr>
              <a:t>常温下，铝在浓硝酸或浓硫酸中表面被</a:t>
            </a:r>
            <a:r>
              <a:rPr lang="zh-CN" altLang="en-US" sz="3000" b="1" u="sng" dirty="0" smtClean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sym typeface="Wingdings" pitchFamily="2" charset="2"/>
              </a:rPr>
              <a:t>钝化</a:t>
            </a:r>
            <a:r>
              <a:rPr lang="zh-CN" altLang="en-US" sz="3000" b="1" dirty="0" smtClean="0">
                <a:latin typeface="+mn-ea"/>
                <a:sym typeface="Wingdings" pitchFamily="2" charset="2"/>
              </a:rPr>
              <a:t>，生成致密而坚固的氧化膜，阻止内部金属被氧化。</a:t>
            </a:r>
            <a:endParaRPr lang="en-US" altLang="zh-CN" sz="3000" b="1" dirty="0" smtClean="0">
              <a:latin typeface="+mn-ea"/>
              <a:sym typeface="Wingdings" pitchFamily="2" charset="2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3000" b="1" dirty="0" smtClean="0">
                <a:latin typeface="+mn-ea"/>
                <a:sym typeface="Wingdings" pitchFamily="2" charset="2"/>
              </a:rPr>
              <a:t>铝制容器可储存冷浓硫酸或冷浓硝酸。</a:t>
            </a:r>
            <a:endParaRPr lang="en-US" altLang="zh-CN" sz="3000" b="1" dirty="0" smtClean="0">
              <a:latin typeface="+mn-ea"/>
              <a:sym typeface="Wingdings" pitchFamily="2" charset="2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endParaRPr lang="ms-MY" altLang="en-US" sz="30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009299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6" grpId="1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idx="1"/>
          </p:nvPr>
        </p:nvSpPr>
        <p:spPr>
          <a:xfrm>
            <a:off x="685800" y="152400"/>
            <a:ext cx="8305800" cy="6705600"/>
          </a:xfrm>
          <a:extLst>
            <a:ext uri="{909E8E84-426E-40DD-AFC4-6F175D3DCCD1}">
              <a14:hiddenFill xmlns:a14="http://schemas.microsoft.com/office/drawing/2010/main" xmlns="">
                <a:solidFill>
                  <a:srgbClr val="3A2222"/>
                </a:solidFill>
              </a14:hiddenFill>
            </a:ext>
          </a:extLst>
        </p:spPr>
        <p:txBody>
          <a:bodyPr/>
          <a:lstStyle/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en-US" altLang="zh-CN" sz="4000" b="1" u="sng" dirty="0" smtClean="0">
                <a:latin typeface="+mn-ea"/>
              </a:rPr>
              <a:t>11.1.2</a:t>
            </a:r>
            <a:r>
              <a:rPr lang="zh-CN" altLang="en-US" sz="4000" b="1" u="sng" dirty="0" smtClean="0">
                <a:latin typeface="+mn-ea"/>
              </a:rPr>
              <a:t>铝的化学性质</a:t>
            </a:r>
            <a:endParaRPr lang="en-US" altLang="zh-CN" b="1" dirty="0" smtClean="0">
              <a:latin typeface="+mn-ea"/>
              <a:sym typeface="Wingdings" pitchFamily="2" charset="2"/>
            </a:endParaRPr>
          </a:p>
          <a:p>
            <a:pPr marL="0" indent="0">
              <a:spcBef>
                <a:spcPts val="600"/>
              </a:spcBef>
              <a:spcAft>
                <a:spcPts val="600"/>
              </a:spcAft>
            </a:pPr>
            <a:r>
              <a:rPr lang="en-US" altLang="zh-CN" sz="3200" b="1" dirty="0" smtClean="0">
                <a:latin typeface="+mn-ea"/>
                <a:sym typeface="Wingdings" pitchFamily="2" charset="2"/>
              </a:rPr>
              <a:t> </a:t>
            </a:r>
            <a:r>
              <a:rPr lang="zh-CN" altLang="en-US" sz="3200" b="1" dirty="0" smtClean="0">
                <a:latin typeface="+mn-ea"/>
                <a:sym typeface="Wingdings" pitchFamily="2" charset="2"/>
              </a:rPr>
              <a:t>在一定条件下，能和</a:t>
            </a:r>
            <a:r>
              <a:rPr lang="en-US" altLang="zh-CN" sz="3200" b="1" dirty="0" smtClean="0">
                <a:latin typeface="+mn-ea"/>
                <a:sym typeface="Wingdings" pitchFamily="2" charset="2"/>
              </a:rPr>
              <a:t> </a:t>
            </a:r>
            <a:r>
              <a:rPr lang="zh-CN" altLang="en-US" sz="3200" b="1" dirty="0" smtClean="0">
                <a:latin typeface="+mn-ea"/>
                <a:sym typeface="Wingdings" pitchFamily="2" charset="2"/>
              </a:rPr>
              <a:t>某些氧化物发生置换反应，同时</a:t>
            </a:r>
            <a:r>
              <a:rPr lang="zh-CN" altLang="en-US" sz="3200" b="1" u="sng" dirty="0" smtClean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sym typeface="Wingdings" pitchFamily="2" charset="2"/>
              </a:rPr>
              <a:t>放出</a:t>
            </a:r>
            <a:r>
              <a:rPr lang="zh-CN" altLang="en-US" sz="3200" b="1" dirty="0" smtClean="0">
                <a:latin typeface="+mn-ea"/>
                <a:sym typeface="Wingdings" pitchFamily="2" charset="2"/>
              </a:rPr>
              <a:t>大量的热。</a:t>
            </a:r>
            <a:endParaRPr lang="en-US" altLang="zh-CN" sz="3200" b="1" dirty="0" smtClean="0">
              <a:latin typeface="+mn-ea"/>
              <a:sym typeface="Wingdings" pitchFamily="2" charset="2"/>
            </a:endParaRP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b="1" dirty="0" smtClean="0">
                <a:latin typeface="+mn-ea"/>
              </a:rPr>
              <a:t>4 Al + 3CO</a:t>
            </a:r>
            <a:r>
              <a:rPr lang="en-US" altLang="zh-CN" b="1" baseline="-25000" dirty="0" smtClean="0">
                <a:latin typeface="+mn-ea"/>
              </a:rPr>
              <a:t>2</a:t>
            </a:r>
            <a:r>
              <a:rPr lang="en-US" altLang="zh-CN" b="1" dirty="0" smtClean="0">
                <a:latin typeface="+mn-ea"/>
              </a:rPr>
              <a:t> </a:t>
            </a:r>
            <a:r>
              <a:rPr lang="en-US" altLang="zh-CN" b="1" dirty="0" smtClean="0">
                <a:latin typeface="+mn-ea"/>
                <a:sym typeface="Wingdings" pitchFamily="2" charset="2"/>
              </a:rPr>
              <a:t></a:t>
            </a:r>
            <a:r>
              <a:rPr lang="en-US" altLang="zh-CN" sz="3200" b="1" dirty="0" smtClean="0">
                <a:latin typeface="+mn-ea"/>
              </a:rPr>
              <a:t> 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sz="3200" b="1" dirty="0" smtClean="0">
                <a:latin typeface="+mn-ea"/>
              </a:rPr>
              <a:t>2 Al + Fe</a:t>
            </a:r>
            <a:r>
              <a:rPr lang="en-US" altLang="zh-CN" sz="3200" b="1" baseline="-25000" dirty="0" smtClean="0">
                <a:latin typeface="+mn-ea"/>
              </a:rPr>
              <a:t>2</a:t>
            </a:r>
            <a:r>
              <a:rPr lang="en-US" altLang="zh-CN" sz="3200" b="1" dirty="0" smtClean="0">
                <a:latin typeface="+mn-ea"/>
              </a:rPr>
              <a:t>O</a:t>
            </a:r>
            <a:r>
              <a:rPr lang="en-US" altLang="zh-CN" sz="3200" b="1" baseline="-25000" dirty="0" smtClean="0">
                <a:latin typeface="+mn-ea"/>
              </a:rPr>
              <a:t>3</a:t>
            </a:r>
            <a:r>
              <a:rPr lang="en-US" altLang="zh-CN" sz="3200" b="1" dirty="0" smtClean="0">
                <a:latin typeface="+mn-ea"/>
              </a:rPr>
              <a:t> </a:t>
            </a:r>
            <a:r>
              <a:rPr lang="en-US" altLang="zh-CN" sz="3200" b="1" dirty="0" smtClean="0">
                <a:latin typeface="+mn-ea"/>
                <a:sym typeface="Wingdings" pitchFamily="2" charset="2"/>
              </a:rPr>
              <a:t>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b="1" dirty="0" smtClean="0">
                <a:latin typeface="+mn-ea"/>
                <a:sym typeface="Wingdings" pitchFamily="2" charset="2"/>
              </a:rPr>
              <a:t>2 Al + CrO</a:t>
            </a:r>
            <a:r>
              <a:rPr lang="en-US" altLang="zh-CN" b="1" baseline="-25000" dirty="0" smtClean="0">
                <a:latin typeface="+mn-ea"/>
                <a:sym typeface="Wingdings" pitchFamily="2" charset="2"/>
              </a:rPr>
              <a:t>3</a:t>
            </a:r>
            <a:r>
              <a:rPr lang="en-US" altLang="zh-CN" b="1" dirty="0" smtClean="0">
                <a:latin typeface="+mn-ea"/>
                <a:sym typeface="Wingdings" pitchFamily="2" charset="2"/>
              </a:rPr>
              <a:t>  </a:t>
            </a:r>
            <a:endParaRPr lang="ms-MY" altLang="zh-CN" b="1" dirty="0" smtClean="0">
              <a:latin typeface="+mn-ea"/>
              <a:sym typeface="Wingdings" pitchFamily="2" charset="2"/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b="1" dirty="0" smtClean="0">
                <a:latin typeface="+mn-ea"/>
                <a:sym typeface="Wingdings" pitchFamily="2" charset="2"/>
              </a:rPr>
              <a:t>铝热剂：</a:t>
            </a:r>
            <a:r>
              <a:rPr lang="en-US" altLang="zh-CN" b="1" dirty="0" smtClean="0">
                <a:latin typeface="+mn-ea"/>
                <a:sym typeface="Wingdings" pitchFamily="2" charset="2"/>
              </a:rPr>
              <a:t>Al + Fe</a:t>
            </a:r>
            <a:r>
              <a:rPr lang="en-US" altLang="zh-CN" b="1" baseline="-25000" dirty="0" smtClean="0">
                <a:latin typeface="+mn-ea"/>
                <a:sym typeface="Wingdings" pitchFamily="2" charset="2"/>
              </a:rPr>
              <a:t>2</a:t>
            </a:r>
            <a:r>
              <a:rPr lang="en-US" altLang="zh-CN" b="1" dirty="0" smtClean="0">
                <a:latin typeface="+mn-ea"/>
                <a:sym typeface="Wingdings" pitchFamily="2" charset="2"/>
              </a:rPr>
              <a:t>O</a:t>
            </a:r>
            <a:r>
              <a:rPr lang="en-US" altLang="zh-CN" b="1" baseline="-25000" dirty="0" smtClean="0">
                <a:latin typeface="+mn-ea"/>
                <a:sym typeface="Wingdings" pitchFamily="2" charset="2"/>
              </a:rPr>
              <a:t>3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</a:pPr>
            <a:r>
              <a:rPr lang="zh-CN" altLang="en-US" b="1" dirty="0" smtClean="0">
                <a:latin typeface="+mn-ea"/>
                <a:sym typeface="Wingdings" pitchFamily="2" charset="2"/>
              </a:rPr>
              <a:t>铝热反应可应用在</a:t>
            </a:r>
            <a:r>
              <a:rPr lang="zh-CN" altLang="en-US" b="1" u="sng" dirty="0" smtClean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sym typeface="Wingdings" pitchFamily="2" charset="2"/>
              </a:rPr>
              <a:t>焊接钢轨、熔炼金属</a:t>
            </a:r>
            <a:r>
              <a:rPr lang="zh-CN" altLang="en-US" b="1" dirty="0" smtClean="0">
                <a:latin typeface="+mn-ea"/>
                <a:sym typeface="Wingdings" pitchFamily="2" charset="2"/>
              </a:rPr>
              <a:t>。</a:t>
            </a:r>
            <a:endParaRPr lang="en-US" altLang="zh-CN" sz="3200" b="1" dirty="0" smtClean="0">
              <a:latin typeface="+mn-ea"/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3581400" y="2743200"/>
            <a:ext cx="33528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3A2222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altLang="zh-CN" sz="3200" b="1" kern="0" dirty="0" smtClean="0">
                <a:solidFill>
                  <a:srgbClr val="3A2222"/>
                </a:solidFill>
                <a:latin typeface="+mn-ea"/>
                <a:sym typeface="Wingdings" pitchFamily="2" charset="2"/>
              </a:rPr>
              <a:t>2 Fe + Al</a:t>
            </a:r>
            <a:r>
              <a:rPr lang="en-US" altLang="zh-CN" sz="3200" b="1" kern="0" baseline="-25000" dirty="0" smtClean="0">
                <a:solidFill>
                  <a:srgbClr val="3A2222"/>
                </a:solidFill>
                <a:latin typeface="+mn-ea"/>
                <a:sym typeface="Wingdings" pitchFamily="2" charset="2"/>
              </a:rPr>
              <a:t>2</a:t>
            </a:r>
            <a:r>
              <a:rPr lang="en-US" altLang="zh-CN" sz="3200" b="1" kern="0" dirty="0" smtClean="0">
                <a:solidFill>
                  <a:srgbClr val="3A2222"/>
                </a:solidFill>
                <a:latin typeface="+mn-ea"/>
                <a:sym typeface="Wingdings" pitchFamily="2" charset="2"/>
              </a:rPr>
              <a:t>O</a:t>
            </a:r>
            <a:r>
              <a:rPr lang="en-US" altLang="zh-CN" sz="3200" b="1" kern="0" baseline="-25000" dirty="0" smtClean="0">
                <a:solidFill>
                  <a:srgbClr val="3A2222"/>
                </a:solidFill>
                <a:latin typeface="+mn-ea"/>
                <a:sym typeface="Wingdings" pitchFamily="2" charset="2"/>
              </a:rPr>
              <a:t>3</a:t>
            </a:r>
            <a:endParaRPr kumimoji="0" lang="en-US" altLang="zh-CN" sz="3200" b="1" i="0" u="none" strike="noStrike" kern="0" cap="none" spc="0" normalizeH="0" baseline="0" noProof="0" dirty="0" smtClean="0">
              <a:ln>
                <a:noFill/>
              </a:ln>
              <a:solidFill>
                <a:srgbClr val="3A2222"/>
              </a:solidFill>
              <a:effectLst/>
              <a:uLnTx/>
              <a:uFillTx/>
              <a:latin typeface="+mn-ea"/>
              <a:ea typeface="+mn-ea"/>
              <a:cs typeface="+mn-cs"/>
              <a:sym typeface="Wingdings" pitchFamily="2" charset="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altLang="zh-CN" sz="3200" b="1" i="0" u="none" strike="noStrike" kern="0" cap="none" spc="0" normalizeH="0" baseline="0" noProof="0" dirty="0" smtClean="0">
              <a:ln>
                <a:noFill/>
              </a:ln>
              <a:solidFill>
                <a:srgbClr val="3A2222"/>
              </a:solidFill>
              <a:effectLst/>
              <a:uLnTx/>
              <a:uFillTx/>
              <a:latin typeface="+mn-ea"/>
              <a:ea typeface="+mn-ea"/>
              <a:cs typeface="+mn-cs"/>
              <a:sym typeface="Wingdings" pitchFamily="2" charset="2"/>
            </a:endParaRP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3505200" y="3505200"/>
            <a:ext cx="33528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3A2222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altLang="zh-CN" sz="3200" b="1" kern="0" dirty="0" smtClean="0">
                <a:solidFill>
                  <a:srgbClr val="3A2222"/>
                </a:solidFill>
                <a:latin typeface="+mn-ea"/>
                <a:sym typeface="Wingdings" pitchFamily="2" charset="2"/>
              </a:rPr>
              <a:t>Cr + Al</a:t>
            </a:r>
            <a:r>
              <a:rPr lang="en-US" altLang="zh-CN" sz="3200" b="1" kern="0" baseline="-25000" dirty="0" smtClean="0">
                <a:solidFill>
                  <a:srgbClr val="3A2222"/>
                </a:solidFill>
                <a:latin typeface="+mn-ea"/>
                <a:sym typeface="Wingdings" pitchFamily="2" charset="2"/>
              </a:rPr>
              <a:t>2</a:t>
            </a:r>
            <a:r>
              <a:rPr lang="en-US" altLang="zh-CN" sz="3200" b="1" kern="0" dirty="0" smtClean="0">
                <a:solidFill>
                  <a:srgbClr val="3A2222"/>
                </a:solidFill>
                <a:latin typeface="+mn-ea"/>
                <a:sym typeface="Wingdings" pitchFamily="2" charset="2"/>
              </a:rPr>
              <a:t>O</a:t>
            </a:r>
            <a:r>
              <a:rPr lang="en-US" altLang="zh-CN" sz="3200" b="1" kern="0" baseline="-25000" dirty="0" smtClean="0">
                <a:solidFill>
                  <a:srgbClr val="3A2222"/>
                </a:solidFill>
                <a:latin typeface="+mn-ea"/>
                <a:sym typeface="Wingdings" pitchFamily="2" charset="2"/>
              </a:rPr>
              <a:t>3</a:t>
            </a:r>
            <a:endParaRPr kumimoji="0" lang="en-US" altLang="zh-CN" sz="3200" b="1" i="0" u="none" strike="noStrike" kern="0" cap="none" spc="0" normalizeH="0" baseline="0" noProof="0" dirty="0" smtClean="0">
              <a:ln>
                <a:noFill/>
              </a:ln>
              <a:solidFill>
                <a:srgbClr val="3A2222"/>
              </a:solidFill>
              <a:effectLst/>
              <a:uLnTx/>
              <a:uFillTx/>
              <a:latin typeface="+mn-ea"/>
              <a:ea typeface="+mn-ea"/>
              <a:cs typeface="+mn-cs"/>
              <a:sym typeface="Wingdings" pitchFamily="2" charset="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altLang="zh-CN" sz="3200" b="1" i="0" u="none" strike="noStrike" kern="0" cap="none" spc="0" normalizeH="0" baseline="0" noProof="0" dirty="0" smtClean="0">
              <a:ln>
                <a:noFill/>
              </a:ln>
              <a:solidFill>
                <a:srgbClr val="3A2222"/>
              </a:solidFill>
              <a:effectLst/>
              <a:uLnTx/>
              <a:uFillTx/>
              <a:latin typeface="+mn-ea"/>
              <a:ea typeface="+mn-ea"/>
              <a:cs typeface="+mn-cs"/>
              <a:sym typeface="Wingdings" pitchFamily="2" charset="2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3581400" y="2133600"/>
            <a:ext cx="33528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3A2222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altLang="zh-CN" sz="3200" b="1" kern="0" dirty="0" smtClean="0">
                <a:solidFill>
                  <a:srgbClr val="3A2222"/>
                </a:solidFill>
                <a:latin typeface="+mn-ea"/>
                <a:sym typeface="Wingdings" pitchFamily="2" charset="2"/>
              </a:rPr>
              <a:t>2 Al</a:t>
            </a:r>
            <a:r>
              <a:rPr lang="en-US" altLang="zh-CN" sz="3200" b="1" kern="0" baseline="-25000" dirty="0" smtClean="0">
                <a:solidFill>
                  <a:srgbClr val="3A2222"/>
                </a:solidFill>
                <a:latin typeface="+mn-ea"/>
                <a:sym typeface="Wingdings" pitchFamily="2" charset="2"/>
              </a:rPr>
              <a:t>2</a:t>
            </a:r>
            <a:r>
              <a:rPr lang="en-US" altLang="zh-CN" sz="3200" b="1" kern="0" dirty="0" smtClean="0">
                <a:solidFill>
                  <a:srgbClr val="3A2222"/>
                </a:solidFill>
                <a:latin typeface="+mn-ea"/>
                <a:sym typeface="Wingdings" pitchFamily="2" charset="2"/>
              </a:rPr>
              <a:t>O</a:t>
            </a:r>
            <a:r>
              <a:rPr lang="en-US" altLang="zh-CN" sz="3200" b="1" kern="0" baseline="-25000" dirty="0" smtClean="0">
                <a:solidFill>
                  <a:srgbClr val="3A2222"/>
                </a:solidFill>
                <a:latin typeface="+mn-ea"/>
                <a:sym typeface="Wingdings" pitchFamily="2" charset="2"/>
              </a:rPr>
              <a:t>3 </a:t>
            </a:r>
            <a:r>
              <a:rPr lang="en-US" altLang="zh-CN" sz="3200" b="1" kern="0" dirty="0" smtClean="0">
                <a:solidFill>
                  <a:srgbClr val="3A2222"/>
                </a:solidFill>
                <a:latin typeface="+mn-ea"/>
                <a:sym typeface="Wingdings" pitchFamily="2" charset="2"/>
              </a:rPr>
              <a:t> + 3C</a:t>
            </a:r>
            <a:endParaRPr kumimoji="0" lang="en-US" altLang="zh-CN" sz="3200" b="1" i="0" u="none" strike="noStrike" kern="0" cap="none" spc="0" normalizeH="0" baseline="0" noProof="0" dirty="0" smtClean="0">
              <a:ln>
                <a:noFill/>
              </a:ln>
              <a:solidFill>
                <a:srgbClr val="3A2222"/>
              </a:solidFill>
              <a:effectLst/>
              <a:uLnTx/>
              <a:uFillTx/>
              <a:latin typeface="+mn-ea"/>
              <a:ea typeface="+mn-ea"/>
              <a:cs typeface="+mn-cs"/>
              <a:sym typeface="Wingdings" pitchFamily="2" charset="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altLang="zh-CN" sz="3200" b="1" i="0" u="none" strike="noStrike" kern="0" cap="none" spc="0" normalizeH="0" baseline="0" noProof="0" dirty="0" smtClean="0">
              <a:ln>
                <a:noFill/>
              </a:ln>
              <a:solidFill>
                <a:srgbClr val="3A2222"/>
              </a:solidFill>
              <a:effectLst/>
              <a:uLnTx/>
              <a:uFillTx/>
              <a:latin typeface="+mn-ea"/>
              <a:ea typeface="+mn-ea"/>
              <a:cs typeface="+mn-cs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009299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61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61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6" grpId="0" uiExpand="1" build="p"/>
      <p:bldP spid="7" grpId="0" build="p"/>
      <p:bldP spid="8" grpId="0" build="p"/>
      <p:bldP spid="5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idx="1"/>
          </p:nvPr>
        </p:nvSpPr>
        <p:spPr>
          <a:xfrm>
            <a:off x="762000" y="152400"/>
            <a:ext cx="8229600" cy="6705600"/>
          </a:xfrm>
          <a:extLst>
            <a:ext uri="{909E8E84-426E-40DD-AFC4-6F175D3DCCD1}">
              <a14:hiddenFill xmlns:a14="http://schemas.microsoft.com/office/drawing/2010/main" xmlns="">
                <a:solidFill>
                  <a:srgbClr val="3A2222"/>
                </a:solidFill>
              </a14:hiddenFill>
            </a:ext>
          </a:extLst>
        </p:spPr>
        <p:txBody>
          <a:bodyPr/>
          <a:lstStyle/>
          <a:p>
            <a:pPr marL="0" indent="0"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en-US" altLang="zh-CN" sz="4000" b="1" u="sng" dirty="0" smtClean="0">
                <a:latin typeface="+mn-ea"/>
              </a:rPr>
              <a:t>11.1.2</a:t>
            </a:r>
            <a:r>
              <a:rPr lang="zh-CN" altLang="en-US" sz="4000" b="1" u="sng" dirty="0" smtClean="0">
                <a:latin typeface="+mn-ea"/>
              </a:rPr>
              <a:t>铝的化学性质</a:t>
            </a:r>
            <a:endParaRPr lang="en-US" altLang="zh-CN" sz="4000" b="1" u="sng" dirty="0" smtClean="0">
              <a:latin typeface="+mn-ea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zh-CN" altLang="en-US" sz="3000" b="1" dirty="0" smtClean="0">
                <a:latin typeface="+mn-ea"/>
                <a:sym typeface="Wingdings" pitchFamily="2" charset="2"/>
              </a:rPr>
              <a:t>活动</a:t>
            </a:r>
            <a:r>
              <a:rPr lang="en-US" altLang="zh-CN" sz="3000" b="1" dirty="0" smtClean="0">
                <a:latin typeface="+mn-ea"/>
                <a:sym typeface="Wingdings" pitchFamily="2" charset="2"/>
              </a:rPr>
              <a:t>3</a:t>
            </a: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3000" b="1" dirty="0" smtClean="0">
                <a:latin typeface="+mn-ea"/>
                <a:sym typeface="Wingdings" pitchFamily="2" charset="2"/>
              </a:rPr>
              <a:t>引燃镁条产生的热量使氯酸钾分解</a:t>
            </a:r>
            <a:endParaRPr lang="en-US" altLang="zh-CN" sz="3000" b="1" dirty="0" smtClean="0">
              <a:latin typeface="+mn-ea"/>
              <a:sym typeface="Wingdings" pitchFamily="2" charset="2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3000" b="1" dirty="0" smtClean="0">
                <a:latin typeface="+mn-ea"/>
                <a:sym typeface="Wingdings" pitchFamily="2" charset="2"/>
              </a:rPr>
              <a:t>氯酸钾分解产生氧气</a:t>
            </a:r>
            <a:endParaRPr lang="en-US" altLang="zh-CN" sz="3000" b="1" dirty="0" smtClean="0">
              <a:latin typeface="+mn-ea"/>
              <a:sym typeface="Wingdings" pitchFamily="2" charset="2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3000" b="1" dirty="0" smtClean="0">
                <a:latin typeface="+mn-ea"/>
                <a:sym typeface="Wingdings" pitchFamily="2" charset="2"/>
              </a:rPr>
              <a:t>氧气帮助铝热剂燃烧反应</a:t>
            </a:r>
            <a:endParaRPr lang="en-US" altLang="zh-CN" sz="3000" b="1" dirty="0" smtClean="0">
              <a:latin typeface="+mn-ea"/>
              <a:sym typeface="Wingdings" pitchFamily="2" charset="2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3000" b="1" dirty="0" smtClean="0">
                <a:latin typeface="+mn-ea"/>
                <a:sym typeface="Wingdings" pitchFamily="2" charset="2"/>
              </a:rPr>
              <a:t>现象：纸漏斗中剧烈燃烧，火星四射，有红色铁水从纸漏斗下端滴入蒸发皿。</a:t>
            </a:r>
            <a:endParaRPr lang="en-US" altLang="zh-CN" sz="3000" b="1" dirty="0" smtClean="0">
              <a:latin typeface="+mn-ea"/>
              <a:sym typeface="Wingdings" pitchFamily="2" charset="2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endParaRPr lang="ms-MY" altLang="en-US" sz="30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009299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6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idx="1"/>
          </p:nvPr>
        </p:nvSpPr>
        <p:spPr>
          <a:xfrm>
            <a:off x="838200" y="152400"/>
            <a:ext cx="8153400" cy="6705600"/>
          </a:xfrm>
          <a:extLst>
            <a:ext uri="{909E8E84-426E-40DD-AFC4-6F175D3DCCD1}">
              <a14:hiddenFill xmlns:a14="http://schemas.microsoft.com/office/drawing/2010/main" xmlns="">
                <a:solidFill>
                  <a:srgbClr val="3A2222"/>
                </a:solidFill>
              </a14:hiddenFill>
            </a:ext>
          </a:extLst>
        </p:spPr>
        <p:txBody>
          <a:bodyPr/>
          <a:lstStyle/>
          <a:p>
            <a:pPr marL="0" indent="0"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zh-CN" altLang="en-US" sz="4000" b="1" u="sng" dirty="0" smtClean="0">
                <a:latin typeface="+mn-ea"/>
              </a:rPr>
              <a:t>思考题</a:t>
            </a:r>
            <a:r>
              <a:rPr lang="en-US" altLang="zh-CN" sz="4000" b="1" u="sng" dirty="0" smtClean="0">
                <a:latin typeface="+mn-ea"/>
              </a:rPr>
              <a:t>11a</a:t>
            </a: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altLang="zh-CN" sz="3000" b="1" dirty="0" smtClean="0">
                <a:latin typeface="+mn-ea"/>
                <a:sym typeface="Wingdings" pitchFamily="2" charset="2"/>
              </a:rPr>
              <a:t>C </a:t>
            </a: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zh-CN" altLang="en-US" sz="3000" b="1" dirty="0" smtClean="0">
                <a:latin typeface="+mn-ea"/>
                <a:sym typeface="Wingdings" pitchFamily="2" charset="2"/>
              </a:rPr>
              <a:t>常温下，铝易被氧化但氧化后生成氧化膜。</a:t>
            </a:r>
            <a:endParaRPr lang="en-US" altLang="zh-CN" sz="3000" b="1" dirty="0" smtClean="0">
              <a:latin typeface="+mn-ea"/>
              <a:sym typeface="Wingdings" pitchFamily="2" charset="2"/>
            </a:endParaRP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sz="3000" b="1" dirty="0" smtClean="0">
                <a:latin typeface="+mn-ea"/>
                <a:sym typeface="Wingdings" pitchFamily="2" charset="2"/>
              </a:rPr>
              <a:t>2. 			</a:t>
            </a:r>
            <a:r>
              <a:rPr lang="en-US" altLang="en-US" sz="3100" b="1" dirty="0" smtClean="0">
                <a:latin typeface="+mn-ea"/>
                <a:sym typeface="Wingdings" pitchFamily="2" charset="2"/>
              </a:rPr>
              <a:t>2 Al + </a:t>
            </a:r>
            <a:r>
              <a:rPr lang="en-US" altLang="zh-CN" sz="3100" b="1" dirty="0" smtClean="0">
                <a:latin typeface="+mn-ea"/>
                <a:sym typeface="Wingdings" pitchFamily="2" charset="2"/>
              </a:rPr>
              <a:t>6</a:t>
            </a:r>
            <a:r>
              <a:rPr lang="en-US" altLang="en-US" sz="3100" b="1" dirty="0" smtClean="0">
                <a:latin typeface="+mn-ea"/>
                <a:sym typeface="Wingdings" pitchFamily="2" charset="2"/>
              </a:rPr>
              <a:t> </a:t>
            </a:r>
            <a:r>
              <a:rPr lang="en-US" altLang="en-US" sz="3100" b="1" dirty="0" err="1" smtClean="0">
                <a:latin typeface="+mn-ea"/>
                <a:sym typeface="Wingdings" pitchFamily="2" charset="2"/>
              </a:rPr>
              <a:t>H</a:t>
            </a:r>
            <a:r>
              <a:rPr lang="en-US" altLang="zh-CN" sz="3100" b="1" dirty="0" err="1" smtClean="0">
                <a:latin typeface="+mn-ea"/>
                <a:sym typeface="Wingdings" pitchFamily="2" charset="2"/>
              </a:rPr>
              <a:t>Cl</a:t>
            </a:r>
            <a:r>
              <a:rPr lang="en-US" altLang="en-US" sz="3100" b="1" dirty="0" smtClean="0">
                <a:latin typeface="+mn-ea"/>
                <a:sym typeface="Wingdings" pitchFamily="2" charset="2"/>
              </a:rPr>
              <a:t> </a:t>
            </a:r>
            <a:endParaRPr lang="en-US" altLang="zh-CN" sz="3100" b="1" dirty="0" smtClean="0">
              <a:latin typeface="+mn-ea"/>
            </a:endParaRPr>
          </a:p>
          <a:p>
            <a:pPr lvl="1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sz="3100" b="1" dirty="0" smtClean="0">
                <a:latin typeface="+mn-ea"/>
              </a:rPr>
              <a:t>2 Al + 2 </a:t>
            </a:r>
            <a:r>
              <a:rPr lang="en-US" altLang="zh-CN" sz="3100" b="1" dirty="0" err="1" smtClean="0">
                <a:latin typeface="+mn-ea"/>
              </a:rPr>
              <a:t>NaOH</a:t>
            </a:r>
            <a:r>
              <a:rPr lang="en-US" altLang="zh-CN" sz="3100" b="1" dirty="0" smtClean="0">
                <a:latin typeface="+mn-ea"/>
              </a:rPr>
              <a:t> + 2H</a:t>
            </a:r>
            <a:r>
              <a:rPr lang="en-US" altLang="zh-CN" sz="3100" b="1" baseline="-25000" dirty="0" smtClean="0">
                <a:latin typeface="+mn-ea"/>
              </a:rPr>
              <a:t>2</a:t>
            </a:r>
            <a:r>
              <a:rPr lang="en-US" altLang="zh-CN" sz="3100" b="1" dirty="0" smtClean="0">
                <a:latin typeface="+mn-ea"/>
              </a:rPr>
              <a:t>O</a:t>
            </a:r>
            <a:r>
              <a:rPr lang="en-US" altLang="zh-CN" sz="3100" b="1" dirty="0" smtClean="0">
                <a:latin typeface="+mn-ea"/>
                <a:sym typeface="Wingdings" pitchFamily="2" charset="2"/>
              </a:rPr>
              <a:t>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sz="3100" b="1" dirty="0" err="1" smtClean="0">
                <a:latin typeface="+mn-ea"/>
                <a:sym typeface="Wingdings" pitchFamily="2" charset="2"/>
              </a:rPr>
              <a:t>Ans</a:t>
            </a:r>
            <a:r>
              <a:rPr lang="en-US" altLang="zh-CN" sz="3100" b="1" dirty="0" smtClean="0">
                <a:latin typeface="+mn-ea"/>
                <a:sym typeface="Wingdings" pitchFamily="2" charset="2"/>
              </a:rPr>
              <a:t>: A </a:t>
            </a: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US" altLang="zh-CN" sz="3000" b="1" dirty="0" smtClean="0">
              <a:latin typeface="+mn-ea"/>
              <a:sym typeface="Wingdings" pitchFamily="2" charset="2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US" altLang="zh-CN" sz="3000" b="1" dirty="0" smtClean="0">
              <a:latin typeface="+mn-ea"/>
              <a:sym typeface="Wingdings" pitchFamily="2" charset="2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endParaRPr lang="ms-MY" altLang="en-US" sz="3000" b="1" dirty="0">
              <a:latin typeface="+mn-ea"/>
            </a:endParaRP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5867400" y="2590800"/>
            <a:ext cx="33528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3A2222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altLang="zh-CN" sz="3200" b="1" kern="0" dirty="0" smtClean="0">
                <a:solidFill>
                  <a:schemeClr val="bg2">
                    <a:lumMod val="10000"/>
                  </a:schemeClr>
                </a:solidFill>
                <a:latin typeface="+mn-ea"/>
                <a:sym typeface="Wingdings" pitchFamily="2" charset="2"/>
              </a:rPr>
              <a:t>2 AlCl</a:t>
            </a:r>
            <a:r>
              <a:rPr lang="en-US" altLang="zh-CN" sz="3200" b="1" kern="0" baseline="-25000" dirty="0" smtClean="0">
                <a:solidFill>
                  <a:schemeClr val="bg2">
                    <a:lumMod val="10000"/>
                  </a:schemeClr>
                </a:solidFill>
                <a:latin typeface="+mn-ea"/>
                <a:sym typeface="Wingdings" pitchFamily="2" charset="2"/>
              </a:rPr>
              <a:t>3</a:t>
            </a:r>
            <a:r>
              <a:rPr lang="en-US" altLang="zh-CN" sz="3200" b="1" kern="0" dirty="0" smtClean="0">
                <a:solidFill>
                  <a:schemeClr val="bg2">
                    <a:lumMod val="10000"/>
                  </a:schemeClr>
                </a:solidFill>
                <a:latin typeface="+mn-ea"/>
                <a:sym typeface="Wingdings" pitchFamily="2" charset="2"/>
              </a:rPr>
              <a:t> + 3 H</a:t>
            </a:r>
            <a:r>
              <a:rPr lang="en-US" altLang="zh-CN" sz="3200" b="1" kern="0" baseline="-25000" dirty="0" smtClean="0">
                <a:solidFill>
                  <a:schemeClr val="bg2">
                    <a:lumMod val="10000"/>
                  </a:schemeClr>
                </a:solidFill>
                <a:latin typeface="+mn-ea"/>
                <a:sym typeface="Wingdings" pitchFamily="2" charset="2"/>
              </a:rPr>
              <a:t>2</a:t>
            </a:r>
            <a:endParaRPr kumimoji="0" lang="en-US" altLang="zh-CN" sz="3200" b="1" i="0" u="none" strike="noStrike" kern="0" cap="none" spc="0" normalizeH="0" baseline="0" noProof="0" dirty="0" smtClean="0">
              <a:ln>
                <a:noFill/>
              </a:ln>
              <a:solidFill>
                <a:schemeClr val="bg2">
                  <a:lumMod val="10000"/>
                </a:schemeClr>
              </a:solidFill>
              <a:effectLst/>
              <a:uLnTx/>
              <a:uFillTx/>
              <a:latin typeface="+mn-ea"/>
              <a:ea typeface="+mn-ea"/>
              <a:cs typeface="+mn-cs"/>
              <a:sym typeface="Wingdings" pitchFamily="2" charset="2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5715000" y="3276600"/>
            <a:ext cx="33528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3A2222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en-US" altLang="zh-CN" sz="3200" b="1" kern="0" dirty="0" smtClean="0">
                <a:solidFill>
                  <a:schemeClr val="bg2">
                    <a:lumMod val="10000"/>
                  </a:schemeClr>
                </a:solidFill>
                <a:latin typeface="+mn-ea"/>
                <a:sym typeface="Wingdings" pitchFamily="2" charset="2"/>
              </a:rPr>
              <a:t> </a:t>
            </a:r>
            <a:r>
              <a:rPr lang="en-US" altLang="zh-CN" sz="3200" b="1" dirty="0" smtClean="0">
                <a:solidFill>
                  <a:schemeClr val="bg2">
                    <a:lumMod val="10000"/>
                  </a:schemeClr>
                </a:solidFill>
                <a:latin typeface="+mn-ea"/>
                <a:sym typeface="Wingdings" pitchFamily="2" charset="2"/>
              </a:rPr>
              <a:t>2 NaAlO</a:t>
            </a:r>
            <a:r>
              <a:rPr lang="en-US" altLang="zh-CN" sz="3200" b="1" baseline="-25000" dirty="0" smtClean="0">
                <a:solidFill>
                  <a:schemeClr val="bg2">
                    <a:lumMod val="10000"/>
                  </a:schemeClr>
                </a:solidFill>
                <a:latin typeface="+mn-ea"/>
                <a:sym typeface="Wingdings" pitchFamily="2" charset="2"/>
              </a:rPr>
              <a:t>2</a:t>
            </a:r>
            <a:r>
              <a:rPr lang="en-US" altLang="zh-CN" sz="3200" b="1" dirty="0" smtClean="0">
                <a:solidFill>
                  <a:schemeClr val="bg2">
                    <a:lumMod val="10000"/>
                  </a:schemeClr>
                </a:solidFill>
                <a:latin typeface="+mn-ea"/>
                <a:sym typeface="Wingdings" pitchFamily="2" charset="2"/>
              </a:rPr>
              <a:t> + 3 H</a:t>
            </a:r>
            <a:r>
              <a:rPr lang="en-US" altLang="zh-CN" sz="3200" b="1" baseline="-25000" dirty="0" smtClean="0">
                <a:solidFill>
                  <a:schemeClr val="bg2">
                    <a:lumMod val="10000"/>
                  </a:schemeClr>
                </a:solidFill>
                <a:latin typeface="+mn-ea"/>
                <a:sym typeface="Wingdings" pitchFamily="2" charset="2"/>
              </a:rPr>
              <a:t>2</a:t>
            </a:r>
            <a:endParaRPr kumimoji="0" lang="en-US" altLang="zh-CN" sz="3200" b="1" i="0" u="none" strike="noStrike" kern="0" cap="none" spc="0" normalizeH="0" baseline="0" noProof="0" dirty="0" smtClean="0">
              <a:ln>
                <a:noFill/>
              </a:ln>
              <a:solidFill>
                <a:schemeClr val="bg2">
                  <a:lumMod val="10000"/>
                </a:schemeClr>
              </a:solidFill>
              <a:effectLst/>
              <a:uLnTx/>
              <a:uFillTx/>
              <a:latin typeface="+mn-ea"/>
              <a:ea typeface="+mn-ea"/>
              <a:cs typeface="+mn-cs"/>
              <a:sym typeface="Wingdings" pitchFamily="2" charset="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altLang="zh-CN" sz="3200" b="1" i="0" u="none" strike="noStrike" kern="0" cap="none" spc="0" normalizeH="0" baseline="0" noProof="0" dirty="0" smtClean="0">
              <a:ln>
                <a:noFill/>
              </a:ln>
              <a:solidFill>
                <a:schemeClr val="bg2">
                  <a:lumMod val="10000"/>
                </a:schemeClr>
              </a:solidFill>
              <a:effectLst/>
              <a:uLnTx/>
              <a:uFillTx/>
              <a:latin typeface="+mn-ea"/>
              <a:ea typeface="+mn-ea"/>
              <a:cs typeface="+mn-cs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009299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6" grpId="0" uiExpand="1" build="p"/>
      <p:bldP spid="3" grpId="0" build="p"/>
      <p:bldP spid="4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idx="1"/>
          </p:nvPr>
        </p:nvSpPr>
        <p:spPr>
          <a:xfrm>
            <a:off x="685800" y="152400"/>
            <a:ext cx="8305800" cy="6705600"/>
          </a:xfrm>
          <a:extLst>
            <a:ext uri="{909E8E84-426E-40DD-AFC4-6F175D3DCCD1}">
              <a14:hiddenFill xmlns:a14="http://schemas.microsoft.com/office/drawing/2010/main" xmlns="">
                <a:solidFill>
                  <a:srgbClr val="3A2222"/>
                </a:solidFill>
              </a14:hiddenFill>
            </a:ext>
          </a:extLst>
        </p:spPr>
        <p:txBody>
          <a:bodyPr/>
          <a:lstStyle/>
          <a:p>
            <a:pPr marL="0" indent="0"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en-US" altLang="zh-CN" sz="4000" b="1" u="sng" dirty="0" smtClean="0">
                <a:latin typeface="+mn-ea"/>
              </a:rPr>
              <a:t>11.2 </a:t>
            </a:r>
            <a:r>
              <a:rPr lang="zh-CN" altLang="en-US" sz="4000" b="1" u="sng" dirty="0" smtClean="0">
                <a:latin typeface="+mn-ea"/>
              </a:rPr>
              <a:t>铝的重要化合物</a:t>
            </a:r>
            <a:endParaRPr lang="en-US" altLang="zh-CN" sz="4000" b="1" u="sng" dirty="0" smtClean="0">
              <a:latin typeface="+mn-ea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b="1" dirty="0" smtClean="0">
                <a:latin typeface="+mn-ea"/>
                <a:sym typeface="Wingdings" pitchFamily="2" charset="2"/>
              </a:rPr>
              <a:t>Al</a:t>
            </a:r>
            <a:r>
              <a:rPr lang="en-US" altLang="zh-CN" b="1" baseline="-25000" dirty="0" smtClean="0">
                <a:latin typeface="+mn-ea"/>
                <a:sym typeface="Wingdings" pitchFamily="2" charset="2"/>
              </a:rPr>
              <a:t>2</a:t>
            </a:r>
            <a:r>
              <a:rPr lang="en-US" altLang="zh-CN" b="1" dirty="0" smtClean="0">
                <a:latin typeface="+mn-ea"/>
                <a:sym typeface="Wingdings" pitchFamily="2" charset="2"/>
              </a:rPr>
              <a:t>O</a:t>
            </a:r>
            <a:r>
              <a:rPr lang="en-US" altLang="zh-CN" b="1" baseline="-25000" dirty="0" smtClean="0">
                <a:latin typeface="+mn-ea"/>
                <a:sym typeface="Wingdings" pitchFamily="2" charset="2"/>
              </a:rPr>
              <a:t>3</a:t>
            </a:r>
            <a:r>
              <a:rPr lang="en-US" altLang="zh-CN" b="1" dirty="0" smtClean="0">
                <a:latin typeface="+mn-ea"/>
                <a:sym typeface="Wingdings" pitchFamily="2" charset="2"/>
              </a:rPr>
              <a:t> 	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zh-CN" altLang="en-US" b="1" dirty="0" smtClean="0">
                <a:latin typeface="+mn-ea"/>
                <a:sym typeface="Wingdings" pitchFamily="2" charset="2"/>
              </a:rPr>
              <a:t>白色难</a:t>
            </a:r>
            <a:r>
              <a:rPr lang="zh-CN" altLang="en-US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sym typeface="Wingdings" pitchFamily="2" charset="2"/>
              </a:rPr>
              <a:t>熔</a:t>
            </a:r>
            <a:r>
              <a:rPr lang="zh-CN" altLang="en-US" b="1" dirty="0" smtClean="0">
                <a:latin typeface="+mn-ea"/>
                <a:sym typeface="Wingdings" pitchFamily="2" charset="2"/>
              </a:rPr>
              <a:t>固体（高熔点），难火材料</a:t>
            </a:r>
            <a:endParaRPr lang="en-US" altLang="zh-CN" b="1" dirty="0" smtClean="0">
              <a:latin typeface="+mn-ea"/>
              <a:sym typeface="Wingdings" pitchFamily="2" charset="2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zh-CN" altLang="en-US" b="1" dirty="0" smtClean="0">
                <a:latin typeface="+mn-ea"/>
                <a:sym typeface="Wingdings" pitchFamily="2" charset="2"/>
              </a:rPr>
              <a:t>硬度大，切削工具</a:t>
            </a:r>
            <a:endParaRPr lang="en-US" altLang="zh-CN" b="1" dirty="0" smtClean="0">
              <a:latin typeface="+mn-ea"/>
              <a:sym typeface="Wingdings" pitchFamily="2" charset="2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zh-CN" altLang="en-US" b="1" dirty="0" smtClean="0">
                <a:latin typeface="+mn-ea"/>
                <a:sym typeface="Wingdings" pitchFamily="2" charset="2"/>
              </a:rPr>
              <a:t>用途：冶炼铝，制造陶瓷，人造宝石</a:t>
            </a:r>
            <a:endParaRPr lang="en-US" altLang="zh-CN" b="1" dirty="0" smtClean="0">
              <a:latin typeface="+mn-ea"/>
              <a:sym typeface="Wingdings" pitchFamily="2" charset="2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zh-CN" altLang="en-US" b="1" dirty="0" smtClean="0">
                <a:latin typeface="+mn-ea"/>
                <a:sym typeface="Wingdings" pitchFamily="2" charset="2"/>
              </a:rPr>
              <a:t>两性氧化物</a:t>
            </a:r>
            <a:endParaRPr lang="en-US" altLang="zh-CN" b="1" dirty="0" smtClean="0">
              <a:latin typeface="+mn-ea"/>
              <a:sym typeface="Wingdings" pitchFamily="2" charset="2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b="1" dirty="0" smtClean="0">
                <a:latin typeface="+mn-ea"/>
                <a:sym typeface="Wingdings" pitchFamily="2" charset="2"/>
              </a:rPr>
              <a:t>	Al</a:t>
            </a:r>
            <a:r>
              <a:rPr lang="en-US" altLang="zh-CN" b="1" baseline="-25000" dirty="0" smtClean="0">
                <a:latin typeface="+mn-ea"/>
                <a:sym typeface="Wingdings" pitchFamily="2" charset="2"/>
              </a:rPr>
              <a:t>2</a:t>
            </a:r>
            <a:r>
              <a:rPr lang="en-US" altLang="zh-CN" b="1" dirty="0" smtClean="0">
                <a:latin typeface="+mn-ea"/>
                <a:sym typeface="Wingdings" pitchFamily="2" charset="2"/>
              </a:rPr>
              <a:t>O</a:t>
            </a:r>
            <a:r>
              <a:rPr lang="en-US" altLang="zh-CN" b="1" baseline="-25000" dirty="0" smtClean="0">
                <a:latin typeface="+mn-ea"/>
                <a:sym typeface="Wingdings" pitchFamily="2" charset="2"/>
              </a:rPr>
              <a:t>3</a:t>
            </a:r>
            <a:r>
              <a:rPr lang="en-US" altLang="zh-CN" b="1" dirty="0" smtClean="0">
                <a:latin typeface="+mn-ea"/>
                <a:sym typeface="Wingdings" pitchFamily="2" charset="2"/>
              </a:rPr>
              <a:t>+ 3H</a:t>
            </a:r>
            <a:r>
              <a:rPr lang="en-US" altLang="zh-CN" b="1" baseline="-25000" dirty="0" smtClean="0">
                <a:latin typeface="+mn-ea"/>
                <a:sym typeface="Wingdings" pitchFamily="2" charset="2"/>
              </a:rPr>
              <a:t>2</a:t>
            </a:r>
            <a:r>
              <a:rPr lang="en-US" altLang="zh-CN" b="1" dirty="0" smtClean="0">
                <a:latin typeface="+mn-ea"/>
                <a:sym typeface="Wingdings" pitchFamily="2" charset="2"/>
              </a:rPr>
              <a:t>SO</a:t>
            </a:r>
            <a:r>
              <a:rPr lang="en-US" altLang="zh-CN" b="1" baseline="-25000" dirty="0" smtClean="0">
                <a:latin typeface="+mn-ea"/>
                <a:sym typeface="Wingdings" pitchFamily="2" charset="2"/>
              </a:rPr>
              <a:t>4</a:t>
            </a:r>
            <a:r>
              <a:rPr lang="en-US" altLang="zh-CN" b="1" dirty="0" smtClean="0">
                <a:latin typeface="+mn-ea"/>
                <a:sym typeface="Wingdings" pitchFamily="2" charset="2"/>
              </a:rPr>
              <a:t> </a:t>
            </a:r>
          </a:p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b="1" dirty="0" smtClean="0">
                <a:latin typeface="+mn-ea"/>
                <a:sym typeface="Wingdings" pitchFamily="2" charset="2"/>
              </a:rPr>
              <a:t>	 Al</a:t>
            </a:r>
            <a:r>
              <a:rPr lang="en-US" altLang="zh-CN" b="1" baseline="-25000" dirty="0" smtClean="0">
                <a:latin typeface="+mn-ea"/>
                <a:sym typeface="Wingdings" pitchFamily="2" charset="2"/>
              </a:rPr>
              <a:t>2</a:t>
            </a:r>
            <a:r>
              <a:rPr lang="en-US" altLang="zh-CN" b="1" dirty="0" smtClean="0">
                <a:latin typeface="+mn-ea"/>
                <a:sym typeface="Wingdings" pitchFamily="2" charset="2"/>
              </a:rPr>
              <a:t>O</a:t>
            </a:r>
            <a:r>
              <a:rPr lang="en-US" altLang="zh-CN" b="1" baseline="-25000" dirty="0" smtClean="0">
                <a:latin typeface="+mn-ea"/>
                <a:sym typeface="Wingdings" pitchFamily="2" charset="2"/>
              </a:rPr>
              <a:t>3 </a:t>
            </a:r>
            <a:r>
              <a:rPr lang="en-US" altLang="zh-CN" b="1" dirty="0" smtClean="0">
                <a:latin typeface="+mn-ea"/>
                <a:sym typeface="Wingdings" pitchFamily="2" charset="2"/>
              </a:rPr>
              <a:t>+ 2 </a:t>
            </a:r>
            <a:r>
              <a:rPr lang="en-US" altLang="zh-CN" b="1" dirty="0" err="1" smtClean="0">
                <a:latin typeface="+mn-ea"/>
                <a:sym typeface="Wingdings" pitchFamily="2" charset="2"/>
              </a:rPr>
              <a:t>NaOH</a:t>
            </a:r>
            <a:r>
              <a:rPr lang="en-US" altLang="zh-CN" b="1" dirty="0" smtClean="0">
                <a:latin typeface="+mn-ea"/>
                <a:sym typeface="Wingdings" pitchFamily="2" charset="2"/>
              </a:rPr>
              <a:t> </a:t>
            </a: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US" altLang="zh-CN" b="1" dirty="0" smtClean="0">
              <a:latin typeface="+mn-ea"/>
              <a:sym typeface="Wingdings" pitchFamily="2" charset="2"/>
            </a:endParaRP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4495800" y="4191000"/>
            <a:ext cx="33528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3A2222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altLang="zh-CN" sz="3200" b="1" kern="0" dirty="0" smtClean="0">
                <a:solidFill>
                  <a:srgbClr val="3A2222"/>
                </a:solidFill>
                <a:latin typeface="+mn-ea"/>
                <a:sym typeface="Wingdings" pitchFamily="2" charset="2"/>
              </a:rPr>
              <a:t>Al</a:t>
            </a:r>
            <a:r>
              <a:rPr lang="en-US" altLang="zh-CN" sz="3200" b="1" kern="0" baseline="-25000" dirty="0" smtClean="0">
                <a:solidFill>
                  <a:srgbClr val="3A2222"/>
                </a:solidFill>
                <a:latin typeface="+mn-ea"/>
                <a:sym typeface="Wingdings" pitchFamily="2" charset="2"/>
              </a:rPr>
              <a:t>2</a:t>
            </a:r>
            <a:r>
              <a:rPr lang="en-US" altLang="zh-CN" sz="3200" b="1" kern="0" dirty="0" smtClean="0">
                <a:solidFill>
                  <a:srgbClr val="3A2222"/>
                </a:solidFill>
                <a:latin typeface="+mn-ea"/>
                <a:sym typeface="Wingdings" pitchFamily="2" charset="2"/>
              </a:rPr>
              <a:t>(SO</a:t>
            </a:r>
            <a:r>
              <a:rPr lang="en-US" altLang="zh-CN" sz="3200" b="1" kern="0" baseline="-25000" dirty="0" smtClean="0">
                <a:solidFill>
                  <a:srgbClr val="3A2222"/>
                </a:solidFill>
                <a:latin typeface="+mn-ea"/>
                <a:sym typeface="Wingdings" pitchFamily="2" charset="2"/>
              </a:rPr>
              <a:t>4</a:t>
            </a:r>
            <a:r>
              <a:rPr lang="en-US" altLang="zh-CN" sz="3200" b="1" kern="0" dirty="0" smtClean="0">
                <a:solidFill>
                  <a:srgbClr val="3A2222"/>
                </a:solidFill>
                <a:latin typeface="+mn-ea"/>
                <a:sym typeface="Wingdings" pitchFamily="2" charset="2"/>
              </a:rPr>
              <a:t>)</a:t>
            </a:r>
            <a:r>
              <a:rPr lang="en-US" altLang="zh-CN" sz="3200" b="1" kern="0" baseline="-25000" dirty="0" smtClean="0">
                <a:solidFill>
                  <a:srgbClr val="3A2222"/>
                </a:solidFill>
                <a:latin typeface="+mn-ea"/>
                <a:sym typeface="Wingdings" pitchFamily="2" charset="2"/>
              </a:rPr>
              <a:t>3</a:t>
            </a:r>
            <a:r>
              <a:rPr lang="en-US" altLang="zh-CN" sz="3200" b="1" kern="0" dirty="0" smtClean="0">
                <a:solidFill>
                  <a:srgbClr val="3A2222"/>
                </a:solidFill>
                <a:latin typeface="+mn-ea"/>
                <a:sym typeface="Wingdings" pitchFamily="2" charset="2"/>
              </a:rPr>
              <a:t> + 3 H</a:t>
            </a:r>
            <a:r>
              <a:rPr lang="en-US" altLang="zh-CN" sz="3200" b="1" kern="0" baseline="-25000" dirty="0" smtClean="0">
                <a:solidFill>
                  <a:srgbClr val="3A2222"/>
                </a:solidFill>
                <a:latin typeface="+mn-ea"/>
                <a:sym typeface="Wingdings" pitchFamily="2" charset="2"/>
              </a:rPr>
              <a:t>2</a:t>
            </a:r>
            <a:r>
              <a:rPr lang="en-US" altLang="zh-CN" sz="3200" b="1" kern="0" dirty="0" smtClean="0">
                <a:solidFill>
                  <a:srgbClr val="3A2222"/>
                </a:solidFill>
                <a:latin typeface="+mn-ea"/>
                <a:sym typeface="Wingdings" pitchFamily="2" charset="2"/>
              </a:rPr>
              <a:t>O</a:t>
            </a:r>
            <a:endParaRPr kumimoji="0" lang="en-US" altLang="zh-CN" sz="3200" b="1" i="0" u="none" strike="noStrike" kern="0" cap="none" spc="0" normalizeH="0" baseline="0" noProof="0" dirty="0" smtClean="0">
              <a:ln>
                <a:noFill/>
              </a:ln>
              <a:solidFill>
                <a:srgbClr val="3A2222"/>
              </a:solidFill>
              <a:effectLst/>
              <a:uLnTx/>
              <a:uFillTx/>
              <a:latin typeface="+mn-ea"/>
              <a:ea typeface="+mn-ea"/>
              <a:cs typeface="+mn-cs"/>
              <a:sym typeface="Wingdings" pitchFamily="2" charset="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tabLst/>
              <a:defRPr/>
            </a:pPr>
            <a:endParaRPr kumimoji="0" lang="en-US" altLang="zh-CN" sz="3200" b="1" i="0" u="none" strike="noStrike" kern="0" cap="none" spc="0" normalizeH="0" baseline="0" noProof="0" dirty="0" smtClean="0">
              <a:ln>
                <a:noFill/>
              </a:ln>
              <a:solidFill>
                <a:srgbClr val="3A2222"/>
              </a:solidFill>
              <a:effectLst/>
              <a:uLnTx/>
              <a:uFillTx/>
              <a:latin typeface="+mn-ea"/>
              <a:ea typeface="+mn-ea"/>
              <a:cs typeface="+mn-cs"/>
              <a:sym typeface="Wingdings" pitchFamily="2" charset="2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4724400" y="4876800"/>
            <a:ext cx="33528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3A2222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altLang="zh-CN" sz="3200" b="1" kern="0" dirty="0" smtClean="0">
                <a:solidFill>
                  <a:srgbClr val="3A2222"/>
                </a:solidFill>
                <a:latin typeface="+mn-ea"/>
                <a:sym typeface="Wingdings" pitchFamily="2" charset="2"/>
              </a:rPr>
              <a:t>2 NaAlO</a:t>
            </a:r>
            <a:r>
              <a:rPr lang="en-US" altLang="zh-CN" sz="3200" b="1" kern="0" baseline="-25000" dirty="0" smtClean="0">
                <a:solidFill>
                  <a:srgbClr val="3A2222"/>
                </a:solidFill>
                <a:latin typeface="+mn-ea"/>
                <a:sym typeface="Wingdings" pitchFamily="2" charset="2"/>
              </a:rPr>
              <a:t>2</a:t>
            </a:r>
            <a:r>
              <a:rPr lang="en-US" altLang="zh-CN" sz="3200" b="1" kern="0" dirty="0" smtClean="0">
                <a:solidFill>
                  <a:srgbClr val="3A2222"/>
                </a:solidFill>
                <a:latin typeface="+mn-ea"/>
                <a:sym typeface="Wingdings" pitchFamily="2" charset="2"/>
              </a:rPr>
              <a:t> +  H</a:t>
            </a:r>
            <a:r>
              <a:rPr lang="en-US" altLang="zh-CN" sz="3200" b="1" kern="0" baseline="-25000" dirty="0" smtClean="0">
                <a:solidFill>
                  <a:srgbClr val="3A2222"/>
                </a:solidFill>
                <a:latin typeface="+mn-ea"/>
                <a:sym typeface="Wingdings" pitchFamily="2" charset="2"/>
              </a:rPr>
              <a:t>2</a:t>
            </a:r>
            <a:r>
              <a:rPr lang="en-US" altLang="zh-CN" sz="3200" b="1" kern="0" dirty="0" smtClean="0">
                <a:solidFill>
                  <a:srgbClr val="3A2222"/>
                </a:solidFill>
                <a:latin typeface="+mn-ea"/>
                <a:sym typeface="Wingdings" pitchFamily="2" charset="2"/>
              </a:rPr>
              <a:t>O</a:t>
            </a:r>
            <a:endParaRPr kumimoji="0" lang="en-US" altLang="zh-CN" sz="3200" b="1" i="0" u="none" strike="noStrike" kern="0" cap="none" spc="0" normalizeH="0" baseline="0" noProof="0" dirty="0" smtClean="0">
              <a:ln>
                <a:noFill/>
              </a:ln>
              <a:solidFill>
                <a:srgbClr val="3A2222"/>
              </a:solidFill>
              <a:effectLst/>
              <a:uLnTx/>
              <a:uFillTx/>
              <a:latin typeface="+mn-ea"/>
              <a:ea typeface="+mn-ea"/>
              <a:cs typeface="+mn-cs"/>
              <a:sym typeface="Wingdings" pitchFamily="2" charset="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tabLst/>
              <a:defRPr/>
            </a:pPr>
            <a:endParaRPr kumimoji="0" lang="en-US" altLang="zh-CN" sz="3200" b="1" i="0" u="none" strike="noStrike" kern="0" cap="none" spc="0" normalizeH="0" baseline="0" noProof="0" dirty="0" smtClean="0">
              <a:ln>
                <a:noFill/>
              </a:ln>
              <a:solidFill>
                <a:srgbClr val="3A2222"/>
              </a:solidFill>
              <a:effectLst/>
              <a:uLnTx/>
              <a:uFillTx/>
              <a:latin typeface="+mn-ea"/>
              <a:ea typeface="+mn-ea"/>
              <a:cs typeface="+mn-cs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009299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1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1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1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1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6" grpId="0" uiExpand="1" build="p"/>
      <p:bldP spid="3" grpId="0" build="p"/>
      <p:bldP spid="4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idx="1"/>
          </p:nvPr>
        </p:nvSpPr>
        <p:spPr>
          <a:xfrm>
            <a:off x="685800" y="152400"/>
            <a:ext cx="8305800" cy="6705600"/>
          </a:xfrm>
          <a:extLst>
            <a:ext uri="{909E8E84-426E-40DD-AFC4-6F175D3DCCD1}">
              <a14:hiddenFill xmlns:a14="http://schemas.microsoft.com/office/drawing/2010/main" xmlns="">
                <a:solidFill>
                  <a:srgbClr val="3A2222"/>
                </a:solidFill>
              </a14:hiddenFill>
            </a:ext>
          </a:extLst>
        </p:spPr>
        <p:txBody>
          <a:bodyPr/>
          <a:lstStyle/>
          <a:p>
            <a:pPr marL="0" indent="0"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en-US" altLang="zh-CN" sz="4000" b="1" u="sng" dirty="0" smtClean="0">
                <a:latin typeface="+mn-ea"/>
              </a:rPr>
              <a:t>11.2 </a:t>
            </a:r>
            <a:r>
              <a:rPr lang="zh-CN" altLang="en-US" sz="4000" b="1" u="sng" dirty="0" smtClean="0">
                <a:latin typeface="+mn-ea"/>
              </a:rPr>
              <a:t>铝的重要化合物</a:t>
            </a:r>
            <a:endParaRPr lang="en-US" altLang="zh-CN" sz="4000" b="1" u="sng" dirty="0" smtClean="0">
              <a:latin typeface="+mn-ea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b="1" dirty="0" smtClean="0">
                <a:latin typeface="+mn-ea"/>
                <a:sym typeface="Wingdings" pitchFamily="2" charset="2"/>
              </a:rPr>
              <a:t>Al(OH)</a:t>
            </a:r>
            <a:r>
              <a:rPr lang="en-US" altLang="zh-CN" b="1" baseline="-25000" dirty="0" smtClean="0">
                <a:latin typeface="+mn-ea"/>
                <a:sym typeface="Wingdings" pitchFamily="2" charset="2"/>
              </a:rPr>
              <a:t>3</a:t>
            </a:r>
            <a:r>
              <a:rPr lang="en-US" altLang="zh-CN" b="1" dirty="0" smtClean="0">
                <a:latin typeface="+mn-ea"/>
                <a:sym typeface="Wingdings" pitchFamily="2" charset="2"/>
              </a:rPr>
              <a:t>	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zh-CN" altLang="en-US" b="1" dirty="0" smtClean="0">
                <a:latin typeface="+mn-ea"/>
                <a:sym typeface="Wingdings" pitchFamily="2" charset="2"/>
              </a:rPr>
              <a:t>白色胶状物</a:t>
            </a:r>
            <a:endParaRPr lang="en-US" altLang="zh-CN" b="1" dirty="0" smtClean="0">
              <a:latin typeface="+mn-ea"/>
              <a:sym typeface="Wingdings" pitchFamily="2" charset="2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zh-CN" altLang="en-US" b="1" dirty="0" smtClean="0">
                <a:latin typeface="+mn-ea"/>
                <a:sym typeface="Wingdings" pitchFamily="2" charset="2"/>
              </a:rPr>
              <a:t>难</a:t>
            </a:r>
            <a:r>
              <a:rPr lang="zh-CN" altLang="en-US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sym typeface="Wingdings" pitchFamily="2" charset="2"/>
              </a:rPr>
              <a:t>溶</a:t>
            </a:r>
            <a:r>
              <a:rPr lang="zh-CN" altLang="en-US" b="1" dirty="0" smtClean="0">
                <a:latin typeface="+mn-ea"/>
                <a:sym typeface="Wingdings" pitchFamily="2" charset="2"/>
              </a:rPr>
              <a:t>于水。</a:t>
            </a:r>
            <a:endParaRPr lang="en-US" altLang="zh-CN" b="1" dirty="0" smtClean="0">
              <a:latin typeface="+mn-ea"/>
              <a:sym typeface="Wingdings" pitchFamily="2" charset="2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zh-CN" altLang="en-US" b="1" dirty="0" smtClean="0">
                <a:latin typeface="+mn-ea"/>
                <a:sym typeface="Wingdings" pitchFamily="2" charset="2"/>
              </a:rPr>
              <a:t>能凝聚水中悬浮物，有吸附色素的性能。</a:t>
            </a:r>
            <a:endParaRPr lang="en-US" altLang="zh-CN" b="1" dirty="0" smtClean="0">
              <a:latin typeface="+mn-ea"/>
              <a:sym typeface="Wingdings" pitchFamily="2" charset="2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zh-CN" altLang="en-US" b="1" dirty="0" smtClean="0">
                <a:latin typeface="+mn-ea"/>
                <a:sym typeface="Wingdings" pitchFamily="2" charset="2"/>
              </a:rPr>
              <a:t>用途：制造铝盐、搪瓷、媒染剂、催化剂、催化剂载体等</a:t>
            </a:r>
            <a:endParaRPr lang="en-US" altLang="zh-CN" b="1" dirty="0" smtClean="0">
              <a:latin typeface="+mn-ea"/>
              <a:sym typeface="Wingdings" pitchFamily="2" charset="2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buNone/>
            </a:pPr>
            <a:endParaRPr lang="en-US" altLang="zh-CN" b="1" dirty="0" smtClean="0">
              <a:latin typeface="+mn-ea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009299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6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idx="1"/>
          </p:nvPr>
        </p:nvSpPr>
        <p:spPr>
          <a:xfrm>
            <a:off x="685800" y="152400"/>
            <a:ext cx="8305800" cy="6705600"/>
          </a:xfrm>
          <a:extLst>
            <a:ext uri="{909E8E84-426E-40DD-AFC4-6F175D3DCCD1}">
              <a14:hiddenFill xmlns:a14="http://schemas.microsoft.com/office/drawing/2010/main" xmlns="">
                <a:solidFill>
                  <a:srgbClr val="3A2222"/>
                </a:solidFill>
              </a14:hiddenFill>
            </a:ext>
          </a:extLst>
        </p:spPr>
        <p:txBody>
          <a:bodyPr/>
          <a:lstStyle/>
          <a:p>
            <a:pPr marL="0" indent="0"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en-US" altLang="zh-CN" sz="4000" b="1" u="sng" dirty="0" smtClean="0">
                <a:latin typeface="+mn-ea"/>
              </a:rPr>
              <a:t>11.2 </a:t>
            </a:r>
            <a:r>
              <a:rPr lang="zh-CN" altLang="en-US" sz="4000" b="1" u="sng" dirty="0" smtClean="0">
                <a:latin typeface="+mn-ea"/>
              </a:rPr>
              <a:t>铝的重要化合物</a:t>
            </a:r>
            <a:endParaRPr lang="en-US" altLang="zh-CN" sz="4000" b="1" u="sng" dirty="0" smtClean="0">
              <a:latin typeface="+mn-ea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zh-CN" altLang="en-US" b="1" dirty="0" smtClean="0">
                <a:latin typeface="+mn-ea"/>
                <a:sym typeface="Wingdings" pitchFamily="2" charset="2"/>
              </a:rPr>
              <a:t>活动</a:t>
            </a:r>
            <a:r>
              <a:rPr lang="en-US" altLang="zh-CN" b="1" dirty="0" smtClean="0">
                <a:latin typeface="+mn-ea"/>
                <a:sym typeface="Wingdings" pitchFamily="2" charset="2"/>
              </a:rPr>
              <a:t>4	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zh-CN" altLang="en-US" b="1" dirty="0" smtClean="0">
                <a:latin typeface="+mn-ea"/>
                <a:sym typeface="Wingdings" pitchFamily="2" charset="2"/>
              </a:rPr>
              <a:t>现象：生成白色氢氧化铝沉淀，且不溶于过量氨水</a:t>
            </a:r>
            <a:endParaRPr lang="en-US" altLang="zh-CN" b="1" dirty="0" smtClean="0">
              <a:latin typeface="+mn-ea"/>
              <a:sym typeface="Wingdings" pitchFamily="2" charset="2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b="1" dirty="0" smtClean="0">
                <a:latin typeface="+mn-ea"/>
                <a:sym typeface="Wingdings" pitchFamily="2" charset="2"/>
              </a:rPr>
              <a:t>Al</a:t>
            </a:r>
            <a:r>
              <a:rPr lang="en-US" altLang="zh-CN" b="1" baseline="-25000" dirty="0" smtClean="0">
                <a:latin typeface="+mn-ea"/>
                <a:sym typeface="Wingdings" pitchFamily="2" charset="2"/>
              </a:rPr>
              <a:t>2</a:t>
            </a:r>
            <a:r>
              <a:rPr lang="en-US" altLang="zh-CN" b="1" dirty="0" smtClean="0">
                <a:latin typeface="+mn-ea"/>
                <a:sym typeface="Wingdings" pitchFamily="2" charset="2"/>
              </a:rPr>
              <a:t>(SO</a:t>
            </a:r>
            <a:r>
              <a:rPr lang="en-US" altLang="zh-CN" b="1" baseline="-25000" dirty="0" smtClean="0">
                <a:latin typeface="+mn-ea"/>
                <a:sym typeface="Wingdings" pitchFamily="2" charset="2"/>
              </a:rPr>
              <a:t>4</a:t>
            </a:r>
            <a:r>
              <a:rPr lang="en-US" altLang="zh-CN" b="1" dirty="0" smtClean="0">
                <a:latin typeface="+mn-ea"/>
                <a:sym typeface="Wingdings" pitchFamily="2" charset="2"/>
              </a:rPr>
              <a:t>)</a:t>
            </a:r>
            <a:r>
              <a:rPr lang="en-US" altLang="zh-CN" b="1" baseline="-25000" dirty="0" smtClean="0">
                <a:latin typeface="+mn-ea"/>
                <a:sym typeface="Wingdings" pitchFamily="2" charset="2"/>
              </a:rPr>
              <a:t>3</a:t>
            </a:r>
            <a:r>
              <a:rPr lang="en-US" altLang="zh-CN" b="1" dirty="0" smtClean="0">
                <a:latin typeface="+mn-ea"/>
                <a:sym typeface="Wingdings" pitchFamily="2" charset="2"/>
              </a:rPr>
              <a:t> + 6 NH</a:t>
            </a:r>
            <a:r>
              <a:rPr lang="en-US" altLang="zh-CN" b="1" baseline="-25000" dirty="0" smtClean="0">
                <a:latin typeface="+mn-ea"/>
                <a:sym typeface="Wingdings" pitchFamily="2" charset="2"/>
              </a:rPr>
              <a:t>3</a:t>
            </a:r>
            <a:r>
              <a:rPr lang="en-US" altLang="zh-CN" b="1" dirty="0" smtClean="0">
                <a:latin typeface="+mn-ea"/>
                <a:sym typeface="Wingdings" pitchFamily="2" charset="2"/>
              </a:rPr>
              <a:t> ·H</a:t>
            </a:r>
            <a:r>
              <a:rPr lang="en-US" altLang="zh-CN" b="1" baseline="-25000" dirty="0" smtClean="0">
                <a:latin typeface="+mn-ea"/>
                <a:sym typeface="Wingdings" pitchFamily="2" charset="2"/>
              </a:rPr>
              <a:t>2</a:t>
            </a:r>
            <a:r>
              <a:rPr lang="en-US" altLang="zh-CN" b="1" dirty="0" smtClean="0">
                <a:latin typeface="+mn-ea"/>
                <a:sym typeface="Wingdings" pitchFamily="2" charset="2"/>
              </a:rPr>
              <a:t>O </a:t>
            </a:r>
          </a:p>
          <a:p>
            <a:pPr>
              <a:spcBef>
                <a:spcPts val="600"/>
              </a:spcBef>
              <a:spcAft>
                <a:spcPts val="600"/>
              </a:spcAft>
              <a:buNone/>
            </a:pPr>
            <a:endParaRPr lang="en-US" altLang="zh-CN" b="1" dirty="0" smtClean="0">
              <a:latin typeface="+mn-ea"/>
              <a:sym typeface="Wingdings" pitchFamily="2" charset="2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buNone/>
            </a:pPr>
            <a:endParaRPr lang="en-US" altLang="zh-CN" b="1" dirty="0" smtClean="0">
              <a:latin typeface="+mn-ea"/>
              <a:sym typeface="Wingdings" pitchFamily="2" charset="2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v"/>
            </a:pPr>
            <a:r>
              <a:rPr lang="zh-CN" altLang="en-US" b="1" dirty="0" smtClean="0">
                <a:latin typeface="+mn-ea"/>
                <a:sym typeface="Wingdings" pitchFamily="2" charset="2"/>
              </a:rPr>
              <a:t>实验室制取氢氧化铝的方法</a:t>
            </a:r>
            <a:endParaRPr lang="en-US" altLang="zh-CN" b="1" dirty="0" smtClean="0">
              <a:latin typeface="+mn-ea"/>
              <a:sym typeface="Wingdings" pitchFamily="2" charset="2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b="1" dirty="0" smtClean="0">
                <a:latin typeface="+mn-ea"/>
                <a:sym typeface="Wingdings" pitchFamily="2" charset="2"/>
              </a:rPr>
              <a:t>	</a:t>
            </a:r>
            <a:r>
              <a:rPr lang="zh-CN" altLang="en-US" b="1" u="sng" dirty="0" smtClean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sym typeface="Wingdings" pitchFamily="2" charset="2"/>
              </a:rPr>
              <a:t>铝盐溶液</a:t>
            </a:r>
            <a:r>
              <a:rPr lang="en-US" altLang="zh-CN" b="1" u="sng" dirty="0" smtClean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sym typeface="Wingdings" pitchFamily="2" charset="2"/>
              </a:rPr>
              <a:t>+ </a:t>
            </a:r>
            <a:r>
              <a:rPr lang="zh-CN" altLang="en-US" b="1" u="sng" dirty="0" smtClean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sym typeface="Wingdings" pitchFamily="2" charset="2"/>
              </a:rPr>
              <a:t>氨水</a:t>
            </a:r>
            <a:endParaRPr lang="en-US" altLang="zh-CN" b="1" u="sng" dirty="0" smtClean="0">
              <a:solidFill>
                <a:schemeClr val="bg2">
                  <a:lumMod val="1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sym typeface="Wingdings" pitchFamily="2" charset="2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buNone/>
            </a:pPr>
            <a:endParaRPr lang="en-US" altLang="zh-CN" b="1" dirty="0" smtClean="0">
              <a:latin typeface="+mn-ea"/>
              <a:sym typeface="Wingdings" pitchFamily="2" charset="2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US" altLang="zh-CN" b="1" dirty="0" smtClean="0">
              <a:latin typeface="+mn-ea"/>
              <a:sym typeface="Wingdings" pitchFamily="2" charset="2"/>
            </a:endParaRP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4343400" y="3505200"/>
            <a:ext cx="49530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3A2222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altLang="zh-CN" sz="3600" b="1" kern="0" dirty="0" smtClean="0">
                <a:solidFill>
                  <a:srgbClr val="3A2222"/>
                </a:solidFill>
                <a:latin typeface="+mn-ea"/>
                <a:sym typeface="Wingdings" pitchFamily="2" charset="2"/>
              </a:rPr>
              <a:t>2 Al(OH)</a:t>
            </a:r>
            <a:r>
              <a:rPr lang="en-US" altLang="zh-CN" sz="3600" b="1" kern="0" baseline="-25000" dirty="0" smtClean="0">
                <a:solidFill>
                  <a:srgbClr val="3A2222"/>
                </a:solidFill>
                <a:latin typeface="+mn-ea"/>
                <a:sym typeface="Wingdings" pitchFamily="2" charset="2"/>
              </a:rPr>
              <a:t>3</a:t>
            </a:r>
            <a:r>
              <a:rPr lang="en-US" altLang="zh-CN" sz="3600" b="1" kern="0" dirty="0" smtClean="0">
                <a:solidFill>
                  <a:srgbClr val="3A2222"/>
                </a:solidFill>
                <a:latin typeface="+mn-ea"/>
                <a:sym typeface="Wingdings" pitchFamily="2" charset="2"/>
              </a:rPr>
              <a:t> +3 (NH</a:t>
            </a:r>
            <a:r>
              <a:rPr lang="en-US" altLang="zh-CN" sz="3600" b="1" kern="0" baseline="-25000" dirty="0" smtClean="0">
                <a:solidFill>
                  <a:srgbClr val="3A2222"/>
                </a:solidFill>
                <a:latin typeface="+mn-ea"/>
                <a:sym typeface="Wingdings" pitchFamily="2" charset="2"/>
              </a:rPr>
              <a:t>4</a:t>
            </a:r>
            <a:r>
              <a:rPr lang="en-US" altLang="zh-CN" sz="3600" b="1" kern="0" dirty="0" smtClean="0">
                <a:solidFill>
                  <a:srgbClr val="3A2222"/>
                </a:solidFill>
                <a:latin typeface="+mn-ea"/>
                <a:sym typeface="Wingdings" pitchFamily="2" charset="2"/>
              </a:rPr>
              <a:t>)</a:t>
            </a:r>
            <a:r>
              <a:rPr lang="en-US" altLang="zh-CN" sz="3600" b="1" kern="0" baseline="-25000" dirty="0" smtClean="0">
                <a:solidFill>
                  <a:srgbClr val="3A2222"/>
                </a:solidFill>
                <a:latin typeface="+mn-ea"/>
                <a:sym typeface="Wingdings" pitchFamily="2" charset="2"/>
              </a:rPr>
              <a:t>2</a:t>
            </a:r>
            <a:r>
              <a:rPr lang="en-US" altLang="zh-CN" sz="3600" b="1" kern="0" dirty="0" smtClean="0">
                <a:solidFill>
                  <a:srgbClr val="3A2222"/>
                </a:solidFill>
                <a:latin typeface="+mn-ea"/>
                <a:sym typeface="Wingdings" pitchFamily="2" charset="2"/>
              </a:rPr>
              <a:t> SO</a:t>
            </a:r>
            <a:r>
              <a:rPr lang="en-US" altLang="zh-CN" sz="3600" b="1" kern="0" baseline="-25000" dirty="0" smtClean="0">
                <a:solidFill>
                  <a:srgbClr val="3A2222"/>
                </a:solidFill>
                <a:latin typeface="+mn-ea"/>
                <a:sym typeface="Wingdings" pitchFamily="2" charset="2"/>
              </a:rPr>
              <a:t>4</a:t>
            </a:r>
            <a:endParaRPr kumimoji="0" lang="en-US" altLang="zh-CN" sz="3600" b="1" i="0" u="none" strike="noStrike" kern="0" cap="none" spc="0" normalizeH="0" baseline="0" noProof="0" dirty="0" smtClean="0">
              <a:ln>
                <a:noFill/>
              </a:ln>
              <a:solidFill>
                <a:srgbClr val="3A2222"/>
              </a:solidFill>
              <a:effectLst/>
              <a:uLnTx/>
              <a:uFillTx/>
              <a:latin typeface="+mn-ea"/>
              <a:ea typeface="+mn-ea"/>
              <a:cs typeface="+mn-cs"/>
              <a:sym typeface="Wingdings" pitchFamily="2" charset="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tabLst/>
              <a:defRPr/>
            </a:pPr>
            <a:endParaRPr kumimoji="0" lang="en-US" altLang="zh-CN" sz="3600" b="1" i="0" u="none" strike="noStrike" kern="0" cap="none" spc="0" normalizeH="0" baseline="0" noProof="0" dirty="0" smtClean="0">
              <a:ln>
                <a:noFill/>
              </a:ln>
              <a:solidFill>
                <a:srgbClr val="3A2222"/>
              </a:solidFill>
              <a:effectLst/>
              <a:uLnTx/>
              <a:uFillTx/>
              <a:latin typeface="+mn-ea"/>
              <a:ea typeface="+mn-ea"/>
              <a:cs typeface="+mn-cs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009299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1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1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1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1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6" grpId="0" uiExpand="1" build="p"/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idx="1"/>
          </p:nvPr>
        </p:nvSpPr>
        <p:spPr>
          <a:xfrm>
            <a:off x="685800" y="152400"/>
            <a:ext cx="8305800" cy="6705600"/>
          </a:xfrm>
          <a:extLst>
            <a:ext uri="{909E8E84-426E-40DD-AFC4-6F175D3DCCD1}">
              <a14:hiddenFill xmlns:a14="http://schemas.microsoft.com/office/drawing/2010/main" xmlns="">
                <a:solidFill>
                  <a:srgbClr val="3A2222"/>
                </a:solidFill>
              </a14:hiddenFill>
            </a:ext>
          </a:extLst>
        </p:spPr>
        <p:txBody>
          <a:bodyPr/>
          <a:lstStyle/>
          <a:p>
            <a:pPr marL="0" indent="0"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en-US" altLang="zh-CN" sz="4000" b="1" u="sng" dirty="0" smtClean="0">
                <a:latin typeface="+mn-ea"/>
              </a:rPr>
              <a:t>11.2 </a:t>
            </a:r>
            <a:r>
              <a:rPr lang="zh-CN" altLang="en-US" sz="4000" b="1" u="sng" dirty="0" smtClean="0">
                <a:latin typeface="+mn-ea"/>
              </a:rPr>
              <a:t>铝的重要化合物</a:t>
            </a:r>
            <a:endParaRPr lang="en-US" altLang="zh-CN" sz="4000" b="1" u="sng" dirty="0" smtClean="0">
              <a:latin typeface="+mn-ea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zh-CN" altLang="en-US" b="1" dirty="0" smtClean="0">
                <a:latin typeface="+mn-ea"/>
                <a:sym typeface="Wingdings" pitchFamily="2" charset="2"/>
              </a:rPr>
              <a:t>活动</a:t>
            </a:r>
            <a:r>
              <a:rPr lang="en-US" altLang="zh-CN" b="1" dirty="0" smtClean="0">
                <a:latin typeface="+mn-ea"/>
                <a:sym typeface="Wingdings" pitchFamily="2" charset="2"/>
              </a:rPr>
              <a:t>5	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zh-CN" altLang="en-US" b="1" dirty="0" smtClean="0">
                <a:latin typeface="+mn-ea"/>
                <a:sym typeface="Wingdings" pitchFamily="2" charset="2"/>
              </a:rPr>
              <a:t>现象：白色氢氧化铝沉淀，既能溶于酸也能溶于强碱溶液。</a:t>
            </a:r>
            <a:endParaRPr lang="en-US" altLang="zh-CN" b="1" dirty="0" smtClean="0">
              <a:latin typeface="+mn-ea"/>
              <a:sym typeface="Wingdings" pitchFamily="2" charset="2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b="1" dirty="0" smtClean="0">
                <a:latin typeface="+mn-ea"/>
                <a:sym typeface="Wingdings" pitchFamily="2" charset="2"/>
              </a:rPr>
              <a:t>Al(OH)</a:t>
            </a:r>
            <a:r>
              <a:rPr lang="en-US" altLang="zh-CN" b="1" baseline="-25000" dirty="0" smtClean="0">
                <a:latin typeface="+mn-ea"/>
                <a:sym typeface="Wingdings" pitchFamily="2" charset="2"/>
              </a:rPr>
              <a:t>3</a:t>
            </a:r>
            <a:r>
              <a:rPr lang="en-US" altLang="zh-CN" b="1" dirty="0" smtClean="0">
                <a:latin typeface="+mn-ea"/>
                <a:sym typeface="Wingdings" pitchFamily="2" charset="2"/>
              </a:rPr>
              <a:t> + 3HCl </a:t>
            </a:r>
          </a:p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b="1" dirty="0" smtClean="0">
                <a:latin typeface="+mn-ea"/>
                <a:sym typeface="Wingdings" pitchFamily="2" charset="2"/>
              </a:rPr>
              <a:t>Al(OH)</a:t>
            </a:r>
            <a:r>
              <a:rPr lang="en-US" altLang="zh-CN" b="1" baseline="-25000" dirty="0" smtClean="0">
                <a:latin typeface="+mn-ea"/>
                <a:sym typeface="Wingdings" pitchFamily="2" charset="2"/>
              </a:rPr>
              <a:t>3</a:t>
            </a:r>
            <a:r>
              <a:rPr lang="en-US" altLang="zh-CN" b="1" dirty="0" smtClean="0">
                <a:latin typeface="+mn-ea"/>
                <a:sym typeface="Wingdings" pitchFamily="2" charset="2"/>
              </a:rPr>
              <a:t> + </a:t>
            </a:r>
            <a:r>
              <a:rPr lang="en-US" altLang="zh-CN" b="1" dirty="0" err="1" smtClean="0">
                <a:latin typeface="+mn-ea"/>
                <a:sym typeface="Wingdings" pitchFamily="2" charset="2"/>
              </a:rPr>
              <a:t>NaOH</a:t>
            </a:r>
            <a:r>
              <a:rPr lang="en-US" altLang="zh-CN" b="1" dirty="0" smtClean="0">
                <a:latin typeface="+mn-ea"/>
                <a:sym typeface="Wingdings" pitchFamily="2" charset="2"/>
              </a:rPr>
              <a:t>  </a:t>
            </a:r>
          </a:p>
          <a:p>
            <a:pPr>
              <a:spcBef>
                <a:spcPts val="600"/>
              </a:spcBef>
              <a:spcAft>
                <a:spcPts val="600"/>
              </a:spcAft>
              <a:buNone/>
            </a:pPr>
            <a:endParaRPr lang="en-US" altLang="zh-CN" b="1" dirty="0" smtClean="0">
              <a:latin typeface="+mn-ea"/>
              <a:sym typeface="Wingdings" pitchFamily="2" charset="2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v"/>
            </a:pPr>
            <a:r>
              <a:rPr lang="zh-CN" altLang="en-US" b="1" dirty="0" smtClean="0">
                <a:latin typeface="+mn-ea"/>
                <a:sym typeface="Wingdings" pitchFamily="2" charset="2"/>
              </a:rPr>
              <a:t>氢氧化铝是两性氢氧化物</a:t>
            </a:r>
            <a:r>
              <a:rPr lang="en-US" altLang="zh-CN" b="1" dirty="0" smtClean="0">
                <a:latin typeface="+mn-ea"/>
                <a:sym typeface="Wingdings" pitchFamily="2" charset="2"/>
              </a:rPr>
              <a:t> </a:t>
            </a: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US" altLang="zh-CN" b="1" dirty="0" smtClean="0">
              <a:latin typeface="+mn-ea"/>
              <a:sym typeface="Wingdings" pitchFamily="2" charset="2"/>
            </a:endParaRP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4191000" y="2667000"/>
            <a:ext cx="49530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3A2222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altLang="zh-CN" sz="3600" b="1" kern="0" dirty="0" smtClean="0">
                <a:solidFill>
                  <a:srgbClr val="3A2222"/>
                </a:solidFill>
                <a:latin typeface="+mn-ea"/>
                <a:sym typeface="Wingdings" pitchFamily="2" charset="2"/>
              </a:rPr>
              <a:t>AlCl</a:t>
            </a:r>
            <a:r>
              <a:rPr lang="en-US" altLang="zh-CN" sz="3600" b="1" kern="0" baseline="-25000" dirty="0" smtClean="0">
                <a:solidFill>
                  <a:srgbClr val="3A2222"/>
                </a:solidFill>
                <a:latin typeface="+mn-ea"/>
                <a:sym typeface="Wingdings" pitchFamily="2" charset="2"/>
              </a:rPr>
              <a:t>3</a:t>
            </a:r>
            <a:r>
              <a:rPr lang="en-US" altLang="zh-CN" sz="3600" b="1" kern="0" dirty="0" smtClean="0">
                <a:solidFill>
                  <a:srgbClr val="3A2222"/>
                </a:solidFill>
                <a:latin typeface="+mn-ea"/>
                <a:sym typeface="Wingdings" pitchFamily="2" charset="2"/>
              </a:rPr>
              <a:t> +3 H</a:t>
            </a:r>
            <a:r>
              <a:rPr lang="en-US" altLang="zh-CN" sz="3600" b="1" kern="0" baseline="-25000" dirty="0" smtClean="0">
                <a:solidFill>
                  <a:srgbClr val="3A2222"/>
                </a:solidFill>
                <a:latin typeface="+mn-ea"/>
                <a:sym typeface="Wingdings" pitchFamily="2" charset="2"/>
              </a:rPr>
              <a:t>2</a:t>
            </a:r>
            <a:r>
              <a:rPr lang="en-US" altLang="zh-CN" sz="3600" b="1" kern="0" dirty="0" smtClean="0">
                <a:solidFill>
                  <a:srgbClr val="3A2222"/>
                </a:solidFill>
                <a:latin typeface="+mn-ea"/>
                <a:sym typeface="Wingdings" pitchFamily="2" charset="2"/>
              </a:rPr>
              <a:t>O</a:t>
            </a:r>
            <a:endParaRPr kumimoji="0" lang="en-US" altLang="zh-CN" sz="3600" b="1" i="0" u="none" strike="noStrike" kern="0" cap="none" spc="0" normalizeH="0" baseline="0" noProof="0" dirty="0" smtClean="0">
              <a:ln>
                <a:noFill/>
              </a:ln>
              <a:solidFill>
                <a:srgbClr val="3A2222"/>
              </a:solidFill>
              <a:effectLst/>
              <a:uLnTx/>
              <a:uFillTx/>
              <a:latin typeface="+mn-ea"/>
              <a:ea typeface="+mn-ea"/>
              <a:cs typeface="+mn-cs"/>
              <a:sym typeface="Wingdings" pitchFamily="2" charset="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tabLst/>
              <a:defRPr/>
            </a:pPr>
            <a:endParaRPr kumimoji="0" lang="en-US" altLang="zh-CN" sz="3600" b="1" i="0" u="none" strike="noStrike" kern="0" cap="none" spc="0" normalizeH="0" baseline="0" noProof="0" dirty="0" smtClean="0">
              <a:ln>
                <a:noFill/>
              </a:ln>
              <a:solidFill>
                <a:srgbClr val="3A2222"/>
              </a:solidFill>
              <a:effectLst/>
              <a:uLnTx/>
              <a:uFillTx/>
              <a:latin typeface="+mn-ea"/>
              <a:ea typeface="+mn-ea"/>
              <a:cs typeface="+mn-cs"/>
              <a:sym typeface="Wingdings" pitchFamily="2" charset="2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4343400" y="3276600"/>
            <a:ext cx="49530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3A2222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altLang="zh-CN" sz="3600" b="1" kern="0" dirty="0" smtClean="0">
                <a:solidFill>
                  <a:srgbClr val="3A2222"/>
                </a:solidFill>
                <a:latin typeface="+mn-ea"/>
                <a:sym typeface="Wingdings" pitchFamily="2" charset="2"/>
              </a:rPr>
              <a:t>NaAlO</a:t>
            </a:r>
            <a:r>
              <a:rPr lang="en-US" altLang="zh-CN" sz="3600" b="1" kern="0" baseline="-25000" dirty="0" smtClean="0">
                <a:solidFill>
                  <a:srgbClr val="3A2222"/>
                </a:solidFill>
                <a:latin typeface="+mn-ea"/>
                <a:sym typeface="Wingdings" pitchFamily="2" charset="2"/>
              </a:rPr>
              <a:t>2</a:t>
            </a:r>
            <a:r>
              <a:rPr lang="en-US" altLang="zh-CN" sz="3600" b="1" kern="0" dirty="0" smtClean="0">
                <a:solidFill>
                  <a:srgbClr val="3A2222"/>
                </a:solidFill>
                <a:latin typeface="+mn-ea"/>
                <a:sym typeface="Wingdings" pitchFamily="2" charset="2"/>
              </a:rPr>
              <a:t> +2 H</a:t>
            </a:r>
            <a:r>
              <a:rPr lang="en-US" altLang="zh-CN" sz="3600" b="1" kern="0" baseline="-25000" dirty="0" smtClean="0">
                <a:solidFill>
                  <a:srgbClr val="3A2222"/>
                </a:solidFill>
                <a:latin typeface="+mn-ea"/>
                <a:sym typeface="Wingdings" pitchFamily="2" charset="2"/>
              </a:rPr>
              <a:t>2</a:t>
            </a:r>
            <a:r>
              <a:rPr lang="en-US" altLang="zh-CN" sz="3600" b="1" kern="0" dirty="0" smtClean="0">
                <a:solidFill>
                  <a:srgbClr val="3A2222"/>
                </a:solidFill>
                <a:latin typeface="+mn-ea"/>
                <a:sym typeface="Wingdings" pitchFamily="2" charset="2"/>
              </a:rPr>
              <a:t>O</a:t>
            </a:r>
            <a:endParaRPr kumimoji="0" lang="en-US" altLang="zh-CN" sz="3600" b="1" i="0" u="none" strike="noStrike" kern="0" cap="none" spc="0" normalizeH="0" baseline="0" noProof="0" dirty="0" smtClean="0">
              <a:ln>
                <a:noFill/>
              </a:ln>
              <a:solidFill>
                <a:srgbClr val="3A2222"/>
              </a:solidFill>
              <a:effectLst/>
              <a:uLnTx/>
              <a:uFillTx/>
              <a:latin typeface="+mn-ea"/>
              <a:ea typeface="+mn-ea"/>
              <a:cs typeface="+mn-cs"/>
              <a:sym typeface="Wingdings" pitchFamily="2" charset="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tabLst/>
              <a:defRPr/>
            </a:pPr>
            <a:endParaRPr kumimoji="0" lang="en-US" altLang="zh-CN" sz="3600" b="1" i="0" u="none" strike="noStrike" kern="0" cap="none" spc="0" normalizeH="0" baseline="0" noProof="0" dirty="0" smtClean="0">
              <a:ln>
                <a:noFill/>
              </a:ln>
              <a:solidFill>
                <a:srgbClr val="3A2222"/>
              </a:solidFill>
              <a:effectLst/>
              <a:uLnTx/>
              <a:uFillTx/>
              <a:latin typeface="+mn-ea"/>
              <a:ea typeface="+mn-ea"/>
              <a:cs typeface="+mn-cs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009299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1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1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6" grpId="0" uiExpand="1" build="p"/>
      <p:bldP spid="3" grpId="0" build="p"/>
      <p:bldP spid="4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idx="1"/>
          </p:nvPr>
        </p:nvSpPr>
        <p:spPr>
          <a:xfrm>
            <a:off x="685800" y="152400"/>
            <a:ext cx="8305800" cy="6705600"/>
          </a:xfrm>
          <a:extLst>
            <a:ext uri="{909E8E84-426E-40DD-AFC4-6F175D3DCCD1}">
              <a14:hiddenFill xmlns:a14="http://schemas.microsoft.com/office/drawing/2010/main" xmlns="">
                <a:solidFill>
                  <a:srgbClr val="3A2222"/>
                </a:solidFill>
              </a14:hiddenFill>
            </a:ext>
          </a:extLst>
        </p:spPr>
        <p:txBody>
          <a:bodyPr/>
          <a:lstStyle/>
          <a:p>
            <a:pPr marL="0" indent="0"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en-US" altLang="zh-CN" sz="4000" b="1" u="sng" dirty="0" smtClean="0">
                <a:latin typeface="+mn-ea"/>
              </a:rPr>
              <a:t>11.2 </a:t>
            </a:r>
            <a:r>
              <a:rPr lang="zh-CN" altLang="en-US" sz="4000" b="1" u="sng" dirty="0" smtClean="0">
                <a:latin typeface="+mn-ea"/>
              </a:rPr>
              <a:t>铝的重要化合物</a:t>
            </a:r>
            <a:endParaRPr lang="en-US" altLang="zh-CN" sz="4000" b="1" u="sng" dirty="0" smtClean="0">
              <a:latin typeface="+mn-ea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b="1" dirty="0" smtClean="0">
                <a:latin typeface="+mn-ea"/>
                <a:sym typeface="Wingdings" pitchFamily="2" charset="2"/>
              </a:rPr>
              <a:t>Al(OH)</a:t>
            </a:r>
            <a:r>
              <a:rPr lang="en-US" altLang="zh-CN" b="1" baseline="-25000" dirty="0" smtClean="0">
                <a:latin typeface="+mn-ea"/>
                <a:sym typeface="Wingdings" pitchFamily="2" charset="2"/>
              </a:rPr>
              <a:t>3</a:t>
            </a:r>
            <a:r>
              <a:rPr lang="en-US" altLang="zh-CN" b="1" dirty="0" smtClean="0">
                <a:latin typeface="+mn-ea"/>
                <a:sym typeface="Wingdings" pitchFamily="2" charset="2"/>
              </a:rPr>
              <a:t>	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zh-CN" altLang="en-US" b="1" dirty="0" smtClean="0">
                <a:latin typeface="+mn-ea"/>
                <a:sym typeface="Wingdings" pitchFamily="2" charset="2"/>
              </a:rPr>
              <a:t>胃酸中和剂的成分</a:t>
            </a:r>
            <a:endParaRPr lang="en-US" altLang="zh-CN" b="1" dirty="0" smtClean="0">
              <a:latin typeface="+mn-ea"/>
              <a:sym typeface="Wingdings" pitchFamily="2" charset="2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zh-CN" altLang="en-US" b="1" dirty="0" smtClean="0">
                <a:latin typeface="+mn-ea"/>
                <a:sym typeface="Wingdings" pitchFamily="2" charset="2"/>
              </a:rPr>
              <a:t>受热分解 </a:t>
            </a:r>
            <a:r>
              <a:rPr lang="en-US" altLang="zh-CN" b="1" dirty="0" smtClean="0">
                <a:latin typeface="+mn-ea"/>
                <a:sym typeface="Wingdings" pitchFamily="2" charset="2"/>
              </a:rPr>
              <a:t>2 Al(OH)</a:t>
            </a:r>
            <a:r>
              <a:rPr lang="en-US" altLang="zh-CN" b="1" baseline="-25000" dirty="0" smtClean="0">
                <a:latin typeface="+mn-ea"/>
                <a:sym typeface="Wingdings" pitchFamily="2" charset="2"/>
              </a:rPr>
              <a:t>3</a:t>
            </a:r>
            <a:r>
              <a:rPr lang="en-US" altLang="zh-CN" b="1" dirty="0" smtClean="0">
                <a:latin typeface="+mn-ea"/>
                <a:sym typeface="Wingdings" pitchFamily="2" charset="2"/>
              </a:rPr>
              <a:t>  Al</a:t>
            </a:r>
            <a:r>
              <a:rPr lang="en-US" altLang="zh-CN" b="1" baseline="-25000" dirty="0" smtClean="0">
                <a:latin typeface="+mn-ea"/>
                <a:sym typeface="Wingdings" pitchFamily="2" charset="2"/>
              </a:rPr>
              <a:t>2</a:t>
            </a:r>
            <a:r>
              <a:rPr lang="en-US" altLang="zh-CN" b="1" dirty="0" smtClean="0">
                <a:latin typeface="+mn-ea"/>
                <a:sym typeface="Wingdings" pitchFamily="2" charset="2"/>
              </a:rPr>
              <a:t>O</a:t>
            </a:r>
            <a:r>
              <a:rPr lang="en-US" altLang="zh-CN" b="1" baseline="-25000" dirty="0" smtClean="0">
                <a:latin typeface="+mn-ea"/>
                <a:sym typeface="Wingdings" pitchFamily="2" charset="2"/>
              </a:rPr>
              <a:t>3</a:t>
            </a:r>
            <a:r>
              <a:rPr lang="en-US" altLang="zh-CN" b="1" dirty="0" smtClean="0">
                <a:latin typeface="+mn-ea"/>
                <a:sym typeface="Wingdings" pitchFamily="2" charset="2"/>
              </a:rPr>
              <a:t> + 3 H</a:t>
            </a:r>
            <a:r>
              <a:rPr lang="en-US" altLang="zh-CN" b="1" baseline="-25000" dirty="0" smtClean="0">
                <a:latin typeface="+mn-ea"/>
                <a:sym typeface="Wingdings" pitchFamily="2" charset="2"/>
              </a:rPr>
              <a:t>2</a:t>
            </a:r>
            <a:r>
              <a:rPr lang="en-US" altLang="zh-CN" b="1" dirty="0" smtClean="0">
                <a:latin typeface="+mn-ea"/>
                <a:sym typeface="Wingdings" pitchFamily="2" charset="2"/>
              </a:rPr>
              <a:t>O</a:t>
            </a:r>
          </a:p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b="1" dirty="0" smtClean="0">
                <a:latin typeface="+mn-ea"/>
                <a:sym typeface="Wingdings" pitchFamily="2" charset="2"/>
              </a:rPr>
              <a:t>	</a:t>
            </a:r>
            <a:r>
              <a:rPr lang="zh-CN" altLang="en-US" b="1" dirty="0" smtClean="0">
                <a:latin typeface="+mn-ea"/>
                <a:sym typeface="Wingdings" pitchFamily="2" charset="2"/>
              </a:rPr>
              <a:t>同时吸收大量的热</a:t>
            </a:r>
            <a:endParaRPr lang="en-US" altLang="zh-CN" b="1" dirty="0" smtClean="0">
              <a:latin typeface="+mn-ea"/>
              <a:sym typeface="Wingdings" pitchFamily="2" charset="2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b="1" dirty="0" smtClean="0">
                <a:latin typeface="+mn-ea"/>
                <a:sym typeface="Wingdings" pitchFamily="2" charset="2"/>
              </a:rPr>
              <a:t>	</a:t>
            </a:r>
            <a:r>
              <a:rPr lang="zh-CN" altLang="en-US" b="1" dirty="0" smtClean="0">
                <a:latin typeface="+mn-ea"/>
                <a:sym typeface="Wingdings" pitchFamily="2" charset="2"/>
              </a:rPr>
              <a:t>可作为阻燃剂</a:t>
            </a:r>
            <a:endParaRPr lang="en-US" altLang="zh-CN" b="1" dirty="0" smtClean="0">
              <a:latin typeface="+mn-ea"/>
              <a:sym typeface="Wingdings" pitchFamily="2" charset="2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b="1" dirty="0" smtClean="0">
                <a:latin typeface="+mn-ea"/>
                <a:sym typeface="Wingdings" pitchFamily="2" charset="2"/>
              </a:rPr>
              <a:t>	</a:t>
            </a:r>
            <a:r>
              <a:rPr lang="zh-CN" altLang="en-US" b="1" dirty="0" smtClean="0">
                <a:latin typeface="+mn-ea"/>
                <a:sym typeface="Wingdings" pitchFamily="2" charset="2"/>
              </a:rPr>
              <a:t>无公害阻燃剂</a:t>
            </a:r>
            <a:endParaRPr lang="en-US" altLang="zh-CN" b="1" dirty="0" smtClean="0">
              <a:latin typeface="+mn-ea"/>
              <a:sym typeface="Wingdings" pitchFamily="2" charset="2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zh-CN" altLang="en-US" b="1" dirty="0" smtClean="0">
                <a:latin typeface="+mn-ea"/>
                <a:sym typeface="Wingdings" pitchFamily="2" charset="2"/>
              </a:rPr>
              <a:t>具有阻燃、消烟、填充功能</a:t>
            </a:r>
            <a:endParaRPr lang="en-US" altLang="zh-CN" b="1" dirty="0" smtClean="0">
              <a:latin typeface="+mn-ea"/>
              <a:sym typeface="Wingdings" pitchFamily="2" charset="2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altLang="zh-CN" b="1" dirty="0" smtClean="0">
              <a:latin typeface="+mn-ea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009299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1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1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1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1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6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idx="1"/>
          </p:nvPr>
        </p:nvSpPr>
        <p:spPr>
          <a:xfrm>
            <a:off x="685800" y="152400"/>
            <a:ext cx="8305800" cy="6705600"/>
          </a:xfrm>
          <a:extLst>
            <a:ext uri="{909E8E84-426E-40DD-AFC4-6F175D3DCCD1}">
              <a14:hiddenFill xmlns:a14="http://schemas.microsoft.com/office/drawing/2010/main" xmlns="">
                <a:solidFill>
                  <a:srgbClr val="3A2222"/>
                </a:solidFill>
              </a14:hiddenFill>
            </a:ext>
          </a:extLst>
        </p:spPr>
        <p:txBody>
          <a:bodyPr/>
          <a:lstStyle/>
          <a:p>
            <a:pPr marL="0" indent="0"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en-US" altLang="zh-CN" sz="4000" b="1" u="sng" dirty="0" smtClean="0">
                <a:latin typeface="+mn-ea"/>
              </a:rPr>
              <a:t>14.11 </a:t>
            </a:r>
            <a:r>
              <a:rPr lang="zh-CN" altLang="en-US" sz="4000" b="1" u="sng" dirty="0" smtClean="0">
                <a:latin typeface="+mn-ea"/>
              </a:rPr>
              <a:t>铝的重要化合物</a:t>
            </a:r>
            <a:endParaRPr lang="en-US" altLang="zh-CN" sz="3100" b="1" dirty="0" smtClean="0">
              <a:latin typeface="+mn-ea"/>
              <a:sym typeface="Wingdings" pitchFamily="2" charset="2"/>
            </a:endParaRP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zh-CN" altLang="en-US" sz="3100" b="1" dirty="0" smtClean="0">
                <a:latin typeface="+mn-ea"/>
                <a:sym typeface="Wingdings" pitchFamily="2" charset="2"/>
              </a:rPr>
              <a:t>复盐：两种不同的金属离子和一种酸根组成的盐。</a:t>
            </a:r>
            <a:endParaRPr lang="en-US" altLang="zh-CN" sz="3100" b="1" dirty="0" smtClean="0">
              <a:latin typeface="+mn-ea"/>
              <a:sym typeface="Wingdings" pitchFamily="2" charset="2"/>
            </a:endParaRP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US" altLang="zh-CN" sz="3100" b="1" dirty="0" err="1" smtClean="0">
                <a:latin typeface="+mn-ea"/>
                <a:sym typeface="Wingdings" pitchFamily="2" charset="2"/>
              </a:rPr>
              <a:t>KAl</a:t>
            </a:r>
            <a:r>
              <a:rPr lang="en-US" altLang="zh-CN" sz="3100" b="1" dirty="0" smtClean="0">
                <a:latin typeface="+mn-ea"/>
                <a:sym typeface="Wingdings" pitchFamily="2" charset="2"/>
              </a:rPr>
              <a:t>(SO</a:t>
            </a:r>
            <a:r>
              <a:rPr lang="en-US" altLang="zh-CN" sz="3100" b="1" baseline="-25000" dirty="0" smtClean="0">
                <a:latin typeface="+mn-ea"/>
                <a:sym typeface="Wingdings" pitchFamily="2" charset="2"/>
              </a:rPr>
              <a:t>4</a:t>
            </a:r>
            <a:r>
              <a:rPr lang="en-US" altLang="zh-CN" sz="3100" b="1" dirty="0" smtClean="0">
                <a:latin typeface="+mn-ea"/>
                <a:sym typeface="Wingdings" pitchFamily="2" charset="2"/>
              </a:rPr>
              <a:t>)</a:t>
            </a:r>
            <a:r>
              <a:rPr lang="en-US" altLang="zh-CN" sz="3100" b="1" baseline="-25000" dirty="0" smtClean="0">
                <a:latin typeface="+mn-ea"/>
                <a:sym typeface="Wingdings" pitchFamily="2" charset="2"/>
              </a:rPr>
              <a:t>2</a:t>
            </a:r>
            <a:r>
              <a:rPr lang="en-US" altLang="zh-CN" sz="3100" b="1" dirty="0" smtClean="0">
                <a:latin typeface="+mn-ea"/>
                <a:sym typeface="Wingdings" pitchFamily="2" charset="2"/>
              </a:rPr>
              <a:t> ·12H</a:t>
            </a:r>
            <a:r>
              <a:rPr lang="en-US" altLang="zh-CN" sz="3100" b="1" baseline="-25000" dirty="0" smtClean="0">
                <a:latin typeface="+mn-ea"/>
                <a:sym typeface="Wingdings" pitchFamily="2" charset="2"/>
              </a:rPr>
              <a:t>2</a:t>
            </a:r>
            <a:r>
              <a:rPr lang="en-US" altLang="zh-CN" sz="3100" b="1" dirty="0" smtClean="0">
                <a:latin typeface="+mn-ea"/>
                <a:sym typeface="Wingdings" pitchFamily="2" charset="2"/>
              </a:rPr>
              <a:t>O</a:t>
            </a:r>
            <a:r>
              <a:rPr lang="zh-CN" altLang="en-US" sz="3100" b="1" dirty="0" smtClean="0">
                <a:latin typeface="+mn-ea"/>
                <a:sym typeface="Wingdings" pitchFamily="2" charset="2"/>
              </a:rPr>
              <a:t>俗称明矾</a:t>
            </a:r>
            <a:endParaRPr lang="en-US" altLang="zh-CN" sz="3100" b="1" dirty="0" smtClean="0">
              <a:latin typeface="+mn-ea"/>
              <a:sym typeface="Wingdings" pitchFamily="2" charset="2"/>
            </a:endParaRP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zh-CN" altLang="en-US" sz="3100" b="1" dirty="0" smtClean="0">
                <a:latin typeface="+mn-ea"/>
                <a:sym typeface="Wingdings" pitchFamily="2" charset="2"/>
              </a:rPr>
              <a:t>无色透明晶体，可溶于水</a:t>
            </a:r>
            <a:endParaRPr lang="en-US" altLang="zh-CN" sz="3100" b="1" dirty="0" smtClean="0">
              <a:latin typeface="+mn-ea"/>
              <a:sym typeface="Wingdings" pitchFamily="2" charset="2"/>
            </a:endParaRP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zh-CN" altLang="en-US" sz="3100" b="1" dirty="0" smtClean="0">
                <a:latin typeface="+mn-ea"/>
                <a:sym typeface="Wingdings" pitchFamily="2" charset="2"/>
              </a:rPr>
              <a:t>水解生成氢氧化铝。</a:t>
            </a:r>
            <a:endParaRPr lang="en-US" altLang="zh-CN" sz="3100" b="1" dirty="0" smtClean="0">
              <a:latin typeface="+mn-ea"/>
              <a:sym typeface="Wingdings" pitchFamily="2" charset="2"/>
            </a:endParaRPr>
          </a:p>
          <a:p>
            <a:pPr>
              <a:spcBef>
                <a:spcPts val="600"/>
              </a:spcBef>
              <a:spcAft>
                <a:spcPts val="0"/>
              </a:spcAft>
              <a:buNone/>
            </a:pPr>
            <a:r>
              <a:rPr lang="en-US" altLang="zh-CN" sz="2800" dirty="0" err="1" smtClean="0">
                <a:latin typeface="+mn-ea"/>
                <a:sym typeface="Wingdings" pitchFamily="2" charset="2"/>
              </a:rPr>
              <a:t>KAl</a:t>
            </a:r>
            <a:r>
              <a:rPr lang="en-US" altLang="zh-CN" sz="2800" dirty="0" smtClean="0">
                <a:latin typeface="+mn-ea"/>
                <a:sym typeface="Wingdings" pitchFamily="2" charset="2"/>
              </a:rPr>
              <a:t>(SO</a:t>
            </a:r>
            <a:r>
              <a:rPr lang="en-US" altLang="zh-CN" sz="2800" baseline="-25000" dirty="0" smtClean="0">
                <a:latin typeface="+mn-ea"/>
                <a:sym typeface="Wingdings" pitchFamily="2" charset="2"/>
              </a:rPr>
              <a:t>4</a:t>
            </a:r>
            <a:r>
              <a:rPr lang="en-US" altLang="zh-CN" sz="2800" dirty="0" smtClean="0">
                <a:latin typeface="+mn-ea"/>
                <a:sym typeface="Wingdings" pitchFamily="2" charset="2"/>
              </a:rPr>
              <a:t>)</a:t>
            </a:r>
            <a:r>
              <a:rPr lang="en-US" altLang="zh-CN" sz="2800" baseline="-25000" dirty="0" smtClean="0">
                <a:latin typeface="+mn-ea"/>
                <a:sym typeface="Wingdings" pitchFamily="2" charset="2"/>
              </a:rPr>
              <a:t>2</a:t>
            </a:r>
            <a:r>
              <a:rPr lang="en-US" altLang="zh-CN" sz="2800" dirty="0" smtClean="0">
                <a:latin typeface="+mn-ea"/>
                <a:sym typeface="Wingdings" pitchFamily="2" charset="2"/>
              </a:rPr>
              <a:t> (s) K</a:t>
            </a:r>
            <a:r>
              <a:rPr lang="en-US" altLang="zh-CN" sz="2800" baseline="30000" dirty="0" smtClean="0">
                <a:latin typeface="+mn-ea"/>
                <a:sym typeface="Wingdings" pitchFamily="2" charset="2"/>
              </a:rPr>
              <a:t>+</a:t>
            </a:r>
            <a:r>
              <a:rPr lang="en-US" altLang="zh-CN" sz="2800" dirty="0" smtClean="0">
                <a:latin typeface="+mn-ea"/>
                <a:sym typeface="Wingdings" pitchFamily="2" charset="2"/>
              </a:rPr>
              <a:t> (</a:t>
            </a:r>
            <a:r>
              <a:rPr lang="en-US" altLang="zh-CN" sz="2800" dirty="0" err="1" smtClean="0">
                <a:latin typeface="+mn-ea"/>
                <a:sym typeface="Wingdings" pitchFamily="2" charset="2"/>
              </a:rPr>
              <a:t>aq</a:t>
            </a:r>
            <a:r>
              <a:rPr lang="en-US" altLang="zh-CN" sz="2800" dirty="0" smtClean="0">
                <a:latin typeface="+mn-ea"/>
                <a:sym typeface="Wingdings" pitchFamily="2" charset="2"/>
              </a:rPr>
              <a:t>) + Al</a:t>
            </a:r>
            <a:r>
              <a:rPr lang="en-US" altLang="zh-CN" sz="2800" baseline="30000" dirty="0" smtClean="0">
                <a:latin typeface="+mn-ea"/>
                <a:sym typeface="Wingdings" pitchFamily="2" charset="2"/>
              </a:rPr>
              <a:t>3+</a:t>
            </a:r>
            <a:r>
              <a:rPr lang="en-US" altLang="zh-CN" sz="2800" dirty="0" smtClean="0">
                <a:latin typeface="+mn-ea"/>
                <a:sym typeface="Wingdings" pitchFamily="2" charset="2"/>
              </a:rPr>
              <a:t> (</a:t>
            </a:r>
            <a:r>
              <a:rPr lang="en-US" altLang="zh-CN" sz="2800" dirty="0" err="1" smtClean="0">
                <a:latin typeface="+mn-ea"/>
                <a:sym typeface="Wingdings" pitchFamily="2" charset="2"/>
              </a:rPr>
              <a:t>aq</a:t>
            </a:r>
            <a:r>
              <a:rPr lang="en-US" altLang="zh-CN" sz="2800" dirty="0" smtClean="0">
                <a:latin typeface="+mn-ea"/>
                <a:sym typeface="Wingdings" pitchFamily="2" charset="2"/>
              </a:rPr>
              <a:t>) + 2 SO</a:t>
            </a:r>
            <a:r>
              <a:rPr lang="en-US" altLang="zh-CN" sz="2800" baseline="-25000" dirty="0" smtClean="0">
                <a:latin typeface="+mn-ea"/>
                <a:sym typeface="Wingdings" pitchFamily="2" charset="2"/>
              </a:rPr>
              <a:t>4</a:t>
            </a:r>
            <a:r>
              <a:rPr lang="en-US" altLang="zh-CN" sz="2800" baseline="30000" dirty="0" smtClean="0">
                <a:latin typeface="+mn-ea"/>
                <a:sym typeface="Wingdings" pitchFamily="2" charset="2"/>
              </a:rPr>
              <a:t>2-</a:t>
            </a:r>
            <a:r>
              <a:rPr lang="en-US" altLang="zh-CN" sz="2800" dirty="0" smtClean="0">
                <a:latin typeface="+mn-ea"/>
                <a:sym typeface="Wingdings" pitchFamily="2" charset="2"/>
              </a:rPr>
              <a:t> </a:t>
            </a:r>
          </a:p>
          <a:p>
            <a:pPr>
              <a:spcBef>
                <a:spcPts val="600"/>
              </a:spcBef>
              <a:spcAft>
                <a:spcPts val="0"/>
              </a:spcAft>
              <a:buNone/>
            </a:pPr>
            <a:r>
              <a:rPr lang="en-US" altLang="zh-CN" sz="2800" dirty="0" smtClean="0">
                <a:latin typeface="+mn-ea"/>
                <a:sym typeface="Wingdings" pitchFamily="2" charset="2"/>
              </a:rPr>
              <a:t>Al</a:t>
            </a:r>
            <a:r>
              <a:rPr lang="en-US" altLang="zh-CN" sz="2800" baseline="30000" dirty="0" smtClean="0">
                <a:latin typeface="+mn-ea"/>
                <a:sym typeface="Wingdings" pitchFamily="2" charset="2"/>
              </a:rPr>
              <a:t>3+</a:t>
            </a:r>
            <a:r>
              <a:rPr lang="en-US" altLang="zh-CN" sz="2800" dirty="0" smtClean="0">
                <a:latin typeface="+mn-ea"/>
                <a:sym typeface="Wingdings" pitchFamily="2" charset="2"/>
              </a:rPr>
              <a:t> (</a:t>
            </a:r>
            <a:r>
              <a:rPr lang="en-US" altLang="zh-CN" sz="2800" dirty="0" err="1" smtClean="0">
                <a:latin typeface="+mn-ea"/>
                <a:sym typeface="Wingdings" pitchFamily="2" charset="2"/>
              </a:rPr>
              <a:t>aq</a:t>
            </a:r>
            <a:r>
              <a:rPr lang="en-US" altLang="zh-CN" sz="2800" dirty="0" smtClean="0">
                <a:latin typeface="+mn-ea"/>
                <a:sym typeface="Wingdings" pitchFamily="2" charset="2"/>
              </a:rPr>
              <a:t>) + 3 H</a:t>
            </a:r>
            <a:r>
              <a:rPr lang="en-US" altLang="zh-CN" sz="2800" baseline="-25000" dirty="0" smtClean="0">
                <a:latin typeface="+mn-ea"/>
                <a:sym typeface="Wingdings" pitchFamily="2" charset="2"/>
              </a:rPr>
              <a:t>2</a:t>
            </a:r>
            <a:r>
              <a:rPr lang="en-US" altLang="zh-CN" sz="2800" dirty="0" smtClean="0">
                <a:latin typeface="+mn-ea"/>
                <a:sym typeface="Wingdings" pitchFamily="2" charset="2"/>
              </a:rPr>
              <a:t>O(l)  Al(OH)</a:t>
            </a:r>
            <a:r>
              <a:rPr lang="en-US" altLang="zh-CN" sz="2800" baseline="-25000" dirty="0" smtClean="0">
                <a:latin typeface="+mn-ea"/>
                <a:sym typeface="Wingdings" pitchFamily="2" charset="2"/>
              </a:rPr>
              <a:t>3</a:t>
            </a:r>
            <a:r>
              <a:rPr lang="en-US" altLang="zh-CN" sz="2800" dirty="0" smtClean="0">
                <a:latin typeface="+mn-ea"/>
                <a:sym typeface="Wingdings" pitchFamily="2" charset="2"/>
              </a:rPr>
              <a:t> (s) + 3 H</a:t>
            </a:r>
            <a:r>
              <a:rPr lang="en-US" altLang="zh-CN" sz="2800" baseline="30000" dirty="0" smtClean="0">
                <a:latin typeface="+mn-ea"/>
                <a:sym typeface="Wingdings" pitchFamily="2" charset="2"/>
              </a:rPr>
              <a:t>+</a:t>
            </a:r>
            <a:r>
              <a:rPr lang="en-US" altLang="zh-CN" sz="2800" dirty="0" smtClean="0">
                <a:latin typeface="+mn-ea"/>
                <a:sym typeface="Wingdings" pitchFamily="2" charset="2"/>
              </a:rPr>
              <a:t> (</a:t>
            </a:r>
            <a:r>
              <a:rPr lang="en-US" altLang="zh-CN" sz="2800" dirty="0" err="1" smtClean="0">
                <a:latin typeface="+mn-ea"/>
                <a:sym typeface="Wingdings" pitchFamily="2" charset="2"/>
              </a:rPr>
              <a:t>aq</a:t>
            </a:r>
            <a:r>
              <a:rPr lang="en-US" altLang="zh-CN" sz="2800" dirty="0" smtClean="0">
                <a:latin typeface="+mn-ea"/>
                <a:sym typeface="Wingdings" pitchFamily="2" charset="2"/>
              </a:rPr>
              <a:t>)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zh-CN" altLang="en-US" sz="3100" b="1" dirty="0" smtClean="0">
                <a:latin typeface="+mn-ea"/>
                <a:sym typeface="Wingdings" pitchFamily="2" charset="2"/>
              </a:rPr>
              <a:t>氢氧化铝有吸附能力，能使水中的悬浮物聚集并形成沉淀。</a:t>
            </a:r>
            <a:endParaRPr lang="en-US" altLang="zh-CN" sz="3100" b="1" dirty="0" smtClean="0">
              <a:latin typeface="+mn-ea"/>
              <a:sym typeface="Wingdings" pitchFamily="2" charset="2"/>
            </a:endParaRP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zh-CN" altLang="en-US" sz="3100" b="1" dirty="0" smtClean="0">
                <a:latin typeface="+mn-ea"/>
                <a:sym typeface="Wingdings" pitchFamily="2" charset="2"/>
              </a:rPr>
              <a:t>用途：净水剂</a:t>
            </a:r>
            <a:endParaRPr lang="en-US" altLang="zh-CN" sz="3100" b="1" dirty="0" smtClean="0">
              <a:latin typeface="+mn-ea"/>
              <a:sym typeface="Wingdings" pitchFamily="2" charset="2"/>
            </a:endParaRP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zh-CN" altLang="en-US" sz="3100" b="1" dirty="0" smtClean="0">
                <a:latin typeface="+mn-ea"/>
                <a:sym typeface="Wingdings" pitchFamily="2" charset="2"/>
              </a:rPr>
              <a:t>但铝在人体内积累有害健康</a:t>
            </a:r>
            <a:endParaRPr lang="en-US" altLang="zh-CN" sz="3100" b="1" dirty="0" smtClean="0">
              <a:latin typeface="+mn-ea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009299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1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1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1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1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14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14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614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614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6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idx="1"/>
          </p:nvPr>
        </p:nvSpPr>
        <p:spPr>
          <a:xfrm>
            <a:off x="685800" y="152400"/>
            <a:ext cx="8305800" cy="6705600"/>
          </a:xfrm>
          <a:extLst>
            <a:ext uri="{909E8E84-426E-40DD-AFC4-6F175D3DCCD1}">
              <a14:hiddenFill xmlns:a14="http://schemas.microsoft.com/office/drawing/2010/main" xmlns="">
                <a:solidFill>
                  <a:srgbClr val="3A2222"/>
                </a:solidFill>
              </a14:hiddenFill>
            </a:ext>
          </a:extLst>
        </p:spPr>
        <p:txBody>
          <a:bodyPr/>
          <a:lstStyle/>
          <a:p>
            <a:pPr marL="0" indent="0"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zh-CN" altLang="en-US" sz="4000" b="1" u="sng" dirty="0" smtClean="0">
                <a:latin typeface="+mn-ea"/>
                <a:sym typeface="Wingdings" pitchFamily="2" charset="2"/>
              </a:rPr>
              <a:t>问题解决</a:t>
            </a:r>
            <a:endParaRPr lang="en-US" altLang="zh-CN" b="1" dirty="0" smtClean="0">
              <a:latin typeface="+mn-ea"/>
              <a:sym typeface="Wingdings" pitchFamily="2" charset="2"/>
            </a:endParaRPr>
          </a:p>
          <a:p>
            <a:pPr marL="742950" indent="-74295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zh-CN" altLang="en-US" b="1" dirty="0" smtClean="0">
                <a:latin typeface="+mn-ea"/>
              </a:rPr>
              <a:t>常温下，</a:t>
            </a:r>
            <a:r>
              <a:rPr lang="zh-CN" altLang="en-US" b="1" dirty="0" smtClean="0">
                <a:latin typeface="+mn-ea"/>
                <a:sym typeface="Wingdings" pitchFamily="2" charset="2"/>
              </a:rPr>
              <a:t>铝在浓硝酸中会发生</a:t>
            </a:r>
            <a:r>
              <a:rPr lang="zh-CN" altLang="en-US" b="1" u="sng" dirty="0" smtClean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sym typeface="Wingdings" pitchFamily="2" charset="2"/>
              </a:rPr>
              <a:t>钝化作用</a:t>
            </a:r>
            <a:r>
              <a:rPr lang="zh-CN" altLang="en-US" b="1" dirty="0" smtClean="0">
                <a:latin typeface="+mn-ea"/>
                <a:sym typeface="Wingdings" pitchFamily="2" charset="2"/>
              </a:rPr>
              <a:t>，生成致密氧化膜，阻止内部金属与浓硝酸接触，而铜不会。</a:t>
            </a:r>
            <a:endParaRPr lang="en-US" altLang="zh-CN" b="1" dirty="0" smtClean="0">
              <a:latin typeface="+mn-ea"/>
            </a:endParaRPr>
          </a:p>
          <a:p>
            <a:pPr marL="742950" indent="-74295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b="1" dirty="0" smtClean="0">
                <a:latin typeface="+mn-ea"/>
              </a:rPr>
              <a:t>2.   </a:t>
            </a:r>
            <a:r>
              <a:rPr lang="zh-CN" altLang="en-US" b="1" dirty="0" smtClean="0">
                <a:latin typeface="+mn-ea"/>
                <a:sym typeface="Wingdings" pitchFamily="2" charset="2"/>
              </a:rPr>
              <a:t>过量氢氧化钠溶液会溶解氢氧化铝，而氨水不会。</a:t>
            </a:r>
            <a:endParaRPr lang="en-US" altLang="zh-CN" b="1" dirty="0" smtClean="0">
              <a:latin typeface="+mn-ea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009299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6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idx="1"/>
          </p:nvPr>
        </p:nvSpPr>
        <p:spPr>
          <a:xfrm>
            <a:off x="685800" y="152400"/>
            <a:ext cx="8305800" cy="6705600"/>
          </a:xfrm>
          <a:extLst>
            <a:ext uri="{909E8E84-426E-40DD-AFC4-6F175D3DCCD1}">
              <a14:hiddenFill xmlns:a14="http://schemas.microsoft.com/office/drawing/2010/main" xmlns="">
                <a:solidFill>
                  <a:srgbClr val="3A2222"/>
                </a:solidFill>
              </a14:hiddenFill>
            </a:ext>
          </a:extLst>
        </p:spPr>
        <p:txBody>
          <a:bodyPr/>
          <a:lstStyle/>
          <a:p>
            <a:pPr marL="0" indent="0"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zh-CN" altLang="en-US" sz="4000" b="1" u="sng" dirty="0" smtClean="0">
                <a:latin typeface="+mn-ea"/>
              </a:rPr>
              <a:t>思考题</a:t>
            </a:r>
            <a:r>
              <a:rPr lang="en-US" altLang="zh-CN" sz="4000" b="1" u="sng" dirty="0" smtClean="0">
                <a:latin typeface="+mn-ea"/>
              </a:rPr>
              <a:t>11b</a:t>
            </a:r>
            <a:endParaRPr lang="en-US" altLang="zh-CN" b="1" dirty="0" smtClean="0">
              <a:latin typeface="+mn-ea"/>
              <a:sym typeface="Wingdings" pitchFamily="2" charset="2"/>
            </a:endParaRPr>
          </a:p>
          <a:p>
            <a:pPr marL="742950" indent="-74295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altLang="zh-CN" b="1" dirty="0" smtClean="0">
                <a:latin typeface="+mn-ea"/>
              </a:rPr>
              <a:t>A</a:t>
            </a:r>
          </a:p>
          <a:p>
            <a:pPr marL="742950" indent="-74295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b="1" dirty="0" smtClean="0">
                <a:latin typeface="+mn-ea"/>
              </a:rPr>
              <a:t>2.   </a:t>
            </a:r>
            <a:r>
              <a:rPr lang="zh-CN" altLang="en-US" b="1" dirty="0" smtClean="0">
                <a:latin typeface="+mn-ea"/>
                <a:sym typeface="Wingdings" pitchFamily="2" charset="2"/>
              </a:rPr>
              <a:t>酸；强碱；两性；两性</a:t>
            </a:r>
            <a:endParaRPr lang="en-US" altLang="zh-CN" b="1" dirty="0" smtClean="0">
              <a:latin typeface="+mn-ea"/>
              <a:sym typeface="Wingdings" pitchFamily="2" charset="2"/>
            </a:endParaRPr>
          </a:p>
          <a:p>
            <a:pPr marL="742950" indent="-742950">
              <a:spcBef>
                <a:spcPts val="600"/>
              </a:spcBef>
              <a:spcAft>
                <a:spcPts val="600"/>
              </a:spcAft>
              <a:buAutoNum type="arabicPeriod" startAt="3"/>
            </a:pPr>
            <a:r>
              <a:rPr lang="zh-CN" altLang="en-US" b="1" dirty="0" smtClean="0">
                <a:latin typeface="+mn-ea"/>
              </a:rPr>
              <a:t>产生白色沉淀</a:t>
            </a:r>
            <a:endParaRPr lang="en-US" altLang="zh-CN" b="1" dirty="0" smtClean="0">
              <a:latin typeface="+mn-ea"/>
            </a:endParaRPr>
          </a:p>
          <a:p>
            <a:pPr marL="742950" indent="-74295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b="1" dirty="0" smtClean="0">
                <a:latin typeface="+mn-ea"/>
              </a:rPr>
              <a:t>	MgSO</a:t>
            </a:r>
            <a:r>
              <a:rPr lang="en-US" altLang="zh-CN" b="1" baseline="-25000" dirty="0" smtClean="0">
                <a:latin typeface="+mn-ea"/>
              </a:rPr>
              <a:t>4</a:t>
            </a:r>
            <a:r>
              <a:rPr lang="en-US" altLang="zh-CN" b="1" dirty="0" smtClean="0">
                <a:latin typeface="+mn-ea"/>
              </a:rPr>
              <a:t> + 2NaOH </a:t>
            </a:r>
            <a:r>
              <a:rPr lang="en-US" altLang="zh-CN" b="1" dirty="0" smtClean="0">
                <a:latin typeface="+mn-ea"/>
                <a:sym typeface="Wingdings" pitchFamily="2" charset="2"/>
              </a:rPr>
              <a:t></a:t>
            </a:r>
          </a:p>
          <a:p>
            <a:pPr marL="742950" indent="-74295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b="1" dirty="0" smtClean="0">
                <a:latin typeface="+mn-ea"/>
                <a:sym typeface="Wingdings" pitchFamily="2" charset="2"/>
              </a:rPr>
              <a:t>	</a:t>
            </a:r>
            <a:r>
              <a:rPr lang="zh-CN" altLang="en-US" b="1" dirty="0" smtClean="0">
                <a:latin typeface="+mn-ea"/>
                <a:sym typeface="Wingdings" pitchFamily="2" charset="2"/>
              </a:rPr>
              <a:t>产生白色沉淀；白色沉淀消失</a:t>
            </a:r>
            <a:endParaRPr lang="en-US" altLang="zh-CN" b="1" dirty="0" smtClean="0">
              <a:latin typeface="+mn-ea"/>
              <a:sym typeface="Wingdings" pitchFamily="2" charset="2"/>
            </a:endParaRPr>
          </a:p>
          <a:p>
            <a:pPr marL="742950" indent="-74295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b="1" dirty="0" smtClean="0">
                <a:latin typeface="+mn-ea"/>
                <a:sym typeface="Wingdings" pitchFamily="2" charset="2"/>
              </a:rPr>
              <a:t>Al</a:t>
            </a:r>
            <a:r>
              <a:rPr lang="en-US" altLang="zh-CN" b="1" baseline="-25000" dirty="0" smtClean="0">
                <a:latin typeface="+mn-ea"/>
                <a:sym typeface="Wingdings" pitchFamily="2" charset="2"/>
              </a:rPr>
              <a:t>2</a:t>
            </a:r>
            <a:r>
              <a:rPr lang="en-US" altLang="zh-CN" b="1" dirty="0" smtClean="0">
                <a:latin typeface="+mn-ea"/>
                <a:sym typeface="Wingdings" pitchFamily="2" charset="2"/>
              </a:rPr>
              <a:t>(SO</a:t>
            </a:r>
            <a:r>
              <a:rPr lang="en-US" altLang="zh-CN" b="1" baseline="-25000" dirty="0" smtClean="0">
                <a:latin typeface="+mn-ea"/>
                <a:sym typeface="Wingdings" pitchFamily="2" charset="2"/>
              </a:rPr>
              <a:t>4</a:t>
            </a:r>
            <a:r>
              <a:rPr lang="en-US" altLang="zh-CN" b="1" dirty="0" smtClean="0">
                <a:latin typeface="+mn-ea"/>
                <a:sym typeface="Wingdings" pitchFamily="2" charset="2"/>
              </a:rPr>
              <a:t>)</a:t>
            </a:r>
            <a:r>
              <a:rPr lang="en-US" altLang="zh-CN" b="1" baseline="-25000" dirty="0" smtClean="0">
                <a:latin typeface="+mn-ea"/>
                <a:sym typeface="Wingdings" pitchFamily="2" charset="2"/>
              </a:rPr>
              <a:t>3</a:t>
            </a:r>
            <a:r>
              <a:rPr lang="en-US" altLang="zh-CN" b="1" dirty="0" smtClean="0">
                <a:latin typeface="+mn-ea"/>
                <a:sym typeface="Wingdings" pitchFamily="2" charset="2"/>
              </a:rPr>
              <a:t> + 6NaOH  </a:t>
            </a:r>
            <a:endParaRPr lang="en-US" altLang="zh-CN" b="1" baseline="-25000" dirty="0" smtClean="0">
              <a:latin typeface="+mn-ea"/>
              <a:sym typeface="Wingdings" pitchFamily="2" charset="2"/>
            </a:endParaRPr>
          </a:p>
          <a:p>
            <a:pPr marL="742950" indent="-74295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b="1" dirty="0" smtClean="0">
                <a:latin typeface="+mn-ea"/>
                <a:sym typeface="Wingdings" pitchFamily="2" charset="2"/>
              </a:rPr>
              <a:t>Al(OH)</a:t>
            </a:r>
            <a:r>
              <a:rPr lang="en-US" altLang="zh-CN" b="1" baseline="-25000" dirty="0" smtClean="0">
                <a:latin typeface="+mn-ea"/>
                <a:sym typeface="Wingdings" pitchFamily="2" charset="2"/>
              </a:rPr>
              <a:t>3</a:t>
            </a:r>
            <a:r>
              <a:rPr lang="en-US" altLang="zh-CN" b="1" dirty="0" smtClean="0">
                <a:latin typeface="+mn-ea"/>
              </a:rPr>
              <a:t> + </a:t>
            </a:r>
            <a:r>
              <a:rPr lang="en-US" altLang="zh-CN" b="1" dirty="0" err="1" smtClean="0">
                <a:latin typeface="+mn-ea"/>
              </a:rPr>
              <a:t>NaOH</a:t>
            </a:r>
            <a:r>
              <a:rPr lang="en-US" altLang="zh-CN" b="1" dirty="0" smtClean="0">
                <a:latin typeface="+mn-ea"/>
              </a:rPr>
              <a:t> </a:t>
            </a:r>
            <a:r>
              <a:rPr lang="en-US" altLang="zh-CN" b="1" dirty="0" smtClean="0">
                <a:latin typeface="+mn-ea"/>
                <a:sym typeface="Wingdings" pitchFamily="2" charset="2"/>
              </a:rPr>
              <a:t> </a:t>
            </a:r>
            <a:endParaRPr lang="en-US" altLang="zh-CN" b="1" dirty="0" smtClean="0">
              <a:latin typeface="+mn-ea"/>
            </a:endParaRP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4419600" y="4572000"/>
            <a:ext cx="33528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3A2222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altLang="zh-CN" sz="3200" b="1" kern="0" dirty="0" smtClean="0">
                <a:solidFill>
                  <a:srgbClr val="3A2222"/>
                </a:solidFill>
                <a:latin typeface="+mn-ea"/>
                <a:sym typeface="Wingdings" pitchFamily="2" charset="2"/>
              </a:rPr>
              <a:t> NaAlO</a:t>
            </a:r>
            <a:r>
              <a:rPr lang="en-US" altLang="zh-CN" sz="3200" b="1" kern="0" baseline="-25000" dirty="0" smtClean="0">
                <a:solidFill>
                  <a:srgbClr val="3A2222"/>
                </a:solidFill>
                <a:latin typeface="+mn-ea"/>
                <a:sym typeface="Wingdings" pitchFamily="2" charset="2"/>
              </a:rPr>
              <a:t>2</a:t>
            </a:r>
            <a:r>
              <a:rPr lang="en-US" altLang="zh-CN" sz="3200" b="1" kern="0" dirty="0" smtClean="0">
                <a:solidFill>
                  <a:srgbClr val="3A2222"/>
                </a:solidFill>
                <a:latin typeface="+mn-ea"/>
                <a:sym typeface="Wingdings" pitchFamily="2" charset="2"/>
              </a:rPr>
              <a:t> + 2 H</a:t>
            </a:r>
            <a:r>
              <a:rPr lang="en-US" altLang="zh-CN" sz="3200" b="1" kern="0" baseline="-25000" dirty="0" smtClean="0">
                <a:solidFill>
                  <a:srgbClr val="3A2222"/>
                </a:solidFill>
                <a:latin typeface="+mn-ea"/>
                <a:sym typeface="Wingdings" pitchFamily="2" charset="2"/>
              </a:rPr>
              <a:t>2</a:t>
            </a:r>
            <a:r>
              <a:rPr lang="en-US" altLang="zh-CN" sz="3200" b="1" kern="0" dirty="0" smtClean="0">
                <a:solidFill>
                  <a:srgbClr val="3A2222"/>
                </a:solidFill>
                <a:latin typeface="+mn-ea"/>
                <a:sym typeface="Wingdings" pitchFamily="2" charset="2"/>
              </a:rPr>
              <a:t>O</a:t>
            </a:r>
            <a:endParaRPr kumimoji="0" lang="en-US" altLang="zh-CN" sz="3200" b="1" i="0" u="none" strike="noStrike" kern="0" cap="none" spc="0" normalizeH="0" baseline="0" noProof="0" dirty="0" smtClean="0">
              <a:ln>
                <a:noFill/>
              </a:ln>
              <a:solidFill>
                <a:srgbClr val="3A2222"/>
              </a:solidFill>
              <a:effectLst/>
              <a:uLnTx/>
              <a:uFillTx/>
              <a:latin typeface="+mn-ea"/>
              <a:ea typeface="+mn-ea"/>
              <a:cs typeface="+mn-cs"/>
              <a:sym typeface="Wingdings" pitchFamily="2" charset="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tabLst/>
              <a:defRPr/>
            </a:pPr>
            <a:endParaRPr kumimoji="0" lang="en-US" altLang="zh-CN" sz="3200" b="1" i="0" u="none" strike="noStrike" kern="0" cap="none" spc="0" normalizeH="0" baseline="0" noProof="0" dirty="0" smtClean="0">
              <a:ln>
                <a:noFill/>
              </a:ln>
              <a:solidFill>
                <a:srgbClr val="3A2222"/>
              </a:solidFill>
              <a:effectLst/>
              <a:uLnTx/>
              <a:uFillTx/>
              <a:latin typeface="+mn-ea"/>
              <a:ea typeface="+mn-ea"/>
              <a:cs typeface="+mn-cs"/>
              <a:sym typeface="Wingdings" pitchFamily="2" charset="2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4876800" y="3962400"/>
            <a:ext cx="42672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3A2222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en-US" altLang="zh-CN" sz="3200" b="1" kern="0" dirty="0" smtClean="0">
                <a:solidFill>
                  <a:srgbClr val="3A2222"/>
                </a:solidFill>
                <a:latin typeface="+mn-ea"/>
                <a:sym typeface="Wingdings" pitchFamily="2" charset="2"/>
              </a:rPr>
              <a:t>2</a:t>
            </a:r>
            <a:r>
              <a:rPr lang="en-US" altLang="zh-CN" sz="3200" b="1" dirty="0" smtClean="0">
                <a:latin typeface="+mn-ea"/>
                <a:sym typeface="Wingdings" pitchFamily="2" charset="2"/>
              </a:rPr>
              <a:t>Al(OH)</a:t>
            </a:r>
            <a:r>
              <a:rPr lang="en-US" altLang="zh-CN" sz="3200" b="1" baseline="-25000" dirty="0" smtClean="0">
                <a:latin typeface="+mn-ea"/>
                <a:sym typeface="Wingdings" pitchFamily="2" charset="2"/>
              </a:rPr>
              <a:t>3</a:t>
            </a:r>
            <a:r>
              <a:rPr lang="en-US" altLang="zh-CN" sz="3200" b="1" dirty="0" smtClean="0">
                <a:latin typeface="+mn-ea"/>
                <a:sym typeface="Wingdings" pitchFamily="2" charset="2"/>
              </a:rPr>
              <a:t> + 3 Na</a:t>
            </a:r>
            <a:r>
              <a:rPr lang="en-US" altLang="zh-CN" sz="3200" b="1" baseline="-25000" dirty="0" smtClean="0">
                <a:latin typeface="+mn-ea"/>
                <a:sym typeface="Wingdings" pitchFamily="2" charset="2"/>
              </a:rPr>
              <a:t>2</a:t>
            </a:r>
            <a:r>
              <a:rPr lang="en-US" altLang="zh-CN" sz="3200" b="1" dirty="0" smtClean="0">
                <a:latin typeface="+mn-ea"/>
                <a:sym typeface="Wingdings" pitchFamily="2" charset="2"/>
              </a:rPr>
              <a:t>SO</a:t>
            </a:r>
            <a:r>
              <a:rPr lang="en-US" altLang="zh-CN" sz="3200" b="1" baseline="-25000" dirty="0" smtClean="0">
                <a:latin typeface="+mn-ea"/>
                <a:sym typeface="Wingdings" pitchFamily="2" charset="2"/>
              </a:rPr>
              <a:t>4</a:t>
            </a:r>
            <a:r>
              <a:rPr lang="en-US" altLang="zh-CN" sz="3200" b="1" kern="0" dirty="0" smtClean="0">
                <a:solidFill>
                  <a:srgbClr val="3A2222"/>
                </a:solidFill>
                <a:latin typeface="+mn-ea"/>
                <a:sym typeface="Wingdings" pitchFamily="2" charset="2"/>
              </a:rPr>
              <a:t> </a:t>
            </a:r>
            <a:endParaRPr kumimoji="0" lang="en-US" altLang="zh-CN" sz="3200" b="1" i="0" u="none" strike="noStrike" kern="0" cap="none" spc="0" normalizeH="0" baseline="0" noProof="0" dirty="0" smtClean="0">
              <a:ln>
                <a:noFill/>
              </a:ln>
              <a:solidFill>
                <a:srgbClr val="3A2222"/>
              </a:solidFill>
              <a:effectLst/>
              <a:uLnTx/>
              <a:uFillTx/>
              <a:latin typeface="+mn-ea"/>
              <a:ea typeface="+mn-ea"/>
              <a:cs typeface="+mn-cs"/>
              <a:sym typeface="Wingdings" pitchFamily="2" charset="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tabLst/>
              <a:defRPr/>
            </a:pPr>
            <a:endParaRPr kumimoji="0" lang="en-US" altLang="zh-CN" sz="3200" b="1" i="0" u="none" strike="noStrike" kern="0" cap="none" spc="0" normalizeH="0" baseline="0" noProof="0" dirty="0" smtClean="0">
              <a:ln>
                <a:noFill/>
              </a:ln>
              <a:solidFill>
                <a:srgbClr val="3A2222"/>
              </a:solidFill>
              <a:effectLst/>
              <a:uLnTx/>
              <a:uFillTx/>
              <a:latin typeface="+mn-ea"/>
              <a:ea typeface="+mn-ea"/>
              <a:cs typeface="+mn-cs"/>
              <a:sym typeface="Wingdings" pitchFamily="2" charset="2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5105400" y="2667000"/>
            <a:ext cx="33528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3A2222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en-US" altLang="zh-CN" sz="3200" b="1" kern="0" dirty="0" smtClean="0">
                <a:solidFill>
                  <a:srgbClr val="3A2222"/>
                </a:solidFill>
                <a:latin typeface="+mn-ea"/>
                <a:sym typeface="Wingdings" pitchFamily="2" charset="2"/>
              </a:rPr>
              <a:t> </a:t>
            </a:r>
            <a:r>
              <a:rPr lang="en-US" altLang="zh-CN" sz="3200" b="1" dirty="0" smtClean="0">
                <a:latin typeface="+mn-ea"/>
                <a:sym typeface="Wingdings" pitchFamily="2" charset="2"/>
              </a:rPr>
              <a:t>Mg(OH)</a:t>
            </a:r>
            <a:r>
              <a:rPr lang="en-US" altLang="zh-CN" sz="3200" b="1" baseline="-25000" dirty="0" smtClean="0">
                <a:latin typeface="+mn-ea"/>
                <a:sym typeface="Wingdings" pitchFamily="2" charset="2"/>
              </a:rPr>
              <a:t>2</a:t>
            </a:r>
            <a:r>
              <a:rPr lang="en-US" altLang="zh-CN" sz="3200" b="1" dirty="0" smtClean="0">
                <a:latin typeface="+mn-ea"/>
                <a:sym typeface="Wingdings" pitchFamily="2" charset="2"/>
              </a:rPr>
              <a:t> + Na</a:t>
            </a:r>
            <a:r>
              <a:rPr lang="en-US" altLang="zh-CN" sz="3200" b="1" baseline="-25000" dirty="0" smtClean="0">
                <a:latin typeface="+mn-ea"/>
                <a:sym typeface="Wingdings" pitchFamily="2" charset="2"/>
              </a:rPr>
              <a:t>2</a:t>
            </a:r>
            <a:r>
              <a:rPr lang="en-US" altLang="zh-CN" sz="3200" b="1" dirty="0" smtClean="0">
                <a:latin typeface="+mn-ea"/>
                <a:sym typeface="Wingdings" pitchFamily="2" charset="2"/>
              </a:rPr>
              <a:t>SO</a:t>
            </a:r>
            <a:r>
              <a:rPr lang="en-US" altLang="zh-CN" sz="3200" b="1" baseline="-25000" dirty="0" smtClean="0">
                <a:latin typeface="+mn-ea"/>
                <a:sym typeface="Wingdings" pitchFamily="2" charset="2"/>
              </a:rPr>
              <a:t>4</a:t>
            </a:r>
            <a:endParaRPr kumimoji="0" lang="en-US" altLang="zh-CN" sz="3200" b="1" i="0" u="none" strike="noStrike" kern="0" cap="none" spc="0" normalizeH="0" baseline="0" noProof="0" dirty="0" smtClean="0">
              <a:ln>
                <a:noFill/>
              </a:ln>
              <a:solidFill>
                <a:srgbClr val="3A2222"/>
              </a:solidFill>
              <a:effectLst/>
              <a:uLnTx/>
              <a:uFillTx/>
              <a:latin typeface="+mn-ea"/>
              <a:ea typeface="+mn-ea"/>
              <a:cs typeface="+mn-cs"/>
              <a:sym typeface="Wingdings" pitchFamily="2" charset="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tabLst/>
              <a:defRPr/>
            </a:pPr>
            <a:endParaRPr kumimoji="0" lang="en-US" altLang="zh-CN" sz="3200" b="1" i="0" u="none" strike="noStrike" kern="0" cap="none" spc="0" normalizeH="0" baseline="0" noProof="0" dirty="0" smtClean="0">
              <a:ln>
                <a:noFill/>
              </a:ln>
              <a:solidFill>
                <a:srgbClr val="3A2222"/>
              </a:solidFill>
              <a:effectLst/>
              <a:uLnTx/>
              <a:uFillTx/>
              <a:latin typeface="+mn-ea"/>
              <a:ea typeface="+mn-ea"/>
              <a:cs typeface="+mn-cs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009299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1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1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61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61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6" grpId="0" uiExpand="1" build="p"/>
      <p:bldP spid="3" grpId="0" build="p"/>
      <p:bldP spid="4" grpId="0" build="p"/>
      <p:bldP spid="5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idx="1"/>
          </p:nvPr>
        </p:nvSpPr>
        <p:spPr>
          <a:xfrm>
            <a:off x="685800" y="152400"/>
            <a:ext cx="8305800" cy="6705600"/>
          </a:xfrm>
          <a:extLst>
            <a:ext uri="{909E8E84-426E-40DD-AFC4-6F175D3DCCD1}">
              <a14:hiddenFill xmlns:a14="http://schemas.microsoft.com/office/drawing/2010/main" xmlns="">
                <a:solidFill>
                  <a:srgbClr val="3A2222"/>
                </a:solidFill>
              </a14:hiddenFill>
            </a:ext>
          </a:extLst>
        </p:spPr>
        <p:txBody>
          <a:bodyPr/>
          <a:lstStyle/>
          <a:p>
            <a:pPr marL="0" indent="0"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en-US" altLang="zh-CN" sz="4000" b="1" u="sng" dirty="0" smtClean="0">
                <a:latin typeface="+mn-ea"/>
              </a:rPr>
              <a:t>11.3 </a:t>
            </a:r>
            <a:r>
              <a:rPr lang="zh-CN" altLang="en-US" sz="4000" b="1" u="sng" dirty="0" smtClean="0">
                <a:latin typeface="+mn-ea"/>
              </a:rPr>
              <a:t>铝的冶炼</a:t>
            </a:r>
            <a:endParaRPr lang="en-US" altLang="zh-CN" sz="4000" b="1" u="sng" dirty="0" smtClean="0">
              <a:latin typeface="+mn-ea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b="1" dirty="0" smtClean="0">
                <a:latin typeface="+mn-ea"/>
                <a:sym typeface="Wingdings" pitchFamily="2" charset="2"/>
              </a:rPr>
              <a:t>助熔剂：冰晶石（</a:t>
            </a:r>
            <a:r>
              <a:rPr lang="en-US" altLang="zh-CN" b="1" dirty="0" smtClean="0">
                <a:latin typeface="+mn-ea"/>
                <a:sym typeface="Wingdings" pitchFamily="2" charset="2"/>
              </a:rPr>
              <a:t>Na</a:t>
            </a:r>
            <a:r>
              <a:rPr lang="en-US" altLang="zh-CN" b="1" baseline="-25000" dirty="0" smtClean="0">
                <a:latin typeface="+mn-ea"/>
                <a:sym typeface="Wingdings" pitchFamily="2" charset="2"/>
              </a:rPr>
              <a:t>3</a:t>
            </a:r>
            <a:r>
              <a:rPr lang="en-US" altLang="zh-CN" b="1" dirty="0" smtClean="0">
                <a:latin typeface="+mn-ea"/>
                <a:sym typeface="Wingdings" pitchFamily="2" charset="2"/>
              </a:rPr>
              <a:t> AlF</a:t>
            </a:r>
            <a:r>
              <a:rPr lang="en-US" altLang="zh-CN" b="1" baseline="-25000" dirty="0" smtClean="0">
                <a:latin typeface="+mn-ea"/>
                <a:sym typeface="Wingdings" pitchFamily="2" charset="2"/>
              </a:rPr>
              <a:t>6</a:t>
            </a:r>
            <a:r>
              <a:rPr lang="zh-CN" altLang="en-US" b="1" dirty="0" smtClean="0">
                <a:latin typeface="+mn-ea"/>
                <a:sym typeface="Wingdings" pitchFamily="2" charset="2"/>
              </a:rPr>
              <a:t>）</a:t>
            </a:r>
            <a:endParaRPr lang="en-US" altLang="zh-CN" b="1" dirty="0" smtClean="0">
              <a:latin typeface="+mn-ea"/>
              <a:sym typeface="Wingdings" pitchFamily="2" charset="2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b="1" dirty="0" smtClean="0">
                <a:latin typeface="+mn-ea"/>
                <a:sym typeface="Wingdings" pitchFamily="2" charset="2"/>
              </a:rPr>
              <a:t>2 Al</a:t>
            </a:r>
            <a:r>
              <a:rPr lang="en-US" altLang="zh-CN" b="1" baseline="-25000" dirty="0" smtClean="0">
                <a:latin typeface="+mn-ea"/>
                <a:sym typeface="Wingdings" pitchFamily="2" charset="2"/>
              </a:rPr>
              <a:t>2</a:t>
            </a:r>
            <a:r>
              <a:rPr lang="en-US" altLang="zh-CN" b="1" dirty="0" smtClean="0">
                <a:latin typeface="+mn-ea"/>
                <a:sym typeface="Wingdings" pitchFamily="2" charset="2"/>
              </a:rPr>
              <a:t>O</a:t>
            </a:r>
            <a:r>
              <a:rPr lang="en-US" altLang="zh-CN" b="1" baseline="-25000" dirty="0" smtClean="0">
                <a:latin typeface="+mn-ea"/>
                <a:sym typeface="Wingdings" pitchFamily="2" charset="2"/>
              </a:rPr>
              <a:t>3</a:t>
            </a:r>
            <a:r>
              <a:rPr lang="en-US" altLang="zh-CN" b="1" dirty="0" smtClean="0">
                <a:latin typeface="+mn-ea"/>
                <a:sym typeface="Wingdings" pitchFamily="2" charset="2"/>
              </a:rPr>
              <a:t>    </a:t>
            </a:r>
            <a:r>
              <a:rPr lang="zh-CN" altLang="en-US" b="1" baseline="30000" dirty="0" smtClean="0">
                <a:latin typeface="+mn-ea"/>
                <a:sym typeface="Wingdings" pitchFamily="2" charset="2"/>
              </a:rPr>
              <a:t>电解</a:t>
            </a:r>
            <a:r>
              <a:rPr lang="zh-CN" altLang="en-US" b="1" dirty="0" smtClean="0">
                <a:latin typeface="+mn-ea"/>
                <a:sym typeface="Wingdings" pitchFamily="2" charset="2"/>
              </a:rPr>
              <a:t> </a:t>
            </a:r>
            <a:endParaRPr lang="en-US" altLang="zh-CN" b="1" dirty="0" smtClean="0">
              <a:latin typeface="+mn-ea"/>
              <a:sym typeface="Wingdings" pitchFamily="2" charset="2"/>
            </a:endParaRPr>
          </a:p>
        </p:txBody>
      </p:sp>
      <p:cxnSp>
        <p:nvCxnSpPr>
          <p:cNvPr id="4" name="Straight Arrow Connector 3"/>
          <p:cNvCxnSpPr/>
          <p:nvPr/>
        </p:nvCxnSpPr>
        <p:spPr bwMode="auto">
          <a:xfrm>
            <a:off x="2667000" y="2360612"/>
            <a:ext cx="1188720" cy="158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3886200" y="1752600"/>
            <a:ext cx="33528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3A2222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altLang="zh-CN" sz="3600" b="1" kern="0" dirty="0" smtClean="0">
                <a:solidFill>
                  <a:srgbClr val="3A2222"/>
                </a:solidFill>
                <a:latin typeface="+mn-ea"/>
                <a:sym typeface="Wingdings" pitchFamily="2" charset="2"/>
              </a:rPr>
              <a:t> 4 Al + 3 O</a:t>
            </a:r>
            <a:r>
              <a:rPr lang="en-US" altLang="zh-CN" sz="3600" b="1" kern="0" baseline="-25000" dirty="0" smtClean="0">
                <a:solidFill>
                  <a:srgbClr val="3A2222"/>
                </a:solidFill>
                <a:latin typeface="+mn-ea"/>
                <a:sym typeface="Wingdings" pitchFamily="2" charset="2"/>
              </a:rPr>
              <a:t>2</a:t>
            </a:r>
            <a:endParaRPr kumimoji="0" lang="en-US" altLang="zh-CN" sz="3600" b="1" i="0" u="none" strike="noStrike" kern="0" cap="none" spc="0" normalizeH="0" baseline="0" noProof="0" dirty="0" smtClean="0">
              <a:ln>
                <a:noFill/>
              </a:ln>
              <a:solidFill>
                <a:srgbClr val="3A2222"/>
              </a:solidFill>
              <a:effectLst/>
              <a:uLnTx/>
              <a:uFillTx/>
              <a:latin typeface="+mn-ea"/>
              <a:ea typeface="+mn-ea"/>
              <a:cs typeface="+mn-cs"/>
              <a:sym typeface="Wingdings" pitchFamily="2" charset="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tabLst/>
              <a:defRPr/>
            </a:pPr>
            <a:endParaRPr kumimoji="0" lang="en-US" altLang="zh-CN" sz="3600" b="1" i="0" u="none" strike="noStrike" kern="0" cap="none" spc="0" normalizeH="0" baseline="0" noProof="0" dirty="0" smtClean="0">
              <a:ln>
                <a:noFill/>
              </a:ln>
              <a:solidFill>
                <a:srgbClr val="3A2222"/>
              </a:solidFill>
              <a:effectLst/>
              <a:uLnTx/>
              <a:uFillTx/>
              <a:latin typeface="+mn-ea"/>
              <a:ea typeface="+mn-ea"/>
              <a:cs typeface="+mn-cs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009299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6" grpId="0" uiExpand="1" build="p"/>
      <p:bldP spid="5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idx="1"/>
          </p:nvPr>
        </p:nvSpPr>
        <p:spPr>
          <a:xfrm>
            <a:off x="685800" y="152400"/>
            <a:ext cx="8305800" cy="6705600"/>
          </a:xfrm>
          <a:extLst>
            <a:ext uri="{909E8E84-426E-40DD-AFC4-6F175D3DCCD1}">
              <a14:hiddenFill xmlns:a14="http://schemas.microsoft.com/office/drawing/2010/main" xmlns="">
                <a:solidFill>
                  <a:srgbClr val="3A2222"/>
                </a:solidFill>
              </a14:hiddenFill>
            </a:ext>
          </a:extLst>
        </p:spPr>
        <p:txBody>
          <a:bodyPr/>
          <a:lstStyle/>
          <a:p>
            <a:pPr marL="0" indent="0"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zh-CN" altLang="en-US" sz="4000" b="1" u="sng" dirty="0" smtClean="0">
                <a:latin typeface="+mn-ea"/>
              </a:rPr>
              <a:t>思考题</a:t>
            </a:r>
            <a:r>
              <a:rPr lang="en-US" altLang="zh-CN" sz="4000" b="1" u="sng" dirty="0" smtClean="0">
                <a:latin typeface="+mn-ea"/>
              </a:rPr>
              <a:t>11c</a:t>
            </a:r>
            <a:endParaRPr lang="en-US" altLang="zh-CN" b="1" dirty="0" smtClean="0">
              <a:latin typeface="+mn-ea"/>
              <a:sym typeface="Wingdings" pitchFamily="2" charset="2"/>
            </a:endParaRPr>
          </a:p>
          <a:p>
            <a:pPr marL="742950" indent="-74295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altLang="zh-CN" b="1" dirty="0" err="1" smtClean="0">
                <a:latin typeface="+mn-ea"/>
              </a:rPr>
              <a:t>Ans</a:t>
            </a:r>
            <a:r>
              <a:rPr lang="en-US" altLang="zh-CN" b="1" dirty="0" smtClean="0">
                <a:latin typeface="+mn-ea"/>
              </a:rPr>
              <a:t>: C </a:t>
            </a:r>
            <a:r>
              <a:rPr lang="zh-CN" altLang="en-US" b="1" dirty="0" smtClean="0">
                <a:latin typeface="+mn-ea"/>
              </a:rPr>
              <a:t>氨水</a:t>
            </a:r>
            <a:endParaRPr lang="en-US" altLang="zh-CN" b="1" dirty="0" smtClean="0">
              <a:latin typeface="+mn-ea"/>
            </a:endParaRPr>
          </a:p>
          <a:p>
            <a:pPr marL="742950" indent="-74295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b="1" dirty="0" smtClean="0">
                <a:latin typeface="+mn-ea"/>
              </a:rPr>
              <a:t>	</a:t>
            </a:r>
            <a:r>
              <a:rPr lang="zh-CN" altLang="en-US" b="1" dirty="0" smtClean="0">
                <a:latin typeface="+mn-ea"/>
              </a:rPr>
              <a:t>因为氢氧化铝不溶于过量氨水</a:t>
            </a:r>
            <a:endParaRPr lang="en-US" altLang="zh-CN" b="1" dirty="0" smtClean="0">
              <a:latin typeface="+mn-ea"/>
            </a:endParaRPr>
          </a:p>
          <a:p>
            <a:pPr marL="742950" indent="-74295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b="1" dirty="0" smtClean="0">
                <a:latin typeface="+mn-ea"/>
              </a:rPr>
              <a:t>	</a:t>
            </a:r>
            <a:r>
              <a:rPr lang="zh-CN" altLang="en-US" b="1" dirty="0" smtClean="0">
                <a:latin typeface="+mn-ea"/>
              </a:rPr>
              <a:t>氢氧化铝会溶于过量氢氧化钠溶液中形成偏铝酸钠。</a:t>
            </a:r>
            <a:endParaRPr lang="en-US" altLang="zh-CN" b="1" dirty="0" smtClean="0">
              <a:latin typeface="+mn-ea"/>
            </a:endParaRPr>
          </a:p>
          <a:p>
            <a:pPr marL="742950" indent="-74295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b="1" dirty="0" smtClean="0">
                <a:latin typeface="+mn-ea"/>
              </a:rPr>
              <a:t>2.   </a:t>
            </a:r>
            <a:r>
              <a:rPr lang="zh-CN" altLang="en-US" b="1" dirty="0" smtClean="0">
                <a:latin typeface="+mn-ea"/>
                <a:sym typeface="Wingdings" pitchFamily="2" charset="2"/>
              </a:rPr>
              <a:t>在空气中，铝被氧化后易生成致密而坚固的氧化膜，阻止内部金属被腐蚀。</a:t>
            </a:r>
            <a:endParaRPr lang="en-US" altLang="zh-CN" b="1" dirty="0" smtClean="0">
              <a:latin typeface="+mn-ea"/>
              <a:sym typeface="Wingdings" pitchFamily="2" charset="2"/>
            </a:endParaRPr>
          </a:p>
          <a:p>
            <a:pPr marL="742950" indent="-74295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b="1" dirty="0" smtClean="0">
                <a:latin typeface="+mn-ea"/>
                <a:sym typeface="Wingdings" pitchFamily="2" charset="2"/>
              </a:rPr>
              <a:t>	</a:t>
            </a:r>
            <a:r>
              <a:rPr lang="zh-CN" altLang="en-US" b="1" dirty="0" smtClean="0">
                <a:latin typeface="+mn-ea"/>
                <a:sym typeface="Wingdings" pitchFamily="2" charset="2"/>
              </a:rPr>
              <a:t>而铁被氧化后的氧化物结构不紧密，不能起保护作用 。</a:t>
            </a:r>
            <a:endParaRPr lang="en-US" altLang="zh-CN" b="1" dirty="0" smtClean="0">
              <a:latin typeface="+mn-ea"/>
              <a:sym typeface="Wingdings" pitchFamily="2" charset="2"/>
            </a:endParaRPr>
          </a:p>
          <a:p>
            <a:pPr marL="742950" indent="-74295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b="1" dirty="0" smtClean="0">
                <a:latin typeface="+mn-ea"/>
              </a:rPr>
              <a:t>3.   </a:t>
            </a:r>
            <a:r>
              <a:rPr lang="zh-CN" altLang="en-US" b="1" dirty="0" smtClean="0">
                <a:latin typeface="+mn-ea"/>
              </a:rPr>
              <a:t>铝能与酸性或碱性的物质发生反应。</a:t>
            </a:r>
            <a:endParaRPr lang="en-US" altLang="zh-CN" b="1" dirty="0" smtClean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009299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1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1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6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idx="1"/>
          </p:nvPr>
        </p:nvSpPr>
        <p:spPr>
          <a:xfrm>
            <a:off x="685800" y="152400"/>
            <a:ext cx="8305800" cy="6705600"/>
          </a:xfrm>
          <a:extLst>
            <a:ext uri="{909E8E84-426E-40DD-AFC4-6F175D3DCCD1}">
              <a14:hiddenFill xmlns:a14="http://schemas.microsoft.com/office/drawing/2010/main" xmlns="">
                <a:solidFill>
                  <a:srgbClr val="3A2222"/>
                </a:solidFill>
              </a14:hiddenFill>
            </a:ext>
          </a:extLst>
        </p:spPr>
        <p:txBody>
          <a:bodyPr/>
          <a:lstStyle/>
          <a:p>
            <a:pPr marL="0" indent="0"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zh-CN" altLang="en-US" sz="4000" b="1" u="sng" dirty="0" smtClean="0">
                <a:latin typeface="+mn-ea"/>
                <a:sym typeface="Wingdings" pitchFamily="2" charset="2"/>
              </a:rPr>
              <a:t>选择题</a:t>
            </a:r>
            <a:endParaRPr lang="en-US" altLang="zh-CN" b="1" dirty="0" smtClean="0">
              <a:latin typeface="+mn-ea"/>
              <a:sym typeface="Wingdings" pitchFamily="2" charset="2"/>
            </a:endParaRPr>
          </a:p>
          <a:p>
            <a:pPr marL="742950" indent="-74295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altLang="zh-CN" b="1" dirty="0" smtClean="0">
                <a:latin typeface="+mn-ea"/>
              </a:rPr>
              <a:t>D 	</a:t>
            </a:r>
            <a:r>
              <a:rPr lang="zh-CN" altLang="en-US" b="1" dirty="0" smtClean="0">
                <a:latin typeface="+mn-ea"/>
              </a:rPr>
              <a:t>有反应生成氧化膜</a:t>
            </a:r>
            <a:endParaRPr lang="en-US" altLang="zh-CN" b="1" dirty="0" smtClean="0">
              <a:latin typeface="+mn-ea"/>
            </a:endParaRPr>
          </a:p>
          <a:p>
            <a:pPr marL="742950" indent="-74295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altLang="zh-CN" b="1" dirty="0" smtClean="0">
                <a:latin typeface="+mn-ea"/>
              </a:rPr>
              <a:t>C 	</a:t>
            </a:r>
            <a:r>
              <a:rPr lang="zh-CN" altLang="en-US" b="1" dirty="0" smtClean="0">
                <a:latin typeface="+mn-ea"/>
              </a:rPr>
              <a:t>会反应</a:t>
            </a:r>
            <a:endParaRPr lang="en-US" altLang="zh-CN" b="1" dirty="0" smtClean="0">
              <a:latin typeface="+mn-ea"/>
            </a:endParaRPr>
          </a:p>
          <a:p>
            <a:pPr marL="742950" indent="-74295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altLang="zh-CN" b="1" dirty="0" smtClean="0">
                <a:latin typeface="+mn-ea"/>
              </a:rPr>
              <a:t>A</a:t>
            </a:r>
          </a:p>
          <a:p>
            <a:pPr marL="742950" indent="-74295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altLang="zh-CN" b="1" dirty="0" smtClean="0">
                <a:latin typeface="+mn-ea"/>
              </a:rPr>
              <a:t>D</a:t>
            </a:r>
          </a:p>
          <a:p>
            <a:pPr marL="742950" indent="-74295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altLang="zh-CN" b="1" dirty="0" smtClean="0">
                <a:latin typeface="+mn-ea"/>
              </a:rPr>
              <a:t>C </a:t>
            </a:r>
          </a:p>
          <a:p>
            <a:pPr marL="742950" indent="-74295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altLang="zh-CN" b="1" dirty="0" smtClean="0">
                <a:latin typeface="+mn-ea"/>
              </a:rPr>
              <a:t>A </a:t>
            </a:r>
            <a:r>
              <a:rPr lang="zh-CN" altLang="en-US" b="1" dirty="0" smtClean="0">
                <a:latin typeface="+mn-ea"/>
              </a:rPr>
              <a:t>不反应</a:t>
            </a:r>
            <a:endParaRPr lang="en-US" altLang="zh-CN" b="1" dirty="0" smtClean="0">
              <a:latin typeface="+mn-ea"/>
            </a:endParaRPr>
          </a:p>
          <a:p>
            <a:pPr marL="742950" indent="-74295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b="1" dirty="0" smtClean="0">
                <a:latin typeface="+mn-ea"/>
              </a:rPr>
              <a:t>	B </a:t>
            </a:r>
            <a:r>
              <a:rPr lang="zh-CN" altLang="en-US" b="1" dirty="0" smtClean="0">
                <a:latin typeface="+mn-ea"/>
              </a:rPr>
              <a:t>两性氧化物</a:t>
            </a:r>
            <a:endParaRPr lang="en-US" altLang="zh-CN" b="1" dirty="0" smtClean="0">
              <a:latin typeface="+mn-ea"/>
            </a:endParaRPr>
          </a:p>
          <a:p>
            <a:pPr marL="742950" indent="-74295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b="1" dirty="0" smtClean="0">
                <a:latin typeface="+mn-ea"/>
              </a:rPr>
              <a:t>	C </a:t>
            </a:r>
            <a:r>
              <a:rPr lang="zh-CN" altLang="en-US" b="1" dirty="0" smtClean="0">
                <a:latin typeface="+mn-ea"/>
              </a:rPr>
              <a:t>能和强碱溶液反应</a:t>
            </a:r>
            <a:endParaRPr lang="en-US" altLang="zh-CN" b="1" dirty="0" smtClean="0">
              <a:latin typeface="+mn-ea"/>
            </a:endParaRPr>
          </a:p>
          <a:p>
            <a:pPr marL="742950" indent="-74295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b="1" dirty="0" smtClean="0">
                <a:latin typeface="+mn-ea"/>
              </a:rPr>
              <a:t>	</a:t>
            </a:r>
            <a:r>
              <a:rPr lang="en-US" altLang="zh-CN" b="1" dirty="0" err="1" smtClean="0">
                <a:latin typeface="+mn-ea"/>
              </a:rPr>
              <a:t>Ans</a:t>
            </a:r>
            <a:r>
              <a:rPr lang="zh-CN" altLang="en-US" b="1" dirty="0" smtClean="0">
                <a:latin typeface="+mn-ea"/>
              </a:rPr>
              <a:t>： </a:t>
            </a:r>
            <a:r>
              <a:rPr lang="en-US" altLang="zh-CN" b="1" dirty="0" smtClean="0">
                <a:latin typeface="+mn-ea"/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xmlns="" val="1009299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1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1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1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1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14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14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614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614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6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idx="1"/>
          </p:nvPr>
        </p:nvSpPr>
        <p:spPr>
          <a:xfrm>
            <a:off x="685800" y="152400"/>
            <a:ext cx="8305800" cy="6705600"/>
          </a:xfrm>
          <a:extLst>
            <a:ext uri="{909E8E84-426E-40DD-AFC4-6F175D3DCCD1}">
              <a14:hiddenFill xmlns:a14="http://schemas.microsoft.com/office/drawing/2010/main" xmlns="">
                <a:solidFill>
                  <a:srgbClr val="3A2222"/>
                </a:solidFill>
              </a14:hiddenFill>
            </a:ext>
          </a:extLst>
        </p:spPr>
        <p:txBody>
          <a:bodyPr/>
          <a:lstStyle/>
          <a:p>
            <a:pPr marL="0" indent="0"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zh-CN" altLang="en-US" sz="4000" b="1" u="sng" dirty="0" smtClean="0">
                <a:latin typeface="+mn-ea"/>
                <a:sym typeface="Wingdings" pitchFamily="2" charset="2"/>
              </a:rPr>
              <a:t>选择题</a:t>
            </a:r>
            <a:endParaRPr lang="en-US" altLang="zh-CN" b="1" dirty="0" smtClean="0">
              <a:latin typeface="+mn-ea"/>
              <a:sym typeface="Wingdings" pitchFamily="2" charset="2"/>
            </a:endParaRPr>
          </a:p>
          <a:p>
            <a:pPr marL="514350" indent="-514350">
              <a:spcBef>
                <a:spcPts val="600"/>
              </a:spcBef>
              <a:spcAft>
                <a:spcPts val="600"/>
              </a:spcAft>
              <a:buFontTx/>
              <a:buAutoNum type="arabicPeriod" startAt="7"/>
            </a:pPr>
            <a:r>
              <a:rPr lang="en-US" altLang="zh-CN" b="1" dirty="0" err="1" smtClean="0">
                <a:latin typeface="+mn-ea"/>
                <a:sym typeface="Wingdings" pitchFamily="2" charset="2"/>
              </a:rPr>
              <a:t>Ans:A</a:t>
            </a:r>
            <a:r>
              <a:rPr lang="en-US" altLang="zh-CN" b="1" dirty="0" smtClean="0">
                <a:latin typeface="+mn-ea"/>
                <a:sym typeface="Wingdings" pitchFamily="2" charset="2"/>
              </a:rPr>
              <a:t> </a:t>
            </a:r>
          </a:p>
          <a:p>
            <a:pPr marL="514350" indent="-51435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b="1" dirty="0" smtClean="0">
                <a:latin typeface="+mn-ea"/>
                <a:sym typeface="Wingdings" pitchFamily="2" charset="2"/>
              </a:rPr>
              <a:t>	B </a:t>
            </a:r>
            <a:r>
              <a:rPr lang="zh-CN" altLang="en-US" b="1" dirty="0" smtClean="0">
                <a:latin typeface="+mn-ea"/>
                <a:sym typeface="Wingdings" pitchFamily="2" charset="2"/>
              </a:rPr>
              <a:t>氨水不能，强碱才可以</a:t>
            </a:r>
            <a:endParaRPr lang="en-US" altLang="zh-CN" b="1" dirty="0" smtClean="0">
              <a:latin typeface="+mn-ea"/>
              <a:sym typeface="Wingdings" pitchFamily="2" charset="2"/>
            </a:endParaRPr>
          </a:p>
          <a:p>
            <a:pPr marL="514350" indent="-51435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b="1" dirty="0" smtClean="0">
                <a:latin typeface="+mn-ea"/>
                <a:sym typeface="Wingdings" pitchFamily="2" charset="2"/>
              </a:rPr>
              <a:t>	C </a:t>
            </a:r>
            <a:r>
              <a:rPr lang="zh-CN" altLang="en-US" b="1" dirty="0" smtClean="0">
                <a:latin typeface="+mn-ea"/>
                <a:sym typeface="Wingdings" pitchFamily="2" charset="2"/>
              </a:rPr>
              <a:t>两性：能与酸反应又能与强碱反应</a:t>
            </a:r>
            <a:endParaRPr lang="en-US" altLang="zh-CN" b="1" dirty="0" smtClean="0">
              <a:latin typeface="+mn-ea"/>
              <a:sym typeface="Wingdings" pitchFamily="2" charset="2"/>
            </a:endParaRPr>
          </a:p>
          <a:p>
            <a:pPr marL="514350" indent="-51435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b="1" dirty="0" smtClean="0">
                <a:latin typeface="+mn-ea"/>
                <a:sym typeface="Wingdings" pitchFamily="2" charset="2"/>
              </a:rPr>
              <a:t>	D </a:t>
            </a:r>
            <a:r>
              <a:rPr lang="zh-CN" altLang="en-US" b="1" dirty="0" smtClean="0">
                <a:latin typeface="+mn-ea"/>
                <a:sym typeface="Wingdings" pitchFamily="2" charset="2"/>
              </a:rPr>
              <a:t>强弱酸都可以</a:t>
            </a:r>
            <a:endParaRPr lang="en-US" altLang="zh-CN" b="1" dirty="0" smtClean="0">
              <a:latin typeface="+mn-ea"/>
              <a:sym typeface="Wingdings" pitchFamily="2" charset="2"/>
            </a:endParaRPr>
          </a:p>
          <a:p>
            <a:pPr marL="514350" indent="-51435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b="1" dirty="0" smtClean="0">
                <a:latin typeface="+mn-ea"/>
                <a:sym typeface="Wingdings" pitchFamily="2" charset="2"/>
              </a:rPr>
              <a:t>8. C Al</a:t>
            </a:r>
            <a:r>
              <a:rPr lang="zh-CN" altLang="en-US" b="1" dirty="0" smtClean="0">
                <a:latin typeface="+mn-ea"/>
                <a:sym typeface="Wingdings" pitchFamily="2" charset="2"/>
              </a:rPr>
              <a:t>的还原性比</a:t>
            </a:r>
            <a:r>
              <a:rPr lang="en-US" altLang="zh-CN" b="1" dirty="0" smtClean="0">
                <a:latin typeface="+mn-ea"/>
                <a:sym typeface="Wingdings" pitchFamily="2" charset="2"/>
              </a:rPr>
              <a:t>Mg</a:t>
            </a:r>
            <a:r>
              <a:rPr lang="zh-CN" altLang="en-US" b="1" dirty="0" smtClean="0">
                <a:latin typeface="+mn-ea"/>
                <a:sym typeface="Wingdings" pitchFamily="2" charset="2"/>
              </a:rPr>
              <a:t>弱，</a:t>
            </a:r>
            <a:r>
              <a:rPr lang="en-US" altLang="zh-CN" b="1" dirty="0" smtClean="0">
                <a:latin typeface="+mn-ea"/>
                <a:sym typeface="Wingdings" pitchFamily="2" charset="2"/>
              </a:rPr>
              <a:t>Al</a:t>
            </a:r>
            <a:r>
              <a:rPr lang="zh-CN" altLang="en-US" b="1" dirty="0" smtClean="0">
                <a:latin typeface="+mn-ea"/>
                <a:sym typeface="Wingdings" pitchFamily="2" charset="2"/>
              </a:rPr>
              <a:t>不能还原</a:t>
            </a:r>
            <a:r>
              <a:rPr lang="en-US" altLang="zh-CN" b="1" dirty="0" smtClean="0">
                <a:latin typeface="+mn-ea"/>
                <a:sym typeface="Wingdings" pitchFamily="2" charset="2"/>
              </a:rPr>
              <a:t>Mg</a:t>
            </a:r>
            <a:r>
              <a:rPr lang="en-US" altLang="zh-CN" b="1" baseline="30000" dirty="0" smtClean="0">
                <a:latin typeface="+mn-ea"/>
                <a:sym typeface="Wingdings" pitchFamily="2" charset="2"/>
              </a:rPr>
              <a:t>2+</a:t>
            </a:r>
            <a:r>
              <a:rPr lang="en-US" altLang="zh-CN" b="1" dirty="0" smtClean="0">
                <a:latin typeface="+mn-ea"/>
                <a:sym typeface="Wingdings" pitchFamily="2" charset="2"/>
              </a:rPr>
              <a:t> </a:t>
            </a:r>
          </a:p>
          <a:p>
            <a:pPr marL="514350" indent="-51435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b="1" dirty="0" smtClean="0">
                <a:latin typeface="+mn-ea"/>
                <a:sym typeface="Wingdings" pitchFamily="2" charset="2"/>
              </a:rPr>
              <a:t>9. 2Al + 2NaOH + 2H</a:t>
            </a:r>
            <a:r>
              <a:rPr lang="en-US" altLang="zh-CN" b="1" baseline="-25000" dirty="0" smtClean="0">
                <a:latin typeface="+mn-ea"/>
                <a:sym typeface="Wingdings" pitchFamily="2" charset="2"/>
              </a:rPr>
              <a:t>2</a:t>
            </a:r>
            <a:r>
              <a:rPr lang="en-US" altLang="zh-CN" b="1" dirty="0" smtClean="0">
                <a:latin typeface="+mn-ea"/>
                <a:sym typeface="Wingdings" pitchFamily="2" charset="2"/>
              </a:rPr>
              <a:t>O   </a:t>
            </a:r>
          </a:p>
          <a:p>
            <a:pPr marL="514350" indent="-51435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b="1" dirty="0" smtClean="0">
                <a:latin typeface="+mn-ea"/>
                <a:sym typeface="Wingdings" pitchFamily="2" charset="2"/>
              </a:rPr>
              <a:t>Al</a:t>
            </a:r>
            <a:r>
              <a:rPr lang="en-US" altLang="zh-CN" b="1" baseline="-25000" dirty="0" smtClean="0">
                <a:latin typeface="+mn-ea"/>
                <a:sym typeface="Wingdings" pitchFamily="2" charset="2"/>
              </a:rPr>
              <a:t>2</a:t>
            </a:r>
            <a:r>
              <a:rPr lang="en-US" altLang="zh-CN" b="1" dirty="0" smtClean="0">
                <a:latin typeface="+mn-ea"/>
                <a:sym typeface="Wingdings" pitchFamily="2" charset="2"/>
              </a:rPr>
              <a:t>O</a:t>
            </a:r>
            <a:r>
              <a:rPr lang="en-US" altLang="zh-CN" b="1" baseline="-25000" dirty="0" smtClean="0">
                <a:latin typeface="+mn-ea"/>
                <a:sym typeface="Wingdings" pitchFamily="2" charset="2"/>
              </a:rPr>
              <a:t>3 </a:t>
            </a:r>
            <a:r>
              <a:rPr lang="en-US" altLang="zh-CN" b="1" dirty="0" smtClean="0">
                <a:latin typeface="+mn-ea"/>
                <a:sym typeface="Wingdings" pitchFamily="2" charset="2"/>
              </a:rPr>
              <a:t>+ 2 </a:t>
            </a:r>
            <a:r>
              <a:rPr lang="en-US" altLang="zh-CN" b="1" dirty="0" err="1" smtClean="0">
                <a:latin typeface="+mn-ea"/>
                <a:sym typeface="Wingdings" pitchFamily="2" charset="2"/>
              </a:rPr>
              <a:t>NaOH</a:t>
            </a:r>
            <a:r>
              <a:rPr lang="en-US" altLang="zh-CN" b="1" dirty="0" smtClean="0">
                <a:latin typeface="+mn-ea"/>
                <a:sym typeface="Wingdings" pitchFamily="2" charset="2"/>
              </a:rPr>
              <a:t> </a:t>
            </a:r>
          </a:p>
          <a:p>
            <a:pPr marL="514350" indent="-51435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b="1" dirty="0" smtClean="0">
                <a:latin typeface="+mn-ea"/>
                <a:sym typeface="Wingdings" pitchFamily="2" charset="2"/>
              </a:rPr>
              <a:t>Al(OH)</a:t>
            </a:r>
            <a:r>
              <a:rPr lang="en-US" altLang="zh-CN" b="1" baseline="-25000" dirty="0" smtClean="0">
                <a:latin typeface="+mn-ea"/>
                <a:sym typeface="Wingdings" pitchFamily="2" charset="2"/>
              </a:rPr>
              <a:t>3</a:t>
            </a:r>
            <a:r>
              <a:rPr lang="en-US" altLang="zh-CN" b="1" dirty="0" smtClean="0">
                <a:latin typeface="+mn-ea"/>
              </a:rPr>
              <a:t> + </a:t>
            </a:r>
            <a:r>
              <a:rPr lang="en-US" altLang="zh-CN" b="1" dirty="0" err="1" smtClean="0">
                <a:latin typeface="+mn-ea"/>
              </a:rPr>
              <a:t>NaOH</a:t>
            </a:r>
            <a:r>
              <a:rPr lang="en-US" altLang="zh-CN" b="1" dirty="0" smtClean="0">
                <a:latin typeface="+mn-ea"/>
              </a:rPr>
              <a:t> </a:t>
            </a:r>
            <a:r>
              <a:rPr lang="en-US" altLang="zh-CN" b="1" dirty="0" smtClean="0">
                <a:latin typeface="+mn-ea"/>
                <a:sym typeface="Wingdings" pitchFamily="2" charset="2"/>
              </a:rPr>
              <a:t></a:t>
            </a:r>
          </a:p>
          <a:p>
            <a:pPr marL="514350" indent="-51435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b="1" dirty="0" err="1" smtClean="0">
                <a:latin typeface="+mn-ea"/>
                <a:sym typeface="Wingdings" pitchFamily="2" charset="2"/>
              </a:rPr>
              <a:t>Ans:C</a:t>
            </a:r>
            <a:endParaRPr lang="en-US" altLang="zh-CN" b="1" dirty="0" smtClean="0">
              <a:latin typeface="+mn-ea"/>
            </a:endParaRPr>
          </a:p>
          <a:p>
            <a:pPr marL="514350" indent="-514350">
              <a:spcBef>
                <a:spcPts val="600"/>
              </a:spcBef>
              <a:spcAft>
                <a:spcPts val="600"/>
              </a:spcAft>
              <a:buNone/>
            </a:pPr>
            <a:endParaRPr lang="en-US" altLang="zh-CN" b="1" dirty="0" smtClean="0">
              <a:latin typeface="+mn-ea"/>
              <a:sym typeface="Wingdings" pitchFamily="2" charset="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394552" y="4749225"/>
            <a:ext cx="288572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 smtClean="0">
                <a:latin typeface="+mn-ea"/>
                <a:sym typeface="Wingdings" pitchFamily="2" charset="2"/>
              </a:rPr>
              <a:t>2 NaAlO</a:t>
            </a:r>
            <a:r>
              <a:rPr lang="en-US" altLang="zh-CN" sz="3200" b="1" baseline="-25000" dirty="0" smtClean="0">
                <a:latin typeface="+mn-ea"/>
                <a:sym typeface="Wingdings" pitchFamily="2" charset="2"/>
              </a:rPr>
              <a:t>2</a:t>
            </a:r>
            <a:r>
              <a:rPr lang="en-US" altLang="zh-CN" sz="3200" b="1" dirty="0" smtClean="0">
                <a:latin typeface="+mn-ea"/>
                <a:sym typeface="Wingdings" pitchFamily="2" charset="2"/>
              </a:rPr>
              <a:t> +  H</a:t>
            </a:r>
            <a:r>
              <a:rPr lang="en-US" altLang="zh-CN" sz="3200" b="1" baseline="-25000" dirty="0" smtClean="0">
                <a:latin typeface="+mn-ea"/>
                <a:sym typeface="Wingdings" pitchFamily="2" charset="2"/>
              </a:rPr>
              <a:t>2</a:t>
            </a:r>
            <a:r>
              <a:rPr lang="en-US" altLang="zh-CN" sz="3200" b="1" dirty="0" smtClean="0">
                <a:latin typeface="+mn-ea"/>
                <a:sym typeface="Wingdings" pitchFamily="2" charset="2"/>
              </a:rPr>
              <a:t>O</a:t>
            </a:r>
            <a:endParaRPr lang="en-US" sz="3200" dirty="0"/>
          </a:p>
        </p:txBody>
      </p:sp>
      <p:sp>
        <p:nvSpPr>
          <p:cNvPr id="4" name="Rectangle 3"/>
          <p:cNvSpPr/>
          <p:nvPr/>
        </p:nvSpPr>
        <p:spPr>
          <a:xfrm>
            <a:off x="4343400" y="5410200"/>
            <a:ext cx="297870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 smtClean="0">
                <a:latin typeface="+mn-ea"/>
                <a:sym typeface="Wingdings" pitchFamily="2" charset="2"/>
              </a:rPr>
              <a:t> NaAlO</a:t>
            </a:r>
            <a:r>
              <a:rPr lang="en-US" altLang="zh-CN" sz="3200" b="1" baseline="-25000" dirty="0" smtClean="0">
                <a:latin typeface="+mn-ea"/>
                <a:sym typeface="Wingdings" pitchFamily="2" charset="2"/>
              </a:rPr>
              <a:t>2</a:t>
            </a:r>
            <a:r>
              <a:rPr lang="en-US" altLang="zh-CN" sz="3200" b="1" dirty="0" smtClean="0">
                <a:latin typeface="+mn-ea"/>
                <a:sym typeface="Wingdings" pitchFamily="2" charset="2"/>
              </a:rPr>
              <a:t> +  2 H</a:t>
            </a:r>
            <a:r>
              <a:rPr lang="en-US" altLang="zh-CN" sz="3200" b="1" baseline="-25000" dirty="0" smtClean="0">
                <a:latin typeface="+mn-ea"/>
                <a:sym typeface="Wingdings" pitchFamily="2" charset="2"/>
              </a:rPr>
              <a:t>2</a:t>
            </a:r>
            <a:r>
              <a:rPr lang="en-US" altLang="zh-CN" sz="3200" b="1" dirty="0" smtClean="0">
                <a:latin typeface="+mn-ea"/>
                <a:sym typeface="Wingdings" pitchFamily="2" charset="2"/>
              </a:rPr>
              <a:t>O</a:t>
            </a:r>
            <a:endParaRPr lang="en-US" sz="3200" dirty="0"/>
          </a:p>
        </p:txBody>
      </p:sp>
      <p:sp>
        <p:nvSpPr>
          <p:cNvPr id="5" name="Rectangle 4"/>
          <p:cNvSpPr/>
          <p:nvPr/>
        </p:nvSpPr>
        <p:spPr>
          <a:xfrm>
            <a:off x="5531655" y="4139625"/>
            <a:ext cx="300274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 smtClean="0">
                <a:latin typeface="+mn-ea"/>
                <a:sym typeface="Wingdings" pitchFamily="2" charset="2"/>
              </a:rPr>
              <a:t> 2 NaAlO</a:t>
            </a:r>
            <a:r>
              <a:rPr lang="en-US" altLang="zh-CN" sz="3200" b="1" baseline="-25000" dirty="0" smtClean="0">
                <a:latin typeface="+mn-ea"/>
                <a:sym typeface="Wingdings" pitchFamily="2" charset="2"/>
              </a:rPr>
              <a:t>2</a:t>
            </a:r>
            <a:r>
              <a:rPr lang="en-US" altLang="zh-CN" sz="3200" b="1" dirty="0" smtClean="0">
                <a:latin typeface="+mn-ea"/>
                <a:sym typeface="Wingdings" pitchFamily="2" charset="2"/>
              </a:rPr>
              <a:t> +  3 H</a:t>
            </a:r>
            <a:r>
              <a:rPr lang="en-US" altLang="zh-CN" sz="3200" b="1" baseline="-25000" dirty="0" smtClean="0">
                <a:latin typeface="+mn-ea"/>
                <a:sym typeface="Wingdings" pitchFamily="2" charset="2"/>
              </a:rPr>
              <a:t>2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xmlns="" val="1009299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1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61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614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614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6" grpId="0" uiExpand="1" build="p"/>
      <p:bldP spid="3" grpId="0"/>
      <p:bldP spid="4" grpId="0"/>
      <p:bldP spid="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idx="1"/>
          </p:nvPr>
        </p:nvSpPr>
        <p:spPr>
          <a:xfrm>
            <a:off x="685800" y="152400"/>
            <a:ext cx="8305800" cy="6705600"/>
          </a:xfrm>
          <a:extLst>
            <a:ext uri="{909E8E84-426E-40DD-AFC4-6F175D3DCCD1}">
              <a14:hiddenFill xmlns:a14="http://schemas.microsoft.com/office/drawing/2010/main" xmlns="">
                <a:solidFill>
                  <a:srgbClr val="3A2222"/>
                </a:solidFill>
              </a14:hiddenFill>
            </a:ext>
          </a:extLst>
        </p:spPr>
        <p:txBody>
          <a:bodyPr/>
          <a:lstStyle/>
          <a:p>
            <a:pPr marL="0" indent="0"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zh-CN" altLang="en-US" sz="4000" b="1" u="sng" dirty="0" smtClean="0">
                <a:latin typeface="+mn-ea"/>
                <a:sym typeface="Wingdings" pitchFamily="2" charset="2"/>
              </a:rPr>
              <a:t>选择题</a:t>
            </a:r>
            <a:endParaRPr lang="en-US" altLang="zh-CN" b="1" dirty="0" smtClean="0">
              <a:latin typeface="+mn-ea"/>
              <a:sym typeface="Wingdings" pitchFamily="2" charset="2"/>
            </a:endParaRPr>
          </a:p>
          <a:p>
            <a:pPr marL="742950" indent="-742950">
              <a:spcBef>
                <a:spcPts val="600"/>
              </a:spcBef>
              <a:spcAft>
                <a:spcPts val="600"/>
              </a:spcAft>
              <a:buAutoNum type="arabicPeriod" startAt="10"/>
            </a:pPr>
            <a:r>
              <a:rPr lang="en-US" altLang="zh-CN" b="1" dirty="0" smtClean="0">
                <a:latin typeface="+mn-ea"/>
              </a:rPr>
              <a:t>2Al +  6HCl </a:t>
            </a:r>
            <a:r>
              <a:rPr lang="en-US" altLang="zh-CN" b="1" dirty="0" smtClean="0">
                <a:latin typeface="+mn-ea"/>
                <a:sym typeface="Wingdings" pitchFamily="2" charset="2"/>
              </a:rPr>
              <a:t></a:t>
            </a:r>
          </a:p>
          <a:p>
            <a:pPr marL="742950" indent="-74295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b="1" dirty="0" smtClean="0">
                <a:latin typeface="+mn-ea"/>
                <a:sym typeface="Wingdings" pitchFamily="2" charset="2"/>
              </a:rPr>
              <a:t> 2Al + 2NaOH + 2H</a:t>
            </a:r>
            <a:r>
              <a:rPr lang="en-US" altLang="zh-CN" b="1" baseline="-25000" dirty="0" smtClean="0">
                <a:latin typeface="+mn-ea"/>
                <a:sym typeface="Wingdings" pitchFamily="2" charset="2"/>
              </a:rPr>
              <a:t>2</a:t>
            </a:r>
            <a:r>
              <a:rPr lang="en-US" altLang="zh-CN" b="1" dirty="0" smtClean="0">
                <a:latin typeface="+mn-ea"/>
                <a:sym typeface="Wingdings" pitchFamily="2" charset="2"/>
              </a:rPr>
              <a:t>O </a:t>
            </a:r>
          </a:p>
          <a:p>
            <a:pPr marL="742950" indent="-74295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b="1" dirty="0" err="1" smtClean="0">
                <a:latin typeface="+mn-ea"/>
                <a:sym typeface="Wingdings" pitchFamily="2" charset="2"/>
              </a:rPr>
              <a:t>Ans:C</a:t>
            </a:r>
            <a:r>
              <a:rPr lang="en-US" altLang="zh-CN" b="1" dirty="0" smtClean="0">
                <a:latin typeface="+mn-ea"/>
                <a:sym typeface="Wingdings" pitchFamily="2" charset="2"/>
              </a:rPr>
              <a:t>  </a:t>
            </a:r>
            <a:endParaRPr lang="en-US" altLang="zh-CN" b="1" dirty="0" smtClean="0">
              <a:latin typeface="+mn-ea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267200" y="914400"/>
            <a:ext cx="238558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 smtClean="0">
                <a:latin typeface="+mn-ea"/>
                <a:sym typeface="Wingdings" pitchFamily="2" charset="2"/>
              </a:rPr>
              <a:t>2 AlCl</a:t>
            </a:r>
            <a:r>
              <a:rPr lang="en-US" altLang="zh-CN" sz="3200" b="1" baseline="-25000" dirty="0" smtClean="0">
                <a:latin typeface="+mn-ea"/>
                <a:sym typeface="Wingdings" pitchFamily="2" charset="2"/>
              </a:rPr>
              <a:t>3</a:t>
            </a:r>
            <a:r>
              <a:rPr lang="en-US" altLang="zh-CN" sz="3200" b="1" dirty="0" smtClean="0">
                <a:latin typeface="+mn-ea"/>
                <a:sym typeface="Wingdings" pitchFamily="2" charset="2"/>
              </a:rPr>
              <a:t> + 3 H</a:t>
            </a:r>
            <a:r>
              <a:rPr lang="en-US" altLang="zh-CN" sz="3200" b="1" baseline="-25000" dirty="0" smtClean="0">
                <a:latin typeface="+mn-ea"/>
                <a:sym typeface="Wingdings" pitchFamily="2" charset="2"/>
              </a:rPr>
              <a:t>2</a:t>
            </a:r>
            <a:endParaRPr lang="en-US" sz="3200" dirty="0"/>
          </a:p>
        </p:txBody>
      </p:sp>
      <p:sp>
        <p:nvSpPr>
          <p:cNvPr id="4" name="Rectangle 3"/>
          <p:cNvSpPr/>
          <p:nvPr/>
        </p:nvSpPr>
        <p:spPr>
          <a:xfrm>
            <a:off x="5257800" y="1548825"/>
            <a:ext cx="300274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 smtClean="0">
                <a:latin typeface="+mn-ea"/>
                <a:sym typeface="Wingdings" pitchFamily="2" charset="2"/>
              </a:rPr>
              <a:t> 2 NaAlO</a:t>
            </a:r>
            <a:r>
              <a:rPr lang="en-US" altLang="zh-CN" sz="3200" b="1" baseline="-25000" dirty="0" smtClean="0">
                <a:latin typeface="+mn-ea"/>
                <a:sym typeface="Wingdings" pitchFamily="2" charset="2"/>
              </a:rPr>
              <a:t>2</a:t>
            </a:r>
            <a:r>
              <a:rPr lang="en-US" altLang="zh-CN" sz="3200" b="1" dirty="0" smtClean="0">
                <a:latin typeface="+mn-ea"/>
                <a:sym typeface="Wingdings" pitchFamily="2" charset="2"/>
              </a:rPr>
              <a:t> +  3 H</a:t>
            </a:r>
            <a:r>
              <a:rPr lang="en-US" altLang="zh-CN" sz="3200" b="1" baseline="-25000" dirty="0" smtClean="0">
                <a:latin typeface="+mn-ea"/>
                <a:sym typeface="Wingdings" pitchFamily="2" charset="2"/>
              </a:rPr>
              <a:t>2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xmlns="" val="1009299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6" grpId="0" uiExpand="1" build="p"/>
      <p:bldP spid="3" grpId="0"/>
      <p:bldP spid="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idx="1"/>
          </p:nvPr>
        </p:nvSpPr>
        <p:spPr>
          <a:xfrm>
            <a:off x="685800" y="152400"/>
            <a:ext cx="8305800" cy="6705600"/>
          </a:xfrm>
          <a:extLst>
            <a:ext uri="{909E8E84-426E-40DD-AFC4-6F175D3DCCD1}">
              <a14:hiddenFill xmlns:a14="http://schemas.microsoft.com/office/drawing/2010/main" xmlns="">
                <a:solidFill>
                  <a:srgbClr val="3A2222"/>
                </a:solidFill>
              </a14:hiddenFill>
            </a:ext>
          </a:extLst>
        </p:spPr>
        <p:txBody>
          <a:bodyPr/>
          <a:lstStyle/>
          <a:p>
            <a:pPr marL="0" indent="0"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zh-CN" altLang="en-US" sz="4000" b="1" u="sng" dirty="0" smtClean="0">
                <a:latin typeface="+mn-ea"/>
                <a:sym typeface="Wingdings" pitchFamily="2" charset="2"/>
              </a:rPr>
              <a:t>作答题</a:t>
            </a:r>
            <a:endParaRPr lang="en-US" altLang="zh-CN" b="1" dirty="0" smtClean="0">
              <a:latin typeface="+mn-ea"/>
              <a:sym typeface="Wingdings" pitchFamily="2" charset="2"/>
            </a:endParaRPr>
          </a:p>
          <a:p>
            <a:pPr marL="742950" indent="-74295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zh-CN" altLang="en-US" b="1" dirty="0" smtClean="0">
                <a:latin typeface="+mn-ea"/>
              </a:rPr>
              <a:t>第三周期，</a:t>
            </a:r>
            <a:r>
              <a:rPr lang="en-US" altLang="zh-CN" b="1" dirty="0" smtClean="0">
                <a:latin typeface="+mn-ea"/>
              </a:rPr>
              <a:t>IIIA</a:t>
            </a:r>
            <a:r>
              <a:rPr lang="zh-CN" altLang="en-US" b="1" dirty="0" smtClean="0">
                <a:latin typeface="+mn-ea"/>
              </a:rPr>
              <a:t>族。</a:t>
            </a:r>
            <a:endParaRPr lang="en-US" altLang="zh-CN" b="1" dirty="0" smtClean="0">
              <a:latin typeface="+mn-ea"/>
            </a:endParaRPr>
          </a:p>
          <a:p>
            <a:pPr marL="742950" indent="-74295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b="1" dirty="0" smtClean="0">
                <a:latin typeface="+mn-ea"/>
              </a:rPr>
              <a:t>	1s</a:t>
            </a:r>
            <a:r>
              <a:rPr lang="en-US" altLang="zh-CN" b="1" baseline="30000" dirty="0" smtClean="0">
                <a:latin typeface="+mn-ea"/>
              </a:rPr>
              <a:t>2</a:t>
            </a:r>
            <a:r>
              <a:rPr lang="en-US" altLang="zh-CN" b="1" dirty="0" smtClean="0">
                <a:latin typeface="+mn-ea"/>
              </a:rPr>
              <a:t> 2s</a:t>
            </a:r>
            <a:r>
              <a:rPr lang="en-US" altLang="zh-CN" b="1" baseline="30000" dirty="0" smtClean="0">
                <a:latin typeface="+mn-ea"/>
              </a:rPr>
              <a:t>2</a:t>
            </a:r>
            <a:r>
              <a:rPr lang="en-US" altLang="zh-CN" b="1" dirty="0" smtClean="0">
                <a:latin typeface="+mn-ea"/>
              </a:rPr>
              <a:t> 2p</a:t>
            </a:r>
            <a:r>
              <a:rPr lang="en-US" altLang="zh-CN" b="1" baseline="30000" dirty="0" smtClean="0">
                <a:latin typeface="+mn-ea"/>
              </a:rPr>
              <a:t>6</a:t>
            </a:r>
            <a:r>
              <a:rPr lang="en-US" altLang="zh-CN" b="1" dirty="0" smtClean="0">
                <a:latin typeface="+mn-ea"/>
              </a:rPr>
              <a:t> 3s</a:t>
            </a:r>
            <a:r>
              <a:rPr lang="en-US" altLang="zh-CN" b="1" baseline="30000" dirty="0" smtClean="0">
                <a:latin typeface="+mn-ea"/>
              </a:rPr>
              <a:t>2</a:t>
            </a:r>
            <a:r>
              <a:rPr lang="en-US" altLang="zh-CN" b="1" dirty="0" smtClean="0">
                <a:latin typeface="+mn-ea"/>
              </a:rPr>
              <a:t> 3p</a:t>
            </a:r>
            <a:r>
              <a:rPr lang="en-US" altLang="zh-CN" b="1" baseline="30000" dirty="0" smtClean="0">
                <a:latin typeface="+mn-ea"/>
              </a:rPr>
              <a:t>1</a:t>
            </a:r>
          </a:p>
          <a:p>
            <a:pPr marL="742950" indent="-74295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b="1" dirty="0" smtClean="0">
                <a:latin typeface="+mn-ea"/>
              </a:rPr>
              <a:t>2. 	(1)B</a:t>
            </a:r>
          </a:p>
          <a:p>
            <a:pPr marL="742950" indent="-74295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b="1" baseline="30000" dirty="0" smtClean="0">
                <a:latin typeface="+mn-ea"/>
              </a:rPr>
              <a:t>	</a:t>
            </a:r>
            <a:r>
              <a:rPr lang="en-US" altLang="zh-CN" b="1" dirty="0" smtClean="0">
                <a:latin typeface="+mn-ea"/>
              </a:rPr>
              <a:t>(2) E</a:t>
            </a:r>
          </a:p>
          <a:p>
            <a:pPr marL="742950" indent="-74295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b="1" dirty="0" smtClean="0">
                <a:latin typeface="+mn-ea"/>
              </a:rPr>
              <a:t>	(3) D </a:t>
            </a:r>
          </a:p>
          <a:p>
            <a:pPr marL="742950" indent="-74295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b="1" dirty="0" smtClean="0">
                <a:latin typeface="+mn-ea"/>
              </a:rPr>
              <a:t>	(4) C</a:t>
            </a:r>
          </a:p>
          <a:p>
            <a:pPr marL="742950" indent="-74295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b="1" dirty="0" smtClean="0">
                <a:latin typeface="+mn-ea"/>
              </a:rPr>
              <a:t>	(5) A</a:t>
            </a:r>
            <a:endParaRPr lang="en-US" altLang="zh-CN" b="1" baseline="30000" dirty="0" smtClean="0">
              <a:latin typeface="+mn-ea"/>
            </a:endParaRPr>
          </a:p>
          <a:p>
            <a:pPr marL="742950" indent="-74295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b="1" dirty="0" smtClean="0">
                <a:latin typeface="+mn-ea"/>
              </a:rPr>
              <a:t>3. 	(1) 2 Al + Fe</a:t>
            </a:r>
            <a:r>
              <a:rPr lang="en-US" altLang="zh-CN" b="1" baseline="-25000" dirty="0" smtClean="0">
                <a:latin typeface="+mn-ea"/>
              </a:rPr>
              <a:t>2</a:t>
            </a:r>
            <a:r>
              <a:rPr lang="en-US" altLang="zh-CN" b="1" dirty="0" smtClean="0">
                <a:latin typeface="+mn-ea"/>
              </a:rPr>
              <a:t>O</a:t>
            </a:r>
            <a:r>
              <a:rPr lang="en-US" altLang="zh-CN" b="1" baseline="-25000" dirty="0" smtClean="0">
                <a:latin typeface="+mn-ea"/>
              </a:rPr>
              <a:t>3</a:t>
            </a:r>
            <a:r>
              <a:rPr lang="en-US" altLang="zh-CN" b="1" dirty="0" smtClean="0">
                <a:latin typeface="+mn-ea"/>
              </a:rPr>
              <a:t> </a:t>
            </a:r>
            <a:r>
              <a:rPr lang="en-US" altLang="zh-CN" b="1" dirty="0" smtClean="0">
                <a:latin typeface="+mn-ea"/>
                <a:sym typeface="Wingdings" pitchFamily="2" charset="2"/>
              </a:rPr>
              <a:t></a:t>
            </a:r>
            <a:r>
              <a:rPr lang="en-US" altLang="zh-CN" b="1" dirty="0" smtClean="0">
                <a:latin typeface="+mn-ea"/>
              </a:rPr>
              <a:t> 2 Fe + Al</a:t>
            </a:r>
            <a:r>
              <a:rPr lang="en-US" altLang="zh-CN" b="1" baseline="-25000" dirty="0" smtClean="0">
                <a:latin typeface="+mn-ea"/>
              </a:rPr>
              <a:t>2</a:t>
            </a:r>
            <a:r>
              <a:rPr lang="en-US" altLang="zh-CN" b="1" dirty="0" smtClean="0">
                <a:latin typeface="+mn-ea"/>
              </a:rPr>
              <a:t>O</a:t>
            </a:r>
            <a:r>
              <a:rPr lang="en-US" altLang="zh-CN" b="1" baseline="-25000" dirty="0" smtClean="0">
                <a:latin typeface="+mn-ea"/>
              </a:rPr>
              <a:t>3</a:t>
            </a:r>
            <a:r>
              <a:rPr lang="en-US" altLang="zh-CN" b="1" dirty="0" smtClean="0">
                <a:latin typeface="+mn-ea"/>
              </a:rPr>
              <a:t> </a:t>
            </a:r>
          </a:p>
          <a:p>
            <a:pPr marL="742950" indent="-74295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b="1" dirty="0" smtClean="0">
                <a:latin typeface="+mn-ea"/>
              </a:rPr>
              <a:t>	(2)</a:t>
            </a:r>
            <a:r>
              <a:rPr lang="zh-CN" altLang="en-US" b="1" dirty="0" smtClean="0">
                <a:latin typeface="+mn-ea"/>
              </a:rPr>
              <a:t>还原剂</a:t>
            </a:r>
            <a:endParaRPr lang="en-US" altLang="zh-CN" b="1" dirty="0" smtClean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009299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1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61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614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614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6" grpId="0" uiExpan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idx="1"/>
          </p:nvPr>
        </p:nvSpPr>
        <p:spPr>
          <a:xfrm>
            <a:off x="685800" y="152400"/>
            <a:ext cx="8305800" cy="6705600"/>
          </a:xfrm>
          <a:extLst>
            <a:ext uri="{909E8E84-426E-40DD-AFC4-6F175D3DCCD1}">
              <a14:hiddenFill xmlns:a14="http://schemas.microsoft.com/office/drawing/2010/main" xmlns="">
                <a:solidFill>
                  <a:srgbClr val="3A2222"/>
                </a:solidFill>
              </a14:hiddenFill>
            </a:ext>
          </a:extLst>
        </p:spPr>
        <p:txBody>
          <a:bodyPr/>
          <a:lstStyle/>
          <a:p>
            <a:pPr marL="0" indent="0"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zh-CN" altLang="en-US" sz="4000" b="1" u="sng" dirty="0" smtClean="0">
                <a:latin typeface="+mn-ea"/>
                <a:sym typeface="Wingdings" pitchFamily="2" charset="2"/>
              </a:rPr>
              <a:t>作答题</a:t>
            </a:r>
            <a:endParaRPr lang="en-US" altLang="zh-CN" b="1" baseline="30000" dirty="0" smtClean="0">
              <a:latin typeface="+mn-ea"/>
            </a:endParaRPr>
          </a:p>
          <a:p>
            <a:pPr marL="742950" indent="-74295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b="1" dirty="0" smtClean="0">
                <a:latin typeface="+mn-ea"/>
              </a:rPr>
              <a:t>4. 	(1) 2Al + 3H</a:t>
            </a:r>
            <a:r>
              <a:rPr lang="en-US" altLang="zh-CN" b="1" baseline="-25000" dirty="0" smtClean="0">
                <a:latin typeface="+mn-ea"/>
              </a:rPr>
              <a:t>2</a:t>
            </a:r>
            <a:r>
              <a:rPr lang="en-US" altLang="zh-CN" b="1" dirty="0" smtClean="0">
                <a:latin typeface="+mn-ea"/>
              </a:rPr>
              <a:t>SO</a:t>
            </a:r>
            <a:r>
              <a:rPr lang="en-US" altLang="zh-CN" b="1" baseline="-25000" dirty="0" smtClean="0">
                <a:latin typeface="+mn-ea"/>
              </a:rPr>
              <a:t>4 </a:t>
            </a:r>
            <a:r>
              <a:rPr lang="en-US" altLang="zh-CN" b="1" dirty="0" smtClean="0">
                <a:latin typeface="+mn-ea"/>
              </a:rPr>
              <a:t> </a:t>
            </a:r>
            <a:r>
              <a:rPr lang="en-US" altLang="zh-CN" b="1" dirty="0" smtClean="0">
                <a:latin typeface="+mn-ea"/>
                <a:sym typeface="Wingdings" pitchFamily="2" charset="2"/>
              </a:rPr>
              <a:t> Al</a:t>
            </a:r>
            <a:r>
              <a:rPr lang="en-US" altLang="zh-CN" b="1" baseline="-25000" dirty="0" smtClean="0">
                <a:latin typeface="+mn-ea"/>
                <a:sym typeface="Wingdings" pitchFamily="2" charset="2"/>
              </a:rPr>
              <a:t>2</a:t>
            </a:r>
            <a:r>
              <a:rPr lang="en-US" altLang="zh-CN" b="1" dirty="0" smtClean="0">
                <a:latin typeface="+mn-ea"/>
                <a:sym typeface="Wingdings" pitchFamily="2" charset="2"/>
              </a:rPr>
              <a:t>(SO</a:t>
            </a:r>
            <a:r>
              <a:rPr lang="en-US" altLang="zh-CN" b="1" baseline="-25000" dirty="0" smtClean="0">
                <a:latin typeface="+mn-ea"/>
                <a:sym typeface="Wingdings" pitchFamily="2" charset="2"/>
              </a:rPr>
              <a:t>4</a:t>
            </a:r>
            <a:r>
              <a:rPr lang="en-US" altLang="zh-CN" b="1" dirty="0" smtClean="0">
                <a:latin typeface="+mn-ea"/>
                <a:sym typeface="Wingdings" pitchFamily="2" charset="2"/>
              </a:rPr>
              <a:t>)</a:t>
            </a:r>
            <a:r>
              <a:rPr lang="en-US" altLang="zh-CN" b="1" baseline="-25000" dirty="0" smtClean="0">
                <a:latin typeface="+mn-ea"/>
                <a:sym typeface="Wingdings" pitchFamily="2" charset="2"/>
              </a:rPr>
              <a:t>3</a:t>
            </a:r>
            <a:r>
              <a:rPr lang="en-US" altLang="zh-CN" b="1" dirty="0" smtClean="0">
                <a:latin typeface="+mn-ea"/>
                <a:sym typeface="Wingdings" pitchFamily="2" charset="2"/>
              </a:rPr>
              <a:t> + 3H</a:t>
            </a:r>
            <a:r>
              <a:rPr lang="en-US" altLang="zh-CN" b="1" baseline="-25000" dirty="0" smtClean="0">
                <a:latin typeface="+mn-ea"/>
                <a:sym typeface="Wingdings" pitchFamily="2" charset="2"/>
              </a:rPr>
              <a:t>2</a:t>
            </a:r>
            <a:endParaRPr lang="en-US" altLang="zh-CN" b="1" dirty="0" smtClean="0">
              <a:latin typeface="+mn-ea"/>
            </a:endParaRPr>
          </a:p>
          <a:p>
            <a:pPr marL="742950" indent="-74295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b="1" baseline="30000" dirty="0" smtClean="0">
                <a:latin typeface="+mn-ea"/>
              </a:rPr>
              <a:t>	</a:t>
            </a:r>
            <a:r>
              <a:rPr lang="en-US" altLang="zh-CN" b="1" dirty="0" smtClean="0">
                <a:latin typeface="+mn-ea"/>
              </a:rPr>
              <a:t>(2) AlCl</a:t>
            </a:r>
            <a:r>
              <a:rPr lang="en-US" altLang="zh-CN" b="1" baseline="-25000" dirty="0" smtClean="0">
                <a:latin typeface="+mn-ea"/>
              </a:rPr>
              <a:t>3</a:t>
            </a:r>
            <a:r>
              <a:rPr lang="en-US" altLang="zh-CN" b="1" dirty="0" smtClean="0">
                <a:latin typeface="+mn-ea"/>
              </a:rPr>
              <a:t>+ 3NH</a:t>
            </a:r>
            <a:r>
              <a:rPr lang="en-US" altLang="zh-CN" b="1" baseline="-25000" dirty="0" smtClean="0">
                <a:latin typeface="+mn-ea"/>
              </a:rPr>
              <a:t>3</a:t>
            </a:r>
            <a:r>
              <a:rPr lang="en-US" altLang="zh-CN" b="1" dirty="0" smtClean="0">
                <a:latin typeface="Arial"/>
                <a:cs typeface="Arial"/>
              </a:rPr>
              <a:t>·H</a:t>
            </a:r>
            <a:r>
              <a:rPr lang="en-US" altLang="zh-CN" b="1" baseline="-25000" dirty="0" smtClean="0">
                <a:latin typeface="Arial"/>
                <a:cs typeface="Arial"/>
              </a:rPr>
              <a:t>2</a:t>
            </a:r>
            <a:r>
              <a:rPr lang="en-US" altLang="zh-CN" b="1" dirty="0" smtClean="0">
                <a:latin typeface="Arial"/>
                <a:cs typeface="Arial"/>
              </a:rPr>
              <a:t>O</a:t>
            </a:r>
            <a:r>
              <a:rPr lang="en-US" altLang="zh-CN" b="1" dirty="0" smtClean="0">
                <a:latin typeface="Arial"/>
                <a:cs typeface="Arial"/>
                <a:sym typeface="Wingdings" pitchFamily="2" charset="2"/>
              </a:rPr>
              <a:t>Al(OH)</a:t>
            </a:r>
            <a:r>
              <a:rPr lang="en-US" altLang="zh-CN" b="1" baseline="-25000" dirty="0" smtClean="0">
                <a:latin typeface="Arial"/>
                <a:cs typeface="Arial"/>
                <a:sym typeface="Wingdings" pitchFamily="2" charset="2"/>
              </a:rPr>
              <a:t>3</a:t>
            </a:r>
            <a:r>
              <a:rPr lang="en-US" altLang="zh-CN" b="1" dirty="0" smtClean="0">
                <a:latin typeface="Arial"/>
                <a:cs typeface="Arial"/>
                <a:sym typeface="Wingdings" pitchFamily="2" charset="2"/>
              </a:rPr>
              <a:t>+ 3NH</a:t>
            </a:r>
            <a:r>
              <a:rPr lang="en-US" altLang="zh-CN" b="1" baseline="-25000" dirty="0" smtClean="0">
                <a:latin typeface="Arial"/>
                <a:cs typeface="Arial"/>
                <a:sym typeface="Wingdings" pitchFamily="2" charset="2"/>
              </a:rPr>
              <a:t>4</a:t>
            </a:r>
            <a:r>
              <a:rPr lang="en-US" altLang="zh-CN" b="1" dirty="0" smtClean="0">
                <a:latin typeface="Arial"/>
                <a:cs typeface="Arial"/>
                <a:sym typeface="Wingdings" pitchFamily="2" charset="2"/>
              </a:rPr>
              <a:t>Cl</a:t>
            </a:r>
            <a:endParaRPr lang="en-US" altLang="zh-CN" b="1" dirty="0" smtClean="0">
              <a:latin typeface="+mn-ea"/>
            </a:endParaRPr>
          </a:p>
          <a:p>
            <a:pPr marL="742950" indent="-74295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b="1" dirty="0" smtClean="0">
                <a:latin typeface="+mn-ea"/>
              </a:rPr>
              <a:t>	(3) Al</a:t>
            </a:r>
            <a:r>
              <a:rPr lang="en-US" altLang="zh-CN" b="1" baseline="-25000" dirty="0" smtClean="0">
                <a:latin typeface="+mn-ea"/>
              </a:rPr>
              <a:t>2</a:t>
            </a:r>
            <a:r>
              <a:rPr lang="en-US" altLang="zh-CN" b="1" dirty="0" smtClean="0">
                <a:latin typeface="+mn-ea"/>
              </a:rPr>
              <a:t>O</a:t>
            </a:r>
            <a:r>
              <a:rPr lang="en-US" altLang="zh-CN" b="1" baseline="-25000" dirty="0" smtClean="0">
                <a:latin typeface="+mn-ea"/>
              </a:rPr>
              <a:t>3</a:t>
            </a:r>
            <a:r>
              <a:rPr lang="en-US" altLang="zh-CN" b="1" dirty="0" smtClean="0">
                <a:latin typeface="+mn-ea"/>
              </a:rPr>
              <a:t> + 6HCl </a:t>
            </a:r>
            <a:r>
              <a:rPr lang="en-US" altLang="zh-CN" b="1" dirty="0" smtClean="0">
                <a:latin typeface="+mn-ea"/>
                <a:sym typeface="Wingdings" pitchFamily="2" charset="2"/>
              </a:rPr>
              <a:t> 2AlCl</a:t>
            </a:r>
            <a:r>
              <a:rPr lang="en-US" altLang="zh-CN" b="1" baseline="-25000" dirty="0" smtClean="0">
                <a:latin typeface="+mn-ea"/>
                <a:sym typeface="Wingdings" pitchFamily="2" charset="2"/>
              </a:rPr>
              <a:t>3</a:t>
            </a:r>
            <a:r>
              <a:rPr lang="en-US" altLang="zh-CN" b="1" dirty="0" smtClean="0">
                <a:latin typeface="+mn-ea"/>
                <a:sym typeface="Wingdings" pitchFamily="2" charset="2"/>
              </a:rPr>
              <a:t> + 3H</a:t>
            </a:r>
            <a:r>
              <a:rPr lang="en-US" altLang="zh-CN" b="1" baseline="-25000" dirty="0" smtClean="0">
                <a:latin typeface="+mn-ea"/>
                <a:sym typeface="Wingdings" pitchFamily="2" charset="2"/>
              </a:rPr>
              <a:t>2</a:t>
            </a:r>
            <a:r>
              <a:rPr lang="en-US" altLang="zh-CN" b="1" dirty="0" smtClean="0">
                <a:latin typeface="+mn-ea"/>
                <a:sym typeface="Wingdings" pitchFamily="2" charset="2"/>
              </a:rPr>
              <a:t>O</a:t>
            </a:r>
            <a:endParaRPr lang="en-US" altLang="zh-CN" b="1" dirty="0" smtClean="0">
              <a:latin typeface="+mn-ea"/>
            </a:endParaRPr>
          </a:p>
          <a:p>
            <a:pPr marL="742950" indent="-74295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b="1" dirty="0" smtClean="0">
                <a:latin typeface="+mn-ea"/>
              </a:rPr>
              <a:t>	(4) Al(OH)</a:t>
            </a:r>
            <a:r>
              <a:rPr lang="en-US" altLang="zh-CN" b="1" baseline="-25000" dirty="0" smtClean="0">
                <a:latin typeface="+mn-ea"/>
              </a:rPr>
              <a:t>3</a:t>
            </a:r>
            <a:r>
              <a:rPr lang="en-US" altLang="zh-CN" b="1" dirty="0" smtClean="0">
                <a:latin typeface="+mn-ea"/>
              </a:rPr>
              <a:t> + </a:t>
            </a:r>
            <a:r>
              <a:rPr lang="en-US" altLang="zh-CN" b="1" dirty="0" err="1" smtClean="0">
                <a:latin typeface="+mn-ea"/>
              </a:rPr>
              <a:t>NaOH</a:t>
            </a:r>
            <a:r>
              <a:rPr lang="en-US" altLang="zh-CN" b="1" dirty="0" smtClean="0">
                <a:latin typeface="+mn-ea"/>
              </a:rPr>
              <a:t> </a:t>
            </a:r>
            <a:r>
              <a:rPr lang="en-US" altLang="zh-CN" b="1" dirty="0" smtClean="0">
                <a:latin typeface="+mn-ea"/>
                <a:sym typeface="Wingdings" pitchFamily="2" charset="2"/>
              </a:rPr>
              <a:t> NaAlO</a:t>
            </a:r>
            <a:r>
              <a:rPr lang="en-US" altLang="zh-CN" b="1" baseline="-25000" dirty="0" smtClean="0">
                <a:latin typeface="+mn-ea"/>
                <a:sym typeface="Wingdings" pitchFamily="2" charset="2"/>
              </a:rPr>
              <a:t>2</a:t>
            </a:r>
            <a:r>
              <a:rPr lang="en-US" altLang="zh-CN" b="1" dirty="0" smtClean="0">
                <a:latin typeface="+mn-ea"/>
                <a:sym typeface="Wingdings" pitchFamily="2" charset="2"/>
              </a:rPr>
              <a:t> + 2H</a:t>
            </a:r>
            <a:r>
              <a:rPr lang="en-US" altLang="zh-CN" b="1" baseline="-25000" dirty="0" smtClean="0">
                <a:latin typeface="+mn-ea"/>
                <a:sym typeface="Wingdings" pitchFamily="2" charset="2"/>
              </a:rPr>
              <a:t>2</a:t>
            </a:r>
            <a:r>
              <a:rPr lang="en-US" altLang="zh-CN" b="1" dirty="0" smtClean="0">
                <a:latin typeface="+mn-ea"/>
                <a:sym typeface="Wingdings" pitchFamily="2" charset="2"/>
              </a:rPr>
              <a:t>O</a:t>
            </a:r>
            <a:endParaRPr lang="en-US" altLang="zh-CN" b="1" baseline="30000" dirty="0" smtClean="0">
              <a:latin typeface="+mn-ea"/>
            </a:endParaRPr>
          </a:p>
          <a:p>
            <a:pPr marL="742950" indent="-742950">
              <a:spcBef>
                <a:spcPts val="600"/>
              </a:spcBef>
              <a:spcAft>
                <a:spcPts val="600"/>
              </a:spcAft>
              <a:buAutoNum type="arabicPeriod" startAt="5"/>
            </a:pPr>
            <a:r>
              <a:rPr lang="en-US" altLang="zh-CN" b="1" dirty="0" smtClean="0">
                <a:latin typeface="+mn-ea"/>
              </a:rPr>
              <a:t>A: Al(OH)</a:t>
            </a:r>
            <a:r>
              <a:rPr lang="en-US" altLang="zh-CN" b="1" baseline="-25000" dirty="0" smtClean="0">
                <a:latin typeface="+mn-ea"/>
              </a:rPr>
              <a:t>3</a:t>
            </a:r>
          </a:p>
          <a:p>
            <a:pPr marL="742950" indent="-74295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b="1" dirty="0" smtClean="0">
                <a:latin typeface="+mn-ea"/>
              </a:rPr>
              <a:t>	B: Al</a:t>
            </a:r>
            <a:r>
              <a:rPr lang="en-US" altLang="zh-CN" b="1" baseline="-25000" dirty="0" smtClean="0">
                <a:latin typeface="+mn-ea"/>
              </a:rPr>
              <a:t>2</a:t>
            </a:r>
            <a:r>
              <a:rPr lang="en-US" altLang="zh-CN" b="1" dirty="0" smtClean="0">
                <a:latin typeface="+mn-ea"/>
              </a:rPr>
              <a:t>O</a:t>
            </a:r>
            <a:r>
              <a:rPr lang="en-US" altLang="zh-CN" b="1" baseline="-25000" dirty="0" smtClean="0">
                <a:latin typeface="+mn-ea"/>
              </a:rPr>
              <a:t>3</a:t>
            </a:r>
          </a:p>
          <a:p>
            <a:pPr marL="742950" indent="-74295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b="1" dirty="0" smtClean="0">
                <a:latin typeface="+mn-ea"/>
              </a:rPr>
              <a:t>	C: Al</a:t>
            </a:r>
            <a:endParaRPr lang="en-US" altLang="zh-CN" b="1" baseline="-25000" dirty="0" smtClean="0">
              <a:latin typeface="+mn-ea"/>
            </a:endParaRPr>
          </a:p>
          <a:p>
            <a:pPr marL="742950" indent="-74295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b="1" dirty="0" smtClean="0">
                <a:latin typeface="+mn-ea"/>
              </a:rPr>
              <a:t>	D: AlCl</a:t>
            </a:r>
            <a:r>
              <a:rPr lang="en-US" altLang="zh-CN" b="1" baseline="-25000" dirty="0" smtClean="0">
                <a:latin typeface="+mn-ea"/>
              </a:rPr>
              <a:t>3</a:t>
            </a:r>
          </a:p>
          <a:p>
            <a:pPr marL="742950" indent="-74295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b="1" dirty="0" smtClean="0">
                <a:latin typeface="+mn-ea"/>
              </a:rPr>
              <a:t>	E: NaAlO</a:t>
            </a:r>
            <a:r>
              <a:rPr lang="en-US" altLang="zh-CN" b="1" baseline="-25000" dirty="0" smtClean="0">
                <a:latin typeface="+mn-ea"/>
              </a:rPr>
              <a:t>2</a:t>
            </a:r>
          </a:p>
          <a:p>
            <a:pPr marL="742950" indent="-742950">
              <a:spcBef>
                <a:spcPts val="600"/>
              </a:spcBef>
              <a:spcAft>
                <a:spcPts val="600"/>
              </a:spcAft>
              <a:buNone/>
            </a:pPr>
            <a:endParaRPr lang="en-US" altLang="zh-CN" b="1" baseline="-25000" dirty="0" smtClean="0">
              <a:latin typeface="+mn-ea"/>
            </a:endParaRPr>
          </a:p>
          <a:p>
            <a:pPr marL="742950" indent="-74295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b="1" baseline="-25000" dirty="0" smtClean="0">
                <a:latin typeface="+mn-ea"/>
              </a:rPr>
              <a:t>	</a:t>
            </a:r>
            <a:r>
              <a:rPr lang="en-US" altLang="zh-CN" b="1" dirty="0" smtClean="0">
                <a:latin typeface="+mn-ea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xmlns="" val="1009299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1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61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614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614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614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6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idx="1"/>
          </p:nvPr>
        </p:nvSpPr>
        <p:spPr>
          <a:xfrm>
            <a:off x="685800" y="152400"/>
            <a:ext cx="8305800" cy="6705600"/>
          </a:xfrm>
          <a:extLst>
            <a:ext uri="{909E8E84-426E-40DD-AFC4-6F175D3DCCD1}">
              <a14:hiddenFill xmlns:a14="http://schemas.microsoft.com/office/drawing/2010/main" xmlns="">
                <a:solidFill>
                  <a:srgbClr val="3A2222"/>
                </a:solidFill>
              </a14:hiddenFill>
            </a:ext>
          </a:extLst>
        </p:spPr>
        <p:txBody>
          <a:bodyPr/>
          <a:lstStyle/>
          <a:p>
            <a:pPr marL="0" indent="0">
              <a:spcBef>
                <a:spcPts val="600"/>
              </a:spcBef>
              <a:spcAft>
                <a:spcPts val="600"/>
              </a:spcAft>
              <a:buFontTx/>
              <a:buNone/>
            </a:pPr>
            <a:r>
              <a:rPr lang="zh-CN" altLang="en-US" sz="4000" b="1" u="sng" dirty="0" smtClean="0">
                <a:latin typeface="+mn-ea"/>
                <a:sym typeface="Wingdings" pitchFamily="2" charset="2"/>
              </a:rPr>
              <a:t>作答题</a:t>
            </a:r>
            <a:endParaRPr lang="en-US" altLang="zh-CN" b="1" baseline="30000" dirty="0" smtClean="0">
              <a:latin typeface="+mn-ea"/>
            </a:endParaRPr>
          </a:p>
          <a:p>
            <a:pPr marL="742950" indent="-74295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b="1" dirty="0" smtClean="0">
                <a:latin typeface="+mn-ea"/>
              </a:rPr>
              <a:t>6. </a:t>
            </a:r>
            <a:r>
              <a:rPr lang="zh-CN" altLang="en-US" sz="3000" b="1" dirty="0" smtClean="0">
                <a:latin typeface="+mn-ea"/>
              </a:rPr>
              <a:t>取少量晶体加水配成溶液，然后逐滴加入氢氧化钠溶液，若先产生白色沉淀，然后沉淀逐渐消失，证明含有铝元素。</a:t>
            </a:r>
            <a:endParaRPr lang="en-US" altLang="zh-CN" sz="3000" b="1" dirty="0" smtClean="0">
              <a:latin typeface="+mn-ea"/>
            </a:endParaRPr>
          </a:p>
          <a:p>
            <a:pPr marL="742950" indent="-74295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sz="3000" b="1" dirty="0" smtClean="0">
                <a:latin typeface="+mn-ea"/>
              </a:rPr>
              <a:t>Al</a:t>
            </a:r>
            <a:r>
              <a:rPr lang="en-US" altLang="zh-CN" sz="3000" b="1" baseline="30000" dirty="0" smtClean="0">
                <a:latin typeface="+mn-ea"/>
              </a:rPr>
              <a:t>3+</a:t>
            </a:r>
            <a:r>
              <a:rPr lang="en-US" altLang="zh-CN" sz="3000" b="1" dirty="0" smtClean="0">
                <a:latin typeface="+mn-ea"/>
              </a:rPr>
              <a:t>(</a:t>
            </a:r>
            <a:r>
              <a:rPr lang="en-US" altLang="zh-CN" sz="3000" b="1" dirty="0" err="1" smtClean="0">
                <a:latin typeface="+mn-ea"/>
              </a:rPr>
              <a:t>aq</a:t>
            </a:r>
            <a:r>
              <a:rPr lang="en-US" altLang="zh-CN" sz="3000" b="1" dirty="0" smtClean="0">
                <a:latin typeface="+mn-ea"/>
              </a:rPr>
              <a:t>)+ 3N</a:t>
            </a:r>
            <a:r>
              <a:rPr lang="en-US" altLang="zh-CN" sz="3000" b="1" dirty="0" smtClean="0">
                <a:latin typeface="Arial"/>
                <a:cs typeface="Arial"/>
              </a:rPr>
              <a:t>aOH(</a:t>
            </a:r>
            <a:r>
              <a:rPr lang="en-US" altLang="zh-CN" sz="3000" b="1" dirty="0" err="1" smtClean="0">
                <a:latin typeface="Arial"/>
                <a:cs typeface="Arial"/>
              </a:rPr>
              <a:t>aq</a:t>
            </a:r>
            <a:r>
              <a:rPr lang="en-US" altLang="zh-CN" sz="3000" b="1" dirty="0" smtClean="0">
                <a:latin typeface="Arial"/>
                <a:cs typeface="Arial"/>
              </a:rPr>
              <a:t>) </a:t>
            </a:r>
            <a:r>
              <a:rPr lang="en-US" altLang="zh-CN" sz="3000" b="1" dirty="0" smtClean="0">
                <a:latin typeface="Arial"/>
                <a:cs typeface="Arial"/>
                <a:sym typeface="Wingdings" pitchFamily="2" charset="2"/>
              </a:rPr>
              <a:t> Al(OH)</a:t>
            </a:r>
            <a:r>
              <a:rPr lang="en-US" altLang="zh-CN" sz="3000" b="1" baseline="-25000" dirty="0" smtClean="0">
                <a:latin typeface="Arial"/>
                <a:cs typeface="Arial"/>
                <a:sym typeface="Wingdings" pitchFamily="2" charset="2"/>
              </a:rPr>
              <a:t>3</a:t>
            </a:r>
            <a:r>
              <a:rPr lang="en-US" altLang="zh-CN" sz="3000" b="1" dirty="0" smtClean="0">
                <a:latin typeface="Arial"/>
                <a:cs typeface="Arial"/>
                <a:sym typeface="Wingdings" pitchFamily="2" charset="2"/>
              </a:rPr>
              <a:t>(s)+ 3Na</a:t>
            </a:r>
            <a:r>
              <a:rPr lang="en-US" altLang="zh-CN" sz="3000" b="1" baseline="30000" dirty="0" smtClean="0">
                <a:latin typeface="Arial"/>
                <a:cs typeface="Arial"/>
                <a:sym typeface="Wingdings" pitchFamily="2" charset="2"/>
              </a:rPr>
              <a:t>+</a:t>
            </a:r>
            <a:r>
              <a:rPr lang="en-US" altLang="zh-CN" sz="3000" b="1" dirty="0" smtClean="0">
                <a:latin typeface="Arial"/>
                <a:cs typeface="Arial"/>
                <a:sym typeface="Wingdings" pitchFamily="2" charset="2"/>
              </a:rPr>
              <a:t> (</a:t>
            </a:r>
            <a:r>
              <a:rPr lang="en-US" altLang="zh-CN" sz="3000" b="1" dirty="0" err="1" smtClean="0">
                <a:latin typeface="Arial"/>
                <a:cs typeface="Arial"/>
                <a:sym typeface="Wingdings" pitchFamily="2" charset="2"/>
              </a:rPr>
              <a:t>aq</a:t>
            </a:r>
            <a:r>
              <a:rPr lang="en-US" altLang="zh-CN" sz="3000" b="1" dirty="0" smtClean="0">
                <a:latin typeface="Arial"/>
                <a:cs typeface="Arial"/>
                <a:sym typeface="Wingdings" pitchFamily="2" charset="2"/>
              </a:rPr>
              <a:t>)</a:t>
            </a:r>
            <a:endParaRPr lang="en-US" altLang="zh-CN" sz="3000" b="1" dirty="0" smtClean="0">
              <a:latin typeface="+mn-ea"/>
            </a:endParaRPr>
          </a:p>
          <a:p>
            <a:pPr marL="742950" indent="-74295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sz="3000" b="1" dirty="0" smtClean="0">
                <a:latin typeface="+mn-ea"/>
              </a:rPr>
              <a:t>	Al(OH)</a:t>
            </a:r>
            <a:r>
              <a:rPr lang="en-US" altLang="zh-CN" sz="3000" b="1" baseline="-25000" dirty="0" smtClean="0">
                <a:latin typeface="+mn-ea"/>
              </a:rPr>
              <a:t>3</a:t>
            </a:r>
            <a:r>
              <a:rPr lang="en-US" altLang="zh-CN" sz="3000" b="1" dirty="0" smtClean="0">
                <a:latin typeface="+mn-ea"/>
              </a:rPr>
              <a:t> + </a:t>
            </a:r>
            <a:r>
              <a:rPr lang="en-US" altLang="zh-CN" sz="3000" b="1" dirty="0" err="1" smtClean="0">
                <a:latin typeface="+mn-ea"/>
              </a:rPr>
              <a:t>NaOH</a:t>
            </a:r>
            <a:r>
              <a:rPr lang="en-US" altLang="zh-CN" sz="3000" b="1" dirty="0" smtClean="0">
                <a:latin typeface="+mn-ea"/>
              </a:rPr>
              <a:t> </a:t>
            </a:r>
            <a:r>
              <a:rPr lang="en-US" altLang="zh-CN" sz="3000" b="1" dirty="0" smtClean="0">
                <a:latin typeface="+mn-ea"/>
                <a:sym typeface="Wingdings" pitchFamily="2" charset="2"/>
              </a:rPr>
              <a:t> NaAlO</a:t>
            </a:r>
            <a:r>
              <a:rPr lang="en-US" altLang="zh-CN" sz="3000" b="1" baseline="-25000" dirty="0" smtClean="0">
                <a:latin typeface="+mn-ea"/>
                <a:sym typeface="Wingdings" pitchFamily="2" charset="2"/>
              </a:rPr>
              <a:t>2</a:t>
            </a:r>
            <a:r>
              <a:rPr lang="en-US" altLang="zh-CN" sz="3000" b="1" dirty="0" smtClean="0">
                <a:latin typeface="+mn-ea"/>
                <a:sym typeface="Wingdings" pitchFamily="2" charset="2"/>
              </a:rPr>
              <a:t> + 2H</a:t>
            </a:r>
            <a:r>
              <a:rPr lang="en-US" altLang="zh-CN" sz="3000" b="1" baseline="-25000" dirty="0" smtClean="0">
                <a:latin typeface="+mn-ea"/>
                <a:sym typeface="Wingdings" pitchFamily="2" charset="2"/>
              </a:rPr>
              <a:t>2</a:t>
            </a:r>
            <a:r>
              <a:rPr lang="en-US" altLang="zh-CN" sz="3000" b="1" dirty="0" smtClean="0">
                <a:latin typeface="+mn-ea"/>
                <a:sym typeface="Wingdings" pitchFamily="2" charset="2"/>
              </a:rPr>
              <a:t>O</a:t>
            </a:r>
            <a:endParaRPr lang="en-US" altLang="zh-CN" sz="3000" b="1" baseline="30000" dirty="0" smtClean="0">
              <a:latin typeface="+mn-ea"/>
            </a:endParaRPr>
          </a:p>
          <a:p>
            <a:pPr marL="742950" indent="-74295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sz="3000" b="1" dirty="0" smtClean="0">
                <a:latin typeface="+mn-ea"/>
              </a:rPr>
              <a:t>7.	</a:t>
            </a:r>
            <a:r>
              <a:rPr lang="zh-CN" altLang="en-US" sz="3000" b="1" dirty="0" smtClean="0">
                <a:latin typeface="+mn-ea"/>
              </a:rPr>
              <a:t>碱性氧化物</a:t>
            </a:r>
            <a:r>
              <a:rPr lang="en-US" altLang="zh-CN" sz="3000" b="1" dirty="0" smtClean="0">
                <a:latin typeface="+mn-ea"/>
              </a:rPr>
              <a:t>: Fe</a:t>
            </a:r>
            <a:r>
              <a:rPr lang="en-US" altLang="zh-CN" sz="3000" b="1" baseline="-25000" dirty="0" smtClean="0">
                <a:latin typeface="+mn-ea"/>
              </a:rPr>
              <a:t>2</a:t>
            </a:r>
            <a:r>
              <a:rPr lang="en-US" altLang="zh-CN" sz="3000" b="1" dirty="0" smtClean="0">
                <a:latin typeface="+mn-ea"/>
              </a:rPr>
              <a:t>O</a:t>
            </a:r>
            <a:r>
              <a:rPr lang="en-US" altLang="zh-CN" sz="3000" b="1" baseline="-25000" dirty="0" smtClean="0">
                <a:latin typeface="+mn-ea"/>
              </a:rPr>
              <a:t>3</a:t>
            </a:r>
            <a:r>
              <a:rPr lang="en-US" altLang="zh-CN" sz="3000" b="1" dirty="0" smtClean="0">
                <a:latin typeface="+mn-ea"/>
              </a:rPr>
              <a:t> </a:t>
            </a:r>
            <a:r>
              <a:rPr lang="zh-CN" altLang="en-US" sz="3000" b="1" dirty="0" smtClean="0">
                <a:latin typeface="+mn-ea"/>
              </a:rPr>
              <a:t>、</a:t>
            </a:r>
            <a:r>
              <a:rPr lang="en-US" altLang="zh-CN" sz="3000" b="1" dirty="0" err="1" smtClean="0">
                <a:latin typeface="+mn-ea"/>
              </a:rPr>
              <a:t>MgO</a:t>
            </a:r>
            <a:endParaRPr lang="en-US" altLang="zh-CN" sz="3000" b="1" baseline="-25000" dirty="0" smtClean="0">
              <a:latin typeface="+mn-ea"/>
            </a:endParaRPr>
          </a:p>
          <a:p>
            <a:pPr marL="742950" indent="-74295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sz="3000" b="1" dirty="0" smtClean="0">
                <a:latin typeface="+mn-ea"/>
              </a:rPr>
              <a:t>	</a:t>
            </a:r>
            <a:r>
              <a:rPr lang="zh-CN" altLang="en-US" sz="3000" b="1" dirty="0" smtClean="0">
                <a:latin typeface="+mn-ea"/>
              </a:rPr>
              <a:t>酸性氧化物：</a:t>
            </a:r>
            <a:r>
              <a:rPr lang="en-US" altLang="zh-CN" sz="3000" b="1" dirty="0" smtClean="0">
                <a:latin typeface="+mn-ea"/>
              </a:rPr>
              <a:t>CO</a:t>
            </a:r>
            <a:r>
              <a:rPr lang="en-US" altLang="zh-CN" sz="3000" b="1" baseline="-25000" dirty="0" smtClean="0">
                <a:latin typeface="+mn-ea"/>
              </a:rPr>
              <a:t>2</a:t>
            </a:r>
            <a:r>
              <a:rPr lang="en-US" altLang="zh-CN" sz="3000" b="1" dirty="0" smtClean="0">
                <a:latin typeface="+mn-ea"/>
              </a:rPr>
              <a:t> </a:t>
            </a:r>
            <a:r>
              <a:rPr lang="zh-CN" altLang="en-US" sz="3000" b="1" dirty="0" smtClean="0">
                <a:latin typeface="+mn-ea"/>
              </a:rPr>
              <a:t>、</a:t>
            </a:r>
            <a:r>
              <a:rPr lang="en-US" altLang="zh-CN" sz="3000" b="1" dirty="0" smtClean="0">
                <a:latin typeface="+mn-ea"/>
              </a:rPr>
              <a:t>SiO</a:t>
            </a:r>
            <a:r>
              <a:rPr lang="en-US" altLang="zh-CN" sz="3000" b="1" baseline="-25000" dirty="0" smtClean="0">
                <a:latin typeface="+mn-ea"/>
              </a:rPr>
              <a:t>2</a:t>
            </a:r>
            <a:r>
              <a:rPr lang="en-US" altLang="zh-CN" sz="3000" b="1" dirty="0" smtClean="0">
                <a:latin typeface="+mn-ea"/>
              </a:rPr>
              <a:t> </a:t>
            </a:r>
          </a:p>
          <a:p>
            <a:pPr marL="742950" indent="-74295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sz="3000" b="1" dirty="0" smtClean="0">
                <a:latin typeface="+mn-ea"/>
              </a:rPr>
              <a:t>	</a:t>
            </a:r>
            <a:r>
              <a:rPr lang="zh-CN" altLang="en-US" sz="3000" b="1" dirty="0" smtClean="0">
                <a:latin typeface="+mn-ea"/>
              </a:rPr>
              <a:t>两性氧化物</a:t>
            </a:r>
            <a:r>
              <a:rPr lang="en-US" altLang="zh-CN" sz="3000" b="1" dirty="0" smtClean="0">
                <a:latin typeface="+mn-ea"/>
              </a:rPr>
              <a:t>: Al</a:t>
            </a:r>
            <a:r>
              <a:rPr lang="en-US" altLang="zh-CN" sz="3000" b="1" baseline="-25000" dirty="0" smtClean="0">
                <a:latin typeface="+mn-ea"/>
              </a:rPr>
              <a:t>2</a:t>
            </a:r>
            <a:r>
              <a:rPr lang="en-US" altLang="zh-CN" sz="3000" b="1" dirty="0" smtClean="0">
                <a:latin typeface="+mn-ea"/>
              </a:rPr>
              <a:t>O</a:t>
            </a:r>
            <a:r>
              <a:rPr lang="en-US" altLang="zh-CN" sz="3000" b="1" baseline="-25000" dirty="0" smtClean="0">
                <a:latin typeface="+mn-ea"/>
              </a:rPr>
              <a:t>3</a:t>
            </a:r>
          </a:p>
          <a:p>
            <a:pPr marL="742950" indent="-74295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sz="3000" b="1" dirty="0" smtClean="0">
                <a:latin typeface="+mn-ea"/>
              </a:rPr>
              <a:t>	</a:t>
            </a:r>
            <a:r>
              <a:rPr lang="zh-CN" altLang="en-US" sz="3000" b="1" dirty="0" smtClean="0">
                <a:latin typeface="+mn-ea"/>
              </a:rPr>
              <a:t>中性氧化物</a:t>
            </a:r>
            <a:r>
              <a:rPr lang="en-US" altLang="zh-CN" sz="3000" b="1" dirty="0" smtClean="0">
                <a:latin typeface="+mn-ea"/>
              </a:rPr>
              <a:t>: CO</a:t>
            </a:r>
            <a:r>
              <a:rPr lang="zh-CN" altLang="en-US" sz="3000" b="1" dirty="0" smtClean="0">
                <a:latin typeface="+mn-ea"/>
              </a:rPr>
              <a:t>、（</a:t>
            </a:r>
            <a:r>
              <a:rPr lang="en-US" altLang="zh-CN" sz="3000" b="1" dirty="0" smtClean="0">
                <a:latin typeface="+mn-ea"/>
              </a:rPr>
              <a:t>NO</a:t>
            </a:r>
            <a:r>
              <a:rPr lang="zh-CN" altLang="en-US" sz="3000" b="1" dirty="0" smtClean="0">
                <a:latin typeface="+mn-ea"/>
              </a:rPr>
              <a:t>）</a:t>
            </a:r>
            <a:r>
              <a:rPr lang="en-US" altLang="zh-CN" sz="3000" b="1" baseline="-25000" dirty="0" smtClean="0">
                <a:latin typeface="+mn-ea"/>
              </a:rPr>
              <a:t>	</a:t>
            </a:r>
            <a:r>
              <a:rPr lang="en-US" altLang="zh-CN" sz="3000" b="1" dirty="0" smtClean="0">
                <a:latin typeface="+mn-ea"/>
              </a:rPr>
              <a:t> </a:t>
            </a:r>
          </a:p>
        </p:txBody>
      </p:sp>
      <p:sp>
        <p:nvSpPr>
          <p:cNvPr id="3" name="Rounded Rectangle 2"/>
          <p:cNvSpPr/>
          <p:nvPr/>
        </p:nvSpPr>
        <p:spPr bwMode="auto">
          <a:xfrm>
            <a:off x="3657600" y="3733800"/>
            <a:ext cx="1143000" cy="4572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</a:endParaRPr>
          </a:p>
        </p:txBody>
      </p:sp>
      <p:sp>
        <p:nvSpPr>
          <p:cNvPr id="4" name="Rounded Rectangle 3"/>
          <p:cNvSpPr/>
          <p:nvPr/>
        </p:nvSpPr>
        <p:spPr bwMode="auto">
          <a:xfrm>
            <a:off x="3657600" y="4343400"/>
            <a:ext cx="1143000" cy="4572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</a:endParaRPr>
          </a:p>
        </p:txBody>
      </p:sp>
      <p:sp>
        <p:nvSpPr>
          <p:cNvPr id="5" name="Rounded Rectangle 4"/>
          <p:cNvSpPr/>
          <p:nvPr/>
        </p:nvSpPr>
        <p:spPr bwMode="auto">
          <a:xfrm>
            <a:off x="4800600" y="4343400"/>
            <a:ext cx="1295400" cy="4572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</a:endParaRPr>
          </a:p>
        </p:txBody>
      </p:sp>
      <p:sp>
        <p:nvSpPr>
          <p:cNvPr id="6" name="Rounded Rectangle 5"/>
          <p:cNvSpPr/>
          <p:nvPr/>
        </p:nvSpPr>
        <p:spPr bwMode="auto">
          <a:xfrm>
            <a:off x="3581400" y="5562600"/>
            <a:ext cx="2286000" cy="4572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</a:endParaRPr>
          </a:p>
        </p:txBody>
      </p:sp>
      <p:sp>
        <p:nvSpPr>
          <p:cNvPr id="8" name="Rounded Rectangle 7"/>
          <p:cNvSpPr/>
          <p:nvPr/>
        </p:nvSpPr>
        <p:spPr bwMode="auto">
          <a:xfrm>
            <a:off x="3581400" y="4953000"/>
            <a:ext cx="1143000" cy="4572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</a:endParaRPr>
          </a:p>
        </p:txBody>
      </p:sp>
      <p:sp>
        <p:nvSpPr>
          <p:cNvPr id="9" name="Rounded Rectangle 8"/>
          <p:cNvSpPr/>
          <p:nvPr/>
        </p:nvSpPr>
        <p:spPr bwMode="auto">
          <a:xfrm>
            <a:off x="4800600" y="3733800"/>
            <a:ext cx="1295400" cy="457200"/>
          </a:xfrm>
          <a:prstGeom prst="roundRect">
            <a:avLst/>
          </a:prstGeom>
          <a:solidFill>
            <a:schemeClr val="bg2"/>
          </a:solidFill>
          <a:ln w="952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009299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6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61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61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6" grpId="0" uiExpand="1" build="p"/>
      <p:bldP spid="3" grpId="0" animBg="1"/>
      <p:bldP spid="4" grpId="0" animBg="1"/>
      <p:bldP spid="5" grpId="0" animBg="1"/>
      <p:bldP spid="6" grpId="0" animBg="1"/>
      <p:bldP spid="8" grpId="0" animBg="1"/>
      <p:bldP spid="9" grpId="0" animBg="1"/>
    </p:bldLst>
  </p:timing>
</p:sld>
</file>

<file path=ppt/theme/theme1.xml><?xml version="1.0" encoding="utf-8"?>
<a:theme xmlns:a="http://schemas.openxmlformats.org/drawingml/2006/main" name="Kalup">
  <a:themeElements>
    <a:clrScheme name="Kalup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Kalup">
      <a:majorFont>
        <a:latin typeface="Microsoft New Tai Lue"/>
        <a:ea typeface="Microsoft New Tai Lue"/>
        <a:cs typeface="Microsoft New Tai Lue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en-US" altLang="ms-MY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en-US" altLang="ms-MY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itchFamily="34" charset="0"/>
          </a:defRPr>
        </a:defPPr>
      </a:lstStyle>
    </a:lnDef>
  </a:objectDefaults>
  <a:extraClrSchemeLst>
    <a:extraClrScheme>
      <a:clrScheme name="Kalup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1395</TotalTime>
  <Pages>0</Pages>
  <Words>1136</Words>
  <Characters>0</Characters>
  <Application>Microsoft Office PowerPoint</Application>
  <DocSecurity>0</DocSecurity>
  <PresentationFormat>On-screen Show (4:3)</PresentationFormat>
  <Lines>0</Lines>
  <Paragraphs>214</Paragraphs>
  <Slides>27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8" baseType="lpstr">
      <vt:lpstr>Kalup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LinksUpToDate>false</LinksUpToDate>
  <CharactersWithSpaces>0</CharactersWithSpaces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Shuan</dc:creator>
  <cp:lastModifiedBy>user</cp:lastModifiedBy>
  <cp:revision>118</cp:revision>
  <dcterms:created xsi:type="dcterms:W3CDTF">2014-08-22T21:40:44Z</dcterms:created>
  <dcterms:modified xsi:type="dcterms:W3CDTF">2018-11-27T05:16:02Z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ame">
    <vt:lpwstr>0yrpSM7rkg31648.ppt</vt:lpwstr>
  </property>
  <property fmtid="{D5CDD505-2E9C-101B-9397-08002B2CF9AE}" pid="3" name="fileid">
    <vt:lpwstr>508798</vt:lpwstr>
  </property>
  <property fmtid="{D5CDD505-2E9C-101B-9397-08002B2CF9AE}" pid="4" name="KSOProductBuildVer">
    <vt:lpwstr>1033-9.1.0.5236</vt:lpwstr>
  </property>
</Properties>
</file>