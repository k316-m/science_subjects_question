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5" r:id="rId3"/>
    <p:sldId id="303" r:id="rId4"/>
    <p:sldId id="304" r:id="rId5"/>
    <p:sldId id="305" r:id="rId6"/>
    <p:sldId id="306" r:id="rId7"/>
    <p:sldId id="307" r:id="rId8"/>
    <p:sldId id="258" r:id="rId9"/>
    <p:sldId id="259" r:id="rId10"/>
    <p:sldId id="260" r:id="rId11"/>
    <p:sldId id="276" r:id="rId12"/>
    <p:sldId id="308" r:id="rId13"/>
    <p:sldId id="261" r:id="rId14"/>
    <p:sldId id="262" r:id="rId15"/>
    <p:sldId id="263" r:id="rId16"/>
    <p:sldId id="282" r:id="rId17"/>
    <p:sldId id="277" r:id="rId18"/>
    <p:sldId id="310" r:id="rId19"/>
    <p:sldId id="311" r:id="rId20"/>
    <p:sldId id="264" r:id="rId21"/>
    <p:sldId id="278" r:id="rId22"/>
    <p:sldId id="283" r:id="rId23"/>
    <p:sldId id="317" r:id="rId24"/>
    <p:sldId id="318" r:id="rId25"/>
    <p:sldId id="312" r:id="rId26"/>
    <p:sldId id="265" r:id="rId27"/>
    <p:sldId id="270" r:id="rId28"/>
    <p:sldId id="301" r:id="rId29"/>
    <p:sldId id="281" r:id="rId30"/>
    <p:sldId id="279" r:id="rId31"/>
    <p:sldId id="280" r:id="rId32"/>
    <p:sldId id="284" r:id="rId33"/>
    <p:sldId id="309" r:id="rId34"/>
    <p:sldId id="302" r:id="rId35"/>
    <p:sldId id="273" r:id="rId36"/>
    <p:sldId id="288" r:id="rId37"/>
    <p:sldId id="289" r:id="rId38"/>
    <p:sldId id="292" r:id="rId39"/>
    <p:sldId id="315" r:id="rId40"/>
    <p:sldId id="316" r:id="rId41"/>
    <p:sldId id="293" r:id="rId42"/>
    <p:sldId id="313" r:id="rId43"/>
    <p:sldId id="314" r:id="rId44"/>
    <p:sldId id="294" r:id="rId45"/>
    <p:sldId id="295" r:id="rId46"/>
    <p:sldId id="296" r:id="rId47"/>
    <p:sldId id="297" r:id="rId48"/>
    <p:sldId id="319" r:id="rId49"/>
    <p:sldId id="320" r:id="rId50"/>
    <p:sldId id="321" r:id="rId51"/>
    <p:sldId id="323" r:id="rId52"/>
    <p:sldId id="322" r:id="rId53"/>
    <p:sldId id="324" r:id="rId54"/>
    <p:sldId id="325" r:id="rId55"/>
    <p:sldId id="298" r:id="rId56"/>
    <p:sldId id="299" r:id="rId57"/>
    <p:sldId id="300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20BF6E-E23F-41BA-88A8-3FF2CB577712}">
          <p14:sldIdLst>
            <p14:sldId id="256"/>
            <p14:sldId id="275"/>
            <p14:sldId id="303"/>
            <p14:sldId id="304"/>
            <p14:sldId id="305"/>
            <p14:sldId id="306"/>
            <p14:sldId id="307"/>
            <p14:sldId id="258"/>
            <p14:sldId id="259"/>
            <p14:sldId id="260"/>
            <p14:sldId id="276"/>
            <p14:sldId id="308"/>
            <p14:sldId id="261"/>
            <p14:sldId id="262"/>
            <p14:sldId id="263"/>
            <p14:sldId id="282"/>
            <p14:sldId id="277"/>
            <p14:sldId id="310"/>
            <p14:sldId id="311"/>
            <p14:sldId id="264"/>
            <p14:sldId id="278"/>
            <p14:sldId id="283"/>
            <p14:sldId id="317"/>
            <p14:sldId id="318"/>
            <p14:sldId id="312"/>
            <p14:sldId id="265"/>
            <p14:sldId id="270"/>
            <p14:sldId id="301"/>
            <p14:sldId id="281"/>
            <p14:sldId id="279"/>
            <p14:sldId id="280"/>
            <p14:sldId id="284"/>
            <p14:sldId id="309"/>
            <p14:sldId id="302"/>
            <p14:sldId id="273"/>
            <p14:sldId id="288"/>
            <p14:sldId id="289"/>
            <p14:sldId id="292"/>
            <p14:sldId id="315"/>
            <p14:sldId id="316"/>
            <p14:sldId id="293"/>
            <p14:sldId id="313"/>
            <p14:sldId id="314"/>
            <p14:sldId id="294"/>
            <p14:sldId id="295"/>
            <p14:sldId id="296"/>
            <p14:sldId id="297"/>
            <p14:sldId id="319"/>
            <p14:sldId id="320"/>
            <p14:sldId id="321"/>
            <p14:sldId id="323"/>
            <p14:sldId id="322"/>
            <p14:sldId id="324"/>
            <p14:sldId id="325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0FB1"/>
    <a:srgbClr val="4F1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105" d="100"/>
          <a:sy n="105" d="100"/>
        </p:scale>
        <p:origin x="18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7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3E924-4322-45CD-9B6F-092917BCF391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BE3EE-115B-459D-B7DA-D83B99F95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slow">
    <p:cover dir="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5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587209"/>
            <a:ext cx="8229600" cy="3441991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zh-CN" altLang="en-US" sz="6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第</a:t>
            </a:r>
            <a:r>
              <a:rPr lang="en-US" altLang="zh-CN" sz="6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19</a:t>
            </a:r>
            <a:r>
              <a:rPr lang="zh-CN" altLang="en-US" sz="6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章</a:t>
            </a:r>
            <a:endParaRPr lang="en-US" altLang="zh-CN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45720" indent="0" algn="ctr">
              <a:buNone/>
            </a:pPr>
            <a:r>
              <a:rPr lang="zh-CN" altLang="en-US" sz="6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化学反应和能量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268074662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906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化学反应都伴随着能量的吸收或放出。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放出能量的反应：化学能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热能、光能等</a:t>
            </a:r>
            <a:endParaRPr lang="en-US" altLang="zh-CN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如：燃烧</a:t>
            </a:r>
            <a:endParaRPr lang="en-US" altLang="zh-CN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吸收能量的反应：热能、光能等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化学能</a:t>
            </a:r>
            <a:endParaRPr lang="en-US" altLang="zh-CN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如：电解</a:t>
            </a:r>
            <a:endParaRPr lang="en-US" altLang="zh-CN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前言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9069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放出热的化学反应叫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放热反应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金属与酸反应（活动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吸收热的化学反应叫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吸热反应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 err="1"/>
              <a:t>Ba</a:t>
            </a:r>
            <a:r>
              <a:rPr lang="en-US" altLang="zh-CN" dirty="0"/>
              <a:t>(OH)</a:t>
            </a:r>
            <a:r>
              <a:rPr lang="en-US" altLang="zh-CN" baseline="-25000" dirty="0"/>
              <a:t>2</a:t>
            </a:r>
            <a:r>
              <a:rPr lang="en-US" altLang="zh-CN" dirty="0"/>
              <a:t> + NH</a:t>
            </a:r>
            <a:r>
              <a:rPr lang="en-US" altLang="zh-CN" baseline="-25000" dirty="0"/>
              <a:t>4</a:t>
            </a:r>
            <a:r>
              <a:rPr lang="en-US" altLang="zh-CN" dirty="0"/>
              <a:t>Cl </a:t>
            </a:r>
            <a:r>
              <a:rPr lang="zh-CN" altLang="en-US" dirty="0"/>
              <a:t>（活动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19.1 </a:t>
            </a: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化学反应中的热量变化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906963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交流分享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(1) </a:t>
            </a:r>
            <a:r>
              <a:rPr lang="zh-CN" altLang="en-US" dirty="0"/>
              <a:t>放热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(2)</a:t>
            </a:r>
            <a:r>
              <a:rPr lang="zh-CN" altLang="en-US" dirty="0"/>
              <a:t>放热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(3)</a:t>
            </a:r>
            <a:r>
              <a:rPr lang="zh-CN" altLang="en-US" dirty="0"/>
              <a:t>吸热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(4)</a:t>
            </a:r>
            <a:r>
              <a:rPr lang="zh-CN" altLang="en-US" dirty="0"/>
              <a:t>放热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(5)</a:t>
            </a:r>
            <a:r>
              <a:rPr lang="zh-CN" altLang="en-US" dirty="0"/>
              <a:t>放热</a:t>
            </a:r>
            <a:endParaRPr lang="en-US" altLang="zh-CN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19.1 </a:t>
            </a: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化学反应中的热量变化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5486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破坏化学键：吸热</a:t>
            </a:r>
            <a:endParaRPr lang="en-US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形成化学键：放热</a:t>
            </a:r>
            <a:endParaRPr lang="en-US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破坏</a:t>
            </a:r>
            <a:r>
              <a:rPr lang="en-US" altLang="zh-CN" sz="2800" dirty="0"/>
              <a:t>1mol</a:t>
            </a:r>
            <a:r>
              <a:rPr lang="zh-CN" altLang="en-US" sz="2800" dirty="0"/>
              <a:t>气态物质中某种共价键需要吸收的能量，称该共价键的键能。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交流分享</a:t>
            </a: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化学键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Cl-Cl</a:t>
            </a:r>
            <a:r>
              <a:rPr lang="en-US" altLang="zh-CN" sz="2800" dirty="0">
                <a:sym typeface="Wingdings" pitchFamily="2" charset="2"/>
              </a:rPr>
              <a:t>		H-H		H-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键能</a:t>
            </a:r>
            <a:r>
              <a:rPr lang="en-US" altLang="zh-CN" sz="2800" baseline="-25000" dirty="0">
                <a:sym typeface="Wingdings" pitchFamily="2" charset="2"/>
              </a:rPr>
              <a:t>kJ/mol</a:t>
            </a:r>
            <a:r>
              <a:rPr lang="en-US" altLang="zh-CN" sz="2800" dirty="0">
                <a:sym typeface="Wingdings" pitchFamily="2" charset="2"/>
              </a:rPr>
              <a:t>  	242.7		436.4		431.8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+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2HCl (g)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吸收：</a:t>
            </a:r>
            <a:r>
              <a:rPr lang="en-US" altLang="zh-CN" sz="2800" dirty="0">
                <a:sym typeface="Wingdings" pitchFamily="2" charset="2"/>
              </a:rPr>
              <a:t>436.4kJ + 242.7kJ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放出：</a:t>
            </a:r>
            <a:r>
              <a:rPr lang="en-US" altLang="zh-CN" sz="2800" dirty="0">
                <a:sym typeface="Wingdings" pitchFamily="2" charset="2"/>
              </a:rPr>
              <a:t>2x431.8 kJ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总：放出</a:t>
            </a:r>
            <a:r>
              <a:rPr lang="en-US" altLang="zh-CN" sz="2800" dirty="0">
                <a:sym typeface="Wingdings" pitchFamily="2" charset="2"/>
              </a:rPr>
              <a:t>184.5kJ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19.1 </a:t>
            </a: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化学反应中的热量变化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5486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问题解决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化学键</a:t>
            </a:r>
            <a:r>
              <a:rPr lang="en-US" altLang="zh-CN" sz="2800" dirty="0">
                <a:sym typeface="Wingdings" pitchFamily="2" charset="2"/>
              </a:rPr>
              <a:t>		H-H		O=O		H-O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键能</a:t>
            </a:r>
            <a:r>
              <a:rPr lang="en-US" altLang="zh-CN" sz="2800" baseline="-25000" dirty="0">
                <a:sym typeface="Wingdings" pitchFamily="2" charset="2"/>
              </a:rPr>
              <a:t>kJ/mol</a:t>
            </a:r>
            <a:r>
              <a:rPr lang="en-US" altLang="zh-CN" sz="2800" dirty="0">
                <a:sym typeface="Wingdings" pitchFamily="2" charset="2"/>
              </a:rPr>
              <a:t>  	436.4		498		462.8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+ ½ 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(g)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吸收：</a:t>
            </a:r>
            <a:r>
              <a:rPr lang="en-US" altLang="zh-CN" sz="2800" dirty="0">
                <a:sym typeface="Wingdings" pitchFamily="2" charset="2"/>
              </a:rPr>
              <a:t> 436.4kJ + ½ x 498kJ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放出：</a:t>
            </a:r>
            <a:r>
              <a:rPr lang="en-US" altLang="zh-CN" sz="2800" dirty="0">
                <a:sym typeface="Wingdings" pitchFamily="2" charset="2"/>
              </a:rPr>
              <a:t>2x462.8 kJ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总：放出</a:t>
            </a:r>
            <a:r>
              <a:rPr lang="en-US" altLang="zh-CN" sz="2800" dirty="0">
                <a:sym typeface="Wingdings" pitchFamily="2" charset="2"/>
              </a:rPr>
              <a:t>240.2kJ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任何物质中都蕴藏着能量，物质转化过程中伴随着能量的变化。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19.1 </a:t>
            </a: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化学反应中的热量变化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486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>
                <a:sym typeface="Wingdings" pitchFamily="2" charset="2"/>
              </a:rPr>
              <a:t>A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无论是吸热反应还是放热反应都必需先吸热。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AutoNum type="arabicPeriod" startAt="2"/>
            </a:pPr>
            <a:r>
              <a:rPr lang="en-US" altLang="zh-CN" sz="2800" dirty="0">
                <a:sym typeface="Wingdings" pitchFamily="2" charset="2"/>
              </a:rPr>
              <a:t>B </a:t>
            </a:r>
            <a:r>
              <a:rPr lang="zh-CN" altLang="en-US" sz="2800" dirty="0">
                <a:sym typeface="Wingdings" pitchFamily="2" charset="2"/>
              </a:rPr>
              <a:t>生石灰加水是放热反应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思考题</a:t>
            </a: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19a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05000"/>
            <a:ext cx="7620000" cy="29591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219200" y="2819400"/>
            <a:ext cx="762000" cy="121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696200" y="2971800"/>
            <a:ext cx="609600" cy="1143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</a:rPr>
              <a:t>在化学反应过程中，当反应物和生成物具有相同的温度时，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放出或吸收的热量</a:t>
            </a:r>
            <a:r>
              <a:rPr lang="zh-CN" altLang="en-US" sz="2800" dirty="0">
                <a:solidFill>
                  <a:schemeClr val="tx1"/>
                </a:solidFill>
              </a:rPr>
              <a:t>称为反应热。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</a:rPr>
              <a:t>焓（热函）：物质在恒温、恒压下的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热含量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</a:rPr>
              <a:t>符号为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焓变：在恒温、恒压的条件下，化学反应过程中吸收或放出的热量。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∆H=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生成物总焓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反应物总焓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单位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kJ/mol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dirty="0">
                <a:solidFill>
                  <a:schemeClr val="tx1"/>
                </a:solidFill>
              </a:rPr>
              <a:t>∆ H</a:t>
            </a:r>
            <a:r>
              <a:rPr lang="zh-CN" altLang="en-US" sz="2800" dirty="0">
                <a:solidFill>
                  <a:schemeClr val="tx1"/>
                </a:solidFill>
              </a:rPr>
              <a:t>为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负值</a:t>
            </a:r>
            <a:r>
              <a:rPr lang="zh-CN" altLang="en-US" sz="2800" dirty="0">
                <a:solidFill>
                  <a:schemeClr val="tx1"/>
                </a:solidFill>
              </a:rPr>
              <a:t>，该反应是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放热</a:t>
            </a:r>
            <a:r>
              <a:rPr lang="zh-CN" altLang="en-US" sz="2800" dirty="0">
                <a:solidFill>
                  <a:schemeClr val="tx1"/>
                </a:solidFill>
              </a:rPr>
              <a:t>反应。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dirty="0">
                <a:solidFill>
                  <a:schemeClr val="tx1"/>
                </a:solidFill>
              </a:rPr>
              <a:t>∆ H</a:t>
            </a:r>
            <a:r>
              <a:rPr lang="zh-CN" altLang="en-US" sz="2800" dirty="0">
                <a:solidFill>
                  <a:schemeClr val="tx1"/>
                </a:solidFill>
              </a:rPr>
              <a:t>为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正值</a:t>
            </a:r>
            <a:r>
              <a:rPr lang="zh-CN" altLang="en-US" sz="2800" dirty="0">
                <a:solidFill>
                  <a:schemeClr val="tx1"/>
                </a:solidFill>
              </a:rPr>
              <a:t>，该反应是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吸热</a:t>
            </a:r>
            <a:r>
              <a:rPr lang="zh-CN" altLang="en-US" sz="2800" dirty="0">
                <a:solidFill>
                  <a:schemeClr val="tx1"/>
                </a:solidFill>
              </a:rPr>
              <a:t>反应。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j-lt"/>
                <a:ea typeface="+mj-ea"/>
                <a:cs typeface="+mj-cs"/>
              </a:rPr>
              <a:t>19.</a:t>
            </a:r>
            <a:r>
              <a:rPr 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2 </a:t>
            </a: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反应热、焓变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" name="Picture 2" descr="C:\Users\user\Desktop\13.jpg"/>
          <p:cNvPicPr>
            <a:picLocks noChangeAspect="1" noChangeArrowheads="1"/>
          </p:cNvPicPr>
          <p:nvPr/>
        </p:nvPicPr>
        <p:blipFill>
          <a:blip r:embed="rId3"/>
          <a:srcRect l="65009" t="5991" b="49770"/>
          <a:stretch>
            <a:fillRect/>
          </a:stretch>
        </p:blipFill>
        <p:spPr bwMode="auto">
          <a:xfrm>
            <a:off x="-3490321" y="3329940"/>
            <a:ext cx="3464012" cy="3566160"/>
          </a:xfrm>
          <a:prstGeom prst="rect">
            <a:avLst/>
          </a:prstGeom>
          <a:noFill/>
        </p:spPr>
      </p:pic>
      <p:pic>
        <p:nvPicPr>
          <p:cNvPr id="16" name="Picture 2" descr="C:\Users\user\Desktop\13.jpg"/>
          <p:cNvPicPr>
            <a:picLocks noChangeAspect="1" noChangeArrowheads="1"/>
          </p:cNvPicPr>
          <p:nvPr/>
        </p:nvPicPr>
        <p:blipFill>
          <a:blip r:embed="rId3"/>
          <a:srcRect l="31520" t="5991" r="33959" b="49770"/>
          <a:stretch>
            <a:fillRect/>
          </a:stretch>
        </p:blipFill>
        <p:spPr bwMode="auto">
          <a:xfrm>
            <a:off x="7435215" y="2743200"/>
            <a:ext cx="3417570" cy="3566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346267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/>
              <a:t>热化学方程式：能表明反应所放出或吸收的热量的方程式。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C</a:t>
            </a:r>
            <a:r>
              <a:rPr lang="en-US" altLang="zh-CN" baseline="-25000" dirty="0"/>
              <a:t>(s)</a:t>
            </a:r>
            <a:r>
              <a:rPr lang="en-US" altLang="zh-CN" dirty="0"/>
              <a:t> +O</a:t>
            </a:r>
            <a:r>
              <a:rPr lang="en-US" altLang="zh-CN" baseline="-25000" dirty="0"/>
              <a:t>2(g)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en-US" altLang="zh-CN" dirty="0"/>
              <a:t>CO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baseline="-25000" dirty="0"/>
              <a:t>(g)</a:t>
            </a:r>
            <a:r>
              <a:rPr lang="en-US" altLang="zh-CN" dirty="0"/>
              <a:t>		∆H= -393.5kJ/mol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C</a:t>
            </a:r>
            <a:r>
              <a:rPr lang="en-US" altLang="zh-CN" baseline="-25000" dirty="0"/>
              <a:t>(s)</a:t>
            </a:r>
            <a:r>
              <a:rPr lang="en-US" altLang="zh-CN" dirty="0"/>
              <a:t> + 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en-US" altLang="zh-CN" baseline="-25000" dirty="0"/>
              <a:t>(g)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en-US" altLang="zh-CN" dirty="0"/>
              <a:t> CO</a:t>
            </a:r>
            <a:r>
              <a:rPr lang="en-US" altLang="zh-CN" baseline="-25000" dirty="0"/>
              <a:t>(g)</a:t>
            </a:r>
            <a:r>
              <a:rPr lang="en-US" altLang="zh-CN" dirty="0"/>
              <a:t> + H</a:t>
            </a:r>
            <a:r>
              <a:rPr lang="en-US" altLang="zh-CN" baseline="-25000" dirty="0"/>
              <a:t>2(g)</a:t>
            </a:r>
            <a:r>
              <a:rPr lang="en-US" altLang="zh-CN" dirty="0"/>
              <a:t>	∆H= 131.4kJ/mol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注意：热量变化、物质状态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热化学标准状态：</a:t>
            </a:r>
            <a:r>
              <a:rPr lang="en-US" altLang="zh-CN" dirty="0"/>
              <a:t>25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1.01x10</a:t>
            </a:r>
            <a:r>
              <a:rPr lang="en-US" altLang="zh-CN" baseline="30000" dirty="0"/>
              <a:t>5</a:t>
            </a:r>
            <a:r>
              <a:rPr lang="en-US" altLang="zh-CN" dirty="0"/>
              <a:t> Pa</a:t>
            </a:r>
            <a:endParaRPr lang="en-US" dirty="0"/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j-lt"/>
                <a:ea typeface="+mj-ea"/>
                <a:cs typeface="+mj-cs"/>
              </a:rPr>
              <a:t>19.</a:t>
            </a:r>
            <a:r>
              <a:rPr 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2 </a:t>
            </a: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反应热、焓变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03445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143000"/>
            <a:ext cx="8077200" cy="5257800"/>
          </a:xfrm>
        </p:spPr>
        <p:txBody>
          <a:bodyPr>
            <a:noAutofit/>
          </a:bodyPr>
          <a:lstStyle/>
          <a:p>
            <a:pPr marL="342900" indent="-342900" algn="l"/>
            <a:r>
              <a:rPr lang="en-US" altLang="zh-CN" dirty="0"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物质的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状态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、可用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分数配平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、反应式后需表示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热量数据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、反应条件可不写。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H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2(g)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+ ½ 0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2(g)</a:t>
            </a:r>
            <a:r>
              <a:rPr lang="en-US" altLang="zh-CN" sz="3000" dirty="0">
                <a:solidFill>
                  <a:schemeClr val="tx1"/>
                </a:solidFill>
                <a:latin typeface="+mn-ea"/>
                <a:sym typeface="Wingdings" pitchFamily="2" charset="2"/>
              </a:rPr>
              <a:t> 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H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(l)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  	∆H= -285.8kJ/mol</a:t>
            </a:r>
            <a:endParaRPr lang="en-US" sz="28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H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2(g)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+ ½ 0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2(g)</a:t>
            </a:r>
            <a:r>
              <a:rPr lang="en-US" altLang="zh-CN" sz="3000" dirty="0">
                <a:solidFill>
                  <a:schemeClr val="tx1"/>
                </a:solidFill>
                <a:latin typeface="+mn-ea"/>
                <a:sym typeface="Wingdings" pitchFamily="2" charset="2"/>
              </a:rPr>
              <a:t> 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H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zh-CN" sz="3000" baseline="-25000" dirty="0">
                <a:solidFill>
                  <a:schemeClr val="tx1"/>
                </a:solidFill>
                <a:latin typeface="+mn-ea"/>
              </a:rPr>
              <a:t>(g)</a:t>
            </a:r>
            <a:r>
              <a:rPr lang="en-US" altLang="zh-CN" sz="3000" dirty="0">
                <a:solidFill>
                  <a:schemeClr val="tx1"/>
                </a:solidFill>
                <a:latin typeface="+mn-ea"/>
              </a:rPr>
              <a:t>    	∆H= -241.8kJ/mol</a:t>
            </a:r>
          </a:p>
          <a:p>
            <a:pPr algn="l"/>
            <a:r>
              <a:rPr lang="en-US" altLang="zh-CN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反应式相同、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状态不同、热量不同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5" name="Title 2"/>
          <p:cNvSpPr txBox="1">
            <a:spLocks/>
          </p:cNvSpPr>
          <p:nvPr/>
        </p:nvSpPr>
        <p:spPr>
          <a:xfrm>
            <a:off x="0" y="0"/>
            <a:ext cx="7175351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交流分享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97853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问题解决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4582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200" dirty="0"/>
              <a:t>1. 	</a:t>
            </a:r>
            <a:r>
              <a:rPr lang="en-US" altLang="zh-CN" dirty="0"/>
              <a:t>N</a:t>
            </a:r>
            <a:r>
              <a:rPr lang="en-US" altLang="zh-CN" baseline="-25000" dirty="0"/>
              <a:t>2(g)</a:t>
            </a:r>
            <a:r>
              <a:rPr lang="en-US" altLang="zh-CN" dirty="0"/>
              <a:t>+         H</a:t>
            </a:r>
            <a:r>
              <a:rPr lang="en-US" altLang="zh-CN" baseline="-25000" dirty="0"/>
              <a:t>2(g)</a:t>
            </a:r>
            <a:r>
              <a:rPr lang="en-US" altLang="zh-CN" dirty="0">
                <a:sym typeface="Wingdings" pitchFamily="2" charset="2"/>
              </a:rPr>
              <a:t> N</a:t>
            </a:r>
            <a:r>
              <a:rPr lang="en-US" altLang="zh-CN" dirty="0"/>
              <a:t>H</a:t>
            </a:r>
            <a:r>
              <a:rPr lang="en-US" altLang="zh-CN" baseline="-25000" dirty="0"/>
              <a:t>3(g)</a:t>
            </a:r>
            <a:r>
              <a:rPr lang="en-US" altLang="zh-CN" dirty="0"/>
              <a:t>		∆H= -46.1kJ/mol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2. CH</a:t>
            </a:r>
            <a:r>
              <a:rPr lang="en-US" altLang="zh-CN" baseline="-25000" dirty="0"/>
              <a:t>4(g)</a:t>
            </a:r>
            <a:r>
              <a:rPr lang="en-US" altLang="zh-CN" dirty="0"/>
              <a:t>+  2 O</a:t>
            </a:r>
            <a:r>
              <a:rPr lang="en-US" altLang="zh-CN" baseline="-25000" dirty="0"/>
              <a:t>2(g)</a:t>
            </a:r>
            <a:r>
              <a:rPr lang="en-US" altLang="zh-CN" dirty="0">
                <a:sym typeface="Wingdings" pitchFamily="2" charset="2"/>
              </a:rPr>
              <a:t> CO</a:t>
            </a:r>
            <a:r>
              <a:rPr lang="en-US" altLang="zh-CN" baseline="-25000" dirty="0">
                <a:sym typeface="Wingdings" pitchFamily="2" charset="2"/>
              </a:rPr>
              <a:t>2(g)</a:t>
            </a:r>
            <a:r>
              <a:rPr lang="en-US" altLang="zh-CN" dirty="0">
                <a:sym typeface="Wingdings" pitchFamily="2" charset="2"/>
              </a:rPr>
              <a:t> + 2 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en-US" altLang="zh-CN" baseline="-25000" dirty="0"/>
              <a:t>(l)</a:t>
            </a:r>
            <a:r>
              <a:rPr lang="en-US" altLang="zh-CN" dirty="0"/>
              <a:t>  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3. C</a:t>
            </a:r>
            <a:r>
              <a:rPr lang="en-US" altLang="zh-CN" baseline="-25000" dirty="0"/>
              <a:t>(</a:t>
            </a:r>
            <a:r>
              <a:rPr lang="zh-CN" altLang="en-US" baseline="-25000" dirty="0"/>
              <a:t>石墨</a:t>
            </a:r>
            <a:r>
              <a:rPr lang="en-US" altLang="zh-CN" baseline="-25000" dirty="0"/>
              <a:t>,s)</a:t>
            </a:r>
            <a:r>
              <a:rPr lang="en-US" altLang="zh-CN" dirty="0"/>
              <a:t> + 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en-US" altLang="zh-CN" baseline="-25000" dirty="0"/>
              <a:t>(g)</a:t>
            </a:r>
            <a:r>
              <a:rPr lang="en-US" altLang="zh-CN" dirty="0">
                <a:sym typeface="Wingdings" pitchFamily="2" charset="2"/>
              </a:rPr>
              <a:t>  CO</a:t>
            </a:r>
            <a:r>
              <a:rPr lang="en-US" altLang="zh-CN" baseline="-25000" dirty="0">
                <a:sym typeface="Wingdings" pitchFamily="2" charset="2"/>
              </a:rPr>
              <a:t>(g)</a:t>
            </a:r>
            <a:r>
              <a:rPr lang="en-US" altLang="zh-CN" dirty="0">
                <a:sym typeface="Wingdings" pitchFamily="2" charset="2"/>
              </a:rPr>
              <a:t> + </a:t>
            </a:r>
            <a:r>
              <a:rPr lang="en-US" altLang="zh-CN" dirty="0"/>
              <a:t>H</a:t>
            </a:r>
            <a:r>
              <a:rPr lang="en-US" altLang="zh-CN" baseline="-25000" dirty="0"/>
              <a:t>2(g)</a:t>
            </a:r>
            <a:r>
              <a:rPr lang="en-US" altLang="zh-CN" b="1" dirty="0"/>
              <a:t>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4. ½  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4(</a:t>
            </a:r>
            <a:r>
              <a:rPr lang="en-US" altLang="zh-CN" baseline="-25000" dirty="0" err="1"/>
              <a:t>aq</a:t>
            </a:r>
            <a:r>
              <a:rPr lang="en-US" altLang="zh-CN" baseline="-25000" dirty="0"/>
              <a:t>)</a:t>
            </a:r>
            <a:r>
              <a:rPr lang="en-US" altLang="zh-CN" dirty="0"/>
              <a:t> +  KOH</a:t>
            </a:r>
            <a:r>
              <a:rPr lang="en-US" altLang="zh-CN" baseline="-25000" dirty="0"/>
              <a:t>(</a:t>
            </a:r>
            <a:r>
              <a:rPr lang="en-US" altLang="zh-CN" baseline="-25000" dirty="0" err="1"/>
              <a:t>aq</a:t>
            </a:r>
            <a:r>
              <a:rPr lang="en-US" altLang="zh-CN" baseline="-25000" dirty="0"/>
              <a:t>)</a:t>
            </a:r>
            <a:r>
              <a:rPr lang="en-US" dirty="0">
                <a:sym typeface="Wingdings" pitchFamily="2" charset="2"/>
              </a:rPr>
              <a:t> ½ K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SO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altLang="zh-CN" baseline="-25000" dirty="0"/>
              <a:t>(</a:t>
            </a:r>
            <a:r>
              <a:rPr lang="en-US" altLang="zh-CN" baseline="-25000" dirty="0" err="1"/>
              <a:t>aq</a:t>
            </a:r>
            <a:r>
              <a:rPr lang="en-US" altLang="zh-CN" baseline="-25000" dirty="0"/>
              <a:t>)</a:t>
            </a:r>
            <a:r>
              <a:rPr lang="en-US" altLang="zh-CN" dirty="0"/>
              <a:t> </a:t>
            </a:r>
            <a:r>
              <a:rPr lang="en-US" dirty="0">
                <a:sym typeface="Wingdings" pitchFamily="2" charset="2"/>
              </a:rPr>
              <a:t>+ 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en-US" altLang="zh-CN" baseline="-25000" dirty="0"/>
              <a:t>(l)</a:t>
            </a:r>
            <a:r>
              <a:rPr lang="en-US" altLang="zh-CN" dirty="0"/>
              <a:t> </a:t>
            </a:r>
            <a:r>
              <a:rPr lang="en-US" dirty="0"/>
              <a:t>	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5" name="Group 3"/>
          <p:cNvGrpSpPr/>
          <p:nvPr/>
        </p:nvGrpSpPr>
        <p:grpSpPr>
          <a:xfrm>
            <a:off x="990603" y="1321713"/>
            <a:ext cx="685797" cy="735687"/>
            <a:chOff x="2950713" y="1442679"/>
            <a:chExt cx="483072" cy="735687"/>
          </a:xfrm>
        </p:grpSpPr>
        <p:grpSp>
          <p:nvGrpSpPr>
            <p:cNvPr id="6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8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</a:t>
                </a:r>
              </a:p>
            </p:txBody>
          </p:sp>
        </p:grpSp>
        <p:sp>
          <p:nvSpPr>
            <p:cNvPr id="7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" name="Group 3"/>
          <p:cNvGrpSpPr/>
          <p:nvPr/>
        </p:nvGrpSpPr>
        <p:grpSpPr>
          <a:xfrm>
            <a:off x="2438403" y="1321713"/>
            <a:ext cx="685797" cy="735687"/>
            <a:chOff x="2950713" y="1442679"/>
            <a:chExt cx="483072" cy="735687"/>
          </a:xfrm>
        </p:grpSpPr>
        <p:grpSp>
          <p:nvGrpSpPr>
            <p:cNvPr id="11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13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3</a:t>
                </a:r>
              </a:p>
            </p:txBody>
          </p:sp>
        </p:grpSp>
        <p:sp>
          <p:nvSpPr>
            <p:cNvPr id="12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5926108" y="4048780"/>
            <a:ext cx="2760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∆H= </a:t>
            </a:r>
            <a:r>
              <a:rPr lang="en-US" sz="2800" dirty="0"/>
              <a:t> -57.3kJ/mol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67400" y="2133600"/>
            <a:ext cx="29434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∆H= </a:t>
            </a:r>
            <a:r>
              <a:rPr lang="en-US" sz="2800" dirty="0"/>
              <a:t> -889.6kJ/mol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67400" y="2905780"/>
            <a:ext cx="30941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∆H= </a:t>
            </a:r>
            <a:r>
              <a:rPr lang="en-US" sz="2800" dirty="0"/>
              <a:t> +131.3kJ/mol </a:t>
            </a:r>
          </a:p>
        </p:txBody>
      </p:sp>
    </p:spTree>
    <p:extLst>
      <p:ext uri="{BB962C8B-B14F-4D97-AF65-F5344CB8AC3E}">
        <p14:creationId xmlns:p14="http://schemas.microsoft.com/office/powerpoint/2010/main" val="15017129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思考题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19b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8458200" cy="54102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dirty="0"/>
              <a:t> C</a:t>
            </a:r>
            <a:r>
              <a:rPr lang="en-US" altLang="zh-CN" baseline="-25000" dirty="0"/>
              <a:t>2</a:t>
            </a:r>
            <a:r>
              <a:rPr lang="en-US" altLang="zh-CN" dirty="0"/>
              <a:t>H</a:t>
            </a:r>
            <a:r>
              <a:rPr lang="en-US" altLang="zh-CN" baseline="-25000" dirty="0"/>
              <a:t>2	</a:t>
            </a:r>
            <a:r>
              <a:rPr lang="en-US" altLang="zh-CN" dirty="0"/>
              <a:t>  	</a:t>
            </a:r>
            <a:r>
              <a:rPr lang="zh-CN" altLang="en-US" dirty="0"/>
              <a:t>热量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 7.8g		389.9kJ</a:t>
            </a:r>
          </a:p>
          <a:p>
            <a:pPr marL="514350" indent="-514350">
              <a:buNone/>
            </a:pPr>
            <a:r>
              <a:rPr lang="en-US" altLang="zh-CN" dirty="0"/>
              <a:t>	26g		x </a:t>
            </a:r>
          </a:p>
          <a:p>
            <a:pPr marL="514350" indent="-514350">
              <a:buNone/>
            </a:pPr>
            <a:r>
              <a:rPr lang="en-US" altLang="zh-CN" dirty="0"/>
              <a:t>		x= 1299.6kJ			</a:t>
            </a:r>
          </a:p>
          <a:p>
            <a:pPr marL="514350" indent="-514350"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C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2.   	 N</a:t>
            </a:r>
            <a:r>
              <a:rPr lang="en-US" altLang="zh-CN" baseline="-25000" dirty="0"/>
              <a:t>2(g)</a:t>
            </a:r>
            <a:r>
              <a:rPr lang="en-US" altLang="zh-CN" dirty="0"/>
              <a:t> + 	F</a:t>
            </a:r>
            <a:r>
              <a:rPr lang="en-US" altLang="zh-CN" baseline="-25000" dirty="0"/>
              <a:t>2(g)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    NF</a:t>
            </a:r>
            <a:r>
              <a:rPr lang="en-US" altLang="zh-CN" baseline="-25000" dirty="0">
                <a:sym typeface="Wingdings" pitchFamily="2" charset="2"/>
              </a:rPr>
              <a:t>3(g)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zh-CN" altLang="en-US" dirty="0">
                <a:sym typeface="Wingdings" pitchFamily="2" charset="2"/>
              </a:rPr>
              <a:t>左： </a:t>
            </a:r>
            <a:r>
              <a:rPr lang="en-US" altLang="zh-CN" dirty="0">
                <a:sym typeface="Wingdings" pitchFamily="2" charset="2"/>
              </a:rPr>
              <a:t>½ x 942kJ + 3/2 x 157kJ		</a:t>
            </a:r>
            <a:r>
              <a:rPr lang="zh-CN" altLang="en-US" dirty="0">
                <a:sym typeface="Wingdings" pitchFamily="2" charset="2"/>
              </a:rPr>
              <a:t>右：</a:t>
            </a:r>
            <a:r>
              <a:rPr lang="en-US" altLang="zh-CN" dirty="0">
                <a:sym typeface="Wingdings" pitchFamily="2" charset="2"/>
              </a:rPr>
              <a:t>3x 349kJ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490FB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b="1" dirty="0">
                <a:solidFill>
                  <a:srgbClr val="490FB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en-US" altLang="zh-CN" baseline="-25000" dirty="0"/>
              <a:t>2(g)</a:t>
            </a:r>
            <a:r>
              <a:rPr lang="en-US" altLang="zh-CN" dirty="0"/>
              <a:t>  + 3F</a:t>
            </a:r>
            <a:r>
              <a:rPr lang="en-US" altLang="zh-CN" baseline="-25000" dirty="0"/>
              <a:t>2(g)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  2NF</a:t>
            </a:r>
            <a:r>
              <a:rPr lang="en-US" altLang="zh-CN" baseline="-25000" dirty="0">
                <a:sym typeface="Wingdings" pitchFamily="2" charset="2"/>
              </a:rPr>
              <a:t>3(g)</a:t>
            </a:r>
            <a:endParaRPr lang="en-US" dirty="0"/>
          </a:p>
        </p:txBody>
      </p:sp>
      <p:grpSp>
        <p:nvGrpSpPr>
          <p:cNvPr id="25" name="Group 3"/>
          <p:cNvGrpSpPr/>
          <p:nvPr/>
        </p:nvGrpSpPr>
        <p:grpSpPr>
          <a:xfrm>
            <a:off x="1066800" y="3531513"/>
            <a:ext cx="685797" cy="735687"/>
            <a:chOff x="2950713" y="1442679"/>
            <a:chExt cx="483072" cy="735687"/>
          </a:xfrm>
        </p:grpSpPr>
        <p:grpSp>
          <p:nvGrpSpPr>
            <p:cNvPr id="26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28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</a:t>
                </a:r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0" name="Group 3"/>
          <p:cNvGrpSpPr/>
          <p:nvPr/>
        </p:nvGrpSpPr>
        <p:grpSpPr>
          <a:xfrm>
            <a:off x="2590800" y="3505200"/>
            <a:ext cx="685797" cy="735687"/>
            <a:chOff x="2950713" y="1442679"/>
            <a:chExt cx="483072" cy="735687"/>
          </a:xfrm>
        </p:grpSpPr>
        <p:grpSp>
          <p:nvGrpSpPr>
            <p:cNvPr id="31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33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3</a:t>
                </a:r>
              </a:p>
            </p:txBody>
          </p:sp>
        </p:grpSp>
        <p:sp>
          <p:nvSpPr>
            <p:cNvPr id="32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095997" y="3591580"/>
            <a:ext cx="2986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∆H= </a:t>
            </a:r>
            <a:r>
              <a:rPr lang="en-US" sz="2800" dirty="0"/>
              <a:t> -340.5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kJ/mol</a:t>
            </a:r>
            <a:r>
              <a:rPr lang="en-US" sz="2800" dirty="0"/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0" y="5029200"/>
            <a:ext cx="1972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∆H= </a:t>
            </a:r>
            <a:r>
              <a:rPr lang="en-US" sz="2800" dirty="0"/>
              <a:t> -</a:t>
            </a:r>
            <a:r>
              <a:rPr lang="en-US" altLang="zh-CN" sz="2800" dirty="0"/>
              <a:t>681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kJ</a:t>
            </a:r>
            <a:r>
              <a:rPr lang="en-US" sz="2800" dirty="0"/>
              <a:t>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80996" y="1447800"/>
            <a:ext cx="4143404" cy="915194"/>
            <a:chOff x="2285190" y="2895600"/>
            <a:chExt cx="3929884" cy="915194"/>
          </a:xfrm>
        </p:grpSpPr>
        <p:cxnSp>
          <p:nvCxnSpPr>
            <p:cNvPr id="37" name="Straight Arrow Connector 36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17129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19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3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反应热的种类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6553200" cy="3886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/>
              <a:t>生成热</a:t>
            </a:r>
            <a:endParaRPr lang="en-US" altLang="zh-CN" sz="3200" dirty="0"/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燃烧热</a:t>
            </a:r>
            <a:endParaRPr lang="en-US" altLang="zh-CN" sz="3200" dirty="0"/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中和热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017129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19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3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生成热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772400" cy="5029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生成热：在恒压下，由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稳定状态的单质</a:t>
            </a:r>
            <a:r>
              <a:rPr lang="zh-CN" altLang="en-US" dirty="0"/>
              <a:t>生成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</a:t>
            </a:r>
            <a:r>
              <a:rPr lang="zh-CN" altLang="en-US" dirty="0"/>
              <a:t>某化合物的反应热。符号：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 err="1"/>
              <a:t>H</a:t>
            </a:r>
            <a:r>
              <a:rPr lang="en-US" altLang="zh-CN" baseline="-25000" dirty="0" err="1">
                <a:latin typeface="Blackadder ITC" pitchFamily="82" charset="0"/>
              </a:rPr>
              <a:t>f</a:t>
            </a:r>
            <a:endParaRPr lang="en-US" altLang="zh-CN" baseline="-25000" dirty="0">
              <a:latin typeface="Blackadder ITC" pitchFamily="82" charset="0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生成热在标准状态下测量，就叫做标准生成热。符号：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/>
              <a:t>H</a:t>
            </a:r>
            <a:r>
              <a:rPr lang="en-US" altLang="zh-CN" baseline="-25000" dirty="0">
                <a:latin typeface="Blackadder ITC" pitchFamily="82" charset="0"/>
              </a:rPr>
              <a:t>f</a:t>
            </a:r>
            <a:r>
              <a:rPr lang="en-US" altLang="zh-CN" baseline="30000" dirty="0">
                <a:latin typeface="Blackadder ITC" pitchFamily="82" charset="0"/>
              </a:rPr>
              <a:t>0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olidFill>
                  <a:srgbClr val="002060"/>
                </a:solidFill>
              </a:rPr>
              <a:t>表</a:t>
            </a:r>
            <a:r>
              <a:rPr lang="en-US" altLang="zh-CN" dirty="0">
                <a:solidFill>
                  <a:srgbClr val="002060"/>
                </a:solidFill>
              </a:rPr>
              <a:t>19-3</a:t>
            </a:r>
            <a:r>
              <a:rPr lang="zh-CN" altLang="en-US" dirty="0"/>
              <a:t>稳定状态的单质：能量较低单质（生成热为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00050" lvl="1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能量越低、越稳定、越常见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olidFill>
                  <a:srgbClr val="002060"/>
                </a:solidFill>
              </a:rPr>
              <a:t>表</a:t>
            </a:r>
            <a:r>
              <a:rPr lang="en-US" altLang="zh-CN" dirty="0">
                <a:solidFill>
                  <a:srgbClr val="002060"/>
                </a:solidFill>
              </a:rPr>
              <a:t>19-4</a:t>
            </a:r>
            <a:r>
              <a:rPr lang="zh-CN" altLang="en-US" dirty="0"/>
              <a:t>生成热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</a:t>
            </a:r>
            <a:r>
              <a:rPr lang="zh-CN" altLang="en-US" dirty="0"/>
              <a:t>为负值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+mn-ea"/>
              </a:rPr>
              <a:t>生成热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越低</a:t>
            </a:r>
            <a:r>
              <a:rPr lang="zh-CN" altLang="en-US" dirty="0">
                <a:latin typeface="+mn-ea"/>
              </a:rPr>
              <a:t>该物质的焓越低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越稳定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5918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51054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石墨</a:t>
            </a:r>
            <a:r>
              <a:rPr lang="en-US" altLang="zh-CN" dirty="0"/>
              <a:t>	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/>
              <a:t>HF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dirty="0"/>
              <a:t>原因：</a:t>
            </a:r>
            <a:r>
              <a:rPr lang="zh-CN" altLang="en-US" dirty="0">
                <a:latin typeface="+mn-ea"/>
              </a:rPr>
              <a:t>生成热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越低</a:t>
            </a:r>
            <a:r>
              <a:rPr lang="zh-CN" altLang="en-US" dirty="0">
                <a:latin typeface="+mn-ea"/>
              </a:rPr>
              <a:t>该物质的焓越低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越稳定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问题解决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29509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3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 生成热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2 </a:t>
            </a:r>
            <a:r>
              <a:rPr lang="zh-CN" altLang="en-US" dirty="0"/>
              <a:t>将</a:t>
            </a:r>
            <a:r>
              <a:rPr lang="en-US" altLang="zh-CN" dirty="0"/>
              <a:t>1g</a:t>
            </a:r>
            <a:r>
              <a:rPr lang="zh-CN" altLang="en-US" dirty="0"/>
              <a:t>钠在足量氯气中充分反应，生成氯化钠晶体并放出</a:t>
            </a:r>
            <a:r>
              <a:rPr lang="en-US" altLang="zh-CN" dirty="0"/>
              <a:t>17.87kJ</a:t>
            </a:r>
            <a:r>
              <a:rPr lang="zh-CN" altLang="en-US" dirty="0"/>
              <a:t>的热量（标准状态下），求氯化钠的标准生成热。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     1g						-17.87kJ</a:t>
            </a:r>
          </a:p>
          <a:p>
            <a:pPr>
              <a:buNone/>
            </a:pPr>
            <a:r>
              <a:rPr lang="en-US" dirty="0"/>
              <a:t>	23g					?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1097200" y="2600980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Na</a:t>
            </a:r>
            <a:r>
              <a:rPr lang="en-US" altLang="zh-CN" sz="2800" baseline="-25000" dirty="0"/>
              <a:t> (s)</a:t>
            </a:r>
            <a:r>
              <a:rPr lang="en-US" altLang="zh-CN" sz="2800" dirty="0"/>
              <a:t> + 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587094" y="2590800"/>
            <a:ext cx="140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Cl</a:t>
            </a:r>
            <a:r>
              <a:rPr lang="en-US" altLang="zh-CN" sz="2800" baseline="-25000" dirty="0"/>
              <a:t>2 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707948" y="260098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NaCl</a:t>
            </a:r>
            <a:r>
              <a:rPr lang="en-US" altLang="zh-CN" sz="2800" baseline="-25000" dirty="0"/>
              <a:t>(s)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grpSp>
        <p:nvGrpSpPr>
          <p:cNvPr id="9" name="Group 3"/>
          <p:cNvGrpSpPr/>
          <p:nvPr/>
        </p:nvGrpSpPr>
        <p:grpSpPr>
          <a:xfrm>
            <a:off x="2164000" y="2514600"/>
            <a:ext cx="685797" cy="735687"/>
            <a:chOff x="2950713" y="1442679"/>
            <a:chExt cx="483072" cy="735687"/>
          </a:xfrm>
        </p:grpSpPr>
        <p:grpSp>
          <p:nvGrpSpPr>
            <p:cNvPr id="10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1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</a:t>
                </a:r>
              </a:p>
            </p:txBody>
          </p:sp>
        </p:grpSp>
        <p:sp>
          <p:nvSpPr>
            <p:cNvPr id="1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092018" y="2524780"/>
            <a:ext cx="170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baseline="30000" dirty="0"/>
              <a:t> o</a:t>
            </a:r>
            <a:r>
              <a:rPr lang="en-US" altLang="zh-CN" sz="2800" dirty="0"/>
              <a:t> = </a:t>
            </a:r>
            <a:r>
              <a:rPr lang="zh-CN" altLang="en-US" sz="2800" dirty="0"/>
              <a:t>？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5562600" y="2514600"/>
            <a:ext cx="3440365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baseline="30000" dirty="0"/>
              <a:t> o</a:t>
            </a:r>
            <a:r>
              <a:rPr lang="en-US" altLang="zh-CN" sz="2800" dirty="0"/>
              <a:t> = -411.01kJ/mol 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15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00" y="838200"/>
            <a:ext cx="7162800" cy="6019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补充练习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已知固态磷酸的生成热为</a:t>
            </a:r>
            <a:r>
              <a:rPr lang="en-US" altLang="zh-CN" dirty="0"/>
              <a:t>-x kJ/mol</a:t>
            </a:r>
            <a:r>
              <a:rPr lang="zh-CN" altLang="en-US" dirty="0"/>
              <a:t>。请写出此热化学方程式。</a:t>
            </a: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已知</a:t>
            </a:r>
            <a:r>
              <a:rPr lang="en-US" altLang="zh-CN" dirty="0"/>
              <a:t>1g</a:t>
            </a:r>
            <a:r>
              <a:rPr lang="zh-CN" altLang="en-US" dirty="0"/>
              <a:t>的铝在氧气完全燃烧放出</a:t>
            </a:r>
            <a:r>
              <a:rPr lang="en-US" altLang="zh-CN" dirty="0" err="1"/>
              <a:t>ykJ</a:t>
            </a:r>
            <a:r>
              <a:rPr lang="zh-CN" altLang="en-US" dirty="0"/>
              <a:t>的能量。求氧化铝的生成热。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     1g						-</a:t>
            </a:r>
            <a:r>
              <a:rPr lang="en-US" altLang="zh-CN" dirty="0" err="1"/>
              <a:t>ykJ</a:t>
            </a:r>
            <a:endParaRPr lang="en-US" altLang="zh-CN" dirty="0"/>
          </a:p>
          <a:p>
            <a:pPr>
              <a:buNone/>
            </a:pPr>
            <a:r>
              <a:rPr lang="en-US" dirty="0"/>
              <a:t>	54g					?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19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3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.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1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n-ea"/>
              </a:rPr>
              <a:t>生成热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00" y="2667000"/>
            <a:ext cx="11860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H</a:t>
            </a:r>
            <a:r>
              <a:rPr lang="en-US" altLang="zh-CN" sz="2800" baseline="-25000" dirty="0"/>
              <a:t>2 (g)</a:t>
            </a:r>
            <a:r>
              <a:rPr lang="en-US" altLang="zh-CN" sz="2800" dirty="0"/>
              <a:t> + 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349506" y="2667000"/>
            <a:ext cx="1005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</a:t>
            </a:r>
            <a:r>
              <a:rPr lang="en-US" altLang="zh-CN" sz="2800" baseline="-25000" dirty="0"/>
              <a:t> (s)</a:t>
            </a:r>
            <a:r>
              <a:rPr lang="en-US" altLang="zh-CN" sz="2800" dirty="0"/>
              <a:t> +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459400" y="2667000"/>
            <a:ext cx="1420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O</a:t>
            </a:r>
            <a:r>
              <a:rPr lang="en-US" altLang="zh-CN" sz="2800" baseline="-25000" dirty="0"/>
              <a:t>2 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595212" y="2667000"/>
            <a:ext cx="1531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PO</a:t>
            </a:r>
            <a:r>
              <a:rPr lang="en-US" altLang="zh-CN" sz="2800" baseline="-25000" dirty="0"/>
              <a:t>4 (s)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grpSp>
        <p:nvGrpSpPr>
          <p:cNvPr id="12" name="Group 3"/>
          <p:cNvGrpSpPr/>
          <p:nvPr/>
        </p:nvGrpSpPr>
        <p:grpSpPr>
          <a:xfrm>
            <a:off x="716200" y="2590800"/>
            <a:ext cx="685797" cy="735687"/>
            <a:chOff x="2950713" y="1442679"/>
            <a:chExt cx="483072" cy="735687"/>
          </a:xfrm>
        </p:grpSpPr>
        <p:grpSp>
          <p:nvGrpSpPr>
            <p:cNvPr id="13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15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3</a:t>
                </a:r>
              </a:p>
            </p:txBody>
          </p:sp>
        </p:grpSp>
        <p:sp>
          <p:nvSpPr>
            <p:cNvPr id="14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162638" y="2667000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 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6500212" y="2667000"/>
            <a:ext cx="2491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dirty="0"/>
              <a:t> = -x kJ/mol  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1097200" y="4734580"/>
            <a:ext cx="1109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Al</a:t>
            </a:r>
            <a:r>
              <a:rPr lang="en-US" altLang="zh-CN" sz="2800" baseline="-25000" dirty="0"/>
              <a:t> (s)</a:t>
            </a:r>
            <a:r>
              <a:rPr lang="en-US" altLang="zh-CN" sz="2800" dirty="0"/>
              <a:t> + 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2587094" y="4724400"/>
            <a:ext cx="1370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O</a:t>
            </a:r>
            <a:r>
              <a:rPr lang="en-US" altLang="zh-CN" sz="2800" baseline="-25000" dirty="0"/>
              <a:t>2 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3707948" y="4734580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-25000" dirty="0"/>
              <a:t>(s)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868600" y="4724400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 </a:t>
            </a:r>
            <a:endParaRPr lang="en-US" sz="2800" dirty="0"/>
          </a:p>
        </p:txBody>
      </p:sp>
      <p:grpSp>
        <p:nvGrpSpPr>
          <p:cNvPr id="34" name="Group 3"/>
          <p:cNvGrpSpPr/>
          <p:nvPr/>
        </p:nvGrpSpPr>
        <p:grpSpPr>
          <a:xfrm>
            <a:off x="2164000" y="4648200"/>
            <a:ext cx="685797" cy="735687"/>
            <a:chOff x="2950713" y="1442679"/>
            <a:chExt cx="483072" cy="735687"/>
          </a:xfrm>
        </p:grpSpPr>
        <p:grpSp>
          <p:nvGrpSpPr>
            <p:cNvPr id="35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3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3</a:t>
                </a:r>
              </a:p>
            </p:txBody>
          </p:sp>
        </p:grpSp>
        <p:sp>
          <p:nvSpPr>
            <p:cNvPr id="3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073412" y="4724400"/>
            <a:ext cx="1527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dirty="0"/>
              <a:t> = </a:t>
            </a:r>
            <a:r>
              <a:rPr lang="zh-CN" altLang="en-US" sz="2800" dirty="0"/>
              <a:t>？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sp>
        <p:nvSpPr>
          <p:cNvPr id="40" name="TextBox 39"/>
          <p:cNvSpPr txBox="1"/>
          <p:nvPr/>
        </p:nvSpPr>
        <p:spPr>
          <a:xfrm>
            <a:off x="5943600" y="4724400"/>
            <a:ext cx="278153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dirty="0"/>
              <a:t> = -54ykJ/mol 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29509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5" grpId="0"/>
      <p:bldP spid="6" grpId="0"/>
      <p:bldP spid="7" grpId="0"/>
      <p:bldP spid="10" grpId="0"/>
      <p:bldP spid="17" grpId="0"/>
      <p:bldP spid="18" grpId="0"/>
      <p:bldP spid="19" grpId="0"/>
      <p:bldP spid="21" grpId="0"/>
      <p:bldP spid="22" grpId="0"/>
      <p:bldP spid="33" grpId="0"/>
      <p:bldP spid="39" grpId="0"/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</a:rPr>
              <a:t>思考题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</a:rPr>
              <a:t>19c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dirty="0"/>
              <a:t>1(1)		 </a:t>
            </a:r>
            <a:r>
              <a:rPr lang="en-US" altLang="zh-CN" dirty="0" err="1"/>
              <a:t>HCl</a:t>
            </a:r>
            <a:r>
              <a:rPr lang="en-US" altLang="zh-CN" dirty="0"/>
              <a:t>		</a:t>
            </a:r>
            <a:r>
              <a:rPr lang="en-US" altLang="zh-CN" dirty="0">
                <a:latin typeface="+mn-ea"/>
              </a:rPr>
              <a:t> ∆</a:t>
            </a:r>
            <a:r>
              <a:rPr lang="en-US" altLang="zh-CN" dirty="0"/>
              <a:t>H</a:t>
            </a:r>
            <a:endParaRPr lang="en-US" altLang="zh-CN" baseline="30000" dirty="0"/>
          </a:p>
          <a:p>
            <a:pPr>
              <a:buNone/>
            </a:pPr>
            <a:r>
              <a:rPr lang="en-US" altLang="zh-CN" baseline="30000" dirty="0"/>
              <a:t>		</a:t>
            </a:r>
            <a:r>
              <a:rPr lang="en-US" altLang="zh-CN" dirty="0"/>
              <a:t> 	2mol		-184.6kJ</a:t>
            </a:r>
          </a:p>
          <a:p>
            <a:pPr marL="514350" indent="-514350">
              <a:buNone/>
            </a:pPr>
            <a:r>
              <a:rPr lang="en-US" altLang="zh-CN" dirty="0"/>
              <a:t>			1mol		   x</a:t>
            </a:r>
          </a:p>
          <a:p>
            <a:pPr marL="514350" indent="-514350">
              <a:buNone/>
            </a:pPr>
            <a:r>
              <a:rPr lang="en-US" altLang="zh-CN" dirty="0"/>
              <a:t> (2)1m</a:t>
            </a:r>
            <a:r>
              <a:rPr lang="en-US" altLang="zh-CN" baseline="30000" dirty="0"/>
              <a:t>3</a:t>
            </a:r>
            <a:r>
              <a:rPr lang="en-US" altLang="zh-CN" dirty="0"/>
              <a:t>= 1000 L </a:t>
            </a:r>
          </a:p>
          <a:p>
            <a:pPr>
              <a:buNone/>
            </a:pPr>
            <a:r>
              <a:rPr lang="en-US" altLang="zh-CN" dirty="0"/>
              <a:t>			Cl</a:t>
            </a:r>
            <a:r>
              <a:rPr lang="en-US" altLang="zh-CN" baseline="-25000" dirty="0"/>
              <a:t>2</a:t>
            </a:r>
            <a:r>
              <a:rPr lang="en-US" altLang="zh-CN" dirty="0"/>
              <a:t>		</a:t>
            </a:r>
            <a:r>
              <a:rPr lang="en-US" altLang="zh-CN" dirty="0">
                <a:latin typeface="+mn-ea"/>
              </a:rPr>
              <a:t> ∆</a:t>
            </a:r>
            <a:r>
              <a:rPr lang="en-US" altLang="zh-CN" dirty="0"/>
              <a:t>H</a:t>
            </a:r>
            <a:endParaRPr lang="en-US" altLang="zh-CN" baseline="30000" dirty="0"/>
          </a:p>
          <a:p>
            <a:pPr>
              <a:buNone/>
            </a:pPr>
            <a:r>
              <a:rPr lang="en-US" altLang="zh-CN" dirty="0"/>
              <a:t>(1mol)	22.4L 	-184.6kJ</a:t>
            </a:r>
          </a:p>
          <a:p>
            <a:pPr marL="514350" indent="-514350">
              <a:buNone/>
            </a:pPr>
            <a:r>
              <a:rPr lang="en-US" altLang="zh-CN" dirty="0"/>
              <a:t>(10m</a:t>
            </a:r>
            <a:r>
              <a:rPr lang="en-US" altLang="zh-CN" baseline="30000" dirty="0"/>
              <a:t>3</a:t>
            </a:r>
            <a:r>
              <a:rPr lang="en-US" altLang="zh-CN" dirty="0"/>
              <a:t> )	10000L	    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00200"/>
            <a:ext cx="2991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 = -92.3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kJ/mol </a:t>
            </a:r>
            <a:r>
              <a:rPr lang="en-US" altLang="zh-CN" sz="2800" dirty="0"/>
              <a:t> 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0" y="4953000"/>
            <a:ext cx="2840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 = -82410.71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kJ</a:t>
            </a:r>
            <a:r>
              <a:rPr lang="en-US" altLang="zh-CN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3820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dirty="0"/>
              <a:t>2. 	S</a:t>
            </a:r>
            <a:r>
              <a:rPr lang="en-US" altLang="zh-CN" baseline="-25000" dirty="0"/>
              <a:t>(s)</a:t>
            </a:r>
            <a:r>
              <a:rPr lang="en-US" altLang="zh-CN" dirty="0"/>
              <a:t> +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baseline="-25000" dirty="0"/>
              <a:t>(g)</a:t>
            </a:r>
            <a:r>
              <a:rPr lang="en-US" altLang="zh-CN" dirty="0">
                <a:sym typeface="Wingdings" pitchFamily="2" charset="2"/>
              </a:rPr>
              <a:t> SO</a:t>
            </a:r>
            <a:r>
              <a:rPr lang="en-US" altLang="zh-CN" baseline="-25000" dirty="0">
                <a:sym typeface="Wingdings" pitchFamily="2" charset="2"/>
              </a:rPr>
              <a:t>2(g)</a:t>
            </a:r>
            <a:r>
              <a:rPr lang="en-US" altLang="zh-CN" dirty="0">
                <a:sym typeface="Wingdings" pitchFamily="2" charset="2"/>
              </a:rPr>
              <a:t> 		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f</a:t>
            </a:r>
            <a:r>
              <a:rPr lang="en-US" altLang="zh-CN" baseline="30000" dirty="0"/>
              <a:t> o</a:t>
            </a:r>
            <a:r>
              <a:rPr lang="en-US" altLang="zh-CN" dirty="0"/>
              <a:t> = </a:t>
            </a:r>
            <a:r>
              <a:rPr lang="zh-CN" altLang="en-US" dirty="0"/>
              <a:t>？</a:t>
            </a:r>
            <a:r>
              <a:rPr lang="en-US" altLang="zh-CN" dirty="0"/>
              <a:t>  </a:t>
            </a:r>
            <a:endParaRPr lang="en-US" dirty="0"/>
          </a:p>
          <a:p>
            <a:pPr>
              <a:buNone/>
            </a:pPr>
            <a:r>
              <a:rPr lang="en-US" altLang="zh-CN" dirty="0"/>
              <a:t>		1g					-9.275kJ</a:t>
            </a:r>
          </a:p>
          <a:p>
            <a:pPr>
              <a:buNone/>
            </a:pPr>
            <a:r>
              <a:rPr lang="en-US" dirty="0"/>
              <a:t>		32g					?</a:t>
            </a:r>
          </a:p>
          <a:p>
            <a:pPr>
              <a:buNone/>
            </a:pP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5409941" y="990600"/>
            <a:ext cx="325762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 err="1"/>
              <a:t>H</a:t>
            </a:r>
            <a:r>
              <a:rPr lang="en-US" altLang="zh-CN" sz="2800" baseline="-25000" dirty="0" err="1"/>
              <a:t>f</a:t>
            </a:r>
            <a:r>
              <a:rPr lang="en-US" altLang="zh-CN" sz="2800" baseline="30000" dirty="0"/>
              <a:t> o</a:t>
            </a:r>
            <a:r>
              <a:rPr lang="en-US" altLang="zh-CN" sz="2800" dirty="0"/>
              <a:t> = -296.8kJ/mol  </a:t>
            </a:r>
            <a:endParaRPr lang="en-US" sz="2800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思考题</a:t>
            </a:r>
            <a:r>
              <a:rPr lang="en-US" altLang="zh-CN" sz="44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19c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19.3.2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燃烧热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燃烧热：在一定温度和压强下，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</a:t>
            </a:r>
            <a:r>
              <a:rPr lang="zh-CN" altLang="en-US" dirty="0"/>
              <a:t>物质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完全燃烧</a:t>
            </a:r>
            <a:r>
              <a:rPr lang="zh-CN" altLang="en-US" dirty="0"/>
              <a:t>的反应热。符号 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c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Blackadder ITC" pitchFamily="82" charset="0"/>
              </a:rPr>
              <a:t> 燃烧热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itchFamily="82" charset="0"/>
              </a:rPr>
              <a:t>必为负值</a:t>
            </a:r>
            <a:r>
              <a:rPr lang="zh-CN" altLang="en-US" dirty="0">
                <a:latin typeface="Blackadder ITC" pitchFamily="82" charset="0"/>
              </a:rPr>
              <a:t>。</a:t>
            </a:r>
            <a:endParaRPr lang="en-US" altLang="zh-CN" dirty="0">
              <a:latin typeface="Blackadder ITC" pitchFamily="82" charset="0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Blackadder ITC" pitchFamily="82" charset="0"/>
              </a:rPr>
              <a:t>在标准状态下进行燃烧反应，就叫做标准燃烧热。</a:t>
            </a:r>
            <a:r>
              <a:rPr lang="zh-CN" altLang="en-US" dirty="0"/>
              <a:t>符号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 </a:t>
            </a:r>
            <a:r>
              <a:rPr lang="en-US" altLang="zh-CN" baseline="30000" dirty="0"/>
              <a:t>o</a:t>
            </a:r>
            <a:r>
              <a:rPr lang="en-US" altLang="zh-CN" dirty="0">
                <a:latin typeface="Blackadder ITC" pitchFamily="82" charset="0"/>
              </a:rPr>
              <a:t> </a:t>
            </a:r>
            <a:r>
              <a:rPr lang="zh-CN" altLang="en-US" dirty="0">
                <a:latin typeface="Blackadder ITC" pitchFamily="82" charset="0"/>
              </a:rPr>
              <a:t>。</a:t>
            </a:r>
            <a:endParaRPr lang="en-US" altLang="zh-CN" dirty="0">
              <a:latin typeface="Blackadder ITC" pitchFamily="82" charset="0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Blackadder ITC" pitchFamily="82" charset="0"/>
              </a:rPr>
              <a:t>一般燃烧热都是指生成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itchFamily="82" charset="0"/>
              </a:rPr>
              <a:t>最稳定氧化物</a:t>
            </a:r>
            <a:r>
              <a:rPr lang="zh-CN" altLang="en-US" dirty="0">
                <a:latin typeface="Blackadder ITC" pitchFamily="82" charset="0"/>
              </a:rPr>
              <a:t>的反应热。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Blackadder ITC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Blackadder ITC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87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交流分享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1. </a:t>
            </a:r>
            <a:r>
              <a:rPr lang="zh-CN" altLang="en-US" sz="2800" dirty="0">
                <a:latin typeface="+mn-ea"/>
              </a:rPr>
              <a:t>设：它们的质量为</a:t>
            </a:r>
            <a:r>
              <a:rPr lang="en-US" altLang="zh-CN" sz="2800" dirty="0">
                <a:latin typeface="+mn-ea"/>
              </a:rPr>
              <a:t>1g</a:t>
            </a: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甲烷：</a:t>
            </a:r>
            <a:r>
              <a:rPr lang="en-US" altLang="zh-CN" sz="2800" dirty="0">
                <a:latin typeface="+mn-ea"/>
              </a:rPr>
              <a:t>-890.3kJ/mol ÷ 16g/mol = -55.64kJ/g</a:t>
            </a: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氢气：</a:t>
            </a:r>
            <a:r>
              <a:rPr lang="en-US" altLang="zh-CN" sz="2800" dirty="0">
                <a:latin typeface="+mn-ea"/>
              </a:rPr>
              <a:t>-285.8kJ/mol ÷ 2g/mol = -142.9kJ/g</a:t>
            </a: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氢气完全燃烧释放的热量较大。</a:t>
            </a: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>
                <a:latin typeface="+mn-ea"/>
              </a:rPr>
              <a:t>2.(1) </a:t>
            </a:r>
            <a:r>
              <a:rPr lang="zh-CN" altLang="en-US" sz="2800" dirty="0">
                <a:latin typeface="+mn-ea"/>
              </a:rPr>
              <a:t>氢气无毒、极易燃烧、产物是水</a:t>
            </a:r>
            <a:r>
              <a:rPr lang="zh-CN" altLang="en-US" sz="2800" dirty="0">
                <a:latin typeface="Blackadder ITC" pitchFamily="82" charset="0"/>
              </a:rPr>
              <a:t>对环境无污染；又可由水制得氢气，氢气具有可再生性</a:t>
            </a:r>
            <a:endParaRPr lang="en-US" altLang="zh-CN" sz="2800" dirty="0">
              <a:latin typeface="Blackadder ITC" pitchFamily="82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+mn-ea"/>
              </a:rPr>
              <a:t>(2)</a:t>
            </a:r>
            <a:r>
              <a:rPr lang="zh-CN" altLang="en-US" sz="2800" dirty="0">
                <a:latin typeface="+mn-ea"/>
              </a:rPr>
              <a:t>清洁、热值高等优点。</a:t>
            </a: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>
                <a:latin typeface="+mn-ea"/>
              </a:rPr>
              <a:t>(3)</a:t>
            </a:r>
            <a:r>
              <a:rPr lang="zh-CN" altLang="en-US" sz="2800" dirty="0">
                <a:latin typeface="+mn-ea"/>
              </a:rPr>
              <a:t>降低制取氢气的成本、能安全大量的存储氢气。</a:t>
            </a: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7687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19.3.2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 燃烧热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例</a:t>
            </a:r>
            <a:r>
              <a:rPr lang="en-US" altLang="zh-CN" sz="3000" dirty="0"/>
              <a:t>3</a:t>
            </a:r>
            <a:r>
              <a:rPr lang="zh-CN" altLang="en-US" sz="3000" dirty="0"/>
              <a:t>酒精的标准燃烧热。</a:t>
            </a:r>
            <a:r>
              <a:rPr lang="en-US" altLang="zh-CN" sz="3000" dirty="0">
                <a:latin typeface="+mn-ea"/>
              </a:rPr>
              <a:t>∆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C</a:t>
            </a:r>
            <a:r>
              <a:rPr lang="en-US" altLang="zh-CN" sz="3000" baseline="30000" dirty="0"/>
              <a:t> o</a:t>
            </a:r>
            <a:r>
              <a:rPr lang="en-US" altLang="zh-CN" sz="3000" dirty="0"/>
              <a:t> =-1366.8kJ/mol</a:t>
            </a:r>
            <a:r>
              <a:rPr lang="zh-CN" altLang="en-US" sz="3000" dirty="0"/>
              <a:t>。在标准状态下，</a:t>
            </a:r>
            <a:r>
              <a:rPr lang="en-US" altLang="zh-CN" sz="3000" dirty="0"/>
              <a:t>1kg</a:t>
            </a:r>
            <a:r>
              <a:rPr lang="zh-CN" altLang="en-US" sz="3000" dirty="0"/>
              <a:t>酒精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OH</a:t>
            </a:r>
            <a:r>
              <a:rPr lang="zh-CN" altLang="en-US" sz="3000" dirty="0"/>
              <a:t>充分燃烧后能放出多少热量？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M(C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OH)= (12x2+ 5+16+1)g/mol</a:t>
            </a:r>
          </a:p>
          <a:p>
            <a:pPr marL="514350" indent="-514350">
              <a:buNone/>
            </a:pPr>
            <a:r>
              <a:rPr lang="en-US" altLang="zh-CN" sz="3000" dirty="0"/>
              <a:t>			      = 46g/mol</a:t>
            </a:r>
          </a:p>
          <a:p>
            <a:pPr marL="0" indent="0">
              <a:buNone/>
            </a:pPr>
            <a:r>
              <a:rPr lang="en-US" altLang="zh-CN" sz="3000" dirty="0"/>
              <a:t>	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OH     		</a:t>
            </a:r>
            <a:r>
              <a:rPr lang="zh-CN" altLang="en-US" sz="3000" dirty="0"/>
              <a:t>热量</a:t>
            </a:r>
            <a:r>
              <a:rPr lang="en-US" altLang="zh-CN" sz="3000" dirty="0"/>
              <a:t>Q</a:t>
            </a:r>
          </a:p>
          <a:p>
            <a:pPr marL="0" indent="0">
              <a:buNone/>
            </a:pPr>
            <a:r>
              <a:rPr lang="en-US" altLang="zh-CN" sz="3000" dirty="0"/>
              <a:t>	46g			1366.8kJ</a:t>
            </a:r>
          </a:p>
          <a:p>
            <a:pPr>
              <a:buNone/>
            </a:pPr>
            <a:r>
              <a:rPr lang="en-US" sz="3000" dirty="0"/>
              <a:t>		</a:t>
            </a:r>
            <a:r>
              <a:rPr lang="en-US" altLang="zh-CN" sz="3000" dirty="0"/>
              <a:t>1000</a:t>
            </a:r>
            <a:r>
              <a:rPr lang="en-US" sz="3000" dirty="0"/>
              <a:t>g			   </a:t>
            </a:r>
            <a:r>
              <a:rPr lang="en-US" altLang="zh-CN" sz="3000" dirty="0"/>
              <a:t>x</a:t>
            </a:r>
          </a:p>
          <a:p>
            <a:pPr>
              <a:buNone/>
            </a:pPr>
            <a:r>
              <a:rPr lang="en-US" altLang="zh-CN" sz="3000" dirty="0"/>
              <a:t>			x= 29714.23kJ</a:t>
            </a:r>
          </a:p>
          <a:p>
            <a:pPr>
              <a:buNone/>
            </a:pPr>
            <a:r>
              <a:rPr lang="zh-CN" altLang="en-US" sz="3000" dirty="0"/>
              <a:t>答</a:t>
            </a:r>
            <a:r>
              <a:rPr lang="en-US" altLang="zh-CN" sz="3000" dirty="0"/>
              <a:t>:1kg</a:t>
            </a:r>
            <a:r>
              <a:rPr lang="zh-CN" altLang="en-US" sz="3000" dirty="0"/>
              <a:t>酒精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OH</a:t>
            </a:r>
            <a:r>
              <a:rPr lang="zh-CN" altLang="en-US" sz="3000" dirty="0"/>
              <a:t>充分燃烧后能放出</a:t>
            </a:r>
            <a:r>
              <a:rPr lang="en-US" altLang="zh-CN" sz="3000" dirty="0"/>
              <a:t>2.97x10</a:t>
            </a:r>
            <a:r>
              <a:rPr lang="en-US" altLang="zh-CN" sz="3000" baseline="30000" dirty="0"/>
              <a:t>4</a:t>
            </a:r>
            <a:r>
              <a:rPr lang="en-US" altLang="zh-CN" sz="3000" dirty="0"/>
              <a:t> kJ</a:t>
            </a:r>
            <a:r>
              <a:rPr lang="zh-CN" altLang="en-US" sz="3000" dirty="0"/>
              <a:t>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根据下列数据分别求出镁、铝、硫的燃烧热。并写出它们的热化学方程式。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(a)1g Mg</a:t>
            </a:r>
            <a:r>
              <a:rPr lang="zh-CN" altLang="en-US" dirty="0"/>
              <a:t>完全燃烧，放出</a:t>
            </a:r>
            <a:r>
              <a:rPr lang="en-US" altLang="zh-CN" dirty="0"/>
              <a:t>25.1kJ</a:t>
            </a:r>
            <a:r>
              <a:rPr lang="zh-CN" altLang="en-US" dirty="0"/>
              <a:t>的热量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(b) 3g Al</a:t>
            </a:r>
            <a:r>
              <a:rPr lang="zh-CN" altLang="en-US" dirty="0"/>
              <a:t>完全燃烧，放出</a:t>
            </a:r>
            <a:r>
              <a:rPr lang="en-US" altLang="zh-CN" dirty="0"/>
              <a:t>89.54kJ</a:t>
            </a:r>
            <a:r>
              <a:rPr lang="zh-CN" altLang="en-US" dirty="0"/>
              <a:t>的热量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(c) 64g S</a:t>
            </a:r>
            <a:r>
              <a:rPr lang="zh-CN" altLang="en-US" dirty="0"/>
              <a:t>完全燃烧，放出</a:t>
            </a:r>
            <a:r>
              <a:rPr lang="en-US" altLang="zh-CN" dirty="0"/>
              <a:t>594.13kJ</a:t>
            </a:r>
            <a:r>
              <a:rPr lang="zh-CN" altLang="en-US" dirty="0"/>
              <a:t>的热量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旧课本</a:t>
            </a:r>
            <a:r>
              <a:rPr kumimoji="0" lang="zh-CN" alt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练习</a:t>
            </a:r>
            <a:r>
              <a:rPr kumimoji="0" lang="en-US" altLang="zh-CN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17a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5844690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dirty="0"/>
              <a:t>4a   Mg</a:t>
            </a:r>
            <a:r>
              <a:rPr lang="en-US" altLang="zh-CN" baseline="-25000" dirty="0"/>
              <a:t>(s)</a:t>
            </a:r>
            <a:r>
              <a:rPr lang="en-US" altLang="zh-CN" dirty="0"/>
              <a:t>  +     O</a:t>
            </a:r>
            <a:r>
              <a:rPr lang="en-US" altLang="zh-CN" baseline="-25000" dirty="0"/>
              <a:t>2(g)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en-US" altLang="zh-CN" dirty="0" err="1">
                <a:sym typeface="Wingdings" pitchFamily="2" charset="2"/>
              </a:rPr>
              <a:t>MgO</a:t>
            </a:r>
            <a:r>
              <a:rPr lang="en-US" altLang="zh-CN" baseline="-25000" dirty="0">
                <a:sym typeface="Wingdings" pitchFamily="2" charset="2"/>
              </a:rPr>
              <a:t>(s)</a:t>
            </a:r>
            <a:r>
              <a:rPr lang="en-US" altLang="zh-CN" dirty="0">
                <a:sym typeface="Wingdings" pitchFamily="2" charset="2"/>
              </a:rPr>
              <a:t> 	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/>
              <a:t>H</a:t>
            </a:r>
            <a:r>
              <a:rPr lang="en-US" altLang="zh-CN" baseline="-25000" dirty="0"/>
              <a:t>C</a:t>
            </a:r>
            <a:r>
              <a:rPr lang="en-US" altLang="zh-CN" baseline="30000" dirty="0"/>
              <a:t> </a:t>
            </a:r>
            <a:r>
              <a:rPr lang="en-US" altLang="zh-CN" dirty="0"/>
              <a:t> = </a:t>
            </a:r>
            <a:r>
              <a:rPr lang="zh-CN" altLang="en-US" dirty="0"/>
              <a:t>？</a:t>
            </a:r>
            <a:r>
              <a:rPr lang="en-US" altLang="zh-CN" dirty="0"/>
              <a:t>  </a:t>
            </a:r>
            <a:endParaRPr lang="en-US" dirty="0"/>
          </a:p>
          <a:p>
            <a:pPr>
              <a:buNone/>
            </a:pPr>
            <a:r>
              <a:rPr lang="en-US" altLang="zh-CN" dirty="0"/>
              <a:t>		1g					-25.1kJ</a:t>
            </a:r>
          </a:p>
          <a:p>
            <a:pPr>
              <a:buNone/>
            </a:pPr>
            <a:r>
              <a:rPr lang="en-US" dirty="0"/>
              <a:t>		24g					?</a:t>
            </a:r>
          </a:p>
          <a:p>
            <a:pPr>
              <a:buNone/>
            </a:pPr>
            <a:r>
              <a:rPr lang="en-US" altLang="zh-CN" dirty="0"/>
              <a:t>b </a:t>
            </a:r>
          </a:p>
          <a:p>
            <a:pPr>
              <a:buNone/>
            </a:pPr>
            <a:r>
              <a:rPr lang="en-US" altLang="zh-CN" dirty="0"/>
              <a:t>	     	3g					-89.54kJ</a:t>
            </a:r>
          </a:p>
          <a:p>
            <a:pPr>
              <a:buNone/>
            </a:pPr>
            <a:r>
              <a:rPr lang="en-US" altLang="zh-CN" dirty="0"/>
              <a:t>		27g					 ?</a:t>
            </a:r>
          </a:p>
          <a:p>
            <a:pPr>
              <a:buNone/>
            </a:pPr>
            <a:r>
              <a:rPr lang="en-US" altLang="zh-CN" dirty="0"/>
              <a:t>c 		S</a:t>
            </a:r>
            <a:r>
              <a:rPr lang="en-US" altLang="zh-CN" baseline="-25000" dirty="0"/>
              <a:t>(s)</a:t>
            </a:r>
            <a:r>
              <a:rPr lang="en-US" altLang="zh-CN" dirty="0"/>
              <a:t> +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baseline="-25000" dirty="0"/>
              <a:t>(g)</a:t>
            </a:r>
            <a:r>
              <a:rPr lang="en-US" altLang="zh-CN" dirty="0">
                <a:sym typeface="Wingdings" pitchFamily="2" charset="2"/>
              </a:rPr>
              <a:t> SO</a:t>
            </a:r>
            <a:r>
              <a:rPr lang="en-US" altLang="zh-CN" baseline="-25000" dirty="0">
                <a:sym typeface="Wingdings" pitchFamily="2" charset="2"/>
              </a:rPr>
              <a:t>2(g)</a:t>
            </a:r>
            <a:r>
              <a:rPr lang="en-US" altLang="zh-CN" dirty="0">
                <a:sym typeface="Wingdings" pitchFamily="2" charset="2"/>
              </a:rPr>
              <a:t> 		</a:t>
            </a:r>
            <a:r>
              <a:rPr lang="en-US" altLang="zh-CN" dirty="0">
                <a:latin typeface="+mn-ea"/>
              </a:rPr>
              <a:t>∆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c</a:t>
            </a:r>
            <a:r>
              <a:rPr lang="en-US" altLang="zh-CN" dirty="0"/>
              <a:t> = </a:t>
            </a:r>
            <a:r>
              <a:rPr lang="zh-CN" altLang="en-US" dirty="0"/>
              <a:t>？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	64g					-594.13kJ</a:t>
            </a:r>
          </a:p>
          <a:p>
            <a:pPr>
              <a:buNone/>
            </a:pPr>
            <a:r>
              <a:rPr lang="en-US" altLang="zh-CN" dirty="0"/>
              <a:t>		32g					</a:t>
            </a:r>
            <a:r>
              <a:rPr lang="zh-CN" altLang="en-US" dirty="0"/>
              <a:t>？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5632015" y="1000780"/>
            <a:ext cx="313098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= -602.4kJ/mol  </a:t>
            </a:r>
            <a:endParaRPr lang="en-US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2514603" y="864513"/>
            <a:ext cx="685797" cy="735687"/>
            <a:chOff x="2950713" y="1442679"/>
            <a:chExt cx="483072" cy="735687"/>
          </a:xfrm>
        </p:grpSpPr>
        <p:grpSp>
          <p:nvGrpSpPr>
            <p:cNvPr id="5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10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</a:t>
                </a:r>
              </a:p>
            </p:txBody>
          </p:sp>
        </p:grpSp>
        <p:sp>
          <p:nvSpPr>
            <p:cNvPr id="9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447800" y="2753380"/>
            <a:ext cx="1109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Al</a:t>
            </a:r>
            <a:r>
              <a:rPr lang="en-US" altLang="zh-CN" sz="2800" baseline="-25000" dirty="0"/>
              <a:t> (s)</a:t>
            </a:r>
            <a:r>
              <a:rPr lang="en-US" altLang="zh-CN" sz="2800" dirty="0"/>
              <a:t> + 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937694" y="2743200"/>
            <a:ext cx="1370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O</a:t>
            </a:r>
            <a:r>
              <a:rPr lang="en-US" altLang="zh-CN" sz="2800" baseline="-25000" dirty="0"/>
              <a:t>2 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330773" y="2753380"/>
            <a:ext cx="1765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    Al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-25000" dirty="0"/>
              <a:t>(s)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grpSp>
        <p:nvGrpSpPr>
          <p:cNvPr id="6" name="Group 3"/>
          <p:cNvGrpSpPr/>
          <p:nvPr/>
        </p:nvGrpSpPr>
        <p:grpSpPr>
          <a:xfrm>
            <a:off x="2514600" y="2667000"/>
            <a:ext cx="685797" cy="735687"/>
            <a:chOff x="2950713" y="1442679"/>
            <a:chExt cx="483072" cy="735687"/>
          </a:xfrm>
        </p:grpSpPr>
        <p:grpSp>
          <p:nvGrpSpPr>
            <p:cNvPr id="7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2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3</a:t>
                </a:r>
              </a:p>
            </p:txBody>
          </p:sp>
        </p:grpSp>
        <p:sp>
          <p:nvSpPr>
            <p:cNvPr id="2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172200" y="2743200"/>
            <a:ext cx="1582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= </a:t>
            </a:r>
            <a:r>
              <a:rPr lang="zh-CN" altLang="en-US" sz="2800" dirty="0"/>
              <a:t>？</a:t>
            </a:r>
            <a:r>
              <a:rPr lang="en-US" altLang="zh-CN" sz="2800" dirty="0"/>
              <a:t>  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5830272" y="2819400"/>
            <a:ext cx="331372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= -805.86kJ/mol  </a:t>
            </a:r>
            <a:endParaRPr lang="en-US" sz="2800" dirty="0"/>
          </a:p>
        </p:txBody>
      </p:sp>
      <p:grpSp>
        <p:nvGrpSpPr>
          <p:cNvPr id="8" name="Group 3"/>
          <p:cNvGrpSpPr/>
          <p:nvPr/>
        </p:nvGrpSpPr>
        <p:grpSpPr>
          <a:xfrm>
            <a:off x="4191003" y="2667000"/>
            <a:ext cx="685797" cy="735687"/>
            <a:chOff x="2950713" y="1442679"/>
            <a:chExt cx="483072" cy="735687"/>
          </a:xfrm>
        </p:grpSpPr>
        <p:grpSp>
          <p:nvGrpSpPr>
            <p:cNvPr id="16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34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</a:t>
                </a:r>
              </a:p>
            </p:txBody>
          </p:sp>
        </p:grpSp>
        <p:sp>
          <p:nvSpPr>
            <p:cNvPr id="33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867400" y="4429780"/>
            <a:ext cx="331372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= -297.07kJ/mol  </a:t>
            </a:r>
            <a:endParaRPr lang="en-US" sz="280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旧课本</a:t>
            </a:r>
            <a:r>
              <a:rPr kumimoji="0" lang="zh-CN" alt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练习</a:t>
            </a:r>
            <a:r>
              <a:rPr kumimoji="0" lang="en-US" altLang="zh-CN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17a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  <p:bldP spid="12" grpId="0"/>
      <p:bldP spid="13" grpId="0"/>
      <p:bldP spid="15" grpId="0"/>
      <p:bldP spid="24" grpId="0"/>
      <p:bldP spid="2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思考题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19d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7772400" cy="5181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D</a:t>
            </a:r>
          </a:p>
          <a:p>
            <a:pPr marL="514350" indent="-514350">
              <a:buAutoNum type="arabicPeriod"/>
            </a:pPr>
            <a:r>
              <a:rPr lang="en-US" sz="2800" dirty="0"/>
              <a:t> </a:t>
            </a:r>
            <a:r>
              <a:rPr lang="en-US" altLang="zh-CN" sz="2800" dirty="0"/>
              <a:t>	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    		</a:t>
            </a:r>
            <a:r>
              <a:rPr lang="zh-CN" altLang="en-US" sz="2800" dirty="0"/>
              <a:t>热量</a:t>
            </a:r>
            <a:r>
              <a:rPr lang="en-US" altLang="zh-CN" sz="2800" dirty="0"/>
              <a:t>Q</a:t>
            </a:r>
          </a:p>
          <a:p>
            <a:pPr marL="0" indent="0">
              <a:buNone/>
            </a:pPr>
            <a:r>
              <a:rPr lang="en-US" altLang="zh-CN" sz="2800" dirty="0"/>
              <a:t>	52g			2599.2kJ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altLang="zh-CN" sz="2800" dirty="0"/>
              <a:t>1000</a:t>
            </a:r>
            <a:r>
              <a:rPr lang="en-US" sz="2800" dirty="0"/>
              <a:t>g			</a:t>
            </a:r>
            <a:r>
              <a:rPr lang="en-US" altLang="zh-CN" sz="2800" dirty="0"/>
              <a:t>x</a:t>
            </a:r>
          </a:p>
          <a:p>
            <a:pPr>
              <a:buNone/>
            </a:pPr>
            <a:r>
              <a:rPr lang="en-US" altLang="zh-CN" sz="2800" dirty="0"/>
              <a:t>			x= 49984.62kJ</a:t>
            </a:r>
          </a:p>
          <a:p>
            <a:pPr>
              <a:buNone/>
            </a:pPr>
            <a:r>
              <a:rPr lang="en-US" altLang="zh-CN" sz="2800" dirty="0"/>
              <a:t>1kgC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完全燃烧后能放出</a:t>
            </a:r>
            <a:r>
              <a:rPr lang="en-US" altLang="zh-CN" sz="2800" dirty="0"/>
              <a:t>49984.62 kJ</a:t>
            </a:r>
          </a:p>
          <a:p>
            <a:pPr>
              <a:buNone/>
            </a:pPr>
            <a:r>
              <a:rPr lang="en-US" altLang="zh-CN" sz="2800" dirty="0"/>
              <a:t>(b) </a:t>
            </a:r>
            <a:r>
              <a:rPr lang="zh-CN" altLang="en-US" sz="2800" dirty="0"/>
              <a:t>欲将</a:t>
            </a:r>
            <a:r>
              <a:rPr lang="en-US" altLang="zh-CN" sz="2800" dirty="0"/>
              <a:t>100g</a:t>
            </a:r>
            <a:r>
              <a:rPr lang="zh-CN" altLang="en-US" sz="2800" dirty="0"/>
              <a:t>的水从</a:t>
            </a:r>
            <a:r>
              <a:rPr lang="en-US" altLang="zh-CN" sz="2800" dirty="0"/>
              <a:t>20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</a:t>
            </a:r>
            <a:r>
              <a:rPr lang="zh-CN" altLang="en-US" sz="2800" dirty="0"/>
              <a:t>加热至</a:t>
            </a:r>
            <a:r>
              <a:rPr lang="en-US" altLang="zh-CN" sz="2800" dirty="0"/>
              <a:t>80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</a:t>
            </a:r>
            <a:r>
              <a:rPr lang="zh-CN" altLang="en-US" sz="2800" dirty="0"/>
              <a:t>需燃烧多少克乙炔？已知 </a:t>
            </a:r>
            <a:r>
              <a:rPr lang="en-US" altLang="zh-CN" sz="2800" dirty="0"/>
              <a:t>c</a:t>
            </a:r>
            <a:r>
              <a:rPr lang="zh-CN" altLang="en-US" sz="2800" baseline="-25000" dirty="0"/>
              <a:t>水</a:t>
            </a:r>
            <a:r>
              <a:rPr lang="zh-CN" altLang="en-US" sz="2800" dirty="0"/>
              <a:t> </a:t>
            </a:r>
            <a:r>
              <a:rPr lang="en-US" altLang="zh-CN" sz="2800" dirty="0"/>
              <a:t>= 4200J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kg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K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altLang="zh-CN" sz="2800" dirty="0"/>
              <a:t>	Q= 0.1 kg x 4200J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kg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K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x 60K </a:t>
            </a:r>
          </a:p>
          <a:p>
            <a:pPr>
              <a:buNone/>
            </a:pPr>
            <a:r>
              <a:rPr lang="en-US" altLang="zh-CN" sz="2800" dirty="0"/>
              <a:t>	   = 25200J = 25.2kJ </a:t>
            </a:r>
          </a:p>
          <a:p>
            <a:pPr>
              <a:buNone/>
            </a:pPr>
            <a:r>
              <a:rPr lang="en-US" altLang="zh-CN" sz="2800" dirty="0"/>
              <a:t>	</a:t>
            </a:r>
          </a:p>
          <a:p>
            <a:pPr marL="514350" indent="-514350">
              <a:buNone/>
            </a:pPr>
            <a:endParaRPr lang="en-US" sz="2800" dirty="0"/>
          </a:p>
          <a:p>
            <a:pPr marL="514350" indent="-514350">
              <a:buAutoNum type="arabicPeriod"/>
            </a:pP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447800" y="2438400"/>
            <a:ext cx="4724400" cy="104644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dirty="0" err="1"/>
              <a:t>xg</a:t>
            </a:r>
            <a:r>
              <a:rPr lang="en-US" sz="3200" dirty="0"/>
              <a:t>			25.2kJ</a:t>
            </a:r>
          </a:p>
          <a:p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2362200" y="2920425"/>
            <a:ext cx="1828800" cy="5847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x= 0.504g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19.3.3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中和热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49530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中和反应的实质是酸电离出的</a:t>
            </a:r>
            <a:r>
              <a:rPr lang="en-US" altLang="zh-CN" dirty="0"/>
              <a:t>H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和碱电离出的</a:t>
            </a:r>
            <a:r>
              <a:rPr lang="en-US" altLang="zh-CN" dirty="0"/>
              <a:t>OH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结合生成了水。</a:t>
            </a:r>
            <a:endParaRPr lang="en-US" altLang="zh-CN" dirty="0"/>
          </a:p>
          <a:p>
            <a:pPr>
              <a:spcBef>
                <a:spcPts val="1200"/>
              </a:spcBef>
              <a:buNone/>
            </a:pPr>
            <a:r>
              <a:rPr lang="en-US" altLang="zh-CN" dirty="0"/>
              <a:t>		H</a:t>
            </a:r>
            <a:r>
              <a:rPr lang="en-US" altLang="zh-CN" baseline="30000" dirty="0"/>
              <a:t>+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+ OH</a:t>
            </a:r>
            <a:r>
              <a:rPr lang="en-US" altLang="zh-CN" baseline="30000" dirty="0"/>
              <a:t>-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dirty="0">
                <a:sym typeface="Wingdings" pitchFamily="2" charset="2"/>
              </a:rPr>
              <a:t>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O(l)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中和热：电离出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1molH</a:t>
            </a:r>
            <a:r>
              <a:rPr lang="en-US" altLang="zh-CN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CN" dirty="0"/>
              <a:t> </a:t>
            </a:r>
            <a:r>
              <a:rPr lang="zh-CN" altLang="en-US" dirty="0"/>
              <a:t>的酸和电离出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1molOH</a:t>
            </a:r>
            <a:r>
              <a:rPr lang="en-US" altLang="zh-CN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的碱起中和反应，生成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</a:t>
            </a:r>
            <a:r>
              <a:rPr lang="zh-CN" altLang="en-US" dirty="0"/>
              <a:t>所产生的反应热。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</a:t>
            </a:r>
            <a:r>
              <a:rPr lang="zh-CN" altLang="en-US" dirty="0"/>
              <a:t>酸和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</a:t>
            </a:r>
            <a:r>
              <a:rPr lang="zh-CN" altLang="en-US" dirty="0"/>
              <a:t>碱在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稀溶液</a:t>
            </a:r>
            <a:r>
              <a:rPr lang="zh-CN" altLang="en-US" dirty="0"/>
              <a:t>中的中和热约为</a:t>
            </a:r>
            <a:endParaRPr lang="en-US" altLang="zh-CN" dirty="0"/>
          </a:p>
          <a:p>
            <a:pPr>
              <a:spcBef>
                <a:spcPts val="1200"/>
              </a:spcBef>
              <a:buNone/>
            </a:pPr>
            <a:r>
              <a:rPr lang="en-US" altLang="zh-CN" dirty="0"/>
              <a:t>	-57.3kJ/mol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spcBef>
                <a:spcPts val="600"/>
              </a:spcBef>
              <a:buNone/>
            </a:pPr>
            <a:r>
              <a:rPr lang="en-US" altLang="zh-CN" sz="2400" dirty="0"/>
              <a:t>(</a:t>
            </a:r>
            <a:r>
              <a:rPr lang="zh-CN" altLang="en-US" sz="2400" dirty="0"/>
              <a:t>活动探究</a:t>
            </a:r>
            <a:r>
              <a:rPr lang="en-US" altLang="zh-CN" sz="2400" dirty="0"/>
              <a:t>2)</a:t>
            </a:r>
            <a:r>
              <a:rPr lang="zh-CN" altLang="en-US" sz="2400" dirty="0"/>
              <a:t>现象：温度计读数增大</a:t>
            </a:r>
            <a:r>
              <a:rPr lang="en-US" altLang="zh-CN" sz="2400" dirty="0"/>
              <a:t>;	</a:t>
            </a:r>
            <a:r>
              <a:rPr lang="zh-CN" altLang="en-US" sz="2400" dirty="0"/>
              <a:t>结论：放热反应</a:t>
            </a:r>
            <a:endParaRPr lang="en-US" altLang="zh-CN" sz="2400" dirty="0"/>
          </a:p>
          <a:p>
            <a:pPr>
              <a:spcBef>
                <a:spcPts val="600"/>
              </a:spcBef>
              <a:buNone/>
            </a:pPr>
            <a:r>
              <a:rPr lang="en-US" altLang="zh-CN" sz="2400" dirty="0"/>
              <a:t>(</a:t>
            </a:r>
            <a:r>
              <a:rPr lang="zh-CN" altLang="en-US" sz="2400" dirty="0"/>
              <a:t>活动探究</a:t>
            </a:r>
            <a:r>
              <a:rPr lang="en-US" altLang="zh-CN" sz="2400" dirty="0"/>
              <a:t>3)</a:t>
            </a:r>
            <a:r>
              <a:rPr lang="zh-CN" altLang="en-US" sz="2400" dirty="0"/>
              <a:t>实验课</a:t>
            </a:r>
            <a:endParaRPr lang="en-US" altLang="zh-CN" sz="2400" dirty="0"/>
          </a:p>
          <a:p>
            <a:pPr>
              <a:spcBef>
                <a:spcPts val="12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39862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CN" altLang="en-US" sz="3200" dirty="0"/>
              <a:t>中和热测定仪器</a:t>
            </a:r>
            <a:r>
              <a:rPr lang="en-US" altLang="zh-CN" sz="3200" dirty="0"/>
              <a:t>		</a:t>
            </a:r>
            <a:r>
              <a:rPr lang="zh-CN" altLang="en-US" sz="3200" dirty="0"/>
              <a:t>（实验装置）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811462"/>
            <a:ext cx="2517198" cy="3589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192462"/>
            <a:ext cx="3905250" cy="301942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  <a:ea typeface="+mj-ea"/>
                <a:cs typeface="+mj-cs"/>
              </a:rPr>
              <a:t>19.3.3 </a:t>
            </a:r>
            <a:r>
              <a:rPr kumimoji="0" lang="zh-CN" alt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ea"/>
                <a:ea typeface="+mj-ea"/>
                <a:cs typeface="+mj-cs"/>
              </a:rPr>
              <a:t>中和热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720682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6350" stA="50000" endA="300" endPos="50000" dist="29997" dir="5400000" sy="-100000" algn="bl" rotWithShape="0"/>
                </a:effectLst>
              </a:rPr>
              <a:t>量热器</a:t>
            </a:r>
            <a:r>
              <a:rPr lang="en-US" altLang="zh-CN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reflection blurRad="6350" stA="50000" endA="300" endPos="50000" dist="29997" dir="5400000" sy="-100000" algn="bl" rotWithShape="0"/>
                </a:effectLst>
              </a:rPr>
              <a:t>calorimeter</a:t>
            </a:r>
            <a:endParaRPr lang="en-US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3382" y="2298329"/>
            <a:ext cx="5079206" cy="3324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b="3983"/>
          <a:stretch/>
        </p:blipFill>
        <p:spPr>
          <a:xfrm>
            <a:off x="6336305" y="2298330"/>
            <a:ext cx="2085975" cy="326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44352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"/>
            <a:ext cx="8305800" cy="6400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实验：</a:t>
            </a:r>
            <a:r>
              <a:rPr lang="en-US" altLang="zh-CN" sz="3000" dirty="0"/>
              <a:t>50mL 1M </a:t>
            </a:r>
            <a:r>
              <a:rPr lang="en-US" altLang="zh-CN" sz="3000" dirty="0" err="1"/>
              <a:t>HCl</a:t>
            </a:r>
            <a:r>
              <a:rPr lang="zh-CN" altLang="en-US" sz="3000" dirty="0"/>
              <a:t>与</a:t>
            </a:r>
            <a:r>
              <a:rPr lang="en-US" altLang="zh-CN" sz="3000" dirty="0"/>
              <a:t>50mL 1M </a:t>
            </a:r>
            <a:r>
              <a:rPr lang="en-US" altLang="zh-CN" sz="3000" dirty="0" err="1"/>
              <a:t>NaOH</a:t>
            </a:r>
            <a:r>
              <a:rPr lang="zh-CN" altLang="en-US" sz="3000" dirty="0"/>
              <a:t>反应，起始温度</a:t>
            </a:r>
            <a:r>
              <a:rPr lang="en-US" altLang="zh-CN" sz="3000" dirty="0"/>
              <a:t>30.6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  <a:r>
              <a:rPr lang="zh-CN" altLang="en-US" sz="3000" dirty="0"/>
              <a:t>，反应后温度</a:t>
            </a:r>
            <a:r>
              <a:rPr lang="en-US" altLang="zh-CN" sz="3000" dirty="0"/>
              <a:t>37.4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  <a:r>
              <a:rPr lang="zh-CN" altLang="en-US" sz="3000" dirty="0"/>
              <a:t>。计算中和热。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设：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</a:t>
            </a:r>
            <a:r>
              <a:rPr lang="zh-CN" altLang="en-US" sz="3000" dirty="0"/>
              <a:t>与</a:t>
            </a:r>
            <a:r>
              <a:rPr lang="en-US" altLang="zh-CN" sz="3000" dirty="0" err="1"/>
              <a:t>NaOH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</a:t>
            </a:r>
            <a:r>
              <a:rPr lang="el-GR" sz="2800" dirty="0"/>
              <a:t> </a:t>
            </a:r>
            <a:r>
              <a:rPr lang="zh-CN" altLang="en-US" sz="2800" dirty="0"/>
              <a:t>的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密度</a:t>
            </a:r>
            <a:r>
              <a:rPr lang="el-GR" sz="2800" dirty="0"/>
              <a:t>ρ</a:t>
            </a:r>
            <a:r>
              <a:rPr lang="en-US" altLang="zh-CN" sz="2800" dirty="0"/>
              <a:t>=1g/</a:t>
            </a:r>
            <a:r>
              <a:rPr lang="en-US" altLang="zh-CN" sz="2800" dirty="0" err="1"/>
              <a:t>mL</a:t>
            </a:r>
            <a:r>
              <a:rPr lang="en-US" altLang="zh-CN" sz="2800" dirty="0"/>
              <a:t> 	</a:t>
            </a:r>
            <a:r>
              <a:rPr lang="zh-CN" altLang="en-US" sz="2800" dirty="0"/>
              <a:t>比热</a:t>
            </a:r>
            <a:r>
              <a:rPr lang="en-US" altLang="zh-CN" sz="2800" dirty="0"/>
              <a:t>c= 4.18kJkg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K</a:t>
            </a:r>
            <a:r>
              <a:rPr lang="en-US" altLang="zh-CN" sz="2800" baseline="30000" dirty="0"/>
              <a:t>-1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V</a:t>
            </a:r>
            <a:r>
              <a:rPr lang="zh-CN" altLang="en-US" sz="3000" baseline="-25000" dirty="0"/>
              <a:t>液</a:t>
            </a:r>
            <a:r>
              <a:rPr lang="en-US" altLang="zh-CN" sz="3000" dirty="0"/>
              <a:t>=100mL</a:t>
            </a:r>
            <a:r>
              <a:rPr lang="zh-CN" altLang="en-US" sz="3000" dirty="0"/>
              <a:t>，</a:t>
            </a:r>
            <a:r>
              <a:rPr lang="en-US" altLang="zh-CN" sz="3000" dirty="0"/>
              <a:t>m</a:t>
            </a:r>
            <a:r>
              <a:rPr lang="zh-CN" altLang="en-US" sz="3000" baseline="-25000" dirty="0"/>
              <a:t>液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 = 100g</a:t>
            </a:r>
            <a:r>
              <a:rPr lang="zh-CN" altLang="en-US" sz="3000" dirty="0"/>
              <a:t>，</a:t>
            </a:r>
            <a:r>
              <a:rPr lang="en-US" altLang="zh-CN" sz="3000" dirty="0"/>
              <a:t> </a:t>
            </a:r>
            <a:r>
              <a:rPr lang="en-US" altLang="zh-CN" sz="2800" dirty="0"/>
              <a:t>∆T = 6.8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</a:p>
          <a:p>
            <a:pPr marL="514350" indent="-514350">
              <a:buNone/>
            </a:pPr>
            <a:r>
              <a:rPr lang="en-US" altLang="zh-CN" sz="3000" dirty="0"/>
              <a:t>Q 	= </a:t>
            </a:r>
            <a:r>
              <a:rPr lang="en-US" altLang="zh-CN" sz="3000" dirty="0" err="1"/>
              <a:t>mc</a:t>
            </a:r>
            <a:r>
              <a:rPr lang="en-US" altLang="zh-CN" sz="2800" dirty="0" err="1"/>
              <a:t>∆T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= 100g x 4.18kJkg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K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x 6.8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</a:p>
          <a:p>
            <a:pPr marL="514350" indent="-514350">
              <a:buNone/>
            </a:pPr>
            <a:r>
              <a:rPr lang="en-US" altLang="zh-CN" sz="3000" dirty="0"/>
              <a:t>	= 2.84kJ</a:t>
            </a:r>
          </a:p>
          <a:p>
            <a:pPr marL="514350" indent="-514350">
              <a:buNone/>
            </a:pPr>
            <a:r>
              <a:rPr lang="en-US" altLang="zh-CN" sz="3000" dirty="0"/>
              <a:t>  </a:t>
            </a:r>
            <a:r>
              <a:rPr lang="en-US" altLang="zh-CN" sz="3000" dirty="0" err="1"/>
              <a:t>NaOH</a:t>
            </a:r>
            <a:r>
              <a:rPr lang="en-US" altLang="zh-CN" sz="3000" dirty="0"/>
              <a:t>  +    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   </a:t>
            </a:r>
            <a:r>
              <a:rPr lang="en-US" altLang="zh-CN" sz="3000" dirty="0">
                <a:sym typeface="Wingdings" pitchFamily="2" charset="2"/>
              </a:rPr>
              <a:t>   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 +   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		</a:t>
            </a:r>
            <a:r>
              <a:rPr lang="en-US" altLang="zh-CN" sz="2800" dirty="0"/>
              <a:t> </a:t>
            </a:r>
            <a:r>
              <a:rPr lang="zh-CN" altLang="en-US" sz="2800" dirty="0"/>
              <a:t>反应热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0.05mol	</a:t>
            </a:r>
            <a:r>
              <a:rPr lang="en-US" altLang="zh-CN" sz="3000" dirty="0" err="1">
                <a:sym typeface="Wingdings" pitchFamily="2" charset="2"/>
              </a:rPr>
              <a:t>0.05mol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en-US" altLang="zh-CN" sz="3000" dirty="0" err="1">
                <a:sym typeface="Wingdings" pitchFamily="2" charset="2"/>
              </a:rPr>
              <a:t>0.05mol</a:t>
            </a:r>
            <a:r>
              <a:rPr lang="en-US" altLang="zh-CN" sz="3000" dirty="0">
                <a:sym typeface="Wingdings" pitchFamily="2" charset="2"/>
              </a:rPr>
              <a:t>	    -2.84kJ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	1mol 		     x </a:t>
            </a:r>
          </a:p>
          <a:p>
            <a:pPr marL="514350" indent="-514350">
              <a:buNone/>
            </a:pPr>
            <a:r>
              <a:rPr lang="en-US" altLang="zh-CN" sz="3000" dirty="0" err="1"/>
              <a:t>HCl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</a:t>
            </a:r>
            <a:r>
              <a:rPr lang="zh-CN" altLang="en-US" sz="3000" dirty="0"/>
              <a:t>与</a:t>
            </a:r>
            <a:r>
              <a:rPr lang="en-US" altLang="zh-CN" sz="3000" dirty="0" err="1"/>
              <a:t>NaOH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</a:t>
            </a:r>
            <a:r>
              <a:rPr lang="zh-CN" altLang="en-US" sz="3000" dirty="0"/>
              <a:t>中和热</a:t>
            </a:r>
            <a:r>
              <a:rPr lang="en-US" altLang="zh-CN" sz="3000" dirty="0"/>
              <a:t>-56.8kJmol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5400" y="2362200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657600" y="2362200"/>
            <a:ext cx="1066800" cy="38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562600" y="2362200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9600" y="5029200"/>
            <a:ext cx="13716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362200" y="5029200"/>
            <a:ext cx="13716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105400" y="5029200"/>
            <a:ext cx="13716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162800" y="5029200"/>
            <a:ext cx="13716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400" y="2209800"/>
            <a:ext cx="6781800" cy="20621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/>
              <a:t>简易量热器的散热，</a:t>
            </a:r>
            <a:endParaRPr lang="en-US" altLang="zh-CN" sz="3200" dirty="0"/>
          </a:p>
          <a:p>
            <a:r>
              <a:rPr lang="zh-CN" altLang="en-US" sz="3200" dirty="0"/>
              <a:t>酸碱混合时的热量损耗，</a:t>
            </a:r>
            <a:endParaRPr lang="en-US" altLang="zh-CN" sz="3200" dirty="0"/>
          </a:p>
          <a:p>
            <a:r>
              <a:rPr lang="zh-CN" altLang="en-US" sz="3200" dirty="0"/>
              <a:t>最后读数是否为反应的最高温度，</a:t>
            </a:r>
            <a:endParaRPr lang="en-US" altLang="zh-CN" sz="3200" dirty="0"/>
          </a:p>
          <a:p>
            <a:r>
              <a:rPr lang="zh-CN" altLang="en-US" sz="3200" dirty="0"/>
              <a:t>都可能使测定的中和热偏低。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  <p:bldP spid="11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19.3.3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中和热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7772400" cy="49530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</a:t>
            </a:r>
            <a:r>
              <a:rPr lang="zh-CN" altLang="en-US" dirty="0"/>
              <a:t>酸与强碱，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</a:t>
            </a:r>
            <a:r>
              <a:rPr lang="zh-CN" altLang="en-US" dirty="0"/>
              <a:t>碱与强酸，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</a:t>
            </a:r>
            <a:r>
              <a:rPr lang="zh-CN" altLang="en-US" dirty="0"/>
              <a:t>酸与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</a:t>
            </a:r>
            <a:r>
              <a:rPr lang="zh-CN" altLang="en-US" dirty="0"/>
              <a:t>碱的中和热并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不是定值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因为弱酸与弱碱在水溶液中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不完全解离</a:t>
            </a:r>
            <a:r>
              <a:rPr lang="zh-CN" altLang="en-US" dirty="0"/>
              <a:t>。因此还要考虑弱酸与弱碱的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电离热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弱酸与弱碱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电离需要吸热</a:t>
            </a:r>
            <a:r>
              <a:rPr lang="zh-CN" altLang="en-US" dirty="0"/>
              <a:t>，电离热为正值。</a:t>
            </a:r>
            <a:endParaRPr lang="en-US" altLang="zh-CN" dirty="0"/>
          </a:p>
          <a:p>
            <a:pPr>
              <a:spcBef>
                <a:spcPts val="1200"/>
              </a:spcBef>
              <a:buNone/>
            </a:pPr>
            <a:r>
              <a:rPr lang="zh-CN" altLang="en-US" dirty="0"/>
              <a:t>交流分享</a:t>
            </a:r>
            <a:endParaRPr lang="en-US" altLang="zh-CN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dirty="0"/>
              <a:t>是。因为</a:t>
            </a:r>
            <a:r>
              <a:rPr lang="en-US" altLang="zh-CN" dirty="0"/>
              <a:t>…</a:t>
            </a:r>
            <a:r>
              <a:rPr lang="zh-CN" altLang="en-US" dirty="0"/>
              <a:t>强</a:t>
            </a:r>
            <a:r>
              <a:rPr lang="en-US" altLang="zh-CN" dirty="0"/>
              <a:t>…</a:t>
            </a:r>
            <a:r>
              <a:rPr lang="zh-CN" altLang="en-US" dirty="0"/>
              <a:t>强</a:t>
            </a:r>
            <a:r>
              <a:rPr lang="en-US" altLang="zh-CN" dirty="0"/>
              <a:t>…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dirty="0"/>
              <a:t>不是。因为</a:t>
            </a:r>
            <a:r>
              <a:rPr lang="en-US" altLang="zh-CN" dirty="0"/>
              <a:t>…</a:t>
            </a:r>
            <a:r>
              <a:rPr lang="zh-CN" altLang="en-US" dirty="0"/>
              <a:t>弱</a:t>
            </a:r>
            <a:r>
              <a:rPr lang="en-US" altLang="zh-CN" dirty="0"/>
              <a:t>…</a:t>
            </a:r>
            <a:r>
              <a:rPr lang="zh-CN" altLang="en-US" dirty="0"/>
              <a:t>电离热</a:t>
            </a:r>
            <a:r>
              <a:rPr lang="en-US" altLang="zh-C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19.3.3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ea"/>
              </a:rPr>
              <a:t>中和热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4953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练习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若下列中和反应皆生成</a:t>
            </a:r>
            <a:r>
              <a:rPr lang="en-US" altLang="zh-CN" dirty="0"/>
              <a:t>1mol</a:t>
            </a:r>
            <a:r>
              <a:rPr lang="zh-CN" altLang="en-US" dirty="0"/>
              <a:t>的水，请按释放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出的热量按多至少排列。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+ H</a:t>
            </a:r>
            <a:r>
              <a:rPr lang="en-US" altLang="zh-CN" baseline="-25000" dirty="0"/>
              <a:t>2</a:t>
            </a:r>
            <a:r>
              <a:rPr lang="en-US" altLang="zh-CN" dirty="0"/>
              <a:t>CO</a:t>
            </a:r>
            <a:r>
              <a:rPr lang="en-US" altLang="zh-CN" baseline="-25000" dirty="0"/>
              <a:t>3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dirty="0"/>
              <a:t>Ca(OH)</a:t>
            </a:r>
            <a:r>
              <a:rPr lang="en-US" altLang="zh-CN" baseline="-25000" dirty="0"/>
              <a:t>2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+ H</a:t>
            </a:r>
            <a:r>
              <a:rPr lang="en-US" altLang="zh-CN" baseline="-25000" dirty="0"/>
              <a:t>2</a:t>
            </a:r>
            <a:r>
              <a:rPr lang="en-US" altLang="zh-CN" dirty="0"/>
              <a:t>CO</a:t>
            </a:r>
            <a:r>
              <a:rPr lang="en-US" altLang="zh-CN" baseline="-25000" dirty="0"/>
              <a:t>3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+ </a:t>
            </a:r>
            <a:r>
              <a:rPr lang="en-US" altLang="zh-CN" dirty="0" err="1"/>
              <a:t>HCl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dirty="0"/>
              <a:t>NH</a:t>
            </a:r>
            <a:r>
              <a:rPr lang="en-US" altLang="zh-CN" baseline="-25000" dirty="0"/>
              <a:t>4</a:t>
            </a:r>
            <a:r>
              <a:rPr lang="en-US" altLang="zh-CN" dirty="0"/>
              <a:t>OH(</a:t>
            </a:r>
            <a:r>
              <a:rPr lang="en-US" altLang="zh-CN" dirty="0" err="1"/>
              <a:t>aq</a:t>
            </a:r>
            <a:r>
              <a:rPr lang="en-US" altLang="zh-CN" dirty="0"/>
              <a:t>) + CH</a:t>
            </a:r>
            <a:r>
              <a:rPr lang="en-US" altLang="zh-CN" baseline="-25000" dirty="0"/>
              <a:t>3</a:t>
            </a:r>
            <a:r>
              <a:rPr lang="en-US" altLang="zh-CN" dirty="0"/>
              <a:t>COOH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+ 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 (</a:t>
            </a:r>
            <a:r>
              <a:rPr lang="zh-CN" altLang="en-US" dirty="0"/>
              <a:t>浓</a:t>
            </a:r>
            <a:r>
              <a:rPr lang="en-US" altLang="zh-CN" dirty="0"/>
              <a:t>)</a:t>
            </a:r>
          </a:p>
          <a:p>
            <a:pPr marL="514350" indent="-514350">
              <a:buNone/>
            </a:pPr>
            <a:r>
              <a:rPr lang="zh-CN" altLang="en-US" dirty="0"/>
              <a:t>答案：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65245" cy="1202485"/>
          </a:xfrm>
        </p:spPr>
        <p:txBody>
          <a:bodyPr/>
          <a:lstStyle/>
          <a:p>
            <a:pPr algn="l"/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19.3.3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中和热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例</a:t>
            </a:r>
            <a:r>
              <a:rPr lang="en-US" altLang="zh-CN" sz="3000" dirty="0"/>
              <a:t>4 200mL 0.1M </a:t>
            </a:r>
            <a:r>
              <a:rPr lang="zh-CN" altLang="en-US" sz="3000" dirty="0"/>
              <a:t>的</a:t>
            </a:r>
            <a:r>
              <a:rPr lang="en-US" altLang="zh-CN" sz="3000" dirty="0" err="1"/>
              <a:t>NaOH</a:t>
            </a:r>
            <a:r>
              <a:rPr lang="zh-CN" altLang="en-US" sz="3000" dirty="0"/>
              <a:t>溶液与</a:t>
            </a:r>
            <a:r>
              <a:rPr lang="en-US" altLang="zh-CN" sz="3000" dirty="0"/>
              <a:t>200mL 0.1M</a:t>
            </a:r>
            <a:r>
              <a:rPr lang="zh-CN" altLang="en-US" sz="3000" dirty="0"/>
              <a:t>的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SO</a:t>
            </a:r>
            <a:r>
              <a:rPr lang="en-US" altLang="zh-CN" sz="3000" baseline="-25000" dirty="0"/>
              <a:t>4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溶液混合反应后，放出多少热量？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n</a:t>
            </a:r>
            <a:r>
              <a:rPr lang="zh-CN" altLang="en-US" sz="3000" baseline="-25000" dirty="0"/>
              <a:t>质</a:t>
            </a:r>
            <a:r>
              <a:rPr lang="zh-CN" altLang="en-US" sz="3000" dirty="0"/>
              <a:t> </a:t>
            </a:r>
            <a:r>
              <a:rPr lang="en-US" altLang="zh-CN" sz="3000" dirty="0"/>
              <a:t>= 0.1mol/L x 0.2L </a:t>
            </a:r>
          </a:p>
          <a:p>
            <a:pPr marL="0" indent="0">
              <a:buNone/>
            </a:pPr>
            <a:r>
              <a:rPr lang="en-US" altLang="zh-CN" sz="3000" dirty="0"/>
              <a:t>      = 0.02mol 	</a:t>
            </a:r>
          </a:p>
          <a:p>
            <a:pPr marL="0" indent="0">
              <a:buNone/>
            </a:pPr>
            <a:r>
              <a:rPr lang="en-US" altLang="zh-CN" sz="3000" dirty="0"/>
              <a:t>		2 </a:t>
            </a:r>
            <a:r>
              <a:rPr lang="en-US" altLang="zh-CN" sz="3000" dirty="0" err="1"/>
              <a:t>NaOH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SO</a:t>
            </a:r>
            <a:r>
              <a:rPr lang="en-US" altLang="zh-CN" sz="3000" baseline="-25000" dirty="0"/>
              <a:t>4</a:t>
            </a:r>
            <a:r>
              <a:rPr lang="zh-CN" altLang="en-US" sz="3000" baseline="-25000" dirty="0"/>
              <a:t>  </a:t>
            </a:r>
            <a:r>
              <a:rPr lang="zh-CN" altLang="en-US" sz="3000" dirty="0"/>
              <a:t> </a:t>
            </a:r>
            <a:r>
              <a:rPr lang="en-US" altLang="zh-CN" sz="3000" dirty="0">
                <a:sym typeface="Wingdings" pitchFamily="2" charset="2"/>
              </a:rPr>
              <a:t> Na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endParaRPr lang="en-US" altLang="zh-CN" sz="3000" dirty="0"/>
          </a:p>
          <a:p>
            <a:pPr marL="0" indent="0">
              <a:buNone/>
            </a:pPr>
            <a:r>
              <a:rPr lang="zh-CN" altLang="en-US" sz="3000" dirty="0"/>
              <a:t>开始</a:t>
            </a:r>
            <a:r>
              <a:rPr lang="en-US" altLang="zh-CN" sz="3000" dirty="0"/>
              <a:t>(mol)</a:t>
            </a:r>
            <a:r>
              <a:rPr lang="zh-CN" altLang="en-US" sz="3000" dirty="0"/>
              <a:t>   </a:t>
            </a:r>
            <a:r>
              <a:rPr lang="en-US" altLang="zh-CN" sz="3000" dirty="0"/>
              <a:t>0.02		0.02		0 	   0</a:t>
            </a:r>
          </a:p>
          <a:p>
            <a:pPr>
              <a:buNone/>
            </a:pPr>
            <a:r>
              <a:rPr lang="zh-CN" altLang="en-US" sz="3000" dirty="0"/>
              <a:t>反应</a:t>
            </a:r>
            <a:r>
              <a:rPr lang="en-US" altLang="zh-CN" sz="3000" dirty="0"/>
              <a:t>(mol)</a:t>
            </a:r>
            <a:r>
              <a:rPr lang="zh-CN" altLang="en-US" sz="3000" dirty="0"/>
              <a:t>   </a:t>
            </a:r>
            <a:r>
              <a:rPr lang="en-US" altLang="zh-CN" sz="3000" dirty="0"/>
              <a:t>0.02		0.01		0.01	    0.02</a:t>
            </a:r>
          </a:p>
          <a:p>
            <a:pPr>
              <a:buNone/>
            </a:pPr>
            <a:r>
              <a:rPr lang="zh-CN" altLang="en-US" sz="3000" dirty="0"/>
              <a:t>结束</a:t>
            </a:r>
            <a:r>
              <a:rPr lang="en-US" altLang="zh-CN" sz="3000" dirty="0"/>
              <a:t>(mol)</a:t>
            </a:r>
            <a:r>
              <a:rPr lang="zh-CN" altLang="en-US" sz="3000" dirty="0"/>
              <a:t> </a:t>
            </a:r>
            <a:r>
              <a:rPr lang="en-US" altLang="zh-CN" sz="3000" dirty="0"/>
              <a:t>	0		0.01		0.01	    0.02</a:t>
            </a:r>
          </a:p>
          <a:p>
            <a:pPr>
              <a:buNone/>
            </a:pPr>
            <a:r>
              <a:rPr lang="zh-CN" altLang="en-US" sz="3000" dirty="0"/>
              <a:t>中和热</a:t>
            </a:r>
            <a:r>
              <a:rPr lang="en-US" altLang="zh-CN" sz="3000" dirty="0"/>
              <a:t>= -57.3kJ/mol</a:t>
            </a:r>
          </a:p>
          <a:p>
            <a:pPr>
              <a:buNone/>
            </a:pPr>
            <a:r>
              <a:rPr lang="zh-CN" altLang="en-US" sz="3000" dirty="0"/>
              <a:t>答：放出的热量</a:t>
            </a:r>
            <a:r>
              <a:rPr lang="en-US" altLang="zh-CN" sz="3000" dirty="0"/>
              <a:t>= 57.3kJ/mol x 0.02mol = 1.146kJ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2200" y="3581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114800" y="3581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791200" y="3581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086600" y="3581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438400" y="41148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191000" y="41148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943600" y="41148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7162800" y="41148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438400" y="4724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191000" y="4724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943600" y="4724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162800" y="4724400"/>
            <a:ext cx="838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562600" y="5791200"/>
            <a:ext cx="12954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7239000" y="5791200"/>
            <a:ext cx="12192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86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dirty="0"/>
              <a:t>1.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</a:t>
            </a:r>
            <a:r>
              <a:rPr lang="zh-CN" altLang="en-US" sz="2800" dirty="0"/>
              <a:t>酸和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</a:t>
            </a:r>
            <a:r>
              <a:rPr lang="zh-CN" altLang="en-US" sz="2800" dirty="0"/>
              <a:t>碱在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稀溶液</a:t>
            </a:r>
            <a:r>
              <a:rPr lang="zh-CN" altLang="en-US" sz="2800" dirty="0"/>
              <a:t>中的中和热约为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-57.3kJ/mol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 err="1"/>
              <a:t>Ans:D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2.	 (1) </a:t>
            </a:r>
            <a:r>
              <a:rPr lang="zh-CN" altLang="en-US" sz="2800" dirty="0"/>
              <a:t>防止混合过程中热量的散失；是反应物充分混合。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(2)</a:t>
            </a:r>
            <a:r>
              <a:rPr lang="zh-CN" altLang="en-US" sz="2800" dirty="0"/>
              <a:t>不能，因为金属容易导热，使热量损失。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(3)</a:t>
            </a:r>
            <a:r>
              <a:rPr lang="en-US" altLang="zh-CN" sz="2800" dirty="0" err="1"/>
              <a:t>NaOH</a:t>
            </a:r>
            <a:r>
              <a:rPr lang="en-US" altLang="zh-CN" sz="2800" baseline="-25000" dirty="0"/>
              <a:t>(</a:t>
            </a:r>
            <a:r>
              <a:rPr lang="en-US" altLang="zh-CN" sz="2800" baseline="-25000" dirty="0" err="1"/>
              <a:t>aq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+</a:t>
            </a:r>
            <a:r>
              <a:rPr lang="en-US" altLang="zh-CN" sz="2800" dirty="0" err="1"/>
              <a:t>HCl</a:t>
            </a:r>
            <a:r>
              <a:rPr lang="en-US" altLang="zh-CN" sz="2800" baseline="-25000" dirty="0"/>
              <a:t>(</a:t>
            </a:r>
            <a:r>
              <a:rPr lang="en-US" altLang="zh-CN" sz="2800" baseline="-25000" dirty="0" err="1"/>
              <a:t>aq</a:t>
            </a:r>
            <a:r>
              <a:rPr lang="en-US" altLang="zh-CN" sz="2800" baseline="-25000" dirty="0"/>
              <a:t>)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 err="1">
                <a:sym typeface="Wingdings" pitchFamily="2" charset="2"/>
              </a:rPr>
              <a:t>NaCl</a:t>
            </a:r>
            <a:r>
              <a:rPr lang="en-US" altLang="zh-CN" sz="2800" baseline="-25000" dirty="0">
                <a:sym typeface="Wingdings" pitchFamily="2" charset="2"/>
              </a:rPr>
              <a:t>(</a:t>
            </a:r>
            <a:r>
              <a:rPr lang="en-US" altLang="zh-CN" sz="2800" baseline="-25000" dirty="0" err="1">
                <a:sym typeface="Wingdings" pitchFamily="2" charset="2"/>
              </a:rPr>
              <a:t>aq</a:t>
            </a:r>
            <a:r>
              <a:rPr lang="en-US" altLang="zh-CN" sz="2800" baseline="-25000" dirty="0">
                <a:sym typeface="Wingdings" pitchFamily="2" charset="2"/>
              </a:rPr>
              <a:t>)</a:t>
            </a:r>
            <a:r>
              <a:rPr lang="en-US" altLang="zh-CN" sz="2800" dirty="0">
                <a:sym typeface="Wingdings" pitchFamily="2" charset="2"/>
              </a:rPr>
              <a:t>+H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(l)</a:t>
            </a:r>
            <a:r>
              <a:rPr lang="en-US" altLang="zh-CN" sz="2800" dirty="0">
                <a:sym typeface="Wingdings" pitchFamily="2" charset="2"/>
              </a:rPr>
              <a:t>        </a:t>
            </a:r>
            <a:r>
              <a:rPr lang="en-US" altLang="zh-CN" sz="2800" dirty="0">
                <a:latin typeface="+mn-ea"/>
              </a:rPr>
              <a:t>∆</a:t>
            </a:r>
            <a:r>
              <a:rPr lang="en-US" altLang="zh-CN" sz="2800" dirty="0"/>
              <a:t>H=-57.3kJ/mol</a:t>
            </a:r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思考题</a:t>
            </a: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19e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b="1" dirty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  <a:ea typeface="文鼎细仿宋简" panose="02010609010101010101" pitchFamily="49" charset="-122"/>
              </a:rPr>
              <a:t>黑斯定律图示法</a:t>
            </a:r>
            <a:endParaRPr lang="en-MY" sz="4400" b="1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reflection blurRad="6350" stA="60000" endA="900" endPos="58000" dir="5400000" sy="-100000" algn="bl" rotWithShape="0"/>
              </a:effectLst>
              <a:ea typeface="文鼎细仿宋简" panose="0201060901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45920" lvl="6" indent="0">
              <a:buNone/>
            </a:pPr>
            <a:endParaRPr lang="en-MY" sz="2800" b="1" dirty="0"/>
          </a:p>
          <a:p>
            <a:pPr marL="1645920" lvl="6" indent="0">
              <a:buNone/>
            </a:pPr>
            <a:r>
              <a:rPr lang="en-US" sz="2800" b="1" dirty="0"/>
              <a:t>         </a:t>
            </a:r>
            <a:endParaRPr lang="en-MY" sz="28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164431" y="2228850"/>
            <a:ext cx="355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878806" y="2209800"/>
            <a:ext cx="7144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64432" y="3467100"/>
            <a:ext cx="14501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543050" y="3467100"/>
            <a:ext cx="0" cy="1771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78731" y="5238750"/>
            <a:ext cx="355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2940844" y="4755356"/>
            <a:ext cx="990600" cy="14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21744" y="4238625"/>
            <a:ext cx="15323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93244" y="2228851"/>
            <a:ext cx="0" cy="2009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8650" y="3107293"/>
            <a:ext cx="160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A</a:t>
            </a:r>
            <a:r>
              <a:rPr lang="zh-CN" altLang="en-US" sz="2400" b="1" dirty="0"/>
              <a:t>（起始）</a:t>
            </a:r>
            <a:endParaRPr lang="en-MY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01494" y="4872335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</a:t>
            </a:r>
            <a:r>
              <a:rPr lang="zh-CN" altLang="en-US" sz="2400" b="1" dirty="0"/>
              <a:t>（终止）</a:t>
            </a:r>
            <a:endParaRPr lang="en-MY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579509" y="173355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B</a:t>
            </a:r>
            <a:endParaRPr lang="en-MY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401211" y="388572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C</a:t>
            </a:r>
            <a:endParaRPr lang="en-MY" sz="2400" b="1" dirty="0"/>
          </a:p>
        </p:txBody>
      </p:sp>
      <p:sp>
        <p:nvSpPr>
          <p:cNvPr id="27" name="Isosceles Triangle 26"/>
          <p:cNvSpPr/>
          <p:nvPr/>
        </p:nvSpPr>
        <p:spPr>
          <a:xfrm>
            <a:off x="1778794" y="2743202"/>
            <a:ext cx="200025" cy="18097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400"/>
          </a:p>
        </p:txBody>
      </p:sp>
      <p:sp>
        <p:nvSpPr>
          <p:cNvPr id="28" name="TextBox 27"/>
          <p:cNvSpPr txBox="1"/>
          <p:nvPr/>
        </p:nvSpPr>
        <p:spPr>
          <a:xfrm>
            <a:off x="2050218" y="2673588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H1</a:t>
            </a:r>
            <a:endParaRPr lang="en-MY" sz="2400" b="1" dirty="0"/>
          </a:p>
        </p:txBody>
      </p:sp>
      <p:sp>
        <p:nvSpPr>
          <p:cNvPr id="29" name="Isosceles Triangle 28"/>
          <p:cNvSpPr/>
          <p:nvPr/>
        </p:nvSpPr>
        <p:spPr>
          <a:xfrm>
            <a:off x="2981623" y="3097769"/>
            <a:ext cx="230386" cy="18466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400"/>
          </a:p>
        </p:txBody>
      </p:sp>
      <p:sp>
        <p:nvSpPr>
          <p:cNvPr id="30" name="TextBox 29"/>
          <p:cNvSpPr txBox="1"/>
          <p:nvPr/>
        </p:nvSpPr>
        <p:spPr>
          <a:xfrm>
            <a:off x="3240046" y="3042920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H2</a:t>
            </a:r>
            <a:endParaRPr lang="en-MY" sz="2400" b="1" dirty="0"/>
          </a:p>
        </p:txBody>
      </p:sp>
      <p:sp>
        <p:nvSpPr>
          <p:cNvPr id="33" name="Isosceles Triangle 32"/>
          <p:cNvSpPr/>
          <p:nvPr/>
        </p:nvSpPr>
        <p:spPr>
          <a:xfrm>
            <a:off x="1432322" y="4276725"/>
            <a:ext cx="221456" cy="2000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400"/>
          </a:p>
        </p:txBody>
      </p:sp>
      <p:sp>
        <p:nvSpPr>
          <p:cNvPr id="34" name="TextBox 33"/>
          <p:cNvSpPr txBox="1"/>
          <p:nvPr/>
        </p:nvSpPr>
        <p:spPr>
          <a:xfrm>
            <a:off x="1662490" y="4173022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H4</a:t>
            </a:r>
            <a:endParaRPr lang="en-MY" sz="2400" b="1" dirty="0"/>
          </a:p>
        </p:txBody>
      </p:sp>
      <p:sp>
        <p:nvSpPr>
          <p:cNvPr id="35" name="Isosceles Triangle 34"/>
          <p:cNvSpPr/>
          <p:nvPr/>
        </p:nvSpPr>
        <p:spPr>
          <a:xfrm>
            <a:off x="3344014" y="4643437"/>
            <a:ext cx="198548" cy="1905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400"/>
          </a:p>
        </p:txBody>
      </p:sp>
      <p:sp>
        <p:nvSpPr>
          <p:cNvPr id="36" name="TextBox 35"/>
          <p:cNvSpPr txBox="1"/>
          <p:nvPr/>
        </p:nvSpPr>
        <p:spPr>
          <a:xfrm>
            <a:off x="3590518" y="4520684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H3</a:t>
            </a:r>
            <a:endParaRPr lang="en-MY" sz="2400" b="1" dirty="0"/>
          </a:p>
        </p:txBody>
      </p:sp>
      <p:grpSp>
        <p:nvGrpSpPr>
          <p:cNvPr id="4" name="Group 68"/>
          <p:cNvGrpSpPr/>
          <p:nvPr/>
        </p:nvGrpSpPr>
        <p:grpSpPr>
          <a:xfrm>
            <a:off x="5257800" y="2907238"/>
            <a:ext cx="1804160" cy="545993"/>
            <a:chOff x="5698788" y="2907238"/>
            <a:chExt cx="1804160" cy="545993"/>
          </a:xfrm>
        </p:grpSpPr>
        <p:sp>
          <p:nvSpPr>
            <p:cNvPr id="37" name="TextBox 36"/>
            <p:cNvSpPr txBox="1"/>
            <p:nvPr/>
          </p:nvSpPr>
          <p:spPr>
            <a:xfrm>
              <a:off x="5698788" y="2907238"/>
              <a:ext cx="1385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A</a:t>
              </a:r>
              <a:endParaRPr lang="en-MY" sz="2800" b="1" dirty="0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6000750" y="3097769"/>
              <a:ext cx="285750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318970" y="2913012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D</a:t>
              </a:r>
              <a:endParaRPr lang="en-MY" sz="2800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96931" y="2930011"/>
              <a:ext cx="9060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等于</a:t>
              </a:r>
              <a:endParaRPr lang="en-MY" sz="2800" b="1" dirty="0"/>
            </a:p>
          </p:txBody>
        </p:sp>
      </p:grpSp>
      <p:sp>
        <p:nvSpPr>
          <p:cNvPr id="42" name="Left Brace 41"/>
          <p:cNvSpPr/>
          <p:nvPr/>
        </p:nvSpPr>
        <p:spPr>
          <a:xfrm>
            <a:off x="7010400" y="2253710"/>
            <a:ext cx="237670" cy="1689641"/>
          </a:xfrm>
          <a:prstGeom prst="leftBrace">
            <a:avLst/>
          </a:prstGeom>
          <a:ln w="3492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 sz="2400"/>
          </a:p>
        </p:txBody>
      </p:sp>
      <p:grpSp>
        <p:nvGrpSpPr>
          <p:cNvPr id="6" name="Group 69"/>
          <p:cNvGrpSpPr/>
          <p:nvPr/>
        </p:nvGrpSpPr>
        <p:grpSpPr>
          <a:xfrm>
            <a:off x="7488350" y="2102882"/>
            <a:ext cx="980221" cy="523220"/>
            <a:chOff x="7629525" y="2102882"/>
            <a:chExt cx="980221" cy="523220"/>
          </a:xfrm>
        </p:grpSpPr>
        <p:sp>
          <p:nvSpPr>
            <p:cNvPr id="43" name="TextBox 42"/>
            <p:cNvSpPr txBox="1"/>
            <p:nvPr/>
          </p:nvSpPr>
          <p:spPr>
            <a:xfrm>
              <a:off x="7629525" y="2102882"/>
              <a:ext cx="4026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A</a:t>
              </a:r>
              <a:endParaRPr lang="en-MY" sz="2800" b="1" dirty="0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7907485" y="2302937"/>
              <a:ext cx="26549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8223102" y="2102882"/>
              <a:ext cx="386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B</a:t>
              </a:r>
              <a:endParaRPr lang="en-MY" sz="2800" b="1" dirty="0"/>
            </a:p>
          </p:txBody>
        </p:sp>
      </p:grpSp>
      <p:grpSp>
        <p:nvGrpSpPr>
          <p:cNvPr id="8" name="Group 70"/>
          <p:cNvGrpSpPr/>
          <p:nvPr/>
        </p:nvGrpSpPr>
        <p:grpSpPr>
          <a:xfrm>
            <a:off x="7467600" y="2842865"/>
            <a:ext cx="1008446" cy="523220"/>
            <a:chOff x="7608775" y="2842865"/>
            <a:chExt cx="1008446" cy="523220"/>
          </a:xfrm>
        </p:grpSpPr>
        <p:sp>
          <p:nvSpPr>
            <p:cNvPr id="47" name="TextBox 46"/>
            <p:cNvSpPr txBox="1"/>
            <p:nvPr/>
          </p:nvSpPr>
          <p:spPr>
            <a:xfrm>
              <a:off x="7608775" y="2842865"/>
              <a:ext cx="386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B</a:t>
              </a:r>
              <a:endParaRPr lang="en-MY" sz="2800" b="1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7907485" y="3042920"/>
              <a:ext cx="26549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241797" y="2842865"/>
              <a:ext cx="3754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C</a:t>
              </a:r>
              <a:endParaRPr lang="en-MY" sz="2800" b="1" dirty="0"/>
            </a:p>
          </p:txBody>
        </p:sp>
      </p:grpSp>
      <p:grpSp>
        <p:nvGrpSpPr>
          <p:cNvPr id="10" name="Group 71"/>
          <p:cNvGrpSpPr/>
          <p:nvPr/>
        </p:nvGrpSpPr>
        <p:grpSpPr>
          <a:xfrm>
            <a:off x="7479134" y="3685668"/>
            <a:ext cx="1050987" cy="523220"/>
            <a:chOff x="7620309" y="3685668"/>
            <a:chExt cx="1050987" cy="523220"/>
          </a:xfrm>
        </p:grpSpPr>
        <p:sp>
          <p:nvSpPr>
            <p:cNvPr id="50" name="TextBox 49"/>
            <p:cNvSpPr txBox="1"/>
            <p:nvPr/>
          </p:nvSpPr>
          <p:spPr>
            <a:xfrm>
              <a:off x="7620309" y="3685668"/>
              <a:ext cx="3754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C</a:t>
              </a:r>
              <a:endParaRPr lang="en-MY" sz="2800" b="1" dirty="0"/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7940080" y="3885723"/>
              <a:ext cx="26549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8260606" y="3685668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D</a:t>
              </a:r>
              <a:endParaRPr lang="en-MY" sz="2800" b="1" dirty="0"/>
            </a:p>
          </p:txBody>
        </p:sp>
      </p:grpSp>
      <p:grpSp>
        <p:nvGrpSpPr>
          <p:cNvPr id="12" name="Group 67"/>
          <p:cNvGrpSpPr/>
          <p:nvPr/>
        </p:nvGrpSpPr>
        <p:grpSpPr>
          <a:xfrm>
            <a:off x="4923587" y="4409420"/>
            <a:ext cx="1155615" cy="599420"/>
            <a:chOff x="4313987" y="5410200"/>
            <a:chExt cx="1155615" cy="599420"/>
          </a:xfrm>
        </p:grpSpPr>
        <p:sp>
          <p:nvSpPr>
            <p:cNvPr id="54" name="Isosceles Triangle 53"/>
            <p:cNvSpPr/>
            <p:nvPr/>
          </p:nvSpPr>
          <p:spPr>
            <a:xfrm>
              <a:off x="4313987" y="5562600"/>
              <a:ext cx="258013" cy="261938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0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572000" y="5486400"/>
              <a:ext cx="593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H4</a:t>
              </a:r>
              <a:endParaRPr lang="en-MY" sz="2800" b="1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105400" y="5410200"/>
              <a:ext cx="3642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=</a:t>
              </a:r>
              <a:endParaRPr lang="en-MY" sz="3200" dirty="0"/>
            </a:p>
          </p:txBody>
        </p:sp>
      </p:grp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14" y="4419064"/>
            <a:ext cx="434378" cy="493819"/>
          </a:xfrm>
          <a:prstGeom prst="rect">
            <a:avLst/>
          </a:prstGeom>
        </p:spPr>
      </p:pic>
      <p:grpSp>
        <p:nvGrpSpPr>
          <p:cNvPr id="13" name="Group 66"/>
          <p:cNvGrpSpPr/>
          <p:nvPr/>
        </p:nvGrpSpPr>
        <p:grpSpPr>
          <a:xfrm>
            <a:off x="6096000" y="4343400"/>
            <a:ext cx="2849857" cy="650795"/>
            <a:chOff x="5486400" y="5344180"/>
            <a:chExt cx="2849857" cy="650795"/>
          </a:xfrm>
        </p:grpSpPr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0" y="5562600"/>
              <a:ext cx="274344" cy="28044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5685425" y="5451157"/>
              <a:ext cx="593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H1</a:t>
              </a:r>
              <a:endParaRPr lang="en-MY" sz="2800" b="1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88998" y="541020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/>
                <a:t>+</a:t>
              </a:r>
              <a:endParaRPr lang="en-MY" sz="3200" dirty="0"/>
            </a:p>
          </p:txBody>
        </p:sp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3200" y="5510760"/>
              <a:ext cx="274344" cy="2804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7239000" y="534418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/>
                <a:t>+</a:t>
              </a:r>
              <a:endParaRPr lang="en-MY" sz="3200" dirty="0"/>
            </a:p>
          </p:txBody>
        </p:sp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4256" y="5510760"/>
              <a:ext cx="274344" cy="28044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7742825" y="5374957"/>
              <a:ext cx="593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H3</a:t>
              </a:r>
              <a:endParaRPr lang="en-MY" sz="2800" b="1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81800" y="5410200"/>
              <a:ext cx="593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H2</a:t>
              </a:r>
              <a:endParaRPr lang="en-MY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492582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6" grpId="0"/>
      <p:bldP spid="27" grpId="0" animBg="1"/>
      <p:bldP spid="28" grpId="0"/>
      <p:bldP spid="29" grpId="0" animBg="1"/>
      <p:bldP spid="30" grpId="0"/>
      <p:bldP spid="33" grpId="0" animBg="1"/>
      <p:bldP spid="34" grpId="0"/>
      <p:bldP spid="35" grpId="0" animBg="1"/>
      <p:bldP spid="36" grpId="0"/>
      <p:bldP spid="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7848600" cy="50292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黑斯定律：一个化学过程不论是一步完成，或是分为几步完成，这个过程的热效应是相同的。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一化学反应的焓变，仅与反应的始状态和最终状态有关，与反应途径无关。</a:t>
            </a:r>
            <a:endParaRPr lang="en-US" altLang="zh-CN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运用：可在已测得的反应热数据的基础上，计算出相关的一些反应热的数据</a:t>
            </a:r>
            <a:endParaRPr lang="en-US" altLang="zh-CN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dirty="0">
              <a:sym typeface="Wingdings" pitchFamily="2" charset="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19.3.4</a:t>
            </a:r>
            <a:r>
              <a:rPr kumimoji="0" lang="en-US" altLang="zh-CN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zh-CN" altLang="en-US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黑斯定律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584469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例题</a:t>
            </a:r>
            <a:r>
              <a:rPr lang="en-US" altLang="zh-CN" sz="3600" dirty="0"/>
              <a:t>5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685800"/>
            <a:ext cx="8915400" cy="632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C(s) + O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(g)  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CO</a:t>
            </a:r>
            <a:r>
              <a:rPr kumimoji="0" lang="en-US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zh-CN" alt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		H</a:t>
            </a:r>
            <a:r>
              <a:rPr kumimoji="0" lang="en-US" altLang="zh-CN" sz="30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= -393.5kJ  ------1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 CO (g)+  ½ O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  CO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	  	H</a:t>
            </a:r>
            <a:r>
              <a:rPr kumimoji="0" lang="en-US" altLang="zh-CN" sz="30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o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-283.0kJ -----2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3000" dirty="0"/>
              <a:t>求    </a:t>
            </a:r>
            <a:r>
              <a:rPr lang="en-US" altLang="zh-CN" sz="3000" dirty="0"/>
              <a:t>C(s) +</a:t>
            </a:r>
            <a:r>
              <a:rPr lang="en-US" altLang="zh-CN" sz="3000" dirty="0">
                <a:sym typeface="Wingdings" pitchFamily="2" charset="2"/>
              </a:rPr>
              <a:t> ½</a:t>
            </a:r>
            <a:r>
              <a:rPr lang="en-US" altLang="zh-CN" sz="3000" dirty="0"/>
              <a:t>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CO (g)		H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=?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不变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C(s) + O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CO</a:t>
            </a:r>
            <a:r>
              <a:rPr kumimoji="0" lang="en-US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 H</a:t>
            </a:r>
            <a:r>
              <a:rPr kumimoji="0" lang="en-US" altLang="zh-CN" sz="3000" b="0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-</a:t>
            </a:r>
            <a:r>
              <a:rPr lang="en-US" altLang="zh-CN" sz="3000" dirty="0">
                <a:solidFill>
                  <a:srgbClr val="002060"/>
                </a:solidFill>
              </a:rPr>
              <a:t>393.5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kJ  ----1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lang="zh-CN" altLang="en-US" sz="2600" dirty="0">
                <a:solidFill>
                  <a:srgbClr val="002060"/>
                </a:solidFill>
                <a:sym typeface="Wingdings" pitchFamily="2" charset="2"/>
              </a:rPr>
              <a:t>反写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     </a:t>
            </a:r>
            <a:r>
              <a:rPr lang="en-US" sz="2800" dirty="0">
                <a:solidFill>
                  <a:srgbClr val="002060"/>
                </a:solidFill>
              </a:rPr>
              <a:t>CO</a:t>
            </a:r>
            <a:r>
              <a:rPr lang="en-US" sz="2800" baseline="-25000" dirty="0">
                <a:solidFill>
                  <a:srgbClr val="002060"/>
                </a:solidFill>
              </a:rPr>
              <a:t>2</a:t>
            </a:r>
            <a:r>
              <a:rPr lang="en-US" sz="2800" dirty="0">
                <a:solidFill>
                  <a:srgbClr val="002060"/>
                </a:solidFill>
              </a:rPr>
              <a:t> (g) 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CO(g)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+  ½ O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	    H</a:t>
            </a:r>
            <a:r>
              <a:rPr kumimoji="0" lang="en-US" altLang="zh-CN" sz="3000" b="0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o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283.0kJ ----3</a:t>
            </a:r>
            <a:endParaRPr lang="en-US" altLang="zh-CN" sz="2600" baseline="-25000" dirty="0">
              <a:solidFill>
                <a:srgbClr val="002060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3000" b="1" baseline="-25000" dirty="0">
                <a:solidFill>
                  <a:srgbClr val="002060"/>
                </a:solidFill>
              </a:rPr>
              <a:t>   </a:t>
            </a:r>
            <a:r>
              <a:rPr lang="en-US" altLang="zh-CN" sz="3000" b="1" dirty="0">
                <a:solidFill>
                  <a:srgbClr val="002060"/>
                </a:solidFill>
              </a:rPr>
              <a:t>  1+3</a:t>
            </a:r>
            <a:r>
              <a:rPr lang="en-US" altLang="zh-CN" sz="3000" b="1" baseline="-25000" dirty="0">
                <a:solidFill>
                  <a:srgbClr val="002060"/>
                </a:solidFill>
              </a:rPr>
              <a:t>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3000" dirty="0"/>
              <a:t>C(s) +</a:t>
            </a:r>
            <a:r>
              <a:rPr lang="en-US" altLang="zh-CN" sz="3000" dirty="0">
                <a:sym typeface="Wingdings" pitchFamily="2" charset="2"/>
              </a:rPr>
              <a:t> ½</a:t>
            </a:r>
            <a:r>
              <a:rPr lang="en-US" altLang="zh-CN" sz="3000" dirty="0"/>
              <a:t>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CO (g)      	         H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=-110.5kJ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答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lang="en-US" altLang="zh-CN" sz="3000" noProof="0" dirty="0">
                <a:solidFill>
                  <a:srgbClr val="002060"/>
                </a:solidFill>
              </a:rPr>
              <a:t>O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(g)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的标准生成热是</a:t>
            </a:r>
            <a:r>
              <a:rPr lang="en-US" altLang="zh-CN" sz="3000" dirty="0">
                <a:solidFill>
                  <a:srgbClr val="002060"/>
                </a:solidFill>
              </a:rPr>
              <a:t>-110.5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kJ/mol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5638800" y="1447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5638800" y="1981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5638800" y="2514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895600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5943600" y="3124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5943600" y="3657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rot="10800000" flipV="1">
            <a:off x="3886200" y="3048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2400" y="3962400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 flipV="1">
            <a:off x="1371600" y="3581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 flipV="1">
            <a:off x="4038600" y="3505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>
            <a:off x="5486400" y="4724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animBg="1"/>
      <p:bldP spid="7" grpId="0" uiExpand="1" animBg="1"/>
      <p:bldP spid="8" grpId="0" uiExpand="1" animBg="1"/>
      <p:bldP spid="10" grpId="0" uiExpand="1" animBg="1"/>
      <p:bldP spid="12" grpId="0" uiExpan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9154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6</a:t>
            </a:r>
            <a:r>
              <a:rPr lang="en-US" sz="2800" dirty="0"/>
              <a:t>. </a:t>
            </a:r>
            <a:r>
              <a:rPr lang="zh-CN" altLang="en-US" sz="2800" dirty="0"/>
              <a:t>已知</a:t>
            </a:r>
            <a:r>
              <a:rPr lang="en-US" sz="2800" dirty="0"/>
              <a:t>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 (g)</a:t>
            </a:r>
            <a:r>
              <a:rPr lang="zh-CN" altLang="en-US" sz="2800" dirty="0"/>
              <a:t>，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 (l)</a:t>
            </a:r>
            <a:r>
              <a:rPr lang="zh-CN" altLang="en-US" sz="2800" dirty="0"/>
              <a:t>的燃烧热分别是</a:t>
            </a:r>
            <a:r>
              <a:rPr lang="en-US" altLang="zh-CN" sz="2800" dirty="0"/>
              <a:t>-1305.4kJ/mol, -3284.4kJ/mol; </a:t>
            </a:r>
            <a:r>
              <a:rPr lang="zh-CN" altLang="en-US" sz="2800" dirty="0"/>
              <a:t>。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</a:t>
            </a:r>
            <a:r>
              <a:rPr lang="zh-CN" altLang="en-US" sz="2800" dirty="0"/>
              <a:t>的生成热是</a:t>
            </a:r>
            <a:r>
              <a:rPr lang="en-US" altLang="zh-CN" sz="2800" dirty="0"/>
              <a:t>226.8kJ/mol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求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 (l)</a:t>
            </a:r>
            <a:r>
              <a:rPr lang="zh-CN" altLang="en-US" sz="2800" dirty="0"/>
              <a:t>的生成热。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6 C (s) + 3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(l)</a:t>
            </a:r>
            <a:r>
              <a:rPr lang="en-US" altLang="zh-CN" sz="2800" dirty="0"/>
              <a:t>			H=?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660066"/>
                </a:solidFill>
              </a:rPr>
              <a:t> C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H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(g) +       O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(g)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2</a:t>
            </a:r>
            <a:r>
              <a:rPr lang="en-US" sz="2800" b="1" dirty="0">
                <a:solidFill>
                  <a:srgbClr val="660066"/>
                </a:solidFill>
              </a:rPr>
              <a:t>CO</a:t>
            </a:r>
            <a:r>
              <a:rPr lang="en-US" sz="2800" b="1" baseline="-25000" dirty="0">
                <a:solidFill>
                  <a:srgbClr val="660066"/>
                </a:solidFill>
              </a:rPr>
              <a:t>2</a:t>
            </a:r>
            <a:r>
              <a:rPr lang="en-US" sz="2800" b="1" dirty="0">
                <a:solidFill>
                  <a:srgbClr val="660066"/>
                </a:solidFill>
              </a:rPr>
              <a:t> (g)+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660066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O (l) </a:t>
            </a:r>
            <a:r>
              <a:rPr lang="en-US" altLang="zh-CN" sz="2800" b="1" dirty="0">
                <a:solidFill>
                  <a:srgbClr val="660066"/>
                </a:solidFill>
              </a:rPr>
              <a:t>	H= -1305.4kJ--1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</a:rPr>
              <a:t>C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6</a:t>
            </a:r>
            <a:r>
              <a:rPr lang="en-US" altLang="zh-CN" sz="2800" b="1" dirty="0">
                <a:solidFill>
                  <a:srgbClr val="660066"/>
                </a:solidFill>
              </a:rPr>
              <a:t>H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6</a:t>
            </a:r>
            <a:r>
              <a:rPr lang="en-US" altLang="zh-CN" sz="2800" b="1" dirty="0">
                <a:solidFill>
                  <a:srgbClr val="660066"/>
                </a:solidFill>
              </a:rPr>
              <a:t>(g) +       O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(g)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6</a:t>
            </a:r>
            <a:r>
              <a:rPr lang="en-US" sz="2800" b="1" dirty="0">
                <a:solidFill>
                  <a:srgbClr val="660066"/>
                </a:solidFill>
              </a:rPr>
              <a:t>CO</a:t>
            </a:r>
            <a:r>
              <a:rPr lang="en-US" sz="2800" b="1" baseline="-25000" dirty="0">
                <a:solidFill>
                  <a:srgbClr val="660066"/>
                </a:solidFill>
              </a:rPr>
              <a:t>2</a:t>
            </a:r>
            <a:r>
              <a:rPr lang="en-US" sz="2800" b="1" dirty="0">
                <a:solidFill>
                  <a:srgbClr val="660066"/>
                </a:solidFill>
              </a:rPr>
              <a:t> (g)+3 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660066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O (l) </a:t>
            </a:r>
            <a:r>
              <a:rPr lang="en-US" altLang="zh-CN" sz="2800" b="1" dirty="0">
                <a:solidFill>
                  <a:srgbClr val="660066"/>
                </a:solidFill>
              </a:rPr>
              <a:t>	H= -3284.4kJ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--2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660066"/>
                </a:solidFill>
              </a:rPr>
              <a:t> 2 C(s) + H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 (g) </a:t>
            </a:r>
            <a:r>
              <a:rPr lang="en-US" altLang="zh-CN" sz="2800" b="1" dirty="0">
                <a:solidFill>
                  <a:srgbClr val="660066"/>
                </a:solidFill>
                <a:sym typeface="Wingdings" pitchFamily="2" charset="2"/>
              </a:rPr>
              <a:t> </a:t>
            </a:r>
            <a:r>
              <a:rPr lang="en-US" altLang="zh-CN" sz="2800" b="1" dirty="0">
                <a:solidFill>
                  <a:srgbClr val="660066"/>
                </a:solidFill>
              </a:rPr>
              <a:t>C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H</a:t>
            </a:r>
            <a:r>
              <a:rPr lang="en-US" altLang="zh-CN" sz="28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800" b="1" dirty="0">
                <a:solidFill>
                  <a:srgbClr val="660066"/>
                </a:solidFill>
              </a:rPr>
              <a:t> (g) 		 	H =226.8kJ--3</a:t>
            </a:r>
          </a:p>
          <a:p>
            <a:pPr>
              <a:buNone/>
            </a:pPr>
            <a:r>
              <a:rPr lang="en-US" altLang="zh-CN" sz="2600" dirty="0"/>
              <a:t>3x3 	6C(s) + 3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(g) </a:t>
            </a:r>
            <a:r>
              <a:rPr lang="en-US" altLang="zh-CN" sz="2600" dirty="0">
                <a:sym typeface="Wingdings" pitchFamily="2" charset="2"/>
              </a:rPr>
              <a:t> 3</a:t>
            </a:r>
            <a:r>
              <a:rPr lang="en-US" altLang="zh-CN" sz="2600" dirty="0"/>
              <a:t> 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			H =680.4kJ</a:t>
            </a:r>
            <a:r>
              <a:rPr lang="en-US" altLang="zh-CN" sz="2600" baseline="-25000" dirty="0"/>
              <a:t> </a:t>
            </a:r>
            <a:r>
              <a:rPr lang="en-US" altLang="zh-CN" sz="2600" dirty="0"/>
              <a:t> --4</a:t>
            </a:r>
          </a:p>
          <a:p>
            <a:pPr>
              <a:buNone/>
            </a:pPr>
            <a:r>
              <a:rPr lang="en-US" altLang="zh-CN" sz="2600" dirty="0"/>
              <a:t>1x3    </a:t>
            </a:r>
            <a:r>
              <a:rPr lang="en-US" altLang="zh-CN" sz="2600" b="1" dirty="0">
                <a:solidFill>
                  <a:srgbClr val="660066"/>
                </a:solidFill>
              </a:rPr>
              <a:t> </a:t>
            </a:r>
            <a:r>
              <a:rPr lang="en-US" altLang="zh-CN" sz="2600" dirty="0"/>
              <a:t>3C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(g)+       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(g)</a:t>
            </a:r>
            <a:r>
              <a:rPr lang="en-US" altLang="zh-CN" sz="2600" dirty="0">
                <a:sym typeface="Wingdings" pitchFamily="2" charset="2"/>
              </a:rPr>
              <a:t>6</a:t>
            </a:r>
            <a:r>
              <a:rPr lang="en-US" sz="2600" dirty="0"/>
              <a:t>CO</a:t>
            </a:r>
            <a:r>
              <a:rPr lang="en-US" sz="2600" baseline="-25000" dirty="0"/>
              <a:t>2</a:t>
            </a:r>
            <a:r>
              <a:rPr lang="en-US" sz="2600" dirty="0"/>
              <a:t>(g)+3</a:t>
            </a:r>
            <a:r>
              <a:rPr lang="en-US" altLang="zh-CN" sz="2600" dirty="0">
                <a:sym typeface="Wingdings" pitchFamily="2" charset="2"/>
              </a:rPr>
              <a:t>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 (l) </a:t>
            </a:r>
            <a:r>
              <a:rPr lang="en-US" altLang="zh-CN" sz="2600" dirty="0"/>
              <a:t>   	H= -3916.2kJ--5</a:t>
            </a:r>
          </a:p>
          <a:p>
            <a:pPr>
              <a:buNone/>
            </a:pPr>
            <a:r>
              <a:rPr lang="en-US" altLang="zh-CN" sz="2600" dirty="0">
                <a:sym typeface="Wingdings" pitchFamily="2" charset="2"/>
              </a:rPr>
              <a:t>2</a:t>
            </a:r>
            <a:r>
              <a:rPr lang="zh-CN" altLang="en-US" sz="2600" dirty="0">
                <a:sym typeface="Wingdings" pitchFamily="2" charset="2"/>
              </a:rPr>
              <a:t>反写</a:t>
            </a:r>
            <a:r>
              <a:rPr lang="en-US" altLang="zh-CN" sz="2600" dirty="0">
                <a:sym typeface="Wingdings" pitchFamily="2" charset="2"/>
              </a:rPr>
              <a:t> 6</a:t>
            </a:r>
            <a:r>
              <a:rPr lang="en-US" sz="2600" dirty="0"/>
              <a:t>CO</a:t>
            </a:r>
            <a:r>
              <a:rPr lang="en-US" sz="2600" baseline="-25000" dirty="0"/>
              <a:t>2</a:t>
            </a:r>
            <a:r>
              <a:rPr lang="en-US" sz="2600" dirty="0"/>
              <a:t>(g)+3</a:t>
            </a:r>
            <a:r>
              <a:rPr lang="en-US" altLang="zh-CN" sz="2600" dirty="0">
                <a:sym typeface="Wingdings" pitchFamily="2" charset="2"/>
              </a:rPr>
              <a:t>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O(l) 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6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6</a:t>
            </a:r>
            <a:r>
              <a:rPr lang="en-US" altLang="zh-CN" sz="2600" dirty="0"/>
              <a:t>(g)+      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(g)</a:t>
            </a:r>
            <a:r>
              <a:rPr lang="en-US" altLang="zh-CN" sz="2600" dirty="0">
                <a:sym typeface="Wingdings" pitchFamily="2" charset="2"/>
              </a:rPr>
              <a:t> 	H= 3284.4kJ—6</a:t>
            </a:r>
          </a:p>
          <a:p>
            <a:pPr>
              <a:buNone/>
            </a:pPr>
            <a:r>
              <a:rPr lang="en-US" altLang="zh-CN" sz="2600" baseline="-25000" dirty="0">
                <a:solidFill>
                  <a:srgbClr val="002060"/>
                </a:solidFill>
              </a:rPr>
              <a:t> </a:t>
            </a:r>
            <a:r>
              <a:rPr lang="en-US" altLang="zh-CN" sz="2600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</a:rPr>
              <a:t> 4+5+6	</a:t>
            </a:r>
            <a:r>
              <a:rPr lang="en-US" altLang="zh-CN" sz="2800" dirty="0">
                <a:solidFill>
                  <a:srgbClr val="002060"/>
                </a:solidFill>
              </a:rPr>
              <a:t>6 C (s) + 3 H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800" dirty="0">
                <a:solidFill>
                  <a:srgbClr val="002060"/>
                </a:solidFill>
              </a:rPr>
              <a:t>(g)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</a:t>
            </a:r>
            <a:r>
              <a:rPr lang="en-US" sz="2800" dirty="0">
                <a:solidFill>
                  <a:srgbClr val="002060"/>
                </a:solidFill>
              </a:rPr>
              <a:t>C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6</a:t>
            </a:r>
            <a:r>
              <a:rPr lang="en-US" altLang="zh-CN" sz="2800" dirty="0">
                <a:solidFill>
                  <a:srgbClr val="002060"/>
                </a:solidFill>
              </a:rPr>
              <a:t>H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6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altLang="zh-CN" sz="2800" dirty="0">
                <a:solidFill>
                  <a:srgbClr val="002060"/>
                </a:solidFill>
              </a:rPr>
              <a:t>(l)</a:t>
            </a:r>
            <a:r>
              <a:rPr lang="en-US" altLang="zh-CN" sz="2400" dirty="0">
                <a:solidFill>
                  <a:srgbClr val="002060"/>
                </a:solidFill>
              </a:rPr>
              <a:t>		H=48.6kJ</a:t>
            </a:r>
            <a:endParaRPr lang="en-US" altLang="zh-CN" sz="2600" baseline="-25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zh-CN" sz="2600" b="1" baseline="-25000" dirty="0">
                <a:solidFill>
                  <a:srgbClr val="C00000"/>
                </a:solidFill>
              </a:rPr>
              <a:t> 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en-US" sz="2600" b="1" dirty="0">
                <a:solidFill>
                  <a:srgbClr val="002060"/>
                </a:solidFill>
              </a:rPr>
              <a:t>答</a:t>
            </a:r>
            <a:r>
              <a:rPr lang="en-US" altLang="zh-CN" sz="2600" b="1" dirty="0">
                <a:solidFill>
                  <a:srgbClr val="002060"/>
                </a:solidFill>
              </a:rPr>
              <a:t>:</a:t>
            </a:r>
            <a:r>
              <a:rPr lang="en-US" altLang="zh-CN" sz="2600" dirty="0">
                <a:solidFill>
                  <a:srgbClr val="002060"/>
                </a:solidFill>
              </a:rPr>
              <a:t>C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6</a:t>
            </a:r>
            <a:r>
              <a:rPr lang="en-US" altLang="zh-CN" sz="2600" dirty="0">
                <a:solidFill>
                  <a:srgbClr val="002060"/>
                </a:solidFill>
              </a:rPr>
              <a:t>H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6</a:t>
            </a:r>
            <a:r>
              <a:rPr lang="en-US" altLang="zh-CN" sz="2600" dirty="0">
                <a:solidFill>
                  <a:srgbClr val="002060"/>
                </a:solidFill>
              </a:rPr>
              <a:t> (l)</a:t>
            </a:r>
            <a:r>
              <a:rPr lang="zh-CN" altLang="en-US" sz="2600" dirty="0">
                <a:solidFill>
                  <a:srgbClr val="002060"/>
                </a:solidFill>
              </a:rPr>
              <a:t>的生成热是</a:t>
            </a:r>
            <a:r>
              <a:rPr lang="en-US" altLang="zh-CN" sz="2600" dirty="0">
                <a:solidFill>
                  <a:srgbClr val="002060"/>
                </a:solidFill>
              </a:rPr>
              <a:t>48.6kJ/mol.</a:t>
            </a:r>
          </a:p>
          <a:p>
            <a:pPr>
              <a:buNone/>
            </a:pPr>
            <a:endParaRPr lang="en-US" altLang="zh-CN" sz="2800" b="1" dirty="0">
              <a:solidFill>
                <a:srgbClr val="660066"/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6553200" y="1905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6553200" y="2438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6553200" y="2971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6553200" y="3505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3808412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6553200" y="3962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6553200" y="4495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6553200" y="4953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-76200" y="5332412"/>
            <a:ext cx="92202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6553200" y="5410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rot="10800000" flipV="1">
            <a:off x="37338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V="1">
            <a:off x="1295400" y="4419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2590800" y="4343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 flipV="1">
            <a:off x="5105400" y="4800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 flipV="1">
            <a:off x="4038601" y="44195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 flipV="1">
            <a:off x="1219200" y="48767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 flipV="1">
            <a:off x="5410200" y="44195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0800000" flipV="1">
            <a:off x="2590800" y="4876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3"/>
          <p:cNvGrpSpPr/>
          <p:nvPr/>
        </p:nvGrpSpPr>
        <p:grpSpPr>
          <a:xfrm>
            <a:off x="1752600" y="2133600"/>
            <a:ext cx="685797" cy="735687"/>
            <a:chOff x="2950713" y="1442679"/>
            <a:chExt cx="483072" cy="735687"/>
          </a:xfrm>
        </p:grpSpPr>
        <p:grpSp>
          <p:nvGrpSpPr>
            <p:cNvPr id="28" name="Group 24"/>
            <p:cNvGrpSpPr/>
            <p:nvPr/>
          </p:nvGrpSpPr>
          <p:grpSpPr>
            <a:xfrm>
              <a:off x="2950713" y="1442679"/>
              <a:ext cx="448084" cy="430887"/>
              <a:chOff x="2950713" y="1442679"/>
              <a:chExt cx="448084" cy="430887"/>
            </a:xfrm>
          </p:grpSpPr>
          <p:cxnSp>
            <p:nvCxnSpPr>
              <p:cNvPr id="30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3004383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5</a:t>
                </a:r>
              </a:p>
            </p:txBody>
          </p:sp>
        </p:grpSp>
        <p:sp>
          <p:nvSpPr>
            <p:cNvPr id="29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2" name="Group 3"/>
          <p:cNvGrpSpPr/>
          <p:nvPr/>
        </p:nvGrpSpPr>
        <p:grpSpPr>
          <a:xfrm>
            <a:off x="1752600" y="2693313"/>
            <a:ext cx="685800" cy="735687"/>
            <a:chOff x="2950711" y="1442679"/>
            <a:chExt cx="483074" cy="735687"/>
          </a:xfrm>
        </p:grpSpPr>
        <p:grpSp>
          <p:nvGrpSpPr>
            <p:cNvPr id="33" name="Group 24"/>
            <p:cNvGrpSpPr/>
            <p:nvPr/>
          </p:nvGrpSpPr>
          <p:grpSpPr>
            <a:xfrm>
              <a:off x="2950711" y="1442679"/>
              <a:ext cx="394414" cy="430887"/>
              <a:chOff x="2950711" y="1442679"/>
              <a:chExt cx="394414" cy="430887"/>
            </a:xfrm>
          </p:grpSpPr>
          <p:cxnSp>
            <p:nvCxnSpPr>
              <p:cNvPr id="35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2950711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15</a:t>
                </a:r>
              </a:p>
            </p:txBody>
          </p:sp>
        </p:grpSp>
        <p:sp>
          <p:nvSpPr>
            <p:cNvPr id="34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7" name="Group 3"/>
          <p:cNvGrpSpPr/>
          <p:nvPr/>
        </p:nvGrpSpPr>
        <p:grpSpPr>
          <a:xfrm>
            <a:off x="2590800" y="4191000"/>
            <a:ext cx="685800" cy="735687"/>
            <a:chOff x="2950711" y="1442679"/>
            <a:chExt cx="483074" cy="735687"/>
          </a:xfrm>
        </p:grpSpPr>
        <p:grpSp>
          <p:nvGrpSpPr>
            <p:cNvPr id="38" name="Group 24"/>
            <p:cNvGrpSpPr/>
            <p:nvPr/>
          </p:nvGrpSpPr>
          <p:grpSpPr>
            <a:xfrm>
              <a:off x="2950711" y="1442679"/>
              <a:ext cx="394414" cy="430887"/>
              <a:chOff x="2950711" y="1442679"/>
              <a:chExt cx="394414" cy="430887"/>
            </a:xfrm>
          </p:grpSpPr>
          <p:cxnSp>
            <p:nvCxnSpPr>
              <p:cNvPr id="40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2950711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15</a:t>
                </a:r>
              </a:p>
            </p:txBody>
          </p:sp>
        </p:grpSp>
        <p:sp>
          <p:nvSpPr>
            <p:cNvPr id="39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2" name="Group 3"/>
          <p:cNvGrpSpPr/>
          <p:nvPr/>
        </p:nvGrpSpPr>
        <p:grpSpPr>
          <a:xfrm>
            <a:off x="4953000" y="4674513"/>
            <a:ext cx="685800" cy="735687"/>
            <a:chOff x="2950711" y="1442679"/>
            <a:chExt cx="483074" cy="735687"/>
          </a:xfrm>
        </p:grpSpPr>
        <p:grpSp>
          <p:nvGrpSpPr>
            <p:cNvPr id="43" name="Group 24"/>
            <p:cNvGrpSpPr/>
            <p:nvPr/>
          </p:nvGrpSpPr>
          <p:grpSpPr>
            <a:xfrm>
              <a:off x="2950711" y="1442679"/>
              <a:ext cx="394414" cy="430887"/>
              <a:chOff x="2950711" y="1442679"/>
              <a:chExt cx="394414" cy="430887"/>
            </a:xfrm>
          </p:grpSpPr>
          <p:cxnSp>
            <p:nvCxnSpPr>
              <p:cNvPr id="45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2950711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15</a:t>
                </a:r>
              </a:p>
            </p:txBody>
          </p:sp>
        </p:grpSp>
        <p:sp>
          <p:nvSpPr>
            <p:cNvPr id="44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  <p:bldP spid="7" grpId="0" uiExpand="1" animBg="1"/>
      <p:bldP spid="9" grpId="0" uiExpand="1" animBg="1"/>
      <p:bldP spid="10" grpId="0" uiExpand="1" animBg="1"/>
      <p:bldP spid="11" grpId="0" uiExpan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问题解决：已知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(g)</a:t>
            </a:r>
            <a:r>
              <a:rPr lang="zh-CN" altLang="en-US" sz="2800" dirty="0"/>
              <a:t>、石墨和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zh-CN" altLang="en-US" sz="2800" dirty="0"/>
              <a:t>的燃烧热分别为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-890.3kJ/mol</a:t>
            </a:r>
            <a:r>
              <a:rPr lang="zh-CN" altLang="en-US" sz="2800" dirty="0"/>
              <a:t>、</a:t>
            </a:r>
            <a:r>
              <a:rPr lang="en-US" altLang="zh-CN" sz="2800" dirty="0"/>
              <a:t>-393.5kJ/mol</a:t>
            </a:r>
            <a:r>
              <a:rPr lang="zh-CN" altLang="en-US" sz="2800" dirty="0"/>
              <a:t>、</a:t>
            </a:r>
            <a:r>
              <a:rPr lang="en-US" altLang="zh-CN" sz="2800" dirty="0"/>
              <a:t>-285.8kJ/mol</a:t>
            </a:r>
            <a:r>
              <a:rPr lang="zh-CN" altLang="en-US" sz="2800" dirty="0"/>
              <a:t>。求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(g)</a:t>
            </a:r>
            <a:r>
              <a:rPr lang="zh-CN" altLang="en-US" sz="2800" dirty="0"/>
              <a:t>的生成热。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	C (s) 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 (g)</a:t>
            </a:r>
            <a:r>
              <a:rPr lang="en-US" altLang="zh-CN" sz="2800" dirty="0"/>
              <a:t>       	H = ?</a:t>
            </a:r>
          </a:p>
          <a:p>
            <a:pPr>
              <a:buNone/>
            </a:pPr>
            <a:r>
              <a:rPr lang="en-US" altLang="zh-CN" sz="2800" dirty="0"/>
              <a:t> CH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(g) + 2O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(g) +2H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O(l)	 H=-890.3kJ ----1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(</a:t>
            </a:r>
            <a:r>
              <a:rPr lang="zh-CN" altLang="en-US" sz="2800" baseline="-25000" dirty="0"/>
              <a:t>石墨</a:t>
            </a:r>
            <a:r>
              <a:rPr lang="en-US" altLang="zh-CN" sz="2800" baseline="-25000" dirty="0"/>
              <a:t>s)</a:t>
            </a:r>
            <a:r>
              <a:rPr lang="en-US" altLang="zh-CN" sz="2800" dirty="0"/>
              <a:t> +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 CO</a:t>
            </a:r>
            <a:r>
              <a:rPr lang="en-US" sz="2800" baseline="-25000" dirty="0"/>
              <a:t>2</a:t>
            </a:r>
            <a:r>
              <a:rPr lang="en-US" sz="2800" dirty="0"/>
              <a:t> (g)</a:t>
            </a:r>
            <a:r>
              <a:rPr lang="zh-CN" altLang="en-US" sz="2800" dirty="0"/>
              <a:t> </a:t>
            </a:r>
            <a:r>
              <a:rPr lang="en-US" altLang="zh-CN" sz="2800" dirty="0"/>
              <a:t>		</a:t>
            </a:r>
            <a:r>
              <a:rPr lang="en-US" altLang="zh-CN" sz="2800" dirty="0">
                <a:sym typeface="Wingdings" pitchFamily="2" charset="2"/>
              </a:rPr>
              <a:t>H= -393.5kJ -----2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(g)+  ½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 </a:t>
            </a:r>
            <a:r>
              <a:rPr lang="en-US" altLang="zh-CN" sz="2800" dirty="0"/>
              <a:t>		H= -285.8kJ  ------3</a:t>
            </a:r>
          </a:p>
          <a:p>
            <a:pPr>
              <a:buNone/>
            </a:pPr>
            <a:r>
              <a:rPr lang="en-US" altLang="zh-CN" sz="2800" dirty="0"/>
              <a:t>1</a:t>
            </a:r>
            <a:r>
              <a:rPr lang="zh-CN" altLang="en-US" sz="2800" dirty="0">
                <a:sym typeface="Wingdings" pitchFamily="2" charset="2"/>
              </a:rPr>
              <a:t>反写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(g)+2H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O(l)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(g) + 2O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 </a:t>
            </a:r>
            <a:r>
              <a:rPr lang="en-US" altLang="zh-CN" sz="2800" dirty="0">
                <a:sym typeface="Wingdings" pitchFamily="2" charset="2"/>
              </a:rPr>
              <a:t>     H= 890.3kJ ---</a:t>
            </a:r>
            <a:r>
              <a:rPr lang="en-US" altLang="zh-CN" sz="2800" dirty="0"/>
              <a:t>4</a:t>
            </a:r>
          </a:p>
          <a:p>
            <a:pPr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不变</a:t>
            </a:r>
            <a:r>
              <a:rPr lang="en-US" altLang="zh-CN" sz="2800" dirty="0"/>
              <a:t>	 C(s) +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 CO</a:t>
            </a:r>
            <a:r>
              <a:rPr lang="en-US" sz="2800" baseline="-25000" dirty="0"/>
              <a:t>2</a:t>
            </a:r>
            <a:r>
              <a:rPr lang="en-US" sz="2800" dirty="0"/>
              <a:t> (g)</a:t>
            </a:r>
            <a:r>
              <a:rPr lang="zh-CN" altLang="en-US" sz="2800" dirty="0"/>
              <a:t> </a:t>
            </a:r>
            <a:r>
              <a:rPr lang="en-US" altLang="zh-CN" sz="2800" dirty="0"/>
              <a:t>		</a:t>
            </a:r>
            <a:r>
              <a:rPr lang="en-US" altLang="zh-CN" sz="2800" dirty="0">
                <a:sym typeface="Wingdings" pitchFamily="2" charset="2"/>
              </a:rPr>
              <a:t>H= -393.5kJ </a:t>
            </a:r>
            <a:r>
              <a:rPr lang="en-US" altLang="zh-CN" sz="2800" dirty="0"/>
              <a:t>-----2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3</a:t>
            </a:r>
            <a:r>
              <a:rPr lang="en-US" altLang="zh-CN" sz="2800" dirty="0"/>
              <a:t>x2 	2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 </a:t>
            </a:r>
            <a:r>
              <a:rPr lang="en-US" altLang="zh-CN" sz="2800" dirty="0"/>
              <a:t>	H= -571.6kJ ----</a:t>
            </a:r>
            <a:r>
              <a:rPr lang="en-US" altLang="zh-CN" sz="2800" dirty="0">
                <a:sym typeface="Wingdings" pitchFamily="2" charset="2"/>
              </a:rPr>
              <a:t>5</a:t>
            </a:r>
          </a:p>
          <a:p>
            <a:pPr>
              <a:buNone/>
            </a:pPr>
            <a:r>
              <a:rPr lang="en-US" altLang="zh-CN" sz="2800" dirty="0"/>
              <a:t>4+2+5</a:t>
            </a:r>
            <a:r>
              <a:rPr lang="zh-CN" altLang="en-US" sz="2800" dirty="0"/>
              <a:t>：</a:t>
            </a:r>
            <a:r>
              <a:rPr lang="en-US" altLang="zh-CN" sz="2800" dirty="0"/>
              <a:t>	C (s) 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 (g)</a:t>
            </a:r>
            <a:r>
              <a:rPr lang="en-US" altLang="zh-CN" sz="2800" dirty="0"/>
              <a:t>         H=-74.8kJ</a:t>
            </a:r>
            <a:endParaRPr lang="en-US" altLang="zh-CN" sz="2800" baseline="-25000" dirty="0"/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</a:t>
            </a:r>
            <a:r>
              <a:rPr lang="zh-CN" altLang="en-US" sz="2800" dirty="0"/>
              <a:t>答</a:t>
            </a:r>
            <a:r>
              <a:rPr lang="en-US" altLang="zh-CN" sz="2800" dirty="0"/>
              <a:t>: CH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(g)</a:t>
            </a:r>
            <a:r>
              <a:rPr lang="zh-CN" altLang="en-US" sz="2800" dirty="0"/>
              <a:t>的标准生成热是</a:t>
            </a:r>
            <a:r>
              <a:rPr lang="en-US" altLang="zh-CN" sz="2800" dirty="0"/>
              <a:t>-74.8kJ/mol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4" name="Isosceles Triangle 3"/>
          <p:cNvSpPr/>
          <p:nvPr/>
        </p:nvSpPr>
        <p:spPr>
          <a:xfrm>
            <a:off x="5638800" y="1905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715000" y="2438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638800" y="2971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5638800" y="3429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3808412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6400800" y="3962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5638800" y="4495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638800" y="4953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-76200" y="5332412"/>
            <a:ext cx="92202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5943600" y="548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rot="10800000" flipV="1">
            <a:off x="13716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V="1">
            <a:off x="3581400" y="4495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25908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 flipV="1">
            <a:off x="3810000" y="4953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 flipV="1">
            <a:off x="51054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 flipV="1">
            <a:off x="2057400" y="4419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 flipV="1">
            <a:off x="2438400" y="4953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  <p:bldP spid="7" grpId="0" uiExpand="1" animBg="1"/>
      <p:bldP spid="9" grpId="0" uiExpand="1" animBg="1"/>
      <p:bldP spid="10" grpId="0" uiExpand="1" animBg="1"/>
      <p:bldP spid="11" grpId="0" uiExpan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7848600" cy="50292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>
                <a:sym typeface="Wingdings" pitchFamily="2" charset="2"/>
              </a:rPr>
              <a:t>(1) -241.8kJ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(2) +241.8kJ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2. </a:t>
            </a:r>
            <a:r>
              <a:rPr lang="zh-CN" altLang="en-US" sz="2800" dirty="0">
                <a:sym typeface="Wingdings" pitchFamily="2" charset="2"/>
              </a:rPr>
              <a:t>求 </a:t>
            </a:r>
            <a:r>
              <a:rPr lang="en-US" altLang="zh-CN" sz="2800" dirty="0">
                <a:sym typeface="Wingdings" pitchFamily="2" charset="2"/>
              </a:rPr>
              <a:t>2</a:t>
            </a:r>
            <a:r>
              <a:rPr lang="en-US" altLang="zh-CN" sz="2800" dirty="0"/>
              <a:t>C (s)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C</a:t>
            </a:r>
            <a:r>
              <a:rPr lang="en-US" altLang="zh-CN" sz="2800" baseline="-25000" dirty="0"/>
              <a:t>2</a:t>
            </a:r>
            <a:r>
              <a:rPr lang="en-US" sz="2800" dirty="0"/>
              <a:t>H</a:t>
            </a:r>
            <a:r>
              <a:rPr lang="en-US" altLang="zh-CN" sz="2800" baseline="-25000" dirty="0"/>
              <a:t>2</a:t>
            </a:r>
            <a:r>
              <a:rPr lang="en-US" sz="2800" dirty="0"/>
              <a:t> (g)</a:t>
            </a:r>
            <a:r>
              <a:rPr lang="en-US" altLang="zh-CN" sz="2800" dirty="0"/>
              <a:t> 	∆H=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1x2	</a:t>
            </a:r>
            <a:r>
              <a:rPr lang="en-US" altLang="zh-CN" sz="2800" dirty="0"/>
              <a:t> 2C</a:t>
            </a:r>
            <a:r>
              <a:rPr lang="en-US" altLang="zh-CN" sz="2800" baseline="-25000" dirty="0"/>
              <a:t>(</a:t>
            </a:r>
            <a:r>
              <a:rPr lang="zh-CN" altLang="en-US" sz="2800" baseline="-25000" dirty="0"/>
              <a:t>石墨</a:t>
            </a:r>
            <a:r>
              <a:rPr lang="en-US" altLang="zh-CN" sz="2800" baseline="-25000" dirty="0"/>
              <a:t>s)</a:t>
            </a:r>
            <a:r>
              <a:rPr lang="en-US" altLang="zh-CN" sz="2800" dirty="0"/>
              <a:t> + 2O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 2CO</a:t>
            </a:r>
            <a:r>
              <a:rPr lang="en-US" sz="2800" baseline="-25000" dirty="0"/>
              <a:t>2</a:t>
            </a:r>
            <a:r>
              <a:rPr lang="en-US" sz="2800" dirty="0"/>
              <a:t>(g)</a:t>
            </a:r>
            <a:r>
              <a:rPr lang="zh-CN" altLang="en-US" sz="2800" dirty="0"/>
              <a:t> </a:t>
            </a:r>
            <a:r>
              <a:rPr lang="en-US" altLang="zh-CN" sz="2800" dirty="0"/>
              <a:t>	∆</a:t>
            </a:r>
            <a:r>
              <a:rPr lang="en-US" altLang="zh-CN" sz="2800" dirty="0">
                <a:sym typeface="Wingdings" pitchFamily="2" charset="2"/>
              </a:rPr>
              <a:t>H= -787kJ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2x ½ 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(g)+  ½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 </a:t>
            </a:r>
            <a:r>
              <a:rPr lang="en-US" altLang="zh-CN" sz="2800" dirty="0"/>
              <a:t>	 ∆H= -285.8kJ 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3x -½   2CO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O(l)</a:t>
            </a:r>
            <a:r>
              <a:rPr lang="en-US" sz="2800" dirty="0"/>
              <a:t>C</a:t>
            </a:r>
            <a:r>
              <a:rPr lang="en-US" altLang="zh-CN" sz="2800" baseline="-25000" dirty="0"/>
              <a:t>2</a:t>
            </a:r>
            <a:r>
              <a:rPr lang="en-US" sz="2800" dirty="0"/>
              <a:t>H</a:t>
            </a:r>
            <a:r>
              <a:rPr lang="en-US" altLang="zh-CN" sz="2800" baseline="-25000" dirty="0"/>
              <a:t>2</a:t>
            </a:r>
            <a:r>
              <a:rPr lang="en-US" sz="2800" dirty="0"/>
              <a:t>(g) +2.5 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					</a:t>
            </a:r>
            <a:r>
              <a:rPr lang="en-US" altLang="zh-CN" sz="2800" dirty="0"/>
              <a:t> ∆H= 1299.6kJ</a:t>
            </a:r>
          </a:p>
          <a:p>
            <a:pPr marL="514350" indent="-514350">
              <a:buNone/>
            </a:pPr>
            <a:r>
              <a:rPr lang="zh-CN" altLang="en-US" sz="2800" dirty="0"/>
              <a:t>三式相加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2</a:t>
            </a:r>
            <a:r>
              <a:rPr lang="en-US" altLang="zh-CN" sz="2800" dirty="0"/>
              <a:t>C (s)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/>
              <a:t>C</a:t>
            </a:r>
            <a:r>
              <a:rPr lang="en-US" altLang="zh-CN" sz="2800" baseline="-25000" dirty="0"/>
              <a:t>2</a:t>
            </a:r>
            <a:r>
              <a:rPr lang="en-US" sz="2800" dirty="0"/>
              <a:t>H</a:t>
            </a:r>
            <a:r>
              <a:rPr lang="en-US" altLang="zh-CN" sz="2800" baseline="-25000" dirty="0"/>
              <a:t>2</a:t>
            </a:r>
            <a:r>
              <a:rPr lang="en-US" sz="2800" dirty="0"/>
              <a:t> (g)</a:t>
            </a:r>
            <a:r>
              <a:rPr lang="en-US" altLang="zh-CN" sz="2800" dirty="0"/>
              <a:t> 	∆H=226.8kJ</a:t>
            </a: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思考题</a:t>
            </a: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19f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rot="10800000" flipV="1">
            <a:off x="4495800" y="2819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10800000" flipV="1">
            <a:off x="13716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0800000" flipV="1">
            <a:off x="4191000" y="3352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2819400" y="3810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2743200" y="2819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590800" y="3276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 flipV="1">
            <a:off x="5486400" y="3810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84469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化石燃料有限，且不可再生，最终将会枯竭。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新能源：太阳能、地热能、风能、海洋能、生物质能等。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地球上的基本能源：太阳能。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19.4</a:t>
            </a:r>
            <a:r>
              <a:rPr kumimoji="0" lang="en-US" altLang="zh-CN" sz="44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lang="zh-CN" altLang="en-US" sz="4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+mj-ea"/>
                <a:cs typeface="+mj-cs"/>
              </a:rPr>
              <a:t>能量的充分利用</a:t>
            </a:r>
            <a:endParaRPr kumimoji="0" lang="en-US" sz="4400" b="1" i="0" u="none" strike="noStrike" kern="1200" cap="none" spc="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5844690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黑斯定律补充题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48600" cy="639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旧课本练习</a:t>
            </a:r>
            <a:r>
              <a:rPr lang="en-US" altLang="zh-CN" dirty="0"/>
              <a:t>17b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(g) + 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 2HF(g)			H =-537kJ ----1</a:t>
            </a:r>
          </a:p>
          <a:p>
            <a:pPr>
              <a:buNone/>
            </a:pPr>
            <a:r>
              <a:rPr lang="en-US" sz="3000" dirty="0"/>
              <a:t>C(s) + 2F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 CF</a:t>
            </a:r>
            <a:r>
              <a:rPr lang="en-US" sz="3000" baseline="-25000" dirty="0">
                <a:sym typeface="Wingdings" pitchFamily="2" charset="2"/>
              </a:rPr>
              <a:t>4</a:t>
            </a:r>
            <a:r>
              <a:rPr lang="en-US" sz="3000" dirty="0">
                <a:sym typeface="Wingdings" pitchFamily="2" charset="2"/>
              </a:rPr>
              <a:t> (g)			H=-680kJ ----2</a:t>
            </a:r>
          </a:p>
          <a:p>
            <a:pPr>
              <a:buNone/>
            </a:pPr>
            <a:r>
              <a:rPr lang="en-US" sz="3000" dirty="0">
                <a:sym typeface="Wingdings" pitchFamily="2" charset="2"/>
              </a:rPr>
              <a:t>2C (s) + 2 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  C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H</a:t>
            </a:r>
            <a:r>
              <a:rPr lang="en-US" sz="3000" baseline="-25000" dirty="0">
                <a:sym typeface="Wingdings" pitchFamily="2" charset="2"/>
              </a:rPr>
              <a:t>4</a:t>
            </a:r>
            <a:r>
              <a:rPr lang="en-US" sz="3000" dirty="0">
                <a:sym typeface="Wingdings" pitchFamily="2" charset="2"/>
              </a:rPr>
              <a:t> (g)		H= 52.3kJ ---3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求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(g)+6F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(g)</a:t>
            </a:r>
            <a:r>
              <a:rPr lang="en-US" altLang="zh-CN" sz="3000" dirty="0">
                <a:sym typeface="Wingdings" pitchFamily="2" charset="2"/>
              </a:rPr>
              <a:t>2CF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 + 4HF(g)	H =?</a:t>
            </a:r>
          </a:p>
          <a:p>
            <a:pPr>
              <a:buNone/>
            </a:pPr>
            <a:r>
              <a:rPr lang="en-US" sz="3000" dirty="0">
                <a:sym typeface="Wingdings" pitchFamily="2" charset="2"/>
              </a:rPr>
              <a:t>1x2	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(g) + 2F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 4HF(g)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 	H =-1074kJ ----4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2x2	</a:t>
            </a:r>
            <a:r>
              <a:rPr lang="en-US" sz="3000" dirty="0"/>
              <a:t> 2C(s) + 4F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2CF</a:t>
            </a:r>
            <a:r>
              <a:rPr lang="en-US" sz="3000" baseline="-25000" dirty="0">
                <a:sym typeface="Wingdings" pitchFamily="2" charset="2"/>
              </a:rPr>
              <a:t>4</a:t>
            </a:r>
            <a:r>
              <a:rPr lang="en-US" sz="3000" dirty="0">
                <a:sym typeface="Wingdings" pitchFamily="2" charset="2"/>
              </a:rPr>
              <a:t> (g) 	H=-1360kJ ----5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3</a:t>
            </a:r>
            <a:r>
              <a:rPr lang="zh-CN" altLang="en-US" sz="3000" dirty="0">
                <a:sym typeface="Wingdings" pitchFamily="2" charset="2"/>
              </a:rPr>
              <a:t>反写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sz="3000" dirty="0">
                <a:sym typeface="Wingdings" pitchFamily="2" charset="2"/>
              </a:rPr>
              <a:t>C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H</a:t>
            </a:r>
            <a:r>
              <a:rPr lang="en-US" sz="3000" baseline="-25000" dirty="0">
                <a:sym typeface="Wingdings" pitchFamily="2" charset="2"/>
              </a:rPr>
              <a:t>4</a:t>
            </a:r>
            <a:r>
              <a:rPr lang="en-US" sz="3000" dirty="0">
                <a:sym typeface="Wingdings" pitchFamily="2" charset="2"/>
              </a:rPr>
              <a:t> (g) </a:t>
            </a:r>
            <a:r>
              <a:rPr lang="en-US" altLang="zh-CN" sz="3000" dirty="0">
                <a:sym typeface="Wingdings" pitchFamily="2" charset="2"/>
              </a:rPr>
              <a:t> 2C</a:t>
            </a:r>
            <a:r>
              <a:rPr lang="en-US" sz="3000" dirty="0">
                <a:sym typeface="Wingdings" pitchFamily="2" charset="2"/>
              </a:rPr>
              <a:t>(s) + 2H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	H= -52.3kJ ---6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4+5+6: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(g)+6F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(g)</a:t>
            </a:r>
            <a:r>
              <a:rPr lang="en-US" altLang="zh-CN" sz="3000" dirty="0">
                <a:sym typeface="Wingdings" pitchFamily="2" charset="2"/>
              </a:rPr>
              <a:t>2CF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 + 4HF(g) 	H =-2486.3kJ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/>
          </a:p>
        </p:txBody>
      </p:sp>
      <p:sp>
        <p:nvSpPr>
          <p:cNvPr id="4" name="Isosceles Triangle 3"/>
          <p:cNvSpPr/>
          <p:nvPr/>
        </p:nvSpPr>
        <p:spPr>
          <a:xfrm>
            <a:off x="5715000" y="1143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715000" y="167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715000" y="2209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6629400" y="2743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0" y="3048000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5715000" y="3276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5715000" y="3886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715000" y="4343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6200" y="4649788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1371600" y="3276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4419600" y="4343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1219200" y="3810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0800000" flipV="1">
            <a:off x="3124200" y="4343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5715000" y="548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48600" cy="639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旧课本练习</a:t>
            </a:r>
            <a:r>
              <a:rPr lang="en-US" altLang="zh-CN" dirty="0"/>
              <a:t>17b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ym typeface="Wingdings" pitchFamily="2" charset="2"/>
              </a:rPr>
              <a:t>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+ ½ 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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O (l) </a:t>
            </a:r>
            <a:r>
              <a:rPr lang="en-US" altLang="zh-CN" sz="2800" dirty="0">
                <a:sym typeface="Wingdings" pitchFamily="2" charset="2"/>
              </a:rPr>
              <a:t>		H</a:t>
            </a:r>
            <a:r>
              <a:rPr lang="en-US" altLang="zh-CN" sz="2800" baseline="30000" dirty="0">
                <a:sym typeface="Wingdings" pitchFamily="2" charset="2"/>
              </a:rPr>
              <a:t>o</a:t>
            </a:r>
            <a:r>
              <a:rPr lang="en-US" altLang="zh-CN" sz="2800" dirty="0">
                <a:sym typeface="Wingdings" pitchFamily="2" charset="2"/>
              </a:rPr>
              <a:t> =-285.8kJ ----1</a:t>
            </a:r>
          </a:p>
          <a:p>
            <a:pPr>
              <a:buNone/>
            </a:pPr>
            <a:r>
              <a:rPr lang="en-US" sz="2800" dirty="0">
                <a:sym typeface="Wingdings" pitchFamily="2" charset="2"/>
              </a:rPr>
              <a:t>½ N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</a:t>
            </a:r>
            <a:r>
              <a:rPr lang="en-US" sz="2800" dirty="0"/>
              <a:t>+ O</a:t>
            </a:r>
            <a:r>
              <a:rPr lang="en-US" sz="2800" baseline="-25000" dirty="0"/>
              <a:t>2</a:t>
            </a:r>
            <a:r>
              <a:rPr lang="en-US" sz="2800" dirty="0"/>
              <a:t> (g) </a:t>
            </a:r>
            <a:r>
              <a:rPr lang="en-US" sz="2800" dirty="0">
                <a:sym typeface="Wingdings" pitchFamily="2" charset="2"/>
              </a:rPr>
              <a:t> NO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		H</a:t>
            </a:r>
            <a:r>
              <a:rPr lang="en-US" sz="2800" baseline="30000" dirty="0">
                <a:sym typeface="Wingdings" pitchFamily="2" charset="2"/>
              </a:rPr>
              <a:t>o</a:t>
            </a:r>
            <a:r>
              <a:rPr lang="en-US" sz="2800" dirty="0">
                <a:sym typeface="Wingdings" pitchFamily="2" charset="2"/>
              </a:rPr>
              <a:t> =33.9kJ ----2</a:t>
            </a:r>
          </a:p>
          <a:p>
            <a:pPr>
              <a:buNone/>
            </a:pPr>
            <a:r>
              <a:rPr lang="en-US" sz="2800" dirty="0">
                <a:sym typeface="Wingdings" pitchFamily="2" charset="2"/>
              </a:rPr>
              <a:t>½ N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+      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 NH</a:t>
            </a:r>
            <a:r>
              <a:rPr lang="en-US" sz="2800" baseline="-25000" dirty="0">
                <a:sym typeface="Wingdings" pitchFamily="2" charset="2"/>
              </a:rPr>
              <a:t>3</a:t>
            </a:r>
            <a:r>
              <a:rPr lang="en-US" sz="2800" dirty="0">
                <a:sym typeface="Wingdings" pitchFamily="2" charset="2"/>
              </a:rPr>
              <a:t>(g)		H</a:t>
            </a:r>
            <a:r>
              <a:rPr lang="en-US" sz="2800" baseline="30000" dirty="0">
                <a:sym typeface="Wingdings" pitchFamily="2" charset="2"/>
              </a:rPr>
              <a:t>o</a:t>
            </a:r>
            <a:r>
              <a:rPr lang="en-US" sz="2800" dirty="0">
                <a:sym typeface="Wingdings" pitchFamily="2" charset="2"/>
              </a:rPr>
              <a:t> = -46kJ ---3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求</a:t>
            </a:r>
            <a:r>
              <a:rPr lang="en-US" altLang="zh-CN" sz="2800" dirty="0">
                <a:sym typeface="Wingdings" pitchFamily="2" charset="2"/>
              </a:rPr>
              <a:t>NH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(g)+      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(g)</a:t>
            </a:r>
            <a:r>
              <a:rPr lang="en-US" altLang="zh-CN" sz="2800" dirty="0">
                <a:sym typeface="Wingdings" pitchFamily="2" charset="2"/>
              </a:rPr>
              <a:t>NO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(g)+    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	H</a:t>
            </a:r>
            <a:r>
              <a:rPr lang="en-US" altLang="zh-CN" sz="2800" baseline="30000" dirty="0">
                <a:sym typeface="Wingdings" pitchFamily="2" charset="2"/>
              </a:rPr>
              <a:t>o</a:t>
            </a:r>
            <a:r>
              <a:rPr lang="en-US" altLang="zh-CN" sz="2800" dirty="0">
                <a:sym typeface="Wingdings" pitchFamily="2" charset="2"/>
              </a:rPr>
              <a:t> =?</a:t>
            </a:r>
          </a:p>
          <a:p>
            <a:pPr>
              <a:buNone/>
            </a:pPr>
            <a:r>
              <a:rPr lang="en-US" sz="2800" dirty="0">
                <a:sym typeface="Wingdings" pitchFamily="2" charset="2"/>
              </a:rPr>
              <a:t>1x             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+      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     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O (l)</a:t>
            </a:r>
            <a:r>
              <a:rPr lang="en-US" altLang="zh-CN" sz="2800" dirty="0"/>
              <a:t> 	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o</a:t>
            </a:r>
            <a:r>
              <a:rPr lang="en-US" altLang="zh-CN" sz="2800" dirty="0">
                <a:sym typeface="Wingdings" pitchFamily="2" charset="2"/>
              </a:rPr>
              <a:t> =-428.7kJ--4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2</a:t>
            </a:r>
            <a:r>
              <a:rPr lang="zh-CN" altLang="en-US" sz="2800" dirty="0">
                <a:sym typeface="Wingdings" pitchFamily="2" charset="2"/>
              </a:rPr>
              <a:t>不变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sz="2800" dirty="0">
                <a:sym typeface="Wingdings" pitchFamily="2" charset="2"/>
              </a:rPr>
              <a:t>½ N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</a:t>
            </a:r>
            <a:r>
              <a:rPr lang="en-US" sz="2800" dirty="0"/>
              <a:t>+ O</a:t>
            </a:r>
            <a:r>
              <a:rPr lang="en-US" sz="2800" baseline="-25000" dirty="0"/>
              <a:t>2</a:t>
            </a:r>
            <a:r>
              <a:rPr lang="en-US" sz="2800" dirty="0"/>
              <a:t> (g) </a:t>
            </a:r>
            <a:r>
              <a:rPr lang="en-US" sz="2800" dirty="0">
                <a:sym typeface="Wingdings" pitchFamily="2" charset="2"/>
              </a:rPr>
              <a:t> NO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	H</a:t>
            </a:r>
            <a:r>
              <a:rPr lang="en-US" sz="2800" baseline="30000" dirty="0">
                <a:sym typeface="Wingdings" pitchFamily="2" charset="2"/>
              </a:rPr>
              <a:t>o</a:t>
            </a:r>
            <a:r>
              <a:rPr lang="en-US" sz="2800" dirty="0">
                <a:sym typeface="Wingdings" pitchFamily="2" charset="2"/>
              </a:rPr>
              <a:t>=33.9kJ ---2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3</a:t>
            </a:r>
            <a:r>
              <a:rPr lang="zh-CN" altLang="en-US" sz="2800" dirty="0">
                <a:sym typeface="Wingdings" pitchFamily="2" charset="2"/>
              </a:rPr>
              <a:t>反写</a:t>
            </a:r>
            <a:r>
              <a:rPr lang="en-US" altLang="zh-CN" sz="2800" dirty="0">
                <a:sym typeface="Wingdings" pitchFamily="2" charset="2"/>
              </a:rPr>
              <a:t> 	</a:t>
            </a:r>
            <a:r>
              <a:rPr lang="en-US" sz="2800" dirty="0">
                <a:sym typeface="Wingdings" pitchFamily="2" charset="2"/>
              </a:rPr>
              <a:t>NH</a:t>
            </a:r>
            <a:r>
              <a:rPr lang="en-US" sz="2800" baseline="-25000" dirty="0">
                <a:sym typeface="Wingdings" pitchFamily="2" charset="2"/>
              </a:rPr>
              <a:t>3</a:t>
            </a:r>
            <a:r>
              <a:rPr lang="en-US" sz="2800" dirty="0">
                <a:sym typeface="Wingdings" pitchFamily="2" charset="2"/>
              </a:rPr>
              <a:t>(g)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sz="2800" dirty="0">
                <a:sym typeface="Wingdings" pitchFamily="2" charset="2"/>
              </a:rPr>
              <a:t>½ N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+       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(g) 	H</a:t>
            </a:r>
            <a:r>
              <a:rPr lang="en-US" sz="2800" baseline="30000" dirty="0">
                <a:sym typeface="Wingdings" pitchFamily="2" charset="2"/>
              </a:rPr>
              <a:t>o</a:t>
            </a:r>
            <a:r>
              <a:rPr lang="en-US" sz="2800" dirty="0">
                <a:sym typeface="Wingdings" pitchFamily="2" charset="2"/>
              </a:rPr>
              <a:t> = 46kJ ---5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4+2+5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 NH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(g)+     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(g)</a:t>
            </a:r>
            <a:r>
              <a:rPr lang="en-US" altLang="zh-CN" sz="2800" dirty="0">
                <a:sym typeface="Wingdings" pitchFamily="2" charset="2"/>
              </a:rPr>
              <a:t>NO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(g)+   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 		H</a:t>
            </a:r>
            <a:r>
              <a:rPr lang="en-US" altLang="zh-CN" sz="2800" baseline="30000" dirty="0">
                <a:sym typeface="Wingdings" pitchFamily="2" charset="2"/>
              </a:rPr>
              <a:t>o</a:t>
            </a:r>
            <a:r>
              <a:rPr lang="en-US" altLang="zh-CN" sz="2800" dirty="0">
                <a:sym typeface="Wingdings" pitchFamily="2" charset="2"/>
              </a:rPr>
              <a:t> =-348.8kJ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</a:rPr>
              <a:t>答</a:t>
            </a:r>
            <a:r>
              <a:rPr lang="en-US" altLang="zh-CN" sz="2800" b="1" dirty="0">
                <a:solidFill>
                  <a:srgbClr val="002060"/>
                </a:solidFill>
              </a:rPr>
              <a:t>:NH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3</a:t>
            </a:r>
            <a:r>
              <a:rPr lang="en-US" altLang="zh-CN" sz="2800" b="1" dirty="0">
                <a:solidFill>
                  <a:srgbClr val="002060"/>
                </a:solidFill>
              </a:rPr>
              <a:t> (g)</a:t>
            </a:r>
            <a:r>
              <a:rPr lang="zh-CN" altLang="en-US" sz="2800" dirty="0">
                <a:solidFill>
                  <a:srgbClr val="002060"/>
                </a:solidFill>
              </a:rPr>
              <a:t>的标准燃烧热是</a:t>
            </a:r>
            <a:r>
              <a:rPr lang="en-US" altLang="zh-CN" sz="2800" dirty="0">
                <a:solidFill>
                  <a:srgbClr val="002060"/>
                </a:solidFill>
              </a:rPr>
              <a:t>-348.8kJ/mol.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sz="2800" dirty="0"/>
          </a:p>
        </p:txBody>
      </p:sp>
      <p:sp>
        <p:nvSpPr>
          <p:cNvPr id="4" name="Isosceles Triangle 3"/>
          <p:cNvSpPr/>
          <p:nvPr/>
        </p:nvSpPr>
        <p:spPr>
          <a:xfrm>
            <a:off x="5715000" y="1066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715000" y="1600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715000" y="2133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6629400" y="2667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2970212"/>
            <a:ext cx="91440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6629400" y="3124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6629400" y="3657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6629400" y="4191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76200" y="4570412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1447800" y="3124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5105400" y="4114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2209801" y="3581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0800000" flipV="1">
            <a:off x="3505200" y="4114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6629400" y="5181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3"/>
          <p:cNvGrpSpPr/>
          <p:nvPr/>
        </p:nvGrpSpPr>
        <p:grpSpPr>
          <a:xfrm>
            <a:off x="1828803" y="1855113"/>
            <a:ext cx="685797" cy="735687"/>
            <a:chOff x="2950713" y="1442679"/>
            <a:chExt cx="483072" cy="735687"/>
          </a:xfrm>
        </p:grpSpPr>
        <p:grpSp>
          <p:nvGrpSpPr>
            <p:cNvPr id="20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2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2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4" name="Group 3"/>
          <p:cNvGrpSpPr/>
          <p:nvPr/>
        </p:nvGrpSpPr>
        <p:grpSpPr>
          <a:xfrm>
            <a:off x="1981203" y="2312313"/>
            <a:ext cx="685797" cy="735687"/>
            <a:chOff x="2950713" y="1442679"/>
            <a:chExt cx="483072" cy="735687"/>
          </a:xfrm>
        </p:grpSpPr>
        <p:grpSp>
          <p:nvGrpSpPr>
            <p:cNvPr id="25" name="Group 24"/>
            <p:cNvGrpSpPr/>
            <p:nvPr/>
          </p:nvGrpSpPr>
          <p:grpSpPr>
            <a:xfrm>
              <a:off x="2950713" y="1442679"/>
              <a:ext cx="483072" cy="430887"/>
              <a:chOff x="2950713" y="1442679"/>
              <a:chExt cx="483072" cy="430887"/>
            </a:xfrm>
          </p:grpSpPr>
          <p:cxnSp>
            <p:nvCxnSpPr>
              <p:cNvPr id="2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3039371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7</a:t>
                </a:r>
                <a:endParaRPr lang="en-US" sz="2200" dirty="0"/>
              </a:p>
            </p:txBody>
          </p:sp>
        </p:grpSp>
        <p:sp>
          <p:nvSpPr>
            <p:cNvPr id="2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9" name="Group 3"/>
          <p:cNvGrpSpPr/>
          <p:nvPr/>
        </p:nvGrpSpPr>
        <p:grpSpPr>
          <a:xfrm>
            <a:off x="4800600" y="2286000"/>
            <a:ext cx="685797" cy="735687"/>
            <a:chOff x="2950713" y="1442679"/>
            <a:chExt cx="483072" cy="735687"/>
          </a:xfrm>
        </p:grpSpPr>
        <p:grpSp>
          <p:nvGrpSpPr>
            <p:cNvPr id="30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3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3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4" name="Group 3"/>
          <p:cNvGrpSpPr/>
          <p:nvPr/>
        </p:nvGrpSpPr>
        <p:grpSpPr>
          <a:xfrm>
            <a:off x="685800" y="2895600"/>
            <a:ext cx="685797" cy="735687"/>
            <a:chOff x="2950713" y="1442679"/>
            <a:chExt cx="483072" cy="735687"/>
          </a:xfrm>
        </p:grpSpPr>
        <p:grpSp>
          <p:nvGrpSpPr>
            <p:cNvPr id="35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3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3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9" name="Group 3"/>
          <p:cNvGrpSpPr/>
          <p:nvPr/>
        </p:nvGrpSpPr>
        <p:grpSpPr>
          <a:xfrm>
            <a:off x="1371600" y="2895600"/>
            <a:ext cx="685797" cy="735687"/>
            <a:chOff x="2950713" y="1442679"/>
            <a:chExt cx="483072" cy="735687"/>
          </a:xfrm>
        </p:grpSpPr>
        <p:grpSp>
          <p:nvGrpSpPr>
            <p:cNvPr id="40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4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4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4" name="Group 3"/>
          <p:cNvGrpSpPr/>
          <p:nvPr/>
        </p:nvGrpSpPr>
        <p:grpSpPr>
          <a:xfrm>
            <a:off x="2895603" y="2921913"/>
            <a:ext cx="685797" cy="735687"/>
            <a:chOff x="2950713" y="1442679"/>
            <a:chExt cx="483072" cy="735687"/>
          </a:xfrm>
        </p:grpSpPr>
        <p:grpSp>
          <p:nvGrpSpPr>
            <p:cNvPr id="45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4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4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49" name="Group 3"/>
          <p:cNvGrpSpPr/>
          <p:nvPr/>
        </p:nvGrpSpPr>
        <p:grpSpPr>
          <a:xfrm>
            <a:off x="4648203" y="2921913"/>
            <a:ext cx="685797" cy="735687"/>
            <a:chOff x="2950713" y="1442679"/>
            <a:chExt cx="483072" cy="735687"/>
          </a:xfrm>
        </p:grpSpPr>
        <p:grpSp>
          <p:nvGrpSpPr>
            <p:cNvPr id="50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5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5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4" name="Group 3"/>
          <p:cNvGrpSpPr/>
          <p:nvPr/>
        </p:nvGrpSpPr>
        <p:grpSpPr>
          <a:xfrm>
            <a:off x="5029200" y="3912513"/>
            <a:ext cx="685797" cy="735687"/>
            <a:chOff x="2950713" y="1442679"/>
            <a:chExt cx="483072" cy="735687"/>
          </a:xfrm>
        </p:grpSpPr>
        <p:grpSp>
          <p:nvGrpSpPr>
            <p:cNvPr id="55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5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5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9" name="Group 3"/>
          <p:cNvGrpSpPr/>
          <p:nvPr/>
        </p:nvGrpSpPr>
        <p:grpSpPr>
          <a:xfrm>
            <a:off x="1600206" y="4903113"/>
            <a:ext cx="685797" cy="735687"/>
            <a:chOff x="2950713" y="1442679"/>
            <a:chExt cx="483072" cy="735687"/>
          </a:xfrm>
        </p:grpSpPr>
        <p:grpSp>
          <p:nvGrpSpPr>
            <p:cNvPr id="60" name="Group 24"/>
            <p:cNvGrpSpPr/>
            <p:nvPr/>
          </p:nvGrpSpPr>
          <p:grpSpPr>
            <a:xfrm>
              <a:off x="2950713" y="1442679"/>
              <a:ext cx="448085" cy="430887"/>
              <a:chOff x="2950713" y="1442679"/>
              <a:chExt cx="448085" cy="430887"/>
            </a:xfrm>
          </p:grpSpPr>
          <p:cxnSp>
            <p:nvCxnSpPr>
              <p:cNvPr id="62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3004384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7</a:t>
                </a:r>
                <a:endParaRPr lang="en-US" sz="2200" dirty="0"/>
              </a:p>
            </p:txBody>
          </p:sp>
        </p:grpSp>
        <p:sp>
          <p:nvSpPr>
            <p:cNvPr id="61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4" name="Group 3"/>
          <p:cNvGrpSpPr/>
          <p:nvPr/>
        </p:nvGrpSpPr>
        <p:grpSpPr>
          <a:xfrm>
            <a:off x="4419603" y="4876800"/>
            <a:ext cx="685797" cy="735687"/>
            <a:chOff x="2950713" y="1442679"/>
            <a:chExt cx="483072" cy="735687"/>
          </a:xfrm>
        </p:grpSpPr>
        <p:grpSp>
          <p:nvGrpSpPr>
            <p:cNvPr id="65" name="Group 24"/>
            <p:cNvGrpSpPr/>
            <p:nvPr/>
          </p:nvGrpSpPr>
          <p:grpSpPr>
            <a:xfrm>
              <a:off x="2950713" y="1442679"/>
              <a:ext cx="429397" cy="430887"/>
              <a:chOff x="2950713" y="1442679"/>
              <a:chExt cx="429397" cy="430887"/>
            </a:xfrm>
          </p:grpSpPr>
          <p:cxnSp>
            <p:nvCxnSpPr>
              <p:cNvPr id="6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/>
              <p:cNvSpPr txBox="1"/>
              <p:nvPr/>
            </p:nvSpPr>
            <p:spPr>
              <a:xfrm>
                <a:off x="2985696" y="1442679"/>
                <a:ext cx="3944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3</a:t>
                </a:r>
                <a:endParaRPr lang="en-US" sz="2200" dirty="0"/>
              </a:p>
            </p:txBody>
          </p:sp>
        </p:grpSp>
        <p:sp>
          <p:nvSpPr>
            <p:cNvPr id="66" name="TextBox 5"/>
            <p:cNvSpPr txBox="1"/>
            <p:nvPr/>
          </p:nvSpPr>
          <p:spPr>
            <a:xfrm>
              <a:off x="3004386" y="1747479"/>
              <a:ext cx="4293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  <p:bldP spid="7" grpId="0" uiExpand="1" animBg="1"/>
      <p:bldP spid="9" grpId="0" uiExpand="1" animBg="1"/>
      <p:bldP spid="10" grpId="0" uiExpand="1" animBg="1"/>
      <p:bldP spid="11" grpId="0" uiExpand="1" animBg="1"/>
      <p:bldP spid="17" grpId="0" uiExpan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74637"/>
            <a:ext cx="8686800" cy="6278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PCl</a:t>
            </a:r>
            <a:r>
              <a:rPr lang="en-US" altLang="zh-CN" sz="2800" baseline="-25000" dirty="0"/>
              <a:t>5(s)</a:t>
            </a:r>
            <a:r>
              <a:rPr lang="en-US" altLang="zh-CN" sz="2800" dirty="0"/>
              <a:t> ,H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(l)</a:t>
            </a:r>
            <a:r>
              <a:rPr lang="en-US" altLang="zh-CN" sz="2800" dirty="0"/>
              <a:t> ,H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PO</a:t>
            </a:r>
            <a:r>
              <a:rPr lang="en-US" altLang="zh-CN" sz="2800" baseline="-25000" dirty="0"/>
              <a:t>4(s)</a:t>
            </a:r>
            <a:r>
              <a:rPr lang="en-US" altLang="zh-CN" sz="2800" dirty="0"/>
              <a:t> ,</a:t>
            </a:r>
            <a:r>
              <a:rPr lang="en-US" altLang="zh-CN" sz="2800" dirty="0" err="1"/>
              <a:t>HCl</a:t>
            </a:r>
            <a:r>
              <a:rPr lang="en-US" altLang="zh-CN" sz="2800" baseline="-25000" dirty="0"/>
              <a:t>(g)</a:t>
            </a:r>
            <a:r>
              <a:rPr lang="en-US" altLang="zh-CN" sz="2800" dirty="0"/>
              <a:t> </a:t>
            </a:r>
            <a:r>
              <a:rPr lang="zh-CN" altLang="en-US" sz="2800" dirty="0"/>
              <a:t>之生成热分别为</a:t>
            </a:r>
            <a:r>
              <a:rPr lang="en-US" altLang="zh-CN" sz="2800" dirty="0"/>
              <a:t>-443 kJ/mol, -284 kJ/mol, -1254 kJ/mol, -92 kJ/mol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>
                <a:solidFill>
                  <a:srgbClr val="002060"/>
                </a:solidFill>
              </a:rPr>
              <a:t>求 </a:t>
            </a:r>
            <a:r>
              <a:rPr lang="en-US" altLang="zh-CN" sz="2800" dirty="0">
                <a:solidFill>
                  <a:srgbClr val="002060"/>
                </a:solidFill>
              </a:rPr>
              <a:t>PCl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5</a:t>
            </a:r>
            <a:r>
              <a:rPr lang="en-US" altLang="zh-CN" sz="2800" dirty="0">
                <a:solidFill>
                  <a:srgbClr val="002060"/>
                </a:solidFill>
              </a:rPr>
              <a:t> (s) + 4 H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800" dirty="0">
                <a:solidFill>
                  <a:srgbClr val="002060"/>
                </a:solidFill>
              </a:rPr>
              <a:t>O(l)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 H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PO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(s) + 5 </a:t>
            </a:r>
            <a:r>
              <a:rPr lang="en-US" altLang="zh-CN" sz="2800" dirty="0" err="1">
                <a:solidFill>
                  <a:srgbClr val="002060"/>
                </a:solidFill>
                <a:sym typeface="Wingdings" pitchFamily="2" charset="2"/>
              </a:rPr>
              <a:t>HCl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(g) 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之反应热</a:t>
            </a:r>
            <a:r>
              <a:rPr lang="zh-CN" altLang="en-US" sz="2800" dirty="0">
                <a:sym typeface="Wingdings" pitchFamily="2" charset="2"/>
              </a:rPr>
              <a:t>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P(s) +      Cl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(g)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 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PCl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</a:rPr>
              <a:t>5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 (s) 		H = -443kJ	-----1</a:t>
            </a:r>
          </a:p>
          <a:p>
            <a:pPr marL="514350" indent="-514350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(g)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+       O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 (g) 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 H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O(l)		H = -284kJ	-----2</a:t>
            </a:r>
          </a:p>
          <a:p>
            <a:pPr marL="514350" indent="-514350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     H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(g)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+ P(s) +   O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</a:rPr>
              <a:t>(g)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H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3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PO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4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(s)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 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	  H = -1254kJ   -----3</a:t>
            </a:r>
          </a:p>
          <a:p>
            <a:pPr marL="514350" indent="-514350">
              <a:buNone/>
            </a:pP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  H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 (g)+       Cl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 (g)  </a:t>
            </a:r>
            <a:r>
              <a:rPr lang="en-US" altLang="zh-CN" sz="2800" dirty="0" err="1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HCl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(g)		H=-92kJ	-----4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1</a:t>
            </a:r>
            <a:r>
              <a:rPr lang="zh-CN" altLang="en-US" sz="2800" dirty="0">
                <a:sym typeface="Wingdings" pitchFamily="2" charset="2"/>
              </a:rPr>
              <a:t>对调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/>
              <a:t>PCl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(s)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P(s) + 5/2Cl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 </a:t>
            </a:r>
            <a:r>
              <a:rPr lang="en-US" altLang="zh-CN" sz="2800" dirty="0"/>
              <a:t>(g)        H = 443kJ -----5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2x4</a:t>
            </a:r>
            <a:r>
              <a:rPr lang="zh-CN" altLang="en-US" sz="2800" dirty="0">
                <a:sym typeface="Wingdings" pitchFamily="2" charset="2"/>
              </a:rPr>
              <a:t>对调   </a:t>
            </a:r>
            <a:r>
              <a:rPr lang="en-US" altLang="zh-CN" sz="2800" dirty="0">
                <a:sym typeface="Wingdings" pitchFamily="2" charset="2"/>
              </a:rPr>
              <a:t>4H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</a:t>
            </a: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 4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(g)</a:t>
            </a:r>
            <a:r>
              <a:rPr lang="en-US" altLang="zh-CN" sz="2800" dirty="0"/>
              <a:t>+  2O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</a:t>
            </a:r>
            <a:r>
              <a:rPr lang="en-US" altLang="zh-CN" sz="2800" dirty="0">
                <a:sym typeface="Wingdings" pitchFamily="2" charset="2"/>
              </a:rPr>
              <a:t> 	       H = 1136kJ -----6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3</a:t>
            </a:r>
            <a:r>
              <a:rPr lang="zh-CN" altLang="en-US" sz="2800" dirty="0">
                <a:sym typeface="Wingdings" pitchFamily="2" charset="2"/>
              </a:rPr>
              <a:t>不变 </a:t>
            </a:r>
            <a:r>
              <a:rPr lang="en-US" altLang="zh-CN" sz="2800" dirty="0">
                <a:sym typeface="Wingdings" pitchFamily="2" charset="2"/>
              </a:rPr>
              <a:t>3/2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(g)</a:t>
            </a:r>
            <a:r>
              <a:rPr lang="en-US" altLang="zh-CN" sz="2800" dirty="0"/>
              <a:t>+ P(s) + 2O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PO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</a:t>
            </a:r>
            <a:r>
              <a:rPr lang="en-US" altLang="zh-CN" sz="2800" baseline="-25000" dirty="0">
                <a:sym typeface="Wingdings" pitchFamily="2" charset="2"/>
              </a:rPr>
              <a:t>   </a:t>
            </a:r>
            <a:r>
              <a:rPr lang="en-US" altLang="zh-CN" sz="2800" dirty="0">
                <a:sym typeface="Wingdings" pitchFamily="2" charset="2"/>
              </a:rPr>
              <a:t>  H = -1254kJ   --3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4x5      5/2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(g)+  5/2Cl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5 </a:t>
            </a:r>
            <a:r>
              <a:rPr lang="en-US" altLang="zh-CN" sz="2800" dirty="0" err="1">
                <a:sym typeface="Wingdings" pitchFamily="2" charset="2"/>
              </a:rPr>
              <a:t>HCl</a:t>
            </a:r>
            <a:r>
              <a:rPr lang="en-US" altLang="zh-CN" sz="2800" dirty="0">
                <a:sym typeface="Wingdings" pitchFamily="2" charset="2"/>
              </a:rPr>
              <a:t>(g)	H=-460kJ ----7</a:t>
            </a:r>
          </a:p>
          <a:p>
            <a:pPr marL="514350" indent="-514350"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PCl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5</a:t>
            </a:r>
            <a:r>
              <a:rPr lang="en-US" altLang="zh-CN" sz="2800" b="1" dirty="0">
                <a:solidFill>
                  <a:srgbClr val="002060"/>
                </a:solidFill>
              </a:rPr>
              <a:t> (s) + 4 H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</a:rPr>
              <a:t>O(l) 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 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PO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(s) + 5 </a:t>
            </a:r>
            <a:r>
              <a:rPr lang="en-US" altLang="zh-CN" sz="2800" b="1" dirty="0" err="1">
                <a:solidFill>
                  <a:srgbClr val="002060"/>
                </a:solidFill>
                <a:sym typeface="Wingdings" pitchFamily="2" charset="2"/>
              </a:rPr>
              <a:t>HCl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(g)        H=-135kJ</a:t>
            </a:r>
          </a:p>
          <a:p>
            <a:pPr marL="514350" indent="-514350">
              <a:buNone/>
            </a:pPr>
            <a:endParaRPr lang="en-US" sz="2800" dirty="0"/>
          </a:p>
        </p:txBody>
      </p:sp>
      <p:sp>
        <p:nvSpPr>
          <p:cNvPr id="4" name="Isosceles Triangle 3"/>
          <p:cNvSpPr/>
          <p:nvPr/>
        </p:nvSpPr>
        <p:spPr>
          <a:xfrm>
            <a:off x="5638800" y="1905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638800" y="2438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752600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86000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1/2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791200" y="2971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52400" y="2743200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27724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638800" y="3429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0" y="3276600"/>
            <a:ext cx="553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½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76600"/>
            <a:ext cx="553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½ 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0" y="3733800"/>
            <a:ext cx="9144000" cy="762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6248400" y="3962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6172200" y="4495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6324600" y="5029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6553200" y="548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6200" y="5791200"/>
            <a:ext cx="9144000" cy="762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>
            <a:off x="6553200" y="5943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rot="10800000" flipV="1">
            <a:off x="3505201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0800000" flipV="1">
            <a:off x="2743201" y="4876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0800000" flipV="1">
            <a:off x="4572000" y="3886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3048000" y="5410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10800000" flipV="1">
            <a:off x="3276600" y="4419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10800000" flipV="1">
            <a:off x="1295400" y="4953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1371599" y="5486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0800000" flipV="1">
            <a:off x="3733800" y="4876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4495801" y="44195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7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>
                <a:solidFill>
                  <a:srgbClr val="002060"/>
                </a:solidFill>
              </a:rPr>
              <a:t>2.</a:t>
            </a:r>
            <a:r>
              <a:rPr lang="zh-CN" altLang="en-US" sz="2800" dirty="0">
                <a:solidFill>
                  <a:srgbClr val="002060"/>
                </a:solidFill>
              </a:rPr>
              <a:t>求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H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SO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(l) 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的生成热</a:t>
            </a:r>
            <a:r>
              <a:rPr lang="zh-CN" altLang="en-US" sz="2800" dirty="0">
                <a:sym typeface="Wingdings" pitchFamily="2" charset="2"/>
              </a:rPr>
              <a:t>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	S(s) +  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 </a:t>
            </a:r>
            <a:r>
              <a:rPr lang="en-US" altLang="zh-CN" sz="2800" dirty="0"/>
              <a:t>(g)</a:t>
            </a:r>
            <a:r>
              <a:rPr lang="en-US" altLang="zh-CN" sz="2800" dirty="0">
                <a:sym typeface="Wingdings" pitchFamily="2" charset="2"/>
              </a:rPr>
              <a:t> 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		H = -70.96kcal-----1</a:t>
            </a:r>
          </a:p>
          <a:p>
            <a:pPr marL="514350" indent="-514350">
              <a:buNone/>
            </a:pPr>
            <a:r>
              <a:rPr lang="en-US" sz="2800" dirty="0"/>
              <a:t>	</a:t>
            </a:r>
            <a:r>
              <a:rPr lang="en-US" altLang="zh-CN" sz="2800" dirty="0"/>
              <a:t>SO</a:t>
            </a:r>
            <a:r>
              <a:rPr lang="en-US" sz="2800" baseline="-25000" dirty="0"/>
              <a:t>2</a:t>
            </a:r>
            <a:r>
              <a:rPr lang="en-US" sz="2800" dirty="0"/>
              <a:t>(g)</a:t>
            </a:r>
            <a:r>
              <a:rPr lang="en-US" altLang="zh-CN" sz="2800" dirty="0"/>
              <a:t>+      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</a:t>
            </a:r>
            <a:r>
              <a:rPr lang="en-US" altLang="zh-CN" sz="2800" dirty="0">
                <a:sym typeface="Wingdings" pitchFamily="2" charset="2"/>
              </a:rPr>
              <a:t> SO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(g)		H = -23.49kcal-----2</a:t>
            </a:r>
          </a:p>
          <a:p>
            <a:pPr marL="514350" indent="-514350">
              <a:buNone/>
            </a:pPr>
            <a:r>
              <a:rPr lang="en-US" sz="2800" dirty="0"/>
              <a:t>     SO</a:t>
            </a:r>
            <a:r>
              <a:rPr lang="en-US" sz="2800" baseline="-25000" dirty="0"/>
              <a:t>3</a:t>
            </a:r>
            <a:r>
              <a:rPr lang="en-US" sz="2800" dirty="0"/>
              <a:t> (g)</a:t>
            </a:r>
            <a:r>
              <a:rPr lang="en-US" altLang="zh-CN" sz="2800" dirty="0"/>
              <a:t>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O(l)</a:t>
            </a:r>
            <a:r>
              <a:rPr lang="en-US" altLang="zh-CN" sz="2800" dirty="0">
                <a:sym typeface="Wingdings" pitchFamily="2" charset="2"/>
              </a:rPr>
              <a:t>H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(l)</a:t>
            </a:r>
            <a:r>
              <a:rPr lang="en-US" altLang="zh-CN" sz="2800" baseline="-25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	  H = -31.14kcal -----3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(g)+      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(g)		H=-68.32kcal-----4</a:t>
            </a:r>
          </a:p>
          <a:p>
            <a:pPr marL="514350" indent="-514350">
              <a:buNone/>
            </a:pPr>
            <a:r>
              <a:rPr lang="en-US" sz="2800" b="1" dirty="0">
                <a:solidFill>
                  <a:srgbClr val="002060"/>
                </a:solidFill>
              </a:rPr>
              <a:t>H</a:t>
            </a:r>
            <a:r>
              <a:rPr lang="en-US" sz="2800" b="1" baseline="-25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 (g) + S(s) + 2 O</a:t>
            </a:r>
            <a:r>
              <a:rPr lang="en-US" sz="2800" b="1" baseline="-25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 (g) </a:t>
            </a:r>
            <a:r>
              <a:rPr lang="en-US" sz="2800" b="1" dirty="0">
                <a:solidFill>
                  <a:srgbClr val="002060"/>
                </a:solidFill>
                <a:sym typeface="Wingdings" pitchFamily="2" charset="2"/>
              </a:rPr>
              <a:t> H</a:t>
            </a:r>
            <a:r>
              <a:rPr lang="en-US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sz="2800" b="1" dirty="0">
                <a:solidFill>
                  <a:srgbClr val="002060"/>
                </a:solidFill>
                <a:sym typeface="Wingdings" pitchFamily="2" charset="2"/>
              </a:rPr>
              <a:t>SO</a:t>
            </a:r>
            <a:r>
              <a:rPr lang="en-US" sz="28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sz="2800" b="1" dirty="0">
                <a:solidFill>
                  <a:srgbClr val="002060"/>
                </a:solidFill>
                <a:sym typeface="Wingdings" pitchFamily="2" charset="2"/>
              </a:rPr>
              <a:t> (l)   	    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     H=-193.91kcal</a:t>
            </a:r>
          </a:p>
          <a:p>
            <a:pPr marL="514350" indent="-51435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答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SO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(l) 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的生成热为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-193.91kcal/mol</a:t>
            </a:r>
          </a:p>
          <a:p>
            <a:pPr marL="514350" indent="-514350">
              <a:buNone/>
            </a:pPr>
            <a:r>
              <a:rPr lang="zh-CN" altLang="en-US" sz="2800" dirty="0"/>
              <a:t>黑斯定律运用：可在已测得的反应热数据的基础上，</a:t>
            </a:r>
            <a:r>
              <a:rPr lang="en-US" altLang="zh-CN" sz="2800" dirty="0"/>
              <a:t>				</a:t>
            </a:r>
            <a:r>
              <a:rPr lang="zh-CN" altLang="en-US" sz="2800" dirty="0"/>
              <a:t>计算出相关的一些反应热的数据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514350" indent="-514350">
              <a:buNone/>
            </a:pPr>
            <a:endParaRPr lang="en-US" sz="2800" dirty="0"/>
          </a:p>
        </p:txBody>
      </p:sp>
      <p:sp>
        <p:nvSpPr>
          <p:cNvPr id="4" name="Isosceles Triangle 3"/>
          <p:cNvSpPr/>
          <p:nvPr/>
        </p:nvSpPr>
        <p:spPr>
          <a:xfrm>
            <a:off x="5638800" y="1905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638800" y="2438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0329" y="2286000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1/2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791200" y="2971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638800" y="3429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732643" y="3276600"/>
            <a:ext cx="553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½ 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0" y="3733800"/>
            <a:ext cx="9144000" cy="762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>
            <a:off x="6400800" y="3962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564368" y="457200"/>
            <a:ext cx="6055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</a:t>
            </a:r>
            <a:r>
              <a:rPr lang="en-US" sz="3200" baseline="-25000" dirty="0"/>
              <a:t>2</a:t>
            </a:r>
            <a:r>
              <a:rPr lang="en-US" sz="3200" dirty="0"/>
              <a:t> (g) + S(s) + 2 O</a:t>
            </a:r>
            <a:r>
              <a:rPr lang="en-US" sz="3200" baseline="-25000" dirty="0"/>
              <a:t>2</a:t>
            </a:r>
            <a:r>
              <a:rPr lang="en-US" sz="3200" dirty="0"/>
              <a:t> (g) </a:t>
            </a:r>
            <a:r>
              <a:rPr lang="en-US" sz="3200" dirty="0">
                <a:sym typeface="Wingdings" pitchFamily="2" charset="2"/>
              </a:rPr>
              <a:t> H</a:t>
            </a:r>
            <a:r>
              <a:rPr lang="en-US" sz="3200" baseline="-25000" dirty="0">
                <a:sym typeface="Wingdings" pitchFamily="2" charset="2"/>
              </a:rPr>
              <a:t>2</a:t>
            </a:r>
            <a:r>
              <a:rPr lang="en-US" sz="3200" dirty="0">
                <a:sym typeface="Wingdings" pitchFamily="2" charset="2"/>
              </a:rPr>
              <a:t>SO</a:t>
            </a:r>
            <a:r>
              <a:rPr lang="en-US" sz="3200" baseline="-25000" dirty="0">
                <a:sym typeface="Wingdings" pitchFamily="2" charset="2"/>
              </a:rPr>
              <a:t>4</a:t>
            </a:r>
            <a:r>
              <a:rPr lang="en-US" sz="3200" dirty="0">
                <a:sym typeface="Wingdings" pitchFamily="2" charset="2"/>
              </a:rPr>
              <a:t> (l)   </a:t>
            </a:r>
            <a:endParaRPr lang="en-US" sz="3200" dirty="0"/>
          </a:p>
        </p:txBody>
      </p:sp>
      <p:cxnSp>
        <p:nvCxnSpPr>
          <p:cNvPr id="26" name="Curved Connector 25"/>
          <p:cNvCxnSpPr/>
          <p:nvPr/>
        </p:nvCxnSpPr>
        <p:spPr>
          <a:xfrm rot="5400000" flipH="1" flipV="1">
            <a:off x="1066800" y="838200"/>
            <a:ext cx="609600" cy="457200"/>
          </a:xfrm>
          <a:prstGeom prst="curvedConnector3">
            <a:avLst>
              <a:gd name="adj1" fmla="val 12826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3352801" y="1828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0800000" flipV="1">
            <a:off x="914401" y="2362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3733800" y="2362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10800000" flipV="1">
            <a:off x="685800" y="2895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 flipV="1">
            <a:off x="1981200" y="2895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3429001" y="34289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/>
              <a:t>3. </a:t>
            </a:r>
            <a:r>
              <a:rPr lang="zh-CN" altLang="en-US" sz="3000" dirty="0"/>
              <a:t>若</a:t>
            </a:r>
            <a:r>
              <a:rPr lang="en-US" sz="3000" dirty="0"/>
              <a:t>CO</a:t>
            </a:r>
            <a:r>
              <a:rPr lang="en-US" sz="3000" baseline="-25000" dirty="0"/>
              <a:t>2</a:t>
            </a:r>
            <a:r>
              <a:rPr lang="en-US" sz="3000" dirty="0"/>
              <a:t> (g)</a:t>
            </a:r>
            <a:r>
              <a:rPr lang="zh-CN" altLang="en-US" sz="3000" dirty="0"/>
              <a:t>，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O(l)</a:t>
            </a:r>
            <a:r>
              <a:rPr lang="zh-CN" altLang="en-US" sz="3000" dirty="0"/>
              <a:t>及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</a:t>
            </a:r>
            <a:r>
              <a:rPr lang="zh-CN" altLang="en-US" sz="3000" dirty="0"/>
              <a:t>的生成热分别是</a:t>
            </a:r>
            <a:r>
              <a:rPr lang="en-US" altLang="zh-CN" sz="3000" dirty="0"/>
              <a:t>P </a:t>
            </a:r>
            <a:r>
              <a:rPr lang="zh-CN" altLang="en-US" sz="3000" dirty="0"/>
              <a:t>、</a:t>
            </a:r>
            <a:r>
              <a:rPr lang="en-US" altLang="zh-CN" sz="3000" dirty="0"/>
              <a:t>Q </a:t>
            </a:r>
            <a:r>
              <a:rPr lang="zh-CN" altLang="en-US" sz="3000" dirty="0"/>
              <a:t>、</a:t>
            </a:r>
            <a:r>
              <a:rPr lang="en-US" altLang="zh-CN" sz="3000" dirty="0"/>
              <a:t>R  </a:t>
            </a:r>
            <a:r>
              <a:rPr lang="zh-CN" altLang="en-US" sz="3000" dirty="0"/>
              <a:t>。求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</a:t>
            </a:r>
            <a:r>
              <a:rPr lang="zh-CN" altLang="en-US" sz="3000" dirty="0"/>
              <a:t>燃烧热。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求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+ 5/2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(g)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sz="3000" dirty="0"/>
              <a:t>2CO</a:t>
            </a:r>
            <a:r>
              <a:rPr lang="en-US" sz="3000" baseline="-25000" dirty="0"/>
              <a:t>2</a:t>
            </a:r>
            <a:r>
              <a:rPr lang="en-US" sz="3000" dirty="0"/>
              <a:t> (g)</a:t>
            </a:r>
            <a:r>
              <a:rPr lang="zh-CN" altLang="en-US" sz="3000" dirty="0"/>
              <a:t> </a:t>
            </a:r>
            <a:r>
              <a:rPr lang="en-US" altLang="zh-CN" sz="3000" dirty="0"/>
              <a:t>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O(l)       H=?</a:t>
            </a:r>
          </a:p>
          <a:p>
            <a:pPr>
              <a:buNone/>
            </a:pPr>
            <a:r>
              <a:rPr lang="en-US" altLang="zh-CN" sz="3000" b="1" dirty="0">
                <a:solidFill>
                  <a:srgbClr val="660066"/>
                </a:solidFill>
              </a:rPr>
              <a:t>	C(s) + O</a:t>
            </a:r>
            <a:r>
              <a:rPr lang="en-US" altLang="zh-CN" sz="30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</a:rPr>
              <a:t> (g)  </a:t>
            </a: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</a:t>
            </a:r>
            <a:r>
              <a:rPr lang="en-US" sz="3000" b="1" dirty="0">
                <a:solidFill>
                  <a:srgbClr val="660066"/>
                </a:solidFill>
              </a:rPr>
              <a:t> CO</a:t>
            </a:r>
            <a:r>
              <a:rPr lang="en-US" sz="3000" b="1" baseline="-25000" dirty="0">
                <a:solidFill>
                  <a:srgbClr val="660066"/>
                </a:solidFill>
              </a:rPr>
              <a:t>2</a:t>
            </a:r>
            <a:r>
              <a:rPr lang="en-US" sz="3000" b="1" dirty="0">
                <a:solidFill>
                  <a:srgbClr val="660066"/>
                </a:solidFill>
              </a:rPr>
              <a:t> (g)</a:t>
            </a:r>
            <a:r>
              <a:rPr lang="zh-CN" altLang="en-US" sz="3000" b="1" dirty="0">
                <a:solidFill>
                  <a:srgbClr val="660066"/>
                </a:solidFill>
              </a:rPr>
              <a:t>  </a:t>
            </a:r>
            <a:r>
              <a:rPr lang="en-US" altLang="zh-CN" sz="3000" b="1" dirty="0">
                <a:solidFill>
                  <a:srgbClr val="660066"/>
                </a:solidFill>
              </a:rPr>
              <a:t>		H= P  ------1</a:t>
            </a:r>
          </a:p>
          <a:p>
            <a:pPr>
              <a:buNone/>
            </a:pP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    H</a:t>
            </a:r>
            <a:r>
              <a:rPr lang="en-US" altLang="zh-CN" sz="3000" b="1" baseline="-25000" dirty="0">
                <a:solidFill>
                  <a:srgbClr val="660066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 (g)+  ½ O</a:t>
            </a:r>
            <a:r>
              <a:rPr lang="en-US" altLang="zh-CN" sz="3000" b="1" baseline="-25000" dirty="0">
                <a:solidFill>
                  <a:srgbClr val="660066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 (g)  H</a:t>
            </a:r>
            <a:r>
              <a:rPr lang="en-US" altLang="zh-CN" sz="3000" b="1" baseline="-25000" dirty="0">
                <a:solidFill>
                  <a:srgbClr val="660066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O (g)	  	H= Q -----2</a:t>
            </a:r>
          </a:p>
          <a:p>
            <a:pPr>
              <a:buNone/>
            </a:pPr>
            <a:r>
              <a:rPr lang="en-US" altLang="zh-CN" sz="3000" b="1" dirty="0">
                <a:solidFill>
                  <a:srgbClr val="660066"/>
                </a:solidFill>
              </a:rPr>
              <a:t>   2 C(s) + H</a:t>
            </a:r>
            <a:r>
              <a:rPr lang="en-US" altLang="zh-CN" sz="30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</a:rPr>
              <a:t> (g) </a:t>
            </a:r>
            <a:r>
              <a:rPr lang="en-US" altLang="zh-CN" sz="3000" b="1" dirty="0">
                <a:solidFill>
                  <a:srgbClr val="660066"/>
                </a:solidFill>
                <a:sym typeface="Wingdings" pitchFamily="2" charset="2"/>
              </a:rPr>
              <a:t> </a:t>
            </a:r>
            <a:r>
              <a:rPr lang="en-US" altLang="zh-CN" sz="3000" b="1" dirty="0">
                <a:solidFill>
                  <a:srgbClr val="660066"/>
                </a:solidFill>
              </a:rPr>
              <a:t>C</a:t>
            </a:r>
            <a:r>
              <a:rPr lang="en-US" altLang="zh-CN" sz="30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</a:rPr>
              <a:t>H</a:t>
            </a:r>
            <a:r>
              <a:rPr lang="en-US" altLang="zh-CN" sz="30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3000" b="1" dirty="0">
                <a:solidFill>
                  <a:srgbClr val="660066"/>
                </a:solidFill>
              </a:rPr>
              <a:t> (g) 		 H =R  ----3</a:t>
            </a:r>
          </a:p>
          <a:p>
            <a:pPr>
              <a:buNone/>
            </a:pPr>
            <a:r>
              <a:rPr lang="en-US" altLang="zh-CN" sz="3000" dirty="0"/>
              <a:t>3</a:t>
            </a:r>
            <a:r>
              <a:rPr lang="zh-CN" altLang="en-US" sz="3000" dirty="0"/>
              <a:t>对调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en-US" altLang="zh-CN" sz="3000" dirty="0"/>
              <a:t>2 C(s)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 	    H =-R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 ----4</a:t>
            </a:r>
          </a:p>
          <a:p>
            <a:pPr>
              <a:buNone/>
            </a:pPr>
            <a:r>
              <a:rPr lang="en-US" altLang="zh-CN" sz="3000" dirty="0"/>
              <a:t>1x2 	2C(s) + 2O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 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sz="3000" dirty="0"/>
              <a:t> 2 CO</a:t>
            </a:r>
            <a:r>
              <a:rPr lang="en-US" sz="3000" baseline="-25000" dirty="0"/>
              <a:t>2</a:t>
            </a:r>
            <a:r>
              <a:rPr lang="en-US" sz="3000" dirty="0"/>
              <a:t> (g)</a:t>
            </a:r>
            <a:r>
              <a:rPr lang="zh-CN" altLang="en-US" sz="3000" dirty="0"/>
              <a:t>  </a:t>
            </a:r>
            <a:r>
              <a:rPr lang="en-US" altLang="zh-CN" sz="3000" dirty="0"/>
              <a:t>	    H= 2P  -----5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不变</a:t>
            </a:r>
            <a:r>
              <a:rPr lang="en-US" altLang="zh-CN" sz="3000" dirty="0">
                <a:sym typeface="Wingdings" pitchFamily="2" charset="2"/>
              </a:rPr>
              <a:t>  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(g)+  ½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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(g)	    H= Q   -----2</a:t>
            </a:r>
          </a:p>
          <a:p>
            <a:pPr>
              <a:buNone/>
            </a:pPr>
            <a:r>
              <a:rPr lang="en-US" altLang="zh-CN" sz="3000" dirty="0">
                <a:solidFill>
                  <a:srgbClr val="C00000"/>
                </a:solidFill>
              </a:rPr>
              <a:t>C</a:t>
            </a:r>
            <a:r>
              <a:rPr lang="en-US" altLang="zh-CN" sz="3000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dirty="0">
                <a:solidFill>
                  <a:srgbClr val="C00000"/>
                </a:solidFill>
              </a:rPr>
              <a:t>H</a:t>
            </a:r>
            <a:r>
              <a:rPr lang="en-US" altLang="zh-CN" sz="3000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dirty="0">
                <a:solidFill>
                  <a:srgbClr val="C00000"/>
                </a:solidFill>
              </a:rPr>
              <a:t> (g) +5/2 O</a:t>
            </a:r>
            <a:r>
              <a:rPr lang="en-US" altLang="zh-CN" sz="3000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dirty="0">
                <a:solidFill>
                  <a:srgbClr val="C00000"/>
                </a:solidFill>
              </a:rPr>
              <a:t>(g)</a:t>
            </a:r>
            <a:r>
              <a:rPr lang="en-US" altLang="zh-CN" sz="3000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en-US" sz="3000" dirty="0">
                <a:solidFill>
                  <a:srgbClr val="C00000"/>
                </a:solidFill>
              </a:rPr>
              <a:t>2CO</a:t>
            </a:r>
            <a:r>
              <a:rPr lang="en-US" sz="3000" baseline="-25000" dirty="0">
                <a:solidFill>
                  <a:srgbClr val="C00000"/>
                </a:solidFill>
              </a:rPr>
              <a:t>2</a:t>
            </a:r>
            <a:r>
              <a:rPr lang="en-US" sz="3000" dirty="0">
                <a:solidFill>
                  <a:srgbClr val="C00000"/>
                </a:solidFill>
              </a:rPr>
              <a:t> (g)</a:t>
            </a:r>
            <a:r>
              <a:rPr lang="zh-CN" altLang="en-US" sz="3000" dirty="0">
                <a:solidFill>
                  <a:srgbClr val="C00000"/>
                </a:solidFill>
              </a:rPr>
              <a:t> </a:t>
            </a:r>
            <a:r>
              <a:rPr lang="en-US" altLang="zh-CN" sz="3000" dirty="0">
                <a:solidFill>
                  <a:srgbClr val="C00000"/>
                </a:solidFill>
              </a:rPr>
              <a:t>+ H</a:t>
            </a:r>
            <a:r>
              <a:rPr lang="en-US" altLang="zh-CN" sz="3000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dirty="0">
                <a:solidFill>
                  <a:srgbClr val="C00000"/>
                </a:solidFill>
              </a:rPr>
              <a:t>O(l)    H=2P+Q–R</a:t>
            </a:r>
            <a:endParaRPr lang="en-US" altLang="zh-CN" sz="3000" baseline="-25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3000" b="1" baseline="-25000" dirty="0">
                <a:solidFill>
                  <a:srgbClr val="C00000"/>
                </a:solidFill>
              </a:rPr>
              <a:t> </a:t>
            </a:r>
            <a:r>
              <a:rPr lang="en-US" altLang="zh-CN" sz="3000" b="1" dirty="0">
                <a:solidFill>
                  <a:srgbClr val="C00000"/>
                </a:solidFill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</a:rPr>
              <a:t>答</a:t>
            </a:r>
            <a:r>
              <a:rPr lang="en-US" altLang="zh-CN" sz="3000" b="1" dirty="0">
                <a:solidFill>
                  <a:srgbClr val="002060"/>
                </a:solidFill>
              </a:rPr>
              <a:t>:</a:t>
            </a:r>
            <a:r>
              <a:rPr lang="en-US" altLang="zh-CN" sz="3000" dirty="0">
                <a:solidFill>
                  <a:srgbClr val="002060"/>
                </a:solidFill>
              </a:rPr>
              <a:t>C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H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 (g)</a:t>
            </a:r>
            <a:r>
              <a:rPr lang="zh-CN" altLang="en-US" sz="3000" dirty="0">
                <a:solidFill>
                  <a:srgbClr val="002060"/>
                </a:solidFill>
              </a:rPr>
              <a:t>燃烧热为</a:t>
            </a:r>
            <a:r>
              <a:rPr lang="en-US" altLang="zh-CN" sz="3000" dirty="0">
                <a:solidFill>
                  <a:srgbClr val="002060"/>
                </a:solidFill>
              </a:rPr>
              <a:t>2P+Q–R</a:t>
            </a:r>
            <a:endParaRPr lang="en-US" altLang="zh-CN" sz="30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en-US" altLang="zh-CN" sz="3000" b="1" dirty="0">
              <a:solidFill>
                <a:srgbClr val="660066"/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7010400" y="1524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638800" y="2057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638800" y="2667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5715000" y="3200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3505200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5943600" y="3733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5943600" y="4267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943600" y="4800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-76200" y="5105400"/>
            <a:ext cx="92202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6324600" y="5334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rot="10800000" flipV="1">
            <a:off x="3200401" y="35813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V="1">
            <a:off x="1447800" y="4191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4114800" y="36575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 flipV="1">
            <a:off x="1600200" y="4800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7630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600" dirty="0"/>
              <a:t>4. </a:t>
            </a:r>
            <a:r>
              <a:rPr lang="zh-CN" altLang="en-US" sz="2600" dirty="0"/>
              <a:t>已知</a:t>
            </a:r>
            <a:r>
              <a:rPr lang="en-US" altLang="zh-CN" sz="2600" dirty="0"/>
              <a:t>CaC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(s)</a:t>
            </a:r>
            <a:r>
              <a:rPr lang="zh-CN" altLang="en-US" sz="2600" dirty="0"/>
              <a:t>和</a:t>
            </a:r>
            <a:r>
              <a:rPr lang="en-US" altLang="zh-CN" sz="2600" dirty="0" err="1"/>
              <a:t>CaO</a:t>
            </a:r>
            <a:r>
              <a:rPr lang="en-US" altLang="zh-CN" sz="2600" dirty="0"/>
              <a:t>(s)</a:t>
            </a:r>
            <a:r>
              <a:rPr lang="zh-CN" altLang="en-US" sz="2600" dirty="0"/>
              <a:t>生成热分别是</a:t>
            </a:r>
            <a:r>
              <a:rPr lang="en-US" altLang="zh-CN" sz="2600" dirty="0"/>
              <a:t>-62.8kJ</a:t>
            </a:r>
            <a:r>
              <a:rPr lang="zh-CN" altLang="en-US" sz="2600" dirty="0"/>
              <a:t>和</a:t>
            </a:r>
            <a:r>
              <a:rPr lang="en-US" altLang="zh-CN" sz="2600" dirty="0"/>
              <a:t>-635.5kJ</a:t>
            </a:r>
            <a:r>
              <a:rPr lang="zh-CN" altLang="en-US" sz="2600" dirty="0"/>
              <a:t>。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(g)</a:t>
            </a:r>
            <a:r>
              <a:rPr lang="zh-CN" altLang="en-US" sz="2600" dirty="0"/>
              <a:t>和</a:t>
            </a:r>
            <a:r>
              <a:rPr lang="en-US" altLang="zh-CN" sz="2600" dirty="0"/>
              <a:t>C(s)</a:t>
            </a:r>
            <a:r>
              <a:rPr lang="zh-CN" altLang="en-US" sz="2600" dirty="0"/>
              <a:t>的燃烧热分别是</a:t>
            </a:r>
            <a:r>
              <a:rPr lang="en-US" altLang="zh-CN" sz="2600" dirty="0"/>
              <a:t>-1300kJ</a:t>
            </a:r>
            <a:r>
              <a:rPr lang="zh-CN" altLang="en-US" sz="2600" dirty="0"/>
              <a:t>和</a:t>
            </a:r>
            <a:r>
              <a:rPr lang="en-US" altLang="zh-CN" sz="2600" dirty="0"/>
              <a:t>-393.5kJ</a:t>
            </a:r>
            <a:r>
              <a:rPr lang="zh-CN" altLang="en-US" sz="2600" dirty="0"/>
              <a:t>。</a:t>
            </a:r>
            <a:r>
              <a:rPr lang="en-US" altLang="zh-CN" sz="2600" dirty="0" err="1"/>
              <a:t>CaO</a:t>
            </a:r>
            <a:r>
              <a:rPr lang="en-US" altLang="zh-CN" sz="2600" dirty="0"/>
              <a:t>(s)</a:t>
            </a:r>
            <a:r>
              <a:rPr lang="zh-CN" altLang="en-US" sz="2600" dirty="0"/>
              <a:t>与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O(l) </a:t>
            </a:r>
            <a:r>
              <a:rPr lang="zh-CN" altLang="en-US" sz="2600" dirty="0"/>
              <a:t>反应的反应热是</a:t>
            </a:r>
            <a:r>
              <a:rPr lang="en-US" altLang="zh-CN" sz="2600" dirty="0"/>
              <a:t>-653.1kJ</a:t>
            </a:r>
            <a:r>
              <a:rPr lang="zh-CN" altLang="en-US" sz="2600" dirty="0"/>
              <a:t>。求电石与水反应的反应热。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Ca(s) + 2C(s) </a:t>
            </a:r>
            <a:r>
              <a:rPr lang="en-US" altLang="zh-CN" sz="2600" dirty="0">
                <a:sym typeface="Wingdings" pitchFamily="2" charset="2"/>
              </a:rPr>
              <a:t> Ca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(s)			 H = -62.8kJ	-----1</a:t>
            </a:r>
          </a:p>
          <a:p>
            <a:pPr>
              <a:buNone/>
            </a:pPr>
            <a:r>
              <a:rPr lang="en-US" altLang="zh-CN" sz="2600" dirty="0"/>
              <a:t>Ca(s) + ½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 </a:t>
            </a:r>
            <a:r>
              <a:rPr lang="en-US" altLang="zh-CN" sz="2600" dirty="0">
                <a:sym typeface="Wingdings" pitchFamily="2" charset="2"/>
              </a:rPr>
              <a:t> </a:t>
            </a:r>
            <a:r>
              <a:rPr lang="en-US" altLang="zh-CN" sz="2600" dirty="0" err="1">
                <a:sym typeface="Wingdings" pitchFamily="2" charset="2"/>
              </a:rPr>
              <a:t>CaO</a:t>
            </a:r>
            <a:r>
              <a:rPr lang="en-US" altLang="zh-CN" sz="2600" dirty="0">
                <a:sym typeface="Wingdings" pitchFamily="2" charset="2"/>
              </a:rPr>
              <a:t>(s)			 H = </a:t>
            </a:r>
            <a:r>
              <a:rPr lang="en-US" altLang="zh-CN" sz="2600" dirty="0"/>
              <a:t>-635.5kJ 	-----2</a:t>
            </a:r>
          </a:p>
          <a:p>
            <a:pPr>
              <a:buNone/>
            </a:pPr>
            <a:r>
              <a:rPr lang="en-US" altLang="zh-CN" sz="2600" dirty="0"/>
              <a:t>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 + 5/2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 </a:t>
            </a:r>
            <a:r>
              <a:rPr lang="en-US" altLang="zh-CN" sz="2600" dirty="0">
                <a:sym typeface="Wingdings" pitchFamily="2" charset="2"/>
              </a:rPr>
              <a:t> 2 CO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 +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O(l)       H=</a:t>
            </a:r>
            <a:r>
              <a:rPr lang="en-US" altLang="zh-CN" sz="2600" dirty="0"/>
              <a:t> -1300kJ ----3</a:t>
            </a:r>
          </a:p>
          <a:p>
            <a:pPr>
              <a:buNone/>
            </a:pPr>
            <a:r>
              <a:rPr lang="en-US" altLang="zh-CN" sz="2600" dirty="0">
                <a:sym typeface="Wingdings" pitchFamily="2" charset="2"/>
              </a:rPr>
              <a:t>  C (s) + 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  CO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			      H=</a:t>
            </a:r>
            <a:r>
              <a:rPr lang="en-US" altLang="zh-CN" sz="2600" dirty="0"/>
              <a:t> -393.5kJ ----4</a:t>
            </a:r>
          </a:p>
          <a:p>
            <a:pPr>
              <a:buNone/>
            </a:pPr>
            <a:r>
              <a:rPr lang="en-US" altLang="zh-CN" sz="2600" dirty="0" err="1"/>
              <a:t>CaO</a:t>
            </a:r>
            <a:r>
              <a:rPr lang="en-US" altLang="zh-CN" sz="2600" dirty="0"/>
              <a:t>(s) +H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O(l) </a:t>
            </a:r>
            <a:r>
              <a:rPr lang="en-US" altLang="zh-CN" sz="2600" dirty="0">
                <a:sym typeface="Wingdings" pitchFamily="2" charset="2"/>
              </a:rPr>
              <a:t> Ca(OH)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(s)		      H = </a:t>
            </a:r>
            <a:r>
              <a:rPr lang="en-US" altLang="zh-CN" sz="2600" dirty="0"/>
              <a:t>-653.1kJ ----5</a:t>
            </a:r>
          </a:p>
          <a:p>
            <a:pPr>
              <a:buNone/>
            </a:pPr>
            <a:r>
              <a:rPr lang="en-US" altLang="zh-CN" sz="2600" dirty="0"/>
              <a:t>1</a:t>
            </a:r>
            <a:r>
              <a:rPr lang="zh-CN" altLang="en-US" sz="2600" dirty="0"/>
              <a:t>对调  </a:t>
            </a:r>
            <a:r>
              <a:rPr lang="en-US" altLang="zh-CN" sz="2600" dirty="0">
                <a:sym typeface="Wingdings" pitchFamily="2" charset="2"/>
              </a:rPr>
              <a:t>Ca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(s)</a:t>
            </a:r>
            <a:r>
              <a:rPr lang="en-US" altLang="zh-CN" sz="2600" dirty="0">
                <a:sym typeface="Wingdings" pitchFamily="2" charset="2"/>
              </a:rPr>
              <a:t> </a:t>
            </a:r>
            <a:r>
              <a:rPr lang="en-US" altLang="zh-CN" sz="2600" dirty="0"/>
              <a:t>Ca(s) + 2C(s) 		H = 62.8kJ  -----6</a:t>
            </a:r>
          </a:p>
          <a:p>
            <a:pPr>
              <a:buNone/>
            </a:pPr>
            <a:r>
              <a:rPr lang="en-US" altLang="zh-CN" sz="2600" dirty="0"/>
              <a:t>3</a:t>
            </a:r>
            <a:r>
              <a:rPr lang="zh-CN" altLang="en-US" sz="2600" dirty="0"/>
              <a:t>对调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Wingdings" pitchFamily="2" charset="2"/>
              </a:rPr>
              <a:t>2 CO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 +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O(l) 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 + 5/2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(g)    </a:t>
            </a:r>
            <a:r>
              <a:rPr lang="en-US" altLang="zh-CN" sz="2600" dirty="0">
                <a:sym typeface="Wingdings" pitchFamily="2" charset="2"/>
              </a:rPr>
              <a:t> H=</a:t>
            </a:r>
            <a:r>
              <a:rPr lang="en-US" altLang="zh-CN" sz="2600" dirty="0"/>
              <a:t>1300kJ ---7</a:t>
            </a:r>
          </a:p>
          <a:p>
            <a:pPr>
              <a:buNone/>
            </a:pPr>
            <a:r>
              <a:rPr lang="en-US" altLang="zh-CN" sz="2600" dirty="0"/>
              <a:t>4x2 	2</a:t>
            </a:r>
            <a:r>
              <a:rPr lang="en-US" altLang="zh-CN" sz="2600" dirty="0">
                <a:sym typeface="Wingdings" pitchFamily="2" charset="2"/>
              </a:rPr>
              <a:t>C (s) + 2O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 2 CO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(g)		H=</a:t>
            </a:r>
            <a:r>
              <a:rPr lang="en-US" altLang="zh-CN" sz="2600" dirty="0"/>
              <a:t> -787kJ ----8</a:t>
            </a:r>
          </a:p>
          <a:p>
            <a:pPr>
              <a:buNone/>
            </a:pPr>
            <a:r>
              <a:rPr lang="en-US" altLang="zh-CN" sz="2600" b="1" dirty="0">
                <a:solidFill>
                  <a:srgbClr val="660066"/>
                </a:solidFill>
              </a:rPr>
              <a:t>CaC</a:t>
            </a:r>
            <a:r>
              <a:rPr lang="en-US" sz="2600" b="1" baseline="-25000" dirty="0">
                <a:solidFill>
                  <a:srgbClr val="660066"/>
                </a:solidFill>
              </a:rPr>
              <a:t>2</a:t>
            </a:r>
            <a:r>
              <a:rPr lang="en-US" sz="2600" b="1" dirty="0">
                <a:solidFill>
                  <a:srgbClr val="660066"/>
                </a:solidFill>
              </a:rPr>
              <a:t> (s) + 2H</a:t>
            </a:r>
            <a:r>
              <a:rPr lang="en-US" sz="2600" b="1" baseline="-25000" dirty="0">
                <a:solidFill>
                  <a:srgbClr val="660066"/>
                </a:solidFill>
              </a:rPr>
              <a:t>2</a:t>
            </a:r>
            <a:r>
              <a:rPr lang="en-US" sz="2600" b="1" dirty="0">
                <a:solidFill>
                  <a:srgbClr val="660066"/>
                </a:solidFill>
              </a:rPr>
              <a:t>O (l) </a:t>
            </a:r>
            <a:r>
              <a:rPr lang="en-US" sz="2600" b="1" dirty="0">
                <a:solidFill>
                  <a:srgbClr val="660066"/>
                </a:solidFill>
                <a:sym typeface="Wingdings" pitchFamily="2" charset="2"/>
              </a:rPr>
              <a:t> </a:t>
            </a:r>
            <a:r>
              <a:rPr lang="en-US" altLang="zh-CN" sz="2600" b="1" dirty="0">
                <a:solidFill>
                  <a:srgbClr val="660066"/>
                </a:solidFill>
              </a:rPr>
              <a:t>C</a:t>
            </a:r>
            <a:r>
              <a:rPr lang="en-US" altLang="zh-CN" sz="26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600" b="1" dirty="0">
                <a:solidFill>
                  <a:srgbClr val="660066"/>
                </a:solidFill>
              </a:rPr>
              <a:t>H</a:t>
            </a:r>
            <a:r>
              <a:rPr lang="en-US" altLang="zh-CN" sz="26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600" b="1" dirty="0">
                <a:solidFill>
                  <a:srgbClr val="660066"/>
                </a:solidFill>
              </a:rPr>
              <a:t> (g) + Ca(OH)</a:t>
            </a:r>
            <a:r>
              <a:rPr lang="en-US" altLang="zh-CN" sz="2600" b="1" baseline="-25000" dirty="0">
                <a:solidFill>
                  <a:srgbClr val="660066"/>
                </a:solidFill>
              </a:rPr>
              <a:t>2</a:t>
            </a:r>
            <a:r>
              <a:rPr lang="en-US" altLang="zh-CN" sz="2600" b="1" dirty="0">
                <a:solidFill>
                  <a:srgbClr val="660066"/>
                </a:solidFill>
              </a:rPr>
              <a:t> (s)	H=-712.8kJ</a:t>
            </a:r>
            <a:r>
              <a:rPr lang="en-US" sz="2600" b="1" dirty="0">
                <a:solidFill>
                  <a:srgbClr val="660066"/>
                </a:solidFill>
                <a:sym typeface="Wingdings" pitchFamily="2" charset="2"/>
              </a:rPr>
              <a:t> </a:t>
            </a:r>
            <a:endParaRPr lang="en-US" sz="2600" b="1" dirty="0">
              <a:solidFill>
                <a:srgbClr val="660066"/>
              </a:solidFill>
            </a:endParaRPr>
          </a:p>
          <a:p>
            <a:pPr>
              <a:buNone/>
            </a:pPr>
            <a:endParaRPr lang="en-US" altLang="zh-CN" sz="2600" dirty="0"/>
          </a:p>
          <a:p>
            <a:pPr>
              <a:buNone/>
            </a:pPr>
            <a:endParaRPr lang="en-US" altLang="zh-CN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2623119" y="1524000"/>
            <a:ext cx="60372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00B050"/>
                </a:solidFill>
              </a:rPr>
              <a:t>CaC</a:t>
            </a:r>
            <a:r>
              <a:rPr lang="en-US" sz="2600" b="1" baseline="-25000" dirty="0">
                <a:solidFill>
                  <a:srgbClr val="00B050"/>
                </a:solidFill>
              </a:rPr>
              <a:t>2</a:t>
            </a:r>
            <a:r>
              <a:rPr lang="en-US" sz="2600" b="1" dirty="0">
                <a:solidFill>
                  <a:srgbClr val="00B050"/>
                </a:solidFill>
              </a:rPr>
              <a:t> (s) + 2H</a:t>
            </a:r>
            <a:r>
              <a:rPr lang="en-US" sz="2600" b="1" baseline="-25000" dirty="0">
                <a:solidFill>
                  <a:srgbClr val="00B050"/>
                </a:solidFill>
              </a:rPr>
              <a:t>2</a:t>
            </a:r>
            <a:r>
              <a:rPr lang="en-US" sz="2600" b="1" dirty="0">
                <a:solidFill>
                  <a:srgbClr val="00B050"/>
                </a:solidFill>
              </a:rPr>
              <a:t>O (l) </a:t>
            </a:r>
            <a:r>
              <a:rPr lang="en-US" sz="2600" b="1" dirty="0">
                <a:solidFill>
                  <a:srgbClr val="00B050"/>
                </a:solidFill>
                <a:sym typeface="Wingdings" pitchFamily="2" charset="2"/>
              </a:rPr>
              <a:t> </a:t>
            </a:r>
            <a:r>
              <a:rPr lang="en-US" altLang="zh-CN" sz="2600" b="1" dirty="0">
                <a:solidFill>
                  <a:srgbClr val="00B050"/>
                </a:solidFill>
              </a:rPr>
              <a:t>C</a:t>
            </a:r>
            <a:r>
              <a:rPr lang="en-US" altLang="zh-CN" sz="2600" b="1" baseline="-25000" dirty="0">
                <a:solidFill>
                  <a:srgbClr val="00B050"/>
                </a:solidFill>
              </a:rPr>
              <a:t>2</a:t>
            </a:r>
            <a:r>
              <a:rPr lang="en-US" altLang="zh-CN" sz="2600" b="1" dirty="0">
                <a:solidFill>
                  <a:srgbClr val="00B050"/>
                </a:solidFill>
              </a:rPr>
              <a:t>H</a:t>
            </a:r>
            <a:r>
              <a:rPr lang="en-US" altLang="zh-CN" sz="2600" b="1" baseline="-25000" dirty="0">
                <a:solidFill>
                  <a:srgbClr val="00B050"/>
                </a:solidFill>
              </a:rPr>
              <a:t>2</a:t>
            </a:r>
            <a:r>
              <a:rPr lang="en-US" altLang="zh-CN" sz="2600" b="1" dirty="0">
                <a:solidFill>
                  <a:srgbClr val="00B050"/>
                </a:solidFill>
              </a:rPr>
              <a:t> (g) + Ca(OH)</a:t>
            </a:r>
            <a:r>
              <a:rPr lang="en-US" altLang="zh-CN" sz="2600" b="1" baseline="-25000" dirty="0">
                <a:solidFill>
                  <a:srgbClr val="00B050"/>
                </a:solidFill>
              </a:rPr>
              <a:t>2</a:t>
            </a:r>
            <a:r>
              <a:rPr lang="en-US" altLang="zh-CN" sz="2600" b="1" dirty="0">
                <a:solidFill>
                  <a:srgbClr val="00B050"/>
                </a:solidFill>
              </a:rPr>
              <a:t> (s)</a:t>
            </a:r>
            <a:r>
              <a:rPr lang="en-US" sz="2600" b="1" dirty="0">
                <a:solidFill>
                  <a:srgbClr val="00B050"/>
                </a:solidFill>
                <a:sym typeface="Wingdings" pitchFamily="2" charset="2"/>
              </a:rPr>
              <a:t> </a:t>
            </a:r>
            <a:endParaRPr lang="en-US" sz="2600" b="1" dirty="0">
              <a:solidFill>
                <a:srgbClr val="00B05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5791200" y="2133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791200" y="2590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6172200" y="3124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6172200" y="3581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6172200" y="4038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4268788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5715000" y="4495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6858000" y="4953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81000" y="2057400"/>
            <a:ext cx="838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8600" y="3048000"/>
            <a:ext cx="838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rot="10800000" flipV="1">
            <a:off x="381000" y="2514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10800000" flipV="1">
            <a:off x="2743201" y="4495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V="1">
            <a:off x="2895601" y="2514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304800" y="3962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>
            <a:off x="5715000" y="548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8600" y="3505200"/>
            <a:ext cx="838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rot="10800000" flipV="1">
            <a:off x="1295401" y="2590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 flipV="1">
            <a:off x="2209801" y="5410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0800000" flipV="1">
            <a:off x="5486400" y="49529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10800000" flipV="1">
            <a:off x="3657600" y="44196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10800000" flipV="1">
            <a:off x="1295400" y="5410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1371599" y="4953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0800000" flipV="1">
            <a:off x="3733800" y="5410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6200" y="5715000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>
            <a:off x="6553200" y="5943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3" grpId="0" animBg="1"/>
      <p:bldP spid="3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1. </a:t>
            </a:r>
            <a:r>
              <a:rPr lang="zh-CN" altLang="en-US" dirty="0"/>
              <a:t>吸热反应：生成物焓较高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A</a:t>
            </a:r>
          </a:p>
          <a:p>
            <a:pPr>
              <a:buNone/>
            </a:pPr>
            <a:r>
              <a:rPr lang="en-US" altLang="zh-CN" dirty="0"/>
              <a:t>2. A </a:t>
            </a:r>
            <a:r>
              <a:rPr lang="zh-CN" altLang="en-US" dirty="0"/>
              <a:t>化学变化同时伴随着能量的转移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altLang="zh-CN" dirty="0"/>
              <a:t>B </a:t>
            </a:r>
            <a:r>
              <a:rPr lang="zh-CN" altLang="en-US" dirty="0"/>
              <a:t>键的形成为放热；破坏化学键为吸热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altLang="zh-CN" dirty="0"/>
              <a:t>D 1molH</a:t>
            </a:r>
            <a:r>
              <a:rPr lang="en-US" altLang="zh-CN" baseline="-25000" dirty="0"/>
              <a:t>2</a:t>
            </a:r>
            <a:r>
              <a:rPr lang="zh-CN" altLang="en-US" dirty="0"/>
              <a:t>燃烧与</a:t>
            </a:r>
            <a:r>
              <a:rPr lang="en-US" altLang="zh-CN" dirty="0"/>
              <a:t>2molH</a:t>
            </a:r>
            <a:r>
              <a:rPr lang="en-US" altLang="zh-CN" baseline="-25000" dirty="0"/>
              <a:t>2</a:t>
            </a:r>
            <a:r>
              <a:rPr lang="zh-CN" altLang="en-US" dirty="0"/>
              <a:t>燃烧的反应热不同。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C</a:t>
            </a:r>
          </a:p>
          <a:p>
            <a:pPr>
              <a:buNone/>
            </a:pPr>
            <a:r>
              <a:rPr lang="en-US" altLang="zh-CN" dirty="0"/>
              <a:t>3. C</a:t>
            </a:r>
          </a:p>
          <a:p>
            <a:pPr>
              <a:buNone/>
            </a:pPr>
            <a:r>
              <a:rPr lang="en-US" altLang="zh-CN" dirty="0"/>
              <a:t>4. B </a:t>
            </a:r>
            <a:r>
              <a:rPr lang="zh-CN" altLang="en-US" dirty="0"/>
              <a:t>硝酸铵溶于水为吸热反应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5. D</a:t>
            </a:r>
            <a:r>
              <a:rPr lang="zh-CN" altLang="en-US" dirty="0"/>
              <a:t>破坏化学键为吸热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6. A </a:t>
            </a:r>
            <a:r>
              <a:rPr lang="zh-CN" altLang="en-US" dirty="0"/>
              <a:t>状态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altLang="zh-CN" dirty="0"/>
              <a:t>BD  H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C </a:t>
            </a:r>
            <a:r>
              <a:rPr lang="zh-CN" altLang="en-US" dirty="0"/>
              <a:t>燃烧是放热反应，</a:t>
            </a:r>
            <a:r>
              <a:rPr lang="en-US" altLang="zh-CN" dirty="0"/>
              <a:t> ∆H&lt;0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Ans:C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altLang="zh-CN" dirty="0"/>
              <a:t>7. 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8.</a:t>
            </a:r>
            <a:r>
              <a:rPr lang="zh-CN" altLang="en-US" dirty="0"/>
              <a:t>在一定温度和压强下，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</a:t>
            </a:r>
            <a:r>
              <a:rPr lang="zh-CN" altLang="en-US" dirty="0"/>
              <a:t>物质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完全燃烧</a:t>
            </a:r>
            <a:r>
              <a:rPr lang="zh-CN" altLang="en-US" dirty="0">
                <a:latin typeface="Blackadder ITC" pitchFamily="82" charset="0"/>
              </a:rPr>
              <a:t>生成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itchFamily="82" charset="0"/>
              </a:rPr>
              <a:t>最稳定氧化物</a:t>
            </a:r>
            <a:r>
              <a:rPr lang="zh-CN" altLang="en-US" dirty="0">
                <a:latin typeface="Blackadder ITC" pitchFamily="82" charset="0"/>
              </a:rPr>
              <a:t>的反应热。</a:t>
            </a:r>
            <a:endParaRPr lang="en-US" altLang="zh-CN" dirty="0">
              <a:latin typeface="+mn-ea"/>
            </a:endParaRPr>
          </a:p>
          <a:p>
            <a:pPr>
              <a:buNone/>
            </a:pPr>
            <a:r>
              <a:rPr lang="zh-CN" altLang="en-US" dirty="0"/>
              <a:t>液态水为稳定氧化物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D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9. </a:t>
            </a:r>
            <a:r>
              <a:rPr lang="zh-CN" altLang="en-US" dirty="0"/>
              <a:t>题目</a:t>
            </a:r>
            <a:r>
              <a:rPr lang="en-US" altLang="zh-CN" dirty="0"/>
              <a:t>: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C(s) +O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(g)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</a:t>
            </a:r>
            <a:r>
              <a:rPr lang="en-US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(g)</a:t>
            </a:r>
            <a:r>
              <a:rPr lang="zh-CN" altLang="en-US" dirty="0"/>
              <a:t> </a:t>
            </a:r>
            <a:r>
              <a:rPr lang="en-US" altLang="zh-CN" dirty="0"/>
              <a:t>    ∆</a:t>
            </a:r>
            <a:r>
              <a:rPr lang="en-US" altLang="zh-CN" dirty="0">
                <a:sym typeface="Wingdings" pitchFamily="2" charset="2"/>
              </a:rPr>
              <a:t>H= -393.5kJ/mol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altLang="zh-CN" dirty="0">
                <a:sym typeface="Wingdings" pitchFamily="2" charset="2"/>
              </a:rPr>
              <a:t>1molC </a:t>
            </a:r>
            <a:r>
              <a:rPr lang="zh-CN" altLang="en-US" dirty="0">
                <a:sym typeface="Wingdings" pitchFamily="2" charset="2"/>
              </a:rPr>
              <a:t>限量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2mol </a:t>
            </a:r>
            <a:r>
              <a:rPr lang="en-US" altLang="zh-CN" dirty="0">
                <a:sym typeface="Wingdings" pitchFamily="2" charset="2"/>
              </a:rPr>
              <a:t>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zh-CN" altLang="en-US" dirty="0">
                <a:sym typeface="Wingdings" pitchFamily="2" charset="2"/>
              </a:rPr>
              <a:t>过量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altLang="zh-CN" dirty="0" err="1">
                <a:sym typeface="Wingdings" pitchFamily="2" charset="2"/>
              </a:rPr>
              <a:t>Ans</a:t>
            </a:r>
            <a:r>
              <a:rPr lang="en-US" altLang="zh-CN" dirty="0">
                <a:sym typeface="Wingdings" pitchFamily="2" charset="2"/>
              </a:rPr>
              <a:t>: B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10. </a:t>
            </a:r>
            <a:r>
              <a:rPr lang="en-US" altLang="zh-CN" dirty="0"/>
              <a:t>∆</a:t>
            </a:r>
            <a:r>
              <a:rPr lang="en-US" altLang="zh-CN" dirty="0">
                <a:sym typeface="Wingdings" pitchFamily="2" charset="2"/>
              </a:rPr>
              <a:t>H = </a:t>
            </a:r>
            <a:r>
              <a:rPr lang="en-US" altLang="zh-CN" dirty="0"/>
              <a:t>∆</a:t>
            </a:r>
            <a:r>
              <a:rPr lang="en-US" altLang="zh-CN" dirty="0">
                <a:sym typeface="Wingdings" pitchFamily="2" charset="2"/>
              </a:rPr>
              <a:t>H</a:t>
            </a:r>
            <a:r>
              <a:rPr lang="en-US" altLang="zh-CN" baseline="-25000" dirty="0">
                <a:sym typeface="Wingdings" pitchFamily="2" charset="2"/>
              </a:rPr>
              <a:t>1</a:t>
            </a:r>
            <a:r>
              <a:rPr lang="en-US" altLang="zh-CN" dirty="0">
                <a:sym typeface="Wingdings" pitchFamily="2" charset="2"/>
              </a:rPr>
              <a:t> - </a:t>
            </a:r>
            <a:r>
              <a:rPr lang="en-US" altLang="zh-CN" dirty="0"/>
              <a:t>∆</a:t>
            </a:r>
            <a:r>
              <a:rPr lang="en-US" altLang="zh-CN" dirty="0">
                <a:sym typeface="Wingdings" pitchFamily="2" charset="2"/>
              </a:rPr>
              <a:t>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	   </a:t>
            </a:r>
            <a:r>
              <a:rPr lang="en-US" altLang="zh-CN" dirty="0">
                <a:sym typeface="Wingdings" pitchFamily="2" charset="2"/>
              </a:rPr>
              <a:t>= -111+ 242kJ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	   = 131kJ 			</a:t>
            </a:r>
            <a:r>
              <a:rPr lang="en-US" dirty="0" err="1">
                <a:sym typeface="Wingdings" pitchFamily="2" charset="2"/>
              </a:rPr>
              <a:t>Ans:C</a:t>
            </a:r>
            <a:r>
              <a:rPr lang="en-US" dirty="0">
                <a:sym typeface="Wingdings" pitchFamily="2" charset="2"/>
              </a:rPr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ym typeface="Wingdings" pitchFamily="2" charset="2"/>
              </a:rPr>
              <a:t>11. M(C</a:t>
            </a:r>
            <a:r>
              <a:rPr lang="en-US" baseline="-25000" dirty="0">
                <a:sym typeface="Wingdings" pitchFamily="2" charset="2"/>
              </a:rPr>
              <a:t>6</a:t>
            </a:r>
            <a:r>
              <a:rPr lang="en-US" dirty="0">
                <a:sym typeface="Wingdings" pitchFamily="2" charset="2"/>
              </a:rPr>
              <a:t>H</a:t>
            </a:r>
            <a:r>
              <a:rPr lang="en-US" baseline="-25000" dirty="0">
                <a:sym typeface="Wingdings" pitchFamily="2" charset="2"/>
              </a:rPr>
              <a:t>12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6</a:t>
            </a:r>
            <a:r>
              <a:rPr lang="en-US" dirty="0">
                <a:sym typeface="Wingdings" pitchFamily="2" charset="2"/>
              </a:rPr>
              <a:t> )=180g/mol		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n(C</a:t>
            </a:r>
            <a:r>
              <a:rPr lang="en-US" baseline="-25000" dirty="0">
                <a:sym typeface="Wingdings" pitchFamily="2" charset="2"/>
              </a:rPr>
              <a:t>6</a:t>
            </a:r>
            <a:r>
              <a:rPr lang="en-US" dirty="0">
                <a:sym typeface="Wingdings" pitchFamily="2" charset="2"/>
              </a:rPr>
              <a:t>H</a:t>
            </a:r>
            <a:r>
              <a:rPr lang="en-US" baseline="-25000" dirty="0">
                <a:sym typeface="Wingdings" pitchFamily="2" charset="2"/>
              </a:rPr>
              <a:t>12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6</a:t>
            </a:r>
            <a:r>
              <a:rPr lang="en-US" dirty="0">
                <a:sym typeface="Wingdings" pitchFamily="2" charset="2"/>
              </a:rPr>
              <a:t> )=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		= 1/3 mol</a:t>
            </a:r>
          </a:p>
          <a:p>
            <a:pPr>
              <a:buNone/>
            </a:pPr>
            <a:r>
              <a:rPr lang="en-US" altLang="zh-CN" dirty="0"/>
              <a:t>∆</a:t>
            </a:r>
            <a:r>
              <a:rPr lang="en-US" altLang="zh-CN" dirty="0">
                <a:sym typeface="Wingdings" pitchFamily="2" charset="2"/>
              </a:rPr>
              <a:t>H= -2400kJ/mol  x 1/3 mol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  = -800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kJ		</a:t>
            </a:r>
            <a:r>
              <a:rPr lang="en-US" dirty="0" err="1">
                <a:sym typeface="Wingdings" pitchFamily="2" charset="2"/>
              </a:rPr>
              <a:t>Ans:C</a:t>
            </a: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12. D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13. 	n(OH</a:t>
            </a:r>
            <a:r>
              <a:rPr lang="en-US" baseline="30000" dirty="0">
                <a:sym typeface="Wingdings" pitchFamily="2" charset="2"/>
              </a:rPr>
              <a:t>-</a:t>
            </a:r>
            <a:r>
              <a:rPr lang="en-US" dirty="0">
                <a:sym typeface="Wingdings" pitchFamily="2" charset="2"/>
              </a:rPr>
              <a:t>)=2M x 0.02L =0.04mol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	n(H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) = 1Mx0.02Lx2 = 0.04mol</a:t>
            </a:r>
          </a:p>
          <a:p>
            <a:pPr>
              <a:buNone/>
            </a:pPr>
            <a:r>
              <a:rPr lang="en-US" altLang="zh-CN" dirty="0"/>
              <a:t>∆</a:t>
            </a:r>
            <a:r>
              <a:rPr lang="en-US" altLang="zh-CN" dirty="0">
                <a:sym typeface="Wingdings" pitchFamily="2" charset="2"/>
              </a:rPr>
              <a:t>H= -57.3kJ/mol  x 0.04mol</a:t>
            </a:r>
          </a:p>
          <a:p>
            <a:pPr>
              <a:buNone/>
            </a:pPr>
            <a:r>
              <a:rPr lang="en-US" dirty="0"/>
              <a:t>	 </a:t>
            </a:r>
            <a:r>
              <a:rPr lang="en-US" altLang="zh-CN" dirty="0"/>
              <a:t>= -2.292kJ	</a:t>
            </a:r>
            <a:r>
              <a:rPr lang="en-US" altLang="zh-CN" dirty="0" err="1"/>
              <a:t>Ans:B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67000" y="1371600"/>
          <a:ext cx="1228436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1228436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0" y="4419600"/>
            <a:ext cx="3657600" cy="533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667000" y="5029200"/>
            <a:ext cx="3886200" cy="533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14. </a:t>
            </a:r>
            <a:r>
              <a:rPr lang="zh-CN" altLang="en-US" dirty="0"/>
              <a:t>生成热越低越稳定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D </a:t>
            </a:r>
          </a:p>
          <a:p>
            <a:pPr>
              <a:buNone/>
            </a:pPr>
            <a:r>
              <a:rPr lang="en-US" altLang="zh-CN" dirty="0"/>
              <a:t>15.	A </a:t>
            </a:r>
            <a:r>
              <a:rPr lang="zh-CN" altLang="en-US" dirty="0"/>
              <a:t>热化学标准状态</a:t>
            </a:r>
            <a:r>
              <a:rPr lang="en-US" altLang="zh-CN" dirty="0"/>
              <a:t>25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1.01x10</a:t>
            </a:r>
            <a:r>
              <a:rPr lang="en-US" altLang="zh-CN" baseline="30000" dirty="0"/>
              <a:t>5</a:t>
            </a:r>
            <a:r>
              <a:rPr lang="en-US" altLang="zh-CN" dirty="0"/>
              <a:t>Pa</a:t>
            </a:r>
          </a:p>
          <a:p>
            <a:pPr>
              <a:buNone/>
            </a:pPr>
            <a:r>
              <a:rPr lang="en-US" altLang="zh-CN" dirty="0"/>
              <a:t>		C </a:t>
            </a:r>
            <a:r>
              <a:rPr lang="zh-CN" altLang="en-US" dirty="0"/>
              <a:t>燃烧热：在一定温度和压强下，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1mol</a:t>
            </a:r>
            <a:r>
              <a:rPr lang="zh-CN" altLang="en-US" dirty="0"/>
              <a:t>物质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完全燃烧</a:t>
            </a:r>
            <a:r>
              <a:rPr lang="zh-CN" altLang="en-US" dirty="0"/>
              <a:t>生成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最稳定氧化物</a:t>
            </a:r>
            <a:r>
              <a:rPr lang="zh-CN" altLang="en-US" dirty="0"/>
              <a:t>的反应热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D </a:t>
            </a:r>
            <a:r>
              <a:rPr lang="zh-CN" altLang="en-US" dirty="0"/>
              <a:t>需注明状态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Ans:B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16. 	A 		B 		C 		D 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Ans:B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17. A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905000" y="4800600"/>
          <a:ext cx="603250" cy="813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91960" imgH="393480" progId="Equation.3">
                  <p:embed/>
                </p:oleObj>
              </mc:Choice>
              <mc:Fallback>
                <p:oleObj name="Equation" r:id="rId3" imgW="2919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800600"/>
                        <a:ext cx="603250" cy="8130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81400" y="4800600"/>
          <a:ext cx="777364" cy="73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419040" imgH="393480" progId="Equation.3">
                  <p:embed/>
                </p:oleObj>
              </mc:Choice>
              <mc:Fallback>
                <p:oleObj name="Equation" r:id="rId5" imgW="4190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800600"/>
                        <a:ext cx="777364" cy="7302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410200" y="4800600"/>
          <a:ext cx="753806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406080" imgH="393480" progId="Equation.3">
                  <p:embed/>
                </p:oleObj>
              </mc:Choice>
              <mc:Fallback>
                <p:oleObj name="Equation" r:id="rId7" imgW="4060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800600"/>
                        <a:ext cx="753806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391400" y="4800600"/>
          <a:ext cx="819151" cy="76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419040" imgH="393480" progId="Equation.3">
                  <p:embed/>
                </p:oleObj>
              </mc:Choice>
              <mc:Fallback>
                <p:oleObj name="Equation" r:id="rId9" imgW="41904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800600"/>
                        <a:ext cx="819151" cy="7695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作答题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/>
              <a:t>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2. +285.8kJ</a:t>
            </a:r>
          </a:p>
          <a:p>
            <a:pPr>
              <a:buNone/>
            </a:pPr>
            <a:r>
              <a:rPr lang="en-US" altLang="zh-CN" dirty="0"/>
              <a:t>3.(1) </a:t>
            </a:r>
            <a:r>
              <a:rPr lang="zh-CN" altLang="en-US" dirty="0"/>
              <a:t>石墨为碳单质中最稳定的</a:t>
            </a:r>
            <a:r>
              <a:rPr lang="en-US" altLang="zh-CN" dirty="0"/>
              <a:t>,</a:t>
            </a:r>
            <a:r>
              <a:rPr lang="zh-CN" altLang="en-US" dirty="0"/>
              <a:t>其标准生成热是零</a:t>
            </a:r>
            <a:endParaRPr lang="en-US" altLang="zh-CN" dirty="0"/>
          </a:p>
          <a:p>
            <a:pPr>
              <a:buNone/>
            </a:pPr>
            <a:r>
              <a:rPr lang="en-US" dirty="0"/>
              <a:t>(2)</a:t>
            </a:r>
            <a:r>
              <a:rPr lang="zh-CN" altLang="en-US" dirty="0"/>
              <a:t>因为</a:t>
            </a:r>
            <a:r>
              <a:rPr lang="en-US" altLang="zh-CN" dirty="0"/>
              <a:t>CO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为碳的最稳定状态氧化物。</a:t>
            </a:r>
            <a:endParaRPr lang="en-US" dirty="0"/>
          </a:p>
          <a:p>
            <a:pPr>
              <a:buNone/>
            </a:pPr>
            <a:r>
              <a:rPr lang="en-US" dirty="0"/>
              <a:t>(3)</a:t>
            </a:r>
            <a:r>
              <a:rPr lang="zh-CN" altLang="en-US" dirty="0"/>
              <a:t>碳的摩尔质量为</a:t>
            </a:r>
            <a:r>
              <a:rPr lang="en-US" altLang="zh-CN" dirty="0"/>
              <a:t>12g/mol</a:t>
            </a:r>
            <a:r>
              <a:rPr lang="zh-CN" altLang="en-US" dirty="0"/>
              <a:t>，故选定</a:t>
            </a:r>
            <a:r>
              <a:rPr lang="en-US" altLang="zh-CN" dirty="0"/>
              <a:t>12g</a:t>
            </a:r>
            <a:r>
              <a:rPr lang="zh-CN" altLang="en-US" dirty="0"/>
              <a:t>便于计算。</a:t>
            </a:r>
            <a:endParaRPr lang="en-US" dirty="0"/>
          </a:p>
          <a:p>
            <a:pPr>
              <a:buNone/>
            </a:pPr>
            <a:r>
              <a:rPr lang="en-US" dirty="0"/>
              <a:t>(4)</a:t>
            </a:r>
            <a:r>
              <a:rPr lang="zh-CN" altLang="en-US" dirty="0"/>
              <a:t>因为热化学标准状态为</a:t>
            </a:r>
            <a:r>
              <a:rPr lang="en-US" altLang="zh-CN" dirty="0"/>
              <a:t>25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1.01x10</a:t>
            </a:r>
            <a:r>
              <a:rPr lang="en-US" altLang="zh-CN" baseline="30000" dirty="0"/>
              <a:t>5</a:t>
            </a:r>
            <a:r>
              <a:rPr lang="en-US" altLang="zh-CN" dirty="0"/>
              <a:t>Pa</a:t>
            </a:r>
            <a:r>
              <a:rPr lang="zh-CN" altLang="en-US" dirty="0"/>
              <a:t>。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强酸、强碱在水溶液中完全解离，其中和热仅涉及</a:t>
            </a:r>
            <a:r>
              <a:rPr lang="en-US" altLang="zh-CN" sz="2800" dirty="0"/>
              <a:t>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</a:t>
            </a:r>
            <a:r>
              <a:rPr lang="zh-CN" altLang="en-US" sz="2800" dirty="0"/>
              <a:t>与</a:t>
            </a:r>
            <a:r>
              <a:rPr lang="en-US" altLang="zh-CN" sz="2800" dirty="0"/>
              <a:t>OH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  <a:r>
              <a:rPr lang="zh-CN" altLang="en-US" sz="2800" dirty="0"/>
              <a:t>结合生成水的反应热，故接近常数。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zh-CN" altLang="en-US" sz="2800" dirty="0"/>
              <a:t>弱酸、弱碱在水溶液中不完全解离，它们在发生中和反应之前还会因电离而消耗能量。不同弱酸、弱碱电离程度不同，消耗的能量也不同，因此弱酸和弱碱的中和热差别较大。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5.</a:t>
            </a:r>
            <a:r>
              <a:rPr lang="zh-CN" altLang="en-US" sz="2800" dirty="0"/>
              <a:t>黑斯定律：一个化学过程不论是一步完成，或是分为几步完成，这个过程的热效应是相同的。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运用：可在已测得的反应热数据的基础上，计算出相关的一些反应热的数据</a:t>
            </a:r>
            <a:endParaRPr lang="en-US" altLang="zh-CN" sz="2800" dirty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48600" cy="639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作答题（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/>
              <a:t>C(s) 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 CH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			H =-74.8kJ ----1</a:t>
            </a:r>
          </a:p>
          <a:p>
            <a:pPr>
              <a:buNone/>
            </a:pPr>
            <a:r>
              <a:rPr lang="en-US" sz="3000" dirty="0"/>
              <a:t>C(s) + O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 CO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			H=-393.5kJ ----2</a:t>
            </a:r>
          </a:p>
          <a:p>
            <a:pPr>
              <a:buNone/>
            </a:pPr>
            <a:r>
              <a:rPr lang="en-US" sz="3000" dirty="0">
                <a:sym typeface="Wingdings" pitchFamily="2" charset="2"/>
              </a:rPr>
              <a:t>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 + ½ 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  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O (l)		H= -285.8kJ ---3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求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 + 2O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</a:t>
            </a:r>
            <a:r>
              <a:rPr lang="en-US" altLang="zh-CN" sz="3000" dirty="0">
                <a:sym typeface="Wingdings" pitchFamily="2" charset="2"/>
              </a:rPr>
              <a:t> 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	H =?</a:t>
            </a:r>
          </a:p>
          <a:p>
            <a:pPr>
              <a:buNone/>
            </a:pPr>
            <a:r>
              <a:rPr lang="en-US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对调 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 </a:t>
            </a:r>
            <a:r>
              <a:rPr lang="en-US" altLang="zh-CN" sz="3000" dirty="0"/>
              <a:t>C(s) 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 	H =74.8kJ ----4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不变</a:t>
            </a:r>
            <a:r>
              <a:rPr lang="en-US" sz="3000" dirty="0"/>
              <a:t>C(s) + O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 CO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		H=-393.5kJ ----2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3x2     2</a:t>
            </a:r>
            <a:r>
              <a:rPr lang="en-US" sz="3000" dirty="0">
                <a:sym typeface="Wingdings" pitchFamily="2" charset="2"/>
              </a:rPr>
              <a:t>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 + 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 2 H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O (l)	H= -571.6kJ ---5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CH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(g) + 2O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</a:t>
            </a:r>
            <a:r>
              <a:rPr lang="en-US" altLang="zh-CN" sz="3000" dirty="0">
                <a:sym typeface="Wingdings" pitchFamily="2" charset="2"/>
              </a:rPr>
              <a:t> 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	H =-890.3kJ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/>
          </a:p>
        </p:txBody>
      </p:sp>
      <p:sp>
        <p:nvSpPr>
          <p:cNvPr id="4" name="Isosceles Triangle 3"/>
          <p:cNvSpPr/>
          <p:nvPr/>
        </p:nvSpPr>
        <p:spPr>
          <a:xfrm>
            <a:off x="5715000" y="1143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715000" y="167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715000" y="2209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6629400" y="2743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0" y="3048000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5715000" y="3276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5715000" y="3886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715000" y="4343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6200" y="4649788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2743201" y="3200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1295400" y="3810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3810000" y="3200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0800000" flipV="1">
            <a:off x="1447800" y="4343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6629400" y="5486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作答题（</a:t>
            </a:r>
            <a:r>
              <a:rPr lang="en-US" altLang="zh-CN" sz="4000" dirty="0"/>
              <a:t>7</a:t>
            </a:r>
            <a:r>
              <a:rPr lang="zh-CN" altLang="en-US" sz="4000" dirty="0"/>
              <a:t>）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/>
              <a:t>C(s) (</a:t>
            </a:r>
            <a:r>
              <a:rPr lang="zh-CN" altLang="en-US" sz="3000" dirty="0"/>
              <a:t>石墨</a:t>
            </a:r>
            <a:r>
              <a:rPr lang="en-US" sz="3000" dirty="0"/>
              <a:t>)+ O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 CO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		H=-393.5kJ ----</a:t>
            </a:r>
            <a:r>
              <a:rPr lang="en-US" altLang="zh-CN" sz="3000" dirty="0">
                <a:sym typeface="Wingdings" pitchFamily="2" charset="2"/>
              </a:rPr>
              <a:t>1</a:t>
            </a:r>
            <a:endParaRPr lang="en-US" sz="3000" dirty="0">
              <a:sym typeface="Wingdings" pitchFamily="2" charset="2"/>
            </a:endParaRPr>
          </a:p>
          <a:p>
            <a:pPr>
              <a:buNone/>
            </a:pPr>
            <a:r>
              <a:rPr lang="en-US" sz="3000" dirty="0"/>
              <a:t>C(s)(</a:t>
            </a:r>
            <a:r>
              <a:rPr lang="zh-CN" altLang="en-US" sz="3000" dirty="0"/>
              <a:t>金刚石</a:t>
            </a:r>
            <a:r>
              <a:rPr lang="en-US" sz="3000" dirty="0"/>
              <a:t>) + O</a:t>
            </a:r>
            <a:r>
              <a:rPr lang="en-US" sz="3000" baseline="-25000" dirty="0"/>
              <a:t>2</a:t>
            </a:r>
            <a:r>
              <a:rPr lang="en-US" sz="3000" dirty="0"/>
              <a:t> (g) </a:t>
            </a:r>
            <a:r>
              <a:rPr lang="en-US" sz="3000" dirty="0">
                <a:sym typeface="Wingdings" pitchFamily="2" charset="2"/>
              </a:rPr>
              <a:t> CO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	H=-39</a:t>
            </a:r>
            <a:r>
              <a:rPr lang="en-US" altLang="zh-CN" sz="3000" dirty="0">
                <a:sym typeface="Wingdings" pitchFamily="2" charset="2"/>
              </a:rPr>
              <a:t>5</a:t>
            </a:r>
            <a:r>
              <a:rPr lang="en-US" sz="3000" dirty="0">
                <a:sym typeface="Wingdings" pitchFamily="2" charset="2"/>
              </a:rPr>
              <a:t>.</a:t>
            </a:r>
            <a:r>
              <a:rPr lang="en-US" altLang="zh-CN" sz="3000" dirty="0">
                <a:sym typeface="Wingdings" pitchFamily="2" charset="2"/>
              </a:rPr>
              <a:t>0</a:t>
            </a:r>
            <a:r>
              <a:rPr lang="en-US" sz="3000" dirty="0">
                <a:sym typeface="Wingdings" pitchFamily="2" charset="2"/>
              </a:rPr>
              <a:t>kJ ----2</a:t>
            </a:r>
          </a:p>
          <a:p>
            <a:pPr>
              <a:buNone/>
            </a:pPr>
            <a:r>
              <a:rPr lang="en-US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对调 </a:t>
            </a:r>
            <a:r>
              <a:rPr lang="en-US" sz="3000" dirty="0">
                <a:sym typeface="Wingdings" pitchFamily="2" charset="2"/>
              </a:rPr>
              <a:t>CO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 (g)</a:t>
            </a:r>
            <a:r>
              <a:rPr lang="en-US" sz="3000" dirty="0"/>
              <a:t>C(s)(</a:t>
            </a:r>
            <a:r>
              <a:rPr lang="zh-CN" altLang="en-US" sz="3000" dirty="0"/>
              <a:t>金刚石</a:t>
            </a:r>
            <a:r>
              <a:rPr lang="en-US" sz="3000" dirty="0"/>
              <a:t>) + O</a:t>
            </a:r>
            <a:r>
              <a:rPr lang="en-US" sz="3000" baseline="-25000" dirty="0"/>
              <a:t>2</a:t>
            </a:r>
            <a:r>
              <a:rPr lang="en-US" sz="3000" dirty="0"/>
              <a:t>(g) </a:t>
            </a:r>
            <a:r>
              <a:rPr lang="en-US" sz="3000" dirty="0">
                <a:sym typeface="Wingdings" pitchFamily="2" charset="2"/>
              </a:rPr>
              <a:t>       H=39</a:t>
            </a:r>
            <a:r>
              <a:rPr lang="en-US" altLang="zh-CN" sz="3000" dirty="0">
                <a:sym typeface="Wingdings" pitchFamily="2" charset="2"/>
              </a:rPr>
              <a:t>5</a:t>
            </a:r>
            <a:r>
              <a:rPr lang="en-US" sz="3000" dirty="0">
                <a:sym typeface="Wingdings" pitchFamily="2" charset="2"/>
              </a:rPr>
              <a:t>.</a:t>
            </a:r>
            <a:r>
              <a:rPr lang="en-US" altLang="zh-CN" sz="3000" dirty="0">
                <a:sym typeface="Wingdings" pitchFamily="2" charset="2"/>
              </a:rPr>
              <a:t>0</a:t>
            </a:r>
            <a:r>
              <a:rPr lang="en-US" sz="3000" dirty="0">
                <a:sym typeface="Wingdings" pitchFamily="2" charset="2"/>
              </a:rPr>
              <a:t>kJ –</a:t>
            </a:r>
            <a:r>
              <a:rPr lang="en-US" altLang="zh-CN" sz="3000" dirty="0">
                <a:sym typeface="Wingdings" pitchFamily="2" charset="2"/>
              </a:rPr>
              <a:t>3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1+3</a:t>
            </a:r>
          </a:p>
          <a:p>
            <a:pPr>
              <a:buNone/>
            </a:pPr>
            <a:r>
              <a:rPr lang="en-US" sz="3000" dirty="0">
                <a:solidFill>
                  <a:srgbClr val="660066"/>
                </a:solidFill>
              </a:rPr>
              <a:t>C(s) (</a:t>
            </a:r>
            <a:r>
              <a:rPr lang="zh-CN" altLang="en-US" sz="3000" dirty="0">
                <a:solidFill>
                  <a:srgbClr val="660066"/>
                </a:solidFill>
              </a:rPr>
              <a:t>石墨</a:t>
            </a:r>
            <a:r>
              <a:rPr lang="en-US" sz="3000" dirty="0">
                <a:solidFill>
                  <a:srgbClr val="660066"/>
                </a:solidFill>
              </a:rPr>
              <a:t>)</a:t>
            </a:r>
            <a:r>
              <a:rPr lang="en-US" altLang="zh-CN" sz="3000" dirty="0">
                <a:solidFill>
                  <a:srgbClr val="660066"/>
                </a:solidFill>
                <a:sym typeface="Wingdings" pitchFamily="2" charset="2"/>
              </a:rPr>
              <a:t></a:t>
            </a:r>
            <a:r>
              <a:rPr lang="en-US" sz="3000" dirty="0">
                <a:solidFill>
                  <a:srgbClr val="660066"/>
                </a:solidFill>
              </a:rPr>
              <a:t> C(s)(</a:t>
            </a:r>
            <a:r>
              <a:rPr lang="zh-CN" altLang="en-US" sz="3000" dirty="0">
                <a:solidFill>
                  <a:srgbClr val="660066"/>
                </a:solidFill>
              </a:rPr>
              <a:t>金刚石</a:t>
            </a:r>
            <a:r>
              <a:rPr lang="en-US" sz="3000" dirty="0">
                <a:solidFill>
                  <a:srgbClr val="660066"/>
                </a:solidFill>
              </a:rPr>
              <a:t>)     </a:t>
            </a:r>
            <a:r>
              <a:rPr lang="en-US" sz="3000" dirty="0">
                <a:solidFill>
                  <a:srgbClr val="660066"/>
                </a:solidFill>
                <a:sym typeface="Wingdings" pitchFamily="2" charset="2"/>
              </a:rPr>
              <a:t> 	    H=</a:t>
            </a:r>
            <a:r>
              <a:rPr lang="en-US" altLang="zh-CN" sz="3000" dirty="0">
                <a:solidFill>
                  <a:srgbClr val="660066"/>
                </a:solidFill>
                <a:sym typeface="Wingdings" pitchFamily="2" charset="2"/>
              </a:rPr>
              <a:t>1.5kJ</a:t>
            </a:r>
            <a:endParaRPr lang="en-US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/>
          </a:p>
        </p:txBody>
      </p:sp>
      <p:sp>
        <p:nvSpPr>
          <p:cNvPr id="4" name="Isosceles Triangle 3"/>
          <p:cNvSpPr/>
          <p:nvPr/>
        </p:nvSpPr>
        <p:spPr>
          <a:xfrm>
            <a:off x="5638800" y="2667000"/>
            <a:ext cx="152400" cy="1259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5638800" y="2133600"/>
            <a:ext cx="152400" cy="1259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5800" y="1015425"/>
            <a:ext cx="59939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solidFill>
                  <a:srgbClr val="660066"/>
                </a:solidFill>
              </a:rPr>
              <a:t>求</a:t>
            </a:r>
            <a:r>
              <a:rPr lang="en-US" sz="3000" dirty="0">
                <a:solidFill>
                  <a:srgbClr val="660066"/>
                </a:solidFill>
              </a:rPr>
              <a:t>C(s) (</a:t>
            </a:r>
            <a:r>
              <a:rPr lang="zh-CN" altLang="en-US" sz="3000" dirty="0">
                <a:solidFill>
                  <a:srgbClr val="660066"/>
                </a:solidFill>
              </a:rPr>
              <a:t>石墨</a:t>
            </a:r>
            <a:r>
              <a:rPr lang="en-US" sz="3000" dirty="0">
                <a:solidFill>
                  <a:srgbClr val="660066"/>
                </a:solidFill>
              </a:rPr>
              <a:t>)</a:t>
            </a:r>
            <a:r>
              <a:rPr lang="en-US" altLang="zh-CN" sz="3000" dirty="0">
                <a:solidFill>
                  <a:srgbClr val="660066"/>
                </a:solidFill>
                <a:sym typeface="Wingdings" pitchFamily="2" charset="2"/>
              </a:rPr>
              <a:t></a:t>
            </a:r>
            <a:r>
              <a:rPr lang="en-US" sz="3000" dirty="0">
                <a:solidFill>
                  <a:srgbClr val="660066"/>
                </a:solidFill>
              </a:rPr>
              <a:t> C(s)(</a:t>
            </a:r>
            <a:r>
              <a:rPr lang="zh-CN" altLang="en-US" sz="3000" dirty="0">
                <a:solidFill>
                  <a:srgbClr val="660066"/>
                </a:solidFill>
              </a:rPr>
              <a:t>金刚石</a:t>
            </a:r>
            <a:r>
              <a:rPr lang="en-US" sz="3000" dirty="0">
                <a:solidFill>
                  <a:srgbClr val="660066"/>
                </a:solidFill>
              </a:rPr>
              <a:t>)     </a:t>
            </a:r>
            <a:r>
              <a:rPr lang="en-US" sz="3000" dirty="0">
                <a:solidFill>
                  <a:srgbClr val="660066"/>
                </a:solidFill>
                <a:sym typeface="Wingdings" pitchFamily="2" charset="2"/>
              </a:rPr>
              <a:t> H=?  </a:t>
            </a:r>
            <a:endParaRPr lang="en-US" sz="3000" dirty="0">
              <a:solidFill>
                <a:srgbClr val="660066"/>
              </a:solidFill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5562600" y="1219200"/>
            <a:ext cx="152400" cy="1259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" y="2971800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6477000" y="3226816"/>
            <a:ext cx="152400" cy="1259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28600" y="3506788"/>
            <a:ext cx="9144000" cy="74612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>
            <a:off x="5943600" y="4293616"/>
            <a:ext cx="152400" cy="1259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10800000" flipV="1">
            <a:off x="3581400" y="2057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1295400" y="3124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2286001" y="20574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5105400" y="31242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 animBg="1"/>
      <p:bldP spid="9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C:\Users\user\Desktop\11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作答题</a:t>
            </a:r>
            <a:r>
              <a:rPr lang="en-US" altLang="zh-CN" sz="3600" dirty="0"/>
              <a:t>(9)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685800"/>
            <a:ext cx="8915400" cy="632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3000" dirty="0"/>
              <a:t>求  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2C(s) + H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       H=?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C(s) + O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(g)  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CO</a:t>
            </a:r>
            <a:r>
              <a:rPr kumimoji="0" lang="en-US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zh-CN" altLang="en-US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		H= -393.5kJ  ------1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 H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(g)+  ½ O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  H</a:t>
            </a:r>
            <a:r>
              <a:rPr kumimoji="0" lang="en-US" altLang="zh-CN" sz="30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O (g)	  	H= -285.8kJ -----2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3000" dirty="0"/>
              <a:t>2C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+5O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(g)</a:t>
            </a:r>
            <a:r>
              <a:rPr lang="en-US" altLang="zh-CN" sz="3000" dirty="0">
                <a:sym typeface="Wingdings" pitchFamily="2" charset="2"/>
              </a:rPr>
              <a:t>4</a:t>
            </a:r>
            <a:r>
              <a:rPr lang="en-US" sz="3000" dirty="0"/>
              <a:t>CO</a:t>
            </a:r>
            <a:r>
              <a:rPr lang="en-US" sz="3000" baseline="-25000" dirty="0"/>
              <a:t>2</a:t>
            </a:r>
            <a:r>
              <a:rPr lang="en-US" sz="3000" dirty="0"/>
              <a:t> (g)</a:t>
            </a:r>
            <a:r>
              <a:rPr lang="zh-CN" altLang="en-US" sz="3000" dirty="0"/>
              <a:t> </a:t>
            </a:r>
            <a:r>
              <a:rPr lang="en-US" altLang="zh-CN" sz="3000" dirty="0"/>
              <a:t>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O(l)    H</a:t>
            </a:r>
            <a:r>
              <a:rPr kumimoji="0" lang="en-US" altLang="zh-CN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=-2599.2----3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1x2 	2C(s) + 2O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 CO</a:t>
            </a:r>
            <a:r>
              <a:rPr kumimoji="0" lang="en-US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 H= -787kJ  -----5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不变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H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(g)+  ½ O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(g)  H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O (g)	    H= -285.8kJ -----2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3x ½</a:t>
            </a:r>
            <a:r>
              <a:rPr kumimoji="0" lang="en-US" altLang="zh-CN" sz="2600" b="0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对调</a:t>
            </a:r>
            <a:r>
              <a:rPr lang="en-US" altLang="zh-CN" sz="2600" dirty="0">
                <a:solidFill>
                  <a:srgbClr val="002060"/>
                </a:solidFill>
              </a:rPr>
              <a:t>2</a:t>
            </a:r>
            <a:r>
              <a:rPr lang="en-US" sz="2600" dirty="0">
                <a:solidFill>
                  <a:srgbClr val="002060"/>
                </a:solidFill>
              </a:rPr>
              <a:t>CO</a:t>
            </a:r>
            <a:r>
              <a:rPr lang="en-US" sz="2600" baseline="-25000" dirty="0">
                <a:solidFill>
                  <a:srgbClr val="002060"/>
                </a:solidFill>
              </a:rPr>
              <a:t>2</a:t>
            </a:r>
            <a:r>
              <a:rPr lang="en-US" sz="2600" dirty="0">
                <a:solidFill>
                  <a:srgbClr val="002060"/>
                </a:solidFill>
              </a:rPr>
              <a:t>(g)</a:t>
            </a:r>
            <a:r>
              <a:rPr lang="en-US" altLang="zh-CN" sz="2600" dirty="0">
                <a:solidFill>
                  <a:srgbClr val="002060"/>
                </a:solidFill>
              </a:rPr>
              <a:t>+H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600" dirty="0">
                <a:solidFill>
                  <a:srgbClr val="002060"/>
                </a:solidFill>
              </a:rPr>
              <a:t>O(l)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lang="en-US" altLang="zh-CN" sz="2600" dirty="0">
                <a:solidFill>
                  <a:srgbClr val="002060"/>
                </a:solidFill>
              </a:rPr>
              <a:t>C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600" dirty="0">
                <a:solidFill>
                  <a:srgbClr val="002060"/>
                </a:solidFill>
              </a:rPr>
              <a:t>H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600" dirty="0">
                <a:solidFill>
                  <a:srgbClr val="002060"/>
                </a:solidFill>
              </a:rPr>
              <a:t>(g)+5/2O</a:t>
            </a:r>
            <a:r>
              <a:rPr lang="en-US" altLang="zh-CN" sz="26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600" dirty="0">
                <a:solidFill>
                  <a:srgbClr val="002060"/>
                </a:solidFill>
              </a:rPr>
              <a:t>(g)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H=1299.6kJ---6</a:t>
            </a:r>
            <a:endParaRPr lang="en-US" altLang="zh-CN" sz="2600" baseline="-25000" dirty="0">
              <a:solidFill>
                <a:srgbClr val="002060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3000" b="1" baseline="-25000" dirty="0">
                <a:solidFill>
                  <a:srgbClr val="002060"/>
                </a:solidFill>
              </a:rPr>
              <a:t>   </a:t>
            </a:r>
            <a:r>
              <a:rPr lang="en-US" altLang="zh-CN" sz="3000" b="1" dirty="0">
                <a:solidFill>
                  <a:srgbClr val="002060"/>
                </a:solidFill>
              </a:rPr>
              <a:t>  2+5+6</a:t>
            </a:r>
            <a:r>
              <a:rPr lang="en-US" altLang="zh-CN" sz="3000" b="1" baseline="-25000" dirty="0">
                <a:solidFill>
                  <a:srgbClr val="002060"/>
                </a:solidFill>
              </a:rPr>
              <a:t> 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3000" dirty="0"/>
              <a:t>2C(s)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(g)       H=226.8kJ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答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3000" b="0" i="0" u="none" strike="noStrike" kern="120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(g)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的标准生成热是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226.8kJ/mol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5105400" y="914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5638800" y="1447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5638800" y="1981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6324600" y="2514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895600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5943600" y="3048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5943600" y="35814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6781800" y="4114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rot="10800000" flipV="1">
            <a:off x="4191000" y="3048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2400" y="4570412"/>
            <a:ext cx="9067800" cy="1588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1371600" y="41148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 flipV="1">
            <a:off x="2286001" y="3048000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 flipV="1">
            <a:off x="2667001" y="35813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 flipV="1">
            <a:off x="5257800" y="4114799"/>
            <a:ext cx="685800" cy="3048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>
            <a:off x="4343400" y="5257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5835741</TotalTime>
  <Words>6884</Words>
  <Application>Microsoft Office PowerPoint</Application>
  <PresentationFormat>On-screen Show (4:3)</PresentationFormat>
  <Paragraphs>556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文鼎细仿宋简</vt:lpstr>
      <vt:lpstr>Arial</vt:lpstr>
      <vt:lpstr>Blackadder ITC</vt:lpstr>
      <vt:lpstr>Calibri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问题解决</vt:lpstr>
      <vt:lpstr>思考题19b</vt:lpstr>
      <vt:lpstr>19.3反应热的种类</vt:lpstr>
      <vt:lpstr>19.3.1 生成热</vt:lpstr>
      <vt:lpstr>问题解决</vt:lpstr>
      <vt:lpstr>19.3.1 生成热</vt:lpstr>
      <vt:lpstr>19.3.1 生成热</vt:lpstr>
      <vt:lpstr>思考题19c</vt:lpstr>
      <vt:lpstr>PowerPoint Presentation</vt:lpstr>
      <vt:lpstr>19.3.2 燃烧热</vt:lpstr>
      <vt:lpstr>交流分享</vt:lpstr>
      <vt:lpstr>19.3.2 燃烧热</vt:lpstr>
      <vt:lpstr>PowerPoint Presentation</vt:lpstr>
      <vt:lpstr>PowerPoint Presentation</vt:lpstr>
      <vt:lpstr>思考题19d</vt:lpstr>
      <vt:lpstr>19.3.3 中和热</vt:lpstr>
      <vt:lpstr>中和热测定仪器  （实验装置）</vt:lpstr>
      <vt:lpstr>量热器calorimeter</vt:lpstr>
      <vt:lpstr>PowerPoint Presentation</vt:lpstr>
      <vt:lpstr>19.3.3 中和热</vt:lpstr>
      <vt:lpstr>19.3.3 中和热</vt:lpstr>
      <vt:lpstr>19.3.3 中和热</vt:lpstr>
      <vt:lpstr>PowerPoint Presentation</vt:lpstr>
      <vt:lpstr>黑斯定律图示法</vt:lpstr>
      <vt:lpstr>PowerPoint Presentation</vt:lpstr>
      <vt:lpstr>例题5</vt:lpstr>
      <vt:lpstr>PowerPoint Presentation</vt:lpstr>
      <vt:lpstr>PowerPoint Presentation</vt:lpstr>
      <vt:lpstr>PowerPoint Presentation</vt:lpstr>
      <vt:lpstr>PowerPoint Presentation</vt:lpstr>
      <vt:lpstr>黑斯定律补充题</vt:lpstr>
      <vt:lpstr>旧课本练习17b（1）</vt:lpstr>
      <vt:lpstr>旧课本练习17b（2）</vt:lpstr>
      <vt:lpstr>PowerPoint Presentation</vt:lpstr>
      <vt:lpstr>PowerPoint Presentation</vt:lpstr>
      <vt:lpstr>PowerPoint Presentation</vt:lpstr>
      <vt:lpstr>PowerPoint Presentation</vt:lpstr>
      <vt:lpstr>选择题</vt:lpstr>
      <vt:lpstr>选择题</vt:lpstr>
      <vt:lpstr>选择题</vt:lpstr>
      <vt:lpstr>选择题</vt:lpstr>
      <vt:lpstr>选择题</vt:lpstr>
      <vt:lpstr>作答题3、4、5、6、9</vt:lpstr>
      <vt:lpstr>作答题</vt:lpstr>
      <vt:lpstr>作答题（6）</vt:lpstr>
      <vt:lpstr>作答题（7）</vt:lpstr>
      <vt:lpstr>作答题(9)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白波 白波</cp:lastModifiedBy>
  <cp:revision>198</cp:revision>
  <dcterms:created xsi:type="dcterms:W3CDTF">2016-03-15T04:42:38Z</dcterms:created>
  <dcterms:modified xsi:type="dcterms:W3CDTF">2025-06-08T15:13:55Z</dcterms:modified>
</cp:coreProperties>
</file>