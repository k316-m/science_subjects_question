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7"/>
  </p:notesMasterIdLst>
  <p:sldIdLst>
    <p:sldId id="256" r:id="rId2"/>
    <p:sldId id="257" r:id="rId3"/>
    <p:sldId id="258" r:id="rId4"/>
    <p:sldId id="259" r:id="rId5"/>
    <p:sldId id="295" r:id="rId6"/>
    <p:sldId id="296" r:id="rId7"/>
    <p:sldId id="297" r:id="rId8"/>
    <p:sldId id="298" r:id="rId9"/>
    <p:sldId id="299" r:id="rId10"/>
    <p:sldId id="284" r:id="rId11"/>
    <p:sldId id="300" r:id="rId12"/>
    <p:sldId id="301" r:id="rId13"/>
    <p:sldId id="261" r:id="rId14"/>
    <p:sldId id="302" r:id="rId15"/>
    <p:sldId id="303" r:id="rId16"/>
    <p:sldId id="304" r:id="rId17"/>
    <p:sldId id="305" r:id="rId18"/>
    <p:sldId id="262" r:id="rId19"/>
    <p:sldId id="263" r:id="rId20"/>
    <p:sldId id="307" r:id="rId21"/>
    <p:sldId id="306" r:id="rId22"/>
    <p:sldId id="282" r:id="rId23"/>
    <p:sldId id="283" r:id="rId24"/>
    <p:sldId id="291" r:id="rId25"/>
    <p:sldId id="293" r:id="rId26"/>
    <p:sldId id="294" r:id="rId27"/>
    <p:sldId id="309" r:id="rId28"/>
    <p:sldId id="264" r:id="rId29"/>
    <p:sldId id="265" r:id="rId30"/>
    <p:sldId id="311" r:id="rId31"/>
    <p:sldId id="312" r:id="rId32"/>
    <p:sldId id="310" r:id="rId33"/>
    <p:sldId id="314" r:id="rId34"/>
    <p:sldId id="317" r:id="rId35"/>
    <p:sldId id="313" r:id="rId36"/>
    <p:sldId id="285" r:id="rId37"/>
    <p:sldId id="268" r:id="rId38"/>
    <p:sldId id="269" r:id="rId39"/>
    <p:sldId id="275" r:id="rId40"/>
    <p:sldId id="270" r:id="rId41"/>
    <p:sldId id="276" r:id="rId42"/>
    <p:sldId id="271" r:id="rId43"/>
    <p:sldId id="315" r:id="rId44"/>
    <p:sldId id="316" r:id="rId45"/>
    <p:sldId id="281" r:id="rId46"/>
    <p:sldId id="286" r:id="rId47"/>
    <p:sldId id="287" r:id="rId48"/>
    <p:sldId id="290" r:id="rId49"/>
    <p:sldId id="292" r:id="rId50"/>
    <p:sldId id="288" r:id="rId51"/>
    <p:sldId id="318" r:id="rId52"/>
    <p:sldId id="319" r:id="rId53"/>
    <p:sldId id="320" r:id="rId54"/>
    <p:sldId id="321" r:id="rId55"/>
    <p:sldId id="322" r:id="rId56"/>
    <p:sldId id="260" r:id="rId57"/>
    <p:sldId id="279" r:id="rId58"/>
    <p:sldId id="323" r:id="rId59"/>
    <p:sldId id="324" r:id="rId60"/>
    <p:sldId id="325" r:id="rId61"/>
    <p:sldId id="326" r:id="rId62"/>
    <p:sldId id="266" r:id="rId63"/>
    <p:sldId id="267" r:id="rId64"/>
    <p:sldId id="327" r:id="rId65"/>
    <p:sldId id="280" r:id="rId66"/>
    <p:sldId id="273" r:id="rId67"/>
    <p:sldId id="274" r:id="rId68"/>
    <p:sldId id="328" r:id="rId69"/>
    <p:sldId id="272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0F003-A82A-4E45-A571-0018223EE6EC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92D68-5CAD-4018-BF51-5BB35BA63B9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EC15A5-51CE-4054-A45A-A112D7F2F8D2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4BA7-057E-4DF0-973C-4983F16440F0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D7922-831D-4AE2-A8F3-2C4F0AFB92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8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9.bin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第十七章</a:t>
            </a:r>
            <a:r>
              <a:rPr lang="en-US" altLang="zh-CN" dirty="0"/>
              <a:t>	</a:t>
            </a:r>
            <a:r>
              <a:rPr lang="zh-CN" altLang="en-US" dirty="0"/>
              <a:t>气体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17.1 </a:t>
            </a:r>
            <a:r>
              <a:rPr lang="zh-CN" altLang="en-US" dirty="0"/>
              <a:t>物质的状态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zh-CN" altLang="en-US" dirty="0"/>
              <a:t>在一个体系里，任何具有相同成分及相同物理、化学性质的</a:t>
            </a:r>
            <a:r>
              <a:rPr lang="zh-CN" altLang="en-US" dirty="0">
                <a:solidFill>
                  <a:srgbClr val="CC00CC"/>
                </a:solidFill>
              </a:rPr>
              <a:t>均匀</a:t>
            </a:r>
            <a:r>
              <a:rPr lang="zh-CN" altLang="en-US" dirty="0"/>
              <a:t>部分就叫做</a:t>
            </a:r>
            <a:r>
              <a:rPr lang="zh-CN" altLang="en-US" dirty="0">
                <a:solidFill>
                  <a:srgbClr val="FF0000"/>
                </a:solidFill>
              </a:rPr>
              <a:t>相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氢气：气相</a:t>
            </a:r>
            <a:endParaRPr lang="en-US" altLang="zh-CN" dirty="0"/>
          </a:p>
          <a:p>
            <a:r>
              <a:rPr lang="zh-CN" altLang="en-US" dirty="0"/>
              <a:t>海水：液相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zh-CN" dirty="0"/>
              <a:t>17.2 </a:t>
            </a:r>
            <a:r>
              <a:rPr lang="zh-CN" altLang="en-US" dirty="0"/>
              <a:t>气体的性质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可流动</a:t>
            </a:r>
            <a:endParaRPr lang="en-US" altLang="zh-CN" sz="2800" dirty="0"/>
          </a:p>
          <a:p>
            <a:r>
              <a:rPr lang="zh-CN" altLang="en-US" sz="2800" dirty="0"/>
              <a:t>可被压缩</a:t>
            </a:r>
            <a:endParaRPr lang="en-US" altLang="zh-CN" sz="2800" dirty="0"/>
          </a:p>
          <a:p>
            <a:r>
              <a:rPr lang="zh-CN" altLang="en-US" sz="2800" dirty="0"/>
              <a:t>没有固定形状、体积</a:t>
            </a:r>
            <a:endParaRPr lang="en-US" altLang="zh-CN" sz="2800" dirty="0"/>
          </a:p>
          <a:p>
            <a:r>
              <a:rPr lang="zh-CN" altLang="en-US" sz="2800" dirty="0"/>
              <a:t>产生压强</a:t>
            </a:r>
            <a:endParaRPr lang="en-US" altLang="zh-CN" sz="2800" dirty="0"/>
          </a:p>
          <a:p>
            <a:r>
              <a:rPr lang="zh-CN" altLang="en-US" sz="2800" dirty="0"/>
              <a:t>密度小</a:t>
            </a:r>
            <a:endParaRPr lang="en-US" altLang="zh-CN" sz="2800" dirty="0"/>
          </a:p>
          <a:p>
            <a:r>
              <a:rPr lang="zh-CN" altLang="en-US" sz="2800" dirty="0"/>
              <a:t>扩散</a:t>
            </a:r>
            <a:endParaRPr lang="en-US" altLang="zh-CN" sz="2800" dirty="0"/>
          </a:p>
          <a:p>
            <a:r>
              <a:rPr lang="zh-CN" altLang="en-US" sz="2800" dirty="0"/>
              <a:t>标准状况</a:t>
            </a:r>
            <a:r>
              <a:rPr lang="en-US" altLang="zh-CN" sz="2800" dirty="0"/>
              <a:t>STP(standard temperature and pressure)</a:t>
            </a:r>
          </a:p>
          <a:p>
            <a:pPr lvl="2"/>
            <a:r>
              <a:rPr lang="en-US" altLang="zh-CN" sz="2800" dirty="0"/>
              <a:t>T=273K </a:t>
            </a:r>
            <a:r>
              <a:rPr lang="zh-CN" altLang="en-US" sz="2800" dirty="0"/>
              <a:t>、 </a:t>
            </a:r>
            <a:r>
              <a:rPr lang="en-US" altLang="zh-CN" sz="2800" dirty="0"/>
              <a:t>p =1.01x10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</a:p>
          <a:p>
            <a:pPr>
              <a:buNone/>
            </a:pPr>
            <a:r>
              <a:rPr lang="zh-CN" altLang="en-US" sz="2800" dirty="0"/>
              <a:t>交流分享</a:t>
            </a:r>
            <a:endParaRPr lang="en-US" altLang="zh-CN" sz="2800" dirty="0"/>
          </a:p>
          <a:p>
            <a:r>
              <a:rPr lang="zh-CN" altLang="en-US" sz="2800" dirty="0"/>
              <a:t>颜色、味道、溶解性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资料链接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754563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布朗运动</a:t>
            </a:r>
            <a:endParaRPr lang="en-US" altLang="zh-CN" sz="2800" dirty="0"/>
          </a:p>
          <a:p>
            <a:pPr lvl="1"/>
            <a:r>
              <a:rPr lang="zh-CN" altLang="en-US" sz="2400" dirty="0"/>
              <a:t>英国植物学家布朗，观察水中悬浮的花粉。</a:t>
            </a:r>
            <a:endParaRPr lang="en-US" altLang="zh-CN" sz="2400" dirty="0"/>
          </a:p>
          <a:p>
            <a:pPr lvl="1"/>
            <a:r>
              <a:rPr lang="zh-CN" altLang="en-US" sz="2400" dirty="0"/>
              <a:t>花粉颗粒</a:t>
            </a:r>
            <a:r>
              <a:rPr lang="zh-CN" altLang="en-US" sz="2400" b="1" dirty="0">
                <a:solidFill>
                  <a:srgbClr val="CC00CC"/>
                </a:solidFill>
              </a:rPr>
              <a:t>不停地做不规则运动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颗粒越小，运动越明显。</a:t>
            </a:r>
            <a:endParaRPr lang="en-US" altLang="zh-CN" sz="2400" dirty="0"/>
          </a:p>
          <a:p>
            <a:pPr lvl="1"/>
            <a:r>
              <a:rPr lang="zh-CN" altLang="en-US" sz="2400" dirty="0"/>
              <a:t>悬浮物被液体分子撞击。</a:t>
            </a:r>
            <a:endParaRPr lang="en-US" altLang="zh-CN" sz="2400" dirty="0"/>
          </a:p>
          <a:p>
            <a:pPr lvl="1"/>
            <a:r>
              <a:rPr lang="zh-CN" altLang="en-US" sz="2400" dirty="0"/>
              <a:t>虽然做布朗运动的小颗粒（悬浮物）不是分子，但它的无规则运动是液体分子无规则运动的反映。</a:t>
            </a:r>
            <a:endParaRPr lang="en-US" altLang="zh-CN" sz="2400" dirty="0"/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温度越高，运动越激烈</a:t>
            </a:r>
            <a:endParaRPr lang="en-US" altLang="zh-CN" sz="2400" b="1" dirty="0">
              <a:solidFill>
                <a:srgbClr val="CC00CC"/>
              </a:solidFill>
            </a:endParaRPr>
          </a:p>
          <a:p>
            <a:pPr lvl="1"/>
            <a:r>
              <a:rPr lang="zh-CN" altLang="en-US" sz="2400" dirty="0"/>
              <a:t>分子的无规则运动称为</a:t>
            </a:r>
            <a:r>
              <a:rPr lang="zh-CN" altLang="en-US" sz="2400" b="1" dirty="0">
                <a:solidFill>
                  <a:srgbClr val="CC00CC"/>
                </a:solidFill>
              </a:rPr>
              <a:t>热运动</a:t>
            </a:r>
            <a:endParaRPr lang="en-US" altLang="zh-CN" sz="2400" b="1" dirty="0">
              <a:solidFill>
                <a:srgbClr val="CC00CC"/>
              </a:solidFill>
            </a:endParaRPr>
          </a:p>
          <a:p>
            <a:pPr lvl="1"/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b="1" dirty="0"/>
              <a:t>气体分子与在做无规则的热运动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zh-CN" dirty="0"/>
              <a:t>17.3.1 </a:t>
            </a:r>
            <a:r>
              <a:rPr lang="zh-CN" altLang="en-US" dirty="0"/>
              <a:t>波义耳定律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在一定温度下，一定质量的气体的</a:t>
            </a:r>
            <a:r>
              <a:rPr lang="zh-CN" altLang="en-US" b="1" dirty="0">
                <a:solidFill>
                  <a:srgbClr val="7030A0"/>
                </a:solidFill>
              </a:rPr>
              <a:t>体积</a:t>
            </a:r>
            <a:r>
              <a:rPr lang="zh-CN" altLang="en-US" dirty="0"/>
              <a:t>跟它的</a:t>
            </a:r>
            <a:r>
              <a:rPr lang="zh-CN" altLang="en-US" b="1" dirty="0">
                <a:solidFill>
                  <a:srgbClr val="7030A0"/>
                </a:solidFill>
              </a:rPr>
              <a:t>压强</a:t>
            </a:r>
            <a:r>
              <a:rPr lang="zh-CN" altLang="en-US" dirty="0"/>
              <a:t>成</a:t>
            </a:r>
            <a:r>
              <a:rPr lang="zh-CN" altLang="en-US" b="1" dirty="0">
                <a:solidFill>
                  <a:srgbClr val="7030A0"/>
                </a:solidFill>
              </a:rPr>
              <a:t>反比</a:t>
            </a:r>
            <a:r>
              <a:rPr lang="zh-CN" altLang="en-US" dirty="0"/>
              <a:t>。</a:t>
            </a:r>
            <a:r>
              <a:rPr lang="en-US" altLang="zh-CN" dirty="0"/>
              <a:t>	</a:t>
            </a:r>
          </a:p>
        </p:txBody>
      </p:sp>
      <p:pic>
        <p:nvPicPr>
          <p:cNvPr id="7" name="Picture 6" descr="boyi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417097"/>
            <a:ext cx="6922458" cy="4347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zh-CN" dirty="0"/>
              <a:t>17.3.1 </a:t>
            </a:r>
            <a:r>
              <a:rPr lang="zh-CN" altLang="en-US" dirty="0"/>
              <a:t>波义耳定律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在一定温度下，一定质量的气体</a:t>
            </a:r>
            <a:r>
              <a:rPr lang="zh-CN" altLang="en-US" dirty="0">
                <a:solidFill>
                  <a:srgbClr val="002060"/>
                </a:solidFill>
              </a:rPr>
              <a:t>压强</a:t>
            </a:r>
            <a:r>
              <a:rPr lang="zh-CN" altLang="en-US" dirty="0"/>
              <a:t>和其</a:t>
            </a:r>
            <a:r>
              <a:rPr lang="zh-CN" altLang="en-US" dirty="0">
                <a:solidFill>
                  <a:srgbClr val="002060"/>
                </a:solidFill>
              </a:rPr>
              <a:t>体积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2060"/>
                </a:solidFill>
              </a:rPr>
              <a:t>倒数</a:t>
            </a:r>
            <a:r>
              <a:rPr lang="zh-CN" altLang="en-US" dirty="0"/>
              <a:t>成</a:t>
            </a:r>
            <a:r>
              <a:rPr lang="zh-CN" altLang="en-US" dirty="0">
                <a:solidFill>
                  <a:srgbClr val="002060"/>
                </a:solidFill>
              </a:rPr>
              <a:t>正比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pic>
        <p:nvPicPr>
          <p:cNvPr id="6" name="Picture 5" descr="boyie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4319"/>
            <a:ext cx="7071674" cy="4246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altLang="zh-CN" dirty="0"/>
              <a:t>17.3.1 </a:t>
            </a:r>
            <a:r>
              <a:rPr lang="zh-CN" altLang="en-US" dirty="0"/>
              <a:t>波义耳定律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dirty="0"/>
              <a:t>当温度不变时，密闭容器中一定质量的气体的</a:t>
            </a:r>
            <a:r>
              <a:rPr lang="zh-CN" altLang="en-US" b="1" dirty="0">
                <a:solidFill>
                  <a:srgbClr val="7030A0"/>
                </a:solidFill>
              </a:rPr>
              <a:t>体积</a:t>
            </a:r>
            <a:r>
              <a:rPr lang="zh-CN" altLang="en-US" dirty="0"/>
              <a:t>跟它的</a:t>
            </a:r>
            <a:r>
              <a:rPr lang="zh-CN" altLang="en-US" b="1" dirty="0">
                <a:solidFill>
                  <a:srgbClr val="7030A0"/>
                </a:solidFill>
              </a:rPr>
              <a:t>压强</a:t>
            </a:r>
            <a:r>
              <a:rPr lang="zh-CN" altLang="en-US" dirty="0"/>
              <a:t>成</a:t>
            </a:r>
            <a:r>
              <a:rPr lang="zh-CN" altLang="en-US" b="1" dirty="0">
                <a:solidFill>
                  <a:srgbClr val="7030A0"/>
                </a:solidFill>
              </a:rPr>
              <a:t>反比</a:t>
            </a:r>
            <a:r>
              <a:rPr lang="zh-CN" altLang="en-US" dirty="0"/>
              <a:t>。</a:t>
            </a:r>
            <a:r>
              <a:rPr lang="en-US" altLang="zh-CN" dirty="0"/>
              <a:t>		</a:t>
            </a:r>
          </a:p>
          <a:p>
            <a:pPr>
              <a:buNone/>
            </a:pPr>
            <a:r>
              <a:rPr lang="en-US" altLang="zh-CN" dirty="0">
                <a:solidFill>
                  <a:srgbClr val="CC00CC"/>
                </a:solidFill>
              </a:rPr>
              <a:t>			</a:t>
            </a:r>
            <a:r>
              <a:rPr lang="en-US" altLang="zh-CN" dirty="0"/>
              <a:t>V  </a:t>
            </a:r>
            <a:r>
              <a:rPr lang="el-GR" altLang="zh-CN" dirty="0"/>
              <a:t>α</a:t>
            </a:r>
            <a:r>
              <a:rPr lang="en-US" altLang="zh-CN" dirty="0"/>
              <a:t> </a:t>
            </a:r>
          </a:p>
          <a:p>
            <a:pPr>
              <a:buNone/>
            </a:pPr>
            <a:endParaRPr lang="en-US" altLang="zh-CN" dirty="0">
              <a:solidFill>
                <a:srgbClr val="CC00CC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rgbClr val="CC00CC"/>
                </a:solidFill>
              </a:rPr>
              <a:t>公式：</a:t>
            </a:r>
            <a:r>
              <a:rPr lang="en-US" altLang="zh-CN" b="1" dirty="0">
                <a:solidFill>
                  <a:srgbClr val="CC00CC"/>
                </a:solidFill>
              </a:rPr>
              <a:t>p</a:t>
            </a:r>
            <a:r>
              <a:rPr lang="en-US" altLang="zh-CN" b="1" baseline="-25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 V</a:t>
            </a:r>
            <a:r>
              <a:rPr lang="en-US" altLang="zh-CN" b="1" baseline="-25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 = p</a:t>
            </a:r>
            <a:r>
              <a:rPr lang="en-US" altLang="zh-CN" b="1" baseline="-25000" dirty="0">
                <a:solidFill>
                  <a:srgbClr val="CC00CC"/>
                </a:solidFill>
              </a:rPr>
              <a:t>2</a:t>
            </a:r>
            <a:r>
              <a:rPr lang="en-US" altLang="zh-CN" b="1" dirty="0">
                <a:solidFill>
                  <a:srgbClr val="CC00CC"/>
                </a:solidFill>
              </a:rPr>
              <a:t> V</a:t>
            </a:r>
            <a:r>
              <a:rPr lang="en-US" altLang="zh-CN" b="1" baseline="-25000" dirty="0">
                <a:solidFill>
                  <a:srgbClr val="CC00CC"/>
                </a:solidFill>
              </a:rPr>
              <a:t>2</a:t>
            </a:r>
            <a:r>
              <a:rPr lang="en-US" altLang="zh-CN" b="1" dirty="0">
                <a:solidFill>
                  <a:srgbClr val="CC00CC"/>
                </a:solidFill>
              </a:rPr>
              <a:t> 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适用于压强不太大，温度不太低的条件下。</a:t>
            </a:r>
            <a:endParaRPr lang="en-US" altLang="zh-CN" dirty="0"/>
          </a:p>
          <a:p>
            <a:r>
              <a:rPr lang="zh-CN" altLang="en-US" dirty="0"/>
              <a:t>只适用于</a:t>
            </a:r>
            <a:r>
              <a:rPr lang="zh-CN" altLang="en-US" b="1" dirty="0">
                <a:solidFill>
                  <a:srgbClr val="7030A0"/>
                </a:solidFill>
              </a:rPr>
              <a:t>分子间作用力</a:t>
            </a:r>
            <a:r>
              <a:rPr lang="zh-CN" altLang="en-US" dirty="0"/>
              <a:t>不足以影响分子任意运动的“理想”气体。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048000" y="2152650"/>
          <a:ext cx="609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67200" imgH="10058400" progId="Equation.3">
                  <p:embed/>
                </p:oleObj>
              </mc:Choice>
              <mc:Fallback>
                <p:oleObj name="Equation" r:id="rId3" imgW="4267200" imgH="10058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52650"/>
                        <a:ext cx="6096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1. </a:t>
            </a:r>
          </a:p>
          <a:p>
            <a:pPr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20x10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  <a:r>
              <a:rPr lang="zh-CN" altLang="en-US" sz="2800" dirty="0"/>
              <a:t>，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=10L</a:t>
            </a:r>
            <a:r>
              <a:rPr lang="zh-CN" altLang="en-US" sz="2800" dirty="0"/>
              <a:t>，</a:t>
            </a:r>
            <a:r>
              <a:rPr lang="en-US" altLang="zh-CN" sz="2800" dirty="0"/>
              <a:t> 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1.0x10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/p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         = 200L</a:t>
            </a:r>
          </a:p>
          <a:p>
            <a:pPr>
              <a:buNone/>
            </a:pPr>
            <a:r>
              <a:rPr lang="zh-CN" altLang="en-US" sz="2800" dirty="0"/>
              <a:t>剩余气体百分数</a:t>
            </a:r>
            <a:r>
              <a:rPr lang="en-US" altLang="zh-CN" sz="2800" dirty="0"/>
              <a:t>=		       x 100%</a:t>
            </a:r>
          </a:p>
          <a:p>
            <a:pPr>
              <a:buNone/>
            </a:pPr>
            <a:r>
              <a:rPr lang="en-US" sz="2800" dirty="0"/>
              <a:t>			         =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235" y="3581400"/>
            <a:ext cx="2330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20x10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  x 10L  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76400" y="3965277"/>
            <a:ext cx="29718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33600" y="3962400"/>
            <a:ext cx="1489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1.0x10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3884849" y="4572000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10L  </a:t>
            </a:r>
            <a:endParaRPr lang="en-US" sz="22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733800" y="4953000"/>
            <a:ext cx="9144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33800" y="49530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200L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  <p:bldP spid="4" grpId="0"/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已知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78cmHg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74cmHg</a:t>
            </a:r>
          </a:p>
          <a:p>
            <a:pPr>
              <a:buNone/>
            </a:pPr>
            <a:r>
              <a:rPr lang="zh-CN" altLang="en-US" sz="2800" dirty="0"/>
              <a:t>设玻璃管的截面面积为</a:t>
            </a:r>
            <a:r>
              <a:rPr lang="en-US" altLang="zh-CN" sz="2800" dirty="0"/>
              <a:t>A</a:t>
            </a:r>
            <a:r>
              <a:rPr lang="zh-CN" altLang="en-US" sz="2800" dirty="0"/>
              <a:t>，需升高</a:t>
            </a:r>
            <a:r>
              <a:rPr lang="en-US" altLang="zh-CN" sz="2800" dirty="0" err="1"/>
              <a:t>xcm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10A</a:t>
            </a:r>
            <a:r>
              <a:rPr lang="zh-CN" altLang="en-US" sz="2800" dirty="0"/>
              <a:t>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</a:t>
            </a:r>
            <a:r>
              <a:rPr lang="zh-CN" altLang="en-US" sz="2800" dirty="0"/>
              <a:t>（</a:t>
            </a:r>
            <a:r>
              <a:rPr lang="en-US" altLang="zh-CN" sz="2800" dirty="0"/>
              <a:t>8+x-2</a:t>
            </a:r>
            <a:r>
              <a:rPr lang="zh-CN" altLang="en-US" sz="2800" dirty="0"/>
              <a:t>）</a:t>
            </a:r>
            <a:r>
              <a:rPr lang="en-US" altLang="zh-CN" sz="2800" dirty="0"/>
              <a:t>A </a:t>
            </a:r>
            <a:endParaRPr lang="en-US" altLang="zh-CN" sz="2800" baseline="-25000" dirty="0"/>
          </a:p>
          <a:p>
            <a:pPr>
              <a:buNone/>
            </a:pPr>
            <a:r>
              <a:rPr lang="en-US" altLang="zh-CN" sz="2800" baseline="-25000" dirty="0"/>
              <a:t> 		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	= 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     </a:t>
            </a:r>
            <a:r>
              <a:rPr lang="en-US" altLang="zh-CN" sz="2800" dirty="0"/>
              <a:t>78 (10A ) 	=  74(6+x)A </a:t>
            </a:r>
            <a:endParaRPr lang="en-US" altLang="zh-CN" sz="2800" baseline="-25000" dirty="0"/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 	780	= 444 + 74x</a:t>
            </a:r>
            <a:endParaRPr lang="en-US" altLang="zh-CN" sz="2800" baseline="-25000" dirty="0"/>
          </a:p>
          <a:p>
            <a:pPr>
              <a:buNone/>
            </a:pPr>
            <a:r>
              <a:rPr lang="en-US" altLang="zh-CN" sz="2800" dirty="0"/>
              <a:t> 		74x	= 336 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         	    x 	= 4.54 </a:t>
            </a:r>
          </a:p>
          <a:p>
            <a:pPr>
              <a:buNone/>
            </a:pPr>
            <a:r>
              <a:rPr lang="zh-CN" altLang="en-US" sz="2800" dirty="0"/>
              <a:t>答：玻璃管需竖直向上提起</a:t>
            </a:r>
            <a:r>
              <a:rPr lang="en-US" altLang="zh-CN" sz="2800" dirty="0"/>
              <a:t>4.54cm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一充气气球在海平面</a:t>
            </a:r>
            <a:r>
              <a:rPr lang="en-US" altLang="zh-CN" sz="2800" dirty="0"/>
              <a:t>(</a:t>
            </a:r>
            <a:r>
              <a:rPr lang="zh-CN" altLang="en-US" sz="2800" dirty="0"/>
              <a:t>一个大气压</a:t>
            </a:r>
            <a:r>
              <a:rPr lang="en-US" altLang="zh-CN" sz="2800" dirty="0"/>
              <a:t>)</a:t>
            </a:r>
            <a:r>
              <a:rPr lang="zh-CN" altLang="en-US" sz="2800" dirty="0"/>
              <a:t>时的体积为</a:t>
            </a:r>
            <a:r>
              <a:rPr lang="en-US" altLang="zh-CN" sz="2800" dirty="0"/>
              <a:t>0.45L</a:t>
            </a:r>
            <a:r>
              <a:rPr lang="zh-CN" altLang="en-US" sz="2800" dirty="0"/>
              <a:t>。假设温度保持不变，气球升高至</a:t>
            </a:r>
            <a:r>
              <a:rPr lang="en-US" altLang="zh-CN" sz="2800" dirty="0"/>
              <a:t>6.5km</a:t>
            </a:r>
            <a:r>
              <a:rPr lang="zh-CN" altLang="en-US" sz="2800" dirty="0"/>
              <a:t>处，该处压强为</a:t>
            </a:r>
            <a:r>
              <a:rPr lang="en-US" altLang="zh-CN" sz="2800" dirty="0"/>
              <a:t>4x10</a:t>
            </a:r>
            <a:r>
              <a:rPr lang="en-US" altLang="zh-CN" sz="2800" baseline="30000" dirty="0"/>
              <a:t>4</a:t>
            </a:r>
            <a:r>
              <a:rPr lang="en-US" altLang="zh-CN" sz="2800" dirty="0"/>
              <a:t> Pa</a:t>
            </a:r>
            <a:r>
              <a:rPr lang="zh-CN" altLang="en-US" sz="2800" dirty="0"/>
              <a:t>，则气球体积为多少？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  <a:r>
              <a:rPr lang="zh-CN" altLang="en-US" sz="2800" dirty="0"/>
              <a:t>，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=0.45L</a:t>
            </a:r>
            <a:r>
              <a:rPr lang="zh-CN" altLang="en-US" sz="2800" dirty="0"/>
              <a:t>，</a:t>
            </a:r>
            <a:r>
              <a:rPr lang="en-US" altLang="zh-CN" sz="2800" dirty="0"/>
              <a:t> 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4x10</a:t>
            </a:r>
            <a:r>
              <a:rPr lang="en-US" altLang="zh-CN" sz="2800" baseline="30000" dirty="0"/>
              <a:t>4</a:t>
            </a:r>
            <a:r>
              <a:rPr lang="en-US" altLang="zh-CN" sz="2800" dirty="0"/>
              <a:t> Pa</a:t>
            </a:r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/p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         = 1.14L</a:t>
            </a:r>
          </a:p>
          <a:p>
            <a:pPr>
              <a:buNone/>
            </a:pPr>
            <a:r>
              <a:rPr lang="zh-CN" altLang="en-US" sz="2800" dirty="0"/>
              <a:t>答：气球体积为</a:t>
            </a:r>
            <a:r>
              <a:rPr lang="en-US" altLang="zh-CN" sz="2800" dirty="0"/>
              <a:t>1.14L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776235" y="4491335"/>
            <a:ext cx="2795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1.01x10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  x 0.45L  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76400" y="4875212"/>
            <a:ext cx="29718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4600" y="4872335"/>
            <a:ext cx="1256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4x10</a:t>
            </a:r>
            <a:r>
              <a:rPr lang="en-US" altLang="zh-CN" sz="2400" baseline="30000" dirty="0"/>
              <a:t>4</a:t>
            </a:r>
            <a:r>
              <a:rPr lang="en-US" altLang="zh-CN" sz="2400" dirty="0"/>
              <a:t> Pa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17c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往下压，液面变低，压强变大，总体积变小。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 err="1"/>
              <a:t>Ans:D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设：</a:t>
            </a:r>
            <a:r>
              <a:rPr lang="en-US" altLang="zh-CN" sz="2800" dirty="0"/>
              <a:t>p</a:t>
            </a:r>
            <a:r>
              <a:rPr lang="zh-CN" altLang="en-US" sz="2800" baseline="-25000" dirty="0"/>
              <a:t>大</a:t>
            </a:r>
            <a:r>
              <a:rPr lang="zh-CN" altLang="en-US" sz="2800" dirty="0"/>
              <a:t> </a:t>
            </a:r>
            <a:r>
              <a:rPr lang="en-US" altLang="zh-CN" sz="2800" dirty="0"/>
              <a:t>= 75cmHg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Hg</a:t>
            </a:r>
            <a:r>
              <a:rPr lang="en-US" altLang="zh-CN" sz="2800" dirty="0"/>
              <a:t> = 15cmHg</a:t>
            </a:r>
            <a:r>
              <a:rPr lang="zh-CN" altLang="en-US" sz="2800" dirty="0"/>
              <a:t>，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=20cm</a:t>
            </a:r>
          </a:p>
          <a:p>
            <a:pPr marL="514350" indent="-514350">
              <a:buNone/>
            </a:pPr>
            <a:r>
              <a:rPr lang="zh-CN" altLang="en-US" sz="2800" dirty="0"/>
              <a:t>开口向上时，气体压强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zh-CN" altLang="en-US" sz="2800" baseline="-25000" dirty="0"/>
              <a:t>大</a:t>
            </a:r>
            <a:r>
              <a:rPr lang="zh-CN" altLang="en-US" sz="2800" dirty="0"/>
              <a:t> </a:t>
            </a:r>
            <a:r>
              <a:rPr lang="en-US" altLang="zh-CN" sz="2800" dirty="0"/>
              <a:t>+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Hg</a:t>
            </a:r>
            <a:r>
              <a:rPr lang="en-US" altLang="zh-CN" sz="2800" baseline="-25000" dirty="0"/>
              <a:t>  </a:t>
            </a:r>
            <a:r>
              <a:rPr lang="en-US" altLang="zh-CN" sz="2800" dirty="0"/>
              <a:t> </a:t>
            </a:r>
            <a:endParaRPr lang="en-US" altLang="zh-CN" sz="2800" baseline="-25000" dirty="0"/>
          </a:p>
          <a:p>
            <a:pPr marL="514350" indent="-514350">
              <a:buNone/>
            </a:pPr>
            <a:r>
              <a:rPr lang="zh-CN" altLang="en-US" sz="2800" dirty="0"/>
              <a:t>水平放置时，气体压强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= p</a:t>
            </a:r>
            <a:r>
              <a:rPr lang="zh-CN" altLang="en-US" sz="2800" baseline="-25000" dirty="0"/>
              <a:t>大</a:t>
            </a:r>
            <a:endParaRPr lang="en-US" altLang="zh-CN" sz="2800" baseline="-25000" dirty="0"/>
          </a:p>
          <a:p>
            <a:pPr marL="514350" indent="-514350">
              <a:buNone/>
            </a:pPr>
            <a:r>
              <a:rPr lang="zh-CN" altLang="en-US" sz="2800" dirty="0"/>
              <a:t>开口向下时，气体压强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Hg</a:t>
            </a:r>
            <a:r>
              <a:rPr lang="en-US" altLang="zh-CN" sz="2800" dirty="0"/>
              <a:t> = p</a:t>
            </a:r>
            <a:r>
              <a:rPr lang="zh-CN" altLang="en-US" sz="2800" baseline="-25000" dirty="0"/>
              <a:t>大</a:t>
            </a:r>
            <a:r>
              <a:rPr lang="zh-CN" altLang="en-US" sz="2800" dirty="0"/>
              <a:t> </a:t>
            </a:r>
            <a:endParaRPr lang="en-US" altLang="zh-CN" sz="2800" baseline="-25000" dirty="0"/>
          </a:p>
          <a:p>
            <a:pPr marL="514350" indent="-514350">
              <a:buNone/>
            </a:pP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V</a:t>
            </a:r>
            <a:r>
              <a:rPr lang="en-US" sz="2800" baseline="-25000" dirty="0"/>
              <a:t>1</a:t>
            </a:r>
            <a:r>
              <a:rPr lang="en-US" sz="2800" dirty="0"/>
              <a:t> = p</a:t>
            </a:r>
            <a:r>
              <a:rPr lang="en-US" sz="2800" baseline="-25000" dirty="0"/>
              <a:t>2</a:t>
            </a:r>
            <a:r>
              <a:rPr lang="en-US" sz="2800" dirty="0"/>
              <a:t> V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</a:p>
          <a:p>
            <a:pPr marL="514350" indent="-514350">
              <a:buNone/>
            </a:pP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x</a:t>
            </a:r>
            <a:r>
              <a:rPr lang="en-US" sz="2800" baseline="-25000" dirty="0"/>
              <a:t>1</a:t>
            </a:r>
            <a:r>
              <a:rPr lang="en-US" sz="2800" dirty="0"/>
              <a:t> S = p</a:t>
            </a:r>
            <a:r>
              <a:rPr lang="en-US" sz="2800" baseline="-25000" dirty="0"/>
              <a:t>2</a:t>
            </a:r>
            <a:r>
              <a:rPr lang="en-US" sz="2800" dirty="0"/>
              <a:t> x</a:t>
            </a:r>
            <a:r>
              <a:rPr lang="en-US" sz="2800" baseline="-25000" dirty="0"/>
              <a:t>2</a:t>
            </a:r>
            <a:r>
              <a:rPr lang="en-US" sz="2800" dirty="0"/>
              <a:t> S </a:t>
            </a:r>
          </a:p>
          <a:p>
            <a:pPr marL="514350" indent="-514350">
              <a:buNone/>
            </a:pPr>
            <a:r>
              <a:rPr lang="en-US" sz="2800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 = p</a:t>
            </a:r>
            <a:r>
              <a:rPr lang="en-US" sz="2800" baseline="-25000" dirty="0"/>
              <a:t>1</a:t>
            </a:r>
            <a:r>
              <a:rPr lang="en-US" sz="2800" dirty="0"/>
              <a:t> x</a:t>
            </a:r>
            <a:r>
              <a:rPr lang="en-US" sz="2800" baseline="-25000" dirty="0"/>
              <a:t>1</a:t>
            </a:r>
            <a:r>
              <a:rPr lang="en-US" sz="2800" dirty="0"/>
              <a:t> /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endParaRPr lang="en-US" sz="2800" dirty="0"/>
          </a:p>
          <a:p>
            <a:pPr marL="514350" indent="-514350">
              <a:buNone/>
            </a:pPr>
            <a:r>
              <a:rPr lang="en-US" sz="2800" dirty="0"/>
              <a:t>	= 90x20/75 </a:t>
            </a:r>
          </a:p>
          <a:p>
            <a:pPr marL="514350" indent="-514350">
              <a:buNone/>
            </a:pPr>
            <a:r>
              <a:rPr lang="en-US" sz="2800" dirty="0"/>
              <a:t>	= 24cm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9800" y="2549605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= 90cmHg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6441" y="3058180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= 75cmHg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3581400"/>
            <a:ext cx="2036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p</a:t>
            </a:r>
            <a:r>
              <a:rPr lang="en-US" sz="2800" b="1" baseline="-25000" dirty="0">
                <a:solidFill>
                  <a:srgbClr val="7030A0"/>
                </a:solidFill>
              </a:rPr>
              <a:t>3</a:t>
            </a:r>
            <a:r>
              <a:rPr lang="en-US" sz="2800" b="1" dirty="0">
                <a:solidFill>
                  <a:srgbClr val="7030A0"/>
                </a:solidFill>
              </a:rPr>
              <a:t> = 60cmHg</a:t>
            </a:r>
          </a:p>
        </p:txBody>
      </p:sp>
      <p:sp>
        <p:nvSpPr>
          <p:cNvPr id="8" name="Rectangle 7"/>
          <p:cNvSpPr/>
          <p:nvPr/>
        </p:nvSpPr>
        <p:spPr>
          <a:xfrm>
            <a:off x="3733800" y="4114800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None/>
            </a:pP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V</a:t>
            </a:r>
            <a:r>
              <a:rPr lang="en-US" sz="2800" baseline="-25000" dirty="0"/>
              <a:t>1</a:t>
            </a:r>
            <a:r>
              <a:rPr lang="en-US" sz="2800" dirty="0"/>
              <a:t> = p</a:t>
            </a:r>
            <a:r>
              <a:rPr lang="en-US" altLang="zh-CN" sz="2800" baseline="-25000" dirty="0"/>
              <a:t>3</a:t>
            </a:r>
            <a:r>
              <a:rPr lang="en-US" sz="2800" dirty="0"/>
              <a:t> V</a:t>
            </a:r>
            <a:r>
              <a:rPr lang="en-US" altLang="zh-CN" sz="2800" baseline="-25000" dirty="0"/>
              <a:t>3</a:t>
            </a:r>
            <a:r>
              <a:rPr lang="en-US" sz="2800" dirty="0"/>
              <a:t> </a:t>
            </a:r>
          </a:p>
          <a:p>
            <a:pPr marL="514350" indent="-514350">
              <a:buNone/>
            </a:pP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 x</a:t>
            </a:r>
            <a:r>
              <a:rPr lang="en-US" sz="2800" baseline="-25000" dirty="0"/>
              <a:t>1</a:t>
            </a:r>
            <a:r>
              <a:rPr lang="en-US" sz="2800" dirty="0"/>
              <a:t> S = p</a:t>
            </a:r>
            <a:r>
              <a:rPr lang="en-US" altLang="zh-CN" sz="2800" baseline="-25000" dirty="0"/>
              <a:t>3</a:t>
            </a:r>
            <a:r>
              <a:rPr lang="en-US" sz="2800" dirty="0"/>
              <a:t> x</a:t>
            </a:r>
            <a:r>
              <a:rPr lang="en-US" altLang="zh-CN" sz="2800" baseline="-25000" dirty="0"/>
              <a:t>3</a:t>
            </a:r>
            <a:r>
              <a:rPr lang="en-US" sz="2800" dirty="0"/>
              <a:t> S </a:t>
            </a:r>
          </a:p>
          <a:p>
            <a:pPr marL="514350" indent="-514350">
              <a:buNone/>
            </a:pPr>
            <a:r>
              <a:rPr lang="en-US" sz="2800" dirty="0"/>
              <a:t>x</a:t>
            </a:r>
            <a:r>
              <a:rPr lang="en-US" altLang="zh-CN" sz="2800" baseline="-25000" dirty="0"/>
              <a:t>3</a:t>
            </a:r>
            <a:r>
              <a:rPr lang="en-US" sz="2800" dirty="0"/>
              <a:t> = p</a:t>
            </a:r>
            <a:r>
              <a:rPr lang="en-US" sz="2800" baseline="-25000" dirty="0"/>
              <a:t>1</a:t>
            </a:r>
            <a:r>
              <a:rPr lang="en-US" sz="2800" dirty="0"/>
              <a:t> x</a:t>
            </a:r>
            <a:r>
              <a:rPr lang="en-US" sz="2800" baseline="-25000" dirty="0"/>
              <a:t>1</a:t>
            </a:r>
            <a:r>
              <a:rPr lang="en-US" sz="2800" dirty="0"/>
              <a:t> /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3</a:t>
            </a:r>
            <a:endParaRPr lang="en-US" sz="2800" dirty="0"/>
          </a:p>
          <a:p>
            <a:pPr marL="514350" indent="-514350">
              <a:buNone/>
            </a:pPr>
            <a:r>
              <a:rPr lang="en-US" sz="2800" dirty="0"/>
              <a:t>	= 90x20/</a:t>
            </a:r>
            <a:r>
              <a:rPr lang="en-US" altLang="zh-CN" sz="2800" dirty="0"/>
              <a:t>60</a:t>
            </a:r>
            <a:r>
              <a:rPr lang="en-US" sz="2800" dirty="0"/>
              <a:t> </a:t>
            </a:r>
          </a:p>
          <a:p>
            <a:pPr marL="514350" indent="-514350">
              <a:buNone/>
            </a:pPr>
            <a:r>
              <a:rPr lang="en-US" sz="2800" dirty="0"/>
              <a:t>	= </a:t>
            </a:r>
            <a:r>
              <a:rPr lang="en-US" altLang="zh-CN" sz="2800" dirty="0"/>
              <a:t>30</a:t>
            </a:r>
            <a:r>
              <a:rPr lang="en-US" sz="2800" dirty="0"/>
              <a:t>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602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活动</a:t>
            </a:r>
            <a:r>
              <a:rPr lang="en-US" altLang="zh-CN" sz="2800" dirty="0"/>
              <a:t>3</a:t>
            </a:r>
          </a:p>
          <a:p>
            <a:pPr>
              <a:buNone/>
            </a:pPr>
            <a:r>
              <a:rPr lang="zh-CN" altLang="en-US" sz="2800" dirty="0"/>
              <a:t>现象：导管口有气泡产生，松开手，冷却后导管内形成一段水柱。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	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9144000" cy="99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/>
              <a:t>17.3.2 </a:t>
            </a:r>
            <a:r>
              <a:rPr lang="zh-CN" altLang="en-US" sz="4400" dirty="0"/>
              <a:t>查理定律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602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一定质量的气体，在压强不变的情况下，它的</a:t>
            </a:r>
            <a:r>
              <a:rPr lang="zh-CN" altLang="en-US" sz="2800" b="1" dirty="0">
                <a:solidFill>
                  <a:srgbClr val="7030A0"/>
                </a:solidFill>
              </a:rPr>
              <a:t>体积</a:t>
            </a:r>
            <a:r>
              <a:rPr lang="zh-CN" altLang="en-US" sz="2800" dirty="0"/>
              <a:t>跟</a:t>
            </a:r>
            <a:r>
              <a:rPr lang="zh-CN" altLang="en-US" sz="2800" b="1" dirty="0">
                <a:solidFill>
                  <a:srgbClr val="7030A0"/>
                </a:solidFill>
              </a:rPr>
              <a:t>热力学温度</a:t>
            </a:r>
            <a:r>
              <a:rPr lang="zh-CN" altLang="en-US" sz="2800" dirty="0"/>
              <a:t>成</a:t>
            </a:r>
            <a:r>
              <a:rPr lang="zh-CN" altLang="en-US" sz="2800" b="1" dirty="0">
                <a:solidFill>
                  <a:srgbClr val="7030A0"/>
                </a:solidFill>
              </a:rPr>
              <a:t>正比</a:t>
            </a:r>
            <a:r>
              <a:rPr lang="zh-CN" altLang="en-US" sz="2800" dirty="0"/>
              <a:t>。</a:t>
            </a:r>
            <a:r>
              <a:rPr lang="en-US" altLang="zh-CN" sz="2800" dirty="0"/>
              <a:t>		</a:t>
            </a:r>
          </a:p>
          <a:p>
            <a:pPr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				=</a:t>
            </a: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T </a:t>
            </a:r>
            <a:r>
              <a:rPr lang="zh-CN" altLang="en-US" sz="2800" dirty="0"/>
              <a:t>热力学温度  单位凯氏度（</a:t>
            </a:r>
            <a:r>
              <a:rPr lang="en-US" altLang="zh-CN" sz="2800" dirty="0"/>
              <a:t>K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适用于压强不太大，温度不太低的条件下。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	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362200" y="1782763"/>
            <a:ext cx="2209800" cy="762000"/>
            <a:chOff x="2209800" y="1524000"/>
            <a:chExt cx="2209800" cy="762000"/>
          </a:xfrm>
        </p:grpSpPr>
        <p:grpSp>
          <p:nvGrpSpPr>
            <p:cNvPr id="11" name="Group 10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24384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V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1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24384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T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1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733800" y="15503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V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2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CC00CC"/>
                  </a:solidFill>
                </a:rPr>
                <a:t>T</a:t>
              </a:r>
              <a:r>
                <a:rPr lang="en-US" altLang="zh-CN" sz="2200" b="1" baseline="-25000" dirty="0">
                  <a:solidFill>
                    <a:srgbClr val="CC00CC"/>
                  </a:solidFill>
                </a:rPr>
                <a:t>2</a:t>
              </a:r>
              <a:endParaRPr lang="en-US" sz="2200" b="1" dirty="0">
                <a:solidFill>
                  <a:srgbClr val="CC00CC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0" y="0"/>
            <a:ext cx="9144000" cy="99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/>
              <a:t>17.3.2 </a:t>
            </a:r>
            <a:r>
              <a:rPr lang="zh-CN" altLang="en-US" sz="4400" dirty="0"/>
              <a:t>查理定律</a:t>
            </a:r>
            <a:endParaRPr lang="en-US" sz="4400" dirty="0"/>
          </a:p>
        </p:txBody>
      </p:sp>
      <p:pic>
        <p:nvPicPr>
          <p:cNvPr id="15" name="Picture 14" descr="chali.png"/>
          <p:cNvPicPr>
            <a:picLocks noChangeAspect="1"/>
          </p:cNvPicPr>
          <p:nvPr/>
        </p:nvPicPr>
        <p:blipFill>
          <a:blip r:embed="rId3"/>
          <a:srcRect l="26442" r="21342"/>
          <a:stretch>
            <a:fillRect/>
          </a:stretch>
        </p:blipFill>
        <p:spPr>
          <a:xfrm>
            <a:off x="457200" y="3512367"/>
            <a:ext cx="8153400" cy="2964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602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问题解决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已知：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-23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	,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10L ,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27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,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  <a:r>
              <a:rPr lang="zh-CN" altLang="en-US" sz="2800" dirty="0"/>
              <a:t>？</a:t>
            </a:r>
            <a:r>
              <a:rPr lang="en-US" altLang="zh-CN" sz="2800" dirty="0"/>
              <a:t>  </a:t>
            </a:r>
          </a:p>
          <a:p>
            <a:pPr>
              <a:buNone/>
            </a:pPr>
            <a:r>
              <a:rPr lang="en-US" altLang="zh-CN" sz="2800" dirty="0"/>
              <a:t>		       = 250K 			  = 300K 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   </a:t>
            </a:r>
          </a:p>
          <a:p>
            <a:pPr>
              <a:buNone/>
            </a:pPr>
            <a:r>
              <a:rPr lang="en-US" altLang="zh-CN" sz="2800" dirty="0"/>
              <a:t>			    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10L x 300K / 250K</a:t>
            </a:r>
          </a:p>
          <a:p>
            <a:pPr>
              <a:buNone/>
            </a:pPr>
            <a:r>
              <a:rPr lang="en-US" altLang="zh-CN" sz="2800" dirty="0"/>
              <a:t>				  = 12L  </a:t>
            </a:r>
          </a:p>
          <a:p>
            <a:pPr>
              <a:buNone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2  </a:t>
            </a:r>
            <a:r>
              <a:rPr lang="en-US" altLang="zh-CN" sz="2800" dirty="0"/>
              <a:t> &gt; 11.5L </a:t>
            </a:r>
            <a:r>
              <a:rPr lang="zh-CN" altLang="en-US" sz="2800" dirty="0"/>
              <a:t>，容器漏气。</a:t>
            </a:r>
            <a:endParaRPr lang="en-US" altLang="zh-C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9144000" cy="992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/>
              <a:t>17.3.2 </a:t>
            </a:r>
            <a:r>
              <a:rPr lang="zh-CN" altLang="en-US" sz="4400" dirty="0"/>
              <a:t>查理定律</a:t>
            </a:r>
            <a:endParaRPr lang="en-US" sz="4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2362200" y="3124200"/>
            <a:ext cx="2209800" cy="762000"/>
            <a:chOff x="2362200" y="2895600"/>
            <a:chExt cx="2209800" cy="762000"/>
          </a:xfrm>
        </p:grpSpPr>
        <p:grpSp>
          <p:nvGrpSpPr>
            <p:cNvPr id="5" name="Group 4"/>
            <p:cNvGrpSpPr/>
            <p:nvPr/>
          </p:nvGrpSpPr>
          <p:grpSpPr>
            <a:xfrm>
              <a:off x="2362200" y="2895600"/>
              <a:ext cx="2209800" cy="762000"/>
              <a:chOff x="2209800" y="1524000"/>
              <a:chExt cx="2209800" cy="762000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V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9" name="Straight Connector 8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T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V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229600" cy="46021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	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9144000" cy="100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/>
              <a:t>资料链接</a:t>
            </a:r>
            <a:r>
              <a:rPr lang="en-US" altLang="zh-CN" sz="4400" dirty="0"/>
              <a:t>—</a:t>
            </a:r>
            <a:r>
              <a:rPr lang="zh-CN" altLang="en-US" sz="4400" dirty="0"/>
              <a:t>压强定律</a:t>
            </a:r>
            <a:endParaRPr lang="en-US" sz="4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3200400" y="2514600"/>
            <a:ext cx="2209800" cy="762000"/>
            <a:chOff x="2362200" y="1782763"/>
            <a:chExt cx="2209800" cy="762000"/>
          </a:xfrm>
        </p:grpSpPr>
        <p:grpSp>
          <p:nvGrpSpPr>
            <p:cNvPr id="5" name="Group 4"/>
            <p:cNvGrpSpPr/>
            <p:nvPr/>
          </p:nvGrpSpPr>
          <p:grpSpPr>
            <a:xfrm>
              <a:off x="2362200" y="1782763"/>
              <a:ext cx="2209800" cy="762000"/>
              <a:chOff x="2209800" y="1524000"/>
              <a:chExt cx="2209800" cy="762000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p</a:t>
                  </a:r>
                  <a:r>
                    <a:rPr lang="en-US" altLang="zh-CN" sz="2200" b="1" baseline="-25000" dirty="0">
                      <a:solidFill>
                        <a:srgbClr val="CC00CC"/>
                      </a:solidFill>
                    </a:rPr>
                    <a:t>1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cxnSp>
              <p:nvCxnSpPr>
                <p:cNvPr id="9" name="Straight Connector 8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T</a:t>
                  </a:r>
                  <a:r>
                    <a:rPr lang="en-US" altLang="zh-CN" sz="2200" b="1" baseline="-25000" dirty="0">
                      <a:solidFill>
                        <a:srgbClr val="CC00CC"/>
                      </a:solidFill>
                    </a:rPr>
                    <a:t>1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p</a:t>
                  </a:r>
                  <a:r>
                    <a:rPr lang="en-US" altLang="zh-CN" sz="2200" b="1" baseline="-25000" dirty="0">
                      <a:solidFill>
                        <a:srgbClr val="CC00CC"/>
                      </a:solidFill>
                    </a:rPr>
                    <a:t>2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T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2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3276600" y="1905000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C00CC"/>
                  </a:solidFill>
                </a:rPr>
                <a:t>=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762000" y="1371601"/>
            <a:ext cx="807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一定质量的气体，在体积不变的情况下，它的</a:t>
            </a:r>
            <a:r>
              <a:rPr lang="zh-CN" altLang="en-US" sz="2800" b="1" dirty="0">
                <a:solidFill>
                  <a:srgbClr val="7030A0"/>
                </a:solidFill>
              </a:rPr>
              <a:t>压强</a:t>
            </a:r>
            <a:r>
              <a:rPr lang="zh-CN" altLang="en-US" sz="2800" dirty="0"/>
              <a:t>跟</a:t>
            </a:r>
            <a:r>
              <a:rPr lang="zh-CN" altLang="en-US" sz="2800" b="1" dirty="0">
                <a:solidFill>
                  <a:srgbClr val="7030A0"/>
                </a:solidFill>
              </a:rPr>
              <a:t>热力学温度</a:t>
            </a:r>
            <a:r>
              <a:rPr lang="zh-CN" altLang="en-US" sz="2800" dirty="0"/>
              <a:t>成</a:t>
            </a:r>
            <a:r>
              <a:rPr lang="zh-CN" altLang="en-US" sz="2800" b="1" dirty="0">
                <a:solidFill>
                  <a:srgbClr val="7030A0"/>
                </a:solidFill>
              </a:rPr>
              <a:t>正比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  <p:pic>
        <p:nvPicPr>
          <p:cNvPr id="18" name="Picture 17" descr="yaqia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581400"/>
            <a:ext cx="6629400" cy="285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3837"/>
            <a:ext cx="8686800" cy="4602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一定质量的气体压强、温度、体积之间的关系。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			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9144000" cy="100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/>
              <a:t>交流分享</a:t>
            </a:r>
            <a:endParaRPr lang="en-US" sz="4400" dirty="0"/>
          </a:p>
        </p:txBody>
      </p:sp>
      <p:grpSp>
        <p:nvGrpSpPr>
          <p:cNvPr id="28" name="Group 10"/>
          <p:cNvGrpSpPr/>
          <p:nvPr/>
        </p:nvGrpSpPr>
        <p:grpSpPr>
          <a:xfrm>
            <a:off x="2286000" y="2362200"/>
            <a:ext cx="2285995" cy="1009710"/>
            <a:chOff x="2209802" y="1524000"/>
            <a:chExt cx="1359312" cy="1009710"/>
          </a:xfrm>
        </p:grpSpPr>
        <p:sp>
          <p:nvSpPr>
            <p:cNvPr id="29" name="TextBox 28"/>
            <p:cNvSpPr txBox="1"/>
            <p:nvPr/>
          </p:nvSpPr>
          <p:spPr>
            <a:xfrm>
              <a:off x="2241012" y="1524000"/>
              <a:ext cx="9144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C00CC"/>
                  </a:solidFill>
                </a:rPr>
                <a:t>p V</a:t>
              </a:r>
              <a:endParaRPr lang="en-US" sz="2400" dirty="0">
                <a:solidFill>
                  <a:srgbClr val="CC00CC"/>
                </a:solidFill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2209802" y="1905000"/>
              <a:ext cx="531907" cy="1588"/>
            </a:xfrm>
            <a:prstGeom prst="line">
              <a:avLst/>
            </a:prstGeom>
            <a:ln w="2222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303931" y="182880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C00CC"/>
                  </a:solidFill>
                </a:rPr>
                <a:t>T</a:t>
              </a:r>
              <a:endParaRPr lang="en-US" sz="2400" dirty="0">
                <a:solidFill>
                  <a:srgbClr val="CC00CC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824213" y="1702713"/>
              <a:ext cx="7449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C00CC"/>
                  </a:solidFill>
                </a:rPr>
                <a:t>= </a:t>
              </a:r>
              <a:r>
                <a:rPr lang="zh-CN" altLang="en-US" sz="2400" dirty="0">
                  <a:solidFill>
                    <a:srgbClr val="CC00CC"/>
                  </a:solidFill>
                </a:rPr>
                <a:t>恒量</a:t>
              </a:r>
              <a:endParaRPr lang="en-US" sz="2400" dirty="0">
                <a:solidFill>
                  <a:srgbClr val="CC00CC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09800" y="3160693"/>
            <a:ext cx="3276600" cy="1258907"/>
            <a:chOff x="1752600" y="3429000"/>
            <a:chExt cx="2590800" cy="954107"/>
          </a:xfrm>
        </p:grpSpPr>
        <p:grpSp>
          <p:nvGrpSpPr>
            <p:cNvPr id="20" name="Group 19"/>
            <p:cNvGrpSpPr/>
            <p:nvPr/>
          </p:nvGrpSpPr>
          <p:grpSpPr>
            <a:xfrm>
              <a:off x="1752600" y="3429000"/>
              <a:ext cx="2590800" cy="954107"/>
              <a:chOff x="2209800" y="1524000"/>
              <a:chExt cx="2209800" cy="954107"/>
            </a:xfrm>
          </p:grpSpPr>
          <p:grpSp>
            <p:nvGrpSpPr>
              <p:cNvPr id="21" name="Group 10"/>
              <p:cNvGrpSpPr/>
              <p:nvPr/>
            </p:nvGrpSpPr>
            <p:grpSpPr>
              <a:xfrm>
                <a:off x="2209800" y="1524000"/>
                <a:ext cx="2209800" cy="954107"/>
                <a:chOff x="2209800" y="1524000"/>
                <a:chExt cx="2209800" cy="954107"/>
              </a:xfrm>
            </p:grpSpPr>
            <p:sp>
              <p:nvSpPr>
                <p:cNvPr id="23" name="TextBox 22"/>
                <p:cNvSpPr txBox="1"/>
                <p:nvPr/>
              </p:nvSpPr>
              <p:spPr>
                <a:xfrm>
                  <a:off x="2209800" y="152400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rgbClr val="CC00CC"/>
                      </a:solidFill>
                    </a:rPr>
                    <a:t>p</a:t>
                  </a:r>
                  <a:r>
                    <a:rPr lang="en-US" altLang="zh-CN" sz="2800" baseline="-25000" dirty="0">
                      <a:solidFill>
                        <a:srgbClr val="CC00CC"/>
                      </a:solidFill>
                    </a:rPr>
                    <a:t>1</a:t>
                  </a:r>
                  <a:r>
                    <a:rPr lang="en-US" altLang="zh-CN" sz="2800" dirty="0">
                      <a:solidFill>
                        <a:srgbClr val="CC00CC"/>
                      </a:solidFill>
                    </a:rPr>
                    <a:t> V</a:t>
                  </a:r>
                  <a:r>
                    <a:rPr lang="en-US" altLang="zh-CN" sz="2800" baseline="-25000" dirty="0">
                      <a:solidFill>
                        <a:srgbClr val="CC00CC"/>
                      </a:solidFill>
                    </a:rPr>
                    <a:t>1</a:t>
                  </a:r>
                  <a:endParaRPr lang="en-US" sz="2800" dirty="0">
                    <a:solidFill>
                      <a:srgbClr val="CC00CC"/>
                    </a:solidFill>
                  </a:endParaRPr>
                </a:p>
              </p:txBody>
            </p: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/>
                <p:cNvSpPr txBox="1"/>
                <p:nvPr/>
              </p:nvSpPr>
              <p:spPr>
                <a:xfrm>
                  <a:off x="24384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rgbClr val="CC00CC"/>
                      </a:solidFill>
                    </a:rPr>
                    <a:t>T</a:t>
                  </a:r>
                  <a:r>
                    <a:rPr lang="en-US" altLang="zh-CN" sz="2800" baseline="-25000" dirty="0">
                      <a:solidFill>
                        <a:srgbClr val="CC00CC"/>
                      </a:solidFill>
                    </a:rPr>
                    <a:t>1</a:t>
                  </a:r>
                  <a:endParaRPr lang="en-US" sz="2800" dirty="0">
                    <a:solidFill>
                      <a:srgbClr val="CC00CC"/>
                    </a:solidFill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3639671" y="1524000"/>
                  <a:ext cx="68580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>
                      <a:solidFill>
                        <a:srgbClr val="CC00CC"/>
                      </a:solidFill>
                    </a:rPr>
                    <a:t>p</a:t>
                  </a:r>
                  <a:r>
                    <a:rPr lang="en-US" altLang="zh-CN" sz="2800" baseline="-25000" dirty="0">
                      <a:solidFill>
                        <a:srgbClr val="CC00CC"/>
                      </a:solidFill>
                    </a:rPr>
                    <a:t>2</a:t>
                  </a:r>
                  <a:r>
                    <a:rPr lang="en-US" altLang="zh-CN" sz="2800" dirty="0">
                      <a:solidFill>
                        <a:srgbClr val="CC00CC"/>
                      </a:solidFill>
                    </a:rPr>
                    <a:t> V</a:t>
                  </a:r>
                  <a:r>
                    <a:rPr lang="en-US" altLang="zh-CN" sz="2800" baseline="-25000" dirty="0">
                      <a:solidFill>
                        <a:srgbClr val="CC00CC"/>
                      </a:solidFill>
                    </a:rPr>
                    <a:t>2</a:t>
                  </a:r>
                  <a:endParaRPr lang="en-US" sz="2800" dirty="0">
                    <a:solidFill>
                      <a:srgbClr val="CC00CC"/>
                    </a:solidFill>
                  </a:endParaRPr>
                </a:p>
              </p:txBody>
            </p:sp>
          </p:grpSp>
          <p:sp>
            <p:nvSpPr>
              <p:cNvPr id="22" name="TextBox 21"/>
              <p:cNvSpPr txBox="1"/>
              <p:nvPr/>
            </p:nvSpPr>
            <p:spPr>
              <a:xfrm>
                <a:off x="3733800" y="18551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CC00CC"/>
                    </a:solidFill>
                  </a:rPr>
                  <a:t>T</a:t>
                </a:r>
                <a:r>
                  <a:rPr lang="en-US" altLang="zh-CN" sz="2800" baseline="-25000" dirty="0">
                    <a:solidFill>
                      <a:srgbClr val="CC00CC"/>
                    </a:solidFill>
                  </a:rPr>
                  <a:t>2</a:t>
                </a:r>
                <a:endParaRPr lang="en-US" sz="2800" dirty="0">
                  <a:solidFill>
                    <a:srgbClr val="CC00CC"/>
                  </a:solidFill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2895600" y="3607713"/>
              <a:ext cx="685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CC00CC"/>
                  </a:solidFill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C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进：（降温处理）将瓶子浸到冰水中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出：（升温处理）将瓶子倒转，用热毛巾捂住瓶子一段时间。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3.</a:t>
            </a:r>
            <a:r>
              <a:rPr lang="zh-CN" altLang="en-US" sz="2800" dirty="0"/>
              <a:t>已知：压强保持不变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	,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150cm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,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121cm</a:t>
            </a:r>
            <a:r>
              <a:rPr lang="en-US" altLang="zh-CN" sz="2800" baseline="30000" dirty="0"/>
              <a:t>3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   = 298K </a:t>
            </a:r>
          </a:p>
          <a:p>
            <a:pPr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/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altLang="zh-CN" sz="2800" dirty="0"/>
              <a:t>	= 121 x 298 / 150</a:t>
            </a:r>
          </a:p>
          <a:p>
            <a:pPr marL="514350" indent="-514350">
              <a:buNone/>
            </a:pPr>
            <a:r>
              <a:rPr lang="en-US" altLang="zh-CN" sz="2800" dirty="0"/>
              <a:t>    = 240.39K</a:t>
            </a:r>
          </a:p>
          <a:p>
            <a:pPr>
              <a:buNone/>
            </a:pPr>
            <a:r>
              <a:rPr lang="en-US" altLang="zh-CN" sz="2800" dirty="0"/>
              <a:t>	= -32.61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			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9144000" cy="1003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/>
              <a:t>思考题</a:t>
            </a:r>
            <a:r>
              <a:rPr lang="en-US" sz="4400" dirty="0"/>
              <a:t>17</a:t>
            </a:r>
            <a:r>
              <a:rPr lang="en-US" altLang="zh-CN" sz="4400" dirty="0"/>
              <a:t>d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17.3.3</a:t>
            </a:r>
            <a:r>
              <a:rPr lang="zh-CN" altLang="en-US" sz="2800" dirty="0"/>
              <a:t>格雷姆扩散定律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在温度和压强不变时，气体的</a:t>
            </a:r>
            <a:r>
              <a:rPr lang="zh-CN" altLang="en-US" sz="2800" b="1" dirty="0">
                <a:solidFill>
                  <a:srgbClr val="7030A0"/>
                </a:solidFill>
              </a:rPr>
              <a:t>扩散速率</a:t>
            </a:r>
            <a:r>
              <a:rPr lang="zh-CN" altLang="en-US" sz="2800" dirty="0"/>
              <a:t>和它的</a:t>
            </a:r>
            <a:r>
              <a:rPr lang="zh-CN" altLang="en-US" sz="2800" b="1" dirty="0">
                <a:solidFill>
                  <a:srgbClr val="7030A0"/>
                </a:solidFill>
              </a:rPr>
              <a:t>密度的平方根</a:t>
            </a:r>
            <a:r>
              <a:rPr lang="zh-CN" altLang="en-US" sz="2800" dirty="0"/>
              <a:t>成</a:t>
            </a:r>
            <a:r>
              <a:rPr lang="zh-CN" altLang="en-US" sz="2800" b="1" dirty="0">
                <a:solidFill>
                  <a:srgbClr val="7030A0"/>
                </a:solidFill>
              </a:rPr>
              <a:t>反比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因气体的密度与摩尔质量成正比，所以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>
                <a:solidFill>
                  <a:srgbClr val="002060"/>
                </a:solidFill>
              </a:rPr>
              <a:t>          v= </a:t>
            </a:r>
            <a:r>
              <a:rPr lang="en-US" altLang="zh-CN" sz="2800" u="sng" baseline="30000" dirty="0">
                <a:solidFill>
                  <a:srgbClr val="002060"/>
                </a:solidFill>
              </a:rPr>
              <a:t>   </a:t>
            </a:r>
            <a:r>
              <a:rPr lang="en-US" altLang="zh-CN" sz="2800" b="1" u="sng" baseline="30000" dirty="0">
                <a:solidFill>
                  <a:srgbClr val="002060"/>
                </a:solidFill>
              </a:rPr>
              <a:t>k  	  </a:t>
            </a:r>
            <a:r>
              <a:rPr lang="en-US" altLang="zh-CN" sz="2800" b="1" baseline="30000" dirty="0">
                <a:solidFill>
                  <a:srgbClr val="002060"/>
                </a:solidFill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</a:rPr>
              <a:t>  		</a:t>
            </a:r>
            <a:r>
              <a:rPr lang="zh-CN" altLang="en-US" sz="2800" b="1" dirty="0"/>
              <a:t>（</a:t>
            </a:r>
            <a:r>
              <a:rPr lang="en-US" altLang="zh-CN" sz="2800" dirty="0"/>
              <a:t>k </a:t>
            </a:r>
            <a:r>
              <a:rPr lang="zh-CN" altLang="en-US" sz="2800" dirty="0"/>
              <a:t>为比例常数）</a:t>
            </a:r>
            <a:endParaRPr lang="en-US" altLang="zh-CN" sz="2800" u="sng" baseline="30000" dirty="0"/>
          </a:p>
          <a:p>
            <a:pPr>
              <a:buNone/>
            </a:pPr>
            <a:endParaRPr lang="en-US" sz="2800" u="sng" dirty="0"/>
          </a:p>
          <a:p>
            <a:pPr>
              <a:buNone/>
            </a:pPr>
            <a:r>
              <a:rPr lang="zh-CN" altLang="en-US" sz="2800" dirty="0"/>
              <a:t>气体</a:t>
            </a:r>
            <a:r>
              <a:rPr lang="en-US" altLang="zh-CN" sz="2800" dirty="0"/>
              <a:t>a</a:t>
            </a:r>
            <a:r>
              <a:rPr lang="zh-CN" altLang="en-US" sz="2800" dirty="0"/>
              <a:t>与</a:t>
            </a:r>
            <a:r>
              <a:rPr lang="en-US" altLang="zh-CN" sz="2800" dirty="0"/>
              <a:t>b</a:t>
            </a:r>
            <a:r>
              <a:rPr lang="zh-CN" altLang="en-US" sz="2800" dirty="0"/>
              <a:t>的扩散速率关系</a:t>
            </a:r>
            <a:r>
              <a:rPr lang="en-US" dirty="0"/>
              <a:t>	      </a:t>
            </a:r>
            <a:r>
              <a:rPr lang="en-US" dirty="0">
                <a:solidFill>
                  <a:srgbClr val="CC00CC"/>
                </a:solidFill>
              </a:rPr>
              <a:t>=		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气体</a:t>
            </a:r>
            <a:r>
              <a:rPr lang="en-US" altLang="zh-CN" sz="2800" dirty="0"/>
              <a:t>a</a:t>
            </a:r>
            <a:r>
              <a:rPr lang="zh-CN" altLang="en-US" sz="2800" dirty="0"/>
              <a:t>与</a:t>
            </a:r>
            <a:r>
              <a:rPr lang="en-US" altLang="zh-CN" sz="2800" dirty="0"/>
              <a:t>b</a:t>
            </a:r>
            <a:r>
              <a:rPr lang="zh-CN" altLang="en-US" sz="2800" dirty="0"/>
              <a:t>的扩散时间关系	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C00CC"/>
                </a:solidFill>
              </a:rPr>
              <a:t>=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用于分离同位素、求未知气体的相对分子质量。</a:t>
            </a:r>
            <a:endParaRPr lang="en-US" sz="28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724400" y="3200400"/>
            <a:ext cx="2209800" cy="762000"/>
            <a:chOff x="1905000" y="3505200"/>
            <a:chExt cx="2209800" cy="762000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209800" cy="762000"/>
              <a:chOff x="2209800" y="1524000"/>
              <a:chExt cx="2209800" cy="762000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7" name="TextBox 6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 err="1">
                      <a:solidFill>
                        <a:srgbClr val="CC00CC"/>
                      </a:solidFill>
                    </a:rPr>
                    <a:t>ν</a:t>
                  </a:r>
                  <a:r>
                    <a:rPr lang="en-US" altLang="zh-CN" sz="2200" b="1" baseline="-25000" dirty="0" err="1">
                      <a:solidFill>
                        <a:srgbClr val="CC00CC"/>
                      </a:solidFill>
                    </a:rPr>
                    <a:t>a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cxnSp>
              <p:nvCxnSpPr>
                <p:cNvPr id="8" name="Straight Connector 7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TextBox 9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 err="1">
                      <a:solidFill>
                        <a:srgbClr val="CC00CC"/>
                      </a:solidFill>
                    </a:rPr>
                    <a:t>ν</a:t>
                  </a:r>
                  <a:r>
                    <a:rPr lang="en-US" altLang="zh-CN" sz="2200" b="1" baseline="-25000" dirty="0" err="1">
                      <a:solidFill>
                        <a:srgbClr val="CC00CC"/>
                      </a:solidFill>
                    </a:rPr>
                    <a:t>b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M</a:t>
                  </a:r>
                  <a:r>
                    <a:rPr lang="en-US" altLang="zh-CN" sz="2200" b="1" baseline="-25000" dirty="0">
                      <a:solidFill>
                        <a:srgbClr val="CC00CC"/>
                      </a:solidFill>
                    </a:rPr>
                    <a:t>b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</p:grpSp>
          <p:sp>
            <p:nvSpPr>
              <p:cNvPr id="6" name="TextBox 5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M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a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13" name="Straight Connector 1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2" name="Group 31"/>
          <p:cNvGrpSpPr/>
          <p:nvPr/>
        </p:nvGrpSpPr>
        <p:grpSpPr>
          <a:xfrm>
            <a:off x="1752600" y="2667000"/>
            <a:ext cx="381000" cy="228600"/>
            <a:chOff x="6553200" y="3657600"/>
            <a:chExt cx="990600" cy="685800"/>
          </a:xfrm>
        </p:grpSpPr>
        <p:cxnSp>
          <p:nvCxnSpPr>
            <p:cNvPr id="29" name="Straight Connector 28"/>
            <p:cNvCxnSpPr/>
            <p:nvPr/>
          </p:nvCxnSpPr>
          <p:spPr>
            <a:xfrm rot="5400000">
              <a:off x="6438900" y="3924300"/>
              <a:ext cx="685800" cy="152400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6858000" y="3657600"/>
              <a:ext cx="685800" cy="1588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553200" y="4267200"/>
              <a:ext cx="152400" cy="76200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1828800" y="2617113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2060"/>
                </a:solidFill>
              </a:rPr>
              <a:t>M</a:t>
            </a:r>
            <a:endParaRPr lang="en-US" sz="2200" b="1" dirty="0">
              <a:solidFill>
                <a:srgbClr val="00206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105400" y="4267200"/>
            <a:ext cx="2209800" cy="762000"/>
            <a:chOff x="1905000" y="3505200"/>
            <a:chExt cx="2209800" cy="762000"/>
          </a:xfrm>
        </p:grpSpPr>
        <p:grpSp>
          <p:nvGrpSpPr>
            <p:cNvPr id="23" name="Group 3"/>
            <p:cNvGrpSpPr/>
            <p:nvPr/>
          </p:nvGrpSpPr>
          <p:grpSpPr>
            <a:xfrm>
              <a:off x="1905000" y="3505200"/>
              <a:ext cx="2209800" cy="762000"/>
              <a:chOff x="2209800" y="1524000"/>
              <a:chExt cx="2209800" cy="762000"/>
            </a:xfrm>
          </p:grpSpPr>
          <p:grpSp>
            <p:nvGrpSpPr>
              <p:cNvPr id="37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 err="1">
                      <a:solidFill>
                        <a:srgbClr val="CC00CC"/>
                      </a:solidFill>
                    </a:rPr>
                    <a:t>t</a:t>
                  </a:r>
                  <a:r>
                    <a:rPr lang="en-US" altLang="zh-CN" sz="2200" b="1" baseline="-25000" dirty="0" err="1">
                      <a:solidFill>
                        <a:srgbClr val="CC00CC"/>
                      </a:solidFill>
                    </a:rPr>
                    <a:t>a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 </a:t>
                  </a:r>
                  <a:r>
                    <a:rPr lang="en-US" altLang="zh-CN" sz="2200" b="1" dirty="0" err="1">
                      <a:solidFill>
                        <a:srgbClr val="CC00CC"/>
                      </a:solidFill>
                    </a:rPr>
                    <a:t>t</a:t>
                  </a:r>
                  <a:r>
                    <a:rPr lang="en-US" altLang="zh-CN" sz="2200" b="1" baseline="-25000" dirty="0" err="1">
                      <a:solidFill>
                        <a:srgbClr val="CC00CC"/>
                      </a:solidFill>
                    </a:rPr>
                    <a:t>b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>
                      <a:solidFill>
                        <a:srgbClr val="CC00CC"/>
                      </a:solidFill>
                    </a:rPr>
                    <a:t>M</a:t>
                  </a:r>
                  <a:r>
                    <a:rPr lang="en-US" altLang="zh-CN" sz="2200" b="1" baseline="-25000" dirty="0">
                      <a:solidFill>
                        <a:srgbClr val="CC00CC"/>
                      </a:solidFill>
                    </a:rPr>
                    <a:t>a</a:t>
                  </a:r>
                  <a:endParaRPr lang="en-US" sz="2200" b="1" dirty="0">
                    <a:solidFill>
                      <a:srgbClr val="CC00CC"/>
                    </a:solidFill>
                  </a:endParaRPr>
                </a:p>
              </p:txBody>
            </p:sp>
          </p:grpSp>
          <p:sp>
            <p:nvSpPr>
              <p:cNvPr id="38" name="TextBox 5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M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b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</p:grpSp>
        <p:grpSp>
          <p:nvGrpSpPr>
            <p:cNvPr id="2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34" name="Straight Connector 33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rgbClr val="CC00C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uiExpand="1" build="p"/>
      <p:bldP spid="3" grpId="3" uiExpand="1" build="p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686800" cy="5029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3 </a:t>
            </a:r>
            <a:r>
              <a:rPr lang="zh-CN" altLang="en-US" dirty="0"/>
              <a:t>已知</a:t>
            </a:r>
            <a:r>
              <a:rPr lang="en-US" altLang="zh-CN" dirty="0" err="1"/>
              <a:t>Mr</a:t>
            </a:r>
            <a:r>
              <a:rPr lang="en-US" altLang="zh-CN" dirty="0"/>
              <a:t>(H</a:t>
            </a:r>
            <a:r>
              <a:rPr lang="en-US" altLang="zh-CN" baseline="-25000" dirty="0"/>
              <a:t>2</a:t>
            </a:r>
            <a:r>
              <a:rPr lang="en-US" altLang="zh-CN" dirty="0"/>
              <a:t>)=2</a:t>
            </a:r>
            <a:r>
              <a:rPr lang="zh-CN" altLang="en-US" dirty="0"/>
              <a:t>，</a:t>
            </a:r>
            <a:r>
              <a:rPr lang="en-US" altLang="zh-CN" dirty="0" err="1"/>
              <a:t>Mr</a:t>
            </a:r>
            <a:r>
              <a:rPr lang="en-US" altLang="zh-CN" dirty="0"/>
              <a:t>(O</a:t>
            </a:r>
            <a:r>
              <a:rPr lang="en-US" altLang="zh-CN" baseline="-25000" dirty="0"/>
              <a:t>2</a:t>
            </a:r>
            <a:r>
              <a:rPr lang="en-US" altLang="zh-CN" dirty="0"/>
              <a:t>)=32</a:t>
            </a:r>
            <a:endParaRPr lang="en-US" altLang="zh-CN" baseline="-25000" dirty="0"/>
          </a:p>
          <a:p>
            <a:pPr>
              <a:buNone/>
            </a:pPr>
            <a:r>
              <a:rPr lang="en-US" dirty="0"/>
              <a:t>			       </a:t>
            </a:r>
          </a:p>
          <a:p>
            <a:pPr>
              <a:buNone/>
            </a:pPr>
            <a:r>
              <a:rPr lang="en-US" dirty="0"/>
              <a:t>			            =</a:t>
            </a:r>
          </a:p>
          <a:p>
            <a:pPr>
              <a:buNone/>
            </a:pPr>
            <a:r>
              <a:rPr lang="en-US" dirty="0"/>
              <a:t>			        </a:t>
            </a:r>
          </a:p>
          <a:p>
            <a:pPr>
              <a:buNone/>
            </a:pPr>
            <a:r>
              <a:rPr lang="en-US" altLang="zh-CN" dirty="0"/>
              <a:t>			</a:t>
            </a:r>
            <a:r>
              <a:rPr lang="en-US" dirty="0"/>
              <a:t>       	</a:t>
            </a:r>
          </a:p>
          <a:p>
            <a:pPr>
              <a:buNone/>
            </a:pPr>
            <a:r>
              <a:rPr lang="en-US" altLang="zh-CN" dirty="0"/>
              <a:t>				   = 4</a:t>
            </a:r>
          </a:p>
          <a:p>
            <a:pPr>
              <a:buNone/>
            </a:pPr>
            <a:endParaRPr lang="en-US" altLang="zh-CN" baseline="30000" dirty="0"/>
          </a:p>
          <a:p>
            <a:pP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答：在同温同压条件下，氢气的扩散速率是氧气的</a:t>
            </a:r>
            <a:r>
              <a:rPr lang="en-US" altLang="zh-CN" dirty="0"/>
              <a:t>4</a:t>
            </a:r>
            <a:r>
              <a:rPr lang="zh-CN" altLang="en-US" dirty="0"/>
              <a:t>倍。</a:t>
            </a:r>
            <a:endParaRPr lang="en-US" altLang="zh-CN" dirty="0"/>
          </a:p>
        </p:txBody>
      </p:sp>
      <p:grpSp>
        <p:nvGrpSpPr>
          <p:cNvPr id="4" name="Group 3"/>
          <p:cNvGrpSpPr/>
          <p:nvPr/>
        </p:nvGrpSpPr>
        <p:grpSpPr>
          <a:xfrm>
            <a:off x="1981200" y="1828800"/>
            <a:ext cx="2895600" cy="842665"/>
            <a:chOff x="1905000" y="3505200"/>
            <a:chExt cx="2438400" cy="842665"/>
          </a:xfrm>
        </p:grpSpPr>
        <p:grpSp>
          <p:nvGrpSpPr>
            <p:cNvPr id="5" name="Group 3"/>
            <p:cNvGrpSpPr/>
            <p:nvPr/>
          </p:nvGrpSpPr>
          <p:grpSpPr>
            <a:xfrm>
              <a:off x="1905000" y="3505200"/>
              <a:ext cx="2438400" cy="842665"/>
              <a:chOff x="2209800" y="1524000"/>
              <a:chExt cx="2438400" cy="842665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209800" y="1524000"/>
                <a:ext cx="2438400" cy="766465"/>
                <a:chOff x="2209800" y="1524000"/>
                <a:chExt cx="2438400" cy="766465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ν (H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362200" y="1828800"/>
                  <a:ext cx="6858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ν(O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524000"/>
                  <a:ext cx="914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 err="1"/>
                    <a:t>Mr</a:t>
                  </a:r>
                  <a:r>
                    <a:rPr lang="en-US" altLang="zh-CN" sz="2400" dirty="0"/>
                    <a:t>(O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733800" y="1905000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/>
                  <a:t>Mr</a:t>
                </a:r>
                <a:r>
                  <a:rPr lang="en-US" altLang="zh-CN" sz="2400" dirty="0"/>
                  <a:t>(H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)</a:t>
                </a:r>
                <a:endParaRPr lang="en-US" sz="24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8" name="Group 17"/>
          <p:cNvGrpSpPr/>
          <p:nvPr/>
        </p:nvGrpSpPr>
        <p:grpSpPr>
          <a:xfrm>
            <a:off x="2514600" y="2617113"/>
            <a:ext cx="1981200" cy="842665"/>
            <a:chOff x="2362200" y="3505200"/>
            <a:chExt cx="1981200" cy="842665"/>
          </a:xfrm>
        </p:grpSpPr>
        <p:grpSp>
          <p:nvGrpSpPr>
            <p:cNvPr id="19" name="Group 3"/>
            <p:cNvGrpSpPr/>
            <p:nvPr/>
          </p:nvGrpSpPr>
          <p:grpSpPr>
            <a:xfrm>
              <a:off x="2362200" y="3505200"/>
              <a:ext cx="1981200" cy="842665"/>
              <a:chOff x="2667000" y="1524000"/>
              <a:chExt cx="1981200" cy="842665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2667000" y="1524000"/>
                <a:ext cx="1981200" cy="710862"/>
                <a:chOff x="2667000" y="1524000"/>
                <a:chExt cx="1981200" cy="710862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dirty="0"/>
                    <a:t>    =</a:t>
                  </a:r>
                  <a:endParaRPr lang="en-US" sz="32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733800" y="1524000"/>
                  <a:ext cx="914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32</a:t>
                  </a:r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733800" y="1905000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  2</a:t>
                </a:r>
                <a:endParaRPr lang="en-US" sz="24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678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问题解决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</a:t>
            </a:r>
            <a:r>
              <a:rPr lang="zh-CN" altLang="en-US" dirty="0"/>
              <a:t>已知</a:t>
            </a:r>
            <a:r>
              <a:rPr lang="en-US" altLang="zh-CN" dirty="0" err="1"/>
              <a:t>Mr</a:t>
            </a:r>
            <a:r>
              <a:rPr lang="en-US" altLang="zh-CN" dirty="0"/>
              <a:t>(NH</a:t>
            </a:r>
            <a:r>
              <a:rPr lang="en-US" altLang="zh-CN" baseline="-25000" dirty="0"/>
              <a:t>3</a:t>
            </a:r>
            <a:r>
              <a:rPr lang="en-US" altLang="zh-CN" dirty="0"/>
              <a:t>)=17</a:t>
            </a:r>
            <a:r>
              <a:rPr lang="zh-CN" altLang="en-US" dirty="0"/>
              <a:t>；</a:t>
            </a:r>
            <a:r>
              <a:rPr lang="en-US" altLang="zh-CN" dirty="0" err="1"/>
              <a:t>Mr</a:t>
            </a:r>
            <a:r>
              <a:rPr lang="en-US" altLang="zh-CN" dirty="0"/>
              <a:t>(</a:t>
            </a:r>
            <a:r>
              <a:rPr lang="en-US" altLang="zh-CN" dirty="0" err="1"/>
              <a:t>HCl</a:t>
            </a:r>
            <a:r>
              <a:rPr lang="en-US" altLang="zh-CN" dirty="0"/>
              <a:t>) = 36.5</a:t>
            </a:r>
            <a:endParaRPr lang="en-US" dirty="0"/>
          </a:p>
          <a:p>
            <a:pPr>
              <a:buNone/>
            </a:pPr>
            <a:r>
              <a:rPr lang="en-US" dirty="0"/>
              <a:t>	        		</a:t>
            </a:r>
          </a:p>
          <a:p>
            <a:pPr>
              <a:buNone/>
            </a:pPr>
            <a:r>
              <a:rPr lang="en-US" dirty="0"/>
              <a:t>				 =</a:t>
            </a:r>
          </a:p>
          <a:p>
            <a:pPr>
              <a:buNone/>
            </a:pPr>
            <a:r>
              <a:rPr lang="en-US" dirty="0"/>
              <a:t>			        </a:t>
            </a:r>
          </a:p>
          <a:p>
            <a:pPr>
              <a:buNone/>
            </a:pPr>
            <a:r>
              <a:rPr lang="en-US" altLang="zh-CN" dirty="0"/>
              <a:t>			</a:t>
            </a:r>
          </a:p>
          <a:p>
            <a:pPr>
              <a:buNone/>
            </a:pPr>
            <a:r>
              <a:rPr lang="en-US" altLang="zh-CN" dirty="0"/>
              <a:t>  			            </a:t>
            </a:r>
          </a:p>
          <a:p>
            <a:pPr>
              <a:buNone/>
            </a:pPr>
            <a:r>
              <a:rPr lang="en-US" altLang="zh-CN" dirty="0"/>
              <a:t>                            ≈ 1.5</a:t>
            </a:r>
            <a:endParaRPr lang="en-US" altLang="zh-CN" baseline="30000" dirty="0"/>
          </a:p>
          <a:p>
            <a:pP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	        =3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</a:p>
        </p:txBody>
      </p:sp>
      <p:grpSp>
        <p:nvGrpSpPr>
          <p:cNvPr id="11" name="Group 17"/>
          <p:cNvGrpSpPr/>
          <p:nvPr/>
        </p:nvGrpSpPr>
        <p:grpSpPr>
          <a:xfrm>
            <a:off x="2514600" y="3302913"/>
            <a:ext cx="2057400" cy="811887"/>
            <a:chOff x="2362200" y="3505200"/>
            <a:chExt cx="2057400" cy="811887"/>
          </a:xfrm>
        </p:grpSpPr>
        <p:grpSp>
          <p:nvGrpSpPr>
            <p:cNvPr id="18" name="Group 3"/>
            <p:cNvGrpSpPr/>
            <p:nvPr/>
          </p:nvGrpSpPr>
          <p:grpSpPr>
            <a:xfrm>
              <a:off x="2362200" y="3505200"/>
              <a:ext cx="2057400" cy="811887"/>
              <a:chOff x="2667000" y="1524000"/>
              <a:chExt cx="2057400" cy="811887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2667000" y="1524000"/>
                <a:ext cx="2057400" cy="649307"/>
                <a:chOff x="2667000" y="1524000"/>
                <a:chExt cx="2057400" cy="649307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    =</a:t>
                  </a:r>
                  <a:endParaRPr lang="en-US" sz="28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8100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36.5</a:t>
                  </a:r>
                  <a:endParaRPr lang="en-US" sz="2200" dirty="0"/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17</a:t>
                </a:r>
                <a:endParaRPr lang="en-US" sz="22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8" name="Group 47"/>
          <p:cNvGrpSpPr/>
          <p:nvPr/>
        </p:nvGrpSpPr>
        <p:grpSpPr>
          <a:xfrm>
            <a:off x="1752600" y="1752600"/>
            <a:ext cx="3810000" cy="918865"/>
            <a:chOff x="1752600" y="1752600"/>
            <a:chExt cx="3810000" cy="918865"/>
          </a:xfrm>
        </p:grpSpPr>
        <p:grpSp>
          <p:nvGrpSpPr>
            <p:cNvPr id="2" name="Group 3"/>
            <p:cNvGrpSpPr/>
            <p:nvPr/>
          </p:nvGrpSpPr>
          <p:grpSpPr>
            <a:xfrm>
              <a:off x="1752600" y="1752600"/>
              <a:ext cx="3810000" cy="918865"/>
              <a:chOff x="1905000" y="3474422"/>
              <a:chExt cx="2565400" cy="918865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905000" y="3474422"/>
                <a:ext cx="2565400" cy="918865"/>
                <a:chOff x="2209800" y="1493222"/>
                <a:chExt cx="2565400" cy="918865"/>
              </a:xfrm>
            </p:grpSpPr>
            <p:grpSp>
              <p:nvGrpSpPr>
                <p:cNvPr id="5" name="Group 10"/>
                <p:cNvGrpSpPr/>
                <p:nvPr/>
              </p:nvGrpSpPr>
              <p:grpSpPr>
                <a:xfrm>
                  <a:off x="2209800" y="1493222"/>
                  <a:ext cx="2565400" cy="904220"/>
                  <a:chOff x="2209800" y="1493222"/>
                  <a:chExt cx="2565400" cy="904220"/>
                </a:xfrm>
              </p:grpSpPr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286000" y="1493222"/>
                    <a:ext cx="8382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s (NH</a:t>
                    </a:r>
                    <a:r>
                      <a:rPr lang="en-US" altLang="zh-CN" sz="2800" baseline="-25000" dirty="0"/>
                      <a:t>3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286000" y="1874222"/>
                    <a:ext cx="10922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s(</a:t>
                    </a:r>
                    <a:r>
                      <a:rPr lang="en-US" altLang="zh-CN" sz="2800" dirty="0" err="1"/>
                      <a:t>HCl</a:t>
                    </a:r>
                    <a:r>
                      <a:rPr lang="en-US" altLang="zh-CN" sz="2800" dirty="0"/>
                      <a:t> 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3632200" y="1493222"/>
                    <a:ext cx="11430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M(</a:t>
                    </a:r>
                    <a:r>
                      <a:rPr lang="en-US" altLang="zh-CN" sz="2800" dirty="0" err="1"/>
                      <a:t>HCl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</p:grpSp>
            <p:sp>
              <p:nvSpPr>
                <p:cNvPr id="12" name="TextBox 5"/>
                <p:cNvSpPr txBox="1"/>
                <p:nvPr/>
              </p:nvSpPr>
              <p:spPr>
                <a:xfrm>
                  <a:off x="3632200" y="1950422"/>
                  <a:ext cx="914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M(NH</a:t>
                  </a:r>
                  <a:r>
                    <a:rPr lang="en-US" altLang="zh-CN" sz="2400" baseline="-25000" dirty="0"/>
                    <a:t>3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</p:grpSp>
          <p:grpSp>
            <p:nvGrpSpPr>
              <p:cNvPr id="6" name="Group 24"/>
              <p:cNvGrpSpPr/>
              <p:nvPr/>
            </p:nvGrpSpPr>
            <p:grpSpPr>
              <a:xfrm>
                <a:off x="3048000" y="3505200"/>
                <a:ext cx="304800" cy="685800"/>
                <a:chOff x="6477000" y="457200"/>
                <a:chExt cx="304800" cy="685800"/>
              </a:xfrm>
            </p:grpSpPr>
            <p:cxnSp>
              <p:nvCxnSpPr>
                <p:cNvPr id="7" name="Straight Connector 6"/>
                <p:cNvCxnSpPr/>
                <p:nvPr/>
              </p:nvCxnSpPr>
              <p:spPr>
                <a:xfrm rot="5400000">
                  <a:off x="6362700" y="723900"/>
                  <a:ext cx="685800" cy="1524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6" name="Straight Connector 45"/>
            <p:cNvCxnSpPr/>
            <p:nvPr/>
          </p:nvCxnSpPr>
          <p:spPr>
            <a:xfrm>
              <a:off x="3886200" y="1752600"/>
              <a:ext cx="100584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47160" y="2208212"/>
              <a:ext cx="100584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问题解决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2. </a:t>
            </a:r>
            <a:r>
              <a:rPr lang="zh-CN" altLang="en-US" dirty="0"/>
              <a:t>求：</a:t>
            </a:r>
            <a:r>
              <a:rPr lang="en-US" altLang="zh-CN" dirty="0" err="1"/>
              <a:t>Mr</a:t>
            </a:r>
            <a:r>
              <a:rPr lang="en-US" altLang="zh-CN" dirty="0"/>
              <a:t>(A)</a:t>
            </a:r>
            <a:endParaRPr lang="en-US" altLang="zh-CN" baseline="-25000" dirty="0"/>
          </a:p>
          <a:p>
            <a:pPr>
              <a:buNone/>
            </a:pPr>
            <a:r>
              <a:rPr lang="en-US" dirty="0"/>
              <a:t>			        =</a:t>
            </a:r>
          </a:p>
          <a:p>
            <a:pPr>
              <a:buNone/>
            </a:pPr>
            <a:r>
              <a:rPr lang="en-US" dirty="0"/>
              <a:t>			        </a:t>
            </a:r>
          </a:p>
          <a:p>
            <a:pPr>
              <a:buNone/>
            </a:pPr>
            <a:r>
              <a:rPr lang="en-US" altLang="zh-CN" dirty="0"/>
              <a:t>			</a:t>
            </a:r>
          </a:p>
          <a:p>
            <a:pPr>
              <a:buNone/>
            </a:pPr>
            <a:r>
              <a:rPr lang="en-US" dirty="0"/>
              <a:t>		          </a:t>
            </a:r>
          </a:p>
          <a:p>
            <a:pPr>
              <a:buNone/>
            </a:pPr>
            <a:r>
              <a:rPr lang="en-US" altLang="zh-CN" dirty="0"/>
              <a:t>		     </a:t>
            </a:r>
            <a:r>
              <a:rPr lang="en-US" altLang="zh-CN" dirty="0" err="1"/>
              <a:t>Mr</a:t>
            </a:r>
            <a:r>
              <a:rPr lang="en-US" altLang="zh-CN" dirty="0"/>
              <a:t>(A) = 2x 32</a:t>
            </a:r>
          </a:p>
          <a:p>
            <a:pPr>
              <a:buNone/>
            </a:pPr>
            <a:r>
              <a:rPr lang="en-US" altLang="zh-CN" dirty="0"/>
              <a:t>  			       = 64</a:t>
            </a:r>
            <a:endParaRPr lang="en-US" altLang="zh-CN" baseline="30000" dirty="0"/>
          </a:p>
          <a:p>
            <a:pP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答：气体</a:t>
            </a:r>
            <a:r>
              <a:rPr lang="en-US" altLang="zh-CN" dirty="0"/>
              <a:t>A</a:t>
            </a:r>
            <a:r>
              <a:rPr lang="zh-CN" altLang="en-US" dirty="0"/>
              <a:t>的相对分子质量是</a:t>
            </a:r>
            <a:r>
              <a:rPr lang="en-US" altLang="zh-CN" dirty="0"/>
              <a:t>64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2057400" y="1828799"/>
            <a:ext cx="2819400" cy="962290"/>
            <a:chOff x="1905000" y="3505200"/>
            <a:chExt cx="2438400" cy="732350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438400" cy="732350"/>
              <a:chOff x="2209800" y="1524000"/>
              <a:chExt cx="2438400" cy="732350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438400" cy="656150"/>
                <a:chOff x="2209800" y="1524000"/>
                <a:chExt cx="2438400" cy="656150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3513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ν (O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362200" y="1828800"/>
                  <a:ext cx="685800" cy="3513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ν(A)</a:t>
                  </a:r>
                  <a:endParaRPr lang="en-US" sz="24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524000"/>
                  <a:ext cx="914400" cy="3513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 err="1"/>
                    <a:t>Mr</a:t>
                  </a:r>
                  <a:r>
                    <a:rPr lang="en-US" altLang="zh-CN" sz="2400" dirty="0"/>
                    <a:t>(A)</a:t>
                  </a:r>
                  <a:endParaRPr lang="en-US" sz="24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733800" y="1905000"/>
                <a:ext cx="914400" cy="351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/>
                  <a:t>Mr</a:t>
                </a:r>
                <a:r>
                  <a:rPr lang="en-US" altLang="zh-CN" sz="2400" dirty="0"/>
                  <a:t>(O</a:t>
                </a:r>
                <a:r>
                  <a:rPr lang="en-US" altLang="zh-CN" sz="2400" baseline="-25000" dirty="0"/>
                  <a:t>2</a:t>
                </a:r>
                <a:r>
                  <a:rPr lang="en-US" altLang="zh-CN" sz="2400" dirty="0"/>
                  <a:t>)</a:t>
                </a:r>
                <a:endParaRPr lang="en-US" sz="24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7"/>
          <p:cNvGrpSpPr/>
          <p:nvPr/>
        </p:nvGrpSpPr>
        <p:grpSpPr>
          <a:xfrm>
            <a:off x="2667000" y="2921913"/>
            <a:ext cx="1981200" cy="842665"/>
            <a:chOff x="2362200" y="3505200"/>
            <a:chExt cx="1981200" cy="842665"/>
          </a:xfrm>
        </p:grpSpPr>
        <p:grpSp>
          <p:nvGrpSpPr>
            <p:cNvPr id="18" name="Group 3"/>
            <p:cNvGrpSpPr/>
            <p:nvPr/>
          </p:nvGrpSpPr>
          <p:grpSpPr>
            <a:xfrm>
              <a:off x="2362200" y="3505200"/>
              <a:ext cx="1981200" cy="842665"/>
              <a:chOff x="2667000" y="1524000"/>
              <a:chExt cx="1981200" cy="842665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2667000" y="1524000"/>
                <a:ext cx="1981200" cy="710862"/>
                <a:chOff x="2667000" y="1524000"/>
                <a:chExt cx="1981200" cy="710862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200" dirty="0"/>
                    <a:t>   =</a:t>
                  </a:r>
                  <a:endParaRPr lang="en-US" sz="32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733800" y="1524000"/>
                  <a:ext cx="914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 err="1"/>
                    <a:t>Mr</a:t>
                  </a:r>
                  <a:r>
                    <a:rPr lang="en-US" altLang="zh-CN" sz="2400" dirty="0"/>
                    <a:t>(A)</a:t>
                  </a:r>
                  <a:endParaRPr lang="en-US" sz="2400" dirty="0"/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733800" y="1905000"/>
                <a:ext cx="91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  32</a:t>
                </a:r>
                <a:endParaRPr lang="en-US" sz="24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2286000" y="2955758"/>
          <a:ext cx="649568" cy="58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91200" imgH="5181600" progId="Equation.3">
                  <p:embed/>
                </p:oleObj>
              </mc:Choice>
              <mc:Fallback>
                <p:oleObj name="Equation" r:id="rId3" imgW="5791200" imgH="5181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55758"/>
                        <a:ext cx="649568" cy="5811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一充满空气的轮胎需要时</a:t>
            </a:r>
            <a:r>
              <a:rPr lang="en-US" altLang="zh-CN" sz="2800" dirty="0"/>
              <a:t>20min</a:t>
            </a:r>
            <a:r>
              <a:rPr lang="zh-CN" altLang="en-US" sz="2800" dirty="0"/>
              <a:t>才能将空气泄完（空气的平均相对分子量</a:t>
            </a:r>
            <a:r>
              <a:rPr lang="en-US" altLang="zh-CN" sz="2800" dirty="0"/>
              <a:t>=28.8</a:t>
            </a:r>
            <a:r>
              <a:rPr lang="zh-CN" altLang="en-US" sz="2800" dirty="0"/>
              <a:t>）。若轮胎充满氢气，在相同温度及相同压强下，需时多少分钟才能将氢气泄完？</a:t>
            </a:r>
            <a:endParaRPr lang="en-US" altLang="zh-CN" sz="2800" dirty="0"/>
          </a:p>
          <a:p>
            <a:pPr>
              <a:buNone/>
            </a:pP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			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       =	</a:t>
            </a:r>
          </a:p>
          <a:p>
            <a:pPr>
              <a:buNone/>
            </a:pPr>
            <a:r>
              <a:rPr lang="en-US" sz="2800" dirty="0"/>
              <a:t>		         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					 x 20min    </a:t>
            </a:r>
            <a:endParaRPr lang="en-US" altLang="zh-CN" sz="2800" baseline="30000" dirty="0"/>
          </a:p>
          <a:p>
            <a:pPr>
              <a:buNone/>
            </a:pPr>
            <a:r>
              <a:rPr lang="en-US" altLang="zh-CN" sz="2800" baseline="30000" dirty="0"/>
              <a:t>  </a:t>
            </a:r>
            <a:r>
              <a:rPr lang="en-US" altLang="zh-CN" sz="2800" dirty="0"/>
              <a:t>                  t(H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5.27min</a:t>
            </a:r>
            <a:r>
              <a:rPr lang="en-US" altLang="zh-CN" sz="2800" baseline="30000" dirty="0"/>
              <a:t> </a:t>
            </a:r>
          </a:p>
          <a:p>
            <a:pPr>
              <a:buNone/>
            </a:pPr>
            <a:r>
              <a:rPr lang="zh-CN" altLang="en-US" sz="2800" dirty="0"/>
              <a:t>答：需</a:t>
            </a:r>
            <a:r>
              <a:rPr lang="en-US" altLang="zh-CN" sz="2800" dirty="0"/>
              <a:t>5.27</a:t>
            </a:r>
            <a:r>
              <a:rPr lang="zh-CN" altLang="en-US" sz="2800" dirty="0"/>
              <a:t>分钟才能将氢气泄完。</a:t>
            </a:r>
            <a:endParaRPr lang="en-US" altLang="zh-CN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1981200" y="2540913"/>
            <a:ext cx="2667635" cy="811887"/>
            <a:chOff x="1905000" y="3505200"/>
            <a:chExt cx="2667635" cy="811887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667635" cy="811887"/>
              <a:chOff x="2209800" y="1524000"/>
              <a:chExt cx="2667635" cy="811887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667635" cy="735687"/>
                <a:chOff x="2209800" y="1524000"/>
                <a:chExt cx="2667635" cy="735687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 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286000" y="18288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 </a:t>
                  </a:r>
                  <a:r>
                    <a:rPr lang="en-US" altLang="zh-CN" sz="2200" baseline="-25000" dirty="0"/>
                    <a:t>(</a:t>
                  </a:r>
                  <a:r>
                    <a:rPr lang="zh-CN" altLang="en-US" sz="2200" baseline="-25000" dirty="0"/>
                    <a:t>空气</a:t>
                  </a:r>
                  <a:r>
                    <a:rPr lang="en-US" altLang="zh-CN" sz="2200" baseline="-25000" dirty="0"/>
                    <a:t>)</a:t>
                  </a:r>
                  <a:endParaRPr lang="en-US" sz="2200" baseline="-250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524000"/>
                  <a:ext cx="1143635" cy="429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657600" y="1905000"/>
                <a:ext cx="1066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/>
                  <a:t>Mr</a:t>
                </a:r>
                <a:r>
                  <a:rPr lang="en-US" altLang="zh-CN" sz="2200" baseline="-25000" dirty="0"/>
                  <a:t>(</a:t>
                </a:r>
                <a:r>
                  <a:rPr lang="zh-CN" altLang="en-US" sz="2200" baseline="-25000" dirty="0"/>
                  <a:t>空气</a:t>
                </a:r>
                <a:r>
                  <a:rPr lang="en-US" altLang="zh-CN" sz="2200" baseline="-25000" dirty="0"/>
                  <a:t>)</a:t>
                </a:r>
                <a:endParaRPr lang="en-US" sz="22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7"/>
          <p:cNvGrpSpPr/>
          <p:nvPr/>
        </p:nvGrpSpPr>
        <p:grpSpPr>
          <a:xfrm>
            <a:off x="1981200" y="4572000"/>
            <a:ext cx="2362200" cy="811887"/>
            <a:chOff x="1981200" y="3505200"/>
            <a:chExt cx="2362200" cy="811887"/>
          </a:xfrm>
        </p:grpSpPr>
        <p:grpSp>
          <p:nvGrpSpPr>
            <p:cNvPr id="18" name="Group 3"/>
            <p:cNvGrpSpPr/>
            <p:nvPr/>
          </p:nvGrpSpPr>
          <p:grpSpPr>
            <a:xfrm>
              <a:off x="1981200" y="3505200"/>
              <a:ext cx="2362200" cy="811887"/>
              <a:chOff x="2286000" y="1524000"/>
              <a:chExt cx="2362200" cy="811887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2286000" y="1524000"/>
                <a:ext cx="2362200" cy="603141"/>
                <a:chOff x="2286000" y="1524000"/>
                <a:chExt cx="2362200" cy="603141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286000" y="1650087"/>
                  <a:ext cx="1371600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500" dirty="0"/>
                    <a:t>t (H</a:t>
                  </a:r>
                  <a:r>
                    <a:rPr lang="en-US" altLang="zh-CN" sz="2500" baseline="-25000" dirty="0"/>
                    <a:t>2</a:t>
                  </a:r>
                  <a:r>
                    <a:rPr lang="en-US" altLang="zh-CN" sz="2500" dirty="0"/>
                    <a:t>)   =</a:t>
                  </a:r>
                  <a:endParaRPr lang="en-US" sz="25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733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 2</a:t>
                  </a:r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5814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28.8</a:t>
                </a:r>
                <a:endParaRPr lang="en-US" sz="22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3"/>
          <p:cNvGrpSpPr/>
          <p:nvPr/>
        </p:nvGrpSpPr>
        <p:grpSpPr>
          <a:xfrm>
            <a:off x="1905000" y="3607713"/>
            <a:ext cx="2971800" cy="735687"/>
            <a:chOff x="1828800" y="3505200"/>
            <a:chExt cx="2971800" cy="735687"/>
          </a:xfrm>
        </p:grpSpPr>
        <p:grpSp>
          <p:nvGrpSpPr>
            <p:cNvPr id="32" name="Group 3"/>
            <p:cNvGrpSpPr/>
            <p:nvPr/>
          </p:nvGrpSpPr>
          <p:grpSpPr>
            <a:xfrm>
              <a:off x="1828800" y="3505200"/>
              <a:ext cx="2971800" cy="735687"/>
              <a:chOff x="2133600" y="1524000"/>
              <a:chExt cx="2971800" cy="735687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2133600" y="1524000"/>
                <a:ext cx="2895600" cy="735687"/>
                <a:chOff x="2133600" y="1524000"/>
                <a:chExt cx="2895600" cy="735687"/>
              </a:xfrm>
            </p:grpSpPr>
            <p:sp>
              <p:nvSpPr>
                <p:cNvPr id="40" name="TextBox 39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 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8"/>
                <p:cNvCxnSpPr/>
                <p:nvPr/>
              </p:nvCxnSpPr>
              <p:spPr>
                <a:xfrm>
                  <a:off x="3733800" y="1878687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2133600" y="1828800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</a:t>
                  </a:r>
                  <a:r>
                    <a:rPr lang="en-US" altLang="zh-CN" sz="2200" dirty="0"/>
                    <a:t>20min</a:t>
                  </a:r>
                  <a:endParaRPr lang="en-US" sz="2200" baseline="-25000" dirty="0"/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3657600" y="1524000"/>
                  <a:ext cx="1371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  2</a:t>
                  </a:r>
                </a:p>
              </p:txBody>
            </p:sp>
          </p:grpSp>
          <p:sp>
            <p:nvSpPr>
              <p:cNvPr id="39" name="TextBox 5"/>
              <p:cNvSpPr txBox="1"/>
              <p:nvPr/>
            </p:nvSpPr>
            <p:spPr>
              <a:xfrm>
                <a:off x="3530600" y="1802487"/>
                <a:ext cx="157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  28.8 </a:t>
                </a:r>
              </a:p>
            </p:txBody>
          </p:sp>
        </p:grpSp>
        <p:grpSp>
          <p:nvGrpSpPr>
            <p:cNvPr id="33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36" name="Straight Connector 35"/>
                <p:cNvCxnSpPr>
                  <a:endCxn id="44" idx="0"/>
                </p:cNvCxnSpPr>
                <p:nvPr/>
              </p:nvCxnSpPr>
              <p:spPr>
                <a:xfrm flipV="1">
                  <a:off x="6858000" y="457200"/>
                  <a:ext cx="609600" cy="1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8674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2.</a:t>
            </a:r>
            <a:r>
              <a:rPr lang="zh-CN" altLang="en-US" sz="2800" dirty="0"/>
              <a:t>在相同条件下，氢气的扩散速率是二氧化硫的多少倍？ </a:t>
            </a:r>
            <a:r>
              <a:rPr lang="en-US" altLang="zh-CN" sz="2800" dirty="0"/>
              <a:t>H=1 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  <a:r>
              <a:rPr lang="zh-CN" altLang="en-US" sz="2800" dirty="0"/>
              <a:t>，</a:t>
            </a:r>
            <a:r>
              <a:rPr lang="en-US" altLang="zh-CN" sz="2800" dirty="0"/>
              <a:t>S=32</a:t>
            </a:r>
          </a:p>
          <a:p>
            <a:pPr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)=2x1 =2 		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(SO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32+16x2=64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			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</a:t>
            </a:r>
          </a:p>
          <a:p>
            <a:pPr>
              <a:buNone/>
            </a:pPr>
            <a:r>
              <a:rPr lang="en-US" altLang="zh-CN" sz="2800" dirty="0"/>
              <a:t>  			       =  32  </a:t>
            </a:r>
            <a:endParaRPr lang="en-US" altLang="zh-CN" sz="2800" baseline="30000" dirty="0"/>
          </a:p>
          <a:p>
            <a:pPr>
              <a:buNone/>
            </a:pPr>
            <a:r>
              <a:rPr lang="en-US" altLang="zh-CN" sz="2800" baseline="30000" dirty="0"/>
              <a:t> </a:t>
            </a:r>
            <a:r>
              <a:rPr lang="en-US" altLang="zh-CN" sz="2800" dirty="0"/>
              <a:t> </a:t>
            </a:r>
            <a:r>
              <a:rPr lang="zh-CN" altLang="en-US" sz="2800" dirty="0"/>
              <a:t>答：在相同条件下，氢气的扩散速率是二氧化硫的 </a:t>
            </a:r>
            <a:r>
              <a:rPr lang="en-US" altLang="zh-CN" sz="2800" dirty="0"/>
              <a:t>4    2  </a:t>
            </a:r>
            <a:r>
              <a:rPr lang="zh-CN" altLang="en-US" sz="2800" dirty="0"/>
              <a:t>倍。</a:t>
            </a:r>
            <a:endParaRPr lang="en-US" altLang="zh-CN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1905000" y="2312313"/>
            <a:ext cx="2590800" cy="811887"/>
            <a:chOff x="1905000" y="3505200"/>
            <a:chExt cx="2590800" cy="811887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590800" cy="811887"/>
              <a:chOff x="2209800" y="1524000"/>
              <a:chExt cx="2590800" cy="811887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590800" cy="735687"/>
                <a:chOff x="2209800" y="1524000"/>
                <a:chExt cx="2590800" cy="735687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ν 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209800" y="1828800"/>
                  <a:ext cx="990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ν(SO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 )</a:t>
                  </a:r>
                  <a:endParaRPr lang="en-US" sz="22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657600" y="1524000"/>
                  <a:ext cx="11430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</a:t>
                  </a:r>
                  <a:r>
                    <a:rPr lang="en-US" altLang="zh-CN" sz="2400" dirty="0"/>
                    <a:t>SO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/>
                  <a:t>Mr</a:t>
                </a:r>
                <a:r>
                  <a:rPr lang="en-US" altLang="zh-CN" sz="2200" dirty="0"/>
                  <a:t>(H</a:t>
                </a:r>
                <a:r>
                  <a:rPr lang="en-US" altLang="zh-CN" sz="2200" baseline="-25000" dirty="0"/>
                  <a:t>2</a:t>
                </a:r>
                <a:r>
                  <a:rPr lang="en-US" altLang="zh-CN" sz="2200" dirty="0"/>
                  <a:t>)</a:t>
                </a:r>
                <a:endParaRPr lang="en-US" sz="22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7"/>
          <p:cNvGrpSpPr/>
          <p:nvPr/>
        </p:nvGrpSpPr>
        <p:grpSpPr>
          <a:xfrm>
            <a:off x="2362200" y="3150513"/>
            <a:ext cx="2057400" cy="811887"/>
            <a:chOff x="2362200" y="3505200"/>
            <a:chExt cx="2057400" cy="811887"/>
          </a:xfrm>
        </p:grpSpPr>
        <p:grpSp>
          <p:nvGrpSpPr>
            <p:cNvPr id="18" name="Group 3"/>
            <p:cNvGrpSpPr/>
            <p:nvPr/>
          </p:nvGrpSpPr>
          <p:grpSpPr>
            <a:xfrm>
              <a:off x="2362200" y="3505200"/>
              <a:ext cx="2057400" cy="811887"/>
              <a:chOff x="2667000" y="1524000"/>
              <a:chExt cx="2057400" cy="811887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2667000" y="1524000"/>
                <a:ext cx="2057400" cy="649307"/>
                <a:chOff x="2667000" y="1524000"/>
                <a:chExt cx="2057400" cy="649307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    =</a:t>
                  </a:r>
                  <a:endParaRPr lang="en-US" sz="28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8100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64</a:t>
                  </a:r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2</a:t>
                </a:r>
                <a:endParaRPr lang="en-US" sz="22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/>
          <p:cNvGrpSpPr/>
          <p:nvPr/>
        </p:nvGrpSpPr>
        <p:grpSpPr>
          <a:xfrm>
            <a:off x="2895600" y="3962400"/>
            <a:ext cx="685800" cy="381000"/>
            <a:chOff x="6553200" y="3657600"/>
            <a:chExt cx="990600" cy="685800"/>
          </a:xfrm>
        </p:grpSpPr>
        <p:cxnSp>
          <p:nvCxnSpPr>
            <p:cNvPr id="32" name="Straight Connector 31"/>
            <p:cNvCxnSpPr/>
            <p:nvPr/>
          </p:nvCxnSpPr>
          <p:spPr>
            <a:xfrm rot="5400000">
              <a:off x="6438900" y="3924300"/>
              <a:ext cx="685800" cy="1524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58000" y="3657600"/>
              <a:ext cx="68580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6553200" y="4267200"/>
              <a:ext cx="152400" cy="762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876300" y="4953882"/>
            <a:ext cx="685800" cy="381000"/>
            <a:chOff x="6553200" y="3657600"/>
            <a:chExt cx="990600" cy="685800"/>
          </a:xfrm>
        </p:grpSpPr>
        <p:cxnSp>
          <p:nvCxnSpPr>
            <p:cNvPr id="36" name="Straight Connector 35"/>
            <p:cNvCxnSpPr/>
            <p:nvPr/>
          </p:nvCxnSpPr>
          <p:spPr>
            <a:xfrm rot="5400000">
              <a:off x="6438900" y="3924300"/>
              <a:ext cx="685800" cy="1524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858000" y="3657600"/>
              <a:ext cx="68580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553200" y="4267200"/>
              <a:ext cx="152400" cy="762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  <p:bldP spid="3" grpId="2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6781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600" dirty="0"/>
              <a:t>3. </a:t>
            </a:r>
            <a:r>
              <a:rPr lang="zh-CN" altLang="en-US" sz="2600" dirty="0"/>
              <a:t>在一长</a:t>
            </a:r>
            <a:r>
              <a:rPr lang="en-US" altLang="zh-CN" sz="2600" dirty="0"/>
              <a:t>15m</a:t>
            </a:r>
            <a:r>
              <a:rPr lang="zh-CN" altLang="en-US" sz="2600" dirty="0"/>
              <a:t>的教室前端及后端，同时放出笑气和泪气，问距离前端多远的同学最快同时嗅到这两种气体？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     (</a:t>
            </a:r>
            <a:r>
              <a:rPr lang="zh-CN" altLang="en-US" sz="2600" dirty="0"/>
              <a:t>笑气</a:t>
            </a:r>
            <a:r>
              <a:rPr lang="en-US" altLang="zh-CN" sz="2600" dirty="0"/>
              <a:t>N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O,</a:t>
            </a:r>
            <a:r>
              <a:rPr lang="zh-CN" altLang="en-US" sz="2600" dirty="0"/>
              <a:t>泪气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6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11</a:t>
            </a:r>
            <a:r>
              <a:rPr lang="en-US" altLang="zh-CN" sz="2600" dirty="0"/>
              <a:t>OBr) (</a:t>
            </a:r>
            <a:r>
              <a:rPr lang="zh-CN" altLang="en-US" sz="2600" dirty="0"/>
              <a:t> </a:t>
            </a:r>
            <a:r>
              <a:rPr lang="en-US" altLang="zh-CN" sz="2600" dirty="0"/>
              <a:t>H=1 ,O=16,Br=80,C=12,N=14)</a:t>
            </a:r>
          </a:p>
          <a:p>
            <a:pPr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O)=14x2+16 =44 	</a:t>
            </a:r>
          </a:p>
          <a:p>
            <a:pPr>
              <a:buNone/>
            </a:pPr>
            <a:r>
              <a:rPr lang="en-US" altLang="zh-CN" sz="2800" dirty="0" err="1"/>
              <a:t>Mr</a:t>
            </a:r>
            <a:r>
              <a:rPr lang="en-US" altLang="zh-CN" sz="2800" dirty="0"/>
              <a:t>(C</a:t>
            </a:r>
            <a:r>
              <a:rPr lang="en-US" altLang="zh-CN" sz="2800" baseline="-25000" dirty="0"/>
              <a:t>6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11</a:t>
            </a:r>
            <a:r>
              <a:rPr lang="en-US" altLang="zh-CN" sz="2800" dirty="0"/>
              <a:t>OBr) = 6x12+11+16+80=179</a:t>
            </a:r>
            <a:r>
              <a:rPr lang="en-US" sz="2800" dirty="0"/>
              <a:t>	       </a:t>
            </a:r>
          </a:p>
          <a:p>
            <a:pPr>
              <a:buNone/>
            </a:pPr>
            <a:r>
              <a:rPr lang="en-US" sz="2800" dirty="0"/>
              <a:t> 			 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</a:t>
            </a:r>
          </a:p>
          <a:p>
            <a:pPr>
              <a:buNone/>
            </a:pPr>
            <a:r>
              <a:rPr lang="en-US" altLang="zh-CN" sz="2800" dirty="0"/>
              <a:t>  			         =  2 </a:t>
            </a:r>
          </a:p>
          <a:p>
            <a:pPr>
              <a:buNone/>
            </a:pPr>
            <a:r>
              <a:rPr lang="en-US" altLang="zh-CN" sz="2800" dirty="0"/>
              <a:t>                            x  = 2</a:t>
            </a:r>
            <a:r>
              <a:rPr lang="en-MY" altLang="zh-CN" sz="2800" dirty="0"/>
              <a:t>.017</a:t>
            </a:r>
            <a:r>
              <a:rPr lang="en-US" altLang="zh-CN" sz="2800" dirty="0"/>
              <a:t>(15-x)</a:t>
            </a:r>
            <a:endParaRPr lang="en-US" altLang="zh-CN" sz="2800" baseline="30000" dirty="0"/>
          </a:p>
          <a:p>
            <a:pPr>
              <a:buNone/>
            </a:pPr>
            <a:r>
              <a:rPr lang="en-US" altLang="zh-CN" sz="2800" baseline="30000" dirty="0"/>
              <a:t> </a:t>
            </a:r>
            <a:r>
              <a:rPr lang="en-US" altLang="zh-CN" sz="2800" dirty="0"/>
              <a:t> 		       3.017x =30.255</a:t>
            </a:r>
          </a:p>
          <a:p>
            <a:pPr>
              <a:buNone/>
            </a:pPr>
            <a:r>
              <a:rPr lang="en-US" altLang="zh-CN" sz="2800" dirty="0"/>
              <a:t>			      x = 10.03</a:t>
            </a:r>
          </a:p>
          <a:p>
            <a:pPr>
              <a:buNone/>
            </a:pPr>
            <a:r>
              <a:rPr lang="en-US" altLang="zh-CN" sz="2800" baseline="30000" dirty="0"/>
              <a:t> </a:t>
            </a:r>
            <a:r>
              <a:rPr lang="en-US" altLang="zh-CN" sz="2800" dirty="0"/>
              <a:t> </a:t>
            </a:r>
            <a:r>
              <a:rPr lang="zh-CN" altLang="en-US" sz="2800" dirty="0"/>
              <a:t>则距离前端</a:t>
            </a:r>
            <a:r>
              <a:rPr lang="en-US" altLang="zh-CN" sz="2800" dirty="0"/>
              <a:t>10.03m</a:t>
            </a:r>
            <a:r>
              <a:rPr lang="zh-CN" altLang="en-US" sz="2800" dirty="0"/>
              <a:t>的同学最快同时嗅到这两种气体。</a:t>
            </a:r>
            <a:endParaRPr lang="en-US" altLang="zh-CN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1371600" y="2433935"/>
            <a:ext cx="4114800" cy="842665"/>
            <a:chOff x="1803400" y="3474422"/>
            <a:chExt cx="2743200" cy="842665"/>
          </a:xfrm>
        </p:grpSpPr>
        <p:grpSp>
          <p:nvGrpSpPr>
            <p:cNvPr id="4" name="Group 3"/>
            <p:cNvGrpSpPr/>
            <p:nvPr/>
          </p:nvGrpSpPr>
          <p:grpSpPr>
            <a:xfrm>
              <a:off x="1803400" y="3474422"/>
              <a:ext cx="2743200" cy="842665"/>
              <a:chOff x="2108200" y="1493222"/>
              <a:chExt cx="2743200" cy="842665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108200" y="1493222"/>
                <a:ext cx="2743200" cy="842665"/>
                <a:chOff x="2108200" y="1493222"/>
                <a:chExt cx="2743200" cy="842665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s (</a:t>
                  </a:r>
                  <a:r>
                    <a:rPr lang="en-US" altLang="zh-CN" sz="2400" dirty="0"/>
                    <a:t>N</a:t>
                  </a:r>
                  <a:r>
                    <a:rPr lang="en-US" altLang="zh-CN" sz="2400" baseline="-25000" dirty="0"/>
                    <a:t>2</a:t>
                  </a:r>
                  <a:r>
                    <a:rPr lang="en-US" altLang="zh-CN" sz="2400" dirty="0"/>
                    <a:t>O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 flipV="1">
                  <a:off x="3733800" y="1878687"/>
                  <a:ext cx="1066800" cy="26313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108200" y="1874222"/>
                  <a:ext cx="1092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s(</a:t>
                  </a:r>
                  <a:r>
                    <a:rPr lang="en-US" altLang="zh-CN" sz="2400" dirty="0"/>
                    <a:t>C</a:t>
                  </a:r>
                  <a:r>
                    <a:rPr lang="en-US" altLang="zh-CN" sz="2400" baseline="-25000" dirty="0"/>
                    <a:t>6</a:t>
                  </a:r>
                  <a:r>
                    <a:rPr lang="en-US" altLang="zh-CN" sz="2400" dirty="0"/>
                    <a:t>H</a:t>
                  </a:r>
                  <a:r>
                    <a:rPr lang="en-US" altLang="zh-CN" sz="2400" baseline="-25000" dirty="0"/>
                    <a:t>11</a:t>
                  </a:r>
                  <a:r>
                    <a:rPr lang="en-US" altLang="zh-CN" sz="2400" dirty="0"/>
                    <a:t>OBr</a:t>
                  </a:r>
                  <a:r>
                    <a:rPr lang="en-US" altLang="zh-CN" sz="2200" dirty="0"/>
                    <a:t> )</a:t>
                  </a:r>
                  <a:endParaRPr lang="en-US" sz="22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08400" y="1493222"/>
                  <a:ext cx="11430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M(</a:t>
                  </a:r>
                  <a:r>
                    <a:rPr lang="en-US" altLang="zh-CN" sz="2400" dirty="0"/>
                    <a:t>C</a:t>
                  </a:r>
                  <a:r>
                    <a:rPr lang="en-US" altLang="zh-CN" sz="2400" baseline="-25000" dirty="0"/>
                    <a:t>6</a:t>
                  </a:r>
                  <a:r>
                    <a:rPr lang="en-US" altLang="zh-CN" sz="2400" dirty="0"/>
                    <a:t>H</a:t>
                  </a:r>
                  <a:r>
                    <a:rPr lang="en-US" altLang="zh-CN" sz="2400" baseline="-25000" dirty="0"/>
                    <a:t>11</a:t>
                  </a:r>
                  <a:r>
                    <a:rPr lang="en-US" altLang="zh-CN" sz="2400" dirty="0"/>
                    <a:t>OBr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8354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M(N</a:t>
                </a:r>
                <a:r>
                  <a:rPr lang="en-US" altLang="zh-CN" sz="2200" baseline="-25000" dirty="0"/>
                  <a:t>2</a:t>
                </a:r>
                <a:r>
                  <a:rPr lang="en-US" altLang="zh-CN" sz="2200" dirty="0"/>
                  <a:t> O)</a:t>
                </a:r>
                <a:endParaRPr lang="en-US" sz="22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478887"/>
              <a:ext cx="1498600" cy="712113"/>
              <a:chOff x="6477000" y="430887"/>
              <a:chExt cx="1498600" cy="712113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30887"/>
                <a:ext cx="1498600" cy="712113"/>
                <a:chOff x="6477000" y="430887"/>
                <a:chExt cx="1498600" cy="712113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 flipV="1">
                  <a:off x="6781800" y="430887"/>
                  <a:ext cx="1193800" cy="26313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7"/>
          <p:cNvGrpSpPr/>
          <p:nvPr/>
        </p:nvGrpSpPr>
        <p:grpSpPr>
          <a:xfrm>
            <a:off x="2514600" y="3302913"/>
            <a:ext cx="2057400" cy="811887"/>
            <a:chOff x="2362200" y="3505200"/>
            <a:chExt cx="2057400" cy="811887"/>
          </a:xfrm>
        </p:grpSpPr>
        <p:grpSp>
          <p:nvGrpSpPr>
            <p:cNvPr id="18" name="Group 3"/>
            <p:cNvGrpSpPr/>
            <p:nvPr/>
          </p:nvGrpSpPr>
          <p:grpSpPr>
            <a:xfrm>
              <a:off x="2362200" y="3505200"/>
              <a:ext cx="2057400" cy="811887"/>
              <a:chOff x="2667000" y="1524000"/>
              <a:chExt cx="2057400" cy="811887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2667000" y="1524000"/>
                <a:ext cx="2057400" cy="649307"/>
                <a:chOff x="2667000" y="1524000"/>
                <a:chExt cx="2057400" cy="649307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    =</a:t>
                  </a:r>
                  <a:endParaRPr lang="en-US" sz="28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8100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179</a:t>
                  </a:r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44</a:t>
                </a:r>
                <a:endParaRPr lang="en-US" sz="22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/>
          <p:cNvGrpSpPr/>
          <p:nvPr/>
        </p:nvGrpSpPr>
        <p:grpSpPr>
          <a:xfrm>
            <a:off x="1600200" y="3302913"/>
            <a:ext cx="1219200" cy="709374"/>
            <a:chOff x="1295400" y="5081826"/>
            <a:chExt cx="1219200" cy="709374"/>
          </a:xfrm>
        </p:grpSpPr>
        <p:sp>
          <p:nvSpPr>
            <p:cNvPr id="32" name="TextBox 31"/>
            <p:cNvSpPr txBox="1"/>
            <p:nvPr/>
          </p:nvSpPr>
          <p:spPr>
            <a:xfrm>
              <a:off x="1600200" y="5081826"/>
              <a:ext cx="3064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21676" y="5360313"/>
              <a:ext cx="67839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15-x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295400" y="5434925"/>
              <a:ext cx="1219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1600200" y="4015026"/>
            <a:ext cx="1219200" cy="709374"/>
            <a:chOff x="1295400" y="5081826"/>
            <a:chExt cx="1219200" cy="709374"/>
          </a:xfrm>
        </p:grpSpPr>
        <p:sp>
          <p:nvSpPr>
            <p:cNvPr id="36" name="TextBox 35"/>
            <p:cNvSpPr txBox="1"/>
            <p:nvPr/>
          </p:nvSpPr>
          <p:spPr>
            <a:xfrm>
              <a:off x="1600200" y="5081826"/>
              <a:ext cx="3064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x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47800" y="5360313"/>
              <a:ext cx="67839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15-x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1295400" y="5434925"/>
              <a:ext cx="1219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4.100ml</a:t>
            </a:r>
            <a:r>
              <a:rPr lang="zh-CN" altLang="en-US" sz="2800" dirty="0"/>
              <a:t>的氢气经过一小孔需</a:t>
            </a:r>
            <a:r>
              <a:rPr lang="en-US" altLang="zh-CN" sz="2800" dirty="0"/>
              <a:t>10min</a:t>
            </a:r>
            <a:r>
              <a:rPr lang="zh-CN" altLang="en-US" sz="2800" dirty="0"/>
              <a:t>；在相同条件下</a:t>
            </a:r>
            <a:r>
              <a:rPr lang="en-US" altLang="zh-CN" sz="2800" dirty="0"/>
              <a:t>200ml</a:t>
            </a:r>
            <a:r>
              <a:rPr lang="zh-CN" altLang="en-US" sz="2800" dirty="0"/>
              <a:t>的氨气流出需时多少分钟？</a:t>
            </a:r>
            <a:r>
              <a:rPr lang="en-US" altLang="zh-CN" sz="2800" dirty="0"/>
              <a:t>N=14</a:t>
            </a:r>
            <a:r>
              <a:rPr lang="zh-CN" altLang="en-US" sz="2800" dirty="0"/>
              <a:t>，</a:t>
            </a:r>
            <a:r>
              <a:rPr lang="en-US" altLang="zh-CN" sz="2800" dirty="0"/>
              <a:t>H=1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</a:t>
            </a:r>
            <a:r>
              <a:rPr lang="zh-CN" altLang="en-US" sz="2800" dirty="0"/>
              <a:t>解：</a:t>
            </a:r>
            <a:r>
              <a:rPr lang="en-US" altLang="zh-CN" sz="2800" dirty="0"/>
              <a:t>200ml</a:t>
            </a:r>
            <a:r>
              <a:rPr lang="zh-CN" altLang="en-US" sz="2800" dirty="0"/>
              <a:t>的氢气流出需</a:t>
            </a:r>
            <a:r>
              <a:rPr lang="en-US" altLang="zh-CN" sz="2800" dirty="0"/>
              <a:t>20min</a:t>
            </a:r>
            <a:r>
              <a:rPr lang="zh-CN" altLang="en-US" sz="2800" dirty="0"/>
              <a:t>。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			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       =	</a:t>
            </a:r>
          </a:p>
          <a:p>
            <a:pPr>
              <a:buNone/>
            </a:pPr>
            <a:r>
              <a:rPr lang="en-US" sz="2800" dirty="0"/>
              <a:t>		         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					 x 20min    </a:t>
            </a:r>
            <a:endParaRPr lang="en-US" altLang="zh-CN" sz="2800" baseline="30000" dirty="0"/>
          </a:p>
          <a:p>
            <a:pPr>
              <a:buNone/>
            </a:pPr>
            <a:r>
              <a:rPr lang="en-US" altLang="zh-CN" sz="2800" baseline="30000" dirty="0"/>
              <a:t>  </a:t>
            </a:r>
            <a:r>
              <a:rPr lang="en-US" altLang="zh-CN" sz="2800" dirty="0"/>
              <a:t>                  t(NH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 = 58.31min</a:t>
            </a:r>
            <a:r>
              <a:rPr lang="en-US" altLang="zh-CN" sz="2800" baseline="30000" dirty="0"/>
              <a:t>  </a:t>
            </a:r>
          </a:p>
          <a:p>
            <a:pPr>
              <a:buNone/>
            </a:pPr>
            <a:endParaRPr lang="en-US" altLang="zh-CN" sz="2800" baseline="30000" dirty="0"/>
          </a:p>
          <a:p>
            <a:pPr>
              <a:buNone/>
            </a:pPr>
            <a:r>
              <a:rPr lang="zh-CN" altLang="en-US" sz="2800" dirty="0"/>
              <a:t>答：氨气流出需时</a:t>
            </a:r>
            <a:r>
              <a:rPr lang="en-US" altLang="zh-CN" sz="2800" dirty="0"/>
              <a:t>58.31</a:t>
            </a:r>
            <a:r>
              <a:rPr lang="zh-CN" altLang="en-US" sz="2800" dirty="0"/>
              <a:t>分钟。</a:t>
            </a:r>
            <a:endParaRPr lang="en-US" altLang="zh-CN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2057400" y="2057400"/>
            <a:ext cx="2743200" cy="810895"/>
            <a:chOff x="1905000" y="3505200"/>
            <a:chExt cx="2743200" cy="810895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743200" cy="810895"/>
              <a:chOff x="2209800" y="1524000"/>
              <a:chExt cx="2743200" cy="810895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743200" cy="735687"/>
                <a:chOff x="2209800" y="1524000"/>
                <a:chExt cx="2743200" cy="735687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 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286000" y="18288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t(NH</a:t>
                  </a:r>
                  <a:r>
                    <a:rPr lang="en-US" altLang="zh-CN" sz="2200" baseline="-25000" dirty="0"/>
                    <a:t>3</a:t>
                  </a:r>
                  <a:r>
                    <a:rPr lang="en-US" altLang="zh-CN" sz="2200" dirty="0"/>
                    <a:t> )</a:t>
                  </a:r>
                  <a:endParaRPr lang="en-US" sz="2200" baseline="-250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33800" y="1524000"/>
                  <a:ext cx="1219200" cy="4298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657600" y="1905000"/>
                <a:ext cx="1242060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/>
                  <a:t>Mr</a:t>
                </a:r>
                <a:r>
                  <a:rPr lang="en-US" altLang="zh-CN" sz="2200" dirty="0"/>
                  <a:t>(NH</a:t>
                </a:r>
                <a:r>
                  <a:rPr lang="en-US" altLang="zh-CN" sz="2200" baseline="-25000" dirty="0"/>
                  <a:t>3</a:t>
                </a:r>
                <a:r>
                  <a:rPr lang="en-US" altLang="zh-CN" sz="2200" dirty="0"/>
                  <a:t>)</a:t>
                </a:r>
                <a:endParaRPr lang="en-US" sz="22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7"/>
          <p:cNvGrpSpPr/>
          <p:nvPr/>
        </p:nvGrpSpPr>
        <p:grpSpPr>
          <a:xfrm>
            <a:off x="1676400" y="3912513"/>
            <a:ext cx="2667000" cy="811887"/>
            <a:chOff x="1676400" y="3505200"/>
            <a:chExt cx="2667000" cy="811887"/>
          </a:xfrm>
        </p:grpSpPr>
        <p:grpSp>
          <p:nvGrpSpPr>
            <p:cNvPr id="18" name="Group 3"/>
            <p:cNvGrpSpPr/>
            <p:nvPr/>
          </p:nvGrpSpPr>
          <p:grpSpPr>
            <a:xfrm>
              <a:off x="1676400" y="3505200"/>
              <a:ext cx="2667000" cy="811887"/>
              <a:chOff x="1981200" y="1524000"/>
              <a:chExt cx="2667000" cy="811887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1981200" y="1524000"/>
                <a:ext cx="2667000" cy="603141"/>
                <a:chOff x="1981200" y="1524000"/>
                <a:chExt cx="2667000" cy="603141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1981200" y="1650087"/>
                  <a:ext cx="1676400" cy="477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500" dirty="0"/>
                    <a:t>t (NH</a:t>
                  </a:r>
                  <a:r>
                    <a:rPr lang="en-US" altLang="zh-CN" sz="2500" baseline="-25000" dirty="0"/>
                    <a:t>3</a:t>
                  </a:r>
                  <a:r>
                    <a:rPr lang="en-US" altLang="zh-CN" sz="2500" dirty="0"/>
                    <a:t>)   =</a:t>
                  </a:r>
                  <a:endParaRPr lang="en-US" sz="25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733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 17</a:t>
                  </a:r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5814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    2</a:t>
                </a:r>
                <a:endParaRPr lang="en-US" sz="2200" dirty="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3"/>
          <p:cNvGrpSpPr/>
          <p:nvPr/>
        </p:nvGrpSpPr>
        <p:grpSpPr>
          <a:xfrm>
            <a:off x="1905000" y="2998113"/>
            <a:ext cx="3124200" cy="735687"/>
            <a:chOff x="1828800" y="3505200"/>
            <a:chExt cx="3124200" cy="735687"/>
          </a:xfrm>
        </p:grpSpPr>
        <p:grpSp>
          <p:nvGrpSpPr>
            <p:cNvPr id="28" name="Group 3"/>
            <p:cNvGrpSpPr/>
            <p:nvPr/>
          </p:nvGrpSpPr>
          <p:grpSpPr>
            <a:xfrm>
              <a:off x="1828800" y="3505200"/>
              <a:ext cx="3124200" cy="735687"/>
              <a:chOff x="2133600" y="1524000"/>
              <a:chExt cx="3124200" cy="735687"/>
            </a:xfrm>
          </p:grpSpPr>
          <p:grpSp>
            <p:nvGrpSpPr>
              <p:cNvPr id="30" name="Group 37"/>
              <p:cNvGrpSpPr/>
              <p:nvPr/>
            </p:nvGrpSpPr>
            <p:grpSpPr>
              <a:xfrm>
                <a:off x="2133600" y="1524000"/>
                <a:ext cx="2895600" cy="735687"/>
                <a:chOff x="2133600" y="1524000"/>
                <a:chExt cx="2895600" cy="735687"/>
              </a:xfrm>
            </p:grpSpPr>
            <p:sp>
              <p:nvSpPr>
                <p:cNvPr id="40" name="TextBox 39"/>
                <p:cNvSpPr txBox="1"/>
                <p:nvPr/>
              </p:nvSpPr>
              <p:spPr>
                <a:xfrm>
                  <a:off x="2209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20min</a:t>
                  </a:r>
                </a:p>
              </p:txBody>
            </p: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8"/>
                <p:cNvCxnSpPr/>
                <p:nvPr/>
              </p:nvCxnSpPr>
              <p:spPr>
                <a:xfrm>
                  <a:off x="3733800" y="1878687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2133600" y="1828800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t</a:t>
                  </a:r>
                  <a:r>
                    <a:rPr lang="en-US" altLang="zh-CN" sz="2200" dirty="0"/>
                    <a:t>(NH</a:t>
                  </a:r>
                  <a:r>
                    <a:rPr lang="en-US" altLang="zh-CN" sz="2200" baseline="-25000" dirty="0"/>
                    <a:t>3</a:t>
                  </a:r>
                  <a:r>
                    <a:rPr lang="en-US" altLang="zh-CN" sz="2200" dirty="0"/>
                    <a:t> )</a:t>
                  </a:r>
                  <a:endParaRPr lang="en-US" sz="2200" baseline="-25000" dirty="0"/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3657600" y="1524000"/>
                  <a:ext cx="1371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  2</a:t>
                  </a:r>
                </a:p>
              </p:txBody>
            </p:sp>
          </p:grpSp>
          <p:sp>
            <p:nvSpPr>
              <p:cNvPr id="39" name="TextBox 5"/>
              <p:cNvSpPr txBox="1"/>
              <p:nvPr/>
            </p:nvSpPr>
            <p:spPr>
              <a:xfrm>
                <a:off x="3683000" y="1802487"/>
                <a:ext cx="157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  17 </a:t>
                </a:r>
              </a:p>
            </p:txBody>
          </p:sp>
        </p:grpSp>
        <p:grpSp>
          <p:nvGrpSpPr>
            <p:cNvPr id="32" name="Group 24"/>
            <p:cNvGrpSpPr/>
            <p:nvPr/>
          </p:nvGrpSpPr>
          <p:grpSpPr>
            <a:xfrm>
              <a:off x="3048000" y="3505200"/>
              <a:ext cx="914400" cy="685800"/>
              <a:chOff x="6477000" y="457200"/>
              <a:chExt cx="914400" cy="68580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23"/>
              <p:cNvGrpSpPr/>
              <p:nvPr/>
            </p:nvGrpSpPr>
            <p:grpSpPr>
              <a:xfrm>
                <a:off x="6477000" y="457200"/>
                <a:ext cx="914400" cy="685800"/>
                <a:chOff x="6477000" y="457200"/>
                <a:chExt cx="914400" cy="685800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6781800" y="457200"/>
                  <a:ext cx="609600" cy="1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5.200ml</a:t>
            </a:r>
            <a:r>
              <a:rPr lang="zh-CN" altLang="en-US" sz="2800" dirty="0"/>
              <a:t>的氧气经过一小孔流出需</a:t>
            </a:r>
            <a:r>
              <a:rPr lang="en-US" altLang="zh-CN" sz="2800" dirty="0"/>
              <a:t>6min</a:t>
            </a:r>
            <a:r>
              <a:rPr lang="zh-CN" altLang="en-US" sz="2800" dirty="0"/>
              <a:t>；在相同条件下</a:t>
            </a:r>
            <a:r>
              <a:rPr lang="en-US" altLang="zh-CN" sz="2800" dirty="0"/>
              <a:t>400ml</a:t>
            </a:r>
            <a:r>
              <a:rPr lang="zh-CN" altLang="en-US" sz="2800" dirty="0"/>
              <a:t>的气体</a:t>
            </a:r>
            <a:r>
              <a:rPr lang="en-US" altLang="zh-CN" sz="2800" dirty="0"/>
              <a:t>A</a:t>
            </a:r>
            <a:r>
              <a:rPr lang="zh-CN" altLang="en-US" sz="2800" dirty="0"/>
              <a:t>流出此小孔需</a:t>
            </a:r>
            <a:r>
              <a:rPr lang="en-US" altLang="zh-CN" sz="2800" dirty="0"/>
              <a:t>9min</a:t>
            </a:r>
            <a:r>
              <a:rPr lang="zh-CN" altLang="en-US" sz="2800" dirty="0"/>
              <a:t>。求气体</a:t>
            </a:r>
            <a:r>
              <a:rPr lang="en-US" altLang="zh-CN" sz="2800" dirty="0"/>
              <a:t>A</a:t>
            </a:r>
            <a:r>
              <a:rPr lang="zh-CN" altLang="en-US" sz="2800" dirty="0"/>
              <a:t>的相对分子质量。</a:t>
            </a:r>
            <a:r>
              <a:rPr lang="en-US" altLang="zh-CN" sz="2800" dirty="0"/>
              <a:t>O=16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</a:t>
            </a:r>
            <a:r>
              <a:rPr lang="zh-CN" altLang="en-US" sz="2800" dirty="0"/>
              <a:t>解：</a:t>
            </a:r>
            <a:r>
              <a:rPr lang="en-US" altLang="zh-CN" sz="2800" dirty="0"/>
              <a:t>400ml</a:t>
            </a:r>
            <a:r>
              <a:rPr lang="zh-CN" altLang="en-US" sz="2800" dirty="0"/>
              <a:t>的氧气流出需</a:t>
            </a:r>
            <a:r>
              <a:rPr lang="en-US" altLang="zh-CN" sz="2800" dirty="0"/>
              <a:t>12min</a:t>
            </a:r>
            <a:r>
              <a:rPr lang="zh-CN" altLang="en-US" sz="2800" dirty="0"/>
              <a:t>。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			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       =	</a:t>
            </a:r>
          </a:p>
          <a:p>
            <a:pPr indent="0">
              <a:spcBef>
                <a:spcPts val="0"/>
              </a:spcBef>
              <a:buNone/>
            </a:pPr>
            <a:r>
              <a:rPr lang="en-US" sz="2800" dirty="0"/>
              <a:t>		         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				</a:t>
            </a:r>
            <a:r>
              <a:rPr lang="en-US" altLang="zh-CN" dirty="0"/>
              <a:t>(	)</a:t>
            </a:r>
            <a:r>
              <a:rPr lang="en-US" altLang="zh-CN" baseline="30000" dirty="0"/>
              <a:t>2</a:t>
            </a:r>
            <a:r>
              <a:rPr lang="en-US" altLang="zh-CN" dirty="0"/>
              <a:t> x 32    </a:t>
            </a:r>
            <a:endParaRPr lang="en-US" altLang="zh-CN" baseline="30000" dirty="0"/>
          </a:p>
          <a:p>
            <a:pPr>
              <a:lnSpc>
                <a:spcPct val="200000"/>
              </a:lnSpc>
              <a:buNone/>
            </a:pPr>
            <a:r>
              <a:rPr lang="en-US" altLang="zh-CN" sz="2800" baseline="30000" dirty="0"/>
              <a:t> 		</a:t>
            </a:r>
            <a:r>
              <a:rPr lang="en-US" altLang="zh-CN" sz="2800" dirty="0"/>
              <a:t>     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 (A) = 18</a:t>
            </a:r>
            <a:r>
              <a:rPr lang="en-US" altLang="zh-CN" sz="2800" baseline="30000" dirty="0"/>
              <a:t>  </a:t>
            </a:r>
          </a:p>
          <a:p>
            <a:pPr>
              <a:buNone/>
            </a:pPr>
            <a:endParaRPr lang="en-US" altLang="zh-CN" sz="2800" baseline="30000" dirty="0"/>
          </a:p>
          <a:p>
            <a:pPr>
              <a:buNone/>
            </a:pPr>
            <a:r>
              <a:rPr lang="zh-CN" altLang="en-US" sz="2800" dirty="0"/>
              <a:t>答：气体</a:t>
            </a:r>
            <a:r>
              <a:rPr lang="en-US" altLang="zh-CN" sz="2800" dirty="0"/>
              <a:t>A</a:t>
            </a:r>
            <a:r>
              <a:rPr lang="zh-CN" altLang="en-US" sz="2800" dirty="0"/>
              <a:t>的相对分子质量为</a:t>
            </a:r>
            <a:r>
              <a:rPr lang="en-US" altLang="zh-CN" sz="2800" dirty="0"/>
              <a:t>18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2057400" y="2057400"/>
            <a:ext cx="2656840" cy="785852"/>
            <a:chOff x="1905000" y="3505200"/>
            <a:chExt cx="2656840" cy="785852"/>
          </a:xfrm>
        </p:grpSpPr>
        <p:grpSp>
          <p:nvGrpSpPr>
            <p:cNvPr id="4" name="Group 3"/>
            <p:cNvGrpSpPr/>
            <p:nvPr/>
          </p:nvGrpSpPr>
          <p:grpSpPr>
            <a:xfrm>
              <a:off x="1905000" y="3505200"/>
              <a:ext cx="2656840" cy="785852"/>
              <a:chOff x="2209800" y="1524000"/>
              <a:chExt cx="2656840" cy="785852"/>
            </a:xfrm>
          </p:grpSpPr>
          <p:grpSp>
            <p:nvGrpSpPr>
              <p:cNvPr id="5" name="Group 10"/>
              <p:cNvGrpSpPr/>
              <p:nvPr/>
            </p:nvGrpSpPr>
            <p:grpSpPr>
              <a:xfrm>
                <a:off x="2209800" y="1524000"/>
                <a:ext cx="2656840" cy="768350"/>
                <a:chOff x="2209800" y="1524000"/>
                <a:chExt cx="2656840" cy="768350"/>
              </a:xfrm>
            </p:grpSpPr>
            <p:sp>
              <p:nvSpPr>
                <p:cNvPr id="13" name="TextBox 12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 (O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286000" y="18288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t(A)</a:t>
                  </a:r>
                  <a:endParaRPr lang="en-US" sz="2200" baseline="-25000" dirty="0"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657600" y="1524000"/>
                  <a:ext cx="1209040" cy="7683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(O</a:t>
                  </a:r>
                  <a:r>
                    <a:rPr lang="en-US" altLang="zh-CN" sz="2200" baseline="-25000" dirty="0">
                      <a:sym typeface="+mn-ea"/>
                    </a:rPr>
                    <a:t>2</a:t>
                  </a:r>
                  <a:r>
                    <a:rPr lang="en-US" altLang="zh-CN" sz="2200" dirty="0">
                      <a:sym typeface="+mn-ea"/>
                    </a:rPr>
                    <a:t>)</a:t>
                  </a:r>
                  <a:endParaRPr lang="en-US" sz="2200" dirty="0"/>
                </a:p>
                <a:p>
                  <a:endParaRPr lang="en-US" sz="2200" dirty="0"/>
                </a:p>
              </p:txBody>
            </p:sp>
          </p:grpSp>
          <p:sp>
            <p:nvSpPr>
              <p:cNvPr id="12" name="TextBox 5"/>
              <p:cNvSpPr txBox="1"/>
              <p:nvPr/>
            </p:nvSpPr>
            <p:spPr>
              <a:xfrm>
                <a:off x="3657600" y="1878965"/>
                <a:ext cx="1066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/>
                  <a:t>Mr</a:t>
                </a:r>
                <a:r>
                  <a:rPr lang="en-US" altLang="zh-CN" sz="2200" dirty="0"/>
                  <a:t>(A)</a:t>
                </a:r>
                <a:endParaRPr lang="en-US" sz="22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8" name="Group 3"/>
          <p:cNvGrpSpPr/>
          <p:nvPr/>
        </p:nvGrpSpPr>
        <p:grpSpPr>
          <a:xfrm>
            <a:off x="1752600" y="4141113"/>
            <a:ext cx="2667000" cy="811887"/>
            <a:chOff x="1981200" y="1524000"/>
            <a:chExt cx="2667000" cy="811887"/>
          </a:xfrm>
        </p:grpSpPr>
        <p:grpSp>
          <p:nvGrpSpPr>
            <p:cNvPr id="19" name="Group 24"/>
            <p:cNvGrpSpPr/>
            <p:nvPr/>
          </p:nvGrpSpPr>
          <p:grpSpPr>
            <a:xfrm>
              <a:off x="1981200" y="1524000"/>
              <a:ext cx="2667000" cy="603141"/>
              <a:chOff x="1981200" y="1524000"/>
              <a:chExt cx="2667000" cy="603141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981200" y="1650087"/>
                <a:ext cx="167640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500" dirty="0" err="1"/>
                  <a:t>Mr</a:t>
                </a:r>
                <a:r>
                  <a:rPr lang="en-US" altLang="zh-CN" sz="2500" dirty="0"/>
                  <a:t> (A)    =</a:t>
                </a:r>
                <a:endParaRPr lang="en-US" sz="2500" dirty="0"/>
              </a:p>
            </p:txBody>
          </p:sp>
          <p:cxnSp>
            <p:nvCxnSpPr>
              <p:cNvPr id="29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3733800" y="1524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  9</a:t>
                </a:r>
              </a:p>
            </p:txBody>
          </p:sp>
        </p:grpSp>
        <p:sp>
          <p:nvSpPr>
            <p:cNvPr id="26" name="TextBox 5"/>
            <p:cNvSpPr txBox="1"/>
            <p:nvPr/>
          </p:nvSpPr>
          <p:spPr>
            <a:xfrm>
              <a:off x="3581400" y="1905000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    12</a:t>
              </a:r>
              <a:endParaRPr lang="en-US" sz="2200" dirty="0"/>
            </a:p>
          </p:txBody>
        </p:sp>
      </p:grpSp>
      <p:grpSp>
        <p:nvGrpSpPr>
          <p:cNvPr id="25" name="Group 3"/>
          <p:cNvGrpSpPr/>
          <p:nvPr/>
        </p:nvGrpSpPr>
        <p:grpSpPr>
          <a:xfrm>
            <a:off x="1981200" y="2998113"/>
            <a:ext cx="2946400" cy="735687"/>
            <a:chOff x="1905000" y="3505200"/>
            <a:chExt cx="2946400" cy="735687"/>
          </a:xfrm>
        </p:grpSpPr>
        <p:grpSp>
          <p:nvGrpSpPr>
            <p:cNvPr id="28" name="Group 3"/>
            <p:cNvGrpSpPr/>
            <p:nvPr/>
          </p:nvGrpSpPr>
          <p:grpSpPr>
            <a:xfrm>
              <a:off x="1905000" y="3505200"/>
              <a:ext cx="2946400" cy="735687"/>
              <a:chOff x="2209800" y="1524000"/>
              <a:chExt cx="2946400" cy="735687"/>
            </a:xfrm>
          </p:grpSpPr>
          <p:grpSp>
            <p:nvGrpSpPr>
              <p:cNvPr id="30" name="Group 37"/>
              <p:cNvGrpSpPr/>
              <p:nvPr/>
            </p:nvGrpSpPr>
            <p:grpSpPr>
              <a:xfrm>
                <a:off x="2209800" y="1524000"/>
                <a:ext cx="2819400" cy="735687"/>
                <a:chOff x="2209800" y="1524000"/>
                <a:chExt cx="2819400" cy="735687"/>
              </a:xfrm>
            </p:grpSpPr>
            <p:sp>
              <p:nvSpPr>
                <p:cNvPr id="40" name="TextBox 39"/>
                <p:cNvSpPr txBox="1"/>
                <p:nvPr/>
              </p:nvSpPr>
              <p:spPr>
                <a:xfrm>
                  <a:off x="2209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1</a:t>
                  </a:r>
                  <a:r>
                    <a:rPr lang="en-US" sz="2200" dirty="0"/>
                    <a:t>2min</a:t>
                  </a:r>
                </a:p>
              </p:txBody>
            </p: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8"/>
                <p:cNvCxnSpPr/>
                <p:nvPr/>
              </p:nvCxnSpPr>
              <p:spPr>
                <a:xfrm>
                  <a:off x="3733800" y="1878687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TextBox 42"/>
                <p:cNvSpPr txBox="1"/>
                <p:nvPr/>
              </p:nvSpPr>
              <p:spPr>
                <a:xfrm>
                  <a:off x="2209800" y="1828800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</a:t>
                  </a:r>
                  <a:r>
                    <a:rPr lang="en-US" altLang="zh-CN" sz="2200" dirty="0"/>
                    <a:t>9min</a:t>
                  </a:r>
                  <a:endParaRPr lang="en-US" sz="2200" baseline="-25000" dirty="0"/>
                </a:p>
              </p:txBody>
            </p:sp>
            <p:sp>
              <p:nvSpPr>
                <p:cNvPr id="44" name="TextBox 43"/>
                <p:cNvSpPr txBox="1"/>
                <p:nvPr/>
              </p:nvSpPr>
              <p:spPr>
                <a:xfrm>
                  <a:off x="3657600" y="1524000"/>
                  <a:ext cx="1371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   </a:t>
                  </a:r>
                  <a:r>
                    <a:rPr lang="en-US" altLang="zh-CN" sz="2200" dirty="0"/>
                    <a:t>3</a:t>
                  </a:r>
                  <a:r>
                    <a:rPr lang="en-US" sz="2200" dirty="0"/>
                    <a:t>2</a:t>
                  </a:r>
                </a:p>
              </p:txBody>
            </p:sp>
          </p:grpSp>
          <p:sp>
            <p:nvSpPr>
              <p:cNvPr id="39" name="TextBox 5"/>
              <p:cNvSpPr txBox="1"/>
              <p:nvPr/>
            </p:nvSpPr>
            <p:spPr>
              <a:xfrm>
                <a:off x="3581400" y="1802487"/>
                <a:ext cx="1574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  </a:t>
                </a:r>
                <a:r>
                  <a:rPr lang="en-US" altLang="zh-CN" sz="2200" dirty="0" err="1"/>
                  <a:t>Mr</a:t>
                </a:r>
                <a:r>
                  <a:rPr lang="en-US" altLang="zh-CN" sz="2200" dirty="0"/>
                  <a:t>(A)</a:t>
                </a:r>
                <a:r>
                  <a:rPr lang="en-US" sz="2200" dirty="0"/>
                  <a:t> </a:t>
                </a:r>
              </a:p>
            </p:txBody>
          </p:sp>
        </p:grpSp>
        <p:grpSp>
          <p:nvGrpSpPr>
            <p:cNvPr id="32" name="Group 24"/>
            <p:cNvGrpSpPr/>
            <p:nvPr/>
          </p:nvGrpSpPr>
          <p:grpSpPr>
            <a:xfrm>
              <a:off x="3048000" y="3505200"/>
              <a:ext cx="914400" cy="685800"/>
              <a:chOff x="6477000" y="457200"/>
              <a:chExt cx="914400" cy="68580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23"/>
              <p:cNvGrpSpPr/>
              <p:nvPr/>
            </p:nvGrpSpPr>
            <p:grpSpPr>
              <a:xfrm>
                <a:off x="6477000" y="457200"/>
                <a:ext cx="914400" cy="685800"/>
                <a:chOff x="6477000" y="457200"/>
                <a:chExt cx="914400" cy="685800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6781800" y="457200"/>
                  <a:ext cx="609600" cy="1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678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思考题</a:t>
            </a:r>
            <a:r>
              <a:rPr lang="en-US" altLang="zh-CN" dirty="0"/>
              <a:t>17e</a:t>
            </a:r>
          </a:p>
          <a:p>
            <a:pPr>
              <a:buNone/>
            </a:pPr>
            <a:r>
              <a:rPr lang="en-US" altLang="zh-CN" dirty="0"/>
              <a:t>  </a:t>
            </a:r>
            <a:r>
              <a:rPr lang="zh-CN" altLang="en-US" dirty="0"/>
              <a:t>已知</a:t>
            </a:r>
            <a:r>
              <a:rPr lang="en-US" altLang="zh-CN" dirty="0" err="1"/>
              <a:t>Mr</a:t>
            </a:r>
            <a:r>
              <a:rPr lang="en-US" altLang="zh-CN" dirty="0"/>
              <a:t>(NH</a:t>
            </a:r>
            <a:r>
              <a:rPr lang="en-US" altLang="zh-CN" baseline="-25000" dirty="0"/>
              <a:t>3</a:t>
            </a:r>
            <a:r>
              <a:rPr lang="en-US" altLang="zh-CN" dirty="0"/>
              <a:t>)=17</a:t>
            </a:r>
            <a:r>
              <a:rPr lang="zh-CN" altLang="en-US" dirty="0"/>
              <a:t>；</a:t>
            </a:r>
            <a:r>
              <a:rPr lang="en-US" altLang="zh-CN" dirty="0" err="1"/>
              <a:t>Mr</a:t>
            </a:r>
            <a:r>
              <a:rPr lang="en-US" altLang="zh-CN" dirty="0"/>
              <a:t>(</a:t>
            </a:r>
            <a:r>
              <a:rPr lang="en-US" altLang="zh-CN" dirty="0" err="1"/>
              <a:t>HCl</a:t>
            </a:r>
            <a:r>
              <a:rPr lang="en-US" altLang="zh-CN" dirty="0"/>
              <a:t>) = 36.5</a:t>
            </a:r>
            <a:endParaRPr lang="en-US" dirty="0"/>
          </a:p>
          <a:p>
            <a:pPr>
              <a:buNone/>
            </a:pPr>
            <a:r>
              <a:rPr lang="en-US" dirty="0"/>
              <a:t>	        		</a:t>
            </a:r>
          </a:p>
          <a:p>
            <a:pPr>
              <a:buNone/>
            </a:pPr>
            <a:r>
              <a:rPr lang="en-US" dirty="0"/>
              <a:t>				 =</a:t>
            </a:r>
          </a:p>
          <a:p>
            <a:pPr>
              <a:buNone/>
            </a:pPr>
            <a:r>
              <a:rPr lang="en-US" dirty="0"/>
              <a:t>			        </a:t>
            </a:r>
            <a:r>
              <a:rPr lang="en-US" altLang="zh-CN" dirty="0"/>
              <a:t>			</a:t>
            </a:r>
          </a:p>
          <a:p>
            <a:pPr>
              <a:buNone/>
            </a:pPr>
            <a:r>
              <a:rPr lang="en-US" altLang="zh-CN" dirty="0"/>
              <a:t>  			            </a:t>
            </a:r>
            <a:endParaRPr lang="en-US" altLang="zh-CN" baseline="30000" dirty="0"/>
          </a:p>
          <a:p>
            <a:pP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	     x = 1.47(120-x) </a:t>
            </a:r>
          </a:p>
          <a:p>
            <a:pPr>
              <a:buNone/>
            </a:pPr>
            <a:r>
              <a:rPr lang="en-US" altLang="zh-CN" dirty="0"/>
              <a:t>	             2.47x = 176.4</a:t>
            </a:r>
          </a:p>
          <a:p>
            <a:pPr>
              <a:buNone/>
            </a:pPr>
            <a:r>
              <a:rPr lang="en-US" altLang="zh-CN" dirty="0"/>
              <a:t>			      x = 71.42 (cm)</a:t>
            </a:r>
          </a:p>
          <a:p>
            <a:pPr>
              <a:buNone/>
            </a:pPr>
            <a:r>
              <a:rPr lang="zh-CN" altLang="en-US" dirty="0"/>
              <a:t>答：距离氨气</a:t>
            </a:r>
            <a:r>
              <a:rPr lang="en-US" altLang="zh-CN" dirty="0"/>
              <a:t>71.42cm,</a:t>
            </a:r>
            <a:r>
              <a:rPr lang="zh-CN" altLang="en-US" dirty="0"/>
              <a:t>距离氯化氢</a:t>
            </a:r>
            <a:r>
              <a:rPr lang="en-US" altLang="zh-CN" dirty="0"/>
              <a:t>48.58cm</a:t>
            </a:r>
            <a:r>
              <a:rPr lang="zh-CN" altLang="en-US" dirty="0"/>
              <a:t>。</a:t>
            </a:r>
            <a:r>
              <a:rPr lang="en-US" altLang="zh-CN" sz="3600" b="1" dirty="0">
                <a:solidFill>
                  <a:srgbClr val="C00000"/>
                </a:solidFill>
              </a:rPr>
              <a:t>A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2667000" y="2590800"/>
            <a:ext cx="1905000" cy="980420"/>
            <a:chOff x="2362200" y="3402687"/>
            <a:chExt cx="1905000" cy="980420"/>
          </a:xfrm>
        </p:grpSpPr>
        <p:grpSp>
          <p:nvGrpSpPr>
            <p:cNvPr id="4" name="Group 3"/>
            <p:cNvGrpSpPr/>
            <p:nvPr/>
          </p:nvGrpSpPr>
          <p:grpSpPr>
            <a:xfrm>
              <a:off x="2362200" y="3402687"/>
              <a:ext cx="1905000" cy="980420"/>
              <a:chOff x="2667000" y="1421487"/>
              <a:chExt cx="1905000" cy="980420"/>
            </a:xfrm>
          </p:grpSpPr>
          <p:grpSp>
            <p:nvGrpSpPr>
              <p:cNvPr id="5" name="Group 24"/>
              <p:cNvGrpSpPr/>
              <p:nvPr/>
            </p:nvGrpSpPr>
            <p:grpSpPr>
              <a:xfrm>
                <a:off x="2667000" y="1421487"/>
                <a:ext cx="1905000" cy="874931"/>
                <a:chOff x="2667000" y="1421487"/>
                <a:chExt cx="1905000" cy="874931"/>
              </a:xfrm>
            </p:grpSpPr>
            <p:sp>
              <p:nvSpPr>
                <p:cNvPr id="27" name="TextBox 26"/>
                <p:cNvSpPr txBox="1"/>
                <p:nvPr/>
              </p:nvSpPr>
              <p:spPr>
                <a:xfrm>
                  <a:off x="2667000" y="1650087"/>
                  <a:ext cx="838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3600" dirty="0"/>
                    <a:t>    =</a:t>
                  </a:r>
                  <a:endParaRPr lang="en-US" sz="3600" dirty="0"/>
                </a:p>
              </p:txBody>
            </p:sp>
            <p:cxnSp>
              <p:nvCxnSpPr>
                <p:cNvPr id="29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657600" y="1421487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36.5</a:t>
                  </a:r>
                  <a:endParaRPr lang="en-US" sz="2800" dirty="0"/>
                </a:p>
              </p:txBody>
            </p:sp>
          </p:grpSp>
          <p:sp>
            <p:nvSpPr>
              <p:cNvPr id="26" name="TextBox 5"/>
              <p:cNvSpPr txBox="1"/>
              <p:nvPr/>
            </p:nvSpPr>
            <p:spPr>
              <a:xfrm>
                <a:off x="3581400" y="1878687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17</a:t>
                </a:r>
                <a:endParaRPr lang="en-US" sz="2800" dirty="0"/>
              </a:p>
            </p:txBody>
          </p:sp>
        </p:grpSp>
        <p:grpSp>
          <p:nvGrpSpPr>
            <p:cNvPr id="6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9" name="Group 47"/>
          <p:cNvGrpSpPr/>
          <p:nvPr/>
        </p:nvGrpSpPr>
        <p:grpSpPr>
          <a:xfrm>
            <a:off x="1752600" y="1752600"/>
            <a:ext cx="3810000" cy="918865"/>
            <a:chOff x="1752600" y="1752600"/>
            <a:chExt cx="3810000" cy="918865"/>
          </a:xfrm>
        </p:grpSpPr>
        <p:grpSp>
          <p:nvGrpSpPr>
            <p:cNvPr id="11" name="Group 3"/>
            <p:cNvGrpSpPr/>
            <p:nvPr/>
          </p:nvGrpSpPr>
          <p:grpSpPr>
            <a:xfrm>
              <a:off x="1752600" y="1752600"/>
              <a:ext cx="3810000" cy="918865"/>
              <a:chOff x="1905000" y="3474422"/>
              <a:chExt cx="2565400" cy="918865"/>
            </a:xfrm>
          </p:grpSpPr>
          <p:grpSp>
            <p:nvGrpSpPr>
              <p:cNvPr id="15" name="Group 3"/>
              <p:cNvGrpSpPr/>
              <p:nvPr/>
            </p:nvGrpSpPr>
            <p:grpSpPr>
              <a:xfrm>
                <a:off x="1905000" y="3474422"/>
                <a:ext cx="2565400" cy="918865"/>
                <a:chOff x="2209800" y="1493222"/>
                <a:chExt cx="2565400" cy="918865"/>
              </a:xfrm>
            </p:grpSpPr>
            <p:grpSp>
              <p:nvGrpSpPr>
                <p:cNvPr id="18" name="Group 10"/>
                <p:cNvGrpSpPr/>
                <p:nvPr/>
              </p:nvGrpSpPr>
              <p:grpSpPr>
                <a:xfrm>
                  <a:off x="2209800" y="1493222"/>
                  <a:ext cx="2565400" cy="904220"/>
                  <a:chOff x="2209800" y="1493222"/>
                  <a:chExt cx="2565400" cy="904220"/>
                </a:xfrm>
              </p:grpSpPr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286000" y="1493222"/>
                    <a:ext cx="8382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s (NH</a:t>
                    </a:r>
                    <a:r>
                      <a:rPr lang="en-US" altLang="zh-CN" sz="2800" baseline="-25000" dirty="0"/>
                      <a:t>3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  <p:cxnSp>
                <p:nvCxnSpPr>
                  <p:cNvPr id="14" name="Straight Connector 13"/>
                  <p:cNvCxnSpPr/>
                  <p:nvPr/>
                </p:nvCxnSpPr>
                <p:spPr>
                  <a:xfrm>
                    <a:off x="2209800" y="1905000"/>
                    <a:ext cx="838200" cy="1588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286000" y="1874222"/>
                    <a:ext cx="10922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s(</a:t>
                    </a:r>
                    <a:r>
                      <a:rPr lang="en-US" altLang="zh-CN" sz="2800" dirty="0" err="1"/>
                      <a:t>HCl</a:t>
                    </a:r>
                    <a:r>
                      <a:rPr lang="en-US" altLang="zh-CN" sz="2800" dirty="0"/>
                      <a:t> 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3632200" y="1493222"/>
                    <a:ext cx="11430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400" dirty="0"/>
                      <a:t>M(</a:t>
                    </a:r>
                    <a:r>
                      <a:rPr lang="en-US" altLang="zh-CN" sz="2800" dirty="0" err="1"/>
                      <a:t>HCl</a:t>
                    </a:r>
                    <a:r>
                      <a:rPr lang="en-US" altLang="zh-CN" sz="2400" dirty="0"/>
                      <a:t>)</a:t>
                    </a:r>
                    <a:endParaRPr lang="en-US" sz="2400" dirty="0"/>
                  </a:p>
                </p:txBody>
              </p:sp>
            </p:grpSp>
            <p:sp>
              <p:nvSpPr>
                <p:cNvPr id="12" name="TextBox 5"/>
                <p:cNvSpPr txBox="1"/>
                <p:nvPr/>
              </p:nvSpPr>
              <p:spPr>
                <a:xfrm>
                  <a:off x="3632200" y="1950422"/>
                  <a:ext cx="9144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/>
                    <a:t>M(NH</a:t>
                  </a:r>
                  <a:r>
                    <a:rPr lang="en-US" altLang="zh-CN" sz="2400" baseline="-25000" dirty="0"/>
                    <a:t>3</a:t>
                  </a:r>
                  <a:r>
                    <a:rPr lang="en-US" altLang="zh-CN" sz="2400" dirty="0"/>
                    <a:t>)</a:t>
                  </a:r>
                  <a:endParaRPr lang="en-US" sz="2400" dirty="0"/>
                </a:p>
              </p:txBody>
            </p:sp>
          </p:grpSp>
          <p:grpSp>
            <p:nvGrpSpPr>
              <p:cNvPr id="19" name="Group 24"/>
              <p:cNvGrpSpPr/>
              <p:nvPr/>
            </p:nvGrpSpPr>
            <p:grpSpPr>
              <a:xfrm>
                <a:off x="3048000" y="3505200"/>
                <a:ext cx="304800" cy="685800"/>
                <a:chOff x="6477000" y="457200"/>
                <a:chExt cx="304800" cy="685800"/>
              </a:xfrm>
            </p:grpSpPr>
            <p:cxnSp>
              <p:nvCxnSpPr>
                <p:cNvPr id="7" name="Straight Connector 6"/>
                <p:cNvCxnSpPr/>
                <p:nvPr/>
              </p:nvCxnSpPr>
              <p:spPr>
                <a:xfrm rot="5400000">
                  <a:off x="6362700" y="723900"/>
                  <a:ext cx="685800" cy="1524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6" name="Straight Connector 45"/>
            <p:cNvCxnSpPr/>
            <p:nvPr/>
          </p:nvCxnSpPr>
          <p:spPr>
            <a:xfrm>
              <a:off x="3886200" y="1752600"/>
              <a:ext cx="100584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47160" y="2208212"/>
              <a:ext cx="100584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1828800" y="2667000"/>
            <a:ext cx="1219200" cy="914400"/>
            <a:chOff x="1295400" y="4995446"/>
            <a:chExt cx="1219200" cy="914400"/>
          </a:xfrm>
        </p:grpSpPr>
        <p:sp>
          <p:nvSpPr>
            <p:cNvPr id="32" name="TextBox 31"/>
            <p:cNvSpPr txBox="1"/>
            <p:nvPr/>
          </p:nvSpPr>
          <p:spPr>
            <a:xfrm>
              <a:off x="1641042" y="4995446"/>
              <a:ext cx="3401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64941" y="5386626"/>
              <a:ext cx="9989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120-x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295400" y="5434925"/>
              <a:ext cx="1219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17.3.4 </a:t>
            </a:r>
            <a:r>
              <a:rPr lang="zh-CN" altLang="en-US" dirty="0"/>
              <a:t>盖</a:t>
            </a:r>
            <a:r>
              <a:rPr lang="en-US" altLang="zh-CN" dirty="0"/>
              <a:t>·</a:t>
            </a:r>
            <a:r>
              <a:rPr lang="zh-CN" altLang="en-US" dirty="0"/>
              <a:t>吕萨克定律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在化学反应里，如果</a:t>
            </a:r>
            <a:r>
              <a:rPr lang="zh-CN" altLang="en-US" sz="2800" b="1" dirty="0">
                <a:solidFill>
                  <a:srgbClr val="002060"/>
                </a:solidFill>
              </a:rPr>
              <a:t>温度和压强保持不变</a:t>
            </a:r>
            <a:r>
              <a:rPr lang="zh-CN" altLang="en-US" sz="2800" dirty="0"/>
              <a:t>，参加反应的和生成的各种</a:t>
            </a:r>
            <a:r>
              <a:rPr lang="zh-CN" altLang="en-US" sz="2800" b="1" dirty="0">
                <a:solidFill>
                  <a:srgbClr val="C00000"/>
                </a:solidFill>
              </a:rPr>
              <a:t>气体</a:t>
            </a:r>
            <a:r>
              <a:rPr lang="zh-CN" altLang="en-US" sz="2800" dirty="0"/>
              <a:t>之间的体积互成简单的整数比。又称气体反应体积定律。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2CO</a:t>
            </a:r>
            <a:r>
              <a:rPr lang="en-MY" altLang="zh-CN" sz="2800" dirty="0"/>
              <a:t>(g)</a:t>
            </a:r>
            <a:r>
              <a:rPr lang="en-US" altLang="zh-CN" sz="2800" dirty="0"/>
              <a:t> +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MY" altLang="zh-CN" sz="2800" dirty="0"/>
              <a:t>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anose="05000000000000000000" pitchFamily="2" charset="2"/>
              </a:rPr>
              <a:t> 2CO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MY" altLang="zh-CN" sz="2800" dirty="0"/>
              <a:t> (g)</a:t>
            </a:r>
            <a:r>
              <a:rPr lang="en-US" altLang="zh-CN" sz="2800" dirty="0"/>
              <a:t> </a:t>
            </a:r>
            <a:endParaRPr lang="en-US" altLang="zh-CN" sz="2800" baseline="-25000" dirty="0"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CN" sz="2800" baseline="-25000" dirty="0"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sym typeface="Wingdings" panose="05000000000000000000" pitchFamily="2" charset="2"/>
              </a:rPr>
              <a:t> N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 </a:t>
            </a:r>
            <a:r>
              <a:rPr lang="en-MY" altLang="zh-CN" sz="2800" dirty="0"/>
              <a:t>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anose="05000000000000000000" pitchFamily="2" charset="2"/>
              </a:rPr>
              <a:t>+ 3H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 </a:t>
            </a:r>
            <a:r>
              <a:rPr lang="en-MY" altLang="zh-CN" sz="2800" dirty="0"/>
              <a:t>(g)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anose="05000000000000000000" pitchFamily="2" charset="2"/>
              </a:rPr>
              <a:t> 2NH</a:t>
            </a:r>
            <a:r>
              <a:rPr lang="en-US" altLang="zh-CN" sz="2800" baseline="-25000" dirty="0">
                <a:sym typeface="Wingdings" panose="05000000000000000000" pitchFamily="2" charset="2"/>
              </a:rPr>
              <a:t>3</a:t>
            </a:r>
            <a:r>
              <a:rPr lang="en-MY" altLang="zh-CN" sz="2800" dirty="0"/>
              <a:t> (g)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zh-CN" altLang="en-US" sz="2800" dirty="0"/>
              <a:t>问题解决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1. 	2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2</a:t>
            </a:r>
          </a:p>
          <a:p>
            <a:pPr marL="514350" indent="-514350">
              <a:buAutoNum type="arabicPeriod" startAt="2"/>
            </a:pPr>
            <a:r>
              <a:rPr lang="en-US" altLang="zh-CN" sz="2800" dirty="0"/>
              <a:t> 	1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2</a:t>
            </a:r>
          </a:p>
          <a:p>
            <a:pPr marL="514350" indent="-514350">
              <a:buAutoNum type="arabicPeriod" startAt="2"/>
            </a:pPr>
            <a:r>
              <a:rPr lang="en-US" altLang="zh-CN" sz="2800" dirty="0"/>
              <a:t> 	3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/>
              <a:t>2</a:t>
            </a:r>
          </a:p>
          <a:p>
            <a:pPr marL="514350" indent="-514350"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800" dirty="0"/>
              <a:t>17.4 </a:t>
            </a:r>
            <a:r>
              <a:rPr lang="zh-CN" altLang="en-US" sz="3800" dirty="0"/>
              <a:t>阿伏加德罗定律和气体摩尔体积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dirty="0"/>
              <a:t>17.4.1 </a:t>
            </a:r>
            <a:r>
              <a:rPr lang="zh-CN" altLang="en-US" dirty="0"/>
              <a:t>气体摩尔体积（</a:t>
            </a:r>
            <a:r>
              <a:rPr lang="en-US" altLang="zh-CN" dirty="0"/>
              <a:t>pg21-24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在标准状况下，</a:t>
            </a:r>
            <a:r>
              <a:rPr lang="en-US" altLang="zh-CN" dirty="0"/>
              <a:t>1mol</a:t>
            </a:r>
            <a:r>
              <a:rPr lang="zh-CN" altLang="en-US" dirty="0"/>
              <a:t>的任何气体所占的体积都约是</a:t>
            </a:r>
            <a:r>
              <a:rPr lang="en-US" altLang="zh-CN" dirty="0"/>
              <a:t>22.4L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标准状况</a:t>
            </a:r>
            <a:r>
              <a:rPr lang="en-US" altLang="zh-CN" dirty="0"/>
              <a:t>STP(standard temperature and pressure)</a:t>
            </a:r>
          </a:p>
          <a:p>
            <a:pPr lvl="2"/>
            <a:r>
              <a:rPr lang="en-US" altLang="zh-CN" sz="2800" dirty="0"/>
              <a:t>T=273K </a:t>
            </a:r>
            <a:r>
              <a:rPr lang="zh-CN" altLang="en-US" sz="2800" dirty="0"/>
              <a:t>、 </a:t>
            </a:r>
            <a:r>
              <a:rPr lang="en-US" altLang="zh-CN" sz="2800" dirty="0"/>
              <a:t>p=1.01x10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dirty="0"/>
              <a:t>为什么</a:t>
            </a:r>
            <a:r>
              <a:rPr lang="en-US" altLang="zh-CN" dirty="0"/>
              <a:t>1mol</a:t>
            </a:r>
            <a:r>
              <a:rPr lang="zh-CN" altLang="en-US" dirty="0"/>
              <a:t>固体、液体的体积各不同，而</a:t>
            </a:r>
            <a:r>
              <a:rPr lang="en-US" altLang="zh-CN" dirty="0"/>
              <a:t>1mol</a:t>
            </a:r>
            <a:r>
              <a:rPr lang="zh-CN" altLang="en-US" dirty="0"/>
              <a:t>气体在标准状况下体积相同呢？</a:t>
            </a:r>
            <a:endParaRPr lang="en-US" altLang="zh-CN" dirty="0"/>
          </a:p>
          <a:p>
            <a:pPr lvl="1"/>
            <a:r>
              <a:rPr lang="zh-CN" altLang="en-US" dirty="0"/>
              <a:t>气体体积主要决定于分子间的平均距离，而液体或固体体积主要决定于构成它们的微粒的大小。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002060"/>
                </a:solidFill>
              </a:rPr>
              <a:t>STP</a:t>
            </a:r>
            <a:r>
              <a:rPr lang="zh-CN" altLang="en-US" b="1" dirty="0">
                <a:solidFill>
                  <a:srgbClr val="002060"/>
                </a:solidFill>
              </a:rPr>
              <a:t>时</a:t>
            </a:r>
            <a:r>
              <a:rPr lang="zh-CN" altLang="en-US" dirty="0"/>
              <a:t>，不同气体的分子间平均距离几乎是相等的。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17.4 .1 </a:t>
            </a:r>
            <a:r>
              <a:rPr lang="zh-CN" altLang="en-US" sz="3800" dirty="0"/>
              <a:t>气体摩尔体积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839200" cy="525780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zh-CN" altLang="en-US" sz="3200" dirty="0"/>
              <a:t>问题解决</a:t>
            </a:r>
            <a:r>
              <a:rPr lang="en-US" altLang="zh-CN" sz="3200" dirty="0"/>
              <a:t>pg 22 </a:t>
            </a:r>
          </a:p>
          <a:p>
            <a:pPr lvl="1"/>
            <a:r>
              <a:rPr lang="zh-CN" altLang="en-US" sz="3200" dirty="0"/>
              <a:t>通过计算得知</a:t>
            </a:r>
            <a:r>
              <a:rPr lang="en-US" altLang="zh-CN" sz="3200" dirty="0"/>
              <a:t>1mol</a:t>
            </a:r>
            <a:r>
              <a:rPr lang="zh-CN" altLang="en-US" sz="3200" dirty="0"/>
              <a:t>的固态或液态物质的体积</a:t>
            </a:r>
            <a:r>
              <a:rPr lang="zh-CN" altLang="en-US" sz="3200" b="1" dirty="0">
                <a:solidFill>
                  <a:srgbClr val="002060"/>
                </a:solidFill>
              </a:rPr>
              <a:t>不同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sz="3200" dirty="0"/>
              <a:t>问题解决</a:t>
            </a:r>
            <a:r>
              <a:rPr lang="en-US" altLang="zh-CN" sz="3200" dirty="0"/>
              <a:t>pg23</a:t>
            </a:r>
          </a:p>
          <a:p>
            <a:pPr lvl="1"/>
            <a:r>
              <a:rPr lang="zh-CN" altLang="en-US" sz="3200" dirty="0"/>
              <a:t>通过计算得知</a:t>
            </a:r>
            <a:r>
              <a:rPr lang="en-US" altLang="zh-CN" sz="3200" dirty="0"/>
              <a:t>1mol</a:t>
            </a:r>
            <a:r>
              <a:rPr lang="zh-CN" altLang="en-US" sz="3200" dirty="0"/>
              <a:t>的气态物质的体积</a:t>
            </a:r>
            <a:r>
              <a:rPr lang="zh-CN" altLang="en-US" sz="3200" b="1" dirty="0">
                <a:solidFill>
                  <a:srgbClr val="002060"/>
                </a:solidFill>
              </a:rPr>
              <a:t>相同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lvl="1">
              <a:buNone/>
            </a:pPr>
            <a:endParaRPr lang="en-US" altLang="zh-CN" sz="3200" dirty="0"/>
          </a:p>
          <a:p>
            <a:pPr lvl="1">
              <a:buNone/>
            </a:pP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800" dirty="0"/>
              <a:t>思考题</a:t>
            </a:r>
            <a:r>
              <a:rPr lang="en-US" altLang="zh-CN" sz="3800" dirty="0"/>
              <a:t>17f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839200" cy="5257800"/>
          </a:xfrm>
        </p:spPr>
        <p:txBody>
          <a:bodyPr>
            <a:normAutofit/>
          </a:bodyPr>
          <a:lstStyle/>
          <a:p>
            <a:pPr marL="971550" lvl="1" indent="-514350">
              <a:buAutoNum type="arabicPeriod"/>
            </a:pPr>
            <a:r>
              <a:rPr lang="en-US" altLang="zh-CN" sz="3200" dirty="0"/>
              <a:t>C</a:t>
            </a:r>
          </a:p>
          <a:p>
            <a:pPr marL="971550" lvl="1" indent="-514350">
              <a:buAutoNum type="arabicPeriod"/>
            </a:pPr>
            <a:r>
              <a:rPr lang="en-US" altLang="zh-CN" sz="3200" dirty="0"/>
              <a:t>D</a:t>
            </a:r>
          </a:p>
          <a:p>
            <a:pPr marL="971550" lvl="1" indent="-514350">
              <a:buAutoNum type="arabicPeriod"/>
            </a:pPr>
            <a:r>
              <a:rPr lang="en-US" altLang="zh-CN" sz="3200" dirty="0"/>
              <a:t>1. X 	</a:t>
            </a:r>
            <a:r>
              <a:rPr lang="zh-CN" altLang="en-US" sz="3200" dirty="0"/>
              <a:t>（</a:t>
            </a:r>
            <a:r>
              <a:rPr lang="en-US" altLang="zh-CN" sz="3200" dirty="0"/>
              <a:t>1mol</a:t>
            </a:r>
            <a:r>
              <a:rPr lang="zh-CN" altLang="en-US" sz="3200" dirty="0"/>
              <a:t>）</a:t>
            </a:r>
            <a:endParaRPr lang="en-US" altLang="zh-CN" sz="3200" dirty="0"/>
          </a:p>
          <a:p>
            <a:pPr marL="971550" lvl="1" indent="-514350">
              <a:buNone/>
            </a:pPr>
            <a:r>
              <a:rPr lang="en-US" altLang="zh-CN" sz="3200" dirty="0"/>
              <a:t>	2. X	</a:t>
            </a:r>
            <a:r>
              <a:rPr lang="zh-CN" altLang="en-US" sz="3200" dirty="0"/>
              <a:t>（水在</a:t>
            </a:r>
            <a:r>
              <a:rPr lang="en-US" altLang="zh-CN" sz="3200" dirty="0"/>
              <a:t>STP</a:t>
            </a:r>
            <a:r>
              <a:rPr lang="zh-CN" altLang="en-US" sz="3200" dirty="0"/>
              <a:t>时不是气态）</a:t>
            </a:r>
            <a:endParaRPr lang="en-US" altLang="zh-CN" sz="3200" dirty="0"/>
          </a:p>
          <a:p>
            <a:pPr marL="971550" lvl="1" indent="-514350">
              <a:buNone/>
            </a:pPr>
            <a:r>
              <a:rPr lang="en-US" altLang="zh-CN" sz="3200" dirty="0"/>
              <a:t>	3. X	</a:t>
            </a:r>
            <a:r>
              <a:rPr lang="zh-CN" altLang="en-US" sz="3200" dirty="0"/>
              <a:t>（需考虑压强）</a:t>
            </a:r>
            <a:endParaRPr lang="en-US" altLang="zh-CN" sz="3200" dirty="0"/>
          </a:p>
          <a:p>
            <a:pPr marL="971550" lvl="1" indent="-514350">
              <a:buNone/>
            </a:pPr>
            <a:r>
              <a:rPr lang="en-US" altLang="zh-CN" sz="3200" dirty="0"/>
              <a:t>	4. </a:t>
            </a:r>
            <a:r>
              <a:rPr lang="zh-CN" altLang="en-US" sz="3200" dirty="0"/>
              <a:t>对</a:t>
            </a:r>
            <a:r>
              <a:rPr lang="en-US" altLang="zh-CN" sz="3200" dirty="0"/>
              <a:t>	</a:t>
            </a:r>
            <a:r>
              <a:rPr lang="zh-CN" altLang="en-US" sz="3200" dirty="0"/>
              <a:t>（相同条件即</a:t>
            </a:r>
            <a:r>
              <a:rPr lang="en-US" altLang="zh-CN" sz="3200" dirty="0" err="1"/>
              <a:t>T&amp;p</a:t>
            </a:r>
            <a:r>
              <a:rPr lang="zh-CN" altLang="en-US" sz="3200" dirty="0"/>
              <a:t>相同）</a:t>
            </a:r>
            <a:endParaRPr lang="en-US" altLang="zh-CN" sz="3200" dirty="0"/>
          </a:p>
          <a:p>
            <a:pPr lvl="1">
              <a:buNone/>
            </a:pPr>
            <a:endParaRPr lang="en-US" altLang="zh-CN" sz="3200" dirty="0"/>
          </a:p>
          <a:p>
            <a:pPr lvl="1">
              <a:buNone/>
            </a:pP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17.4.2 </a:t>
            </a:r>
            <a:r>
              <a:rPr lang="zh-CN" altLang="en-US" sz="3800" dirty="0"/>
              <a:t>阿伏加德罗定律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图</a:t>
            </a:r>
            <a:r>
              <a:rPr lang="en-US" altLang="zh-CN" sz="2800" dirty="0"/>
              <a:t>17-28</a:t>
            </a:r>
          </a:p>
          <a:p>
            <a:pPr>
              <a:buNone/>
            </a:pPr>
            <a:r>
              <a:rPr lang="zh-CN" altLang="en-US" sz="2800" dirty="0"/>
              <a:t>气体体积热胀冷缩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图</a:t>
            </a:r>
            <a:r>
              <a:rPr lang="en-US" altLang="zh-CN" sz="2800" dirty="0"/>
              <a:t>17-29</a:t>
            </a:r>
          </a:p>
          <a:p>
            <a:pPr>
              <a:buNone/>
            </a:pPr>
            <a:r>
              <a:rPr lang="zh-CN" altLang="en-US" sz="2800" dirty="0"/>
              <a:t>气体体积与压强成反比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总结：若温度或压强改变，气体分子间距离会改变（体积会变）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b="1" dirty="0">
                <a:solidFill>
                  <a:srgbClr val="002060"/>
                </a:solidFill>
              </a:rPr>
              <a:t>阿伏加德罗定律：</a:t>
            </a:r>
            <a:r>
              <a:rPr lang="zh-CN" altLang="en-US" sz="2800" b="1" dirty="0">
                <a:solidFill>
                  <a:srgbClr val="7030A0"/>
                </a:solidFill>
              </a:rPr>
              <a:t>同</a:t>
            </a:r>
            <a:r>
              <a:rPr lang="zh-CN" altLang="en-US" sz="2800" b="1" dirty="0">
                <a:solidFill>
                  <a:srgbClr val="002060"/>
                </a:solidFill>
              </a:rPr>
              <a:t>温</a:t>
            </a:r>
            <a:r>
              <a:rPr lang="zh-CN" altLang="en-US" sz="2800" b="1" dirty="0">
                <a:solidFill>
                  <a:srgbClr val="7030A0"/>
                </a:solidFill>
              </a:rPr>
              <a:t>同</a:t>
            </a:r>
            <a:r>
              <a:rPr lang="zh-CN" altLang="en-US" sz="2800" b="1" dirty="0">
                <a:solidFill>
                  <a:srgbClr val="002060"/>
                </a:solidFill>
              </a:rPr>
              <a:t>压下，具有相</a:t>
            </a:r>
            <a:r>
              <a:rPr lang="zh-CN" altLang="en-US" sz="2800" b="1" dirty="0">
                <a:solidFill>
                  <a:srgbClr val="7030A0"/>
                </a:solidFill>
              </a:rPr>
              <a:t>同</a:t>
            </a:r>
            <a:r>
              <a:rPr lang="zh-CN" altLang="en-US" sz="2800" b="1" dirty="0">
                <a:solidFill>
                  <a:srgbClr val="002060"/>
                </a:solidFill>
              </a:rPr>
              <a:t>分子数的任何气体都具有相</a:t>
            </a:r>
            <a:r>
              <a:rPr lang="zh-CN" altLang="en-US" sz="2800" b="1" dirty="0">
                <a:solidFill>
                  <a:srgbClr val="7030A0"/>
                </a:solidFill>
              </a:rPr>
              <a:t>同</a:t>
            </a:r>
            <a:r>
              <a:rPr lang="zh-CN" altLang="en-US" sz="2800" b="1" dirty="0">
                <a:solidFill>
                  <a:srgbClr val="002060"/>
                </a:solidFill>
              </a:rPr>
              <a:t>的体积。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en-US" altLang="zh-CN" sz="2800" b="1" dirty="0">
              <a:solidFill>
                <a:srgbClr val="00206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590800" y="5410200"/>
            <a:ext cx="2209800" cy="762000"/>
            <a:chOff x="2362200" y="2895600"/>
            <a:chExt cx="2209800" cy="762000"/>
          </a:xfrm>
        </p:grpSpPr>
        <p:grpSp>
          <p:nvGrpSpPr>
            <p:cNvPr id="6" name="Group 4"/>
            <p:cNvGrpSpPr/>
            <p:nvPr/>
          </p:nvGrpSpPr>
          <p:grpSpPr>
            <a:xfrm>
              <a:off x="2362200" y="2895600"/>
              <a:ext cx="2209800" cy="762000"/>
              <a:chOff x="2209800" y="1524000"/>
              <a:chExt cx="2209800" cy="762000"/>
            </a:xfrm>
          </p:grpSpPr>
          <p:grpSp>
            <p:nvGrpSpPr>
              <p:cNvPr id="8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N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N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V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17.4.2 </a:t>
            </a:r>
            <a:r>
              <a:rPr lang="zh-CN" altLang="en-US" sz="3800" dirty="0"/>
              <a:t>阿伏加德罗定律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zh-CN" altLang="en-US" sz="3200" dirty="0"/>
              <a:t>例</a:t>
            </a:r>
            <a:r>
              <a:rPr lang="en-US" altLang="zh-CN" sz="3200" dirty="0"/>
              <a:t>4</a:t>
            </a:r>
            <a:r>
              <a:rPr lang="zh-CN" altLang="en-US" sz="3200" dirty="0"/>
              <a:t>：</a:t>
            </a:r>
            <a:endParaRPr lang="en-US" altLang="zh-CN" sz="3200" dirty="0"/>
          </a:p>
          <a:p>
            <a:pPr lvl="1">
              <a:buNone/>
            </a:pPr>
            <a:r>
              <a:rPr lang="en-US" altLang="zh-CN" sz="3200" dirty="0"/>
              <a:t> 			 X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 +       Y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 </a:t>
            </a:r>
            <a:r>
              <a:rPr lang="en-US" altLang="zh-CN" sz="3200" dirty="0">
                <a:sym typeface="Wingdings" panose="05000000000000000000" pitchFamily="2" charset="2"/>
              </a:rPr>
              <a:t>       </a:t>
            </a:r>
            <a:r>
              <a:rPr lang="en-US" altLang="zh-CN" sz="3200" dirty="0" err="1">
                <a:sym typeface="Wingdings" panose="05000000000000000000" pitchFamily="2" charset="2"/>
              </a:rPr>
              <a:t>X</a:t>
            </a:r>
            <a:r>
              <a:rPr lang="en-US" altLang="zh-CN" sz="3200" baseline="-25000" dirty="0" err="1">
                <a:sym typeface="Wingdings" panose="05000000000000000000" pitchFamily="2" charset="2"/>
              </a:rPr>
              <a:t>a</a:t>
            </a:r>
            <a:r>
              <a:rPr lang="en-US" altLang="zh-CN" sz="3200" dirty="0" err="1">
                <a:sym typeface="Wingdings" panose="05000000000000000000" pitchFamily="2" charset="2"/>
              </a:rPr>
              <a:t>Y</a:t>
            </a:r>
            <a:r>
              <a:rPr lang="en-US" altLang="zh-CN" sz="3200" baseline="-25000" dirty="0" err="1">
                <a:sym typeface="Wingdings" panose="05000000000000000000" pitchFamily="2" charset="2"/>
              </a:rPr>
              <a:t>b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a=1</a:t>
            </a: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b=3 </a:t>
            </a:r>
          </a:p>
          <a:p>
            <a:pPr lvl="1">
              <a:buNone/>
            </a:pPr>
            <a:r>
              <a:rPr lang="zh-CN" altLang="en-US" sz="3200" dirty="0">
                <a:sym typeface="Wingdings" panose="05000000000000000000" pitchFamily="2" charset="2"/>
              </a:rPr>
              <a:t>化学式：</a:t>
            </a:r>
            <a:r>
              <a:rPr lang="en-US" altLang="zh-CN" sz="3200" dirty="0">
                <a:sym typeface="Wingdings" panose="05000000000000000000" pitchFamily="2" charset="2"/>
              </a:rPr>
              <a:t>XY</a:t>
            </a:r>
            <a:r>
              <a:rPr lang="en-US" altLang="zh-CN" sz="3200" baseline="-25000" dirty="0">
                <a:sym typeface="Wingdings" panose="05000000000000000000" pitchFamily="2" charset="2"/>
              </a:rPr>
              <a:t>3</a:t>
            </a:r>
            <a:r>
              <a:rPr lang="en-US" altLang="zh-CN" sz="3200" dirty="0">
                <a:sym typeface="Wingdings" panose="05000000000000000000" pitchFamily="2" charset="2"/>
              </a:rPr>
              <a:t> </a:t>
            </a: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			   </a:t>
            </a:r>
            <a:r>
              <a:rPr lang="zh-CN" altLang="en-US" sz="3200" dirty="0">
                <a:sym typeface="Wingdings" panose="05000000000000000000" pitchFamily="2" charset="2"/>
              </a:rPr>
              <a:t>或</a:t>
            </a:r>
            <a:r>
              <a:rPr lang="en-US" altLang="zh-CN" sz="3200" dirty="0">
                <a:sym typeface="Wingdings" panose="05000000000000000000" pitchFamily="2" charset="2"/>
              </a:rPr>
              <a:t>Y</a:t>
            </a:r>
            <a:r>
              <a:rPr lang="en-US" altLang="zh-CN" sz="3200" baseline="-25000" dirty="0">
                <a:sym typeface="Wingdings" panose="05000000000000000000" pitchFamily="2" charset="2"/>
              </a:rPr>
              <a:t>3</a:t>
            </a:r>
            <a:r>
              <a:rPr lang="en-US" altLang="zh-CN" sz="3200" dirty="0">
                <a:sym typeface="Wingdings" panose="05000000000000000000" pitchFamily="2" charset="2"/>
              </a:rPr>
              <a:t>X</a:t>
            </a:r>
            <a:endParaRPr lang="en-US" altLang="zh-C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1905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2144" y="1905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2344" y="1905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/>
      <p:bldP spid="6" grpId="0" uiExpand="1"/>
      <p:bldP spid="7" grpId="0" uiExpan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800" dirty="0"/>
              <a:t>思考题</a:t>
            </a:r>
            <a:r>
              <a:rPr lang="en-US" altLang="zh-CN" sz="3800" dirty="0"/>
              <a:t>17g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839200" cy="5257800"/>
          </a:xfrm>
        </p:spPr>
        <p:txBody>
          <a:bodyPr>
            <a:normAutofit/>
          </a:bodyPr>
          <a:lstStyle/>
          <a:p>
            <a:pPr marL="971550" lvl="1" indent="-514350">
              <a:buAutoNum type="arabicPeriod"/>
            </a:pPr>
            <a:r>
              <a:rPr lang="en-US" altLang="zh-CN" sz="3200" dirty="0"/>
              <a:t>A </a:t>
            </a:r>
          </a:p>
          <a:p>
            <a:pPr marL="971550" lvl="1" indent="-514350">
              <a:buAutoNum type="arabicPeriod"/>
            </a:pPr>
            <a:r>
              <a:rPr lang="en-US" altLang="zh-CN" sz="3200" dirty="0"/>
              <a:t>B </a:t>
            </a:r>
          </a:p>
          <a:p>
            <a:pPr marL="971550" lvl="1" indent="-514350">
              <a:buAutoNum type="arabicPeriod"/>
            </a:pPr>
            <a:r>
              <a:rPr lang="en-US" altLang="zh-CN" sz="3200" dirty="0"/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19200" y="2438400"/>
            <a:ext cx="2209800" cy="811887"/>
            <a:chOff x="2362200" y="2845713"/>
            <a:chExt cx="2209800" cy="811887"/>
          </a:xfrm>
        </p:grpSpPr>
        <p:grpSp>
          <p:nvGrpSpPr>
            <p:cNvPr id="6" name="Group 4"/>
            <p:cNvGrpSpPr/>
            <p:nvPr/>
          </p:nvGrpSpPr>
          <p:grpSpPr>
            <a:xfrm>
              <a:off x="2362200" y="2845713"/>
              <a:ext cx="2209800" cy="811887"/>
              <a:chOff x="2209800" y="1474113"/>
              <a:chExt cx="2209800" cy="811887"/>
            </a:xfrm>
          </p:grpSpPr>
          <p:grpSp>
            <p:nvGrpSpPr>
              <p:cNvPr id="8" name="Group 10"/>
              <p:cNvGrpSpPr/>
              <p:nvPr/>
            </p:nvGrpSpPr>
            <p:grpSpPr>
              <a:xfrm>
                <a:off x="2209800" y="1474113"/>
                <a:ext cx="2209800" cy="811887"/>
                <a:chOff x="2209800" y="1474113"/>
                <a:chExt cx="2209800" cy="811887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V</a:t>
                  </a:r>
                  <a:r>
                    <a:rPr lang="en-US" sz="2200" b="1" baseline="-25000" dirty="0"/>
                    <a:t>s</a:t>
                  </a:r>
                  <a:endParaRPr lang="en-US" sz="2200" b="1" dirty="0"/>
                </a:p>
              </p:txBody>
            </p: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 err="1"/>
                    <a:t>V</a:t>
                  </a:r>
                  <a:r>
                    <a:rPr lang="en-US" altLang="zh-CN" sz="2200" b="1" baseline="-25000" dirty="0" err="1"/>
                    <a:t>c</a:t>
                  </a:r>
                  <a:endParaRPr lang="en-US" sz="2200" b="1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733800" y="1474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n</a:t>
                  </a:r>
                  <a:r>
                    <a:rPr lang="en-US" altLang="zh-CN" sz="2200" b="1" baseline="-25000" dirty="0"/>
                    <a:t>s</a:t>
                  </a:r>
                  <a:endParaRPr lang="en-US" sz="2200" b="1" dirty="0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 err="1"/>
                  <a:t>n</a:t>
                </a:r>
                <a:r>
                  <a:rPr lang="en-US" altLang="zh-CN" sz="2200" b="1" baseline="-25000" dirty="0" err="1"/>
                  <a:t>C</a:t>
                </a:r>
                <a:endParaRPr lang="en-US" sz="2200" b="1" dirty="0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209800" y="3250287"/>
            <a:ext cx="2286000" cy="811887"/>
            <a:chOff x="3352800" y="2845713"/>
            <a:chExt cx="1524000" cy="811887"/>
          </a:xfrm>
        </p:grpSpPr>
        <p:grpSp>
          <p:nvGrpSpPr>
            <p:cNvPr id="16" name="Group 4"/>
            <p:cNvGrpSpPr/>
            <p:nvPr/>
          </p:nvGrpSpPr>
          <p:grpSpPr>
            <a:xfrm>
              <a:off x="3733800" y="2845713"/>
              <a:ext cx="1143000" cy="811887"/>
              <a:chOff x="3581400" y="1474113"/>
              <a:chExt cx="1143000" cy="811887"/>
            </a:xfrm>
          </p:grpSpPr>
          <p:grpSp>
            <p:nvGrpSpPr>
              <p:cNvPr id="18" name="Group 10"/>
              <p:cNvGrpSpPr/>
              <p:nvPr/>
            </p:nvGrpSpPr>
            <p:grpSpPr>
              <a:xfrm>
                <a:off x="3581400" y="1474113"/>
                <a:ext cx="1143000" cy="432475"/>
                <a:chOff x="3581400" y="1474113"/>
                <a:chExt cx="1143000" cy="432475"/>
              </a:xfrm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TextBox 23"/>
                <p:cNvSpPr txBox="1"/>
                <p:nvPr/>
              </p:nvSpPr>
              <p:spPr>
                <a:xfrm>
                  <a:off x="3581400" y="1474113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m</a:t>
                  </a:r>
                  <a:r>
                    <a:rPr lang="en-US" altLang="zh-CN" sz="2200" b="1" baseline="-25000" dirty="0"/>
                    <a:t>s </a:t>
                  </a:r>
                  <a:r>
                    <a:rPr lang="en-US" altLang="zh-CN" sz="2200" b="1" dirty="0"/>
                    <a:t> /M</a:t>
                  </a:r>
                  <a:r>
                    <a:rPr lang="en-US" altLang="zh-CN" sz="2200" b="1" baseline="-25000" dirty="0"/>
                    <a:t>s</a:t>
                  </a:r>
                  <a:endParaRPr lang="en-US" sz="2200" b="1" dirty="0"/>
                </a:p>
              </p:txBody>
            </p:sp>
          </p:grpSp>
          <p:sp>
            <p:nvSpPr>
              <p:cNvPr id="19" name="TextBox 18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 err="1"/>
                  <a:t>m</a:t>
                </a:r>
                <a:r>
                  <a:rPr lang="en-US" altLang="zh-CN" sz="2200" b="1" baseline="-25000" dirty="0" err="1"/>
                  <a:t>C</a:t>
                </a:r>
                <a:r>
                  <a:rPr lang="en-US" altLang="zh-CN" sz="2200" b="1" baseline="-25000" dirty="0"/>
                  <a:t> </a:t>
                </a:r>
                <a:r>
                  <a:rPr lang="en-US" altLang="zh-CN" sz="2200" b="1" dirty="0"/>
                  <a:t>/ M</a:t>
                </a:r>
                <a:r>
                  <a:rPr lang="en-US" altLang="zh-CN" sz="2200" b="1" baseline="-25000" dirty="0"/>
                  <a:t>c</a:t>
                </a:r>
                <a:endParaRPr lang="en-US" sz="2200" b="1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209800" y="4114800"/>
            <a:ext cx="1828800" cy="811887"/>
            <a:chOff x="3352800" y="2845713"/>
            <a:chExt cx="1219200" cy="811887"/>
          </a:xfrm>
        </p:grpSpPr>
        <p:grpSp>
          <p:nvGrpSpPr>
            <p:cNvPr id="26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28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M</a:t>
                  </a:r>
                  <a:r>
                    <a:rPr lang="en-US" altLang="zh-CN" sz="2200" b="1" baseline="-25000" dirty="0"/>
                    <a:t>c</a:t>
                  </a:r>
                  <a:endParaRPr lang="en-US" sz="2200" b="1" dirty="0"/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M</a:t>
                </a:r>
                <a:r>
                  <a:rPr lang="en-US" altLang="zh-CN" sz="2200" b="1" baseline="-25000" dirty="0"/>
                  <a:t>s</a:t>
                </a:r>
                <a:endParaRPr lang="en-US" sz="2200" b="1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209800" y="4876800"/>
            <a:ext cx="1828800" cy="811887"/>
            <a:chOff x="3352800" y="2845713"/>
            <a:chExt cx="1219200" cy="811887"/>
          </a:xfrm>
        </p:grpSpPr>
        <p:grpSp>
          <p:nvGrpSpPr>
            <p:cNvPr id="33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35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37" name="Straight Connector 36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44</a:t>
                  </a:r>
                </a:p>
              </p:txBody>
            </p:sp>
          </p:grpSp>
          <p:sp>
            <p:nvSpPr>
              <p:cNvPr id="36" name="TextBox 35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64</a:t>
                </a: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209800" y="5562600"/>
            <a:ext cx="1828800" cy="811887"/>
            <a:chOff x="3352800" y="2845713"/>
            <a:chExt cx="1219200" cy="811887"/>
          </a:xfrm>
        </p:grpSpPr>
        <p:grpSp>
          <p:nvGrpSpPr>
            <p:cNvPr id="40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42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44" name="Straight Connector 43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11</a:t>
                  </a:r>
                </a:p>
              </p:txBody>
            </p:sp>
          </p:grpSp>
          <p:sp>
            <p:nvSpPr>
              <p:cNvPr id="43" name="TextBox 42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16</a:t>
                </a: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56" name="Group 10"/>
          <p:cNvGrpSpPr/>
          <p:nvPr/>
        </p:nvGrpSpPr>
        <p:grpSpPr>
          <a:xfrm>
            <a:off x="4572000" y="2438400"/>
            <a:ext cx="914400" cy="842665"/>
            <a:chOff x="2209800" y="1474113"/>
            <a:chExt cx="914400" cy="842665"/>
          </a:xfrm>
        </p:grpSpPr>
        <p:sp>
          <p:nvSpPr>
            <p:cNvPr id="58" name="TextBox 57"/>
            <p:cNvSpPr txBox="1"/>
            <p:nvPr/>
          </p:nvSpPr>
          <p:spPr>
            <a:xfrm>
              <a:off x="2438400" y="147411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 </a:t>
              </a:r>
              <a:r>
                <a:rPr lang="el-GR" sz="2400" dirty="0"/>
                <a:t>ρ</a:t>
              </a:r>
              <a:r>
                <a:rPr lang="en-US" sz="2400" dirty="0"/>
                <a:t> </a:t>
              </a:r>
              <a:r>
                <a:rPr lang="en-US" sz="2200" b="1" baseline="-25000" dirty="0"/>
                <a:t>s</a:t>
              </a:r>
              <a:endParaRPr lang="en-US" sz="2200" b="1" dirty="0"/>
            </a:p>
          </p:txBody>
        </p:sp>
        <p:cxnSp>
          <p:nvCxnSpPr>
            <p:cNvPr id="59" name="Straight Connector 58"/>
            <p:cNvCxnSpPr/>
            <p:nvPr/>
          </p:nvCxnSpPr>
          <p:spPr>
            <a:xfrm>
              <a:off x="2209800" y="1905000"/>
              <a:ext cx="838200" cy="15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2438400" y="185511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 </a:t>
              </a:r>
              <a:r>
                <a:rPr lang="el-GR" sz="2400" dirty="0"/>
                <a:t>ρ</a:t>
              </a:r>
              <a:r>
                <a:rPr lang="en-US" sz="2400" dirty="0"/>
                <a:t> </a:t>
              </a:r>
              <a:r>
                <a:rPr lang="en-US" altLang="zh-CN" sz="2200" b="1" baseline="-25000" dirty="0"/>
                <a:t>c</a:t>
              </a:r>
              <a:endParaRPr lang="en-US" sz="2200" b="1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486400" y="2438400"/>
            <a:ext cx="2286000" cy="811887"/>
            <a:chOff x="3352800" y="2845713"/>
            <a:chExt cx="1524000" cy="811887"/>
          </a:xfrm>
        </p:grpSpPr>
        <p:grpSp>
          <p:nvGrpSpPr>
            <p:cNvPr id="64" name="Group 4"/>
            <p:cNvGrpSpPr/>
            <p:nvPr/>
          </p:nvGrpSpPr>
          <p:grpSpPr>
            <a:xfrm>
              <a:off x="3733800" y="2845713"/>
              <a:ext cx="1143000" cy="811887"/>
              <a:chOff x="3581400" y="1474113"/>
              <a:chExt cx="1143000" cy="811887"/>
            </a:xfrm>
          </p:grpSpPr>
          <p:grpSp>
            <p:nvGrpSpPr>
              <p:cNvPr id="66" name="Group 10"/>
              <p:cNvGrpSpPr/>
              <p:nvPr/>
            </p:nvGrpSpPr>
            <p:grpSpPr>
              <a:xfrm>
                <a:off x="3581400" y="1474113"/>
                <a:ext cx="1143000" cy="432475"/>
                <a:chOff x="3581400" y="1474113"/>
                <a:chExt cx="1143000" cy="432475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TextBox 68"/>
                <p:cNvSpPr txBox="1"/>
                <p:nvPr/>
              </p:nvSpPr>
              <p:spPr>
                <a:xfrm>
                  <a:off x="3581400" y="1474113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m</a:t>
                  </a:r>
                  <a:r>
                    <a:rPr lang="en-US" altLang="zh-CN" sz="2200" b="1" baseline="-25000" dirty="0"/>
                    <a:t>s </a:t>
                  </a:r>
                  <a:r>
                    <a:rPr lang="en-US" altLang="zh-CN" sz="2200" b="1" dirty="0"/>
                    <a:t> /V</a:t>
                  </a:r>
                  <a:r>
                    <a:rPr lang="en-US" altLang="zh-CN" sz="2200" b="1" baseline="-25000" dirty="0"/>
                    <a:t>s</a:t>
                  </a:r>
                  <a:endParaRPr lang="en-US" sz="2200" b="1" dirty="0"/>
                </a:p>
              </p:txBody>
            </p:sp>
          </p:grpSp>
          <p:sp>
            <p:nvSpPr>
              <p:cNvPr id="67" name="TextBox 66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 err="1"/>
                  <a:t>m</a:t>
                </a:r>
                <a:r>
                  <a:rPr lang="en-US" altLang="zh-CN" sz="2200" b="1" baseline="-25000" dirty="0" err="1"/>
                  <a:t>C</a:t>
                </a:r>
                <a:r>
                  <a:rPr lang="en-US" altLang="zh-CN" sz="2200" b="1" baseline="-25000" dirty="0"/>
                  <a:t> </a:t>
                </a:r>
                <a:r>
                  <a:rPr lang="en-US" altLang="zh-CN" sz="2200" b="1" dirty="0"/>
                  <a:t>/ </a:t>
                </a:r>
                <a:r>
                  <a:rPr lang="en-US" altLang="zh-CN" sz="2200" b="1" dirty="0" err="1"/>
                  <a:t>V</a:t>
                </a:r>
                <a:r>
                  <a:rPr lang="en-US" altLang="zh-CN" sz="2200" b="1" baseline="-25000" dirty="0" err="1"/>
                  <a:t>c</a:t>
                </a:r>
                <a:endParaRPr lang="en-US" sz="2200" b="1" dirty="0"/>
              </a:p>
            </p:txBody>
          </p:sp>
        </p:grpSp>
        <p:sp>
          <p:nvSpPr>
            <p:cNvPr id="65" name="TextBox 64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5562600" y="3276600"/>
            <a:ext cx="1828800" cy="811887"/>
            <a:chOff x="3352800" y="2845713"/>
            <a:chExt cx="1219200" cy="811887"/>
          </a:xfrm>
        </p:grpSpPr>
        <p:grpSp>
          <p:nvGrpSpPr>
            <p:cNvPr id="71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73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75" name="Straight Connector 74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 err="1"/>
                    <a:t>V</a:t>
                  </a:r>
                  <a:r>
                    <a:rPr lang="en-US" altLang="zh-CN" sz="2200" b="1" baseline="-25000" dirty="0" err="1"/>
                    <a:t>c</a:t>
                  </a:r>
                  <a:endParaRPr lang="en-US" sz="2200" b="1" dirty="0"/>
                </a:p>
              </p:txBody>
            </p:sp>
          </p:grpSp>
          <p:sp>
            <p:nvSpPr>
              <p:cNvPr id="74" name="TextBox 73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s</a:t>
                </a:r>
                <a:endParaRPr lang="en-US" sz="2200" b="1" dirty="0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562600" y="4038600"/>
            <a:ext cx="1828800" cy="811887"/>
            <a:chOff x="3352800" y="2845713"/>
            <a:chExt cx="1219200" cy="811887"/>
          </a:xfrm>
        </p:grpSpPr>
        <p:grpSp>
          <p:nvGrpSpPr>
            <p:cNvPr id="78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80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82" name="Straight Connector 81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16</a:t>
                  </a:r>
                  <a:endParaRPr lang="en-US" sz="2200" b="1" dirty="0"/>
                </a:p>
              </p:txBody>
            </p:sp>
          </p:grpSp>
          <p:sp>
            <p:nvSpPr>
              <p:cNvPr id="81" name="TextBox 80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11</a:t>
                </a:r>
                <a:endParaRPr lang="en-US" sz="2200" b="1" dirty="0"/>
              </a:p>
            </p:txBody>
          </p:sp>
        </p:grpSp>
        <p:sp>
          <p:nvSpPr>
            <p:cNvPr id="79" name="TextBox 78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5029200" y="4979313"/>
            <a:ext cx="3429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/>
              <a:t>Ans</a:t>
            </a:r>
            <a:r>
              <a:rPr lang="en-US" altLang="zh-CN" sz="2800" b="1" dirty="0"/>
              <a:t>:</a:t>
            </a:r>
          </a:p>
          <a:p>
            <a:r>
              <a:rPr lang="en-US" altLang="zh-CN" sz="2800" b="1" dirty="0"/>
              <a:t>A</a:t>
            </a:r>
            <a:r>
              <a:rPr lang="zh-CN" altLang="en-US" sz="2800" b="1" dirty="0"/>
              <a:t>密度比</a:t>
            </a:r>
            <a:r>
              <a:rPr lang="en-US" altLang="zh-CN" sz="2800" b="1"/>
              <a:t>=16:11</a:t>
            </a:r>
            <a:endParaRPr lang="en-US" altLang="zh-CN" sz="2800" b="1" dirty="0"/>
          </a:p>
          <a:p>
            <a:r>
              <a:rPr lang="en-US" altLang="zh-CN" sz="2800" b="1" dirty="0"/>
              <a:t>E </a:t>
            </a:r>
            <a:r>
              <a:rPr lang="zh-CN" altLang="en-US" sz="2800" b="1" dirty="0"/>
              <a:t>体积比</a:t>
            </a:r>
            <a:r>
              <a:rPr lang="en-US" altLang="zh-CN" sz="2800" b="1" dirty="0"/>
              <a:t>=11:16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17.4.2 </a:t>
            </a:r>
            <a:r>
              <a:rPr lang="zh-CN" altLang="en-US" sz="3800" dirty="0"/>
              <a:t>阿伏加德罗定律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257800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zh-CN" altLang="en-US" sz="3200" dirty="0"/>
              <a:t>补充题：某气体化合物含</a:t>
            </a:r>
            <a:r>
              <a:rPr lang="en-GB" sz="3200" dirty="0"/>
              <a:t>C</a:t>
            </a:r>
            <a:r>
              <a:rPr lang="zh-CN" altLang="en-US" sz="3200" dirty="0"/>
              <a:t>、</a:t>
            </a:r>
            <a:r>
              <a:rPr lang="en-GB" sz="3200" dirty="0"/>
              <a:t>H</a:t>
            </a:r>
            <a:r>
              <a:rPr lang="zh-CN" altLang="en-US" sz="3200" dirty="0"/>
              <a:t>、</a:t>
            </a:r>
            <a:r>
              <a:rPr lang="en-GB" sz="3200" dirty="0"/>
              <a:t>N</a:t>
            </a:r>
            <a:r>
              <a:rPr lang="zh-CN" altLang="en-US" sz="3200" dirty="0"/>
              <a:t>三种元素；此化合物与氧气混合总体积为</a:t>
            </a:r>
            <a:r>
              <a:rPr lang="en-GB" sz="3200" dirty="0"/>
              <a:t>11.5L</a:t>
            </a:r>
            <a:r>
              <a:rPr lang="zh-CN" altLang="en-US" sz="3200" dirty="0"/>
              <a:t>，点燃后，得同温同压之</a:t>
            </a:r>
            <a:r>
              <a:rPr lang="en-GB" sz="3200" dirty="0"/>
              <a:t>6L</a:t>
            </a:r>
            <a:r>
              <a:rPr lang="zh-CN" altLang="en-US" sz="3200" dirty="0"/>
              <a:t>二氧化碳，</a:t>
            </a:r>
            <a:r>
              <a:rPr lang="en-GB" sz="3200" dirty="0"/>
              <a:t>3L</a:t>
            </a:r>
            <a:r>
              <a:rPr lang="zh-CN" altLang="en-US" sz="3200" dirty="0"/>
              <a:t>氮气和</a:t>
            </a:r>
            <a:r>
              <a:rPr lang="en-GB" sz="3200" dirty="0"/>
              <a:t>7L</a:t>
            </a:r>
            <a:r>
              <a:rPr lang="zh-CN" altLang="en-US" sz="3200" dirty="0"/>
              <a:t>水蒸气。此化合物的化学式为</a:t>
            </a:r>
            <a:r>
              <a:rPr lang="en-GB" sz="3200" u="sng" dirty="0"/>
              <a:t>			</a:t>
            </a:r>
            <a:r>
              <a:rPr lang="zh-CN" altLang="en-US" sz="3200" dirty="0"/>
              <a:t>。</a:t>
            </a:r>
            <a:endParaRPr lang="en-US" sz="3200" dirty="0"/>
          </a:p>
          <a:p>
            <a:pPr lvl="1">
              <a:buNone/>
            </a:pPr>
            <a:r>
              <a:rPr lang="en-US" altLang="zh-CN" dirty="0"/>
              <a:t>  C</a:t>
            </a:r>
            <a:r>
              <a:rPr lang="en-US" altLang="zh-CN" baseline="-25000" dirty="0"/>
              <a:t>a</a:t>
            </a:r>
            <a:r>
              <a:rPr lang="en-US" altLang="zh-CN" dirty="0"/>
              <a:t> H</a:t>
            </a:r>
            <a:r>
              <a:rPr lang="en-US" altLang="zh-CN" baseline="-25000" dirty="0"/>
              <a:t>b</a:t>
            </a:r>
            <a:r>
              <a:rPr lang="en-US" altLang="zh-CN" dirty="0"/>
              <a:t> N</a:t>
            </a:r>
            <a:r>
              <a:rPr lang="en-US" altLang="zh-CN" baseline="-25000" dirty="0"/>
              <a:t>c</a:t>
            </a:r>
            <a:r>
              <a:rPr lang="en-US" altLang="zh-CN" dirty="0"/>
              <a:t> </a:t>
            </a:r>
            <a:r>
              <a:rPr lang="en-MY" altLang="zh-CN" dirty="0">
                <a:sym typeface="Wingdings" panose="05000000000000000000" pitchFamily="2" charset="2"/>
              </a:rPr>
              <a:t>(g) </a:t>
            </a:r>
            <a:r>
              <a:rPr lang="en-US" altLang="zh-CN" dirty="0"/>
              <a:t>+      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MY" altLang="zh-CN" dirty="0">
                <a:sym typeface="Wingdings" panose="05000000000000000000" pitchFamily="2" charset="2"/>
              </a:rPr>
              <a:t>(g)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  CO</a:t>
            </a:r>
            <a:r>
              <a:rPr lang="en-US" altLang="zh-CN" baseline="-25000" dirty="0">
                <a:sym typeface="Wingdings" panose="05000000000000000000" pitchFamily="2" charset="2"/>
              </a:rPr>
              <a:t>2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MY" altLang="zh-CN" dirty="0">
                <a:sym typeface="Wingdings" panose="05000000000000000000" pitchFamily="2" charset="2"/>
              </a:rPr>
              <a:t>(g) </a:t>
            </a:r>
            <a:r>
              <a:rPr lang="en-US" altLang="zh-CN" dirty="0">
                <a:sym typeface="Wingdings" panose="05000000000000000000" pitchFamily="2" charset="2"/>
              </a:rPr>
              <a:t>+   N</a:t>
            </a:r>
            <a:r>
              <a:rPr lang="en-US" altLang="zh-CN" baseline="-25000" dirty="0">
                <a:sym typeface="Wingdings" panose="05000000000000000000" pitchFamily="2" charset="2"/>
              </a:rPr>
              <a:t>2</a:t>
            </a:r>
            <a:r>
              <a:rPr lang="en-MY" altLang="zh-CN" dirty="0">
                <a:sym typeface="Wingdings" panose="05000000000000000000" pitchFamily="2" charset="2"/>
              </a:rPr>
              <a:t> (g)</a:t>
            </a:r>
            <a:r>
              <a:rPr lang="en-US" altLang="zh-CN" dirty="0">
                <a:sym typeface="Wingdings" panose="05000000000000000000" pitchFamily="2" charset="2"/>
              </a:rPr>
              <a:t>+   H</a:t>
            </a:r>
            <a:r>
              <a:rPr lang="en-US" altLang="zh-CN" baseline="-25000" dirty="0">
                <a:sym typeface="Wingdings" panose="05000000000000000000" pitchFamily="2" charset="2"/>
              </a:rPr>
              <a:t>2</a:t>
            </a:r>
            <a:r>
              <a:rPr lang="en-US" altLang="zh-CN" dirty="0">
                <a:sym typeface="Wingdings" panose="05000000000000000000" pitchFamily="2" charset="2"/>
              </a:rPr>
              <a:t>O</a:t>
            </a:r>
            <a:r>
              <a:rPr lang="en-MY" altLang="zh-CN" dirty="0">
                <a:sym typeface="Wingdings" panose="05000000000000000000" pitchFamily="2" charset="2"/>
              </a:rPr>
              <a:t> (g)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a=3</a:t>
            </a: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b=7</a:t>
            </a:r>
          </a:p>
          <a:p>
            <a:pPr lvl="1">
              <a:buNone/>
            </a:pPr>
            <a:r>
              <a:rPr lang="en-US" altLang="zh-CN" sz="3200" dirty="0">
                <a:sym typeface="Wingdings" panose="05000000000000000000" pitchFamily="2" charset="2"/>
              </a:rPr>
              <a:t>c=3 </a:t>
            </a:r>
            <a:endParaRPr lang="en-US" altLang="zh-C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452417" y="329895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282" y="330707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2226" y="332109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2016" y="3307071"/>
            <a:ext cx="736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9.5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44" y="331518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9666" y="2667000"/>
            <a:ext cx="1622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7030A0"/>
                </a:solidFill>
              </a:rPr>
              <a:t> C</a:t>
            </a:r>
            <a:r>
              <a:rPr lang="en-US" altLang="zh-CN" sz="3200" baseline="-25000" dirty="0">
                <a:solidFill>
                  <a:srgbClr val="7030A0"/>
                </a:solidFill>
              </a:rPr>
              <a:t>3</a:t>
            </a:r>
            <a:r>
              <a:rPr lang="en-US" altLang="zh-CN" sz="3200" dirty="0">
                <a:solidFill>
                  <a:srgbClr val="7030A0"/>
                </a:solidFill>
              </a:rPr>
              <a:t> H</a:t>
            </a:r>
            <a:r>
              <a:rPr lang="en-US" altLang="zh-CN" sz="3200" baseline="-25000" dirty="0">
                <a:solidFill>
                  <a:srgbClr val="7030A0"/>
                </a:solidFill>
              </a:rPr>
              <a:t>7</a:t>
            </a:r>
            <a:r>
              <a:rPr lang="en-US" altLang="zh-CN" sz="3200" dirty="0">
                <a:solidFill>
                  <a:srgbClr val="7030A0"/>
                </a:solidFill>
              </a:rPr>
              <a:t> N</a:t>
            </a:r>
            <a:r>
              <a:rPr lang="en-US" altLang="zh-CN" sz="3200" baseline="-25000" dirty="0">
                <a:solidFill>
                  <a:srgbClr val="7030A0"/>
                </a:solidFill>
              </a:rPr>
              <a:t>3</a:t>
            </a:r>
            <a:endParaRPr lang="en-US" sz="3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10" grpId="0"/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4582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含</a:t>
            </a:r>
            <a:r>
              <a:rPr lang="en-US" altLang="zh-CN" sz="2800" dirty="0"/>
              <a:t>20cm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氧气和</a:t>
            </a:r>
            <a:r>
              <a:rPr lang="en-US" altLang="zh-CN" sz="2800" dirty="0"/>
              <a:t>30cm</a:t>
            </a:r>
            <a:r>
              <a:rPr lang="en-US" altLang="zh-CN" sz="2800" baseline="30000" dirty="0"/>
              <a:t>3</a:t>
            </a:r>
            <a:r>
              <a:rPr lang="zh-CN" altLang="en-US" sz="2800" baseline="30000" dirty="0"/>
              <a:t> </a:t>
            </a:r>
            <a:r>
              <a:rPr lang="zh-CN" altLang="en-US" sz="2800" dirty="0"/>
              <a:t>氢气的混合气体爆炸燃烧后形成水。剩余的气体体积是多少？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A 5cm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     B 15cm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       C 20cm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    D 30cm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  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两个体积相同的容器，一个盛有</a:t>
            </a:r>
            <a:r>
              <a:rPr lang="en-US" altLang="zh-CN" sz="2800" dirty="0"/>
              <a:t>NO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气体，另一个盛有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和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混合气体。在同温同压下，两容器内气体若等量，则它们拥有相同的：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I </a:t>
            </a:r>
            <a:r>
              <a:rPr lang="zh-CN" altLang="en-US" sz="2800" dirty="0"/>
              <a:t>质量</a:t>
            </a:r>
            <a:r>
              <a:rPr lang="en-US" altLang="zh-CN" sz="2800" dirty="0"/>
              <a:t>	II</a:t>
            </a:r>
            <a:r>
              <a:rPr lang="zh-CN" altLang="en-US" sz="2800" dirty="0"/>
              <a:t>原子总数</a:t>
            </a:r>
            <a:r>
              <a:rPr lang="en-US" altLang="zh-CN" sz="2800" dirty="0"/>
              <a:t>       III </a:t>
            </a:r>
            <a:r>
              <a:rPr lang="zh-CN" altLang="en-US" sz="2800" dirty="0"/>
              <a:t>物质的量</a:t>
            </a:r>
            <a:r>
              <a:rPr lang="en-US" altLang="zh-CN" sz="2800" dirty="0"/>
              <a:t>	IV </a:t>
            </a:r>
            <a:r>
              <a:rPr lang="zh-CN" altLang="en-US" sz="2800" dirty="0"/>
              <a:t>分子总数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A I,II 		B III,IV	C II,IV		D </a:t>
            </a:r>
            <a:r>
              <a:rPr lang="zh-CN" altLang="en-US" sz="2800" dirty="0"/>
              <a:t>其他组合</a:t>
            </a:r>
            <a:endParaRPr lang="en-US" altLang="zh-CN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7766756" y="129540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04878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800" dirty="0"/>
              <a:t>17.4.3 </a:t>
            </a:r>
            <a:r>
              <a:rPr lang="zh-CN" altLang="en-US" sz="3800" dirty="0"/>
              <a:t>关于气体摩尔体积的计算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 altLang="en-US" sz="2800" u="sng" dirty="0"/>
              <a:t>气体摩尔体积公式</a:t>
            </a:r>
            <a:endParaRPr lang="en-US" altLang="zh-CN" sz="2800" u="sng" dirty="0"/>
          </a:p>
          <a:p>
            <a:pPr>
              <a:buNone/>
            </a:pPr>
            <a:r>
              <a:rPr lang="en-US" altLang="zh-CN" sz="2800" dirty="0"/>
              <a:t>V</a:t>
            </a:r>
            <a:r>
              <a:rPr lang="zh-CN" altLang="en-US" sz="2800" dirty="0"/>
              <a:t>体积 、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 </a:t>
            </a:r>
            <a:r>
              <a:rPr lang="zh-CN" altLang="en-US" sz="2800" dirty="0"/>
              <a:t>气体摩尔体积（</a:t>
            </a:r>
            <a:r>
              <a:rPr lang="en-US" altLang="zh-CN" sz="2800" dirty="0"/>
              <a:t>22.4Lmol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）</a:t>
            </a:r>
            <a:r>
              <a:rPr lang="en-US" altLang="zh-CN" sz="2800" dirty="0"/>
              <a:t> 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n</a:t>
            </a:r>
            <a:r>
              <a:rPr lang="zh-CN" altLang="en-US" sz="2800" dirty="0"/>
              <a:t>物质的量</a:t>
            </a:r>
            <a:r>
              <a:rPr lang="en-US" altLang="zh-CN" sz="2800" dirty="0"/>
              <a:t>(</a:t>
            </a:r>
            <a:r>
              <a:rPr lang="zh-CN" altLang="en-US" sz="2800" dirty="0"/>
              <a:t>摩尔数</a:t>
            </a:r>
            <a:r>
              <a:rPr lang="en-US" altLang="zh-CN" sz="2800" dirty="0"/>
              <a:t>)</a:t>
            </a:r>
            <a:r>
              <a:rPr lang="zh-CN" altLang="en-US" sz="2800" dirty="0"/>
              <a:t>、</a:t>
            </a:r>
            <a:r>
              <a:rPr lang="en-US" altLang="zh-CN" sz="2800" dirty="0"/>
              <a:t> m</a:t>
            </a:r>
            <a:r>
              <a:rPr lang="zh-CN" altLang="en-US" sz="2800" dirty="0"/>
              <a:t>质量 、</a:t>
            </a:r>
            <a:r>
              <a:rPr lang="en-US" altLang="zh-CN" sz="2800" dirty="0"/>
              <a:t>M</a:t>
            </a:r>
            <a:r>
              <a:rPr lang="zh-CN" altLang="en-US" sz="2800" dirty="0"/>
              <a:t>摩尔质量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N </a:t>
            </a:r>
            <a:r>
              <a:rPr lang="zh-CN" altLang="en-US" sz="2800" dirty="0"/>
              <a:t>微粒个数 、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阿伏加德罗常数</a:t>
            </a:r>
            <a:r>
              <a:rPr lang="en-US" altLang="zh-CN" sz="2800" dirty="0"/>
              <a:t>=6.02x10</a:t>
            </a:r>
            <a:r>
              <a:rPr lang="en-US" altLang="zh-CN" sz="2800" baseline="30000" dirty="0"/>
              <a:t>23 </a:t>
            </a:r>
            <a:r>
              <a:rPr lang="en-US" altLang="zh-CN" sz="2800" dirty="0"/>
              <a:t> mol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>
                <a:solidFill>
                  <a:srgbClr val="CC00CC"/>
                </a:solidFill>
              </a:rPr>
              <a:t>			</a:t>
            </a:r>
            <a:r>
              <a:rPr lang="en-US" sz="2800" dirty="0">
                <a:solidFill>
                  <a:srgbClr val="CC00CC"/>
                </a:solidFill>
              </a:rPr>
              <a:t>n = N / N</a:t>
            </a:r>
            <a:r>
              <a:rPr lang="en-US" sz="2800" baseline="-25000" dirty="0">
                <a:solidFill>
                  <a:srgbClr val="CC00CC"/>
                </a:solidFill>
              </a:rPr>
              <a:t>A</a:t>
            </a:r>
            <a:r>
              <a:rPr lang="en-US" sz="2800" dirty="0">
                <a:solidFill>
                  <a:srgbClr val="CC00CC"/>
                </a:solidFill>
              </a:rPr>
              <a:t> </a:t>
            </a:r>
          </a:p>
          <a:p>
            <a:pPr>
              <a:buNone/>
            </a:pPr>
            <a:r>
              <a:rPr lang="en-US" sz="2800" dirty="0">
                <a:solidFill>
                  <a:srgbClr val="CC00CC"/>
                </a:solidFill>
              </a:rPr>
              <a:t>			n= m / M</a:t>
            </a:r>
          </a:p>
          <a:p>
            <a:pPr>
              <a:buNone/>
            </a:pPr>
            <a:r>
              <a:rPr lang="en-US" altLang="zh-CN" sz="2800" dirty="0">
                <a:solidFill>
                  <a:srgbClr val="CC00CC"/>
                </a:solidFill>
              </a:rPr>
              <a:t>			n= V / </a:t>
            </a:r>
            <a:r>
              <a:rPr lang="en-US" altLang="zh-CN" sz="2800" dirty="0" err="1">
                <a:solidFill>
                  <a:srgbClr val="CC00CC"/>
                </a:solidFill>
              </a:rPr>
              <a:t>V</a:t>
            </a:r>
            <a:r>
              <a:rPr lang="en-US" altLang="zh-CN" sz="2800" baseline="-25000" dirty="0" err="1">
                <a:solidFill>
                  <a:srgbClr val="CC00CC"/>
                </a:solidFill>
              </a:rPr>
              <a:t>m</a:t>
            </a:r>
            <a:r>
              <a:rPr lang="en-US" altLang="zh-CN" sz="2800" dirty="0">
                <a:solidFill>
                  <a:srgbClr val="CC00CC"/>
                </a:solidFill>
              </a:rPr>
              <a:t> </a:t>
            </a:r>
          </a:p>
          <a:p>
            <a:pPr>
              <a:buNone/>
            </a:pPr>
            <a:r>
              <a:rPr lang="en-US" sz="2800" dirty="0">
                <a:solidFill>
                  <a:srgbClr val="CC00CC"/>
                </a:solidFill>
              </a:rPr>
              <a:t>									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5  N=14</a:t>
            </a:r>
          </a:p>
          <a:p>
            <a:pPr>
              <a:buNone/>
            </a:pPr>
            <a:r>
              <a:rPr lang="en-US" altLang="zh-CN" sz="2800" dirty="0" err="1"/>
              <a:t>Mr</a:t>
            </a:r>
            <a:r>
              <a:rPr lang="en-US" altLang="zh-CN" sz="2800" dirty="0"/>
              <a:t>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= 2x14 = 28</a:t>
            </a:r>
          </a:p>
          <a:p>
            <a:pPr>
              <a:buNone/>
            </a:pPr>
            <a:r>
              <a:rPr lang="en-US" altLang="zh-CN" sz="2800" dirty="0"/>
              <a:t>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= 28gmol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n   = </a:t>
            </a:r>
          </a:p>
          <a:p>
            <a:pPr>
              <a:buNone/>
            </a:pPr>
            <a:r>
              <a:rPr lang="en-US" altLang="zh-CN" sz="2800" dirty="0"/>
              <a:t>	   =</a:t>
            </a:r>
          </a:p>
          <a:p>
            <a:pPr>
              <a:buNone/>
            </a:pPr>
            <a:r>
              <a:rPr lang="en-US" sz="2800" dirty="0"/>
              <a:t>       = 0.125mol</a:t>
            </a:r>
          </a:p>
          <a:p>
            <a:pPr>
              <a:buNone/>
            </a:pPr>
            <a:r>
              <a:rPr lang="en-US" sz="2800" dirty="0"/>
              <a:t>V = 22.4Lmol</a:t>
            </a:r>
            <a:r>
              <a:rPr lang="en-US" sz="2800" baseline="30000" dirty="0"/>
              <a:t>-1 </a:t>
            </a:r>
            <a:r>
              <a:rPr lang="en-US" sz="2800" dirty="0"/>
              <a:t> x   n</a:t>
            </a:r>
          </a:p>
          <a:p>
            <a:pPr>
              <a:buNone/>
            </a:pPr>
            <a:r>
              <a:rPr lang="en-US" sz="2800" dirty="0"/>
              <a:t>   =22.4Lmol</a:t>
            </a:r>
            <a:r>
              <a:rPr lang="en-US" sz="2800" baseline="30000" dirty="0"/>
              <a:t>-1 </a:t>
            </a:r>
            <a:r>
              <a:rPr lang="en-US" sz="2800" dirty="0"/>
              <a:t> x 0.125mol</a:t>
            </a:r>
          </a:p>
          <a:p>
            <a:pPr>
              <a:buNone/>
            </a:pPr>
            <a:r>
              <a:rPr lang="en-US" sz="2800" dirty="0"/>
              <a:t>   = 2.8L </a:t>
            </a:r>
          </a:p>
          <a:p>
            <a:pPr>
              <a:buNone/>
            </a:pPr>
            <a:r>
              <a:rPr lang="zh-CN" altLang="en-US" sz="2800" dirty="0"/>
              <a:t>答：在标准状况时，</a:t>
            </a:r>
            <a:r>
              <a:rPr lang="en-US" altLang="zh-CN" sz="2800" dirty="0"/>
              <a:t>3.5g</a:t>
            </a:r>
            <a:r>
              <a:rPr lang="zh-CN" altLang="en-US" sz="2800" dirty="0"/>
              <a:t>氮气的体积是</a:t>
            </a:r>
            <a:r>
              <a:rPr lang="en-US" altLang="zh-CN" sz="2800" dirty="0"/>
              <a:t>2.8L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676400" y="2514600"/>
            <a:ext cx="4106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447800" y="2819400"/>
            <a:ext cx="10668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76400" y="274320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682950" y="3048000"/>
            <a:ext cx="673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3.5g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00200" y="3352800"/>
            <a:ext cx="877957" cy="16565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3352800"/>
            <a:ext cx="11945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28gmol</a:t>
            </a:r>
            <a:r>
              <a:rPr lang="en-US" sz="2200" baseline="30000" dirty="0"/>
              <a:t>-1</a:t>
            </a:r>
            <a:endParaRPr lang="en-US" sz="22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8301"/>
          </a:xfrm>
        </p:spPr>
        <p:txBody>
          <a:bodyPr>
            <a:normAutofit/>
          </a:bodyPr>
          <a:lstStyle/>
          <a:p>
            <a:r>
              <a:rPr lang="en-US" altLang="zh-CN" sz="3800" dirty="0"/>
              <a:t>17.4.3 </a:t>
            </a:r>
            <a:r>
              <a:rPr lang="zh-CN" altLang="en-US" sz="3800" dirty="0"/>
              <a:t>关于气体摩尔体积的计算</a:t>
            </a:r>
            <a:endParaRPr 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4" grpId="0"/>
      <p:bldP spid="7" grpId="0"/>
      <p:bldP spid="8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方法二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5	N=14</a:t>
            </a:r>
          </a:p>
          <a:p>
            <a:pPr>
              <a:buNone/>
            </a:pPr>
            <a:r>
              <a:rPr lang="zh-CN" altLang="en-US" sz="2800" dirty="0"/>
              <a:t>设：</a:t>
            </a:r>
            <a:r>
              <a:rPr lang="en-US" altLang="zh-CN" sz="2800" dirty="0"/>
              <a:t> 3.5g</a:t>
            </a:r>
            <a:r>
              <a:rPr lang="zh-CN" altLang="en-US" sz="2800" dirty="0"/>
              <a:t>氮气的体积是</a:t>
            </a:r>
            <a:r>
              <a:rPr lang="en-US" altLang="zh-CN" sz="2800" dirty="0"/>
              <a:t>x</a:t>
            </a:r>
          </a:p>
          <a:p>
            <a:pPr>
              <a:buNone/>
            </a:pPr>
            <a:r>
              <a:rPr lang="en-US" altLang="zh-CN" sz="2800" dirty="0"/>
              <a:t>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= 28gmol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         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   			</a:t>
            </a:r>
            <a:r>
              <a:rPr lang="zh-CN" altLang="en-US" sz="2800" dirty="0"/>
              <a:t>体积</a:t>
            </a:r>
            <a:r>
              <a:rPr lang="en-US" altLang="zh-CN" sz="2800" dirty="0"/>
              <a:t>			</a:t>
            </a:r>
            <a:r>
              <a:rPr lang="zh-CN" altLang="en-US" sz="2800" dirty="0"/>
              <a:t>质量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    			x</a:t>
            </a:r>
            <a:r>
              <a:rPr lang="en-US" altLang="zh-CN" sz="2800" dirty="0"/>
              <a:t> 			 3.5g</a:t>
            </a:r>
          </a:p>
          <a:p>
            <a:pPr>
              <a:buNone/>
            </a:pPr>
            <a:r>
              <a:rPr lang="en-US" sz="2800" dirty="0"/>
              <a:t>    			22.4L			28g</a:t>
            </a:r>
          </a:p>
          <a:p>
            <a:pPr>
              <a:buNone/>
            </a:pPr>
            <a:r>
              <a:rPr lang="en-US" sz="2800" dirty="0"/>
              <a:t> 			(</a:t>
            </a:r>
            <a:r>
              <a:rPr lang="en-US" altLang="zh-CN" sz="2800" dirty="0"/>
              <a:t>28g)(x</a:t>
            </a:r>
            <a:r>
              <a:rPr lang="en-US" sz="2800" dirty="0"/>
              <a:t> )= (3.5g)(22.4L)</a:t>
            </a:r>
          </a:p>
          <a:p>
            <a:pPr>
              <a:buNone/>
            </a:pPr>
            <a:r>
              <a:rPr lang="en-US" sz="2800" dirty="0"/>
              <a:t>				    x = 2.8L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答：在标准状况时，</a:t>
            </a:r>
            <a:r>
              <a:rPr lang="en-US" altLang="zh-CN" sz="2800" dirty="0"/>
              <a:t>3.5g</a:t>
            </a:r>
            <a:r>
              <a:rPr lang="zh-CN" altLang="en-US" sz="2800" dirty="0"/>
              <a:t>氮气的体积是</a:t>
            </a:r>
            <a:r>
              <a:rPr lang="en-US" altLang="zh-CN" sz="2800" dirty="0"/>
              <a:t>2.8L</a:t>
            </a:r>
            <a:endParaRPr lang="en-US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rot="5400000">
            <a:off x="1751806" y="3318876"/>
            <a:ext cx="10668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>
            <a:off x="5447506" y="3237706"/>
            <a:ext cx="9906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462130" y="2895600"/>
            <a:ext cx="1447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10800000" flipV="1">
            <a:off x="3462130" y="2895600"/>
            <a:ext cx="1447800" cy="652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029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6	O=16</a:t>
            </a:r>
          </a:p>
          <a:p>
            <a:pPr>
              <a:buNone/>
            </a:pPr>
            <a:r>
              <a:rPr lang="en-US" altLang="zh-CN" sz="2800" dirty="0"/>
              <a:t>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= (2x16)gmol</a:t>
            </a:r>
            <a:r>
              <a:rPr lang="en-US" altLang="zh-CN" sz="2800" baseline="30000" dirty="0"/>
              <a:t>-1 </a:t>
            </a:r>
            <a:r>
              <a:rPr lang="en-US" altLang="zh-CN" sz="2800" dirty="0"/>
              <a:t> = 32gmol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n   = </a:t>
            </a:r>
          </a:p>
          <a:p>
            <a:pPr>
              <a:buNone/>
            </a:pPr>
            <a:r>
              <a:rPr lang="en-US" altLang="zh-CN" sz="2800" dirty="0"/>
              <a:t>	   =</a:t>
            </a:r>
          </a:p>
          <a:p>
            <a:pPr>
              <a:buNone/>
            </a:pPr>
            <a:r>
              <a:rPr lang="en-US" sz="2800" dirty="0"/>
              <a:t>       = 0.</a:t>
            </a:r>
            <a:r>
              <a:rPr lang="en-US" altLang="zh-CN" sz="2800" dirty="0"/>
              <a:t>0</a:t>
            </a:r>
            <a:r>
              <a:rPr lang="en-US" sz="2800" dirty="0"/>
              <a:t>25mol</a:t>
            </a:r>
          </a:p>
          <a:p>
            <a:pPr>
              <a:buNone/>
            </a:pPr>
            <a:r>
              <a:rPr lang="en-US" altLang="zh-CN" sz="2800" dirty="0"/>
              <a:t>m</a:t>
            </a:r>
            <a:r>
              <a:rPr lang="en-US" sz="2800" dirty="0"/>
              <a:t>= </a:t>
            </a:r>
            <a:r>
              <a:rPr lang="en-US" sz="2800" dirty="0" err="1"/>
              <a:t>nM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=0.025mol x 32gmol</a:t>
            </a:r>
            <a:r>
              <a:rPr lang="en-US" sz="2800" baseline="30000" dirty="0"/>
              <a:t>-1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= 0.8</a:t>
            </a:r>
            <a:r>
              <a:rPr lang="en-US" altLang="zh-CN" sz="2800" dirty="0"/>
              <a:t>g</a:t>
            </a:r>
            <a:r>
              <a:rPr lang="en-US" sz="2800" dirty="0"/>
              <a:t> </a:t>
            </a:r>
          </a:p>
          <a:p>
            <a:pPr>
              <a:buNone/>
            </a:pPr>
            <a:r>
              <a:rPr lang="zh-CN" altLang="en-US" sz="2800" dirty="0"/>
              <a:t>答：在标准状况时，</a:t>
            </a:r>
            <a:r>
              <a:rPr lang="en-US" altLang="zh-CN" sz="2800" dirty="0"/>
              <a:t>0.56L</a:t>
            </a:r>
            <a:r>
              <a:rPr lang="zh-CN" altLang="en-US" sz="2800" dirty="0"/>
              <a:t>氧气的质量是</a:t>
            </a:r>
            <a:r>
              <a:rPr lang="en-US" altLang="zh-CN" sz="2800" dirty="0"/>
              <a:t>0.8g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2133600" y="1981200"/>
            <a:ext cx="3449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V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600200" y="2360612"/>
            <a:ext cx="16764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76400" y="2286000"/>
            <a:ext cx="13933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22.4Lmol</a:t>
            </a:r>
            <a:r>
              <a:rPr lang="en-US" altLang="zh-CN" sz="2200" baseline="30000" dirty="0"/>
              <a:t>-1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682950" y="2514600"/>
            <a:ext cx="8018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0.56L</a:t>
            </a:r>
            <a:endParaRPr lang="en-US" sz="22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636643" y="2819400"/>
            <a:ext cx="1411357" cy="16565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2769513"/>
            <a:ext cx="13933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22.4L</a:t>
            </a:r>
            <a:r>
              <a:rPr lang="en-US" sz="2200" dirty="0"/>
              <a:t>mol</a:t>
            </a:r>
            <a:r>
              <a:rPr lang="en-US" sz="2200" baseline="30000" dirty="0"/>
              <a:t>-1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4" grpId="0"/>
      <p:bldP spid="7" grpId="0"/>
      <p:bldP spid="8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方法二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4582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6		O=16</a:t>
            </a:r>
          </a:p>
          <a:p>
            <a:pPr>
              <a:buNone/>
            </a:pPr>
            <a:r>
              <a:rPr lang="zh-CN" altLang="en-US" sz="2800" dirty="0"/>
              <a:t>设：</a:t>
            </a:r>
            <a:r>
              <a:rPr lang="en-US" altLang="zh-CN" sz="2800" dirty="0"/>
              <a:t> 0.56L</a:t>
            </a:r>
            <a:r>
              <a:rPr lang="zh-CN" altLang="en-US" sz="2800" dirty="0"/>
              <a:t>氧气的质量是</a:t>
            </a:r>
            <a:r>
              <a:rPr lang="en-US" altLang="zh-CN" sz="2800" dirty="0" err="1"/>
              <a:t>xg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= (2x16)gmol</a:t>
            </a:r>
            <a:r>
              <a:rPr lang="en-US" altLang="zh-CN" sz="2800" baseline="30000" dirty="0"/>
              <a:t>-1 </a:t>
            </a:r>
            <a:r>
              <a:rPr lang="en-US" altLang="zh-CN" sz="2800" dirty="0"/>
              <a:t> = 32gmol</a:t>
            </a:r>
            <a:r>
              <a:rPr lang="en-US" altLang="zh-CN" sz="2800" baseline="30000" dirty="0"/>
              <a:t>-1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		</a:t>
            </a:r>
            <a:r>
              <a:rPr lang="zh-CN" altLang="en-US" sz="2800" dirty="0"/>
              <a:t>体积</a:t>
            </a:r>
            <a:r>
              <a:rPr lang="en-US" altLang="zh-CN" sz="2800" dirty="0"/>
              <a:t>			</a:t>
            </a:r>
            <a:r>
              <a:rPr lang="zh-CN" altLang="en-US" sz="2800" dirty="0"/>
              <a:t>质量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    			</a:t>
            </a:r>
            <a:r>
              <a:rPr lang="en-US" altLang="zh-CN" sz="2800" dirty="0"/>
              <a:t>0.56L			 </a:t>
            </a:r>
            <a:r>
              <a:rPr lang="en-US" altLang="zh-CN" sz="2800" dirty="0" err="1"/>
              <a:t>xg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    			22.4L			32g</a:t>
            </a:r>
          </a:p>
          <a:p>
            <a:pPr>
              <a:buNone/>
            </a:pPr>
            <a:r>
              <a:rPr lang="en-US" sz="2800" dirty="0"/>
              <a:t> 			(</a:t>
            </a:r>
            <a:r>
              <a:rPr lang="en-US" altLang="zh-CN" sz="2800" dirty="0"/>
              <a:t>22.4L)(x</a:t>
            </a:r>
            <a:r>
              <a:rPr lang="en-US" sz="2800" dirty="0"/>
              <a:t> )= (0.56L)(32</a:t>
            </a:r>
            <a:r>
              <a:rPr lang="en-US" altLang="zh-CN" sz="2800" dirty="0"/>
              <a:t>g</a:t>
            </a:r>
            <a:r>
              <a:rPr lang="en-US" sz="2800" dirty="0"/>
              <a:t>)</a:t>
            </a:r>
          </a:p>
          <a:p>
            <a:pPr>
              <a:buNone/>
            </a:pPr>
            <a:r>
              <a:rPr lang="en-US" sz="2800" dirty="0"/>
              <a:t>				    x = 0.8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答：在标准状况时，</a:t>
            </a:r>
            <a:r>
              <a:rPr lang="en-US" altLang="zh-CN" sz="2800" dirty="0"/>
              <a:t> 0.56L</a:t>
            </a:r>
            <a:r>
              <a:rPr lang="zh-CN" altLang="en-US" sz="2800" dirty="0"/>
              <a:t>氧气的质量是</a:t>
            </a:r>
            <a:r>
              <a:rPr lang="en-US" altLang="zh-CN" sz="2800" dirty="0"/>
              <a:t>0.8g</a:t>
            </a:r>
            <a:endParaRPr lang="en-US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sz="2800" dirty="0"/>
          </a:p>
        </p:txBody>
      </p:sp>
      <p:cxnSp>
        <p:nvCxnSpPr>
          <p:cNvPr id="4" name="Straight Arrow Connector 3"/>
          <p:cNvCxnSpPr/>
          <p:nvPr/>
        </p:nvCxnSpPr>
        <p:spPr>
          <a:xfrm rot="5400000">
            <a:off x="1675606" y="3242676"/>
            <a:ext cx="10668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rot="5400000">
            <a:off x="5371306" y="3161506"/>
            <a:ext cx="9906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462130" y="2819400"/>
            <a:ext cx="1447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10800000" flipV="1">
            <a:off x="3462130" y="2819400"/>
            <a:ext cx="1447800" cy="652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105400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7</a:t>
            </a:r>
          </a:p>
          <a:p>
            <a:pPr>
              <a:buNone/>
            </a:pPr>
            <a:r>
              <a:rPr lang="zh-CN" altLang="en-US" dirty="0"/>
              <a:t>已知： </a:t>
            </a:r>
            <a:r>
              <a:rPr lang="el-GR" dirty="0"/>
              <a:t>ρ</a:t>
            </a:r>
            <a:r>
              <a:rPr lang="en-US" dirty="0"/>
              <a:t> </a:t>
            </a:r>
            <a:r>
              <a:rPr lang="en-US" altLang="zh-CN" dirty="0"/>
              <a:t>= 1.69gL</a:t>
            </a:r>
            <a:r>
              <a:rPr lang="en-US" altLang="zh-CN" baseline="30000" dirty="0"/>
              <a:t>-1 </a:t>
            </a:r>
            <a:r>
              <a:rPr lang="en-US" altLang="zh-CN" dirty="0"/>
              <a:t>  </a:t>
            </a:r>
          </a:p>
          <a:p>
            <a:pPr>
              <a:buNone/>
            </a:pPr>
            <a:r>
              <a:rPr lang="en-US" altLang="zh-CN" dirty="0"/>
              <a:t>		    V = 22.4Lmol</a:t>
            </a:r>
            <a:r>
              <a:rPr lang="en-US" altLang="zh-CN" baseline="30000" dirty="0"/>
              <a:t>-1 </a:t>
            </a:r>
            <a:r>
              <a:rPr lang="en-US" altLang="zh-CN" dirty="0"/>
              <a:t>  </a:t>
            </a:r>
          </a:p>
          <a:p>
            <a:pPr>
              <a:buNone/>
            </a:pPr>
            <a:r>
              <a:rPr lang="zh-CN" altLang="en-US" dirty="0"/>
              <a:t> </a:t>
            </a:r>
            <a:r>
              <a:rPr lang="el-GR" dirty="0"/>
              <a:t>ρ</a:t>
            </a:r>
            <a:r>
              <a:rPr lang="en-US" dirty="0"/>
              <a:t> = M/ 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endParaRPr lang="en-US" dirty="0"/>
          </a:p>
          <a:p>
            <a:pPr>
              <a:buNone/>
            </a:pPr>
            <a:r>
              <a:rPr lang="en-US" dirty="0"/>
              <a:t>M = </a:t>
            </a:r>
            <a:r>
              <a:rPr lang="el-GR" dirty="0"/>
              <a:t>ρ</a:t>
            </a:r>
            <a:r>
              <a:rPr lang="en-US" dirty="0" err="1"/>
              <a:t>V</a:t>
            </a:r>
            <a:r>
              <a:rPr lang="en-US" baseline="-25000" dirty="0" err="1"/>
              <a:t>m</a:t>
            </a:r>
            <a:endParaRPr lang="en-US" dirty="0"/>
          </a:p>
          <a:p>
            <a:pPr>
              <a:buNone/>
            </a:pPr>
            <a:r>
              <a:rPr lang="en-US" dirty="0"/>
              <a:t>	 = </a:t>
            </a:r>
            <a:r>
              <a:rPr lang="en-US" altLang="zh-CN" dirty="0"/>
              <a:t>1.69gL</a:t>
            </a:r>
            <a:r>
              <a:rPr lang="en-US" altLang="zh-CN" baseline="30000" dirty="0"/>
              <a:t>-1 </a:t>
            </a:r>
            <a:r>
              <a:rPr lang="en-US" altLang="zh-CN" dirty="0"/>
              <a:t>  x 22.4Lmol</a:t>
            </a:r>
            <a:r>
              <a:rPr lang="en-US" altLang="zh-CN" baseline="30000" dirty="0"/>
              <a:t>-1</a:t>
            </a:r>
          </a:p>
          <a:p>
            <a:pPr>
              <a:buNone/>
            </a:pPr>
            <a:r>
              <a:rPr lang="en-US" baseline="30000" dirty="0"/>
              <a:t> </a:t>
            </a:r>
            <a:r>
              <a:rPr lang="en-US" dirty="0"/>
              <a:t>    = 37.86</a:t>
            </a:r>
            <a:r>
              <a:rPr lang="en-US" altLang="zh-CN" dirty="0"/>
              <a:t>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zh-CN" altLang="en-US" dirty="0"/>
              <a:t>该气体的摩尔质量是</a:t>
            </a:r>
            <a:r>
              <a:rPr lang="en-US" dirty="0"/>
              <a:t>37.86</a:t>
            </a:r>
            <a:r>
              <a:rPr lang="en-US" altLang="zh-CN" dirty="0"/>
              <a:t>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000" dirty="0"/>
              <a:t>例</a:t>
            </a:r>
            <a:r>
              <a:rPr lang="en-US" altLang="zh-CN" sz="3000" dirty="0"/>
              <a:t>8</a:t>
            </a:r>
            <a:r>
              <a:rPr lang="zh-CN" altLang="en-US" sz="3000" dirty="0"/>
              <a:t>：</a:t>
            </a:r>
            <a:r>
              <a:rPr lang="en-US" altLang="zh-CN" sz="3000" dirty="0"/>
              <a:t>Zn=65</a:t>
            </a:r>
          </a:p>
          <a:p>
            <a:pPr marL="514350" indent="-514350">
              <a:buNone/>
            </a:pPr>
            <a:r>
              <a:rPr lang="zh-CN" altLang="en-US" sz="3000" dirty="0"/>
              <a:t> </a:t>
            </a:r>
            <a:r>
              <a:rPr lang="en-US" altLang="zh-CN" sz="3000" dirty="0"/>
              <a:t>	</a:t>
            </a:r>
            <a:r>
              <a:rPr lang="zh-CN" altLang="en-US" sz="3000" dirty="0"/>
              <a:t>设：</a:t>
            </a:r>
            <a:r>
              <a:rPr lang="en-US" altLang="zh-CN" sz="3000" dirty="0"/>
              <a:t>STP</a:t>
            </a:r>
            <a:r>
              <a:rPr lang="zh-CN" altLang="en-US" sz="3000" dirty="0"/>
              <a:t>时能收集</a:t>
            </a:r>
            <a:r>
              <a:rPr lang="en-US" altLang="zh-CN" sz="3000" dirty="0" err="1"/>
              <a:t>xL</a:t>
            </a:r>
            <a:r>
              <a:rPr lang="en-US" altLang="zh-CN" sz="3000" dirty="0"/>
              <a:t>  H</a:t>
            </a:r>
            <a:r>
              <a:rPr lang="en-US" altLang="zh-CN" sz="3000" baseline="-25000" dirty="0"/>
              <a:t>2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/>
              <a:t> 	     </a:t>
            </a:r>
            <a:r>
              <a:rPr lang="en-US" altLang="zh-CN" sz="2800" dirty="0"/>
              <a:t>Zn</a:t>
            </a:r>
            <a:r>
              <a:rPr lang="en-MY" altLang="zh-CN" sz="2800" dirty="0"/>
              <a:t>(s)</a:t>
            </a:r>
            <a:r>
              <a:rPr lang="en-US" altLang="zh-CN" sz="2800" dirty="0"/>
              <a:t>+2HCl(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Wingdings" panose="05000000000000000000" pitchFamily="2" charset="2"/>
              </a:rPr>
              <a:t> ZnCl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Wingdings" panose="05000000000000000000" pitchFamily="2" charset="2"/>
              </a:rPr>
              <a:t> +H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/>
              <a:t> (g) </a:t>
            </a:r>
            <a:endParaRPr lang="en-US" altLang="zh-CN" sz="2800" baseline="-25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baseline="-25000" dirty="0">
                <a:sym typeface="Wingdings" panose="05000000000000000000" pitchFamily="2" charset="2"/>
              </a:rPr>
              <a:t> </a:t>
            </a:r>
            <a:r>
              <a:rPr lang="en-US" sz="3000" dirty="0">
                <a:sym typeface="Wingdings" panose="05000000000000000000" pitchFamily="2" charset="2"/>
              </a:rPr>
              <a:t>     		 13g  	    			      x L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 	  	  65g 	  			  22.4L</a:t>
            </a:r>
            <a:endParaRPr lang="en-US" altLang="zh-CN" sz="3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     	 (65)(x )= (13)(22.4)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	    	x = 4.48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6. </a:t>
            </a:r>
            <a:r>
              <a:rPr lang="zh-CN" altLang="en-US" sz="3000" dirty="0">
                <a:sym typeface="Wingdings" panose="05000000000000000000" pitchFamily="2" charset="2"/>
              </a:rPr>
              <a:t>答：</a:t>
            </a:r>
            <a:r>
              <a:rPr lang="en-US" altLang="zh-CN" sz="3000" dirty="0"/>
              <a:t> STP</a:t>
            </a:r>
            <a:r>
              <a:rPr lang="zh-CN" altLang="en-US" sz="3000" dirty="0"/>
              <a:t>时能收集</a:t>
            </a:r>
            <a:r>
              <a:rPr lang="en-US" altLang="zh-CN" sz="3000" dirty="0"/>
              <a:t>4.48L  H</a:t>
            </a:r>
            <a:r>
              <a:rPr lang="en-US" altLang="zh-CN" sz="3000" baseline="-25000" dirty="0"/>
              <a:t>2</a:t>
            </a:r>
            <a:endParaRPr lang="en-US" sz="3000" dirty="0">
              <a:sym typeface="Wingdings" panose="05000000000000000000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953294" y="28567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982494" y="27805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0" y="2895600"/>
            <a:ext cx="953017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rgbClr val="C00000"/>
                </a:solidFill>
              </a:rPr>
              <a:t>同样的物质单位要一样！</a:t>
            </a:r>
            <a:endParaRPr lang="en-US" sz="6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019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zh-CN" altLang="en-US" sz="4000" dirty="0"/>
              <a:t>思考题</a:t>
            </a:r>
            <a:r>
              <a:rPr lang="en-US" altLang="zh-CN" sz="4000" dirty="0"/>
              <a:t>17h</a:t>
            </a:r>
          </a:p>
          <a:p>
            <a:pPr marL="514350" indent="-514350">
              <a:buAutoNum type="arabicPeriod"/>
            </a:pPr>
            <a:r>
              <a:rPr lang="zh-CN" altLang="en-US" sz="3000" dirty="0"/>
              <a:t> </a:t>
            </a:r>
            <a:r>
              <a:rPr lang="en-US" altLang="zh-CN" sz="3000" dirty="0"/>
              <a:t>	</a:t>
            </a:r>
            <a:r>
              <a:rPr lang="zh-CN" altLang="en-US" sz="3000" dirty="0"/>
              <a:t>设：在</a:t>
            </a:r>
            <a:r>
              <a:rPr lang="en-US" altLang="zh-CN" sz="3000" dirty="0"/>
              <a:t>STP</a:t>
            </a:r>
            <a:r>
              <a:rPr lang="zh-CN" altLang="en-US" sz="3000" dirty="0"/>
              <a:t>下</a:t>
            </a:r>
            <a:r>
              <a:rPr lang="en-US" altLang="zh-CN" sz="3000" dirty="0"/>
              <a:t>,</a:t>
            </a:r>
            <a:r>
              <a:rPr lang="zh-CN" altLang="en-US" sz="3000" dirty="0"/>
              <a:t>需</a:t>
            </a:r>
            <a:r>
              <a:rPr lang="en-US" altLang="zh-CN" sz="3000" dirty="0"/>
              <a:t>x L</a:t>
            </a:r>
            <a:r>
              <a:rPr lang="zh-CN" altLang="en-US" sz="3000" dirty="0"/>
              <a:t>的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2</a:t>
            </a:r>
            <a:endParaRPr lang="en-US" altLang="zh-CN" sz="3000" dirty="0"/>
          </a:p>
          <a:p>
            <a:pPr marL="514350" indent="-514350">
              <a:buNone/>
            </a:pPr>
            <a:r>
              <a:rPr lang="en-US" altLang="zh-CN" sz="3000" dirty="0">
                <a:sym typeface="Wingdings" panose="05000000000000000000" pitchFamily="2" charset="2"/>
              </a:rPr>
              <a:t>	   2H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/>
              <a:t> (g)</a:t>
            </a:r>
            <a:r>
              <a:rPr lang="en-US" altLang="zh-CN" sz="3000" dirty="0">
                <a:sym typeface="Wingdings" panose="05000000000000000000" pitchFamily="2" charset="2"/>
              </a:rPr>
              <a:t> + O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/>
              <a:t> (g)</a:t>
            </a:r>
            <a:r>
              <a:rPr lang="en-US" altLang="zh-CN" sz="3000" dirty="0">
                <a:sym typeface="Wingdings" panose="05000000000000000000" pitchFamily="2" charset="2"/>
              </a:rPr>
              <a:t> 2H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O</a:t>
            </a:r>
            <a:r>
              <a:rPr lang="en-US" altLang="zh-CN" sz="3000" dirty="0"/>
              <a:t> (l) </a:t>
            </a:r>
            <a:endParaRPr lang="en-US" altLang="zh-CN" sz="3000" baseline="-25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baseline="-25000" dirty="0">
                <a:sym typeface="Wingdings" panose="05000000000000000000" pitchFamily="2" charset="2"/>
              </a:rPr>
              <a:t> </a:t>
            </a:r>
            <a:r>
              <a:rPr lang="en-US" sz="3000" dirty="0">
                <a:sym typeface="Wingdings" panose="05000000000000000000" pitchFamily="2" charset="2"/>
              </a:rPr>
              <a:t>  		</a:t>
            </a:r>
            <a:r>
              <a:rPr lang="en-US" sz="3000" dirty="0" err="1">
                <a:sym typeface="Wingdings" panose="05000000000000000000" pitchFamily="2" charset="2"/>
              </a:rPr>
              <a:t>xL</a:t>
            </a:r>
            <a:r>
              <a:rPr lang="en-US" sz="3000" dirty="0">
                <a:sym typeface="Wingdings" panose="05000000000000000000" pitchFamily="2" charset="2"/>
              </a:rPr>
              <a:t> 			   </a:t>
            </a:r>
            <a:r>
              <a:rPr lang="en-US" altLang="zh-CN" sz="3000" dirty="0">
                <a:sym typeface="Wingdings" panose="05000000000000000000" pitchFamily="2" charset="2"/>
              </a:rPr>
              <a:t>9g</a:t>
            </a:r>
            <a:endParaRPr lang="en-US" sz="3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 	    2(22.4L)</a:t>
            </a:r>
            <a:r>
              <a:rPr lang="en-US" altLang="zh-CN" sz="3000" dirty="0">
                <a:sym typeface="Wingdings" panose="05000000000000000000" pitchFamily="2" charset="2"/>
              </a:rPr>
              <a:t>		   36g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	36 </a:t>
            </a:r>
            <a:r>
              <a:rPr lang="en-US" altLang="zh-CN" sz="3000" dirty="0">
                <a:sym typeface="Wingdings" panose="05000000000000000000" pitchFamily="2" charset="2"/>
              </a:rPr>
              <a:t>x = 2(22.4)(9)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	     x =  11.2L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2. </a:t>
            </a:r>
            <a:r>
              <a:rPr lang="zh-CN" altLang="en-US" sz="3000" dirty="0">
                <a:sym typeface="Wingdings" panose="05000000000000000000" pitchFamily="2" charset="2"/>
              </a:rPr>
              <a:t>相同</a:t>
            </a:r>
            <a:endParaRPr lang="en-US" altLang="zh-CN" sz="3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anose="05000000000000000000" pitchFamily="2" charset="2"/>
              </a:rPr>
              <a:t>3. 		1A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+ 3B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 2 </a:t>
            </a:r>
            <a:r>
              <a:rPr lang="en-US" altLang="zh-CN" sz="3000" dirty="0" err="1">
                <a:sym typeface="Wingdings" panose="05000000000000000000" pitchFamily="2" charset="2"/>
              </a:rPr>
              <a:t>A</a:t>
            </a:r>
            <a:r>
              <a:rPr lang="en-US" altLang="zh-CN" sz="3000" baseline="-25000" dirty="0" err="1">
                <a:sym typeface="Wingdings" panose="05000000000000000000" pitchFamily="2" charset="2"/>
              </a:rPr>
              <a:t>a</a:t>
            </a:r>
            <a:r>
              <a:rPr lang="en-US" altLang="zh-CN" sz="3000" dirty="0">
                <a:sym typeface="Wingdings" panose="05000000000000000000" pitchFamily="2" charset="2"/>
              </a:rPr>
              <a:t> B</a:t>
            </a:r>
            <a:r>
              <a:rPr lang="en-US" altLang="zh-CN" sz="3000" baseline="-25000" dirty="0">
                <a:sym typeface="Wingdings" panose="05000000000000000000" pitchFamily="2" charset="2"/>
              </a:rPr>
              <a:t>b 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a=1		</a:t>
            </a:r>
            <a:r>
              <a:rPr lang="en-US" altLang="zh-CN" sz="3000" dirty="0">
                <a:sym typeface="Wingdings" panose="05000000000000000000" pitchFamily="2" charset="2"/>
              </a:rPr>
              <a:t>b=3		</a:t>
            </a:r>
            <a:r>
              <a:rPr lang="zh-CN" altLang="en-US" sz="3000" dirty="0">
                <a:sym typeface="Wingdings" panose="05000000000000000000" pitchFamily="2" charset="2"/>
              </a:rPr>
              <a:t>气体</a:t>
            </a:r>
            <a:r>
              <a:rPr lang="en-US" altLang="zh-CN" sz="3000" dirty="0">
                <a:sym typeface="Wingdings" panose="05000000000000000000" pitchFamily="2" charset="2"/>
              </a:rPr>
              <a:t>C</a:t>
            </a:r>
            <a:r>
              <a:rPr lang="zh-CN" altLang="en-US" sz="3000" dirty="0">
                <a:sym typeface="Wingdings" panose="05000000000000000000" pitchFamily="2" charset="2"/>
              </a:rPr>
              <a:t>化学式：</a:t>
            </a:r>
            <a:r>
              <a:rPr lang="en-US" altLang="zh-CN" sz="3000" dirty="0">
                <a:sym typeface="Wingdings" panose="05000000000000000000" pitchFamily="2" charset="2"/>
              </a:rPr>
              <a:t>AB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anose="05000000000000000000" pitchFamily="2" charset="2"/>
              </a:rPr>
              <a:t>									</a:t>
            </a:r>
            <a:r>
              <a:rPr lang="en-US" altLang="zh-CN" sz="3000" dirty="0">
                <a:sym typeface="Wingdings" panose="05000000000000000000" pitchFamily="2" charset="2"/>
              </a:rPr>
              <a:t>B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800894" y="26281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839494" y="26281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57800" y="4724400"/>
            <a:ext cx="3352800" cy="1219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229600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700" dirty="0"/>
              <a:t>历届考题</a:t>
            </a:r>
            <a:endParaRPr lang="en-US" altLang="zh-CN" sz="2700" dirty="0"/>
          </a:p>
          <a:p>
            <a:pPr marL="514350" indent="-514350">
              <a:buAutoNum type="arabicPeriod"/>
            </a:pPr>
            <a:r>
              <a:rPr lang="zh-CN" altLang="en-US" sz="2700" dirty="0"/>
              <a:t>下列哪种物质所含原子个数最多？</a:t>
            </a:r>
            <a:endParaRPr lang="en-US" altLang="zh-CN" sz="2700" dirty="0"/>
          </a:p>
          <a:p>
            <a:pPr marL="514350" indent="-514350">
              <a:buNone/>
            </a:pPr>
            <a:r>
              <a:rPr lang="en-US" altLang="zh-CN" sz="2700" dirty="0"/>
              <a:t>A  4g</a:t>
            </a:r>
            <a:r>
              <a:rPr lang="zh-CN" altLang="en-US" sz="2700" dirty="0"/>
              <a:t>的氢气 </a:t>
            </a:r>
            <a:r>
              <a:rPr lang="en-US" altLang="zh-CN" sz="2700" dirty="0"/>
              <a:t>			B</a:t>
            </a:r>
            <a:r>
              <a:rPr lang="zh-CN" altLang="en-US" sz="2700" dirty="0"/>
              <a:t>标准状况下</a:t>
            </a:r>
            <a:r>
              <a:rPr lang="en-US" altLang="zh-CN" sz="2700" dirty="0"/>
              <a:t>22.4L</a:t>
            </a:r>
            <a:r>
              <a:rPr lang="zh-CN" altLang="en-US" sz="2700" dirty="0"/>
              <a:t>的氦气</a:t>
            </a:r>
            <a:endParaRPr lang="en-US" altLang="zh-CN" sz="2700" dirty="0"/>
          </a:p>
          <a:p>
            <a:pPr marL="514350" indent="-514350">
              <a:buNone/>
            </a:pPr>
            <a:r>
              <a:rPr lang="en-US" altLang="zh-CN" sz="2700" dirty="0"/>
              <a:t>C 4</a:t>
            </a:r>
            <a:r>
              <a:rPr lang="en-US" altLang="zh-CN" sz="2700" baseline="30000" dirty="0"/>
              <a:t>o</a:t>
            </a:r>
            <a:r>
              <a:rPr lang="en-US" altLang="zh-CN" sz="2700" dirty="0"/>
              <a:t>C</a:t>
            </a:r>
            <a:r>
              <a:rPr lang="zh-CN" altLang="en-US" sz="2700" dirty="0"/>
              <a:t>时</a:t>
            </a:r>
            <a:r>
              <a:rPr lang="en-US" altLang="zh-CN" sz="2700" dirty="0"/>
              <a:t>18mL</a:t>
            </a:r>
            <a:r>
              <a:rPr lang="zh-CN" altLang="en-US" sz="2700" dirty="0"/>
              <a:t>的水</a:t>
            </a:r>
            <a:r>
              <a:rPr lang="en-US" altLang="zh-CN" sz="2700" dirty="0"/>
              <a:t>		D </a:t>
            </a:r>
            <a:r>
              <a:rPr lang="zh-CN" altLang="en-US" sz="2700" dirty="0"/>
              <a:t>标准状况下</a:t>
            </a:r>
            <a:r>
              <a:rPr lang="en-US" altLang="zh-CN" sz="2700" dirty="0"/>
              <a:t>11.2L</a:t>
            </a:r>
            <a:r>
              <a:rPr lang="zh-CN" altLang="en-US" sz="2700" dirty="0"/>
              <a:t>的氧气</a:t>
            </a:r>
            <a:endParaRPr lang="en-US" altLang="zh-CN" sz="2700" dirty="0"/>
          </a:p>
          <a:p>
            <a:pPr marL="514350" indent="-514350">
              <a:buNone/>
            </a:pPr>
            <a:endParaRPr lang="en-US" sz="2700" dirty="0"/>
          </a:p>
          <a:p>
            <a:pPr marL="514350" indent="-514350">
              <a:buNone/>
            </a:pPr>
            <a:r>
              <a:rPr lang="en-US" altLang="zh-CN" sz="2700" dirty="0"/>
              <a:t>2.</a:t>
            </a:r>
            <a:r>
              <a:rPr lang="zh-CN" altLang="en-US" sz="2700" dirty="0"/>
              <a:t>下列哪项含最多的原子个数？</a:t>
            </a:r>
            <a:r>
              <a:rPr lang="en-US" altLang="zh-CN" sz="2700" dirty="0"/>
              <a:t>Ne=20</a:t>
            </a:r>
          </a:p>
          <a:p>
            <a:pPr marL="514350" indent="-514350">
              <a:buNone/>
            </a:pPr>
            <a:r>
              <a:rPr lang="en-US" altLang="zh-CN" sz="2700" dirty="0"/>
              <a:t>A 10g</a:t>
            </a:r>
            <a:r>
              <a:rPr lang="zh-CN" altLang="en-US" sz="2700" dirty="0"/>
              <a:t>氖气</a:t>
            </a:r>
            <a:r>
              <a:rPr lang="en-US" altLang="zh-CN" sz="2700" dirty="0"/>
              <a:t>			B 0.4mol</a:t>
            </a:r>
            <a:r>
              <a:rPr lang="zh-CN" altLang="en-US" sz="2700" dirty="0"/>
              <a:t>氧气</a:t>
            </a:r>
            <a:endParaRPr lang="en-US" altLang="zh-CN" sz="2700" dirty="0"/>
          </a:p>
          <a:p>
            <a:pPr marL="514350" indent="-514350">
              <a:buNone/>
            </a:pPr>
            <a:r>
              <a:rPr lang="en-US" altLang="zh-CN" sz="2700" dirty="0"/>
              <a:t>C 4</a:t>
            </a:r>
            <a:r>
              <a:rPr lang="en-US" altLang="zh-CN" sz="2700" baseline="30000" dirty="0"/>
              <a:t>o</a:t>
            </a:r>
            <a:r>
              <a:rPr lang="en-US" altLang="zh-CN" sz="2700" dirty="0"/>
              <a:t>C</a:t>
            </a:r>
            <a:r>
              <a:rPr lang="zh-CN" altLang="en-US" sz="2700" dirty="0"/>
              <a:t>时</a:t>
            </a:r>
            <a:r>
              <a:rPr lang="en-US" altLang="zh-CN" sz="2700" dirty="0"/>
              <a:t>5.4mL</a:t>
            </a:r>
            <a:r>
              <a:rPr lang="zh-CN" altLang="en-US" sz="2700" dirty="0"/>
              <a:t>水</a:t>
            </a:r>
            <a:r>
              <a:rPr lang="en-US" altLang="zh-CN" sz="2700" dirty="0"/>
              <a:t>		D</a:t>
            </a:r>
            <a:r>
              <a:rPr lang="zh-CN" altLang="en-US" sz="2700" dirty="0"/>
              <a:t>标准状况下</a:t>
            </a:r>
            <a:r>
              <a:rPr lang="en-US" altLang="zh-CN" sz="2700" dirty="0"/>
              <a:t>5.6L</a:t>
            </a:r>
            <a:r>
              <a:rPr lang="zh-CN" altLang="en-US" sz="2700" dirty="0"/>
              <a:t>二氧化碳</a:t>
            </a:r>
            <a:endParaRPr lang="en-US" altLang="zh-CN" sz="2700" dirty="0"/>
          </a:p>
          <a:p>
            <a:pPr marL="514350" indent="-514350">
              <a:buNone/>
            </a:pPr>
            <a:endParaRPr lang="en-US" sz="2700" dirty="0"/>
          </a:p>
          <a:p>
            <a:pPr marL="514350" indent="-514350">
              <a:buNone/>
            </a:pPr>
            <a:r>
              <a:rPr lang="en-US" altLang="zh-CN" sz="2700" dirty="0"/>
              <a:t>3. </a:t>
            </a:r>
            <a:r>
              <a:rPr lang="zh-CN" altLang="en-US" sz="2700" dirty="0"/>
              <a:t>将下列气体依标准状况下的密度由大到小排列：</a:t>
            </a:r>
            <a:endParaRPr lang="en-US" altLang="zh-CN" sz="2700" dirty="0"/>
          </a:p>
          <a:p>
            <a:pPr marL="514350" indent="-514350">
              <a:buNone/>
            </a:pPr>
            <a:r>
              <a:rPr lang="en-US" altLang="zh-CN" sz="2700" dirty="0"/>
              <a:t>(O=16</a:t>
            </a:r>
            <a:r>
              <a:rPr lang="zh-CN" altLang="en-US" sz="2700" dirty="0"/>
              <a:t>，</a:t>
            </a:r>
            <a:r>
              <a:rPr lang="en-US" altLang="zh-CN" sz="2700" dirty="0"/>
              <a:t>S=32</a:t>
            </a:r>
            <a:r>
              <a:rPr lang="zh-CN" altLang="en-US" sz="2700" dirty="0"/>
              <a:t>，</a:t>
            </a:r>
            <a:r>
              <a:rPr lang="en-US" altLang="zh-CN" sz="2700" dirty="0"/>
              <a:t>C=12</a:t>
            </a:r>
            <a:r>
              <a:rPr lang="zh-CN" altLang="en-US" sz="2700" dirty="0"/>
              <a:t>，</a:t>
            </a:r>
            <a:r>
              <a:rPr lang="en-US" altLang="zh-CN" sz="2700" dirty="0"/>
              <a:t>N=14)</a:t>
            </a:r>
          </a:p>
          <a:p>
            <a:pPr marL="514350" indent="-514350">
              <a:buNone/>
            </a:pPr>
            <a:r>
              <a:rPr lang="en-US" altLang="zh-CN" sz="2700" dirty="0"/>
              <a:t>I O</a:t>
            </a:r>
            <a:r>
              <a:rPr lang="en-US" altLang="zh-CN" sz="2700" baseline="-25000" dirty="0"/>
              <a:t>2</a:t>
            </a:r>
            <a:r>
              <a:rPr lang="en-US" altLang="zh-CN" sz="2700" dirty="0"/>
              <a:t> 	II SO</a:t>
            </a:r>
            <a:r>
              <a:rPr lang="en-US" altLang="zh-CN" sz="2700" baseline="-25000" dirty="0"/>
              <a:t>2</a:t>
            </a:r>
            <a:r>
              <a:rPr lang="en-US" altLang="zh-CN" sz="2700" dirty="0"/>
              <a:t> 	 III CO</a:t>
            </a:r>
            <a:r>
              <a:rPr lang="en-US" altLang="zh-CN" sz="2700" baseline="-25000" dirty="0"/>
              <a:t>2</a:t>
            </a:r>
            <a:r>
              <a:rPr lang="en-US" altLang="zh-CN" sz="2700" dirty="0"/>
              <a:t>    IV NO</a:t>
            </a:r>
            <a:r>
              <a:rPr lang="en-US" altLang="zh-CN" sz="2700" baseline="-25000" dirty="0"/>
              <a:t>2</a:t>
            </a:r>
            <a:r>
              <a:rPr lang="en-US" altLang="zh-CN" sz="2700" dirty="0"/>
              <a:t> </a:t>
            </a:r>
          </a:p>
          <a:p>
            <a:pPr marL="514350" indent="-514350">
              <a:buNone/>
            </a:pPr>
            <a:r>
              <a:rPr lang="en-US" sz="2700" dirty="0"/>
              <a:t>A I,III,II,IV 	B II,IV,III,I 	C III,II,IV,I     D IV,I ,II,III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3526" y="68580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93526" y="2743200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1400" y="534418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3237"/>
            <a:ext cx="8229600" cy="5440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4. </a:t>
            </a:r>
            <a:r>
              <a:rPr lang="zh-CN" altLang="en-US" sz="2800" dirty="0"/>
              <a:t>下列叙述是否正确？试解释之。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1mol</a:t>
            </a:r>
            <a:r>
              <a:rPr lang="zh-CN" altLang="en-US" sz="2800" dirty="0"/>
              <a:t>氢气和</a:t>
            </a:r>
            <a:r>
              <a:rPr lang="en-US" altLang="zh-CN" sz="2800" dirty="0"/>
              <a:t>1mol</a:t>
            </a:r>
            <a:r>
              <a:rPr lang="zh-CN" altLang="en-US" sz="2800" dirty="0"/>
              <a:t>水所含的分子数相同，在标准状况下它们所占的体积都约为</a:t>
            </a:r>
            <a:r>
              <a:rPr lang="en-US" altLang="zh-CN" sz="2800" dirty="0"/>
              <a:t>22.4L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5.</a:t>
            </a:r>
            <a:r>
              <a:rPr lang="zh-CN" altLang="en-US" sz="2800" dirty="0"/>
              <a:t>计算在标准状况下，</a:t>
            </a:r>
            <a:r>
              <a:rPr lang="en-US" altLang="zh-CN" sz="2800" dirty="0"/>
              <a:t>1.12L</a:t>
            </a:r>
            <a:r>
              <a:rPr lang="zh-CN" altLang="en-US" sz="2800" dirty="0"/>
              <a:t>氢气的原子个数。</a:t>
            </a:r>
            <a:endParaRPr lang="en-US" altLang="zh-CN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altLang="zh-CN" sz="2800" dirty="0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4) </a:t>
            </a:r>
            <a:r>
              <a:rPr lang="zh-CN" altLang="en-US" sz="2800" dirty="0"/>
              <a:t>不正确。因为在标准状况下体积约为</a:t>
            </a:r>
            <a:r>
              <a:rPr lang="en-US" altLang="zh-CN" sz="2800" dirty="0"/>
              <a:t>22.4L</a:t>
            </a:r>
            <a:r>
              <a:rPr lang="zh-CN" altLang="en-US" sz="2800" dirty="0"/>
              <a:t>的是</a:t>
            </a:r>
            <a:r>
              <a:rPr lang="en-US" altLang="zh-CN" sz="2800" dirty="0"/>
              <a:t>1mol</a:t>
            </a:r>
            <a:r>
              <a:rPr lang="zh-CN" altLang="en-US" sz="2800" dirty="0"/>
              <a:t>气态物质，而水在标准状况下不是气态所以其体积不是</a:t>
            </a:r>
            <a:r>
              <a:rPr lang="en-US" altLang="zh-CN" sz="2800" dirty="0"/>
              <a:t>22.4Lmol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sz="2800"/>
              <a:t>	</a:t>
            </a:r>
            <a:r>
              <a:rPr lang="en-US" altLang="zh-CN" sz="2800"/>
              <a:t>5</a:t>
            </a:r>
            <a:r>
              <a:rPr lang="en-US" sz="2800"/>
              <a:t>)  </a:t>
            </a:r>
            <a:r>
              <a:rPr lang="en-US" altLang="zh-CN" sz="2800" dirty="0"/>
              <a:t>1.12L</a:t>
            </a:r>
            <a:r>
              <a:rPr lang="zh-CN" altLang="en-US" sz="2800" dirty="0"/>
              <a:t>氢气的原子个数</a:t>
            </a:r>
            <a:r>
              <a:rPr lang="en-US" altLang="zh-CN" sz="2800" dirty="0"/>
              <a:t>=</a:t>
            </a:r>
            <a:r>
              <a:rPr lang="en-US" sz="2800" dirty="0"/>
              <a:t>6.02x10</a:t>
            </a:r>
            <a:r>
              <a:rPr lang="en-US" sz="2800" baseline="30000" dirty="0"/>
              <a:t>22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600" dirty="0"/>
              <a:t>6. </a:t>
            </a:r>
            <a:r>
              <a:rPr lang="zh-CN" altLang="en-US" sz="2600" dirty="0"/>
              <a:t>在</a:t>
            </a:r>
            <a:r>
              <a:rPr lang="en-US" altLang="zh-CN" sz="2600" dirty="0"/>
              <a:t>25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C</a:t>
            </a:r>
            <a:r>
              <a:rPr lang="zh-CN" altLang="en-US" sz="2600" dirty="0"/>
              <a:t>，</a:t>
            </a:r>
            <a:r>
              <a:rPr lang="en-US" altLang="zh-CN" sz="2600" dirty="0"/>
              <a:t>1.01x10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</a:t>
            </a:r>
            <a:r>
              <a:rPr lang="zh-CN" altLang="en-US" sz="2600" dirty="0"/>
              <a:t>时用</a:t>
            </a:r>
            <a:r>
              <a:rPr lang="en-US" altLang="zh-CN" sz="2600" dirty="0"/>
              <a:t>108g</a:t>
            </a:r>
            <a:r>
              <a:rPr lang="zh-CN" altLang="en-US" sz="2600" dirty="0"/>
              <a:t>的铝与足量的盐酸作用，会产生多少</a:t>
            </a:r>
            <a:r>
              <a:rPr lang="en-US" altLang="zh-CN" sz="2600" dirty="0"/>
              <a:t>L</a:t>
            </a:r>
            <a:r>
              <a:rPr lang="zh-CN" altLang="en-US" sz="2600" dirty="0"/>
              <a:t>的氢气？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Al=27,H=1,Cl=35.5,O=16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zh-CN" altLang="en-US" sz="2600" dirty="0"/>
              <a:t> </a:t>
            </a:r>
            <a:r>
              <a:rPr lang="en-US" altLang="zh-CN" sz="2600" dirty="0"/>
              <a:t>	</a:t>
            </a:r>
            <a:r>
              <a:rPr lang="zh-CN" altLang="en-US" sz="2600" dirty="0"/>
              <a:t>设：在标准状况下所产生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的体积为 </a:t>
            </a:r>
            <a:r>
              <a:rPr lang="en-US" altLang="zh-CN" sz="2600" dirty="0"/>
              <a:t>x L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514350" indent="-514350">
              <a:buAutoNum type="arabicPeriod"/>
            </a:pPr>
            <a:r>
              <a:rPr lang="en-US" altLang="zh-CN" sz="2600" dirty="0"/>
              <a:t>    2Al(s) + 6HCl(</a:t>
            </a:r>
            <a:r>
              <a:rPr lang="en-US" altLang="zh-CN" sz="2600" dirty="0" err="1"/>
              <a:t>aq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Wingdings" panose="05000000000000000000" pitchFamily="2" charset="2"/>
              </a:rPr>
              <a:t> 2AlCl</a:t>
            </a:r>
            <a:r>
              <a:rPr lang="en-US" altLang="zh-CN" sz="2600" baseline="-25000" dirty="0">
                <a:sym typeface="Wingdings" panose="05000000000000000000" pitchFamily="2" charset="2"/>
              </a:rPr>
              <a:t>3</a:t>
            </a:r>
            <a:r>
              <a:rPr lang="en-US" altLang="zh-CN" sz="2600" dirty="0">
                <a:sym typeface="Wingdings" panose="05000000000000000000" pitchFamily="2" charset="2"/>
              </a:rPr>
              <a:t> </a:t>
            </a:r>
            <a:r>
              <a:rPr lang="en-US" altLang="zh-CN" sz="2600" dirty="0"/>
              <a:t>(</a:t>
            </a:r>
            <a:r>
              <a:rPr lang="en-US" altLang="zh-CN" sz="2600" dirty="0" err="1"/>
              <a:t>aq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Wingdings" panose="05000000000000000000" pitchFamily="2" charset="2"/>
              </a:rPr>
              <a:t>+3 H</a:t>
            </a:r>
            <a:r>
              <a:rPr lang="en-US" altLang="zh-CN" sz="2600" baseline="-25000" dirty="0">
                <a:sym typeface="Wingdings" panose="05000000000000000000" pitchFamily="2" charset="2"/>
              </a:rPr>
              <a:t>2</a:t>
            </a:r>
            <a:r>
              <a:rPr lang="en-MY" altLang="zh-CN" sz="2800" dirty="0">
                <a:sym typeface="Wingdings" panose="05000000000000000000" pitchFamily="2" charset="2"/>
              </a:rPr>
              <a:t> (g)</a:t>
            </a:r>
            <a:endParaRPr lang="en-US" altLang="zh-CN" sz="2600" baseline="-25000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sz="2600" baseline="-25000" dirty="0">
                <a:sym typeface="Wingdings" panose="05000000000000000000" pitchFamily="2" charset="2"/>
              </a:rPr>
              <a:t> </a:t>
            </a:r>
            <a:r>
              <a:rPr lang="en-US" sz="2600" dirty="0">
                <a:sym typeface="Wingdings" panose="05000000000000000000" pitchFamily="2" charset="2"/>
              </a:rPr>
              <a:t>  	</a:t>
            </a:r>
            <a:r>
              <a:rPr lang="en-US" altLang="zh-CN" sz="2600" dirty="0">
                <a:sym typeface="Wingdings" panose="05000000000000000000" pitchFamily="2" charset="2"/>
              </a:rPr>
              <a:t>108g	</a:t>
            </a:r>
            <a:r>
              <a:rPr lang="en-US" sz="2600" dirty="0">
                <a:sym typeface="Wingdings" panose="05000000000000000000" pitchFamily="2" charset="2"/>
              </a:rPr>
              <a:t> 			        x L</a:t>
            </a:r>
          </a:p>
          <a:p>
            <a:pPr marL="514350" indent="-514350">
              <a:buAutoNum type="arabicPeriod"/>
            </a:pPr>
            <a:r>
              <a:rPr lang="en-US" sz="2600" dirty="0">
                <a:sym typeface="Wingdings" panose="05000000000000000000" pitchFamily="2" charset="2"/>
              </a:rPr>
              <a:t> 	</a:t>
            </a:r>
            <a:r>
              <a:rPr lang="en-US" altLang="zh-CN" sz="2600" dirty="0">
                <a:sym typeface="Wingdings" panose="05000000000000000000" pitchFamily="2" charset="2"/>
              </a:rPr>
              <a:t>54g				</a:t>
            </a:r>
            <a:r>
              <a:rPr lang="en-US" sz="2600" dirty="0">
                <a:sym typeface="Wingdings" panose="05000000000000000000" pitchFamily="2" charset="2"/>
              </a:rPr>
              <a:t>       3</a:t>
            </a:r>
            <a:r>
              <a:rPr lang="en-US" altLang="zh-CN" sz="2600" dirty="0">
                <a:sym typeface="Wingdings" panose="05000000000000000000" pitchFamily="2" charset="2"/>
              </a:rPr>
              <a:t>x</a:t>
            </a:r>
            <a:r>
              <a:rPr lang="en-US" sz="2600" dirty="0">
                <a:sym typeface="Wingdings" panose="05000000000000000000" pitchFamily="2" charset="2"/>
              </a:rPr>
              <a:t>22.4L</a:t>
            </a:r>
          </a:p>
          <a:p>
            <a:pPr marL="514350" indent="-514350">
              <a:buAutoNum type="arabicPeriod"/>
            </a:pPr>
            <a:r>
              <a:rPr lang="en-US" sz="2600" dirty="0">
                <a:sym typeface="Wingdings" panose="05000000000000000000" pitchFamily="2" charset="2"/>
              </a:rPr>
              <a:t> 		   </a:t>
            </a:r>
            <a:r>
              <a:rPr lang="en-US" altLang="zh-CN" sz="2600" dirty="0">
                <a:sym typeface="Wingdings" panose="05000000000000000000" pitchFamily="2" charset="2"/>
              </a:rPr>
              <a:t>54</a:t>
            </a:r>
            <a:r>
              <a:rPr lang="en-US" sz="2600" dirty="0">
                <a:sym typeface="Wingdings" panose="05000000000000000000" pitchFamily="2" charset="2"/>
              </a:rPr>
              <a:t> </a:t>
            </a:r>
            <a:r>
              <a:rPr lang="en-US" altLang="zh-CN" sz="2600" dirty="0">
                <a:sym typeface="Wingdings" panose="05000000000000000000" pitchFamily="2" charset="2"/>
              </a:rPr>
              <a:t>x = (3)(22.4)(108)</a:t>
            </a:r>
          </a:p>
          <a:p>
            <a:pPr marL="514350" indent="-514350">
              <a:buNone/>
            </a:pPr>
            <a:r>
              <a:rPr lang="en-US" sz="2600" dirty="0">
                <a:sym typeface="Wingdings" panose="05000000000000000000" pitchFamily="2" charset="2"/>
              </a:rPr>
              <a:t>			        x = 134.4</a:t>
            </a: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 		  =			(T</a:t>
            </a:r>
            <a:r>
              <a:rPr lang="en-US" altLang="zh-CN" sz="2600" baseline="-25000" dirty="0">
                <a:sym typeface="Wingdings" panose="05000000000000000000" pitchFamily="2" charset="2"/>
              </a:rPr>
              <a:t>1</a:t>
            </a:r>
            <a:r>
              <a:rPr lang="en-US" altLang="zh-CN" sz="2600" dirty="0">
                <a:sym typeface="Wingdings" panose="05000000000000000000" pitchFamily="2" charset="2"/>
              </a:rPr>
              <a:t> =273K ,,V</a:t>
            </a:r>
            <a:r>
              <a:rPr lang="en-US" altLang="zh-CN" sz="2600" baseline="-25000" dirty="0">
                <a:sym typeface="Wingdings" panose="05000000000000000000" pitchFamily="2" charset="2"/>
              </a:rPr>
              <a:t>1</a:t>
            </a:r>
            <a:r>
              <a:rPr lang="en-US" altLang="zh-CN" sz="2600" dirty="0">
                <a:sym typeface="Wingdings" panose="05000000000000000000" pitchFamily="2" charset="2"/>
              </a:rPr>
              <a:t>=134.4L,T</a:t>
            </a:r>
            <a:r>
              <a:rPr lang="en-US" altLang="zh-CN" sz="2600" baseline="-25000" dirty="0">
                <a:sym typeface="Wingdings" panose="05000000000000000000" pitchFamily="2" charset="2"/>
              </a:rPr>
              <a:t>2</a:t>
            </a:r>
            <a:r>
              <a:rPr lang="en-US" altLang="zh-CN" sz="2600" dirty="0">
                <a:sym typeface="Wingdings" panose="05000000000000000000" pitchFamily="2" charset="2"/>
              </a:rPr>
              <a:t> =298K )</a:t>
            </a:r>
          </a:p>
          <a:p>
            <a:pPr marL="514350" indent="-514350">
              <a:buNone/>
            </a:pPr>
            <a:endParaRPr lang="en-US" altLang="zh-CN" sz="26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	 V</a:t>
            </a:r>
            <a:r>
              <a:rPr lang="en-US" altLang="zh-CN" sz="2600" baseline="-25000" dirty="0">
                <a:sym typeface="Wingdings" panose="05000000000000000000" pitchFamily="2" charset="2"/>
              </a:rPr>
              <a:t>2 </a:t>
            </a:r>
            <a:r>
              <a:rPr lang="en-US" altLang="zh-CN" sz="2600" dirty="0">
                <a:sym typeface="Wingdings" panose="05000000000000000000" pitchFamily="2" charset="2"/>
              </a:rPr>
              <a:t> = </a:t>
            </a: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		 = 146.71L </a:t>
            </a:r>
          </a:p>
          <a:p>
            <a:pPr marL="514350" indent="-514350">
              <a:buNone/>
            </a:pPr>
            <a:r>
              <a:rPr lang="zh-CN" altLang="en-US" sz="2600" dirty="0"/>
              <a:t>答：产生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146.71L</a:t>
            </a:r>
            <a:r>
              <a:rPr lang="zh-CN" altLang="en-US" sz="2600" dirty="0"/>
              <a:t>。</a:t>
            </a:r>
            <a:endParaRPr lang="en-US" sz="2600" dirty="0">
              <a:sym typeface="Wingdings" panose="05000000000000000000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724694" y="29329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6287294" y="29329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38400" y="2743200"/>
            <a:ext cx="289560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438400" y="2819400"/>
            <a:ext cx="28956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81000" y="4267200"/>
            <a:ext cx="2209800" cy="762000"/>
            <a:chOff x="2209800" y="1524000"/>
            <a:chExt cx="2209800" cy="762000"/>
          </a:xfrm>
        </p:grpSpPr>
        <p:grpSp>
          <p:nvGrpSpPr>
            <p:cNvPr id="12" name="Group 10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24384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4384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7338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T</a:t>
              </a:r>
              <a:r>
                <a:rPr lang="en-US" altLang="zh-CN" sz="2200" b="1" baseline="-25000" dirty="0"/>
                <a:t>2</a:t>
              </a:r>
              <a:endParaRPr lang="en-US" sz="2200" b="1" dirty="0"/>
            </a:p>
          </p:txBody>
        </p:sp>
      </p:grpSp>
      <p:grpSp>
        <p:nvGrpSpPr>
          <p:cNvPr id="22" name="Group 10"/>
          <p:cNvGrpSpPr/>
          <p:nvPr/>
        </p:nvGrpSpPr>
        <p:grpSpPr>
          <a:xfrm>
            <a:off x="1676400" y="5105400"/>
            <a:ext cx="2209800" cy="762000"/>
            <a:chOff x="2209800" y="1524000"/>
            <a:chExt cx="2209800" cy="762000"/>
          </a:xfrm>
        </p:grpSpPr>
        <p:sp>
          <p:nvSpPr>
            <p:cNvPr id="24" name="TextBox 23"/>
            <p:cNvSpPr txBox="1"/>
            <p:nvPr/>
          </p:nvSpPr>
          <p:spPr>
            <a:xfrm>
              <a:off x="2209800" y="1524000"/>
              <a:ext cx="838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298K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209800" y="1905000"/>
              <a:ext cx="83820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209800" y="1855113"/>
              <a:ext cx="990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273K 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24200" y="1702713"/>
              <a:ext cx="1295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X 134.4L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7. </a:t>
            </a:r>
            <a:r>
              <a:rPr lang="zh-CN" altLang="en-US" sz="2800" dirty="0"/>
              <a:t>有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两种气体各重</a:t>
            </a:r>
            <a:r>
              <a:rPr lang="en-US" altLang="zh-CN" sz="2800" dirty="0"/>
              <a:t>3.28g</a:t>
            </a:r>
            <a:r>
              <a:rPr lang="zh-CN" altLang="en-US" sz="2800" dirty="0"/>
              <a:t>及</a:t>
            </a:r>
            <a:r>
              <a:rPr lang="en-US" altLang="zh-CN" sz="2800" dirty="0"/>
              <a:t>1g</a:t>
            </a:r>
            <a:r>
              <a:rPr lang="zh-CN" altLang="en-US" sz="2800" dirty="0"/>
              <a:t>在同温同压时</a:t>
            </a:r>
            <a:r>
              <a:rPr lang="en-US" altLang="zh-CN" sz="2800" dirty="0"/>
              <a:t>A</a:t>
            </a:r>
            <a:r>
              <a:rPr lang="zh-CN" altLang="en-US" sz="2800" dirty="0"/>
              <a:t>气体的体积为</a:t>
            </a:r>
            <a:r>
              <a:rPr lang="en-US" altLang="zh-CN" sz="2800" dirty="0"/>
              <a:t>B</a:t>
            </a:r>
            <a:r>
              <a:rPr lang="zh-CN" altLang="en-US" sz="2800" dirty="0"/>
              <a:t>的两倍，已知</a:t>
            </a:r>
            <a:r>
              <a:rPr lang="en-US" altLang="zh-CN" sz="2800" dirty="0"/>
              <a:t>B</a:t>
            </a:r>
            <a:r>
              <a:rPr lang="zh-CN" altLang="en-US" sz="2800" dirty="0"/>
              <a:t>气体的分子量为</a:t>
            </a:r>
            <a:r>
              <a:rPr lang="en-US" altLang="zh-CN" sz="2800" dirty="0"/>
              <a:t>28,</a:t>
            </a:r>
            <a:r>
              <a:rPr lang="zh-CN" altLang="en-US" sz="2800" dirty="0"/>
              <a:t>则气体</a:t>
            </a:r>
            <a:r>
              <a:rPr lang="en-US" altLang="zh-CN" sz="2800" dirty="0"/>
              <a:t>A</a:t>
            </a:r>
            <a:r>
              <a:rPr lang="zh-CN" altLang="en-US" sz="2800" dirty="0"/>
              <a:t>是</a:t>
            </a:r>
            <a:r>
              <a:rPr lang="en-US" altLang="zh-CN" sz="2800" dirty="0"/>
              <a:t>(N=14,O=16)</a:t>
            </a:r>
          </a:p>
          <a:p>
            <a:pPr>
              <a:buNone/>
            </a:pPr>
            <a:r>
              <a:rPr lang="en-US" altLang="zh-CN" sz="2800" dirty="0"/>
              <a:t>	A 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	B NO		C 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5</a:t>
            </a:r>
            <a:r>
              <a:rPr lang="en-US" altLang="zh-CN" sz="2800" dirty="0"/>
              <a:t> 	D NO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解：同温同压时，气体的体积比</a:t>
            </a:r>
            <a:r>
              <a:rPr lang="en-US" altLang="zh-CN" sz="2800" dirty="0"/>
              <a:t>=</a:t>
            </a:r>
            <a:r>
              <a:rPr lang="zh-CN" altLang="en-US" sz="2800" dirty="0"/>
              <a:t>物质的量之比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	M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= 45.92gmol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A 44		B 30		C 108		D 46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7522126" y="4267200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D</a:t>
            </a:r>
            <a:endParaRPr lang="en-US" sz="2800" b="1" dirty="0">
              <a:solidFill>
                <a:srgbClr val="7030A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676400" y="2667000"/>
            <a:ext cx="2209800" cy="1006733"/>
            <a:chOff x="2362200" y="2743200"/>
            <a:chExt cx="2209800" cy="1006733"/>
          </a:xfrm>
        </p:grpSpPr>
        <p:grpSp>
          <p:nvGrpSpPr>
            <p:cNvPr id="7" name="Group 4"/>
            <p:cNvGrpSpPr/>
            <p:nvPr/>
          </p:nvGrpSpPr>
          <p:grpSpPr>
            <a:xfrm>
              <a:off x="2362200" y="2743200"/>
              <a:ext cx="2209800" cy="1006733"/>
              <a:chOff x="2209800" y="1371600"/>
              <a:chExt cx="2209800" cy="1006733"/>
            </a:xfrm>
          </p:grpSpPr>
          <p:grpSp>
            <p:nvGrpSpPr>
              <p:cNvPr id="9" name="Group 10"/>
              <p:cNvGrpSpPr/>
              <p:nvPr/>
            </p:nvGrpSpPr>
            <p:grpSpPr>
              <a:xfrm>
                <a:off x="2209800" y="1371600"/>
                <a:ext cx="2209800" cy="1006733"/>
                <a:chOff x="2209800" y="1371600"/>
                <a:chExt cx="2209800" cy="1006733"/>
              </a:xfrm>
            </p:grpSpPr>
            <p:sp>
              <p:nvSpPr>
                <p:cNvPr id="11" name="TextBox 10"/>
                <p:cNvSpPr txBox="1"/>
                <p:nvPr/>
              </p:nvSpPr>
              <p:spPr>
                <a:xfrm>
                  <a:off x="2438400" y="1457980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/>
                    <a:t>V</a:t>
                  </a:r>
                  <a:r>
                    <a:rPr lang="en-US" altLang="zh-CN" sz="2800" b="1" baseline="-25000" dirty="0"/>
                    <a:t>A</a:t>
                  </a:r>
                  <a:endParaRPr lang="en-US" sz="2800" b="1" dirty="0"/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/>
                <p:cNvSpPr txBox="1"/>
                <p:nvPr/>
              </p:nvSpPr>
              <p:spPr>
                <a:xfrm>
                  <a:off x="2438400" y="1855113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/>
                    <a:t>V</a:t>
                  </a:r>
                  <a:r>
                    <a:rPr lang="en-US" altLang="zh-CN" sz="2800" b="1" baseline="-25000" dirty="0"/>
                    <a:t>B</a:t>
                  </a:r>
                  <a:endParaRPr lang="en-US" sz="2800" b="1" dirty="0"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3733800" y="1371600"/>
                  <a:ext cx="6858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b="1" dirty="0" err="1"/>
                    <a:t>n</a:t>
                  </a:r>
                  <a:r>
                    <a:rPr lang="en-US" altLang="zh-CN" sz="2800" b="1" baseline="-25000" dirty="0" err="1"/>
                    <a:t>A</a:t>
                  </a:r>
                  <a:endParaRPr lang="en-US" sz="2800" b="1" dirty="0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3733800" y="18551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err="1"/>
                  <a:t>n</a:t>
                </a:r>
                <a:r>
                  <a:rPr lang="en-US" altLang="zh-CN" sz="2800" b="1" baseline="-25000" dirty="0" err="1"/>
                  <a:t>B</a:t>
                </a:r>
                <a:endParaRPr lang="en-US" sz="2800" b="1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352800" y="3043535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=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676400" y="4022467"/>
            <a:ext cx="2651760" cy="930533"/>
            <a:chOff x="2362200" y="2819400"/>
            <a:chExt cx="2651760" cy="930533"/>
          </a:xfrm>
        </p:grpSpPr>
        <p:grpSp>
          <p:nvGrpSpPr>
            <p:cNvPr id="19" name="Group 10"/>
            <p:cNvGrpSpPr/>
            <p:nvPr/>
          </p:nvGrpSpPr>
          <p:grpSpPr>
            <a:xfrm>
              <a:off x="2362200" y="2819400"/>
              <a:ext cx="2651760" cy="930533"/>
              <a:chOff x="2209800" y="1447800"/>
              <a:chExt cx="2651760" cy="930533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2438400" y="1447800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1905000"/>
                <a:ext cx="1280160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438400" y="18551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1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733800" y="1550313"/>
                <a:ext cx="68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b="1" dirty="0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3352800" y="3043535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=</a:t>
              </a:r>
            </a:p>
          </p:txBody>
        </p:sp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3213100" y="3670300"/>
          <a:ext cx="901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363200" imgH="10363200" progId="Equation.3">
                  <p:embed/>
                </p:oleObj>
              </mc:Choice>
              <mc:Fallback>
                <p:oleObj name="Equation" r:id="rId3" imgW="10363200" imgH="1036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670300"/>
                        <a:ext cx="9017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968624" y="4506912"/>
          <a:ext cx="137667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4000" imgH="10058400" progId="Equation.3">
                  <p:embed/>
                </p:oleObj>
              </mc:Choice>
              <mc:Fallback>
                <p:oleObj name="Equation" r:id="rId5" imgW="16764000" imgH="10058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4" y="4506912"/>
                        <a:ext cx="1376677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某定量气体盛于某容器中，压强为</a:t>
            </a:r>
            <a:r>
              <a:rPr lang="en-US" altLang="zh-CN" sz="2800" dirty="0"/>
              <a:t>900mmHg</a:t>
            </a:r>
            <a:r>
              <a:rPr lang="zh-CN" altLang="en-US" sz="2800" dirty="0"/>
              <a:t>，将一部分气体抽出后，压强减至</a:t>
            </a:r>
            <a:r>
              <a:rPr lang="en-US" altLang="zh-CN" sz="2800" dirty="0"/>
              <a:t>750mmHg,</a:t>
            </a:r>
            <a:r>
              <a:rPr lang="zh-CN" altLang="en-US" sz="2800" dirty="0"/>
              <a:t>抽出的气体在</a:t>
            </a:r>
            <a:r>
              <a:rPr lang="en-US" altLang="zh-CN" sz="2800" dirty="0"/>
              <a:t>1atm</a:t>
            </a:r>
            <a:r>
              <a:rPr lang="zh-CN" altLang="en-US" sz="2800" dirty="0"/>
              <a:t>是体积为</a:t>
            </a:r>
            <a:r>
              <a:rPr lang="en-US" altLang="zh-CN" sz="2800" dirty="0"/>
              <a:t>30mL,</a:t>
            </a:r>
            <a:r>
              <a:rPr lang="zh-CN" altLang="en-US" sz="2800" dirty="0"/>
              <a:t>若温度一定，则某容器的体积为多少？</a:t>
            </a:r>
            <a:r>
              <a:rPr lang="en-US" altLang="zh-CN" sz="2800" dirty="0"/>
              <a:t>(1atm=760mmHg)</a:t>
            </a:r>
          </a:p>
          <a:p>
            <a:pPr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150mmHg</a:t>
            </a:r>
            <a:r>
              <a:rPr lang="zh-CN" altLang="en-US" sz="2800" dirty="0"/>
              <a:t>，</a:t>
            </a:r>
            <a:r>
              <a:rPr lang="en-US" altLang="zh-CN" sz="2800" dirty="0"/>
              <a:t>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760mmHg</a:t>
            </a:r>
            <a:r>
              <a:rPr lang="zh-CN" altLang="en-US" sz="2800" dirty="0"/>
              <a:t>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= 30mL</a:t>
            </a:r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=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/p</a:t>
            </a:r>
            <a:r>
              <a:rPr lang="en-US" altLang="zh-CN" sz="2800" baseline="-25000" dirty="0"/>
              <a:t>1</a:t>
            </a:r>
          </a:p>
          <a:p>
            <a:pPr>
              <a:buNone/>
            </a:pPr>
            <a:r>
              <a:rPr lang="en-US" altLang="zh-CN" sz="2800" baseline="-25000" dirty="0"/>
              <a:t> </a:t>
            </a:r>
            <a:r>
              <a:rPr lang="en-US" altLang="zh-CN" sz="2800" dirty="0"/>
              <a:t> 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</a:t>
            </a:r>
            <a:endParaRPr lang="en-US" altLang="zh-CN" sz="2800" baseline="-25000" dirty="0"/>
          </a:p>
          <a:p>
            <a:pPr>
              <a:buNone/>
            </a:pPr>
            <a:r>
              <a:rPr lang="en-US" sz="2800" dirty="0"/>
              <a:t>         = 152mL</a:t>
            </a:r>
          </a:p>
          <a:p>
            <a:pPr>
              <a:buNone/>
            </a:pPr>
            <a:r>
              <a:rPr lang="zh-CN" altLang="en-US" sz="2800" dirty="0"/>
              <a:t>答：此容器的体积</a:t>
            </a:r>
            <a:r>
              <a:rPr lang="en-US" altLang="zh-CN" sz="2800" dirty="0"/>
              <a:t>152mL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776235" y="4491335"/>
            <a:ext cx="2573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760mmHg x 30mL  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76400" y="4875212"/>
            <a:ext cx="2971800" cy="1588"/>
          </a:xfrm>
          <a:prstGeom prst="line">
            <a:avLst/>
          </a:prstGeom>
          <a:ln cmpd="dbl">
            <a:solidFill>
              <a:schemeClr val="tx1"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4600" y="4872335"/>
            <a:ext cx="13740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150mmHg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53400" cy="1470025"/>
          </a:xfrm>
        </p:spPr>
        <p:txBody>
          <a:bodyPr>
            <a:normAutofit/>
          </a:bodyPr>
          <a:lstStyle/>
          <a:p>
            <a:r>
              <a:rPr lang="en-US" dirty="0"/>
              <a:t>17.5 </a:t>
            </a:r>
            <a:br>
              <a:rPr lang="en-US" dirty="0"/>
            </a:br>
            <a:r>
              <a:rPr lang="zh-CN" altLang="en-US" dirty="0"/>
              <a:t>理想气体及理想气体状态方程式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17.5.1 </a:t>
            </a:r>
            <a:r>
              <a:rPr lang="zh-CN" altLang="en-US" sz="4000" dirty="0"/>
              <a:t>理想气体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zh-CN" altLang="en-US" dirty="0"/>
              <a:t>条件：高温低压。</a:t>
            </a:r>
            <a:endParaRPr lang="en-US" altLang="zh-CN" dirty="0"/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zh-CN" altLang="en-US" dirty="0"/>
              <a:t>特征：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气体分子间的平均距离很大，分子间的作用力忽略不计。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气体分子的体积很小，把它当作没有体积的质点。</a:t>
            </a:r>
            <a:endParaRPr lang="en-US" altLang="zh-CN" dirty="0"/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zh-CN" altLang="en-US" dirty="0"/>
              <a:t>实际上理想气体是不存在的。</a:t>
            </a:r>
            <a:endParaRPr lang="en-US" altLang="zh-CN" dirty="0"/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7037"/>
            <a:ext cx="8229600" cy="5897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在以下哪些条件下，真实气体</a:t>
            </a:r>
            <a:r>
              <a:rPr lang="zh-CN" altLang="en-US" sz="2800" b="1" dirty="0"/>
              <a:t>最</a:t>
            </a:r>
            <a:r>
              <a:rPr lang="zh-CN" altLang="en-US" sz="2800" dirty="0"/>
              <a:t>接近理想气体？</a:t>
            </a:r>
            <a:endParaRPr lang="en-US" altLang="zh-CN" sz="2800" b="1" dirty="0"/>
          </a:p>
          <a:p>
            <a:pPr marL="514350" indent="-514350">
              <a:buNone/>
            </a:pPr>
            <a:r>
              <a:rPr lang="en-US" altLang="zh-CN" sz="2800" dirty="0"/>
              <a:t>I </a:t>
            </a:r>
            <a:r>
              <a:rPr lang="zh-CN" altLang="en-US" sz="2800" dirty="0"/>
              <a:t>接近沸点时</a:t>
            </a:r>
            <a:r>
              <a:rPr lang="en-US" altLang="zh-CN" sz="2800" dirty="0"/>
              <a:t>	II </a:t>
            </a:r>
            <a:r>
              <a:rPr lang="zh-CN" altLang="en-US" sz="2800" dirty="0"/>
              <a:t>高温时</a:t>
            </a:r>
            <a:r>
              <a:rPr lang="en-US" altLang="zh-CN" sz="2800" dirty="0"/>
              <a:t>	III </a:t>
            </a:r>
            <a:r>
              <a:rPr lang="zh-CN" altLang="en-US" sz="2800" dirty="0"/>
              <a:t>低温时</a:t>
            </a:r>
            <a:r>
              <a:rPr lang="en-US" altLang="zh-CN" sz="2800" dirty="0"/>
              <a:t>	</a:t>
            </a:r>
          </a:p>
          <a:p>
            <a:pPr marL="514350" indent="-514350">
              <a:buNone/>
            </a:pPr>
            <a:r>
              <a:rPr lang="en-US" altLang="zh-CN" sz="2800" dirty="0"/>
              <a:t>IV </a:t>
            </a:r>
            <a:r>
              <a:rPr lang="zh-CN" altLang="en-US" sz="2800" dirty="0"/>
              <a:t>高压时</a:t>
            </a:r>
            <a:r>
              <a:rPr lang="en-US" altLang="zh-CN" sz="2800" dirty="0"/>
              <a:t>		V </a:t>
            </a:r>
            <a:r>
              <a:rPr lang="zh-CN" altLang="en-US" sz="2800" dirty="0"/>
              <a:t>低压时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A I,IV 		B I,V 		C II,V 		D III,IV</a:t>
            </a:r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理想气体拥有下列哪些特征？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I </a:t>
            </a:r>
            <a:r>
              <a:rPr lang="zh-CN" altLang="en-US" sz="2800" dirty="0"/>
              <a:t>气体分子间没有作用力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II </a:t>
            </a:r>
            <a:r>
              <a:rPr lang="zh-CN" altLang="en-US" sz="2800" dirty="0"/>
              <a:t>气体分子没有体积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III </a:t>
            </a:r>
            <a:r>
              <a:rPr lang="zh-CN" altLang="en-US" sz="2800" dirty="0"/>
              <a:t>气体分子没有质量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A I,II 		B I,III		C II,III		D I,II,III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26444" y="1828800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1400" y="4429780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17.5.2</a:t>
            </a:r>
            <a:br>
              <a:rPr lang="en-US" altLang="zh-CN" dirty="0"/>
            </a:br>
            <a:r>
              <a:rPr lang="zh-CN" altLang="en-US" b="1" dirty="0">
                <a:solidFill>
                  <a:srgbClr val="7030A0"/>
                </a:solidFill>
              </a:rPr>
              <a:t>一定质量</a:t>
            </a:r>
            <a:r>
              <a:rPr lang="zh-CN" altLang="en-US" dirty="0"/>
              <a:t>的理想气体状态方程式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压强、温度、体积同时发生变化</a:t>
            </a:r>
            <a:endParaRPr lang="en-US" altLang="zh-CN" sz="2800" dirty="0"/>
          </a:p>
          <a:p>
            <a:r>
              <a:rPr lang="zh-CN" altLang="en-US" sz="2800" dirty="0"/>
              <a:t>结合了波义耳定律、查理定律与压强定律</a:t>
            </a:r>
            <a:endParaRPr lang="en-US" altLang="zh-CN" sz="2800" dirty="0"/>
          </a:p>
          <a:p>
            <a:r>
              <a:rPr lang="en-US" altLang="zh-CN" sz="2800" dirty="0"/>
              <a:t> </a:t>
            </a:r>
          </a:p>
          <a:p>
            <a:r>
              <a:rPr lang="en-US" altLang="zh-CN" sz="2800" dirty="0"/>
              <a:t>                         </a:t>
            </a:r>
            <a:r>
              <a:rPr lang="en-US" altLang="zh-CN" dirty="0">
                <a:solidFill>
                  <a:srgbClr val="CC00FF"/>
                </a:solidFill>
              </a:rPr>
              <a:t>=</a:t>
            </a:r>
          </a:p>
          <a:p>
            <a:pPr>
              <a:buNone/>
            </a:pPr>
            <a:endParaRPr lang="en-US" altLang="zh-CN" sz="2800" dirty="0"/>
          </a:p>
        </p:txBody>
      </p:sp>
      <p:grpSp>
        <p:nvGrpSpPr>
          <p:cNvPr id="4" name="Group 3"/>
          <p:cNvGrpSpPr/>
          <p:nvPr/>
        </p:nvGrpSpPr>
        <p:grpSpPr>
          <a:xfrm>
            <a:off x="1752600" y="3429000"/>
            <a:ext cx="2590800" cy="762000"/>
            <a:chOff x="2209800" y="1524000"/>
            <a:chExt cx="2209800" cy="762000"/>
          </a:xfrm>
        </p:grpSpPr>
        <p:grpSp>
          <p:nvGrpSpPr>
            <p:cNvPr id="5" name="Group 10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2209800" y="1524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p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1</a:t>
                </a:r>
                <a:r>
                  <a:rPr lang="en-US" altLang="zh-CN" sz="2200" b="1" dirty="0">
                    <a:solidFill>
                      <a:srgbClr val="CC00CC"/>
                    </a:solidFill>
                  </a:rPr>
                  <a:t> V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1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rgbClr val="CC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4384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T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1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639671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>
                    <a:solidFill>
                      <a:srgbClr val="CC00CC"/>
                    </a:solidFill>
                  </a:rPr>
                  <a:t>p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2</a:t>
                </a:r>
                <a:r>
                  <a:rPr lang="en-US" altLang="zh-CN" sz="2200" b="1" dirty="0">
                    <a:solidFill>
                      <a:srgbClr val="CC00CC"/>
                    </a:solidFill>
                  </a:rPr>
                  <a:t> V</a:t>
                </a:r>
                <a:r>
                  <a:rPr lang="en-US" altLang="zh-CN" sz="2200" b="1" baseline="-25000" dirty="0">
                    <a:solidFill>
                      <a:srgbClr val="CC00CC"/>
                    </a:solidFill>
                  </a:rPr>
                  <a:t>2</a:t>
                </a:r>
                <a:endParaRPr lang="en-US" sz="2200" b="1" dirty="0">
                  <a:solidFill>
                    <a:srgbClr val="CC00CC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CC00CC"/>
                  </a:solidFill>
                </a:rPr>
                <a:t>T</a:t>
              </a:r>
              <a:r>
                <a:rPr lang="en-US" altLang="zh-CN" sz="2200" b="1" baseline="-25000" dirty="0">
                  <a:solidFill>
                    <a:srgbClr val="CC00CC"/>
                  </a:solidFill>
                </a:rPr>
                <a:t>2</a:t>
              </a:r>
              <a:endParaRPr lang="en-US" sz="2200" b="1" dirty="0">
                <a:solidFill>
                  <a:srgbClr val="CC00CC"/>
                </a:solidFill>
              </a:endParaRPr>
            </a:p>
          </p:txBody>
        </p:sp>
      </p:grpSp>
      <p:grpSp>
        <p:nvGrpSpPr>
          <p:cNvPr id="15" name="Group 10"/>
          <p:cNvGrpSpPr/>
          <p:nvPr/>
        </p:nvGrpSpPr>
        <p:grpSpPr>
          <a:xfrm>
            <a:off x="2057405" y="2845713"/>
            <a:ext cx="1752595" cy="735687"/>
            <a:chOff x="2209802" y="1524000"/>
            <a:chExt cx="1359312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2241012" y="1524000"/>
              <a:ext cx="9144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CC00CC"/>
                  </a:solidFill>
                </a:rPr>
                <a:t>p V</a:t>
              </a:r>
              <a:endParaRPr lang="en-US" sz="2200" b="1" dirty="0">
                <a:solidFill>
                  <a:srgbClr val="CC00CC"/>
                </a:solidFill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209802" y="1905000"/>
              <a:ext cx="531907" cy="1588"/>
            </a:xfrm>
            <a:prstGeom prst="line">
              <a:avLst/>
            </a:prstGeom>
            <a:ln w="2222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303931" y="1828800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CC00CC"/>
                  </a:solidFill>
                </a:rPr>
                <a:t>T</a:t>
              </a:r>
              <a:endParaRPr lang="en-US" sz="2200" b="1" dirty="0">
                <a:solidFill>
                  <a:srgbClr val="CC00CC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24213" y="1702713"/>
              <a:ext cx="7449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CC00CC"/>
                  </a:solidFill>
                </a:rPr>
                <a:t>= </a:t>
              </a:r>
              <a:r>
                <a:rPr lang="zh-CN" altLang="en-US" sz="2200" b="1" dirty="0">
                  <a:solidFill>
                    <a:srgbClr val="CC00CC"/>
                  </a:solidFill>
                </a:rPr>
                <a:t>恒量</a:t>
              </a:r>
              <a:endParaRPr lang="en-US" sz="2200" b="1" dirty="0">
                <a:solidFill>
                  <a:srgbClr val="CC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1</a:t>
            </a:r>
            <a:r>
              <a:rPr lang="en-US" altLang="zh-CN" sz="3600" dirty="0"/>
              <a:t>7</a:t>
            </a:r>
            <a:r>
              <a:rPr lang="en-US" sz="3600" dirty="0"/>
              <a:t>.5.3</a:t>
            </a:r>
            <a:br>
              <a:rPr lang="en-US" sz="3600" dirty="0"/>
            </a:br>
            <a:r>
              <a:rPr lang="zh-CN" altLang="en-US" sz="3600" b="1" dirty="0">
                <a:solidFill>
                  <a:srgbClr val="7030A0"/>
                </a:solidFill>
              </a:rPr>
              <a:t>任意质量</a:t>
            </a:r>
            <a:r>
              <a:rPr lang="zh-CN" altLang="en-US" sz="3600" dirty="0"/>
              <a:t>的理想气体状态方程式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73914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恒量</a:t>
            </a:r>
            <a:r>
              <a:rPr lang="en-US" altLang="zh-CN" sz="2800" dirty="0"/>
              <a:t>  R=8.314 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Pam</a:t>
            </a:r>
            <a:r>
              <a:rPr lang="en-US" altLang="zh-CN" sz="2800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</a:t>
            </a:r>
            <a:r>
              <a:rPr lang="en-US" altLang="zh-CN" sz="2800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</a:t>
            </a:r>
            <a:r>
              <a:rPr lang="en-US" altLang="zh-CN" sz="2800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dirty="0"/>
              <a:t>= 8.314 Jmol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K</a:t>
            </a:r>
            <a:r>
              <a:rPr lang="en-US" altLang="zh-CN" sz="2800" baseline="30000" dirty="0"/>
              <a:t>-1</a:t>
            </a:r>
          </a:p>
          <a:p>
            <a:r>
              <a:rPr lang="en-US" altLang="zh-CN" sz="2800" baseline="30000" dirty="0"/>
              <a:t> 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C00000"/>
                </a:solidFill>
              </a:rPr>
              <a:t>p V = n R T 		p V = 	      R T </a:t>
            </a:r>
          </a:p>
          <a:p>
            <a:r>
              <a:rPr lang="en-US" sz="2800" dirty="0"/>
              <a:t>p	</a:t>
            </a:r>
            <a:r>
              <a:rPr lang="zh-CN" altLang="en-US" sz="2800" dirty="0"/>
              <a:t>压强 </a:t>
            </a:r>
            <a:r>
              <a:rPr lang="en-US" altLang="zh-CN" sz="2800" dirty="0"/>
              <a:t>			</a:t>
            </a:r>
            <a:r>
              <a:rPr lang="zh-CN" altLang="en-US" sz="2800" dirty="0"/>
              <a:t>单位 </a:t>
            </a:r>
            <a:r>
              <a:rPr lang="en-US" altLang="zh-CN" sz="2800" dirty="0"/>
              <a:t>Pa</a:t>
            </a:r>
          </a:p>
          <a:p>
            <a:r>
              <a:rPr lang="en-US" altLang="zh-CN" sz="2800" dirty="0"/>
              <a:t>V 	</a:t>
            </a:r>
            <a:r>
              <a:rPr lang="zh-CN" altLang="en-US" sz="2800" dirty="0"/>
              <a:t>体积</a:t>
            </a:r>
            <a:r>
              <a:rPr lang="en-US" altLang="zh-CN" sz="2800" dirty="0"/>
              <a:t>			</a:t>
            </a:r>
            <a:r>
              <a:rPr lang="zh-CN" altLang="en-US" sz="2800" dirty="0"/>
              <a:t>单位 </a:t>
            </a:r>
            <a:r>
              <a:rPr lang="en-US" altLang="zh-CN" sz="2800" b="1" dirty="0">
                <a:solidFill>
                  <a:srgbClr val="C00000"/>
                </a:solidFill>
              </a:rPr>
              <a:t>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</a:p>
          <a:p>
            <a:r>
              <a:rPr lang="en-US" sz="2800" dirty="0"/>
              <a:t>n 	</a:t>
            </a:r>
            <a:r>
              <a:rPr lang="zh-CN" altLang="en-US" sz="2800" dirty="0"/>
              <a:t>物质的量</a:t>
            </a:r>
            <a:r>
              <a:rPr lang="en-US" altLang="zh-CN" sz="2800" dirty="0"/>
              <a:t>		</a:t>
            </a:r>
            <a:r>
              <a:rPr lang="zh-CN" altLang="en-US" sz="2800" dirty="0"/>
              <a:t>单位 </a:t>
            </a:r>
            <a:r>
              <a:rPr lang="en-US" altLang="zh-CN" sz="2800" dirty="0"/>
              <a:t>mol</a:t>
            </a:r>
          </a:p>
          <a:p>
            <a:r>
              <a:rPr lang="en-US" sz="2800" dirty="0"/>
              <a:t>T 	</a:t>
            </a:r>
            <a:r>
              <a:rPr lang="zh-CN" altLang="en-US" sz="2800" dirty="0"/>
              <a:t>热力学温度</a:t>
            </a:r>
            <a:r>
              <a:rPr lang="en-US" altLang="zh-CN" sz="2800" dirty="0"/>
              <a:t>		SI</a:t>
            </a:r>
            <a:r>
              <a:rPr lang="zh-CN" altLang="en-US" sz="2800" dirty="0"/>
              <a:t>单位</a:t>
            </a:r>
            <a:r>
              <a:rPr lang="en-US" altLang="zh-CN" sz="2800" b="1" dirty="0">
                <a:solidFill>
                  <a:srgbClr val="C00000"/>
                </a:solidFill>
              </a:rPr>
              <a:t>K</a:t>
            </a:r>
          </a:p>
          <a:p>
            <a:r>
              <a:rPr lang="en-US" altLang="zh-CN" sz="2800" dirty="0"/>
              <a:t>n= </a:t>
            </a:r>
          </a:p>
          <a:p>
            <a:r>
              <a:rPr lang="en-US" altLang="zh-CN" sz="2800" dirty="0"/>
              <a:t>m 	</a:t>
            </a:r>
            <a:r>
              <a:rPr lang="zh-CN" altLang="en-US" sz="2800" dirty="0"/>
              <a:t>质量</a:t>
            </a:r>
            <a:r>
              <a:rPr lang="en-US" altLang="zh-CN" sz="2800" dirty="0"/>
              <a:t>			</a:t>
            </a:r>
            <a:r>
              <a:rPr lang="zh-CN" altLang="en-US" sz="2800" dirty="0"/>
              <a:t>单位 </a:t>
            </a:r>
            <a:r>
              <a:rPr lang="en-US" altLang="zh-CN" sz="2800" dirty="0"/>
              <a:t>g</a:t>
            </a:r>
          </a:p>
          <a:p>
            <a:r>
              <a:rPr lang="en-US" altLang="zh-CN" sz="2800" dirty="0"/>
              <a:t>M   </a:t>
            </a:r>
            <a:r>
              <a:rPr lang="zh-CN" altLang="en-US" sz="2800" dirty="0"/>
              <a:t>摩尔质量</a:t>
            </a:r>
            <a:r>
              <a:rPr lang="en-US" altLang="zh-CN" sz="2800" dirty="0"/>
              <a:t>		</a:t>
            </a:r>
            <a:r>
              <a:rPr lang="zh-CN" altLang="en-US" sz="2800" dirty="0"/>
              <a:t>单位 </a:t>
            </a:r>
            <a:r>
              <a:rPr lang="en-US" altLang="zh-CN" sz="2800" dirty="0"/>
              <a:t>gmol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适用于理想气体。</a:t>
            </a: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功</a:t>
            </a:r>
            <a:r>
              <a:rPr lang="en-US" altLang="zh-CN" sz="2800" dirty="0"/>
              <a:t>W = Fs		</a:t>
            </a:r>
            <a:r>
              <a:rPr lang="zh-CN" altLang="en-US" sz="2800" dirty="0"/>
              <a:t>压强</a:t>
            </a:r>
            <a:r>
              <a:rPr lang="en-US" altLang="zh-CN" sz="2800" dirty="0"/>
              <a:t>P=F/A 		</a:t>
            </a:r>
            <a:r>
              <a:rPr lang="zh-CN" altLang="en-US" sz="2800" dirty="0"/>
              <a:t>压力</a:t>
            </a:r>
            <a:r>
              <a:rPr lang="en-US" altLang="zh-CN" sz="2800" dirty="0"/>
              <a:t>F= PA 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W= 1J= 1Pam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371600" y="4064913"/>
            <a:ext cx="533400" cy="735687"/>
            <a:chOff x="1371600" y="4598313"/>
            <a:chExt cx="533400" cy="735687"/>
          </a:xfrm>
        </p:grpSpPr>
        <p:sp>
          <p:nvSpPr>
            <p:cNvPr id="4" name="TextBox 3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029200" y="1524000"/>
            <a:ext cx="533400" cy="735687"/>
            <a:chOff x="1371600" y="4598313"/>
            <a:chExt cx="533400" cy="735687"/>
          </a:xfrm>
        </p:grpSpPr>
        <p:sp>
          <p:nvSpPr>
            <p:cNvPr id="14" name="TextBox 13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</a:rPr>
                <a:t>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03684" y="4903113"/>
              <a:ext cx="4315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</a:rPr>
                <a:t>M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15.5.4 </a:t>
            </a:r>
            <a:br>
              <a:rPr lang="en-US" altLang="zh-CN" dirty="0"/>
            </a:br>
            <a:r>
              <a:rPr lang="zh-CN" altLang="en-US" dirty="0"/>
              <a:t>关于理想气体状态方程式的计算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457200" y="14478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lang="en-US" altLang="zh-CN" sz="2800" noProof="0" dirty="0"/>
              <a:t>9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在标准状况下，</a:t>
            </a:r>
            <a:r>
              <a:rPr lang="en-US" altLang="zh-CN" sz="2800" dirty="0"/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5g</a:t>
            </a:r>
            <a:r>
              <a:rPr lang="zh-CN" altLang="en-US" sz="2800" dirty="0"/>
              <a:t>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气占多大体积？</a:t>
            </a:r>
            <a:r>
              <a:rPr lang="en-US" altLang="zh-CN" sz="2800" dirty="0"/>
              <a:t>O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=16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25g</a:t>
            </a:r>
            <a:r>
              <a:rPr lang="zh-CN" altLang="en-US" sz="2800" dirty="0"/>
              <a:t>氧气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气的体积是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M(O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 = 32gmol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/>
              <a:t>V 	= m/M x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m</a:t>
            </a:r>
            <a:endParaRPr lang="en-US" altLang="zh-CN" sz="2800" dirty="0"/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/>
              <a:t>	= 25g/32gmol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 x 22.4Lmol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/>
              <a:t>   	= 17.5L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/>
              <a:t>V 	= </a:t>
            </a:r>
            <a:r>
              <a:rPr lang="en-US" altLang="zh-CN" sz="2800" dirty="0" err="1"/>
              <a:t>nRT</a:t>
            </a:r>
            <a:r>
              <a:rPr lang="en-US" altLang="zh-CN" sz="2800" dirty="0"/>
              <a:t>/P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altLang="zh-CN" sz="2800" dirty="0"/>
              <a:t>	= 17.5L 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答</a:t>
            </a:r>
            <a:r>
              <a:rPr lang="zh-CN" altLang="en-US" sz="2800" dirty="0"/>
              <a:t>：在标准状况下，</a:t>
            </a:r>
            <a:r>
              <a:rPr lang="en-US" altLang="zh-CN" sz="2800" dirty="0"/>
              <a:t>25g</a:t>
            </a:r>
            <a:r>
              <a:rPr lang="zh-CN" altLang="en-US" sz="2800" dirty="0"/>
              <a:t>氧气的体积是</a:t>
            </a:r>
            <a:r>
              <a:rPr lang="en-US" altLang="zh-CN" sz="2800" dirty="0"/>
              <a:t>17.5L</a:t>
            </a:r>
            <a:r>
              <a:rPr lang="zh-CN" altLang="en-US" sz="2800" dirty="0"/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 uiExpand="1" build="allAtOnce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Content Placeholder 2"/>
          <p:cNvSpPr txBox="1"/>
          <p:nvPr/>
        </p:nvSpPr>
        <p:spPr>
          <a:xfrm>
            <a:off x="457200" y="152400"/>
            <a:ext cx="8229600" cy="670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/>
              <a:t>				</a:t>
            </a:r>
            <a:r>
              <a:rPr lang="zh-CN" altLang="en-US" sz="2800" dirty="0"/>
              <a:t>问题解决</a:t>
            </a:r>
            <a:endParaRPr lang="en-US" altLang="zh-CN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/>
              <a:t>V 	= m/M x 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m</a:t>
            </a:r>
            <a:endParaRPr lang="en-US" altLang="zh-CN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/>
              <a:t>	= 4g/2gmol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 x 22.4Lmol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/>
              <a:t>   	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44.8L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aseline="0" dirty="0"/>
              <a:t>V 	= </a:t>
            </a:r>
            <a:r>
              <a:rPr lang="en-US" altLang="zh-CN" sz="2800" baseline="0" dirty="0" err="1"/>
              <a:t>nRT</a:t>
            </a:r>
            <a:r>
              <a:rPr lang="en-US" altLang="zh-CN" sz="2800" baseline="0" dirty="0"/>
              <a:t>/P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= 44.94L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/>
              <a:t>				</a:t>
            </a:r>
            <a:r>
              <a:rPr lang="zh-CN" altLang="en-US" sz="2800" dirty="0"/>
              <a:t>思考题 </a:t>
            </a:r>
            <a:r>
              <a:rPr lang="en-US" altLang="zh-CN" sz="2800" dirty="0"/>
              <a:t>17i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800" dirty="0"/>
              <a:t>D </a:t>
            </a:r>
            <a:r>
              <a:rPr lang="zh-CN" altLang="en-US" sz="2800" dirty="0"/>
              <a:t>体积与</a:t>
            </a:r>
            <a:r>
              <a:rPr lang="zh-CN" altLang="en-US" sz="2800" b="1" dirty="0">
                <a:solidFill>
                  <a:srgbClr val="002060"/>
                </a:solidFill>
              </a:rPr>
              <a:t>热力学温度</a:t>
            </a:r>
            <a:r>
              <a:rPr lang="zh-CN" altLang="en-US" sz="2800" dirty="0"/>
              <a:t>成正比</a:t>
            </a:r>
            <a:endParaRPr lang="en-US" altLang="zh-CN" sz="2800" dirty="0"/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	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10		H=1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V = 1000 m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p = 5x10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 </a:t>
            </a:r>
            <a:r>
              <a:rPr lang="zh-CN" altLang="en-US" sz="2800" dirty="0"/>
              <a:t>、</a:t>
            </a:r>
            <a:r>
              <a:rPr lang="en-US" altLang="zh-CN" sz="2800" dirty="0"/>
              <a:t>M(H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=2gmol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     T = 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m=? kg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en-US" altLang="zh-CN" sz="2800" dirty="0"/>
              <a:t>		</a:t>
            </a:r>
          </a:p>
          <a:p>
            <a:pPr>
              <a:buNone/>
            </a:pPr>
            <a:r>
              <a:rPr lang="en-US" altLang="zh-CN" sz="2800" dirty="0"/>
              <a:t>    		  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 =         RT</a:t>
            </a:r>
          </a:p>
          <a:p>
            <a:pPr>
              <a:buNone/>
            </a:pPr>
            <a:r>
              <a:rPr lang="en-US" altLang="zh-CN" sz="2800" dirty="0"/>
              <a:t>		   m = </a:t>
            </a:r>
          </a:p>
          <a:p>
            <a:pPr>
              <a:buNone/>
            </a:pPr>
            <a:r>
              <a:rPr lang="en-US" altLang="zh-CN" sz="2800" dirty="0"/>
              <a:t>		       = </a:t>
            </a:r>
          </a:p>
          <a:p>
            <a:pPr>
              <a:buNone/>
            </a:pPr>
            <a:r>
              <a:rPr lang="en-US" altLang="zh-CN" sz="2800" dirty="0"/>
              <a:t>		       = 4.04x10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g</a:t>
            </a:r>
          </a:p>
          <a:p>
            <a:pPr>
              <a:buNone/>
            </a:pPr>
            <a:r>
              <a:rPr lang="en-US" altLang="zh-CN" sz="2800" dirty="0"/>
              <a:t>		       = 4040kg</a:t>
            </a:r>
          </a:p>
          <a:p>
            <a:pPr>
              <a:buNone/>
            </a:pPr>
            <a:r>
              <a:rPr lang="zh-CN" altLang="en-US" sz="2800" dirty="0"/>
              <a:t>答：该储气柜最多可储存</a:t>
            </a:r>
            <a:r>
              <a:rPr lang="en-US" altLang="zh-CN" sz="2800" dirty="0"/>
              <a:t>4040kg</a:t>
            </a:r>
            <a:r>
              <a:rPr lang="zh-CN" altLang="en-US" sz="2800" dirty="0"/>
              <a:t>的氢气。</a:t>
            </a:r>
            <a:endParaRPr lang="en-US" altLang="zh-CN" sz="2800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1371600"/>
            <a:ext cx="3347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(25 + 273) K = 298 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38400" y="2845713"/>
            <a:ext cx="533400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438400" y="33528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348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p </a:t>
              </a:r>
              <a:r>
                <a:rPr lang="en-US" altLang="zh-CN" sz="2200" dirty="0"/>
                <a:t>V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2850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R T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2438400" y="3912513"/>
            <a:ext cx="4572000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418110" y="4598313"/>
              <a:ext cx="399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5x10</a:t>
              </a:r>
              <a:r>
                <a:rPr lang="en-US" altLang="zh-CN" sz="2200" baseline="30000" dirty="0"/>
                <a:t>6</a:t>
              </a:r>
              <a:r>
                <a:rPr lang="en-US" altLang="zh-CN" sz="2200" dirty="0"/>
                <a:t> Pa x 1000m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4255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298 K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uiExpand="1" build="p"/>
      <p:bldP spid="3" grpId="3" uiExpand="1" build="p"/>
      <p:bldP spid="3" grpId="4" uiExpand="1" build="p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-76200"/>
            <a:ext cx="82296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11		H=1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30 L </a:t>
            </a:r>
          </a:p>
          <a:p>
            <a:pPr>
              <a:buNone/>
            </a:pPr>
            <a:r>
              <a:rPr lang="en-US" altLang="zh-CN" sz="2800" dirty="0"/>
              <a:t> 	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27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4.9x10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 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9.8x10</a:t>
            </a:r>
            <a:r>
              <a:rPr lang="en-US" altLang="zh-CN" sz="2800" baseline="30000" dirty="0"/>
              <a:t>5 </a:t>
            </a:r>
            <a:r>
              <a:rPr lang="en-US" altLang="zh-CN" sz="2800" dirty="0"/>
              <a:t>Pa </a:t>
            </a:r>
          </a:p>
          <a:p>
            <a:pPr>
              <a:buNone/>
            </a:pPr>
            <a:r>
              <a:rPr lang="en-US" altLang="zh-CN" sz="2800" dirty="0"/>
              <a:t>		M(H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	</a:t>
            </a:r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m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     m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=n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RT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		</a:t>
            </a:r>
          </a:p>
          <a:p>
            <a:pPr>
              <a:buNone/>
            </a:pPr>
            <a:r>
              <a:rPr lang="en-US" altLang="zh-CN" sz="2800" dirty="0"/>
              <a:t>    		  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         RT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   m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 = </a:t>
            </a:r>
          </a:p>
          <a:p>
            <a:pPr>
              <a:buNone/>
            </a:pPr>
            <a:r>
              <a:rPr lang="en-US" altLang="zh-CN" sz="2800" dirty="0"/>
              <a:t>		           = </a:t>
            </a:r>
          </a:p>
          <a:p>
            <a:pPr>
              <a:buNone/>
            </a:pPr>
            <a:r>
              <a:rPr lang="en-US" altLang="zh-CN" sz="2800" dirty="0"/>
              <a:t>		           </a:t>
            </a:r>
            <a:r>
              <a:rPr lang="en-US" altLang="zh-CN" sz="2400" dirty="0"/>
              <a:t>= 117.87 g</a:t>
            </a:r>
          </a:p>
          <a:p>
            <a:pPr>
              <a:buNone/>
            </a:pPr>
            <a:r>
              <a:rPr lang="zh-CN" altLang="en-US" sz="2400" dirty="0"/>
              <a:t>同样的方法求  </a:t>
            </a:r>
            <a:r>
              <a:rPr lang="en-US" altLang="zh-CN" sz="2400" dirty="0"/>
              <a:t>m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 = 23.57g         </a:t>
            </a:r>
          </a:p>
          <a:p>
            <a:pPr>
              <a:buNone/>
            </a:pPr>
            <a:r>
              <a:rPr lang="en-US" altLang="zh-CN" sz="2400" dirty="0"/>
              <a:t>    m=117.87g-23.57g=94.3g</a:t>
            </a:r>
          </a:p>
          <a:p>
            <a:pPr>
              <a:buNone/>
            </a:pPr>
            <a:r>
              <a:rPr lang="zh-CN" altLang="en-US" sz="2400" dirty="0"/>
              <a:t>答：共用去</a:t>
            </a:r>
            <a:r>
              <a:rPr lang="en-US" altLang="zh-CN" sz="2400" dirty="0"/>
              <a:t>94.3g</a:t>
            </a:r>
            <a:r>
              <a:rPr lang="zh-CN" altLang="en-US" sz="2400" dirty="0"/>
              <a:t>氢气。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487308" y="92458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(27 + 273) K = 300K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2648623" y="3409890"/>
            <a:ext cx="551777" cy="735687"/>
            <a:chOff x="1371600" y="4598313"/>
            <a:chExt cx="551777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5052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  <a:r>
                <a:rPr lang="en-US" sz="2200" baseline="-25000" dirty="0"/>
                <a:t>1</a:t>
              </a:r>
              <a:endParaRPr lang="en-US" sz="2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590800" y="394329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5950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p</a:t>
              </a:r>
              <a:r>
                <a:rPr lang="en-US" sz="2200" baseline="-25000" dirty="0"/>
                <a:t>1</a:t>
              </a:r>
              <a:r>
                <a:rPr lang="en-US" sz="2200" dirty="0"/>
                <a:t> </a:t>
              </a:r>
              <a:r>
                <a:rPr lang="en-US" altLang="zh-CN" sz="2200" dirty="0"/>
                <a:t>V</a:t>
              </a:r>
              <a:r>
                <a:rPr lang="en-US" altLang="zh-CN" sz="2200" baseline="-25000" dirty="0"/>
                <a:t>1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6201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R T</a:t>
              </a:r>
              <a:r>
                <a:rPr lang="en-US" altLang="zh-CN" sz="2200" baseline="-25000" dirty="0"/>
                <a:t>1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590800" y="4522113"/>
            <a:ext cx="4572000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418110" y="4598313"/>
              <a:ext cx="41618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4.9x10</a:t>
              </a:r>
              <a:r>
                <a:rPr lang="en-US" altLang="zh-CN" sz="2200" baseline="30000" dirty="0"/>
                <a:t>6</a:t>
              </a:r>
              <a:r>
                <a:rPr lang="en-US" altLang="zh-CN" sz="2200" dirty="0"/>
                <a:t> Pa x 0.03m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4255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300 K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347847" y="467380"/>
            <a:ext cx="3433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30x10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-3</a:t>
            </a:r>
            <a:r>
              <a:rPr lang="en-US" altLang="zh-CN" sz="2800" b="1" dirty="0">
                <a:solidFill>
                  <a:srgbClr val="C00000"/>
                </a:solidFill>
              </a:rPr>
              <a:t>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= 0.03m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2133600" y="2667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609600" y="6172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3" grpId="3" build="p"/>
      <p:bldP spid="3" grpId="4" uiExpand="1" build="p"/>
      <p:bldP spid="7" grpId="0"/>
      <p:bldP spid="16" grpId="0"/>
      <p:bldP spid="20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600" dirty="0"/>
              <a:t>例</a:t>
            </a:r>
            <a:r>
              <a:rPr lang="en-US" altLang="zh-CN" sz="2600" dirty="0"/>
              <a:t>12		</a:t>
            </a:r>
          </a:p>
          <a:p>
            <a:pPr>
              <a:buNone/>
            </a:pPr>
            <a:r>
              <a:rPr lang="zh-CN" altLang="en-US" sz="2600" dirty="0"/>
              <a:t>已知</a:t>
            </a:r>
            <a:r>
              <a:rPr lang="en-US" altLang="zh-CN" sz="2600" dirty="0"/>
              <a:t> 	T =87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</a:t>
            </a:r>
          </a:p>
          <a:p>
            <a:pPr>
              <a:buNone/>
            </a:pPr>
            <a:r>
              <a:rPr lang="en-US" altLang="zh-CN" sz="2600" dirty="0"/>
              <a:t>		p = 720mmHg</a:t>
            </a:r>
          </a:p>
          <a:p>
            <a:pPr>
              <a:buNone/>
            </a:pPr>
            <a:r>
              <a:rPr lang="en-US" altLang="zh-CN" sz="2600" dirty="0"/>
              <a:t>		V = 400mL </a:t>
            </a:r>
          </a:p>
          <a:p>
            <a:pPr>
              <a:buNone/>
            </a:pPr>
            <a:r>
              <a:rPr lang="en-US" altLang="zh-CN" sz="2600" dirty="0"/>
              <a:t>		m= 0.744g</a:t>
            </a:r>
          </a:p>
          <a:p>
            <a:pPr>
              <a:buNone/>
            </a:pPr>
            <a:r>
              <a:rPr lang="zh-CN" altLang="en-US" sz="2600" dirty="0"/>
              <a:t>求 </a:t>
            </a:r>
            <a:r>
              <a:rPr lang="en-US" altLang="zh-CN" sz="2600" dirty="0"/>
              <a:t>M</a:t>
            </a:r>
          </a:p>
          <a:p>
            <a:pPr>
              <a:buNone/>
            </a:pPr>
            <a:r>
              <a:rPr lang="zh-CN" altLang="en-US" sz="2600" dirty="0"/>
              <a:t>公式： </a:t>
            </a:r>
            <a:r>
              <a:rPr lang="en-US" altLang="zh-CN" sz="2600" dirty="0" err="1"/>
              <a:t>pV</a:t>
            </a:r>
            <a:r>
              <a:rPr lang="en-US" altLang="zh-CN" sz="2600" dirty="0"/>
              <a:t>=	     RT		</a:t>
            </a:r>
          </a:p>
          <a:p>
            <a:pPr>
              <a:buNone/>
            </a:pPr>
            <a:r>
              <a:rPr lang="en-US" altLang="zh-CN" sz="2600" dirty="0"/>
              <a:t>    	     </a:t>
            </a:r>
            <a:r>
              <a:rPr lang="en-US" altLang="zh-CN" sz="2600" dirty="0" err="1"/>
              <a:t>MpV</a:t>
            </a:r>
            <a:r>
              <a:rPr lang="en-US" altLang="zh-CN" sz="2600" dirty="0"/>
              <a:t> =m RT</a:t>
            </a:r>
          </a:p>
          <a:p>
            <a:pPr>
              <a:buNone/>
            </a:pPr>
            <a:r>
              <a:rPr lang="en-US" altLang="zh-CN" sz="2600" dirty="0"/>
              <a:t>		   M= </a:t>
            </a:r>
          </a:p>
          <a:p>
            <a:pPr>
              <a:buNone/>
            </a:pPr>
            <a:r>
              <a:rPr lang="en-US" altLang="zh-CN" sz="2600" dirty="0"/>
              <a:t>		       = </a:t>
            </a:r>
          </a:p>
          <a:p>
            <a:pPr>
              <a:buNone/>
            </a:pPr>
            <a:r>
              <a:rPr lang="en-US" altLang="zh-CN" sz="2600" dirty="0"/>
              <a:t>		       = 58gmol</a:t>
            </a:r>
            <a:r>
              <a:rPr lang="en-US" altLang="zh-CN" sz="2600" baseline="30000" dirty="0"/>
              <a:t>-1</a:t>
            </a:r>
            <a:endParaRPr lang="en-US" altLang="zh-CN" sz="2600" dirty="0"/>
          </a:p>
          <a:p>
            <a:pPr>
              <a:buNone/>
            </a:pPr>
            <a:r>
              <a:rPr lang="zh-CN" altLang="en-US" sz="2600" dirty="0"/>
              <a:t>答：该有机物的相对分子质量为</a:t>
            </a:r>
            <a:r>
              <a:rPr lang="en-US" altLang="zh-CN" sz="2600" dirty="0">
                <a:solidFill>
                  <a:srgbClr val="FF0000"/>
                </a:solidFill>
              </a:rPr>
              <a:t>58</a:t>
            </a:r>
            <a:r>
              <a:rPr lang="zh-CN" altLang="en-US" sz="2600" dirty="0"/>
              <a:t>。</a:t>
            </a:r>
            <a:r>
              <a:rPr lang="en-US" altLang="zh-CN" sz="2600" dirty="0"/>
              <a:t>(</a:t>
            </a:r>
            <a:r>
              <a:rPr lang="zh-CN" altLang="en-US" sz="2600" dirty="0"/>
              <a:t>没单位的！</a:t>
            </a:r>
            <a:r>
              <a:rPr lang="en-US" altLang="zh-CN" sz="2600" dirty="0"/>
              <a:t>)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762000"/>
            <a:ext cx="3132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= (87 + 273) K = 360 K</a:t>
            </a:r>
            <a:endParaRPr lang="en-US" sz="2600" b="1" dirty="0">
              <a:solidFill>
                <a:srgbClr val="C00000"/>
              </a:solidFill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2133600" y="2998113"/>
            <a:ext cx="533400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209800" y="39624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634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R 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29960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</a:t>
              </a:r>
              <a:r>
                <a:rPr lang="en-US" altLang="zh-CN" sz="2200" dirty="0" err="1"/>
                <a:t>pV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286000" y="4495800"/>
            <a:ext cx="4572000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0490" y="4598313"/>
              <a:ext cx="5226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0.744g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360 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39620" y="4903113"/>
              <a:ext cx="3320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9.6 x10</a:t>
              </a:r>
              <a:r>
                <a:rPr lang="en-US" altLang="zh-CN" sz="2200" baseline="30000" dirty="0"/>
                <a:t>4</a:t>
              </a:r>
              <a:r>
                <a:rPr lang="en-US" altLang="zh-CN" sz="2200" dirty="0"/>
                <a:t> Pa x 4x10</a:t>
              </a:r>
              <a:r>
                <a:rPr lang="en-US" altLang="zh-CN" sz="2200" baseline="30000" dirty="0"/>
                <a:t>-4</a:t>
              </a:r>
              <a:r>
                <a:rPr lang="en-US" altLang="zh-CN" sz="2200" dirty="0"/>
                <a:t> 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3329355" y="1143000"/>
            <a:ext cx="5354094" cy="709374"/>
            <a:chOff x="3329355" y="1143000"/>
            <a:chExt cx="5354094" cy="709374"/>
          </a:xfrm>
        </p:grpSpPr>
        <p:sp>
          <p:nvSpPr>
            <p:cNvPr id="16" name="TextBox 15"/>
            <p:cNvSpPr txBox="1"/>
            <p:nvPr/>
          </p:nvSpPr>
          <p:spPr>
            <a:xfrm>
              <a:off x="3329355" y="1229380"/>
              <a:ext cx="535409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 dirty="0">
                  <a:solidFill>
                    <a:srgbClr val="C00000"/>
                  </a:solidFill>
                </a:rPr>
                <a:t>= 1.01x10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5 </a:t>
              </a:r>
              <a:r>
                <a:rPr lang="en-US" altLang="zh-CN" sz="2600" b="1" dirty="0">
                  <a:solidFill>
                    <a:srgbClr val="C00000"/>
                  </a:solidFill>
                </a:rPr>
                <a:t> Pa x                  = 9.6x10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4</a:t>
              </a:r>
              <a:r>
                <a:rPr lang="en-US" altLang="zh-CN" sz="2600" b="1" dirty="0">
                  <a:solidFill>
                    <a:srgbClr val="C00000"/>
                  </a:solidFill>
                </a:rPr>
                <a:t> Pa</a:t>
              </a:r>
              <a:endParaRPr lang="en-US" sz="26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20" name="Group 11"/>
            <p:cNvGrpSpPr/>
            <p:nvPr/>
          </p:nvGrpSpPr>
          <p:grpSpPr>
            <a:xfrm>
              <a:off x="5562600" y="1143000"/>
              <a:ext cx="1388520" cy="709374"/>
              <a:chOff x="1219200" y="4598313"/>
              <a:chExt cx="1388520" cy="709374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1233626" y="4598313"/>
                <a:ext cx="13740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720mmHg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219200" y="4876800"/>
                <a:ext cx="13740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760mmHg</a:t>
                </a:r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1295400" y="4977725"/>
                <a:ext cx="1219200" cy="158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TextBox 28"/>
          <p:cNvSpPr txBox="1"/>
          <p:nvPr/>
        </p:nvSpPr>
        <p:spPr>
          <a:xfrm>
            <a:off x="2895600" y="1717357"/>
            <a:ext cx="47067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= 0.4L = 0.4 x10</a:t>
            </a:r>
            <a:r>
              <a:rPr lang="en-US" altLang="zh-CN" sz="2600" b="1" baseline="30000" dirty="0">
                <a:solidFill>
                  <a:srgbClr val="C00000"/>
                </a:solidFill>
              </a:rPr>
              <a:t>-3</a:t>
            </a:r>
            <a:r>
              <a:rPr lang="en-US" altLang="zh-CN" sz="2600" b="1" dirty="0">
                <a:solidFill>
                  <a:srgbClr val="C00000"/>
                </a:solidFill>
              </a:rPr>
              <a:t> m</a:t>
            </a:r>
            <a:r>
              <a:rPr lang="en-US" altLang="zh-CN" sz="26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600" b="1" dirty="0">
                <a:solidFill>
                  <a:srgbClr val="C00000"/>
                </a:solidFill>
              </a:rPr>
              <a:t> = 4 x 10</a:t>
            </a:r>
            <a:r>
              <a:rPr lang="en-US" altLang="zh-CN" sz="2600" b="1" baseline="30000" dirty="0">
                <a:solidFill>
                  <a:srgbClr val="C00000"/>
                </a:solidFill>
              </a:rPr>
              <a:t>-4</a:t>
            </a:r>
            <a:r>
              <a:rPr lang="en-US" altLang="zh-CN" sz="2600" b="1" dirty="0">
                <a:solidFill>
                  <a:srgbClr val="C00000"/>
                </a:solidFill>
              </a:rPr>
              <a:t> m</a:t>
            </a:r>
            <a:r>
              <a:rPr lang="en-US" altLang="zh-CN" sz="2600" b="1" baseline="30000" dirty="0">
                <a:solidFill>
                  <a:srgbClr val="C00000"/>
                </a:solidFill>
              </a:rPr>
              <a:t>3</a:t>
            </a:r>
            <a:endParaRPr lang="en-US" sz="2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build="p"/>
      <p:bldP spid="3" grpId="3" build="p"/>
      <p:bldP spid="3" grpId="4" build="p"/>
      <p:bldP spid="7" grpId="0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2800" dirty="0"/>
              <a:t>问题解决</a:t>
            </a:r>
            <a:r>
              <a:rPr lang="en-US" altLang="zh-CN" sz="2800" dirty="0"/>
              <a:t>1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T = 65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 V = 5.4L</a:t>
            </a:r>
          </a:p>
          <a:p>
            <a:pPr>
              <a:buNone/>
            </a:pPr>
            <a:r>
              <a:rPr lang="en-US" altLang="zh-CN" sz="2800" dirty="0"/>
              <a:t>		m=57.6g  </a:t>
            </a:r>
          </a:p>
          <a:p>
            <a:pPr>
              <a:buNone/>
            </a:pPr>
            <a:r>
              <a:rPr lang="en-US" altLang="zh-CN" sz="2800" dirty="0"/>
              <a:t>		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=32gmol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	</a:t>
            </a:r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p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 err="1"/>
              <a:t>pV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en-US" altLang="zh-CN" sz="2800" dirty="0"/>
              <a:t>		</a:t>
            </a:r>
          </a:p>
          <a:p>
            <a:pPr>
              <a:buNone/>
            </a:pPr>
            <a:r>
              <a:rPr lang="en-US" altLang="zh-CN" sz="2800" dirty="0"/>
              <a:t>    		  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 =         RT</a:t>
            </a:r>
          </a:p>
          <a:p>
            <a:pPr>
              <a:buNone/>
            </a:pPr>
            <a:r>
              <a:rPr lang="en-US" altLang="zh-CN" sz="2800" dirty="0"/>
              <a:t>		  p   =</a:t>
            </a:r>
          </a:p>
          <a:p>
            <a:pPr>
              <a:buNone/>
            </a:pPr>
            <a:r>
              <a:rPr lang="en-US" altLang="zh-CN" sz="2800" dirty="0"/>
              <a:t>		           = </a:t>
            </a:r>
          </a:p>
          <a:p>
            <a:pPr>
              <a:buNone/>
            </a:pPr>
            <a:r>
              <a:rPr lang="en-US" altLang="zh-CN" sz="2800" dirty="0"/>
              <a:t>		           </a:t>
            </a:r>
            <a:r>
              <a:rPr lang="en-US" altLang="zh-CN" sz="2400" dirty="0"/>
              <a:t>= 9.37 x 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       </a:t>
            </a:r>
          </a:p>
          <a:p>
            <a:pPr>
              <a:buNone/>
            </a:pPr>
            <a:r>
              <a:rPr lang="zh-CN" altLang="en-US" sz="2400" dirty="0"/>
              <a:t>答：钢瓶内压强为</a:t>
            </a:r>
            <a:r>
              <a:rPr lang="en-US" altLang="zh-CN" sz="2400" dirty="0"/>
              <a:t>9.37 x 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 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6858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(65 + 273) K = 338K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2362200" y="3714690"/>
            <a:ext cx="533400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590800" y="424809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0611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mRT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122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MV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590797" y="4826913"/>
            <a:ext cx="4571999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9380" y="4598313"/>
              <a:ext cx="50595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57.6g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338 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98270" y="4903113"/>
              <a:ext cx="43541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	32gmol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5.4x 10</a:t>
              </a:r>
              <a:r>
                <a:rPr lang="en-US" altLang="zh-CN" sz="2200" baseline="30000" dirty="0"/>
                <a:t>-3</a:t>
              </a:r>
              <a:r>
                <a:rPr lang="en-US" altLang="zh-CN" sz="2200" dirty="0"/>
                <a:t> 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890647" y="1219200"/>
            <a:ext cx="221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5.4x10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-3</a:t>
            </a:r>
            <a:r>
              <a:rPr lang="en-US" altLang="zh-CN" sz="2800" b="1" dirty="0">
                <a:solidFill>
                  <a:srgbClr val="C00000"/>
                </a:solidFill>
              </a:rPr>
              <a:t>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3" grpId="4" uiExpand="1" build="p"/>
      <p:bldP spid="7" grpId="0"/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2800" dirty="0"/>
              <a:t>问题解决</a:t>
            </a:r>
            <a:r>
              <a:rPr lang="en-US" altLang="zh-CN" sz="2800" dirty="0"/>
              <a:t>2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=2.1mL </a:t>
            </a:r>
          </a:p>
          <a:p>
            <a:pPr>
              <a:buNone/>
            </a:pPr>
            <a:r>
              <a:rPr lang="en-US" altLang="zh-CN" sz="2800" dirty="0"/>
              <a:t> 	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8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6.4x10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 </a:t>
            </a:r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1.01x10</a:t>
            </a:r>
            <a:r>
              <a:rPr lang="en-US" altLang="zh-CN" sz="2800" baseline="30000" dirty="0"/>
              <a:t>5 </a:t>
            </a:r>
            <a:r>
              <a:rPr lang="en-US" altLang="zh-CN" sz="2800" dirty="0"/>
              <a:t>Pa </a:t>
            </a:r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/>
              <a:t>	     =		</a:t>
            </a:r>
          </a:p>
          <a:p>
            <a:pPr>
              <a:buNone/>
            </a:pPr>
            <a:r>
              <a:rPr lang="en-US" altLang="zh-CN" sz="2800" dirty="0"/>
              <a:t>    		  	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   	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</a:p>
          <a:p>
            <a:pPr>
              <a:buNone/>
            </a:pPr>
            <a:r>
              <a:rPr lang="en-US" altLang="zh-CN" sz="2800" dirty="0"/>
              <a:t>		                </a:t>
            </a:r>
            <a:r>
              <a:rPr lang="en-US" altLang="zh-CN" sz="2400" dirty="0"/>
              <a:t>= 14.11mL       </a:t>
            </a:r>
          </a:p>
          <a:p>
            <a:pPr>
              <a:buNone/>
            </a:pPr>
            <a:r>
              <a:rPr lang="zh-CN" altLang="en-US" sz="2400" dirty="0"/>
              <a:t>答：到湖面时气泡的体积是</a:t>
            </a:r>
            <a:r>
              <a:rPr lang="en-US" altLang="zh-CN" sz="2400" dirty="0"/>
              <a:t>14.11mL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743200" y="1076980"/>
            <a:ext cx="3111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(8 + 273) K = 281K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3200400" y="4114800"/>
            <a:ext cx="1219200" cy="704910"/>
            <a:chOff x="1371600" y="4598313"/>
            <a:chExt cx="533400" cy="704910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22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altLang="zh-CN" sz="2000" dirty="0"/>
                <a:t>V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T</a:t>
              </a:r>
              <a:r>
                <a:rPr lang="en-US" altLang="zh-CN" sz="2000" baseline="-25000" dirty="0"/>
                <a:t>2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711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   T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p</a:t>
              </a:r>
              <a:r>
                <a:rPr lang="en-US" altLang="zh-CN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3124200" y="4674513"/>
            <a:ext cx="3581400" cy="735687"/>
            <a:chOff x="1371600" y="4598313"/>
            <a:chExt cx="41783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9380" y="4598313"/>
              <a:ext cx="3681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6.4x10</a:t>
              </a:r>
              <a:r>
                <a:rPr lang="en-US" altLang="zh-CN" sz="2200" baseline="30000" dirty="0"/>
                <a:t>5</a:t>
              </a:r>
              <a:r>
                <a:rPr lang="en-US" altLang="zh-CN" sz="2200" dirty="0"/>
                <a:t> Pa x 2.1mL x 298K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89380" y="4903113"/>
              <a:ext cx="3187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281 K x 1.01 x 10</a:t>
              </a:r>
              <a:r>
                <a:rPr lang="en-US" altLang="zh-CN" sz="2200" baseline="30000" dirty="0"/>
                <a:t>5</a:t>
              </a:r>
              <a:r>
                <a:rPr lang="en-US" altLang="zh-CN" sz="2200" dirty="0"/>
                <a:t> Pa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371600" y="4953000"/>
              <a:ext cx="417830" cy="263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801508" y="21336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(25 + 273) K = 298K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676400" y="3581400"/>
            <a:ext cx="2514600" cy="662078"/>
            <a:chOff x="2209800" y="1524000"/>
            <a:chExt cx="2209800" cy="748849"/>
          </a:xfrm>
        </p:grpSpPr>
        <p:grpSp>
          <p:nvGrpSpPr>
            <p:cNvPr id="26" name="Group 10"/>
            <p:cNvGrpSpPr/>
            <p:nvPr/>
          </p:nvGrpSpPr>
          <p:grpSpPr>
            <a:xfrm>
              <a:off x="2209800" y="1524000"/>
              <a:ext cx="2209800" cy="748849"/>
              <a:chOff x="2209800" y="1524000"/>
              <a:chExt cx="2209800" cy="748849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2209800" y="1524000"/>
                <a:ext cx="9144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p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/>
                  <a:t> V</a:t>
                </a:r>
                <a:r>
                  <a:rPr lang="en-US" altLang="zh-CN" b="1" baseline="-25000" dirty="0"/>
                  <a:t>1</a:t>
                </a:r>
                <a:endParaRPr lang="en-US" b="1" dirty="0"/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438400" y="1855113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T</a:t>
                </a:r>
                <a:r>
                  <a:rPr lang="en-US" altLang="zh-CN" b="1" baseline="-25000" dirty="0"/>
                  <a:t>1</a:t>
                </a:r>
                <a:endParaRPr lang="en-US" b="1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639671" y="1524000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p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/>
                  <a:t> V</a:t>
                </a:r>
                <a:r>
                  <a:rPr lang="en-US" altLang="zh-CN" b="1" baseline="-25000" dirty="0"/>
                  <a:t>2</a:t>
                </a:r>
                <a:endParaRPr lang="en-US" b="1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3733800" y="1855113"/>
              <a:ext cx="685800" cy="41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</a:t>
              </a:r>
              <a:r>
                <a:rPr lang="en-US" altLang="zh-CN" b="1" baseline="-25000" dirty="0"/>
                <a:t>2</a:t>
              </a:r>
              <a:endParaRPr 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build="p"/>
      <p:bldP spid="3" grpId="3" uiExpand="1" build="p"/>
      <p:bldP spid="7" grpId="0"/>
      <p:bldP spid="1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2800" dirty="0"/>
              <a:t>问题解决</a:t>
            </a:r>
            <a:r>
              <a:rPr lang="en-US" altLang="zh-CN" sz="2800" dirty="0"/>
              <a:t>3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= </a:t>
            </a:r>
            <a:r>
              <a:rPr lang="en-US" altLang="zh-CN" sz="2800" dirty="0">
                <a:solidFill>
                  <a:srgbClr val="C00000"/>
                </a:solidFill>
              </a:rPr>
              <a:t>273K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16.16x10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</a:p>
          <a:p>
            <a:pPr>
              <a:buNone/>
            </a:pPr>
            <a:r>
              <a:rPr lang="en-US" altLang="zh-CN" sz="2800" dirty="0"/>
              <a:t>		m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 1000g</a:t>
            </a:r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50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=</a:t>
            </a:r>
            <a:r>
              <a:rPr lang="en-US" altLang="zh-CN" sz="2800" dirty="0">
                <a:solidFill>
                  <a:srgbClr val="C00000"/>
                </a:solidFill>
              </a:rPr>
              <a:t>323K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1.01x10</a:t>
            </a:r>
            <a:r>
              <a:rPr lang="en-US" altLang="zh-CN" sz="2800" baseline="30000" dirty="0"/>
              <a:t>5 </a:t>
            </a:r>
            <a:r>
              <a:rPr lang="en-US" altLang="zh-CN" sz="2800" dirty="0"/>
              <a:t>Pa </a:t>
            </a:r>
          </a:p>
          <a:p>
            <a:pPr>
              <a:buNone/>
            </a:pPr>
            <a:r>
              <a:rPr lang="en-US" altLang="zh-CN" sz="2800" dirty="0"/>
              <a:t>		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=28gmol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	</a:t>
            </a:r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   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,  m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, 	    m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	RT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		</a:t>
            </a:r>
          </a:p>
          <a:p>
            <a:pPr>
              <a:buNone/>
            </a:pPr>
            <a:r>
              <a:rPr lang="en-US" altLang="zh-CN" sz="2800" dirty="0"/>
              <a:t>    		    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    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= </a:t>
            </a:r>
          </a:p>
          <a:p>
            <a:pPr>
              <a:buNone/>
            </a:pPr>
            <a:r>
              <a:rPr lang="en-US" altLang="zh-CN" sz="2800" dirty="0"/>
              <a:t>		           </a:t>
            </a:r>
            <a:r>
              <a:rPr lang="en-US" altLang="zh-CN" sz="2400" dirty="0"/>
              <a:t>= 0.05m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      </a:t>
            </a:r>
          </a:p>
          <a:p>
            <a:pPr>
              <a:buNone/>
            </a:pPr>
            <a:r>
              <a:rPr lang="en-US" altLang="zh-CN" sz="2400" dirty="0"/>
              <a:t>    </a:t>
            </a:r>
          </a:p>
          <a:p>
            <a:pPr>
              <a:buNone/>
            </a:pPr>
            <a:endParaRPr lang="en-US" sz="2400" dirty="0"/>
          </a:p>
        </p:txBody>
      </p:sp>
      <p:grpSp>
        <p:nvGrpSpPr>
          <p:cNvPr id="2" name="Group 11"/>
          <p:cNvGrpSpPr/>
          <p:nvPr/>
        </p:nvGrpSpPr>
        <p:grpSpPr>
          <a:xfrm>
            <a:off x="2743200" y="4243626"/>
            <a:ext cx="551777" cy="735687"/>
            <a:chOff x="1371600" y="4598313"/>
            <a:chExt cx="551777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5052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  <a:r>
                <a:rPr lang="en-US" sz="2200" baseline="-25000" dirty="0"/>
                <a:t>1</a:t>
              </a:r>
              <a:endParaRPr lang="en-US" sz="2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590800" y="4826913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888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  <a:r>
                <a:rPr lang="en-US" sz="2200" baseline="-25000" dirty="0"/>
                <a:t>1</a:t>
              </a:r>
              <a:r>
                <a:rPr lang="en-US" sz="2200" dirty="0"/>
                <a:t>RT</a:t>
              </a:r>
              <a:r>
                <a:rPr lang="en-US" sz="2200" baseline="-25000" dirty="0"/>
                <a:t>1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7604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Mp</a:t>
              </a:r>
              <a:r>
                <a:rPr lang="en-US" altLang="zh-CN" sz="2200" baseline="-25000" dirty="0"/>
                <a:t>1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590802" y="5436513"/>
            <a:ext cx="4689541" cy="735687"/>
            <a:chOff x="1371600" y="4598313"/>
            <a:chExt cx="547113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9380" y="4598313"/>
              <a:ext cx="52933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1000g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273 K  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37635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28g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x 16.16x 10</a:t>
              </a:r>
              <a:r>
                <a:rPr lang="en-US" altLang="zh-CN" sz="2200" baseline="30000" dirty="0"/>
                <a:t>5 </a:t>
              </a:r>
              <a:r>
                <a:rPr lang="en-US" altLang="zh-CN" sz="2200" dirty="0"/>
                <a:t> Pa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Isosceles Triangle 19"/>
          <p:cNvSpPr/>
          <p:nvPr/>
        </p:nvSpPr>
        <p:spPr>
          <a:xfrm>
            <a:off x="3429000" y="4114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build="p"/>
      <p:bldP spid="3" grpId="3" uiExpand="1" build="p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2800" dirty="0"/>
              <a:t>续</a:t>
            </a:r>
            <a:r>
              <a:rPr lang="en-US" altLang="zh-CN" sz="2800" dirty="0"/>
              <a:t>-</a:t>
            </a:r>
            <a:r>
              <a:rPr lang="zh-CN" altLang="en-US" sz="2800" dirty="0"/>
              <a:t>问题解决</a:t>
            </a:r>
            <a:r>
              <a:rPr lang="en-US" altLang="zh-CN" sz="2800" dirty="0"/>
              <a:t>3</a:t>
            </a:r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50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  <a:r>
              <a:rPr lang="en-US" altLang="zh-CN" sz="2800" dirty="0">
                <a:solidFill>
                  <a:srgbClr val="C00000"/>
                </a:solidFill>
              </a:rPr>
              <a:t>=323K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1.01x10</a:t>
            </a:r>
            <a:r>
              <a:rPr lang="en-US" altLang="zh-CN" sz="2800" baseline="30000" dirty="0"/>
              <a:t>5 </a:t>
            </a:r>
            <a:r>
              <a:rPr lang="en-US" altLang="zh-CN" sz="2800" dirty="0"/>
              <a:t>Pa </a:t>
            </a:r>
          </a:p>
          <a:p>
            <a:pPr>
              <a:buNone/>
            </a:pPr>
            <a:r>
              <a:rPr lang="en-US" altLang="zh-CN" sz="2800" dirty="0"/>
              <a:t>		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=28gmol</a:t>
            </a:r>
            <a:r>
              <a:rPr lang="en-US" altLang="zh-CN" sz="2800" baseline="30000" dirty="0"/>
              <a:t>-1</a:t>
            </a:r>
          </a:p>
          <a:p>
            <a:pPr>
              <a:buNone/>
            </a:pPr>
            <a:r>
              <a:rPr lang="en-US" altLang="zh-CN" sz="2800" dirty="0">
                <a:solidFill>
                  <a:srgbClr val="7030A0"/>
                </a:solidFill>
              </a:rPr>
              <a:t>		V</a:t>
            </a:r>
            <a:r>
              <a:rPr lang="en-US" altLang="zh-CN" sz="2800" baseline="-25000" dirty="0">
                <a:solidFill>
                  <a:srgbClr val="7030A0"/>
                </a:solidFill>
              </a:rPr>
              <a:t>1</a:t>
            </a:r>
            <a:r>
              <a:rPr lang="en-US" altLang="zh-CN" sz="2800" dirty="0">
                <a:solidFill>
                  <a:srgbClr val="7030A0"/>
                </a:solidFill>
              </a:rPr>
              <a:t> =V</a:t>
            </a:r>
            <a:r>
              <a:rPr lang="en-US" altLang="zh-CN" sz="2800" baseline="-25000" dirty="0">
                <a:solidFill>
                  <a:srgbClr val="7030A0"/>
                </a:solidFill>
              </a:rPr>
              <a:t>2</a:t>
            </a:r>
            <a:r>
              <a:rPr lang="en-US" altLang="zh-CN" sz="2800" dirty="0">
                <a:solidFill>
                  <a:srgbClr val="7030A0"/>
                </a:solidFill>
              </a:rPr>
              <a:t> = 0.05m</a:t>
            </a:r>
            <a:r>
              <a:rPr lang="en-US" altLang="zh-CN" sz="2800" baseline="30000" dirty="0">
                <a:solidFill>
                  <a:srgbClr val="7030A0"/>
                </a:solidFill>
              </a:rPr>
              <a:t>3</a:t>
            </a:r>
            <a:r>
              <a:rPr lang="en-US" altLang="zh-CN" sz="2800" dirty="0">
                <a:solidFill>
                  <a:srgbClr val="7030A0"/>
                </a:solidFill>
              </a:rPr>
              <a:t> </a:t>
            </a:r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2	</a:t>
            </a:r>
            <a:r>
              <a:rPr lang="en-US" altLang="zh-CN" sz="2800" dirty="0"/>
              <a:t>    m</a:t>
            </a:r>
          </a:p>
          <a:p>
            <a:pPr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 </a:t>
            </a:r>
            <a:r>
              <a:rPr lang="en-US" altLang="zh-CN" sz="2800" dirty="0"/>
              <a:t>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	   	RT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   	  m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</a:p>
          <a:p>
            <a:pPr>
              <a:buNone/>
            </a:pPr>
            <a:r>
              <a:rPr lang="en-US" altLang="zh-CN" sz="2800" dirty="0"/>
              <a:t>		           = </a:t>
            </a:r>
          </a:p>
          <a:p>
            <a:pPr>
              <a:buNone/>
            </a:pPr>
            <a:r>
              <a:rPr lang="en-US" altLang="zh-CN" sz="2800" dirty="0"/>
              <a:t>		           </a:t>
            </a:r>
            <a:r>
              <a:rPr lang="en-US" altLang="zh-CN" sz="2400" dirty="0"/>
              <a:t>= 52.65 g</a:t>
            </a:r>
          </a:p>
          <a:p>
            <a:pPr>
              <a:buNone/>
            </a:pPr>
            <a:r>
              <a:rPr lang="en-US" altLang="zh-CN" sz="2400" dirty="0"/>
              <a:t>    m=1000g-52.65g</a:t>
            </a:r>
          </a:p>
          <a:p>
            <a:pPr>
              <a:buNone/>
            </a:pPr>
            <a:r>
              <a:rPr lang="en-US" altLang="zh-CN" sz="2400" dirty="0"/>
              <a:t>	  =947.35g</a:t>
            </a:r>
          </a:p>
          <a:p>
            <a:pPr>
              <a:buNone/>
            </a:pPr>
            <a:r>
              <a:rPr lang="zh-CN" altLang="en-US" sz="2400" dirty="0"/>
              <a:t>答：溢出的氮气质量为</a:t>
            </a:r>
            <a:r>
              <a:rPr lang="en-US" altLang="zh-CN" sz="2400" dirty="0"/>
              <a:t>947.35g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grpSp>
        <p:nvGrpSpPr>
          <p:cNvPr id="2" name="Group 11"/>
          <p:cNvGrpSpPr/>
          <p:nvPr/>
        </p:nvGrpSpPr>
        <p:grpSpPr>
          <a:xfrm>
            <a:off x="2496223" y="3124200"/>
            <a:ext cx="551777" cy="735687"/>
            <a:chOff x="1371600" y="4598313"/>
            <a:chExt cx="551777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5052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  <a:r>
                <a:rPr lang="en-US" sz="2200" baseline="-25000" dirty="0"/>
                <a:t>2</a:t>
              </a:r>
              <a:endParaRPr lang="en-US" sz="2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438400" y="36576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5950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p</a:t>
              </a:r>
              <a:r>
                <a:rPr lang="en-US" sz="2200" baseline="-25000" dirty="0"/>
                <a:t>2</a:t>
              </a:r>
              <a:r>
                <a:rPr lang="en-US" sz="2200" dirty="0"/>
                <a:t> </a:t>
              </a:r>
              <a:r>
                <a:rPr lang="en-US" altLang="zh-CN" sz="2200" dirty="0"/>
                <a:t>V</a:t>
              </a:r>
              <a:r>
                <a:rPr lang="en-US" altLang="zh-CN" sz="2200" baseline="-25000" dirty="0"/>
                <a:t>2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6201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R T</a:t>
              </a:r>
              <a:r>
                <a:rPr lang="en-US" altLang="zh-CN" sz="2200" baseline="-25000" dirty="0"/>
                <a:t>2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819400" y="4191000"/>
            <a:ext cx="4572000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418110" y="4598313"/>
              <a:ext cx="44947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28gmol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1.01x10</a:t>
              </a:r>
              <a:r>
                <a:rPr lang="en-US" altLang="zh-CN" sz="2200" baseline="30000" dirty="0"/>
                <a:t>5</a:t>
              </a:r>
              <a:r>
                <a:rPr lang="en-US" altLang="zh-CN" sz="2200" dirty="0"/>
                <a:t> Pa x 0.05m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4255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323 K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Isosceles Triangle 19"/>
          <p:cNvSpPr/>
          <p:nvPr/>
        </p:nvSpPr>
        <p:spPr>
          <a:xfrm>
            <a:off x="1600200" y="29718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609600" y="54102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3" grpId="3" build="p"/>
      <p:bldP spid="3" grpId="4" uiExpand="1" build="p"/>
      <p:bldP spid="20" grpId="0" animBg="1"/>
      <p:bldP spid="24" grpId="0" uiExpan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zh-CN" altLang="en-US" sz="2800" dirty="0"/>
              <a:t>问题解决</a:t>
            </a:r>
            <a:r>
              <a:rPr lang="en-US" altLang="zh-CN" sz="2800" dirty="0"/>
              <a:t>4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17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= </a:t>
            </a:r>
            <a:r>
              <a:rPr lang="en-US" altLang="zh-CN" sz="2800" dirty="0">
                <a:solidFill>
                  <a:srgbClr val="C00000"/>
                </a:solidFill>
              </a:rPr>
              <a:t>290K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9.3x10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</a:t>
            </a:r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-13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=</a:t>
            </a:r>
            <a:r>
              <a:rPr lang="en-US" altLang="zh-CN" sz="2800" dirty="0">
                <a:solidFill>
                  <a:srgbClr val="C00000"/>
                </a:solidFill>
              </a:rPr>
              <a:t>260K</a:t>
            </a:r>
            <a:r>
              <a:rPr lang="en-US" altLang="zh-CN" sz="2800" dirty="0"/>
              <a:t> 	</a:t>
            </a:r>
          </a:p>
          <a:p>
            <a:pPr>
              <a:buNone/>
            </a:pPr>
            <a:r>
              <a:rPr lang="en-US" altLang="zh-CN" sz="2800" dirty="0"/>
              <a:t>		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=V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求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		      	</a:t>
            </a:r>
          </a:p>
          <a:p>
            <a:pPr>
              <a:buNone/>
            </a:pPr>
            <a:r>
              <a:rPr lang="en-US" altLang="zh-CN" sz="2800" dirty="0"/>
              <a:t>			= 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800" dirty="0"/>
              <a:t>			= 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		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= 8.34x10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	&gt; 8.15x10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	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钢瓶漏气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grpSp>
        <p:nvGrpSpPr>
          <p:cNvPr id="26" name="Group 10"/>
          <p:cNvGrpSpPr/>
          <p:nvPr/>
        </p:nvGrpSpPr>
        <p:grpSpPr>
          <a:xfrm>
            <a:off x="1595994" y="3131787"/>
            <a:ext cx="1147206" cy="906813"/>
            <a:chOff x="2316943" y="1351626"/>
            <a:chExt cx="1008152" cy="1025659"/>
          </a:xfrm>
        </p:grpSpPr>
        <p:sp>
          <p:nvSpPr>
            <p:cNvPr id="28" name="TextBox 27"/>
            <p:cNvSpPr txBox="1"/>
            <p:nvPr/>
          </p:nvSpPr>
          <p:spPr>
            <a:xfrm>
              <a:off x="2410694" y="1351626"/>
              <a:ext cx="914401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</a:t>
              </a:r>
              <a:r>
                <a:rPr lang="en-US" altLang="zh-CN" sz="2400" baseline="-25000" dirty="0"/>
                <a:t>1</a:t>
              </a:r>
              <a:endParaRPr lang="en-US" sz="2400" dirty="0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2316943" y="1905001"/>
              <a:ext cx="562495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2438403" y="1855114"/>
              <a:ext cx="685801" cy="522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</a:t>
              </a:r>
              <a:r>
                <a:rPr lang="en-US" altLang="zh-CN" sz="2400" baseline="-25000" dirty="0"/>
                <a:t>1</a:t>
              </a:r>
              <a:endParaRPr lang="en-US" sz="2400" dirty="0"/>
            </a:p>
          </p:txBody>
        </p:sp>
      </p:grpSp>
      <p:grpSp>
        <p:nvGrpSpPr>
          <p:cNvPr id="33" name="Group 10"/>
          <p:cNvGrpSpPr/>
          <p:nvPr/>
        </p:nvGrpSpPr>
        <p:grpSpPr>
          <a:xfrm>
            <a:off x="681590" y="4114800"/>
            <a:ext cx="2366410" cy="835076"/>
            <a:chOff x="2316940" y="1432763"/>
            <a:chExt cx="2079573" cy="944520"/>
          </a:xfrm>
        </p:grpSpPr>
        <p:sp>
          <p:nvSpPr>
            <p:cNvPr id="34" name="TextBox 33"/>
            <p:cNvSpPr txBox="1"/>
            <p:nvPr/>
          </p:nvSpPr>
          <p:spPr>
            <a:xfrm>
              <a:off x="2410693" y="1432763"/>
              <a:ext cx="1985820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9.3x10</a:t>
              </a:r>
              <a:r>
                <a:rPr lang="en-US" altLang="zh-CN" sz="2400" baseline="30000" dirty="0"/>
                <a:t>6</a:t>
              </a:r>
              <a:r>
                <a:rPr lang="en-US" altLang="zh-CN" sz="2400" dirty="0"/>
                <a:t> Pa</a:t>
              </a:r>
              <a:endParaRPr lang="en-US" sz="2400" b="1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316940" y="1905003"/>
              <a:ext cx="1446415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438402" y="1855113"/>
              <a:ext cx="953655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290K</a:t>
              </a:r>
              <a:endParaRPr lang="en-US" sz="2400" dirty="0"/>
            </a:p>
          </p:txBody>
        </p:sp>
      </p:grpSp>
      <p:grpSp>
        <p:nvGrpSpPr>
          <p:cNvPr id="41" name="Group 10"/>
          <p:cNvGrpSpPr/>
          <p:nvPr/>
        </p:nvGrpSpPr>
        <p:grpSpPr>
          <a:xfrm>
            <a:off x="2738994" y="3131787"/>
            <a:ext cx="1147206" cy="906813"/>
            <a:chOff x="2316943" y="1351626"/>
            <a:chExt cx="1008152" cy="1025659"/>
          </a:xfrm>
        </p:grpSpPr>
        <p:sp>
          <p:nvSpPr>
            <p:cNvPr id="42" name="TextBox 41"/>
            <p:cNvSpPr txBox="1"/>
            <p:nvPr/>
          </p:nvSpPr>
          <p:spPr>
            <a:xfrm>
              <a:off x="2410694" y="1351626"/>
              <a:ext cx="914401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</a:t>
              </a:r>
              <a:r>
                <a:rPr lang="en-US" altLang="zh-CN" sz="2400" baseline="-25000" dirty="0"/>
                <a:t>2</a:t>
              </a:r>
              <a:endParaRPr lang="en-US" sz="2400" dirty="0"/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2316943" y="1905001"/>
              <a:ext cx="562495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2438403" y="1855114"/>
              <a:ext cx="685801" cy="522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</a:t>
              </a:r>
              <a:r>
                <a:rPr lang="en-US" altLang="zh-CN" sz="2400" baseline="-25000" dirty="0"/>
                <a:t>2</a:t>
              </a:r>
              <a:endParaRPr lang="en-US" sz="2400" dirty="0"/>
            </a:p>
          </p:txBody>
        </p:sp>
      </p:grpSp>
      <p:grpSp>
        <p:nvGrpSpPr>
          <p:cNvPr id="45" name="Group 10"/>
          <p:cNvGrpSpPr/>
          <p:nvPr/>
        </p:nvGrpSpPr>
        <p:grpSpPr>
          <a:xfrm>
            <a:off x="2666999" y="4038599"/>
            <a:ext cx="1223405" cy="911276"/>
            <a:chOff x="2316942" y="1346576"/>
            <a:chExt cx="1075115" cy="1030707"/>
          </a:xfrm>
        </p:grpSpPr>
        <p:sp>
          <p:nvSpPr>
            <p:cNvPr id="46" name="TextBox 45"/>
            <p:cNvSpPr txBox="1"/>
            <p:nvPr/>
          </p:nvSpPr>
          <p:spPr>
            <a:xfrm>
              <a:off x="2611585" y="1346576"/>
              <a:ext cx="642850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p</a:t>
              </a:r>
              <a:r>
                <a:rPr lang="en-US" sz="2400" baseline="-25000" dirty="0"/>
                <a:t>2</a:t>
              </a:r>
              <a:endParaRPr lang="en-US" sz="2400" b="1" dirty="0"/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2316942" y="1905003"/>
              <a:ext cx="1044634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438402" y="1855113"/>
              <a:ext cx="953655" cy="522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260K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6705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400" dirty="0"/>
              <a:t>历届考题</a:t>
            </a:r>
            <a:r>
              <a:rPr lang="en-US" altLang="zh-CN" sz="2400" dirty="0"/>
              <a:t>1. </a:t>
            </a:r>
            <a:r>
              <a:rPr lang="zh-CN" altLang="en-US" sz="2400" dirty="0"/>
              <a:t>在</a:t>
            </a:r>
            <a:r>
              <a:rPr lang="en-US" altLang="zh-CN" sz="2400" dirty="0"/>
              <a:t>25</a:t>
            </a:r>
            <a:r>
              <a:rPr lang="en-US" altLang="zh-CN" sz="2400" baseline="30000" dirty="0"/>
              <a:t>o</a:t>
            </a:r>
            <a:r>
              <a:rPr lang="en-US" altLang="zh-CN" sz="2400" dirty="0"/>
              <a:t>C</a:t>
            </a:r>
            <a:r>
              <a:rPr lang="zh-CN" altLang="en-US" sz="2400" dirty="0"/>
              <a:t>，</a:t>
            </a:r>
            <a:r>
              <a:rPr lang="en-US" altLang="zh-CN" sz="2400" dirty="0"/>
              <a:t>1.01x10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</a:t>
            </a:r>
            <a:r>
              <a:rPr lang="zh-CN" altLang="en-US" sz="2400" dirty="0"/>
              <a:t>时用</a:t>
            </a:r>
            <a:r>
              <a:rPr lang="en-US" altLang="zh-CN" sz="2400" dirty="0"/>
              <a:t>108g</a:t>
            </a:r>
            <a:r>
              <a:rPr lang="zh-CN" altLang="en-US" sz="2400" dirty="0"/>
              <a:t>的铝与足量的盐酸作用，会产生多少</a:t>
            </a:r>
            <a:r>
              <a:rPr lang="en-US" altLang="zh-CN" sz="2400" dirty="0"/>
              <a:t>L</a:t>
            </a:r>
            <a:r>
              <a:rPr lang="zh-CN" altLang="en-US" sz="2400" dirty="0"/>
              <a:t>的氢气</a:t>
            </a:r>
            <a:r>
              <a:rPr lang="en-US" altLang="zh-CN" sz="2400" dirty="0"/>
              <a:t>? Al=27,H=1,Cl=35.5,O=16</a:t>
            </a:r>
            <a:endParaRPr lang="en-US" sz="2400" dirty="0"/>
          </a:p>
          <a:p>
            <a:pPr marL="514350" indent="-514350">
              <a:buAutoNum type="arabicPeriod"/>
            </a:pPr>
            <a:r>
              <a:rPr lang="zh-CN" altLang="en-US" sz="2400" dirty="0"/>
              <a:t> </a:t>
            </a:r>
            <a:r>
              <a:rPr lang="en-US" altLang="zh-CN" sz="2400" dirty="0"/>
              <a:t>	</a:t>
            </a:r>
            <a:r>
              <a:rPr lang="zh-CN" altLang="en-US" sz="2400" dirty="0"/>
              <a:t>设：产生</a:t>
            </a:r>
            <a:r>
              <a:rPr lang="en-US" altLang="zh-CN" sz="2400" dirty="0"/>
              <a:t>x mol</a:t>
            </a:r>
            <a:r>
              <a:rPr lang="zh-CN" altLang="en-US" sz="2400" dirty="0"/>
              <a:t>的氢气。</a:t>
            </a:r>
            <a:endParaRPr lang="en-US" altLang="zh-CN" sz="2400" dirty="0"/>
          </a:p>
          <a:p>
            <a:pPr marL="514350" indent="-514350">
              <a:buAutoNum type="arabicPeriod"/>
            </a:pPr>
            <a:r>
              <a:rPr lang="en-US" altLang="zh-CN" sz="2400" dirty="0"/>
              <a:t>     2Al(s) +6HCl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Wingdings" panose="05000000000000000000" pitchFamily="2" charset="2"/>
              </a:rPr>
              <a:t>2AlCl</a:t>
            </a:r>
            <a:r>
              <a:rPr lang="en-US" altLang="zh-CN" sz="2400" baseline="-25000" dirty="0">
                <a:sym typeface="Wingdings" panose="05000000000000000000" pitchFamily="2" charset="2"/>
              </a:rPr>
              <a:t>3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Wingdings" panose="05000000000000000000" pitchFamily="2" charset="2"/>
              </a:rPr>
              <a:t> +3 H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/>
              <a:t> (g) </a:t>
            </a:r>
            <a:endParaRPr lang="en-US" altLang="zh-CN" sz="2400" baseline="-25000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sz="2400" baseline="-25000" dirty="0">
                <a:sym typeface="Wingdings" panose="05000000000000000000" pitchFamily="2" charset="2"/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  	</a:t>
            </a:r>
            <a:r>
              <a:rPr lang="en-US" altLang="zh-CN" sz="2400" dirty="0">
                <a:sym typeface="Wingdings" panose="05000000000000000000" pitchFamily="2" charset="2"/>
              </a:rPr>
              <a:t>108g	</a:t>
            </a:r>
            <a:r>
              <a:rPr lang="en-US" sz="2400" dirty="0">
                <a:sym typeface="Wingdings" panose="05000000000000000000" pitchFamily="2" charset="2"/>
              </a:rPr>
              <a:t> 			  x mol</a:t>
            </a:r>
          </a:p>
          <a:p>
            <a:pPr marL="514350" indent="-51435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 	</a:t>
            </a:r>
            <a:r>
              <a:rPr lang="en-US" altLang="zh-CN" sz="2400" dirty="0">
                <a:sym typeface="Wingdings" panose="05000000000000000000" pitchFamily="2" charset="2"/>
              </a:rPr>
              <a:t>54g				</a:t>
            </a:r>
            <a:r>
              <a:rPr lang="en-US" sz="2400" dirty="0">
                <a:sym typeface="Wingdings" panose="05000000000000000000" pitchFamily="2" charset="2"/>
              </a:rPr>
              <a:t>  3mol</a:t>
            </a:r>
          </a:p>
          <a:p>
            <a:pPr marL="514350" indent="-514350"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 		   </a:t>
            </a:r>
            <a:r>
              <a:rPr lang="en-US" altLang="zh-CN" sz="2400" dirty="0">
                <a:sym typeface="Wingdings" panose="05000000000000000000" pitchFamily="2" charset="2"/>
              </a:rPr>
              <a:t>54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</a:rPr>
              <a:t>x = (3)(108)</a:t>
            </a:r>
          </a:p>
          <a:p>
            <a:pPr marL="514350" indent="-514350">
              <a:buNone/>
            </a:pPr>
            <a:r>
              <a:rPr lang="en-US" sz="2400" dirty="0">
                <a:sym typeface="Wingdings" panose="05000000000000000000" pitchFamily="2" charset="2"/>
              </a:rPr>
              <a:t>			        x = 6</a:t>
            </a:r>
          </a:p>
          <a:p>
            <a:pPr marL="514350" indent="-514350"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sym typeface="Wingdings" panose="05000000000000000000" pitchFamily="2" charset="2"/>
              </a:rPr>
              <a:t>已知 </a:t>
            </a:r>
            <a:r>
              <a:rPr lang="en-US" altLang="zh-CN" sz="2400" dirty="0">
                <a:sym typeface="Wingdings" panose="05000000000000000000" pitchFamily="2" charset="2"/>
              </a:rPr>
              <a:t>T =298K ,p=</a:t>
            </a:r>
            <a:r>
              <a:rPr lang="en-US" altLang="zh-CN" sz="2400" dirty="0"/>
              <a:t> 1.01x10</a:t>
            </a:r>
            <a:r>
              <a:rPr lang="en-US" altLang="zh-CN" sz="2400" baseline="30000" dirty="0"/>
              <a:t>5</a:t>
            </a:r>
            <a:r>
              <a:rPr lang="en-US" altLang="zh-CN" sz="2400" dirty="0"/>
              <a:t> Pa ,n =6mol</a:t>
            </a:r>
            <a:r>
              <a:rPr lang="en-US" altLang="zh-CN" sz="2400" dirty="0">
                <a:sym typeface="Wingdings" panose="05000000000000000000" pitchFamily="2" charset="2"/>
              </a:rPr>
              <a:t>  </a:t>
            </a:r>
          </a:p>
          <a:p>
            <a:pPr marL="514350" indent="-514350">
              <a:buNone/>
            </a:pPr>
            <a:r>
              <a:rPr lang="zh-CN" altLang="en-US" sz="2400" dirty="0"/>
              <a:t>公式： </a:t>
            </a:r>
            <a:r>
              <a:rPr lang="en-US" altLang="zh-CN" sz="2400" dirty="0" err="1"/>
              <a:t>pV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=</a:t>
            </a:r>
            <a:r>
              <a:rPr lang="en-US" altLang="zh-CN" sz="2400" dirty="0" err="1"/>
              <a:t>nRT</a:t>
            </a:r>
            <a:r>
              <a:rPr lang="en-US" altLang="zh-CN" sz="2400" dirty="0"/>
              <a:t>	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514350" indent="-514350">
              <a:lnSpc>
                <a:spcPct val="160000"/>
              </a:lnSpc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	        V = </a:t>
            </a:r>
          </a:p>
          <a:p>
            <a:pPr marL="514350" indent="-514350"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	 	     = </a:t>
            </a:r>
          </a:p>
          <a:p>
            <a:pPr marL="514350" indent="-514350">
              <a:buNone/>
            </a:pPr>
            <a:r>
              <a:rPr lang="en-US" altLang="zh-CN" sz="2400" dirty="0"/>
              <a:t>		     = 0.14718m</a:t>
            </a:r>
            <a:r>
              <a:rPr lang="en-US" altLang="zh-CN" sz="2400" baseline="30000" dirty="0"/>
              <a:t>3</a:t>
            </a:r>
            <a:endParaRPr lang="en-US" altLang="zh-CN" sz="2400" dirty="0"/>
          </a:p>
          <a:p>
            <a:pPr marL="514350" indent="-514350">
              <a:buNone/>
            </a:pPr>
            <a:r>
              <a:rPr lang="en-US" sz="2400" dirty="0">
                <a:sym typeface="Wingdings" panose="05000000000000000000" pitchFamily="2" charset="2"/>
              </a:rPr>
              <a:t>		     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= 147.18L</a:t>
            </a:r>
          </a:p>
          <a:p>
            <a:pPr marL="514350" indent="-514350"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答：产生</a:t>
            </a:r>
            <a:r>
              <a:rPr lang="en-US" altLang="zh-CN" sz="2400" dirty="0">
                <a:sym typeface="Wingdings" panose="05000000000000000000" pitchFamily="2" charset="2"/>
              </a:rPr>
              <a:t>147.18L</a:t>
            </a:r>
            <a:r>
              <a:rPr lang="zh-CN" altLang="en-US" sz="2400" dirty="0">
                <a:sym typeface="Wingdings" panose="05000000000000000000" pitchFamily="2" charset="2"/>
              </a:rPr>
              <a:t>的氢气。</a:t>
            </a:r>
            <a:endParaRPr lang="en-US" sz="2400" dirty="0">
              <a:sym typeface="Wingdings" panose="05000000000000000000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648494" y="23995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525294" y="23233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57400" y="2057400"/>
            <a:ext cx="289560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057400" y="2057401"/>
            <a:ext cx="28956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11"/>
          <p:cNvGrpSpPr/>
          <p:nvPr/>
        </p:nvGrpSpPr>
        <p:grpSpPr>
          <a:xfrm>
            <a:off x="1828800" y="4419600"/>
            <a:ext cx="609600" cy="704910"/>
            <a:chOff x="1295400" y="4598313"/>
            <a:chExt cx="609600" cy="704910"/>
          </a:xfrm>
        </p:grpSpPr>
        <p:sp>
          <p:nvSpPr>
            <p:cNvPr id="31" name="TextBox 30"/>
            <p:cNvSpPr txBox="1"/>
            <p:nvPr/>
          </p:nvSpPr>
          <p:spPr>
            <a:xfrm>
              <a:off x="1295400" y="4598313"/>
              <a:ext cx="5813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err="1"/>
                <a:t>nRT</a:t>
              </a:r>
              <a:endParaRPr lang="en-US" sz="20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403684" y="4903113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19"/>
          <p:cNvGrpSpPr/>
          <p:nvPr/>
        </p:nvGrpSpPr>
        <p:grpSpPr>
          <a:xfrm>
            <a:off x="1905000" y="4953000"/>
            <a:ext cx="4572001" cy="769441"/>
            <a:chOff x="1371600" y="4598313"/>
            <a:chExt cx="533400" cy="769441"/>
          </a:xfrm>
        </p:grpSpPr>
        <p:sp>
          <p:nvSpPr>
            <p:cNvPr id="35" name="TextBox 34"/>
            <p:cNvSpPr txBox="1"/>
            <p:nvPr/>
          </p:nvSpPr>
          <p:spPr>
            <a:xfrm>
              <a:off x="1371600" y="4598313"/>
              <a:ext cx="50763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6 mol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298 K</a:t>
              </a:r>
              <a:endParaRPr lang="en-US" sz="2200" dirty="0"/>
            </a:p>
            <a:p>
              <a:endParaRPr lang="en-US" sz="22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71446" y="4903113"/>
              <a:ext cx="2201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1.01 x 10</a:t>
              </a:r>
              <a:r>
                <a:rPr lang="en-US" altLang="zh-CN" sz="2200" baseline="30000" dirty="0"/>
                <a:t>5 </a:t>
              </a:r>
              <a:r>
                <a:rPr lang="en-US" altLang="zh-CN" sz="2200" dirty="0"/>
                <a:t> Pa </a:t>
              </a:r>
              <a:endParaRPr lang="en-US" sz="2200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229600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600" dirty="0"/>
              <a:t>之前的解法：</a:t>
            </a:r>
            <a:endParaRPr lang="en-US" altLang="zh-CN" sz="2600" dirty="0"/>
          </a:p>
          <a:p>
            <a:pPr>
              <a:buNone/>
            </a:pPr>
            <a:r>
              <a:rPr lang="zh-CN" altLang="en-US" sz="2600" dirty="0"/>
              <a:t>在</a:t>
            </a:r>
            <a:r>
              <a:rPr lang="en-US" altLang="zh-CN" sz="2600" dirty="0"/>
              <a:t>25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C</a:t>
            </a:r>
            <a:r>
              <a:rPr lang="zh-CN" altLang="en-US" sz="2600" dirty="0"/>
              <a:t>，</a:t>
            </a:r>
            <a:r>
              <a:rPr lang="en-US" altLang="zh-CN" sz="2600" dirty="0"/>
              <a:t>1.01x10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</a:t>
            </a:r>
            <a:r>
              <a:rPr lang="zh-CN" altLang="en-US" sz="2600" dirty="0"/>
              <a:t>时用</a:t>
            </a:r>
            <a:r>
              <a:rPr lang="en-US" altLang="zh-CN" sz="2600" dirty="0"/>
              <a:t>108g</a:t>
            </a:r>
            <a:r>
              <a:rPr lang="zh-CN" altLang="en-US" sz="2600" dirty="0"/>
              <a:t>的铝与足量的盐酸作用，会产生多少</a:t>
            </a:r>
            <a:r>
              <a:rPr lang="en-US" altLang="zh-CN" sz="2600" dirty="0"/>
              <a:t>L</a:t>
            </a:r>
            <a:r>
              <a:rPr lang="zh-CN" altLang="en-US" sz="2600" dirty="0"/>
              <a:t>的氢气？</a:t>
            </a:r>
            <a:r>
              <a:rPr lang="en-US" altLang="zh-CN" sz="2600" dirty="0"/>
              <a:t>Al=27,H=1,Cl=35.5,O=16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zh-CN" altLang="en-US" sz="2600" dirty="0"/>
              <a:t> </a:t>
            </a:r>
            <a:r>
              <a:rPr lang="en-US" altLang="zh-CN" sz="2600" dirty="0"/>
              <a:t>	</a:t>
            </a:r>
            <a:r>
              <a:rPr lang="zh-CN" altLang="en-US" sz="2600" dirty="0"/>
              <a:t>设：在标准状况下所产生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zh-CN" altLang="en-US" sz="2600" dirty="0"/>
              <a:t>的体积为 </a:t>
            </a:r>
            <a:r>
              <a:rPr lang="en-US" altLang="zh-CN" sz="2600" dirty="0"/>
              <a:t>x L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zh-CN" sz="2600" dirty="0"/>
              <a:t>      </a:t>
            </a:r>
            <a:r>
              <a:rPr lang="en-US" altLang="zh-CN" sz="2400" dirty="0"/>
              <a:t>2Al(s) + 6HCl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anose="05000000000000000000" pitchFamily="2" charset="2"/>
              </a:rPr>
              <a:t> 2AlCl</a:t>
            </a:r>
            <a:r>
              <a:rPr lang="en-US" altLang="zh-CN" sz="2400" baseline="-25000" dirty="0">
                <a:sym typeface="Wingdings" panose="05000000000000000000" pitchFamily="2" charset="2"/>
              </a:rPr>
              <a:t>3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Wingdings" panose="05000000000000000000" pitchFamily="2" charset="2"/>
              </a:rPr>
              <a:t> + 3 H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/>
              <a:t> (g) </a:t>
            </a:r>
            <a:endParaRPr lang="en-US" altLang="zh-CN" sz="2800" baseline="-25000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en-US" sz="2600" baseline="-25000" dirty="0">
                <a:sym typeface="Wingdings" panose="05000000000000000000" pitchFamily="2" charset="2"/>
              </a:rPr>
              <a:t> </a:t>
            </a:r>
            <a:r>
              <a:rPr lang="en-US" sz="2600" dirty="0">
                <a:sym typeface="Wingdings" panose="05000000000000000000" pitchFamily="2" charset="2"/>
              </a:rPr>
              <a:t>  	</a:t>
            </a:r>
            <a:r>
              <a:rPr lang="en-US" altLang="zh-CN" sz="2600" dirty="0">
                <a:sym typeface="Wingdings" panose="05000000000000000000" pitchFamily="2" charset="2"/>
              </a:rPr>
              <a:t>108g	</a:t>
            </a:r>
            <a:r>
              <a:rPr lang="en-US" sz="2600" dirty="0">
                <a:sym typeface="Wingdings" panose="05000000000000000000" pitchFamily="2" charset="2"/>
              </a:rPr>
              <a:t> 			        x L</a:t>
            </a:r>
          </a:p>
          <a:p>
            <a:pPr marL="514350" indent="-514350">
              <a:buAutoNum type="arabicPeriod"/>
            </a:pPr>
            <a:r>
              <a:rPr lang="en-US" sz="2600" dirty="0">
                <a:sym typeface="Wingdings" panose="05000000000000000000" pitchFamily="2" charset="2"/>
              </a:rPr>
              <a:t> 	</a:t>
            </a:r>
            <a:r>
              <a:rPr lang="en-US" altLang="zh-CN" sz="2600" dirty="0">
                <a:sym typeface="Wingdings" panose="05000000000000000000" pitchFamily="2" charset="2"/>
              </a:rPr>
              <a:t>54g				</a:t>
            </a:r>
            <a:r>
              <a:rPr lang="en-US" sz="2600" dirty="0">
                <a:sym typeface="Wingdings" panose="05000000000000000000" pitchFamily="2" charset="2"/>
              </a:rPr>
              <a:t>       3</a:t>
            </a:r>
            <a:r>
              <a:rPr lang="en-US" altLang="zh-CN" sz="2600" dirty="0">
                <a:sym typeface="Wingdings" panose="05000000000000000000" pitchFamily="2" charset="2"/>
              </a:rPr>
              <a:t>x</a:t>
            </a:r>
            <a:r>
              <a:rPr lang="en-US" sz="2600" dirty="0">
                <a:sym typeface="Wingdings" panose="05000000000000000000" pitchFamily="2" charset="2"/>
              </a:rPr>
              <a:t>22.4L</a:t>
            </a:r>
          </a:p>
          <a:p>
            <a:pPr marL="514350" indent="-514350">
              <a:buAutoNum type="arabicPeriod"/>
            </a:pPr>
            <a:r>
              <a:rPr lang="en-US" sz="2600" dirty="0">
                <a:sym typeface="Wingdings" panose="05000000000000000000" pitchFamily="2" charset="2"/>
              </a:rPr>
              <a:t> 		   </a:t>
            </a:r>
            <a:r>
              <a:rPr lang="en-US" altLang="zh-CN" sz="2600" dirty="0">
                <a:sym typeface="Wingdings" panose="05000000000000000000" pitchFamily="2" charset="2"/>
              </a:rPr>
              <a:t>54</a:t>
            </a:r>
            <a:r>
              <a:rPr lang="en-US" sz="2600" dirty="0">
                <a:sym typeface="Wingdings" panose="05000000000000000000" pitchFamily="2" charset="2"/>
              </a:rPr>
              <a:t> </a:t>
            </a:r>
            <a:r>
              <a:rPr lang="en-US" altLang="zh-CN" sz="2600" dirty="0">
                <a:sym typeface="Wingdings" panose="05000000000000000000" pitchFamily="2" charset="2"/>
              </a:rPr>
              <a:t>x = (3)(22.4)(108)</a:t>
            </a:r>
          </a:p>
          <a:p>
            <a:pPr marL="514350" indent="-514350">
              <a:buNone/>
            </a:pPr>
            <a:r>
              <a:rPr lang="en-US" sz="2600" dirty="0">
                <a:sym typeface="Wingdings" panose="05000000000000000000" pitchFamily="2" charset="2"/>
              </a:rPr>
              <a:t>			        x = 134.4</a:t>
            </a: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 		  =			(T</a:t>
            </a:r>
            <a:r>
              <a:rPr lang="en-US" altLang="zh-CN" sz="2600" baseline="-25000" dirty="0">
                <a:sym typeface="Wingdings" panose="05000000000000000000" pitchFamily="2" charset="2"/>
              </a:rPr>
              <a:t>1</a:t>
            </a:r>
            <a:r>
              <a:rPr lang="en-US" altLang="zh-CN" sz="2600" dirty="0">
                <a:sym typeface="Wingdings" panose="05000000000000000000" pitchFamily="2" charset="2"/>
              </a:rPr>
              <a:t> =273K, V</a:t>
            </a:r>
            <a:r>
              <a:rPr lang="en-US" altLang="zh-CN" sz="2600" baseline="-25000" dirty="0">
                <a:sym typeface="Wingdings" panose="05000000000000000000" pitchFamily="2" charset="2"/>
              </a:rPr>
              <a:t>1</a:t>
            </a:r>
            <a:r>
              <a:rPr lang="en-US" altLang="zh-CN" sz="2600" dirty="0">
                <a:sym typeface="Wingdings" panose="05000000000000000000" pitchFamily="2" charset="2"/>
              </a:rPr>
              <a:t>=134.4L ,T</a:t>
            </a:r>
            <a:r>
              <a:rPr lang="en-US" altLang="zh-CN" sz="2600" baseline="-25000" dirty="0">
                <a:sym typeface="Wingdings" panose="05000000000000000000" pitchFamily="2" charset="2"/>
              </a:rPr>
              <a:t>2</a:t>
            </a:r>
            <a:r>
              <a:rPr lang="en-US" altLang="zh-CN" sz="2600" dirty="0">
                <a:sym typeface="Wingdings" panose="05000000000000000000" pitchFamily="2" charset="2"/>
              </a:rPr>
              <a:t> =298K)</a:t>
            </a:r>
          </a:p>
          <a:p>
            <a:pPr marL="514350" indent="-514350">
              <a:buNone/>
            </a:pPr>
            <a:endParaRPr lang="en-US" altLang="zh-CN" sz="26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	 V</a:t>
            </a:r>
            <a:r>
              <a:rPr lang="en-US" altLang="zh-CN" sz="2600" baseline="-25000" dirty="0">
                <a:sym typeface="Wingdings" panose="05000000000000000000" pitchFamily="2" charset="2"/>
              </a:rPr>
              <a:t>2 </a:t>
            </a:r>
            <a:r>
              <a:rPr lang="en-US" altLang="zh-CN" sz="2600" dirty="0">
                <a:sym typeface="Wingdings" panose="05000000000000000000" pitchFamily="2" charset="2"/>
              </a:rPr>
              <a:t> = </a:t>
            </a:r>
          </a:p>
          <a:p>
            <a:pPr marL="514350" indent="-514350">
              <a:buNone/>
            </a:pPr>
            <a:r>
              <a:rPr lang="en-US" altLang="zh-CN" sz="2600" dirty="0">
                <a:sym typeface="Wingdings" panose="05000000000000000000" pitchFamily="2" charset="2"/>
              </a:rPr>
              <a:t>		 = </a:t>
            </a:r>
            <a:r>
              <a:rPr lang="en-US" altLang="zh-CN" sz="2600" dirty="0">
                <a:solidFill>
                  <a:srgbClr val="FF0000"/>
                </a:solidFill>
                <a:sym typeface="Wingdings" panose="05000000000000000000" pitchFamily="2" charset="2"/>
              </a:rPr>
              <a:t>146.71L </a:t>
            </a:r>
          </a:p>
          <a:p>
            <a:pPr marL="514350" indent="-514350">
              <a:buNone/>
            </a:pPr>
            <a:r>
              <a:rPr lang="zh-CN" altLang="en-US" sz="2600" dirty="0"/>
              <a:t>答：产生</a:t>
            </a:r>
            <a:r>
              <a:rPr lang="en-US" altLang="zh-CN" sz="2600" dirty="0"/>
              <a:t>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146.71L</a:t>
            </a:r>
            <a:r>
              <a:rPr lang="zh-CN" altLang="en-US" sz="2600" dirty="0"/>
              <a:t>。</a:t>
            </a:r>
            <a:endParaRPr lang="en-US" sz="2600" dirty="0">
              <a:sym typeface="Wingdings" panose="05000000000000000000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724694" y="29329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6287294" y="29329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438400" y="2743200"/>
            <a:ext cx="289560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438400" y="2819400"/>
            <a:ext cx="28956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8"/>
          <p:cNvGrpSpPr/>
          <p:nvPr/>
        </p:nvGrpSpPr>
        <p:grpSpPr>
          <a:xfrm>
            <a:off x="381000" y="4267200"/>
            <a:ext cx="2209800" cy="762000"/>
            <a:chOff x="2209800" y="1524000"/>
            <a:chExt cx="2209800" cy="762000"/>
          </a:xfrm>
        </p:grpSpPr>
        <p:grpSp>
          <p:nvGrpSpPr>
            <p:cNvPr id="4" name="Group 10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24384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4384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733800" y="15503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T</a:t>
              </a:r>
              <a:r>
                <a:rPr lang="en-US" altLang="zh-CN" sz="2200" b="1" baseline="-25000" dirty="0"/>
                <a:t>2</a:t>
              </a:r>
              <a:endParaRPr lang="en-US" sz="2200" b="1" dirty="0"/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1676400" y="5105400"/>
            <a:ext cx="2209800" cy="762000"/>
            <a:chOff x="2209800" y="1524000"/>
            <a:chExt cx="2209800" cy="762000"/>
          </a:xfrm>
        </p:grpSpPr>
        <p:sp>
          <p:nvSpPr>
            <p:cNvPr id="24" name="TextBox 23"/>
            <p:cNvSpPr txBox="1"/>
            <p:nvPr/>
          </p:nvSpPr>
          <p:spPr>
            <a:xfrm>
              <a:off x="2209800" y="1524000"/>
              <a:ext cx="838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298K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209800" y="1905000"/>
              <a:ext cx="83820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209800" y="1855113"/>
              <a:ext cx="990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273K 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24200" y="1702713"/>
              <a:ext cx="1295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/>
                <a:t>X 134.4L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-76200"/>
            <a:ext cx="8229600" cy="6553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600" dirty="0"/>
              <a:t>历届考题</a:t>
            </a:r>
            <a:endParaRPr lang="en-US" altLang="zh-CN" sz="2600" dirty="0"/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2.</a:t>
            </a:r>
            <a:r>
              <a:rPr lang="zh-CN" altLang="en-US" sz="2600" dirty="0"/>
              <a:t>在</a:t>
            </a:r>
            <a:r>
              <a:rPr lang="en-US" altLang="zh-CN" sz="2600" dirty="0"/>
              <a:t>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C,3x10</a:t>
            </a:r>
            <a:r>
              <a:rPr lang="en-US" altLang="zh-CN" sz="2600" baseline="30000" dirty="0"/>
              <a:t>6</a:t>
            </a:r>
            <a:r>
              <a:rPr lang="en-US" altLang="zh-CN" sz="2600" dirty="0"/>
              <a:t> Pa</a:t>
            </a:r>
            <a:r>
              <a:rPr lang="zh-CN" altLang="en-US" sz="2600" dirty="0"/>
              <a:t>时，一个装有</a:t>
            </a:r>
            <a:r>
              <a:rPr lang="en-US" altLang="zh-CN" sz="2600" dirty="0"/>
              <a:t>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zh-CN" altLang="en-US" sz="2600" dirty="0"/>
              <a:t>的</a:t>
            </a:r>
            <a:r>
              <a:rPr lang="en-US" altLang="zh-CN" sz="2600" dirty="0"/>
              <a:t>6L</a:t>
            </a:r>
            <a:r>
              <a:rPr lang="zh-CN" altLang="en-US" sz="2600" dirty="0"/>
              <a:t>气槽漏气，等漏洞修好后共损失</a:t>
            </a:r>
            <a:r>
              <a:rPr lang="en-US" altLang="zh-CN" sz="2600" dirty="0"/>
              <a:t>70gCO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</a:t>
            </a:r>
            <a:r>
              <a:rPr lang="zh-CN" altLang="en-US" sz="2600" dirty="0"/>
              <a:t>，问在修好后</a:t>
            </a:r>
            <a:r>
              <a:rPr lang="en-US" altLang="zh-CN" sz="2600" dirty="0"/>
              <a:t>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</a:t>
            </a:r>
            <a:r>
              <a:rPr lang="zh-CN" altLang="en-US" sz="2600" dirty="0"/>
              <a:t>时</a:t>
            </a:r>
            <a:r>
              <a:rPr lang="en-US" altLang="zh-CN" sz="2600" dirty="0"/>
              <a:t>,</a:t>
            </a:r>
            <a:r>
              <a:rPr lang="zh-CN" altLang="en-US" sz="2600" dirty="0"/>
              <a:t>气槽内的压强是多少？</a:t>
            </a:r>
            <a:r>
              <a:rPr lang="en-US" altLang="zh-CN" sz="2600" dirty="0"/>
              <a:t>C=12 ,O=16</a:t>
            </a:r>
          </a:p>
          <a:p>
            <a:pPr>
              <a:buNone/>
            </a:pPr>
            <a:r>
              <a:rPr lang="zh-CN" altLang="en-US" sz="2600" dirty="0"/>
              <a:t>已知 </a:t>
            </a:r>
            <a:r>
              <a:rPr lang="en-US" altLang="zh-CN" sz="2600" dirty="0"/>
              <a:t>	T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=T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= </a:t>
            </a:r>
            <a:r>
              <a:rPr lang="en-US" altLang="zh-CN" sz="2600" dirty="0">
                <a:solidFill>
                  <a:srgbClr val="C00000"/>
                </a:solidFill>
              </a:rPr>
              <a:t>300K</a:t>
            </a:r>
          </a:p>
          <a:p>
            <a:pPr>
              <a:buNone/>
            </a:pPr>
            <a:r>
              <a:rPr lang="en-US" altLang="zh-CN" sz="2600" dirty="0"/>
              <a:t>		p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 3x10</a:t>
            </a:r>
            <a:r>
              <a:rPr lang="en-US" altLang="zh-CN" sz="2600" baseline="30000" dirty="0"/>
              <a:t>6</a:t>
            </a:r>
            <a:r>
              <a:rPr lang="en-US" altLang="zh-CN" sz="2600" dirty="0"/>
              <a:t> Pa</a:t>
            </a:r>
          </a:p>
          <a:p>
            <a:pPr>
              <a:buNone/>
            </a:pPr>
            <a:r>
              <a:rPr lang="en-US" altLang="zh-CN" sz="2600" dirty="0"/>
              <a:t>		V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= V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6L = </a:t>
            </a:r>
            <a:r>
              <a:rPr lang="en-US" altLang="zh-CN" sz="2600" dirty="0">
                <a:solidFill>
                  <a:srgbClr val="FF0000"/>
                </a:solidFill>
              </a:rPr>
              <a:t>6x 10</a:t>
            </a:r>
            <a:r>
              <a:rPr lang="en-US" altLang="zh-CN" sz="2600" baseline="30000" dirty="0">
                <a:solidFill>
                  <a:srgbClr val="FF0000"/>
                </a:solidFill>
              </a:rPr>
              <a:t>-3</a:t>
            </a:r>
            <a:r>
              <a:rPr lang="en-US" altLang="zh-CN" sz="2600" dirty="0">
                <a:solidFill>
                  <a:srgbClr val="FF0000"/>
                </a:solidFill>
              </a:rPr>
              <a:t> m</a:t>
            </a:r>
            <a:r>
              <a:rPr lang="en-US" altLang="zh-CN" sz="2600" baseline="30000" dirty="0">
                <a:solidFill>
                  <a:srgbClr val="FF0000"/>
                </a:solidFill>
              </a:rPr>
              <a:t>3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		    m = 70g</a:t>
            </a:r>
          </a:p>
          <a:p>
            <a:pPr>
              <a:buNone/>
            </a:pPr>
            <a:r>
              <a:rPr lang="en-US" altLang="zh-CN" sz="2600" dirty="0"/>
              <a:t>		M(CO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 =44gmol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	</a:t>
            </a:r>
          </a:p>
          <a:p>
            <a:pPr>
              <a:buNone/>
            </a:pPr>
            <a:r>
              <a:rPr lang="zh-CN" altLang="en-US" sz="2600" dirty="0"/>
              <a:t>求</a:t>
            </a:r>
            <a:r>
              <a:rPr lang="en-US" altLang="zh-CN" sz="2600" dirty="0"/>
              <a:t>      m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,  m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, p</a:t>
            </a:r>
          </a:p>
          <a:p>
            <a:pPr>
              <a:buNone/>
            </a:pPr>
            <a:r>
              <a:rPr lang="zh-CN" altLang="en-US" sz="2600" dirty="0"/>
              <a:t>公式： </a:t>
            </a:r>
            <a:r>
              <a:rPr lang="en-US" altLang="zh-CN" sz="2600" dirty="0"/>
              <a:t>p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V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	RT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		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    		     m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=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		    m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 </a:t>
            </a:r>
          </a:p>
          <a:p>
            <a:pPr>
              <a:buNone/>
            </a:pPr>
            <a:r>
              <a:rPr lang="en-US" altLang="zh-CN" sz="2600" dirty="0"/>
              <a:t>		           = 317.54g      </a:t>
            </a:r>
          </a:p>
          <a:p>
            <a:pPr>
              <a:buNone/>
            </a:pP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    </a:t>
            </a:r>
          </a:p>
          <a:p>
            <a:pPr>
              <a:buNone/>
            </a:pPr>
            <a:endParaRPr lang="en-US" sz="2600" dirty="0"/>
          </a:p>
        </p:txBody>
      </p:sp>
      <p:grpSp>
        <p:nvGrpSpPr>
          <p:cNvPr id="2" name="Group 11"/>
          <p:cNvGrpSpPr/>
          <p:nvPr/>
        </p:nvGrpSpPr>
        <p:grpSpPr>
          <a:xfrm>
            <a:off x="2590800" y="4400490"/>
            <a:ext cx="533400" cy="704910"/>
            <a:chOff x="1371600" y="4598313"/>
            <a:chExt cx="533400" cy="704910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76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1</a:t>
              </a:r>
              <a:endParaRPr lang="en-US" sz="2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619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 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438400" y="5086290"/>
            <a:ext cx="1219200" cy="704910"/>
            <a:chOff x="1371600" y="4598313"/>
            <a:chExt cx="533400" cy="704910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258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</a:t>
              </a:r>
              <a:r>
                <a:rPr lang="en-US" sz="2000" baseline="-25000" dirty="0"/>
                <a:t>1</a:t>
              </a:r>
              <a:r>
                <a:rPr lang="en-US" sz="2000" dirty="0"/>
                <a:t> V</a:t>
              </a:r>
              <a:r>
                <a:rPr lang="en-US" sz="2000" baseline="-25000" dirty="0"/>
                <a:t>1</a:t>
              </a:r>
              <a:r>
                <a:rPr lang="en-US" sz="2000" dirty="0"/>
                <a:t> 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353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   R T</a:t>
              </a:r>
              <a:r>
                <a:rPr lang="en-US" altLang="zh-CN" sz="2000" baseline="-25000" dirty="0"/>
                <a:t>1</a:t>
              </a:r>
              <a:endParaRPr lang="en-US" sz="2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514600" y="5741313"/>
            <a:ext cx="4572001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9380" y="4598313"/>
              <a:ext cx="4509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3x 10</a:t>
              </a:r>
              <a:r>
                <a:rPr lang="en-US" altLang="zh-CN" sz="2200" baseline="30000" dirty="0"/>
                <a:t>6 </a:t>
              </a:r>
              <a:r>
                <a:rPr lang="en-US" altLang="zh-CN" sz="2200" dirty="0"/>
                <a:t> Pa x 6 x 10</a:t>
              </a:r>
              <a:r>
                <a:rPr lang="en-US" altLang="zh-CN" sz="2200" baseline="30000" dirty="0"/>
                <a:t>-3</a:t>
              </a:r>
              <a:r>
                <a:rPr lang="en-US" altLang="zh-CN" sz="2200" dirty="0"/>
                <a:t> x 44g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4180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300 K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Isosceles Triangle 19"/>
          <p:cNvSpPr/>
          <p:nvPr/>
        </p:nvSpPr>
        <p:spPr>
          <a:xfrm>
            <a:off x="1447800" y="32766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3" grpId="3" build="p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600" dirty="0"/>
              <a:t>续</a:t>
            </a:r>
            <a:r>
              <a:rPr lang="en-US" altLang="zh-CN" sz="2600" dirty="0"/>
              <a:t>		T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=T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= </a:t>
            </a:r>
            <a:r>
              <a:rPr lang="en-US" altLang="zh-CN" sz="2600" dirty="0">
                <a:solidFill>
                  <a:srgbClr val="C00000"/>
                </a:solidFill>
              </a:rPr>
              <a:t>300K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		p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= 3x10</a:t>
            </a:r>
            <a:r>
              <a:rPr lang="en-US" altLang="zh-CN" sz="2600" baseline="30000" dirty="0"/>
              <a:t>6</a:t>
            </a:r>
            <a:r>
              <a:rPr lang="en-US" altLang="zh-CN" sz="2600" dirty="0"/>
              <a:t> Pa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		V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= V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6L = </a:t>
            </a:r>
            <a:r>
              <a:rPr lang="en-US" altLang="zh-CN" sz="2600" dirty="0">
                <a:solidFill>
                  <a:srgbClr val="FF0000"/>
                </a:solidFill>
              </a:rPr>
              <a:t>6x 10</a:t>
            </a:r>
            <a:r>
              <a:rPr lang="en-US" altLang="zh-CN" sz="2600" baseline="30000" dirty="0">
                <a:solidFill>
                  <a:srgbClr val="FF0000"/>
                </a:solidFill>
              </a:rPr>
              <a:t>-3</a:t>
            </a:r>
            <a:r>
              <a:rPr lang="en-US" altLang="zh-CN" sz="2600" dirty="0">
                <a:solidFill>
                  <a:srgbClr val="FF0000"/>
                </a:solidFill>
              </a:rPr>
              <a:t> m</a:t>
            </a:r>
            <a:r>
              <a:rPr lang="en-US" altLang="zh-CN" sz="2600" baseline="30000" dirty="0">
                <a:solidFill>
                  <a:srgbClr val="FF0000"/>
                </a:solidFill>
              </a:rPr>
              <a:t>3</a:t>
            </a:r>
            <a:endParaRPr lang="en-US" altLang="zh-CN" sz="2600" dirty="0"/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		m = 70g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		M(CO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 =44gmol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dirty="0">
                <a:solidFill>
                  <a:srgbClr val="7030A0"/>
                </a:solidFill>
              </a:rPr>
              <a:t>		m</a:t>
            </a:r>
            <a:r>
              <a:rPr lang="en-US" altLang="zh-CN" sz="2600" baseline="-25000" dirty="0">
                <a:solidFill>
                  <a:srgbClr val="7030A0"/>
                </a:solidFill>
              </a:rPr>
              <a:t>1</a:t>
            </a:r>
            <a:r>
              <a:rPr lang="en-US" altLang="zh-CN" sz="2600" dirty="0">
                <a:solidFill>
                  <a:srgbClr val="7030A0"/>
                </a:solidFill>
              </a:rPr>
              <a:t> =317.54g 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600" dirty="0"/>
              <a:t>求</a:t>
            </a:r>
            <a:r>
              <a:rPr lang="en-US" altLang="zh-CN" sz="2600" dirty="0"/>
              <a:t>m</a:t>
            </a:r>
            <a:r>
              <a:rPr lang="en-US" altLang="zh-CN" sz="2600" baseline="-25000" dirty="0"/>
              <a:t>2,</a:t>
            </a:r>
            <a:r>
              <a:rPr lang="en-US" altLang="zh-CN" sz="2600" dirty="0"/>
              <a:t> p</a:t>
            </a:r>
            <a:r>
              <a:rPr lang="en-US" altLang="zh-CN" sz="2600" baseline="-25000" dirty="0"/>
              <a:t>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baseline="-25000" dirty="0"/>
              <a:t> </a:t>
            </a:r>
            <a:r>
              <a:rPr lang="en-US" altLang="zh-CN" sz="2600" dirty="0"/>
              <a:t> m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m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-     m = 317.54g  -  70g =247.54g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600" dirty="0"/>
              <a:t>	</a:t>
            </a:r>
            <a:r>
              <a:rPr lang="zh-CN" altLang="en-US" sz="2600" dirty="0"/>
              <a:t> </a:t>
            </a:r>
            <a:r>
              <a:rPr lang="en-US" altLang="zh-CN" sz="2600" dirty="0"/>
              <a:t>	p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V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	        RT</a:t>
            </a:r>
            <a:r>
              <a:rPr lang="en-US" altLang="zh-CN" sz="2600" baseline="-25000" dirty="0"/>
              <a:t>2</a:t>
            </a:r>
            <a:endParaRPr lang="en-US" altLang="zh-CN" sz="26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600" dirty="0"/>
              <a:t>	   	    p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=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600" dirty="0"/>
              <a:t>		         =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600" dirty="0"/>
              <a:t>		         = 2338690.41 Pa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600" dirty="0"/>
              <a:t>		         = 2.34 x 10</a:t>
            </a:r>
            <a:r>
              <a:rPr lang="en-US" altLang="zh-CN" sz="2600" baseline="30000" dirty="0"/>
              <a:t>6</a:t>
            </a:r>
            <a:r>
              <a:rPr lang="en-US" altLang="zh-CN" sz="2600" dirty="0"/>
              <a:t> Pa	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600" dirty="0"/>
              <a:t>答：修好后</a:t>
            </a:r>
            <a:r>
              <a:rPr lang="en-US" altLang="zh-CN" sz="2600" dirty="0"/>
              <a:t>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</a:t>
            </a:r>
            <a:r>
              <a:rPr lang="zh-CN" altLang="en-US" sz="2600" dirty="0"/>
              <a:t>时</a:t>
            </a:r>
            <a:r>
              <a:rPr lang="en-US" altLang="zh-CN" sz="2600" dirty="0"/>
              <a:t>,</a:t>
            </a:r>
            <a:r>
              <a:rPr lang="zh-CN" altLang="en-US" sz="2600" dirty="0"/>
              <a:t>气槽内的压强是 </a:t>
            </a:r>
            <a:r>
              <a:rPr lang="en-US" altLang="zh-CN" sz="2600" dirty="0"/>
              <a:t>2.34 x 10</a:t>
            </a:r>
            <a:r>
              <a:rPr lang="en-US" altLang="zh-CN" sz="2600" baseline="30000" dirty="0"/>
              <a:t>6</a:t>
            </a:r>
            <a:r>
              <a:rPr lang="en-US" altLang="zh-CN" sz="2600" dirty="0"/>
              <a:t> Pa 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>
              <a:buNone/>
            </a:pPr>
            <a:endParaRPr lang="en-US" sz="2600" dirty="0"/>
          </a:p>
        </p:txBody>
      </p:sp>
      <p:grpSp>
        <p:nvGrpSpPr>
          <p:cNvPr id="2" name="Group 11"/>
          <p:cNvGrpSpPr/>
          <p:nvPr/>
        </p:nvGrpSpPr>
        <p:grpSpPr>
          <a:xfrm>
            <a:off x="2362200" y="3181290"/>
            <a:ext cx="533400" cy="704910"/>
            <a:chOff x="1371600" y="4598313"/>
            <a:chExt cx="533400" cy="704910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764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04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438400" y="3714690"/>
            <a:ext cx="1219200" cy="704910"/>
            <a:chOff x="1371600" y="4598313"/>
            <a:chExt cx="533400" cy="704910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125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2</a:t>
              </a:r>
              <a:r>
                <a:rPr lang="en-US" sz="2000" dirty="0"/>
                <a:t> R T</a:t>
              </a:r>
              <a:r>
                <a:rPr lang="en-US" sz="2000" baseline="-25000" dirty="0"/>
                <a:t>2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54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   V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M</a:t>
              </a:r>
              <a:endParaRPr lang="en-US" sz="2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438403" y="4369713"/>
            <a:ext cx="4622101" cy="769441"/>
            <a:chOff x="1371600" y="4598313"/>
            <a:chExt cx="539245" cy="769441"/>
          </a:xfrm>
        </p:grpSpPr>
        <p:sp>
          <p:nvSpPr>
            <p:cNvPr id="21" name="TextBox 20"/>
            <p:cNvSpPr txBox="1"/>
            <p:nvPr/>
          </p:nvSpPr>
          <p:spPr>
            <a:xfrm>
              <a:off x="1371600" y="4598313"/>
              <a:ext cx="5392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247.54g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300 K</a:t>
              </a:r>
              <a:endParaRPr lang="en-US" sz="2200" dirty="0"/>
            </a:p>
            <a:p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33274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6x 10</a:t>
              </a:r>
              <a:r>
                <a:rPr lang="en-US" altLang="zh-CN" sz="2200" baseline="30000" dirty="0"/>
                <a:t>-3</a:t>
              </a:r>
              <a:r>
                <a:rPr lang="en-US" altLang="zh-CN" sz="2200" dirty="0"/>
                <a:t>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x 44gmol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Isosceles Triangle 24"/>
          <p:cNvSpPr/>
          <p:nvPr/>
        </p:nvSpPr>
        <p:spPr>
          <a:xfrm>
            <a:off x="1295400" y="1524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057400" y="3048000"/>
            <a:ext cx="152400" cy="1524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3" grpId="3" build="p"/>
      <p:bldP spid="3" grpId="4" build="p"/>
      <p:bldP spid="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2600" dirty="0"/>
              <a:t>历届考题</a:t>
            </a: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3.</a:t>
            </a:r>
            <a:r>
              <a:rPr lang="zh-CN" altLang="en-US" sz="2600" dirty="0"/>
              <a:t>未知气体</a:t>
            </a:r>
            <a:r>
              <a:rPr lang="en-US" altLang="zh-CN" sz="2600" dirty="0"/>
              <a:t>B</a:t>
            </a:r>
            <a:r>
              <a:rPr lang="zh-CN" altLang="en-US" sz="2600" dirty="0"/>
              <a:t>在</a:t>
            </a:r>
            <a:r>
              <a:rPr lang="en-US" altLang="zh-CN" sz="2600" dirty="0"/>
              <a:t>28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C,750mmHg,</a:t>
            </a:r>
            <a:r>
              <a:rPr lang="zh-CN" altLang="en-US" sz="2600" dirty="0"/>
              <a:t>密度为</a:t>
            </a:r>
            <a:r>
              <a:rPr lang="en-US" altLang="zh-CN" sz="2600" dirty="0"/>
              <a:t>1.98gL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 ,</a:t>
            </a:r>
            <a:r>
              <a:rPr lang="zh-CN" altLang="en-US" sz="2600" dirty="0"/>
              <a:t>求气体</a:t>
            </a:r>
            <a:r>
              <a:rPr lang="en-US" altLang="zh-CN" sz="2600" dirty="0"/>
              <a:t>B</a:t>
            </a:r>
            <a:r>
              <a:rPr lang="zh-CN" altLang="en-US" sz="2600" dirty="0"/>
              <a:t>的相对分子质量。</a:t>
            </a:r>
            <a:endParaRPr lang="en-US" altLang="zh-CN" sz="2600" dirty="0"/>
          </a:p>
          <a:p>
            <a:pPr>
              <a:buNone/>
            </a:pPr>
            <a:r>
              <a:rPr lang="zh-CN" altLang="en-US" sz="2600" dirty="0"/>
              <a:t>已知</a:t>
            </a:r>
            <a:r>
              <a:rPr lang="en-US" altLang="zh-CN" sz="2600" dirty="0"/>
              <a:t> 	T =28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</a:t>
            </a:r>
          </a:p>
          <a:p>
            <a:pPr>
              <a:buNone/>
            </a:pPr>
            <a:r>
              <a:rPr lang="en-US" altLang="zh-CN" sz="2600" dirty="0"/>
              <a:t>		p = 750mmHg</a:t>
            </a:r>
          </a:p>
          <a:p>
            <a:pPr>
              <a:buNone/>
            </a:pPr>
            <a:r>
              <a:rPr lang="en-US" altLang="zh-CN" sz="2600" dirty="0"/>
              <a:t>		</a:t>
            </a:r>
            <a:r>
              <a:rPr lang="el-GR" sz="2800" dirty="0">
                <a:solidFill>
                  <a:srgbClr val="00B050"/>
                </a:solidFill>
              </a:rPr>
              <a:t>ρ</a:t>
            </a:r>
            <a:r>
              <a:rPr lang="en-US" altLang="zh-CN" sz="2600" dirty="0"/>
              <a:t> = 1.98gL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  </a:t>
            </a:r>
          </a:p>
          <a:p>
            <a:pPr>
              <a:buNone/>
            </a:pPr>
            <a:r>
              <a:rPr lang="zh-CN" altLang="en-US" sz="2600" dirty="0"/>
              <a:t>求 </a:t>
            </a:r>
            <a:r>
              <a:rPr lang="en-US" altLang="zh-CN" sz="2600" dirty="0"/>
              <a:t>M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2600" dirty="0"/>
              <a:t>公式： </a:t>
            </a:r>
            <a:r>
              <a:rPr lang="en-US" altLang="zh-CN" sz="2600" dirty="0" err="1"/>
              <a:t>pV</a:t>
            </a:r>
            <a:r>
              <a:rPr lang="en-US" altLang="zh-CN" sz="2600" dirty="0"/>
              <a:t>=	     RT		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600" dirty="0"/>
              <a:t>		   M= 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600" dirty="0"/>
              <a:t>		       = </a:t>
            </a:r>
          </a:p>
          <a:p>
            <a:pPr>
              <a:lnSpc>
                <a:spcPct val="160000"/>
              </a:lnSpc>
              <a:buNone/>
            </a:pPr>
            <a:r>
              <a:rPr lang="en-US" altLang="zh-CN" sz="2600" dirty="0"/>
              <a:t>		       =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600" dirty="0"/>
              <a:t>		       = 49.71gmol</a:t>
            </a:r>
            <a:r>
              <a:rPr lang="en-US" altLang="zh-CN" sz="2600" baseline="30000" dirty="0"/>
              <a:t>-1</a:t>
            </a:r>
            <a:endParaRPr lang="en-US" altLang="zh-CN" sz="2600" dirty="0"/>
          </a:p>
          <a:p>
            <a:pPr>
              <a:lnSpc>
                <a:spcPct val="110000"/>
              </a:lnSpc>
              <a:buNone/>
            </a:pPr>
            <a:r>
              <a:rPr lang="zh-CN" altLang="en-US" sz="2600" dirty="0"/>
              <a:t>答：气体</a:t>
            </a:r>
            <a:r>
              <a:rPr lang="en-US" altLang="zh-CN" sz="2600" dirty="0"/>
              <a:t>B</a:t>
            </a:r>
            <a:r>
              <a:rPr lang="zh-CN" altLang="en-US" sz="2600" dirty="0"/>
              <a:t>的相对分子质量为</a:t>
            </a:r>
            <a:r>
              <a:rPr lang="en-US" altLang="zh-CN" sz="2600" dirty="0">
                <a:solidFill>
                  <a:srgbClr val="FF0000"/>
                </a:solidFill>
              </a:rPr>
              <a:t>49.71</a:t>
            </a:r>
            <a:r>
              <a:rPr lang="zh-CN" altLang="en-US" sz="2600" dirty="0"/>
              <a:t>。</a:t>
            </a:r>
            <a:r>
              <a:rPr lang="en-US" altLang="zh-CN" sz="2600" dirty="0"/>
              <a:t>(</a:t>
            </a:r>
            <a:r>
              <a:rPr lang="zh-CN" altLang="en-US" sz="2600" dirty="0"/>
              <a:t>没单位的！</a:t>
            </a:r>
            <a:r>
              <a:rPr lang="en-US" altLang="zh-CN" sz="2600" dirty="0"/>
              <a:t>)</a:t>
            </a:r>
          </a:p>
          <a:p>
            <a:pPr>
              <a:buNone/>
            </a:pP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1447800"/>
            <a:ext cx="3132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b="1" dirty="0">
                <a:solidFill>
                  <a:srgbClr val="C00000"/>
                </a:solidFill>
              </a:rPr>
              <a:t>= (28 + 273) K = 301 K</a:t>
            </a:r>
            <a:endParaRPr lang="en-US" sz="2600" b="1" dirty="0">
              <a:solidFill>
                <a:srgbClr val="C00000"/>
              </a:solidFill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2133600" y="3200400"/>
            <a:ext cx="533400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5"/>
          <p:cNvGrpSpPr/>
          <p:nvPr/>
        </p:nvGrpSpPr>
        <p:grpSpPr>
          <a:xfrm>
            <a:off x="2286000" y="36576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634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R 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276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V p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209797" y="4826913"/>
            <a:ext cx="5088573" cy="735687"/>
            <a:chOff x="1362710" y="4598313"/>
            <a:chExt cx="593667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62710" y="4598313"/>
              <a:ext cx="59366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1.98x 10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gm</a:t>
              </a:r>
              <a:r>
                <a:rPr lang="en-US" altLang="zh-CN" sz="2200" baseline="30000" dirty="0"/>
                <a:t>-3</a:t>
              </a:r>
              <a:r>
                <a:rPr lang="en-US" altLang="zh-CN" sz="2200" dirty="0"/>
                <a:t>x 8.314 Pam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x 301 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92593" y="4903113"/>
              <a:ext cx="2168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9.967 x10</a:t>
              </a:r>
              <a:r>
                <a:rPr lang="en-US" altLang="zh-CN" sz="2200" baseline="30000" dirty="0"/>
                <a:t>4</a:t>
              </a:r>
              <a:r>
                <a:rPr lang="en-US" altLang="zh-CN" sz="2200" dirty="0"/>
                <a:t> Pa 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371600" y="4953000"/>
              <a:ext cx="568960" cy="26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7"/>
          <p:cNvGrpSpPr/>
          <p:nvPr/>
        </p:nvGrpSpPr>
        <p:grpSpPr>
          <a:xfrm>
            <a:off x="3329355" y="1828800"/>
            <a:ext cx="5690725" cy="709374"/>
            <a:chOff x="3329355" y="1143000"/>
            <a:chExt cx="5690725" cy="709374"/>
          </a:xfrm>
        </p:grpSpPr>
        <p:sp>
          <p:nvSpPr>
            <p:cNvPr id="16" name="TextBox 15"/>
            <p:cNvSpPr txBox="1"/>
            <p:nvPr/>
          </p:nvSpPr>
          <p:spPr>
            <a:xfrm>
              <a:off x="3329355" y="1229380"/>
              <a:ext cx="569072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 dirty="0">
                  <a:solidFill>
                    <a:srgbClr val="C00000"/>
                  </a:solidFill>
                </a:rPr>
                <a:t>= 1.01x10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5 </a:t>
              </a:r>
              <a:r>
                <a:rPr lang="en-US" altLang="zh-CN" sz="2600" b="1" dirty="0">
                  <a:solidFill>
                    <a:srgbClr val="C00000"/>
                  </a:solidFill>
                </a:rPr>
                <a:t> Pa x                  = 9.967x10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4</a:t>
              </a:r>
              <a:r>
                <a:rPr lang="en-US" altLang="zh-CN" sz="2600" b="1" dirty="0">
                  <a:solidFill>
                    <a:srgbClr val="C00000"/>
                  </a:solidFill>
                </a:rPr>
                <a:t> Pa</a:t>
              </a:r>
              <a:endParaRPr lang="en-US" sz="26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8" name="Group 11"/>
            <p:cNvGrpSpPr/>
            <p:nvPr/>
          </p:nvGrpSpPr>
          <p:grpSpPr>
            <a:xfrm>
              <a:off x="5562600" y="1143000"/>
              <a:ext cx="1388520" cy="709374"/>
              <a:chOff x="1219200" y="4598313"/>
              <a:chExt cx="1388520" cy="709374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1233626" y="4598313"/>
                <a:ext cx="13740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5</a:t>
                </a:r>
                <a:r>
                  <a:rPr lang="en-US" sz="2200" dirty="0">
                    <a:solidFill>
                      <a:srgbClr val="FF0000"/>
                    </a:solidFill>
                  </a:rPr>
                  <a:t>0mmHg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1219200" y="4876800"/>
                <a:ext cx="13740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760mmHg</a:t>
                </a:r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1295400" y="4977725"/>
                <a:ext cx="1219200" cy="158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/>
          <p:cNvGrpSpPr/>
          <p:nvPr/>
        </p:nvGrpSpPr>
        <p:grpSpPr>
          <a:xfrm>
            <a:off x="3079919" y="2286000"/>
            <a:ext cx="5530681" cy="709374"/>
            <a:chOff x="3079919" y="2286000"/>
            <a:chExt cx="5530681" cy="709374"/>
          </a:xfrm>
        </p:grpSpPr>
        <p:sp>
          <p:nvSpPr>
            <p:cNvPr id="29" name="TextBox 28"/>
            <p:cNvSpPr txBox="1"/>
            <p:nvPr/>
          </p:nvSpPr>
          <p:spPr>
            <a:xfrm>
              <a:off x="3079919" y="2403157"/>
              <a:ext cx="553068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600" b="1" dirty="0">
                  <a:solidFill>
                    <a:srgbClr val="C00000"/>
                  </a:solidFill>
                </a:rPr>
                <a:t>= 1.98g/1L =		      = 1.98x10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3</a:t>
              </a:r>
              <a:r>
                <a:rPr lang="en-US" altLang="zh-CN" sz="2600" b="1" dirty="0">
                  <a:solidFill>
                    <a:srgbClr val="C00000"/>
                  </a:solidFill>
                </a:rPr>
                <a:t> gm</a:t>
              </a:r>
              <a:r>
                <a:rPr lang="en-US" altLang="zh-CN" sz="2600" b="1" baseline="30000" dirty="0">
                  <a:solidFill>
                    <a:srgbClr val="C00000"/>
                  </a:solidFill>
                </a:rPr>
                <a:t>-3</a:t>
              </a:r>
              <a:endParaRPr lang="en-US" sz="26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4880576" y="2286000"/>
              <a:ext cx="1444023" cy="709374"/>
              <a:chOff x="4880577" y="2262426"/>
              <a:chExt cx="1399742" cy="709374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5131128" y="2262426"/>
                <a:ext cx="81624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>
                    <a:solidFill>
                      <a:srgbClr val="FF0000"/>
                    </a:solidFill>
                  </a:rPr>
                  <a:t>1.98g</a:t>
                </a:r>
                <a:endParaRPr lang="en-US" sz="2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80577" y="2540913"/>
                <a:ext cx="139974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 1x 10</a:t>
                </a:r>
                <a:r>
                  <a:rPr lang="en-US" sz="2200" baseline="30000" dirty="0">
                    <a:solidFill>
                      <a:srgbClr val="FF0000"/>
                    </a:solidFill>
                  </a:rPr>
                  <a:t>-3</a:t>
                </a:r>
                <a:r>
                  <a:rPr lang="en-US" sz="2200" dirty="0">
                    <a:solidFill>
                      <a:srgbClr val="FF0000"/>
                    </a:solidFill>
                  </a:rPr>
                  <a:t> m</a:t>
                </a:r>
                <a:r>
                  <a:rPr lang="en-US" sz="2200" baseline="30000" dirty="0">
                    <a:solidFill>
                      <a:srgbClr val="FF0000"/>
                    </a:solidFill>
                  </a:rPr>
                  <a:t>3</a:t>
                </a:r>
                <a:endParaRPr lang="en-US" sz="22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4956777" y="2641838"/>
                <a:ext cx="1219200" cy="1588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15"/>
          <p:cNvGrpSpPr/>
          <p:nvPr/>
        </p:nvGrpSpPr>
        <p:grpSpPr>
          <a:xfrm>
            <a:off x="2362200" y="4191000"/>
            <a:ext cx="1219200" cy="735687"/>
            <a:chOff x="1371600" y="4598313"/>
            <a:chExt cx="533400" cy="735687"/>
          </a:xfrm>
        </p:grpSpPr>
        <p:sp>
          <p:nvSpPr>
            <p:cNvPr id="33" name="TextBox 32"/>
            <p:cNvSpPr txBox="1"/>
            <p:nvPr/>
          </p:nvSpPr>
          <p:spPr>
            <a:xfrm>
              <a:off x="1418110" y="4598313"/>
              <a:ext cx="3332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dirty="0">
                  <a:solidFill>
                    <a:srgbClr val="00B050"/>
                  </a:solidFill>
                </a:rPr>
                <a:t>ρ</a:t>
              </a:r>
              <a:r>
                <a:rPr lang="en-US" sz="2200" dirty="0"/>
                <a:t> R 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403684" y="4903113"/>
              <a:ext cx="2294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p</a:t>
              </a:r>
              <a:endParaRPr lang="en-US" sz="2200" dirty="0"/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3" grpId="4" uiExpand="1" build="p"/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629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历届考题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4) 800mL</a:t>
            </a:r>
            <a:r>
              <a:rPr lang="zh-CN" altLang="en-US" sz="2800" dirty="0"/>
              <a:t>的理想气体，压强变为原来的</a:t>
            </a:r>
            <a:r>
              <a:rPr lang="en-US" altLang="zh-CN" sz="2800" dirty="0"/>
              <a:t>3</a:t>
            </a:r>
            <a:r>
              <a:rPr lang="zh-CN" altLang="en-US" sz="2800" dirty="0"/>
              <a:t>倍，温度自</a:t>
            </a:r>
            <a:r>
              <a:rPr lang="en-US" altLang="zh-CN" sz="2800" dirty="0"/>
              <a:t>10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升至</a:t>
            </a:r>
            <a:r>
              <a:rPr lang="en-US" altLang="zh-CN" sz="2800" dirty="0"/>
              <a:t>100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C,</a:t>
            </a:r>
            <a:r>
              <a:rPr lang="zh-CN" altLang="en-US" sz="2800" dirty="0"/>
              <a:t>求最终的体积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=800mL </a:t>
            </a:r>
          </a:p>
          <a:p>
            <a:pPr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3p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</a:t>
            </a:r>
          </a:p>
          <a:p>
            <a:pPr>
              <a:buNone/>
            </a:pPr>
            <a:r>
              <a:rPr lang="zh-CN" altLang="en-US" sz="2800" dirty="0"/>
              <a:t>求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/>
              <a:t>	     =		</a:t>
            </a:r>
          </a:p>
          <a:p>
            <a:pPr>
              <a:buNone/>
            </a:pPr>
            <a:r>
              <a:rPr lang="en-US" altLang="zh-CN" sz="2800" dirty="0"/>
              <a:t>    		  	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       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   	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</a:t>
            </a:r>
          </a:p>
          <a:p>
            <a:pPr>
              <a:buNone/>
            </a:pPr>
            <a:r>
              <a:rPr lang="en-US" altLang="zh-CN" sz="2800" dirty="0"/>
              <a:t>		                </a:t>
            </a:r>
            <a:r>
              <a:rPr lang="en-US" altLang="zh-CN" sz="2400" dirty="0"/>
              <a:t>= 351.47mL       </a:t>
            </a:r>
          </a:p>
          <a:p>
            <a:pPr>
              <a:buNone/>
            </a:pPr>
            <a:r>
              <a:rPr lang="zh-CN" altLang="en-US" sz="2400" dirty="0"/>
              <a:t>答：最终的体积</a:t>
            </a:r>
            <a:r>
              <a:rPr lang="en-US" altLang="zh-CN" sz="2400" dirty="0"/>
              <a:t>351.47mL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877708" y="252478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(10 + 273) K = 283K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3200400" y="4495800"/>
            <a:ext cx="1219200" cy="704910"/>
            <a:chOff x="1371600" y="4598313"/>
            <a:chExt cx="533400" cy="704910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422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altLang="zh-CN" sz="2000" dirty="0"/>
                <a:t>V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T</a:t>
              </a:r>
              <a:r>
                <a:rPr lang="en-US" altLang="zh-CN" sz="2000" baseline="-25000" dirty="0"/>
                <a:t>2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3711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   T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 p</a:t>
              </a:r>
              <a:r>
                <a:rPr lang="en-US" altLang="zh-CN" sz="2000" baseline="-25000" dirty="0"/>
                <a:t>2</a:t>
              </a:r>
              <a:endParaRPr lang="en-US" sz="20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9"/>
          <p:cNvGrpSpPr/>
          <p:nvPr/>
        </p:nvGrpSpPr>
        <p:grpSpPr>
          <a:xfrm>
            <a:off x="3124200" y="5131713"/>
            <a:ext cx="3048000" cy="735687"/>
            <a:chOff x="1371600" y="4598313"/>
            <a:chExt cx="3556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418110" y="4598313"/>
              <a:ext cx="27270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p</a:t>
              </a:r>
              <a:r>
                <a:rPr lang="en-US" altLang="zh-CN" sz="2200" baseline="-25000" dirty="0"/>
                <a:t>1</a:t>
              </a:r>
              <a:r>
                <a:rPr lang="en-US" altLang="zh-CN" sz="2200" dirty="0"/>
                <a:t>  x 800mL x 373K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03684" y="4903113"/>
              <a:ext cx="19247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283 K x 3p</a:t>
              </a:r>
              <a:r>
                <a:rPr lang="en-US" altLang="zh-CN" sz="2200" baseline="-25000" dirty="0"/>
                <a:t>1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371600" y="4953000"/>
              <a:ext cx="355600" cy="263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106308" y="3058180"/>
            <a:ext cx="3477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(100 + 273) K = 373K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5" name="Group 24"/>
          <p:cNvGrpSpPr/>
          <p:nvPr/>
        </p:nvGrpSpPr>
        <p:grpSpPr>
          <a:xfrm>
            <a:off x="1676400" y="3986122"/>
            <a:ext cx="2514600" cy="662078"/>
            <a:chOff x="2209800" y="1524000"/>
            <a:chExt cx="2209800" cy="748849"/>
          </a:xfrm>
        </p:grpSpPr>
        <p:grpSp>
          <p:nvGrpSpPr>
            <p:cNvPr id="6" name="Group 10"/>
            <p:cNvGrpSpPr/>
            <p:nvPr/>
          </p:nvGrpSpPr>
          <p:grpSpPr>
            <a:xfrm>
              <a:off x="2209800" y="1524000"/>
              <a:ext cx="2209800" cy="748849"/>
              <a:chOff x="2209800" y="1524000"/>
              <a:chExt cx="2209800" cy="748849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2209800" y="1524000"/>
                <a:ext cx="9144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p</a:t>
                </a:r>
                <a:r>
                  <a:rPr lang="en-US" altLang="zh-CN" b="1" baseline="-25000" dirty="0"/>
                  <a:t>1</a:t>
                </a:r>
                <a:r>
                  <a:rPr lang="en-US" altLang="zh-CN" b="1" dirty="0"/>
                  <a:t> V</a:t>
                </a:r>
                <a:r>
                  <a:rPr lang="en-US" altLang="zh-CN" b="1" baseline="-25000" dirty="0"/>
                  <a:t>1</a:t>
                </a:r>
                <a:endParaRPr lang="en-US" b="1" dirty="0"/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438400" y="1855113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T</a:t>
                </a:r>
                <a:r>
                  <a:rPr lang="en-US" altLang="zh-CN" b="1" baseline="-25000" dirty="0"/>
                  <a:t>1</a:t>
                </a:r>
                <a:endParaRPr lang="en-US" b="1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639671" y="1524000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p</a:t>
                </a:r>
                <a:r>
                  <a:rPr lang="en-US" altLang="zh-CN" b="1" baseline="-25000" dirty="0"/>
                  <a:t>2</a:t>
                </a:r>
                <a:r>
                  <a:rPr lang="en-US" altLang="zh-CN" b="1" dirty="0"/>
                  <a:t> V</a:t>
                </a:r>
                <a:r>
                  <a:rPr lang="en-US" altLang="zh-CN" b="1" baseline="-25000" dirty="0"/>
                  <a:t>2</a:t>
                </a:r>
                <a:endParaRPr lang="en-US" b="1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3733800" y="1855113"/>
              <a:ext cx="685800" cy="417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T</a:t>
              </a:r>
              <a:r>
                <a:rPr lang="en-US" altLang="zh-CN" b="1" baseline="-25000" dirty="0"/>
                <a:t>2</a:t>
              </a:r>
              <a:endParaRPr 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build="p"/>
      <p:bldP spid="3" grpId="3" build="p"/>
      <p:bldP spid="7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9154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在</a:t>
            </a:r>
            <a:r>
              <a:rPr lang="en-US" altLang="zh-CN" sz="2800" dirty="0"/>
              <a:t>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，</a:t>
            </a:r>
            <a:r>
              <a:rPr lang="en-US" altLang="zh-CN" sz="2800" dirty="0"/>
              <a:t>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Pa</a:t>
            </a:r>
            <a:r>
              <a:rPr lang="zh-CN" altLang="en-US" sz="2800" dirty="0"/>
              <a:t>时，将</a:t>
            </a:r>
            <a:r>
              <a:rPr lang="en-US" altLang="zh-CN" sz="2800" dirty="0"/>
              <a:t>1.6g</a:t>
            </a:r>
            <a:r>
              <a:rPr lang="zh-CN" altLang="en-US" sz="2800" dirty="0"/>
              <a:t>的铜丝加入</a:t>
            </a:r>
            <a:r>
              <a:rPr lang="en-US" altLang="zh-CN" sz="2800" dirty="0"/>
              <a:t>0.06mol </a:t>
            </a:r>
            <a:r>
              <a:rPr lang="zh-CN" altLang="en-US" sz="2800" dirty="0"/>
              <a:t>的浓硫酸中，问反应完毕后，将产生多少</a:t>
            </a:r>
            <a:r>
              <a:rPr lang="en-US" altLang="zh-CN" sz="2800" dirty="0"/>
              <a:t>ml</a:t>
            </a:r>
            <a:r>
              <a:rPr lang="zh-CN" altLang="en-US" sz="2800" dirty="0"/>
              <a:t>的二氧化硫</a:t>
            </a:r>
            <a:r>
              <a:rPr lang="en-US" altLang="zh-CN" sz="2800" dirty="0"/>
              <a:t>?  Cu=64</a:t>
            </a:r>
            <a:r>
              <a:rPr lang="zh-CN" altLang="en-US" sz="2800" dirty="0"/>
              <a:t>，</a:t>
            </a:r>
            <a:r>
              <a:rPr lang="en-US" altLang="zh-CN" sz="2800" dirty="0"/>
              <a:t>H=1</a:t>
            </a:r>
            <a:r>
              <a:rPr lang="zh-CN" altLang="en-US" sz="2800" dirty="0"/>
              <a:t>，</a:t>
            </a:r>
            <a:r>
              <a:rPr lang="en-US" altLang="zh-CN" sz="2800" dirty="0"/>
              <a:t>S=32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</a:p>
          <a:p>
            <a:pPr>
              <a:buNone/>
            </a:pPr>
            <a:r>
              <a:rPr lang="en-US" altLang="zh-CN" sz="2800" dirty="0"/>
              <a:t>n(Cu) = 1.6g/64gmol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altLang="zh-CN" sz="2800" dirty="0"/>
              <a:t>	      = 0.025mol</a:t>
            </a:r>
          </a:p>
          <a:p>
            <a:pPr>
              <a:buNone/>
            </a:pPr>
            <a:r>
              <a:rPr lang="en-US" altLang="zh-CN" sz="2800" dirty="0"/>
              <a:t>	      	           </a:t>
            </a:r>
            <a:r>
              <a:rPr lang="en-US" altLang="zh-CN" sz="2400" dirty="0"/>
              <a:t>Cu (s) + 2H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SO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anose="05000000000000000000" pitchFamily="2" charset="2"/>
              </a:rPr>
              <a:t> CuSO</a:t>
            </a:r>
            <a:r>
              <a:rPr lang="en-US" altLang="zh-CN" sz="2400" baseline="-25000" dirty="0">
                <a:sym typeface="Wingdings" panose="05000000000000000000" pitchFamily="2" charset="2"/>
              </a:rPr>
              <a:t>4</a:t>
            </a:r>
            <a:r>
              <a:rPr lang="en-US" altLang="zh-CN" sz="2400" dirty="0">
                <a:sym typeface="Wingdings" panose="05000000000000000000" pitchFamily="2" charset="2"/>
              </a:rPr>
              <a:t>(</a:t>
            </a:r>
            <a:r>
              <a:rPr lang="en-US" altLang="zh-CN" sz="2400" dirty="0" err="1">
                <a:sym typeface="Wingdings" panose="05000000000000000000" pitchFamily="2" charset="2"/>
              </a:rPr>
              <a:t>aq</a:t>
            </a:r>
            <a:r>
              <a:rPr lang="en-US" altLang="zh-CN" sz="2400" dirty="0">
                <a:sym typeface="Wingdings" panose="05000000000000000000" pitchFamily="2" charset="2"/>
              </a:rPr>
              <a:t>) + 2H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O (l) +  SO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 (g)</a:t>
            </a:r>
            <a:endParaRPr lang="en-US" sz="28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开始</a:t>
            </a:r>
            <a:r>
              <a:rPr lang="en-US" altLang="zh-CN" sz="2800" dirty="0">
                <a:sym typeface="Wingdings" panose="05000000000000000000" pitchFamily="2" charset="2"/>
              </a:rPr>
              <a:t>(mol)   0.025	  0.06		  0		0	0</a:t>
            </a:r>
            <a:endParaRPr lang="en-US" sz="28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zh-CN" altLang="en-US" sz="2800" dirty="0"/>
              <a:t>转化</a:t>
            </a:r>
            <a:r>
              <a:rPr lang="en-US" altLang="zh-CN" sz="2800" dirty="0"/>
              <a:t>(mol)   0.025	  0.05		 0.025	  	0.05	0.025</a:t>
            </a:r>
          </a:p>
          <a:p>
            <a:pPr marL="514350" indent="-514350">
              <a:buNone/>
            </a:pPr>
            <a:r>
              <a:rPr lang="zh-CN" altLang="en-US" sz="2800" dirty="0"/>
              <a:t>结束</a:t>
            </a:r>
            <a:r>
              <a:rPr lang="en-US" altLang="zh-CN" sz="2800" dirty="0"/>
              <a:t>(mol)   0	  0.01		0.025		0.05	0.025</a:t>
            </a:r>
          </a:p>
          <a:p>
            <a:pPr marL="514350" indent="-514350">
              <a:buNone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铜限量试剂，产生了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0.025mol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81200" y="3352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200400" y="3352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876800" y="3352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400800" y="3352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7620000" y="33528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19812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2004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8768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7620000" y="38862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1981200" y="44196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200400" y="44196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4876800" y="44196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400800" y="44196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7620000" y="4419600"/>
            <a:ext cx="1066800" cy="457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9154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800" dirty="0"/>
              <a:t>续</a:t>
            </a:r>
            <a:r>
              <a:rPr lang="en-US" altLang="zh-CN" sz="2800" dirty="0"/>
              <a:t>	</a:t>
            </a:r>
            <a:r>
              <a:rPr lang="zh-CN" altLang="en-US" sz="2800" dirty="0">
                <a:sym typeface="Wingdings" panose="05000000000000000000" pitchFamily="2" charset="2"/>
              </a:rPr>
              <a:t>已知 </a:t>
            </a:r>
            <a:r>
              <a:rPr lang="en-US" altLang="zh-CN" sz="2800" dirty="0">
                <a:sym typeface="Wingdings" panose="05000000000000000000" pitchFamily="2" charset="2"/>
              </a:rPr>
              <a:t>T =298K ,p=</a:t>
            </a:r>
            <a:r>
              <a:rPr lang="en-US" altLang="zh-CN" sz="2800" dirty="0"/>
              <a:t> 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 ,n =0.025mol</a:t>
            </a:r>
            <a:r>
              <a:rPr lang="en-US" altLang="zh-CN" sz="2800" dirty="0">
                <a:sym typeface="Wingdings" panose="05000000000000000000" pitchFamily="2" charset="2"/>
              </a:rPr>
              <a:t>  </a:t>
            </a:r>
          </a:p>
          <a:p>
            <a:pPr marL="514350" indent="-514350">
              <a:buNone/>
            </a:pPr>
            <a:r>
              <a:rPr lang="zh-CN" altLang="en-US" sz="2800" dirty="0"/>
              <a:t>公式： </a:t>
            </a:r>
            <a:r>
              <a:rPr lang="en-US" altLang="zh-CN" sz="2800" dirty="0" err="1"/>
              <a:t>pV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en-US" altLang="zh-CN" sz="2800" dirty="0"/>
              <a:t>	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marL="514350" indent="-514350">
              <a:lnSpc>
                <a:spcPct val="160000"/>
              </a:lnSpc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	        V =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	 	     = </a:t>
            </a:r>
          </a:p>
          <a:p>
            <a:pPr marL="514350" indent="-514350">
              <a:buNone/>
            </a:pPr>
            <a:r>
              <a:rPr lang="en-US" altLang="zh-CN" sz="2800" dirty="0"/>
              <a:t>		     = 0.00061326m</a:t>
            </a:r>
            <a:r>
              <a:rPr lang="en-US" altLang="zh-CN" sz="2800" baseline="30000" dirty="0"/>
              <a:t>3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sz="2800" dirty="0">
                <a:sym typeface="Wingdings" panose="05000000000000000000" pitchFamily="2" charset="2"/>
              </a:rPr>
              <a:t>		     </a:t>
            </a:r>
            <a:r>
              <a:rPr lang="en-US" altLang="zh-CN" sz="2800" dirty="0">
                <a:sym typeface="Wingdings" panose="05000000000000000000" pitchFamily="2" charset="2"/>
              </a:rPr>
              <a:t>= 613.26mL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答：产生</a:t>
            </a:r>
            <a:r>
              <a:rPr lang="en-US" altLang="zh-CN" sz="2800" dirty="0">
                <a:sym typeface="Wingdings" panose="05000000000000000000" pitchFamily="2" charset="2"/>
              </a:rPr>
              <a:t>613.26mL</a:t>
            </a:r>
            <a:r>
              <a:rPr lang="zh-CN" altLang="en-US" sz="2800" dirty="0">
                <a:sym typeface="Wingdings" panose="05000000000000000000" pitchFamily="2" charset="2"/>
              </a:rPr>
              <a:t>的二氧化硫。</a:t>
            </a:r>
            <a:endParaRPr lang="en-US" sz="28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endParaRPr lang="en-US" sz="28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endParaRPr lang="en-US" altLang="zh-CN" sz="2800" b="1" dirty="0">
              <a:solidFill>
                <a:srgbClr val="7030A0"/>
              </a:solidFill>
            </a:endParaRPr>
          </a:p>
        </p:txBody>
      </p:sp>
      <p:grpSp>
        <p:nvGrpSpPr>
          <p:cNvPr id="15" name="Group 11"/>
          <p:cNvGrpSpPr/>
          <p:nvPr/>
        </p:nvGrpSpPr>
        <p:grpSpPr>
          <a:xfrm>
            <a:off x="1900010" y="1676400"/>
            <a:ext cx="660950" cy="766465"/>
            <a:chOff x="1295400" y="4598313"/>
            <a:chExt cx="660950" cy="766465"/>
          </a:xfrm>
        </p:grpSpPr>
        <p:sp>
          <p:nvSpPr>
            <p:cNvPr id="16" name="TextBox 15"/>
            <p:cNvSpPr txBox="1"/>
            <p:nvPr/>
          </p:nvSpPr>
          <p:spPr>
            <a:xfrm>
              <a:off x="1295400" y="4598313"/>
              <a:ext cx="6609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err="1"/>
                <a:t>nRT</a:t>
              </a:r>
              <a:endParaRPr lang="en-US" sz="2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03684" y="4903113"/>
              <a:ext cx="3465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9"/>
          <p:cNvGrpSpPr/>
          <p:nvPr/>
        </p:nvGrpSpPr>
        <p:grpSpPr>
          <a:xfrm>
            <a:off x="1900010" y="2209800"/>
            <a:ext cx="5262790" cy="830997"/>
            <a:chOff x="1362710" y="4598313"/>
            <a:chExt cx="613992" cy="830997"/>
          </a:xfrm>
        </p:grpSpPr>
        <p:sp>
          <p:nvSpPr>
            <p:cNvPr id="20" name="TextBox 19"/>
            <p:cNvSpPr txBox="1"/>
            <p:nvPr/>
          </p:nvSpPr>
          <p:spPr>
            <a:xfrm>
              <a:off x="1362710" y="4598313"/>
              <a:ext cx="6139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0.025 mol x 8.314 Pa m</a:t>
              </a:r>
              <a:r>
                <a:rPr lang="en-US" altLang="zh-CN" sz="2400" baseline="30000" dirty="0"/>
                <a:t>3</a:t>
              </a:r>
              <a:r>
                <a:rPr lang="en-US" altLang="zh-CN" sz="2400" dirty="0"/>
                <a:t> mol</a:t>
              </a:r>
              <a:r>
                <a:rPr lang="en-US" altLang="zh-CN" sz="2400" baseline="30000" dirty="0"/>
                <a:t>-1</a:t>
              </a:r>
              <a:r>
                <a:rPr lang="en-US" altLang="zh-CN" sz="2400" dirty="0"/>
                <a:t> K</a:t>
              </a:r>
              <a:r>
                <a:rPr lang="en-US" altLang="zh-CN" sz="2400" baseline="30000" dirty="0"/>
                <a:t>-1</a:t>
              </a:r>
              <a:r>
                <a:rPr lang="en-US" altLang="zh-CN" sz="2400" dirty="0"/>
                <a:t> x 298 K</a:t>
              </a:r>
              <a:endParaRPr lang="en-US" sz="2400" dirty="0"/>
            </a:p>
            <a:p>
              <a:endParaRPr lang="en-US" sz="24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471446" y="4903113"/>
              <a:ext cx="2375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  1.01 x 10</a:t>
              </a:r>
              <a:r>
                <a:rPr lang="en-US" altLang="zh-CN" sz="2400" baseline="30000" dirty="0"/>
                <a:t>5 </a:t>
              </a:r>
              <a:r>
                <a:rPr lang="en-US" altLang="zh-CN" sz="2400" dirty="0"/>
                <a:t> Pa </a:t>
              </a:r>
              <a:endParaRPr lang="en-US" sz="2400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17.6</a:t>
            </a:r>
            <a:br>
              <a:rPr lang="en-US" dirty="0"/>
            </a:br>
            <a:r>
              <a:rPr lang="zh-CN" altLang="en-US" dirty="0"/>
              <a:t>道尔顿分压定律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道尔顿分压定律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52117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在温度和体积不变时，混合气体的总压强等于各成分气体分压强之和。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A</a:t>
            </a:r>
            <a:r>
              <a:rPr lang="en-US" altLang="zh-CN" sz="2800" dirty="0"/>
              <a:t> +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B</a:t>
            </a:r>
            <a:r>
              <a:rPr lang="en-US" altLang="zh-CN" sz="2800" dirty="0"/>
              <a:t> +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C</a:t>
            </a:r>
            <a:r>
              <a:rPr lang="en-US" altLang="zh-CN" sz="2800" dirty="0"/>
              <a:t> </a:t>
            </a:r>
          </a:p>
          <a:p>
            <a:r>
              <a:rPr lang="en-US" altLang="zh-CN" sz="2800" dirty="0"/>
              <a:t> </a:t>
            </a:r>
            <a:r>
              <a:rPr lang="en-US" altLang="zh-CN" sz="2800" b="1" dirty="0" err="1">
                <a:solidFill>
                  <a:srgbClr val="C00000"/>
                </a:solidFill>
              </a:rPr>
              <a:t>p</a:t>
            </a:r>
            <a:r>
              <a:rPr lang="en-US" altLang="zh-CN" sz="2800" b="1" baseline="-25000" dirty="0" err="1">
                <a:solidFill>
                  <a:srgbClr val="C00000"/>
                </a:solidFill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</a:rPr>
              <a:t> V = </a:t>
            </a:r>
            <a:r>
              <a:rPr lang="en-US" altLang="zh-CN" sz="2800" b="1" dirty="0" err="1">
                <a:solidFill>
                  <a:srgbClr val="C00000"/>
                </a:solidFill>
              </a:rPr>
              <a:t>n</a:t>
            </a:r>
            <a:r>
              <a:rPr lang="en-US" altLang="zh-CN" sz="2800" b="1" baseline="-25000" dirty="0" err="1">
                <a:solidFill>
                  <a:srgbClr val="C00000"/>
                </a:solidFill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</a:rPr>
              <a:t> R T </a:t>
            </a:r>
          </a:p>
          <a:p>
            <a:r>
              <a:rPr lang="zh-CN" altLang="en-US" sz="2800" dirty="0"/>
              <a:t>气体</a:t>
            </a:r>
            <a:r>
              <a:rPr lang="en-US" altLang="zh-CN" sz="2800" dirty="0" err="1"/>
              <a:t>A</a:t>
            </a:r>
            <a:r>
              <a:rPr lang="zh-CN" altLang="en-US" sz="2800" dirty="0"/>
              <a:t>的分压强 </a:t>
            </a:r>
            <a:r>
              <a:rPr lang="en-US" altLang="zh-CN" sz="2800" b="1" dirty="0" err="1">
                <a:solidFill>
                  <a:srgbClr val="C00000"/>
                </a:solidFill>
              </a:rPr>
              <a:t>p</a:t>
            </a:r>
            <a:r>
              <a:rPr lang="en-US" altLang="zh-CN" sz="2800" b="1" baseline="-25000" dirty="0" err="1">
                <a:solidFill>
                  <a:srgbClr val="C00000"/>
                </a:solidFill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</a:rPr>
              <a:t> = </a:t>
            </a:r>
            <a:r>
              <a:rPr lang="en-US" altLang="zh-CN" sz="2800" b="1" dirty="0" err="1">
                <a:solidFill>
                  <a:srgbClr val="C00000"/>
                </a:solidFill>
              </a:rPr>
              <a:t>p</a:t>
            </a:r>
            <a:r>
              <a:rPr lang="en-US" altLang="zh-CN" sz="2800" b="1" baseline="-25000" dirty="0" err="1">
                <a:solidFill>
                  <a:srgbClr val="C00000"/>
                </a:solidFill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x </a:t>
            </a:r>
          </a:p>
          <a:p>
            <a:endParaRPr lang="en-US" altLang="zh-CN" sz="2000" dirty="0"/>
          </a:p>
          <a:p>
            <a:r>
              <a:rPr lang="en-US" sz="2800" dirty="0"/>
              <a:t>        </a:t>
            </a:r>
            <a:r>
              <a:rPr lang="zh-CN" altLang="en-US" sz="2800" dirty="0"/>
              <a:t>称为气体</a:t>
            </a:r>
            <a:r>
              <a:rPr lang="en-US" altLang="zh-CN" sz="2800" dirty="0"/>
              <a:t>A</a:t>
            </a:r>
            <a:r>
              <a:rPr lang="zh-CN" altLang="en-US" sz="2800" dirty="0"/>
              <a:t>的摩尔分数，符号  </a:t>
            </a:r>
            <a:r>
              <a:rPr lang="el-GR" altLang="zh-CN" sz="2800" dirty="0">
                <a:solidFill>
                  <a:srgbClr val="C00000"/>
                </a:solidFill>
              </a:rPr>
              <a:t>χ</a:t>
            </a:r>
            <a:r>
              <a:rPr lang="en-US" altLang="zh-CN" sz="2800" baseline="-25000" dirty="0">
                <a:solidFill>
                  <a:srgbClr val="C00000"/>
                </a:solidFill>
              </a:rPr>
              <a:t>A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endParaRPr lang="en-US" sz="2800" dirty="0"/>
          </a:p>
          <a:p>
            <a:endParaRPr lang="en-US" sz="2800" dirty="0"/>
          </a:p>
        </p:txBody>
      </p:sp>
      <p:grpSp>
        <p:nvGrpSpPr>
          <p:cNvPr id="4" name="Group 3"/>
          <p:cNvGrpSpPr/>
          <p:nvPr/>
        </p:nvGrpSpPr>
        <p:grpSpPr>
          <a:xfrm>
            <a:off x="4724400" y="2819400"/>
            <a:ext cx="567807" cy="904220"/>
            <a:chOff x="1371600" y="4522113"/>
            <a:chExt cx="567807" cy="904220"/>
          </a:xfrm>
        </p:grpSpPr>
        <p:sp>
          <p:nvSpPr>
            <p:cNvPr id="5" name="TextBox 4"/>
            <p:cNvSpPr txBox="1"/>
            <p:nvPr/>
          </p:nvSpPr>
          <p:spPr>
            <a:xfrm>
              <a:off x="1418110" y="4522113"/>
              <a:ext cx="521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rgbClr val="C00000"/>
                  </a:solidFill>
                </a:rPr>
                <a:t>n</a:t>
              </a:r>
              <a:r>
                <a:rPr lang="en-US" sz="2800" b="1" baseline="-25000" dirty="0" err="1">
                  <a:solidFill>
                    <a:srgbClr val="C00000"/>
                  </a:solidFill>
                </a:rPr>
                <a:t>A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03684" y="4903113"/>
              <a:ext cx="4956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rgbClr val="C00000"/>
                  </a:solidFill>
                </a:rPr>
                <a:t>n</a:t>
              </a:r>
              <a:r>
                <a:rPr lang="en-US" sz="2800" b="1" baseline="-25000" dirty="0" err="1">
                  <a:solidFill>
                    <a:srgbClr val="C00000"/>
                  </a:solidFill>
                </a:rPr>
                <a:t>T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990600" y="3760113"/>
            <a:ext cx="533400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18110" y="4598313"/>
              <a:ext cx="44114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 err="1"/>
                <a:t>n</a:t>
              </a:r>
              <a:r>
                <a:rPr lang="en-US" altLang="zh-CN" sz="2200" baseline="-25000" dirty="0" err="1"/>
                <a:t>A</a:t>
              </a:r>
              <a:endParaRPr lang="en-US" sz="2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03684" y="4903113"/>
              <a:ext cx="4235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n</a:t>
              </a:r>
              <a:r>
                <a:rPr lang="en-US" sz="2200" baseline="-25000" dirty="0" err="1"/>
                <a:t>T</a:t>
              </a:r>
              <a:endParaRPr lang="en-US" sz="2200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-76200"/>
            <a:ext cx="82296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13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T = 27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 V = 10L</a:t>
            </a:r>
          </a:p>
          <a:p>
            <a:pPr>
              <a:buNone/>
            </a:pPr>
            <a:r>
              <a:rPr lang="en-US" altLang="zh-CN" sz="2800" dirty="0"/>
              <a:t>		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=14g  </a:t>
            </a:r>
          </a:p>
          <a:p>
            <a:pPr>
              <a:buNone/>
            </a:pPr>
            <a:r>
              <a:rPr lang="en-US" altLang="zh-CN" sz="2800" dirty="0"/>
              <a:t>		m(H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=3g	</a:t>
            </a:r>
          </a:p>
          <a:p>
            <a:pPr marL="514350" indent="-514350">
              <a:buNone/>
            </a:pPr>
            <a:r>
              <a:rPr lang="en-US" altLang="zh-CN" sz="2800" dirty="0"/>
              <a:t>(1)	 n(N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         	   </a:t>
            </a:r>
          </a:p>
          <a:p>
            <a:pPr marL="514350" indent="-514350">
              <a:buNone/>
            </a:pPr>
            <a:r>
              <a:rPr lang="en-US" altLang="zh-CN" sz="2800" dirty="0"/>
              <a:t>		     = 0.5mol</a:t>
            </a:r>
          </a:p>
          <a:p>
            <a:pPr marL="514350" indent="-514350">
              <a:buNone/>
            </a:pPr>
            <a:r>
              <a:rPr lang="en-US" altLang="zh-CN" sz="2800" dirty="0"/>
              <a:t>	n(H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  		   </a:t>
            </a:r>
          </a:p>
          <a:p>
            <a:pPr marL="514350" indent="-514350">
              <a:buNone/>
            </a:pPr>
            <a:r>
              <a:rPr lang="en-US" altLang="zh-CN" sz="2800" dirty="0"/>
              <a:t>	          = 1.5mol</a:t>
            </a:r>
          </a:p>
          <a:p>
            <a:pPr>
              <a:buNone/>
            </a:pPr>
            <a:r>
              <a:rPr lang="en-US" altLang="zh-CN" sz="2800" dirty="0"/>
              <a:t>	  </a:t>
            </a: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=0.5mol+1.5mol=2mol</a:t>
            </a:r>
          </a:p>
          <a:p>
            <a:pPr>
              <a:buNone/>
            </a:pPr>
            <a:r>
              <a:rPr lang="en-US" altLang="zh-CN" sz="2800" dirty="0"/>
              <a:t>	  </a:t>
            </a:r>
            <a:r>
              <a:rPr lang="el-GR" altLang="zh-CN" sz="2800" dirty="0"/>
              <a:t>χ</a:t>
            </a:r>
            <a:r>
              <a:rPr lang="en-US" altLang="zh-CN" sz="2800" dirty="0"/>
              <a:t>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		 = 	         =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  </a:t>
            </a:r>
            <a:r>
              <a:rPr lang="el-GR" altLang="zh-CN" sz="2800" dirty="0"/>
              <a:t>χ</a:t>
            </a:r>
            <a:r>
              <a:rPr lang="en-US" altLang="zh-CN" sz="2800" dirty="0"/>
              <a:t>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		 =	         =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3810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(27 + 273) K = 300K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90647" y="914400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0.01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133599" y="2398890"/>
            <a:ext cx="2743201" cy="877710"/>
            <a:chOff x="1219200" y="4707205"/>
            <a:chExt cx="1194558" cy="626795"/>
          </a:xfrm>
        </p:grpSpPr>
        <p:sp>
          <p:nvSpPr>
            <p:cNvPr id="24" name="TextBox 23"/>
            <p:cNvSpPr txBox="1"/>
            <p:nvPr/>
          </p:nvSpPr>
          <p:spPr>
            <a:xfrm>
              <a:off x="1252383" y="4707205"/>
              <a:ext cx="262605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14g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19200" y="4903113"/>
              <a:ext cx="11945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28gmol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133600" y="3429000"/>
            <a:ext cx="1224908" cy="705222"/>
            <a:chOff x="1252383" y="4707204"/>
            <a:chExt cx="533400" cy="503617"/>
          </a:xfrm>
        </p:grpSpPr>
        <p:sp>
          <p:nvSpPr>
            <p:cNvPr id="28" name="TextBox 27"/>
            <p:cNvSpPr txBox="1"/>
            <p:nvPr/>
          </p:nvSpPr>
          <p:spPr>
            <a:xfrm>
              <a:off x="1318746" y="4707204"/>
              <a:ext cx="200479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3g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58874" y="4903114"/>
              <a:ext cx="458058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11"/>
          <p:cNvGrpSpPr/>
          <p:nvPr/>
        </p:nvGrpSpPr>
        <p:grpSpPr>
          <a:xfrm>
            <a:off x="3752178" y="4953000"/>
            <a:ext cx="693135" cy="735687"/>
            <a:chOff x="1371600" y="4598313"/>
            <a:chExt cx="553950" cy="735687"/>
          </a:xfrm>
        </p:grpSpPr>
        <p:sp>
          <p:nvSpPr>
            <p:cNvPr id="32" name="TextBox 31"/>
            <p:cNvSpPr txBox="1"/>
            <p:nvPr/>
          </p:nvSpPr>
          <p:spPr>
            <a:xfrm>
              <a:off x="1493559" y="4598313"/>
              <a:ext cx="43199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82498" y="4903113"/>
              <a:ext cx="26160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371600" y="4977725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11"/>
          <p:cNvGrpSpPr/>
          <p:nvPr/>
        </p:nvGrpSpPr>
        <p:grpSpPr>
          <a:xfrm>
            <a:off x="5181600" y="4953000"/>
            <a:ext cx="533400" cy="735687"/>
            <a:chOff x="1371600" y="4598313"/>
            <a:chExt cx="533400" cy="735687"/>
          </a:xfrm>
        </p:grpSpPr>
        <p:sp>
          <p:nvSpPr>
            <p:cNvPr id="36" name="TextBox 35"/>
            <p:cNvSpPr txBox="1"/>
            <p:nvPr/>
          </p:nvSpPr>
          <p:spPr>
            <a:xfrm>
              <a:off x="1418110" y="45983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03684" y="49031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11"/>
          <p:cNvGrpSpPr/>
          <p:nvPr/>
        </p:nvGrpSpPr>
        <p:grpSpPr>
          <a:xfrm>
            <a:off x="3675977" y="5605081"/>
            <a:ext cx="819823" cy="735682"/>
            <a:chOff x="1371600" y="4635591"/>
            <a:chExt cx="533400" cy="645706"/>
          </a:xfrm>
        </p:grpSpPr>
        <p:sp>
          <p:nvSpPr>
            <p:cNvPr id="40" name="TextBox 39"/>
            <p:cNvSpPr txBox="1"/>
            <p:nvPr/>
          </p:nvSpPr>
          <p:spPr>
            <a:xfrm>
              <a:off x="1493559" y="4635591"/>
              <a:ext cx="351686" cy="3781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1.5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508377" y="4903109"/>
              <a:ext cx="212973" cy="3781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11"/>
          <p:cNvGrpSpPr/>
          <p:nvPr/>
        </p:nvGrpSpPr>
        <p:grpSpPr>
          <a:xfrm>
            <a:off x="5123777" y="5588913"/>
            <a:ext cx="533400" cy="735687"/>
            <a:chOff x="1371600" y="4598313"/>
            <a:chExt cx="533400" cy="735687"/>
          </a:xfrm>
        </p:grpSpPr>
        <p:sp>
          <p:nvSpPr>
            <p:cNvPr id="44" name="TextBox 43"/>
            <p:cNvSpPr txBox="1"/>
            <p:nvPr/>
          </p:nvSpPr>
          <p:spPr>
            <a:xfrm>
              <a:off x="1418110" y="45983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3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403684" y="49031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2277934" y="5010883"/>
            <a:ext cx="789434" cy="780317"/>
            <a:chOff x="1366094" y="4626920"/>
            <a:chExt cx="538906" cy="707080"/>
          </a:xfrm>
        </p:grpSpPr>
        <p:sp>
          <p:nvSpPr>
            <p:cNvPr id="48" name="TextBox 47"/>
            <p:cNvSpPr txBox="1"/>
            <p:nvPr/>
          </p:nvSpPr>
          <p:spPr>
            <a:xfrm>
              <a:off x="1366094" y="4626920"/>
              <a:ext cx="532044" cy="390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n(N</a:t>
              </a:r>
              <a:r>
                <a:rPr lang="en-US" altLang="zh-CN" sz="2200" baseline="-25000" dirty="0"/>
                <a:t>2</a:t>
              </a:r>
              <a:r>
                <a:rPr lang="en-US" altLang="zh-CN" sz="2200" dirty="0"/>
                <a:t>)</a:t>
              </a:r>
              <a:endParaRPr lang="en-US" sz="22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468265" y="4903113"/>
              <a:ext cx="4235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n</a:t>
              </a:r>
              <a:r>
                <a:rPr lang="en-US" sz="2200" baseline="-25000" dirty="0" err="1"/>
                <a:t>T</a:t>
              </a:r>
              <a:endParaRPr lang="en-US" sz="2200" dirty="0"/>
            </a:p>
          </p:txBody>
        </p:sp>
        <p:cxnSp>
          <p:nvCxnSpPr>
            <p:cNvPr id="50" name="Straight Connector 49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209800" y="5620483"/>
            <a:ext cx="789437" cy="780317"/>
            <a:chOff x="1366092" y="4626920"/>
            <a:chExt cx="538908" cy="707080"/>
          </a:xfrm>
        </p:grpSpPr>
        <p:sp>
          <p:nvSpPr>
            <p:cNvPr id="52" name="TextBox 51"/>
            <p:cNvSpPr txBox="1"/>
            <p:nvPr/>
          </p:nvSpPr>
          <p:spPr>
            <a:xfrm>
              <a:off x="1366092" y="4626920"/>
              <a:ext cx="527666" cy="3904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n(H</a:t>
              </a:r>
              <a:r>
                <a:rPr lang="en-US" altLang="zh-CN" sz="2200" baseline="-25000" dirty="0"/>
                <a:t>2</a:t>
              </a:r>
              <a:r>
                <a:rPr lang="en-US" altLang="zh-CN" sz="2200" dirty="0"/>
                <a:t>)</a:t>
              </a:r>
              <a:endParaRPr lang="en-US" sz="22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468265" y="4903113"/>
              <a:ext cx="4235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n</a:t>
              </a:r>
              <a:r>
                <a:rPr lang="en-US" sz="2200" baseline="-25000" dirty="0" err="1"/>
                <a:t>T</a:t>
              </a:r>
              <a:endParaRPr lang="en-US" sz="2200" dirty="0"/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-76200"/>
            <a:ext cx="82296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600" dirty="0"/>
              <a:t>续例</a:t>
            </a:r>
            <a:r>
              <a:rPr lang="en-US" altLang="zh-CN" sz="2600" dirty="0"/>
              <a:t>10</a:t>
            </a:r>
          </a:p>
          <a:p>
            <a:pPr>
              <a:buNone/>
            </a:pPr>
            <a:r>
              <a:rPr lang="zh-CN" altLang="en-US" sz="2600" dirty="0"/>
              <a:t>已知 </a:t>
            </a:r>
            <a:r>
              <a:rPr lang="en-US" altLang="zh-CN" sz="2600" dirty="0"/>
              <a:t>	 T = 27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</a:t>
            </a:r>
          </a:p>
          <a:p>
            <a:pPr>
              <a:buNone/>
            </a:pPr>
            <a:r>
              <a:rPr lang="en-US" altLang="zh-CN" sz="2600" dirty="0"/>
              <a:t>		 V = 50L</a:t>
            </a:r>
          </a:p>
          <a:p>
            <a:pPr>
              <a:buNone/>
            </a:pPr>
            <a:r>
              <a:rPr lang="en-US" altLang="zh-CN" sz="2600" dirty="0"/>
              <a:t>		 </a:t>
            </a:r>
            <a:r>
              <a:rPr lang="en-US" altLang="zh-CN" sz="2600" dirty="0" err="1"/>
              <a:t>n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=2mol</a:t>
            </a:r>
          </a:p>
          <a:p>
            <a:pPr>
              <a:buNone/>
            </a:pPr>
            <a:r>
              <a:rPr lang="en-US" altLang="zh-CN" sz="2600" dirty="0"/>
              <a:t>		 χ(N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 =		χ(H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 =</a:t>
            </a:r>
          </a:p>
          <a:p>
            <a:pPr>
              <a:buNone/>
            </a:pPr>
            <a:r>
              <a:rPr lang="en-US" altLang="zh-CN" sz="2600" dirty="0"/>
              <a:t>(2)</a:t>
            </a:r>
            <a:r>
              <a:rPr lang="zh-CN" altLang="en-US" sz="2600" dirty="0"/>
              <a:t>求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endParaRPr lang="en-US" altLang="zh-CN" sz="2600" dirty="0"/>
          </a:p>
          <a:p>
            <a:pPr>
              <a:buNone/>
            </a:pPr>
            <a:r>
              <a:rPr lang="zh-CN" altLang="en-US" sz="2600" dirty="0"/>
              <a:t>公式：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V</a:t>
            </a:r>
            <a:r>
              <a:rPr lang="en-US" altLang="zh-CN" sz="2600" baseline="-25000" dirty="0"/>
              <a:t> </a:t>
            </a:r>
            <a:r>
              <a:rPr lang="en-US" altLang="zh-CN" sz="2600" dirty="0"/>
              <a:t>=</a:t>
            </a:r>
            <a:r>
              <a:rPr lang="en-US" altLang="zh-CN" sz="2600" dirty="0" err="1"/>
              <a:t>n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RT		     </a:t>
            </a:r>
          </a:p>
          <a:p>
            <a:pPr>
              <a:buNone/>
            </a:pPr>
            <a:r>
              <a:rPr lang="en-US" altLang="zh-CN" sz="2600" dirty="0"/>
              <a:t>		     p   =</a:t>
            </a:r>
          </a:p>
          <a:p>
            <a:pPr>
              <a:buNone/>
            </a:pPr>
            <a:r>
              <a:rPr lang="en-US" altLang="zh-CN" sz="2600" dirty="0"/>
              <a:t>		          = </a:t>
            </a:r>
          </a:p>
          <a:p>
            <a:pPr>
              <a:buNone/>
            </a:pPr>
            <a:r>
              <a:rPr lang="en-US" altLang="zh-CN" sz="2600" dirty="0"/>
              <a:t>		          = 4.99 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 </a:t>
            </a:r>
          </a:p>
          <a:p>
            <a:pPr>
              <a:buNone/>
            </a:pPr>
            <a:r>
              <a:rPr lang="en-US" altLang="zh-CN" sz="2600" dirty="0"/>
              <a:t>(3) </a:t>
            </a:r>
            <a:r>
              <a:rPr lang="zh-CN" altLang="en-US" sz="2600" dirty="0"/>
              <a:t>求</a:t>
            </a:r>
            <a:r>
              <a:rPr lang="en-US" altLang="zh-CN" sz="2600" dirty="0"/>
              <a:t>p(</a:t>
            </a:r>
            <a:r>
              <a:rPr lang="en-US" sz="2600" dirty="0"/>
              <a:t>N</a:t>
            </a:r>
            <a:r>
              <a:rPr lang="en-US" sz="2600" baseline="-25000" dirty="0"/>
              <a:t>2</a:t>
            </a:r>
            <a:r>
              <a:rPr lang="en-US" altLang="zh-CN" sz="2600" dirty="0"/>
              <a:t>)</a:t>
            </a:r>
            <a:r>
              <a:rPr lang="zh-CN" altLang="en-US" sz="2600" dirty="0"/>
              <a:t>及</a:t>
            </a:r>
            <a:r>
              <a:rPr lang="en-US" altLang="zh-CN" sz="2600" dirty="0"/>
              <a:t>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</a:p>
          <a:p>
            <a:pPr>
              <a:buNone/>
            </a:pPr>
            <a:r>
              <a:rPr lang="en-US" sz="2600" dirty="0"/>
              <a:t>p(N</a:t>
            </a:r>
            <a:r>
              <a:rPr lang="en-US" sz="2600" baseline="-25000" dirty="0"/>
              <a:t>2</a:t>
            </a:r>
            <a:r>
              <a:rPr lang="en-US" sz="2600" dirty="0"/>
              <a:t>)= 4.99</a:t>
            </a:r>
            <a:r>
              <a:rPr lang="en-US" altLang="zh-CN" sz="2600" dirty="0"/>
              <a:t> 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x 		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en-US" sz="2600" dirty="0"/>
              <a:t> = 4.99</a:t>
            </a:r>
            <a:r>
              <a:rPr lang="en-US" altLang="zh-CN" sz="2600" dirty="0"/>
              <a:t> 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x</a:t>
            </a:r>
          </a:p>
          <a:p>
            <a:pPr>
              <a:buNone/>
            </a:pPr>
            <a:r>
              <a:rPr lang="en-US" sz="2600" dirty="0"/>
              <a:t>	      =1.25 </a:t>
            </a:r>
            <a:r>
              <a:rPr lang="en-US" altLang="zh-CN" sz="2600" dirty="0"/>
              <a:t>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		           =3.74 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3810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(27 + 273) K = 300K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2590800" y="31242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117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n</a:t>
              </a:r>
              <a:r>
                <a:rPr lang="en-US" sz="2200" baseline="-25000" dirty="0" err="1"/>
                <a:t>T</a:t>
              </a:r>
              <a:r>
                <a:rPr lang="en-US" sz="2200" dirty="0" err="1"/>
                <a:t>RT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2070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V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19"/>
          <p:cNvGrpSpPr/>
          <p:nvPr/>
        </p:nvGrpSpPr>
        <p:grpSpPr>
          <a:xfrm>
            <a:off x="2514600" y="3581400"/>
            <a:ext cx="4571999" cy="735687"/>
            <a:chOff x="1371600" y="4598313"/>
            <a:chExt cx="533400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89380" y="4598313"/>
              <a:ext cx="5001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2mol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300 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98270" y="4903113"/>
              <a:ext cx="23231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	0.01 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890647" y="914400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0.05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0" name="Group 11"/>
          <p:cNvGrpSpPr/>
          <p:nvPr/>
        </p:nvGrpSpPr>
        <p:grpSpPr>
          <a:xfrm>
            <a:off x="2667000" y="1676400"/>
            <a:ext cx="533400" cy="735687"/>
            <a:chOff x="1371600" y="4598313"/>
            <a:chExt cx="533400" cy="735687"/>
          </a:xfrm>
        </p:grpSpPr>
        <p:sp>
          <p:nvSpPr>
            <p:cNvPr id="24" name="TextBox 23"/>
            <p:cNvSpPr txBox="1"/>
            <p:nvPr/>
          </p:nvSpPr>
          <p:spPr>
            <a:xfrm>
              <a:off x="1418110" y="45983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03684" y="49031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11"/>
          <p:cNvGrpSpPr/>
          <p:nvPr/>
        </p:nvGrpSpPr>
        <p:grpSpPr>
          <a:xfrm>
            <a:off x="3581400" y="5029200"/>
            <a:ext cx="457200" cy="704118"/>
            <a:chOff x="1371600" y="4598313"/>
            <a:chExt cx="533400" cy="785475"/>
          </a:xfrm>
        </p:grpSpPr>
        <p:sp>
          <p:nvSpPr>
            <p:cNvPr id="28" name="TextBox 27"/>
            <p:cNvSpPr txBox="1"/>
            <p:nvPr/>
          </p:nvSpPr>
          <p:spPr>
            <a:xfrm>
              <a:off x="1418110" y="4598313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03685" y="4903114"/>
              <a:ext cx="381890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11"/>
          <p:cNvGrpSpPr/>
          <p:nvPr/>
        </p:nvGrpSpPr>
        <p:grpSpPr>
          <a:xfrm>
            <a:off x="5181600" y="1676400"/>
            <a:ext cx="457200" cy="704118"/>
            <a:chOff x="1371600" y="4598313"/>
            <a:chExt cx="533400" cy="785475"/>
          </a:xfrm>
        </p:grpSpPr>
        <p:sp>
          <p:nvSpPr>
            <p:cNvPr id="32" name="TextBox 31"/>
            <p:cNvSpPr txBox="1"/>
            <p:nvPr/>
          </p:nvSpPr>
          <p:spPr>
            <a:xfrm>
              <a:off x="1418110" y="4598313"/>
              <a:ext cx="381890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403685" y="4903114"/>
              <a:ext cx="381890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11"/>
          <p:cNvGrpSpPr/>
          <p:nvPr/>
        </p:nvGrpSpPr>
        <p:grpSpPr>
          <a:xfrm>
            <a:off x="8153400" y="5029200"/>
            <a:ext cx="457200" cy="704118"/>
            <a:chOff x="1371600" y="4598313"/>
            <a:chExt cx="533400" cy="785475"/>
          </a:xfrm>
        </p:grpSpPr>
        <p:sp>
          <p:nvSpPr>
            <p:cNvPr id="36" name="TextBox 35"/>
            <p:cNvSpPr txBox="1"/>
            <p:nvPr/>
          </p:nvSpPr>
          <p:spPr>
            <a:xfrm>
              <a:off x="1418110" y="4598313"/>
              <a:ext cx="381890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03684" y="4903114"/>
              <a:ext cx="381890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3" grpId="2" build="p"/>
      <p:bldP spid="3" grpId="3" build="p"/>
      <p:bldP spid="3" grpId="4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问题解决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、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2</a:t>
            </a:r>
            <a:r>
              <a:rPr lang="zh-CN" altLang="en-US" sz="2800" baseline="-25000" dirty="0"/>
              <a:t>  </a:t>
            </a:r>
            <a:r>
              <a:rPr lang="zh-CN" altLang="en-US" sz="2800" dirty="0"/>
              <a:t> 、</a:t>
            </a:r>
            <a:r>
              <a:rPr lang="en-US" altLang="zh-CN" sz="2800" dirty="0"/>
              <a:t>He</a:t>
            </a:r>
            <a:r>
              <a:rPr lang="zh-CN" altLang="en-US" sz="2800" dirty="0"/>
              <a:t>质量相同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	</a:t>
            </a:r>
          </a:p>
          <a:p>
            <a:pPr marL="514350" indent="-514350">
              <a:buNone/>
            </a:pPr>
            <a:r>
              <a:rPr lang="zh-CN" altLang="en-US" sz="2800" dirty="0"/>
              <a:t>摩尔质量：</a:t>
            </a: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&lt; He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&lt; 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&lt;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>
              <a:buNone/>
            </a:pPr>
            <a:r>
              <a:rPr lang="en-US" altLang="zh-CN" sz="2800" dirty="0"/>
              <a:t>			n= m/M</a:t>
            </a:r>
          </a:p>
          <a:p>
            <a:pPr marL="514350" indent="-514350">
              <a:buNone/>
            </a:pPr>
            <a:r>
              <a:rPr lang="zh-CN" altLang="en-US" sz="2800" dirty="0"/>
              <a:t>物质的量：</a:t>
            </a:r>
            <a:r>
              <a:rPr lang="en-US" altLang="zh-CN" sz="2800" dirty="0"/>
              <a:t>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&gt; He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&gt; 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&gt;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分压强：</a:t>
            </a:r>
            <a:r>
              <a:rPr lang="en-US" altLang="zh-CN" sz="2800" dirty="0"/>
              <a:t> p(H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) &gt; p(He)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&gt;p( 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&gt; p(O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</a:p>
          <a:p>
            <a:pPr marL="514350" indent="-514350"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分体积定律</a:t>
            </a:r>
            <a:endParaRPr lang="en-US" sz="400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在总压和温度不变时，混合气体的总体积等于各成分气体的分体积之和。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 = V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+ V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+ V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</a:t>
            </a:r>
          </a:p>
          <a:p>
            <a:pPr>
              <a:buNone/>
            </a:pPr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气体</a:t>
            </a:r>
            <a:r>
              <a:rPr lang="en-US" altLang="zh-CN" sz="2800" dirty="0" err="1"/>
              <a:t>A</a:t>
            </a:r>
            <a:r>
              <a:rPr lang="zh-CN" altLang="en-US" sz="2800" dirty="0"/>
              <a:t>的分体积 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= V</a:t>
            </a:r>
            <a:r>
              <a:rPr lang="en-US" altLang="zh-CN" sz="2800" baseline="-25000" dirty="0"/>
              <a:t>T</a:t>
            </a:r>
            <a:r>
              <a:rPr lang="en-US" altLang="zh-CN" sz="2800" dirty="0"/>
              <a:t> x </a:t>
            </a:r>
          </a:p>
          <a:p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zh-CN" altLang="en-US" sz="2800" b="1" dirty="0"/>
              <a:t>常用公式   </a:t>
            </a:r>
            <a:r>
              <a:rPr lang="en-US" altLang="zh-CN" sz="2800" b="1" dirty="0">
                <a:solidFill>
                  <a:srgbClr val="C00000"/>
                </a:solidFill>
              </a:rPr>
              <a:t>V</a:t>
            </a:r>
            <a:r>
              <a:rPr lang="en-US" altLang="zh-CN" sz="28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</a:rPr>
              <a:t> = V</a:t>
            </a:r>
            <a:r>
              <a:rPr lang="en-US" altLang="zh-CN" sz="2800" b="1" baseline="-25000" dirty="0">
                <a:solidFill>
                  <a:srgbClr val="C00000"/>
                </a:solidFill>
              </a:rPr>
              <a:t>T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x</a:t>
            </a:r>
            <a:endParaRPr lang="en-US" sz="2800" dirty="0"/>
          </a:p>
          <a:p>
            <a:endParaRPr lang="en-US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4648200" y="2905780"/>
            <a:ext cx="567807" cy="904220"/>
            <a:chOff x="1371600" y="4522113"/>
            <a:chExt cx="567807" cy="904220"/>
          </a:xfrm>
        </p:grpSpPr>
        <p:sp>
          <p:nvSpPr>
            <p:cNvPr id="6" name="TextBox 5"/>
            <p:cNvSpPr txBox="1"/>
            <p:nvPr/>
          </p:nvSpPr>
          <p:spPr>
            <a:xfrm>
              <a:off x="1418110" y="4522113"/>
              <a:ext cx="521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</a:t>
              </a:r>
              <a:r>
                <a:rPr lang="en-US" sz="2800" baseline="-25000" dirty="0" err="1"/>
                <a:t>A</a:t>
              </a:r>
              <a:endParaRPr lang="en-US" sz="28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03684" y="4903113"/>
              <a:ext cx="4956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n</a:t>
              </a:r>
              <a:r>
                <a:rPr lang="en-US" sz="2800" baseline="-25000" dirty="0" err="1"/>
                <a:t>T</a:t>
              </a:r>
              <a:endParaRPr lang="en-US" sz="2800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851793" y="3896380"/>
            <a:ext cx="567807" cy="904220"/>
            <a:chOff x="1371600" y="4522113"/>
            <a:chExt cx="567807" cy="904220"/>
          </a:xfrm>
        </p:grpSpPr>
        <p:sp>
          <p:nvSpPr>
            <p:cNvPr id="10" name="TextBox 9"/>
            <p:cNvSpPr txBox="1"/>
            <p:nvPr/>
          </p:nvSpPr>
          <p:spPr>
            <a:xfrm>
              <a:off x="1418110" y="4522113"/>
              <a:ext cx="521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rgbClr val="C00000"/>
                  </a:solidFill>
                </a:rPr>
                <a:t>p</a:t>
              </a:r>
              <a:r>
                <a:rPr lang="en-US" sz="2800" b="1" baseline="-25000" dirty="0" err="1">
                  <a:solidFill>
                    <a:srgbClr val="C00000"/>
                  </a:solidFill>
                </a:rPr>
                <a:t>A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03684" y="4903113"/>
              <a:ext cx="4956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rgbClr val="C00000"/>
                  </a:solidFill>
                </a:rPr>
                <a:t>p</a:t>
              </a:r>
              <a:r>
                <a:rPr lang="en-US" sz="2800" b="1" baseline="-25000" dirty="0" err="1">
                  <a:solidFill>
                    <a:srgbClr val="C00000"/>
                  </a:solidFill>
                </a:rPr>
                <a:t>T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600" dirty="0"/>
              <a:t>例</a:t>
            </a:r>
            <a:r>
              <a:rPr lang="en-US" altLang="zh-CN" sz="2600" dirty="0"/>
              <a:t>14</a:t>
            </a:r>
          </a:p>
          <a:p>
            <a:pPr>
              <a:buNone/>
            </a:pP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 1.01x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</a:t>
            </a:r>
          </a:p>
          <a:p>
            <a:pPr>
              <a:buNone/>
            </a:pPr>
            <a:r>
              <a:rPr lang="en-US" sz="2600" dirty="0"/>
              <a:t>V</a:t>
            </a:r>
            <a:r>
              <a:rPr lang="en-US" sz="2600" baseline="-25000" dirty="0"/>
              <a:t>T</a:t>
            </a:r>
            <a:r>
              <a:rPr lang="en-US" sz="2600" dirty="0"/>
              <a:t> = 28.4mL</a:t>
            </a:r>
          </a:p>
          <a:p>
            <a:pPr>
              <a:buNone/>
            </a:pPr>
            <a:r>
              <a:rPr lang="en-US" sz="2600" dirty="0"/>
              <a:t>p(H</a:t>
            </a:r>
            <a:r>
              <a:rPr lang="en-US" sz="2600" baseline="-25000" dirty="0"/>
              <a:t>2</a:t>
            </a:r>
            <a:r>
              <a:rPr lang="en-US" sz="2600" dirty="0"/>
              <a:t>O)= 2.33 x 10</a:t>
            </a:r>
            <a:r>
              <a:rPr lang="en-US" sz="2600" baseline="30000" dirty="0"/>
              <a:t>3</a:t>
            </a:r>
            <a:r>
              <a:rPr lang="en-US" sz="2600" dirty="0"/>
              <a:t> Pa</a:t>
            </a:r>
          </a:p>
          <a:p>
            <a:pPr>
              <a:buNone/>
            </a:pPr>
            <a:r>
              <a:rPr lang="zh-CN" altLang="en-US" sz="2600" dirty="0"/>
              <a:t>求</a:t>
            </a:r>
            <a:r>
              <a:rPr lang="en-US" altLang="zh-CN" sz="2600" dirty="0"/>
              <a:t>V(H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</a:p>
          <a:p>
            <a:pPr>
              <a:buNone/>
            </a:pPr>
            <a:r>
              <a:rPr lang="zh-CN" altLang="en-US" sz="2600" dirty="0"/>
              <a:t>根据道尔顿分压定律</a:t>
            </a:r>
            <a:r>
              <a:rPr lang="en-US" altLang="zh-CN" sz="2600" dirty="0"/>
              <a:t>  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 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)+p(H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O)</a:t>
            </a:r>
          </a:p>
          <a:p>
            <a:pPr>
              <a:buNone/>
            </a:pPr>
            <a:r>
              <a:rPr lang="en-US" altLang="zh-CN" sz="2600" dirty="0"/>
              <a:t>				 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)=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- 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O)</a:t>
            </a:r>
          </a:p>
          <a:p>
            <a:pPr>
              <a:buNone/>
            </a:pPr>
            <a:r>
              <a:rPr lang="en-US" sz="2600" dirty="0"/>
              <a:t>				          = </a:t>
            </a:r>
            <a:r>
              <a:rPr lang="en-US" altLang="zh-CN" sz="2600" dirty="0"/>
              <a:t>1.01x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-</a:t>
            </a:r>
            <a:r>
              <a:rPr lang="en-US" sz="2600" dirty="0"/>
              <a:t> 2.33 x 10</a:t>
            </a:r>
            <a:r>
              <a:rPr lang="en-US" sz="2600" baseline="30000" dirty="0"/>
              <a:t>3</a:t>
            </a:r>
            <a:r>
              <a:rPr lang="en-US" sz="2600" dirty="0"/>
              <a:t> Pa</a:t>
            </a:r>
          </a:p>
          <a:p>
            <a:pPr>
              <a:buNone/>
            </a:pPr>
            <a:r>
              <a:rPr lang="en-US" sz="2600" dirty="0"/>
              <a:t>				          = 9.867x 10</a:t>
            </a:r>
            <a:r>
              <a:rPr lang="en-US" sz="2600" baseline="30000" dirty="0"/>
              <a:t>4</a:t>
            </a:r>
            <a:r>
              <a:rPr lang="en-US" sz="2600" dirty="0"/>
              <a:t> </a:t>
            </a:r>
            <a:r>
              <a:rPr lang="en-US" altLang="zh-CN" sz="2600" dirty="0"/>
              <a:t>Pa</a:t>
            </a:r>
            <a:endParaRPr lang="en-US" sz="2600" dirty="0"/>
          </a:p>
          <a:p>
            <a:pPr>
              <a:buNone/>
            </a:pPr>
            <a:r>
              <a:rPr lang="zh-CN" altLang="en-US" sz="2600" dirty="0"/>
              <a:t>根据分体积定律 </a:t>
            </a:r>
            <a:r>
              <a:rPr lang="en-US" altLang="zh-CN" sz="2600" dirty="0"/>
              <a:t>V(H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)= V</a:t>
            </a:r>
            <a:r>
              <a:rPr lang="en-US" altLang="zh-CN" sz="2600" baseline="-25000" dirty="0"/>
              <a:t>T</a:t>
            </a:r>
            <a:r>
              <a:rPr lang="en-US" altLang="zh-CN" sz="2600" dirty="0"/>
              <a:t> x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				     = 28.4mL x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				     = 27.74mL  </a:t>
            </a: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</p:txBody>
      </p:sp>
      <p:grpSp>
        <p:nvGrpSpPr>
          <p:cNvPr id="4" name="Group 3"/>
          <p:cNvGrpSpPr/>
          <p:nvPr/>
        </p:nvGrpSpPr>
        <p:grpSpPr>
          <a:xfrm>
            <a:off x="4572000" y="4419600"/>
            <a:ext cx="1981200" cy="828020"/>
            <a:chOff x="1371600" y="4522113"/>
            <a:chExt cx="984587" cy="828020"/>
          </a:xfrm>
        </p:grpSpPr>
        <p:sp>
          <p:nvSpPr>
            <p:cNvPr id="5" name="TextBox 4"/>
            <p:cNvSpPr txBox="1"/>
            <p:nvPr/>
          </p:nvSpPr>
          <p:spPr>
            <a:xfrm>
              <a:off x="1418110" y="4522113"/>
              <a:ext cx="9380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p(H</a:t>
              </a:r>
              <a:r>
                <a:rPr lang="en-US" sz="2800" baseline="-25000" dirty="0"/>
                <a:t>2</a:t>
              </a:r>
              <a:r>
                <a:rPr lang="en-US" sz="2800" dirty="0"/>
                <a:t>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4529" y="4826913"/>
              <a:ext cx="4908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p</a:t>
              </a:r>
              <a:r>
                <a:rPr lang="en-US" sz="2800" baseline="-25000" dirty="0" err="1"/>
                <a:t>T</a:t>
              </a:r>
              <a:endParaRPr lang="en-US" sz="28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222756" y="5029200"/>
            <a:ext cx="2140395" cy="852845"/>
            <a:chOff x="1362721" y="4522113"/>
            <a:chExt cx="542279" cy="852845"/>
          </a:xfrm>
        </p:grpSpPr>
        <p:sp>
          <p:nvSpPr>
            <p:cNvPr id="9" name="TextBox 8"/>
            <p:cNvSpPr txBox="1"/>
            <p:nvPr/>
          </p:nvSpPr>
          <p:spPr>
            <a:xfrm>
              <a:off x="1362721" y="4522113"/>
              <a:ext cx="491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9.867 x 10</a:t>
              </a:r>
              <a:r>
                <a:rPr lang="en-US" sz="2400" baseline="30000" dirty="0"/>
                <a:t>4</a:t>
              </a:r>
              <a:r>
                <a:rPr lang="en-US" sz="2400" dirty="0"/>
                <a:t> Pa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90905" y="4913293"/>
              <a:ext cx="434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1.01x 10</a:t>
              </a:r>
              <a:r>
                <a:rPr lang="en-US" sz="2400" baseline="30000" dirty="0"/>
                <a:t>5</a:t>
              </a:r>
              <a:r>
                <a:rPr lang="en-US" sz="2400" dirty="0"/>
                <a:t> Pa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				</a:t>
            </a:r>
            <a:r>
              <a:rPr lang="zh-CN" altLang="en-US" sz="2800" dirty="0"/>
              <a:t>思考题</a:t>
            </a:r>
            <a:r>
              <a:rPr lang="en-US" altLang="zh-CN" sz="2800" dirty="0"/>
              <a:t>17j(1)</a:t>
            </a:r>
          </a:p>
          <a:p>
            <a:pPr>
              <a:buNone/>
            </a:pPr>
            <a:r>
              <a:rPr lang="en-US" sz="2800" dirty="0" err="1"/>
              <a:t>n</a:t>
            </a:r>
            <a:r>
              <a:rPr lang="en-US" sz="2800" baseline="-25000" dirty="0" err="1"/>
              <a:t>T</a:t>
            </a:r>
            <a:r>
              <a:rPr lang="en-US" sz="2800" dirty="0"/>
              <a:t> = 4.5mol + 1mol + 2.5mol</a:t>
            </a:r>
          </a:p>
          <a:p>
            <a:pPr>
              <a:buNone/>
            </a:pPr>
            <a:r>
              <a:rPr lang="en-US" sz="2800" dirty="0"/>
              <a:t>	 = 8mol</a:t>
            </a:r>
          </a:p>
          <a:p>
            <a:pPr>
              <a:buNone/>
            </a:pPr>
            <a:r>
              <a:rPr lang="en-US" sz="2800" dirty="0"/>
              <a:t>p( Ne) = 2x 10</a:t>
            </a:r>
            <a:r>
              <a:rPr lang="en-US" sz="2800" baseline="30000" dirty="0"/>
              <a:t>5</a:t>
            </a:r>
            <a:r>
              <a:rPr lang="en-US" sz="2800" dirty="0"/>
              <a:t> Pa x </a:t>
            </a:r>
          </a:p>
          <a:p>
            <a:pPr>
              <a:buNone/>
            </a:pPr>
            <a:r>
              <a:rPr lang="en-US" sz="2800" dirty="0"/>
              <a:t>		 = 1.125 x 10</a:t>
            </a:r>
            <a:r>
              <a:rPr lang="en-US" sz="2800" baseline="30000" dirty="0"/>
              <a:t>5</a:t>
            </a:r>
            <a:r>
              <a:rPr lang="en-US" sz="2800" dirty="0"/>
              <a:t> Pa</a:t>
            </a:r>
          </a:p>
          <a:p>
            <a:pPr>
              <a:buNone/>
            </a:pPr>
            <a:r>
              <a:rPr lang="en-US" sz="2800" dirty="0"/>
              <a:t>p( </a:t>
            </a:r>
            <a:r>
              <a:rPr lang="en-US" sz="2800" dirty="0" err="1"/>
              <a:t>Ar</a:t>
            </a:r>
            <a:r>
              <a:rPr lang="en-US" sz="2800" dirty="0"/>
              <a:t>) = 2x 10</a:t>
            </a:r>
            <a:r>
              <a:rPr lang="en-US" sz="2800" baseline="30000" dirty="0"/>
              <a:t>5</a:t>
            </a:r>
            <a:r>
              <a:rPr lang="en-US" sz="2800" dirty="0"/>
              <a:t> Pa x </a:t>
            </a:r>
          </a:p>
          <a:p>
            <a:pPr>
              <a:buNone/>
            </a:pPr>
            <a:r>
              <a:rPr lang="en-US" sz="2800" dirty="0"/>
              <a:t>		= 2.5 x 10</a:t>
            </a:r>
            <a:r>
              <a:rPr lang="en-US" sz="2800" baseline="30000" dirty="0"/>
              <a:t>4</a:t>
            </a:r>
            <a:r>
              <a:rPr lang="en-US" sz="2800" dirty="0"/>
              <a:t> Pa</a:t>
            </a:r>
          </a:p>
          <a:p>
            <a:pPr>
              <a:buNone/>
            </a:pPr>
            <a:r>
              <a:rPr lang="en-US" sz="2800" dirty="0"/>
              <a:t>p( </a:t>
            </a:r>
            <a:r>
              <a:rPr lang="en-US" sz="2800" dirty="0" err="1"/>
              <a:t>Xe</a:t>
            </a:r>
            <a:r>
              <a:rPr lang="en-US" sz="2800" dirty="0"/>
              <a:t>) = 2x 10</a:t>
            </a:r>
            <a:r>
              <a:rPr lang="en-US" sz="2800" baseline="30000" dirty="0"/>
              <a:t>5</a:t>
            </a:r>
            <a:r>
              <a:rPr lang="en-US" sz="2800" dirty="0"/>
              <a:t> Pa x </a:t>
            </a:r>
          </a:p>
          <a:p>
            <a:pPr>
              <a:buNone/>
            </a:pPr>
            <a:r>
              <a:rPr lang="en-US" sz="2800" dirty="0"/>
              <a:t>		= 6.25 x 10</a:t>
            </a:r>
            <a:r>
              <a:rPr lang="en-US" sz="2800" baseline="30000" dirty="0"/>
              <a:t>4</a:t>
            </a:r>
            <a:r>
              <a:rPr lang="en-US" sz="2800" dirty="0"/>
              <a:t> Pa</a:t>
            </a:r>
          </a:p>
          <a:p>
            <a:pPr>
              <a:buNone/>
            </a:pPr>
            <a:endParaRPr lang="en-US" sz="2800" dirty="0"/>
          </a:p>
        </p:txBody>
      </p:sp>
      <p:grpSp>
        <p:nvGrpSpPr>
          <p:cNvPr id="4" name="Group 11"/>
          <p:cNvGrpSpPr/>
          <p:nvPr/>
        </p:nvGrpSpPr>
        <p:grpSpPr>
          <a:xfrm>
            <a:off x="3429000" y="1828800"/>
            <a:ext cx="667422" cy="735687"/>
            <a:chOff x="1371600" y="4598313"/>
            <a:chExt cx="533400" cy="735687"/>
          </a:xfrm>
        </p:grpSpPr>
        <p:sp>
          <p:nvSpPr>
            <p:cNvPr id="5" name="TextBox 4"/>
            <p:cNvSpPr txBox="1"/>
            <p:nvPr/>
          </p:nvSpPr>
          <p:spPr>
            <a:xfrm>
              <a:off x="1426798" y="4598313"/>
              <a:ext cx="43199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4.5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36287" y="4903113"/>
              <a:ext cx="26160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8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371600" y="4977725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1"/>
          <p:cNvGrpSpPr/>
          <p:nvPr/>
        </p:nvGrpSpPr>
        <p:grpSpPr>
          <a:xfrm>
            <a:off x="3352800" y="2845713"/>
            <a:ext cx="667422" cy="735687"/>
            <a:chOff x="1371600" y="4598313"/>
            <a:chExt cx="533400" cy="735687"/>
          </a:xfrm>
        </p:grpSpPr>
        <p:sp>
          <p:nvSpPr>
            <p:cNvPr id="9" name="TextBox 8"/>
            <p:cNvSpPr txBox="1"/>
            <p:nvPr/>
          </p:nvSpPr>
          <p:spPr>
            <a:xfrm>
              <a:off x="1536287" y="4598313"/>
              <a:ext cx="26160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36287" y="4903113"/>
              <a:ext cx="26160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8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371600" y="4977725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429000" y="3912513"/>
            <a:ext cx="667422" cy="735687"/>
            <a:chOff x="1371600" y="4598313"/>
            <a:chExt cx="533400" cy="735687"/>
          </a:xfrm>
        </p:grpSpPr>
        <p:sp>
          <p:nvSpPr>
            <p:cNvPr id="13" name="TextBox 12"/>
            <p:cNvSpPr txBox="1"/>
            <p:nvPr/>
          </p:nvSpPr>
          <p:spPr>
            <a:xfrm>
              <a:off x="1426798" y="4598313"/>
              <a:ext cx="43199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2.5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6287" y="4903113"/>
              <a:ext cx="26160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8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371600" y="4977725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思考题</a:t>
            </a:r>
            <a:r>
              <a:rPr lang="en-US" altLang="zh-CN" sz="2800" dirty="0"/>
              <a:t>17j(2)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	 T = 20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 V = 1L</a:t>
            </a:r>
          </a:p>
          <a:p>
            <a:pPr>
              <a:buNone/>
            </a:pPr>
            <a:r>
              <a:rPr lang="en-US" altLang="zh-CN" sz="2800" dirty="0"/>
              <a:t>		m(N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=0.76g  </a:t>
            </a:r>
          </a:p>
          <a:p>
            <a:pPr>
              <a:buNone/>
            </a:pPr>
            <a:r>
              <a:rPr lang="en-US" altLang="zh-CN" sz="2800" dirty="0"/>
              <a:t>		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=0.24g	</a:t>
            </a:r>
          </a:p>
          <a:p>
            <a:pPr>
              <a:buNone/>
            </a:pPr>
            <a:r>
              <a:rPr lang="en-US" altLang="zh-CN" sz="2800" dirty="0"/>
              <a:t>	   n(N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         	   </a:t>
            </a:r>
          </a:p>
          <a:p>
            <a:pPr marL="514350" indent="-514350">
              <a:buNone/>
            </a:pPr>
            <a:r>
              <a:rPr lang="en-US" altLang="zh-CN" sz="2800" dirty="0"/>
              <a:t>		     = 0.0271mol</a:t>
            </a:r>
          </a:p>
          <a:p>
            <a:pPr marL="514350" indent="-514350">
              <a:buNone/>
            </a:pPr>
            <a:r>
              <a:rPr lang="en-US" altLang="zh-CN" sz="2800" dirty="0"/>
              <a:t>	n(O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   		   </a:t>
            </a:r>
          </a:p>
          <a:p>
            <a:pPr marL="514350" indent="-514350">
              <a:buNone/>
            </a:pPr>
            <a:r>
              <a:rPr lang="en-US" altLang="zh-CN" sz="2800" dirty="0"/>
              <a:t>	          = 0.0075mol</a:t>
            </a:r>
          </a:p>
          <a:p>
            <a:pPr>
              <a:buNone/>
            </a:pPr>
            <a:r>
              <a:rPr lang="en-US" altLang="zh-CN" sz="2800" dirty="0"/>
              <a:t>	  </a:t>
            </a: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=0.0271mol+0.0075mol=0.0346mol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9906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(20 + 273) K = 293K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90800" y="1524000"/>
            <a:ext cx="1850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0.001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2133599" y="3008490"/>
            <a:ext cx="2743201" cy="877710"/>
            <a:chOff x="1219200" y="4707205"/>
            <a:chExt cx="1194558" cy="626795"/>
          </a:xfrm>
        </p:grpSpPr>
        <p:sp>
          <p:nvSpPr>
            <p:cNvPr id="24" name="TextBox 23"/>
            <p:cNvSpPr txBox="1"/>
            <p:nvPr/>
          </p:nvSpPr>
          <p:spPr>
            <a:xfrm>
              <a:off x="1252383" y="4707205"/>
              <a:ext cx="355445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0.76g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19200" y="4903113"/>
              <a:ext cx="11945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28gmol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6"/>
          <p:cNvGrpSpPr/>
          <p:nvPr/>
        </p:nvGrpSpPr>
        <p:grpSpPr>
          <a:xfrm>
            <a:off x="2133600" y="4038600"/>
            <a:ext cx="1224908" cy="705222"/>
            <a:chOff x="1252383" y="4707204"/>
            <a:chExt cx="533400" cy="503617"/>
          </a:xfrm>
        </p:grpSpPr>
        <p:sp>
          <p:nvSpPr>
            <p:cNvPr id="28" name="TextBox 27"/>
            <p:cNvSpPr txBox="1"/>
            <p:nvPr/>
          </p:nvSpPr>
          <p:spPr>
            <a:xfrm>
              <a:off x="1318746" y="4707204"/>
              <a:ext cx="355445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0.24g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258874" y="4903114"/>
              <a:ext cx="520184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32gmol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/>
      <p:bldP spid="16" grpId="0" uiExpand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思考题</a:t>
            </a:r>
            <a:r>
              <a:rPr lang="en-US" altLang="zh-CN" sz="2400" dirty="0"/>
              <a:t>17j(2)</a:t>
            </a:r>
          </a:p>
          <a:p>
            <a:pPr>
              <a:buNone/>
            </a:pPr>
            <a:r>
              <a:rPr lang="zh-CN" altLang="en-US" sz="2600" dirty="0"/>
              <a:t>已知 </a:t>
            </a:r>
            <a:r>
              <a:rPr lang="en-US" altLang="zh-CN" sz="2600" dirty="0"/>
              <a:t>	 T = 20</a:t>
            </a:r>
            <a:r>
              <a:rPr lang="en-US" altLang="zh-CN" sz="2600" baseline="30000" dirty="0"/>
              <a:t>o</a:t>
            </a:r>
            <a:r>
              <a:rPr lang="en-US" altLang="zh-CN" sz="2600" dirty="0"/>
              <a:t> C </a:t>
            </a:r>
          </a:p>
          <a:p>
            <a:pPr>
              <a:buNone/>
            </a:pPr>
            <a:r>
              <a:rPr lang="en-US" altLang="zh-CN" sz="2600" dirty="0"/>
              <a:t>		 V =1L</a:t>
            </a:r>
          </a:p>
          <a:p>
            <a:pPr>
              <a:buNone/>
            </a:pPr>
            <a:r>
              <a:rPr lang="en-US" altLang="zh-CN" sz="2600" dirty="0"/>
              <a:t>		 </a:t>
            </a:r>
            <a:r>
              <a:rPr lang="en-US" altLang="zh-CN" sz="2600" dirty="0" err="1"/>
              <a:t>n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=0.0346mol</a:t>
            </a:r>
          </a:p>
          <a:p>
            <a:pPr>
              <a:buNone/>
            </a:pPr>
            <a:r>
              <a:rPr lang="en-US" altLang="zh-CN" sz="2600" dirty="0"/>
              <a:t>		 n(N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 ) = 0.0271mol		n(O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 =0.0075mol</a:t>
            </a:r>
          </a:p>
          <a:p>
            <a:pPr>
              <a:buNone/>
            </a:pPr>
            <a:r>
              <a:rPr lang="zh-CN" altLang="en-US" sz="2600" dirty="0"/>
              <a:t>求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endParaRPr lang="en-US" altLang="zh-CN" sz="2600" dirty="0"/>
          </a:p>
          <a:p>
            <a:pPr>
              <a:buNone/>
            </a:pPr>
            <a:r>
              <a:rPr lang="zh-CN" altLang="en-US" sz="2600" dirty="0"/>
              <a:t>公式：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V</a:t>
            </a:r>
            <a:r>
              <a:rPr lang="en-US" altLang="zh-CN" sz="2600" baseline="-25000" dirty="0"/>
              <a:t> </a:t>
            </a:r>
            <a:r>
              <a:rPr lang="en-US" altLang="zh-CN" sz="2600" dirty="0"/>
              <a:t>=</a:t>
            </a:r>
            <a:r>
              <a:rPr lang="en-US" altLang="zh-CN" sz="2600" dirty="0" err="1"/>
              <a:t>n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RT		     </a:t>
            </a:r>
          </a:p>
          <a:p>
            <a:pPr>
              <a:buNone/>
            </a:pPr>
            <a:r>
              <a:rPr lang="en-US" altLang="zh-CN" sz="2600" dirty="0"/>
              <a:t>		     p   =</a:t>
            </a:r>
          </a:p>
          <a:p>
            <a:pPr>
              <a:buNone/>
            </a:pPr>
            <a:r>
              <a:rPr lang="en-US" altLang="zh-CN" sz="2600" dirty="0"/>
              <a:t>		          = </a:t>
            </a:r>
          </a:p>
          <a:p>
            <a:pPr>
              <a:buNone/>
            </a:pPr>
            <a:r>
              <a:rPr lang="en-US" altLang="zh-CN" sz="2600" dirty="0"/>
              <a:t>		          = 8.43 x 10</a:t>
            </a:r>
            <a:r>
              <a:rPr lang="en-US" altLang="zh-CN" sz="2600" baseline="30000" dirty="0"/>
              <a:t>4</a:t>
            </a:r>
            <a:r>
              <a:rPr lang="en-US" altLang="zh-CN" sz="2600" dirty="0"/>
              <a:t> Pa  </a:t>
            </a:r>
          </a:p>
          <a:p>
            <a:pPr>
              <a:buNone/>
            </a:pPr>
            <a:r>
              <a:rPr lang="zh-CN" altLang="en-US" sz="2600" dirty="0"/>
              <a:t>求</a:t>
            </a:r>
            <a:r>
              <a:rPr lang="en-US" altLang="zh-CN" sz="2600" dirty="0"/>
              <a:t>p(N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zh-CN" altLang="en-US" sz="2600" dirty="0"/>
              <a:t>及</a:t>
            </a:r>
            <a:r>
              <a:rPr lang="en-US" altLang="zh-CN" sz="2600" dirty="0"/>
              <a:t>p(O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</a:p>
          <a:p>
            <a:pPr>
              <a:buNone/>
            </a:pPr>
            <a:r>
              <a:rPr lang="en-US" sz="2600" dirty="0"/>
              <a:t>p(N</a:t>
            </a:r>
            <a:r>
              <a:rPr lang="en-US" sz="2600" baseline="-25000" dirty="0"/>
              <a:t>2</a:t>
            </a:r>
            <a:r>
              <a:rPr lang="en-US" sz="2600" dirty="0"/>
              <a:t>)= 8.43</a:t>
            </a:r>
            <a:r>
              <a:rPr lang="en-US" altLang="zh-CN" sz="2600" dirty="0"/>
              <a:t> x 10</a:t>
            </a:r>
            <a:r>
              <a:rPr lang="en-US" altLang="zh-CN" sz="2600" baseline="30000" dirty="0"/>
              <a:t>4</a:t>
            </a:r>
            <a:r>
              <a:rPr lang="en-US" altLang="zh-CN" sz="2600" dirty="0"/>
              <a:t> Pa x 	          p(O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en-US" sz="2600" dirty="0"/>
              <a:t> = 8.43</a:t>
            </a:r>
            <a:r>
              <a:rPr lang="en-US" altLang="zh-CN" sz="2600" dirty="0"/>
              <a:t> x 10</a:t>
            </a:r>
            <a:r>
              <a:rPr lang="en-US" altLang="zh-CN" sz="2600" baseline="30000" dirty="0"/>
              <a:t>4</a:t>
            </a:r>
            <a:r>
              <a:rPr lang="en-US" altLang="zh-CN" sz="2600" dirty="0"/>
              <a:t> Pa x</a:t>
            </a:r>
          </a:p>
          <a:p>
            <a:pPr>
              <a:buNone/>
            </a:pPr>
            <a:r>
              <a:rPr lang="en-US" sz="2600" dirty="0"/>
              <a:t>	     = 6.60</a:t>
            </a:r>
            <a:r>
              <a:rPr lang="en-US" altLang="zh-CN" sz="2600" dirty="0"/>
              <a:t> x 10</a:t>
            </a:r>
            <a:r>
              <a:rPr lang="en-US" altLang="zh-CN" sz="2600" baseline="30000" dirty="0"/>
              <a:t>4</a:t>
            </a:r>
            <a:r>
              <a:rPr lang="en-US" altLang="zh-CN" sz="2600" dirty="0"/>
              <a:t> Pa 		        = 1.83 x 10</a:t>
            </a:r>
            <a:r>
              <a:rPr lang="en-US" altLang="zh-CN" sz="2600" baseline="30000" dirty="0"/>
              <a:t>4</a:t>
            </a:r>
            <a:r>
              <a:rPr lang="en-US" altLang="zh-CN" sz="2600" dirty="0"/>
              <a:t> Pa </a:t>
            </a:r>
            <a:endParaRPr lang="en-US" sz="2600" dirty="0"/>
          </a:p>
        </p:txBody>
      </p:sp>
      <p:sp>
        <p:nvSpPr>
          <p:cNvPr id="7" name="TextBox 6"/>
          <p:cNvSpPr txBox="1"/>
          <p:nvPr/>
        </p:nvSpPr>
        <p:spPr>
          <a:xfrm>
            <a:off x="2971800" y="60960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(27 + 273) K = 293K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2590800" y="3352800"/>
            <a:ext cx="1219200" cy="735687"/>
            <a:chOff x="1371600" y="4598313"/>
            <a:chExt cx="533400" cy="735687"/>
          </a:xfrm>
        </p:grpSpPr>
        <p:sp>
          <p:nvSpPr>
            <p:cNvPr id="17" name="TextBox 16"/>
            <p:cNvSpPr txBox="1"/>
            <p:nvPr/>
          </p:nvSpPr>
          <p:spPr>
            <a:xfrm>
              <a:off x="1418110" y="4598313"/>
              <a:ext cx="31172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 err="1"/>
                <a:t>n</a:t>
              </a:r>
              <a:r>
                <a:rPr lang="en-US" sz="2200" baseline="-25000" dirty="0" err="1"/>
                <a:t>T</a:t>
              </a:r>
              <a:r>
                <a:rPr lang="en-US" sz="2200" dirty="0" err="1"/>
                <a:t>RT</a:t>
              </a:r>
              <a:endParaRPr lang="en-US" sz="2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3684" y="4903113"/>
              <a:ext cx="2070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V</a:t>
              </a:r>
              <a:endParaRPr lang="en-US" sz="2200" dirty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9"/>
          <p:cNvGrpSpPr/>
          <p:nvPr/>
        </p:nvGrpSpPr>
        <p:grpSpPr>
          <a:xfrm>
            <a:off x="2522050" y="3810000"/>
            <a:ext cx="5478949" cy="735687"/>
            <a:chOff x="1371600" y="4598313"/>
            <a:chExt cx="582271" cy="735687"/>
          </a:xfrm>
        </p:grpSpPr>
        <p:sp>
          <p:nvSpPr>
            <p:cNvPr id="21" name="TextBox 20"/>
            <p:cNvSpPr txBox="1"/>
            <p:nvPr/>
          </p:nvSpPr>
          <p:spPr>
            <a:xfrm>
              <a:off x="1378906" y="4598313"/>
              <a:ext cx="57496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0.0346mol x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293 K</a:t>
              </a:r>
              <a:endParaRPr lang="en-US" sz="2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437677" y="4903113"/>
              <a:ext cx="24895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	0.001 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438400" y="1066800"/>
            <a:ext cx="1850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0.001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6" name="Group 11"/>
          <p:cNvGrpSpPr/>
          <p:nvPr/>
        </p:nvGrpSpPr>
        <p:grpSpPr>
          <a:xfrm>
            <a:off x="3505200" y="5360313"/>
            <a:ext cx="2209801" cy="704118"/>
            <a:chOff x="1371600" y="4598313"/>
            <a:chExt cx="1176468" cy="785475"/>
          </a:xfrm>
        </p:grpSpPr>
        <p:sp>
          <p:nvSpPr>
            <p:cNvPr id="28" name="TextBox 27"/>
            <p:cNvSpPr txBox="1"/>
            <p:nvPr/>
          </p:nvSpPr>
          <p:spPr>
            <a:xfrm>
              <a:off x="1418111" y="4598313"/>
              <a:ext cx="1129957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0.0271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03686" y="4903114"/>
              <a:ext cx="1129958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0.0346</a:t>
              </a: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1"/>
          <p:cNvGrpSpPr/>
          <p:nvPr/>
        </p:nvGrpSpPr>
        <p:grpSpPr>
          <a:xfrm>
            <a:off x="7924800" y="5284112"/>
            <a:ext cx="2362200" cy="704117"/>
            <a:chOff x="1371600" y="4598313"/>
            <a:chExt cx="1176468" cy="785474"/>
          </a:xfrm>
        </p:grpSpPr>
        <p:sp>
          <p:nvSpPr>
            <p:cNvPr id="36" name="TextBox 35"/>
            <p:cNvSpPr txBox="1"/>
            <p:nvPr/>
          </p:nvSpPr>
          <p:spPr>
            <a:xfrm>
              <a:off x="1418111" y="4598313"/>
              <a:ext cx="1129957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0.0075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03686" y="4903113"/>
              <a:ext cx="1129958" cy="4806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0.0346</a:t>
              </a:r>
            </a:p>
          </p:txBody>
        </p:sp>
        <p:cxnSp>
          <p:nvCxnSpPr>
            <p:cNvPr id="38" name="Straight Connector 37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3" grpId="4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思考题</a:t>
            </a:r>
            <a:r>
              <a:rPr lang="en-US" altLang="zh-CN" sz="2400" dirty="0"/>
              <a:t>17j(3)</a:t>
            </a:r>
          </a:p>
          <a:p>
            <a:pPr>
              <a:buNone/>
            </a:pP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 1.01x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</a:t>
            </a:r>
          </a:p>
          <a:p>
            <a:pPr>
              <a:buNone/>
            </a:pPr>
            <a:r>
              <a:rPr lang="en-US" sz="2600" dirty="0"/>
              <a:t>V</a:t>
            </a:r>
            <a:r>
              <a:rPr lang="en-US" sz="2600" baseline="-25000" dirty="0"/>
              <a:t>T</a:t>
            </a:r>
            <a:r>
              <a:rPr lang="en-US" sz="2600" dirty="0"/>
              <a:t> = 128mL</a:t>
            </a:r>
          </a:p>
          <a:p>
            <a:pPr>
              <a:buNone/>
            </a:pPr>
            <a:r>
              <a:rPr lang="en-US" sz="2600" dirty="0"/>
              <a:t>p(H</a:t>
            </a:r>
            <a:r>
              <a:rPr lang="en-US" sz="2600" baseline="-25000" dirty="0"/>
              <a:t>2</a:t>
            </a:r>
            <a:r>
              <a:rPr lang="en-US" sz="2600" dirty="0"/>
              <a:t>O)= 2.99 x 10</a:t>
            </a:r>
            <a:r>
              <a:rPr lang="en-US" sz="2600" baseline="30000" dirty="0"/>
              <a:t>3</a:t>
            </a:r>
            <a:r>
              <a:rPr lang="en-US" sz="2600" dirty="0"/>
              <a:t> Pa</a:t>
            </a:r>
          </a:p>
          <a:p>
            <a:pPr>
              <a:buNone/>
            </a:pPr>
            <a:r>
              <a:rPr lang="zh-CN" altLang="en-US" sz="2600" dirty="0"/>
              <a:t>求</a:t>
            </a:r>
            <a:r>
              <a:rPr lang="en-US" altLang="zh-CN" sz="2600" dirty="0"/>
              <a:t>p(O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zh-CN" altLang="en-US" sz="2600" dirty="0"/>
              <a:t>、</a:t>
            </a:r>
            <a:r>
              <a:rPr lang="en-US" altLang="zh-CN" sz="2600" dirty="0"/>
              <a:t>V(O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  <a:r>
              <a:rPr lang="zh-CN" altLang="en-US" sz="2600" dirty="0"/>
              <a:t>、</a:t>
            </a:r>
            <a:r>
              <a:rPr lang="en-US" altLang="zh-CN" sz="2600" dirty="0"/>
              <a:t>m(O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</a:t>
            </a:r>
          </a:p>
          <a:p>
            <a:pPr>
              <a:buNone/>
            </a:pPr>
            <a:r>
              <a:rPr lang="zh-CN" altLang="en-US" sz="2600" dirty="0"/>
              <a:t>根据道尔顿分压定律</a:t>
            </a:r>
            <a:r>
              <a:rPr lang="en-US" altLang="zh-CN" sz="2600" dirty="0"/>
              <a:t>  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= p(O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)+p(H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O)</a:t>
            </a:r>
          </a:p>
          <a:p>
            <a:pPr>
              <a:buNone/>
            </a:pPr>
            <a:r>
              <a:rPr lang="en-US" altLang="zh-CN" sz="2600" dirty="0"/>
              <a:t>				 p(O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)= </a:t>
            </a:r>
            <a:r>
              <a:rPr lang="en-US" altLang="zh-CN" sz="2600" dirty="0" err="1"/>
              <a:t>p</a:t>
            </a:r>
            <a:r>
              <a:rPr lang="en-US" altLang="zh-CN" sz="2600" baseline="-25000" dirty="0" err="1"/>
              <a:t>T</a:t>
            </a:r>
            <a:r>
              <a:rPr lang="en-US" altLang="zh-CN" sz="2600" dirty="0"/>
              <a:t> - p(H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O)</a:t>
            </a:r>
          </a:p>
          <a:p>
            <a:pPr>
              <a:buNone/>
            </a:pPr>
            <a:r>
              <a:rPr lang="en-US" sz="2600" dirty="0"/>
              <a:t>				          = </a:t>
            </a:r>
            <a:r>
              <a:rPr lang="en-US" altLang="zh-CN" sz="2600" dirty="0"/>
              <a:t>1.01x 10</a:t>
            </a:r>
            <a:r>
              <a:rPr lang="en-US" altLang="zh-CN" sz="2600" baseline="30000" dirty="0"/>
              <a:t>5</a:t>
            </a:r>
            <a:r>
              <a:rPr lang="en-US" altLang="zh-CN" sz="2600" dirty="0"/>
              <a:t> Pa -</a:t>
            </a:r>
            <a:r>
              <a:rPr lang="en-US" sz="2600" dirty="0"/>
              <a:t> 2.99 x 10</a:t>
            </a:r>
            <a:r>
              <a:rPr lang="en-US" sz="2600" baseline="30000" dirty="0"/>
              <a:t>3</a:t>
            </a:r>
            <a:r>
              <a:rPr lang="en-US" sz="2600" dirty="0"/>
              <a:t> Pa</a:t>
            </a:r>
          </a:p>
          <a:p>
            <a:pPr>
              <a:buNone/>
            </a:pPr>
            <a:r>
              <a:rPr lang="en-US" sz="2600" dirty="0"/>
              <a:t>				          = 9.801x 10</a:t>
            </a:r>
            <a:r>
              <a:rPr lang="en-US" sz="2600" baseline="30000" dirty="0"/>
              <a:t>4</a:t>
            </a:r>
            <a:r>
              <a:rPr lang="en-US" sz="2600" dirty="0"/>
              <a:t> </a:t>
            </a:r>
            <a:r>
              <a:rPr lang="en-US" altLang="zh-CN" sz="2600" dirty="0"/>
              <a:t>Pa</a:t>
            </a:r>
            <a:endParaRPr lang="en-US" sz="2600" dirty="0"/>
          </a:p>
          <a:p>
            <a:pPr>
              <a:buNone/>
            </a:pPr>
            <a:r>
              <a:rPr lang="zh-CN" altLang="en-US" sz="2600" dirty="0"/>
              <a:t>根据分体积定律 </a:t>
            </a:r>
            <a:r>
              <a:rPr lang="en-US" altLang="zh-CN" sz="2600" dirty="0"/>
              <a:t>V(O</a:t>
            </a:r>
            <a:r>
              <a:rPr lang="en-US" altLang="zh-CN" sz="2600" baseline="-25000" dirty="0"/>
              <a:t>2</a:t>
            </a:r>
            <a:r>
              <a:rPr lang="en-US" altLang="zh-CN" sz="2600" dirty="0"/>
              <a:t>)= V</a:t>
            </a:r>
            <a:r>
              <a:rPr lang="en-US" altLang="zh-CN" sz="2600" baseline="-25000" dirty="0"/>
              <a:t>T</a:t>
            </a:r>
            <a:r>
              <a:rPr lang="en-US" altLang="zh-CN" sz="2600" dirty="0"/>
              <a:t> x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				     = 128mL x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600" dirty="0"/>
              <a:t>				     = 124.21mL  </a:t>
            </a:r>
            <a:endParaRPr lang="en-US" sz="2600" dirty="0"/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600" dirty="0"/>
          </a:p>
        </p:txBody>
      </p:sp>
      <p:grpSp>
        <p:nvGrpSpPr>
          <p:cNvPr id="2" name="Group 3"/>
          <p:cNvGrpSpPr/>
          <p:nvPr/>
        </p:nvGrpSpPr>
        <p:grpSpPr>
          <a:xfrm>
            <a:off x="4572000" y="4419600"/>
            <a:ext cx="1295401" cy="828020"/>
            <a:chOff x="1371600" y="4522113"/>
            <a:chExt cx="643769" cy="828020"/>
          </a:xfrm>
        </p:grpSpPr>
        <p:sp>
          <p:nvSpPr>
            <p:cNvPr id="5" name="TextBox 4"/>
            <p:cNvSpPr txBox="1"/>
            <p:nvPr/>
          </p:nvSpPr>
          <p:spPr>
            <a:xfrm>
              <a:off x="1418110" y="4522113"/>
              <a:ext cx="4725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p(O</a:t>
              </a:r>
              <a:r>
                <a:rPr lang="en-US" sz="2800" baseline="-25000" dirty="0"/>
                <a:t>2</a:t>
              </a:r>
              <a:r>
                <a:rPr lang="en-US" sz="2800" dirty="0"/>
                <a:t>)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4529" y="4826913"/>
              <a:ext cx="4908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/>
                <a:t>p</a:t>
              </a:r>
              <a:r>
                <a:rPr lang="en-US" sz="2800" baseline="-25000" dirty="0" err="1"/>
                <a:t>T</a:t>
              </a:r>
              <a:endParaRPr lang="en-US" sz="28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7"/>
          <p:cNvGrpSpPr/>
          <p:nvPr/>
        </p:nvGrpSpPr>
        <p:grpSpPr>
          <a:xfrm>
            <a:off x="5222756" y="5029200"/>
            <a:ext cx="2140395" cy="852845"/>
            <a:chOff x="1362721" y="4522113"/>
            <a:chExt cx="542279" cy="852845"/>
          </a:xfrm>
        </p:grpSpPr>
        <p:sp>
          <p:nvSpPr>
            <p:cNvPr id="9" name="TextBox 8"/>
            <p:cNvSpPr txBox="1"/>
            <p:nvPr/>
          </p:nvSpPr>
          <p:spPr>
            <a:xfrm>
              <a:off x="1362721" y="4522113"/>
              <a:ext cx="4910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9.801 x 10</a:t>
              </a:r>
              <a:r>
                <a:rPr lang="en-US" sz="2400" baseline="30000" dirty="0"/>
                <a:t>4</a:t>
              </a:r>
              <a:r>
                <a:rPr lang="en-US" sz="2400" dirty="0"/>
                <a:t> Pa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90905" y="4913293"/>
              <a:ext cx="434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1.01x 10</a:t>
              </a:r>
              <a:r>
                <a:rPr lang="en-US" sz="2400" baseline="30000" dirty="0"/>
                <a:t>5</a:t>
              </a:r>
              <a:r>
                <a:rPr lang="en-US" sz="2400" dirty="0"/>
                <a:t> Pa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686800" cy="6553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思考题</a:t>
            </a:r>
            <a:r>
              <a:rPr lang="en-US" altLang="zh-CN" sz="2800" dirty="0"/>
              <a:t>17j(3)</a:t>
            </a:r>
          </a:p>
          <a:p>
            <a:pPr>
              <a:buNone/>
            </a:pPr>
            <a:r>
              <a:rPr lang="zh-CN" altLang="en-US" sz="2800" dirty="0"/>
              <a:t>已知 </a:t>
            </a:r>
            <a:r>
              <a:rPr lang="en-US" altLang="zh-CN" sz="2800" dirty="0"/>
              <a:t> 	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sz="2800" dirty="0"/>
              <a:t> = </a:t>
            </a:r>
            <a:r>
              <a:rPr lang="en-US" altLang="zh-CN" sz="2800" dirty="0"/>
              <a:t>1</a:t>
            </a:r>
            <a:r>
              <a:rPr lang="en-US" sz="2800" dirty="0"/>
              <a:t>.</a:t>
            </a:r>
            <a:r>
              <a:rPr lang="en-US" altLang="zh-CN" sz="2800" dirty="0"/>
              <a:t>01</a:t>
            </a:r>
            <a:r>
              <a:rPr lang="en-US" sz="2800" dirty="0"/>
              <a:t>x 10</a:t>
            </a:r>
            <a:r>
              <a:rPr lang="en-US" altLang="zh-CN" sz="2800" baseline="30000" dirty="0"/>
              <a:t>5</a:t>
            </a:r>
            <a:r>
              <a:rPr lang="en-US" sz="2800" dirty="0"/>
              <a:t> </a:t>
            </a:r>
            <a:r>
              <a:rPr lang="en-US" altLang="zh-CN" sz="2800" dirty="0"/>
              <a:t>Pa</a:t>
            </a:r>
          </a:p>
          <a:p>
            <a:pPr>
              <a:buNone/>
            </a:pPr>
            <a:r>
              <a:rPr lang="en-US" altLang="zh-CN" sz="2800" dirty="0"/>
              <a:t>	 	V(O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 124.21mL </a:t>
            </a:r>
          </a:p>
          <a:p>
            <a:pPr>
              <a:buNone/>
            </a:pPr>
            <a:r>
              <a:rPr lang="en-US" altLang="zh-CN" sz="2800" dirty="0"/>
              <a:t>		T = 24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 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)=32gmol</a:t>
            </a:r>
            <a:r>
              <a:rPr lang="en-US" altLang="zh-CN" sz="2800" baseline="30000" dirty="0"/>
              <a:t>-1</a:t>
            </a:r>
          </a:p>
          <a:p>
            <a:pPr>
              <a:buNone/>
            </a:pPr>
            <a:r>
              <a:rPr lang="en-US" altLang="zh-CN" sz="2800" dirty="0"/>
              <a:t>         </a:t>
            </a:r>
            <a:r>
              <a:rPr lang="en-US" altLang="zh-CN" sz="2800" b="1" dirty="0" err="1">
                <a:solidFill>
                  <a:srgbClr val="7030A0"/>
                </a:solidFill>
              </a:rPr>
              <a:t>p</a:t>
            </a:r>
            <a:r>
              <a:rPr lang="en-US" altLang="zh-CN" sz="2800" b="1" baseline="-25000" dirty="0" err="1">
                <a:solidFill>
                  <a:srgbClr val="7030A0"/>
                </a:solidFill>
              </a:rPr>
              <a:t>T</a:t>
            </a:r>
            <a:r>
              <a:rPr lang="en-US" altLang="zh-CN" sz="2800" b="1" dirty="0">
                <a:solidFill>
                  <a:srgbClr val="7030A0"/>
                </a:solidFill>
              </a:rPr>
              <a:t> V</a:t>
            </a:r>
            <a:r>
              <a:rPr lang="en-US" altLang="zh-CN" sz="1500" b="1" dirty="0">
                <a:solidFill>
                  <a:srgbClr val="7030A0"/>
                </a:solidFill>
              </a:rPr>
              <a:t>(O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1500" b="1" dirty="0">
                <a:solidFill>
                  <a:srgbClr val="7030A0"/>
                </a:solidFill>
              </a:rPr>
              <a:t>) </a:t>
            </a:r>
            <a:r>
              <a:rPr lang="en-US" altLang="zh-CN" sz="2800" b="1" dirty="0">
                <a:solidFill>
                  <a:srgbClr val="7030A0"/>
                </a:solidFill>
              </a:rPr>
              <a:t>= n R T</a:t>
            </a:r>
            <a:r>
              <a:rPr lang="en-US" altLang="zh-CN" sz="2800" dirty="0"/>
              <a:t>			</a:t>
            </a:r>
            <a:r>
              <a:rPr lang="zh-CN" altLang="en-US" sz="2800" b="1" i="1" u="sng" dirty="0">
                <a:solidFill>
                  <a:srgbClr val="7030A0"/>
                </a:solidFill>
              </a:rPr>
              <a:t>或</a:t>
            </a:r>
            <a:r>
              <a:rPr lang="en-US" altLang="zh-CN" sz="2800" dirty="0"/>
              <a:t>	 </a:t>
            </a:r>
            <a:r>
              <a:rPr lang="en-US" altLang="zh-CN" sz="2800" b="1" dirty="0">
                <a:solidFill>
                  <a:srgbClr val="7030A0"/>
                </a:solidFill>
              </a:rPr>
              <a:t>p</a:t>
            </a:r>
            <a:r>
              <a:rPr lang="en-US" altLang="zh-CN" sz="1500" b="1" dirty="0">
                <a:solidFill>
                  <a:srgbClr val="7030A0"/>
                </a:solidFill>
              </a:rPr>
              <a:t>(O</a:t>
            </a:r>
            <a:r>
              <a:rPr lang="en-US" altLang="zh-CN" sz="15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1500" b="1" dirty="0">
                <a:solidFill>
                  <a:srgbClr val="7030A0"/>
                </a:solidFill>
              </a:rPr>
              <a:t>) </a:t>
            </a:r>
            <a:r>
              <a:rPr lang="en-US" altLang="zh-CN" sz="2800" b="1" dirty="0">
                <a:solidFill>
                  <a:srgbClr val="7030A0"/>
                </a:solidFill>
              </a:rPr>
              <a:t>V</a:t>
            </a:r>
            <a:r>
              <a:rPr lang="en-US" altLang="zh-CN" sz="2800" b="1" baseline="-25000" dirty="0">
                <a:solidFill>
                  <a:srgbClr val="7030A0"/>
                </a:solidFill>
              </a:rPr>
              <a:t>T</a:t>
            </a:r>
            <a:r>
              <a:rPr lang="en-US" altLang="zh-CN" sz="1500" b="1" dirty="0">
                <a:solidFill>
                  <a:srgbClr val="7030A0"/>
                </a:solidFill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</a:rPr>
              <a:t>= n R T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  	    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V </a:t>
            </a:r>
            <a:r>
              <a:rPr lang="en-US" altLang="zh-CN" sz="1500" dirty="0"/>
              <a:t>(O</a:t>
            </a:r>
            <a:r>
              <a:rPr lang="en-US" altLang="zh-CN" sz="1500" baseline="-25000" dirty="0"/>
              <a:t>2</a:t>
            </a:r>
            <a:r>
              <a:rPr lang="en-US" altLang="zh-CN" sz="1500" dirty="0"/>
              <a:t>)</a:t>
            </a:r>
            <a:r>
              <a:rPr lang="en-US" altLang="zh-CN" sz="1500" baseline="-25000" dirty="0"/>
              <a:t> </a:t>
            </a:r>
            <a:r>
              <a:rPr lang="en-US" altLang="zh-CN" sz="2800" dirty="0"/>
              <a:t>=         RT</a:t>
            </a:r>
          </a:p>
          <a:p>
            <a:pPr>
              <a:buNone/>
            </a:pPr>
            <a:r>
              <a:rPr lang="en-US" altLang="zh-CN" sz="2800" dirty="0"/>
              <a:t>		   m    =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          =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		          </a:t>
            </a:r>
            <a:r>
              <a:rPr lang="en-US" altLang="zh-CN" sz="2400" dirty="0"/>
              <a:t>= 1.63x10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 g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	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819400" y="2067580"/>
            <a:ext cx="329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(24 + 273) K = 297K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62400" y="1524000"/>
            <a:ext cx="5235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= 124.21x10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-3</a:t>
            </a:r>
            <a:r>
              <a:rPr lang="en-US" altLang="zh-CN" sz="2800" b="1" dirty="0">
                <a:solidFill>
                  <a:srgbClr val="C00000"/>
                </a:solidFill>
              </a:rPr>
              <a:t> L = 124.21 x 10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-6</a:t>
            </a:r>
            <a:r>
              <a:rPr lang="en-US" altLang="zh-CN" sz="2800" b="1" dirty="0">
                <a:solidFill>
                  <a:srgbClr val="C00000"/>
                </a:solidFill>
              </a:rPr>
              <a:t> m</a:t>
            </a:r>
            <a:r>
              <a:rPr lang="en-US" altLang="zh-CN" sz="2800" b="1" baseline="30000" dirty="0">
                <a:solidFill>
                  <a:srgbClr val="C00000"/>
                </a:solidFill>
              </a:rPr>
              <a:t>3</a:t>
            </a:r>
            <a:r>
              <a:rPr lang="en-US" altLang="zh-CN" sz="2800" b="1" dirty="0">
                <a:solidFill>
                  <a:srgbClr val="C00000"/>
                </a:solidFill>
              </a:rPr>
              <a:t>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3" name="Group 11"/>
          <p:cNvGrpSpPr/>
          <p:nvPr/>
        </p:nvGrpSpPr>
        <p:grpSpPr>
          <a:xfrm>
            <a:off x="2648623" y="3486090"/>
            <a:ext cx="533400" cy="735687"/>
            <a:chOff x="1371600" y="4598313"/>
            <a:chExt cx="533400" cy="735687"/>
          </a:xfrm>
        </p:grpSpPr>
        <p:sp>
          <p:nvSpPr>
            <p:cNvPr id="14" name="TextBox 13"/>
            <p:cNvSpPr txBox="1"/>
            <p:nvPr/>
          </p:nvSpPr>
          <p:spPr>
            <a:xfrm>
              <a:off x="1418110" y="4598313"/>
              <a:ext cx="4106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03684" y="4903113"/>
              <a:ext cx="42511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5"/>
          <p:cNvGrpSpPr/>
          <p:nvPr/>
        </p:nvGrpSpPr>
        <p:grpSpPr>
          <a:xfrm>
            <a:off x="2590799" y="4019490"/>
            <a:ext cx="1350560" cy="735687"/>
            <a:chOff x="1371600" y="4598313"/>
            <a:chExt cx="590870" cy="735687"/>
          </a:xfrm>
        </p:grpSpPr>
        <p:sp>
          <p:nvSpPr>
            <p:cNvPr id="19" name="TextBox 18"/>
            <p:cNvSpPr txBox="1"/>
            <p:nvPr/>
          </p:nvSpPr>
          <p:spPr>
            <a:xfrm>
              <a:off x="1418110" y="4598313"/>
              <a:ext cx="54436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M </a:t>
              </a:r>
              <a:r>
                <a:rPr lang="en-US" sz="2200" dirty="0" err="1"/>
                <a:t>p</a:t>
              </a:r>
              <a:r>
                <a:rPr lang="en-US" sz="2200" baseline="-25000" dirty="0" err="1"/>
                <a:t>T</a:t>
              </a:r>
              <a:r>
                <a:rPr lang="en-US" sz="2200" dirty="0"/>
                <a:t> </a:t>
              </a:r>
              <a:r>
                <a:rPr lang="en-US" altLang="zh-CN" sz="2200" dirty="0"/>
                <a:t>V </a:t>
              </a:r>
              <a:r>
                <a:rPr lang="en-US" altLang="zh-CN" sz="1100" dirty="0"/>
                <a:t>(O</a:t>
              </a:r>
              <a:r>
                <a:rPr lang="en-US" altLang="zh-CN" sz="1100" baseline="-25000" dirty="0"/>
                <a:t>2</a:t>
              </a:r>
              <a:r>
                <a:rPr lang="en-US" altLang="zh-CN" sz="1100" dirty="0"/>
                <a:t>)</a:t>
              </a:r>
              <a:endParaRPr lang="en-US" sz="11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03684" y="4903113"/>
              <a:ext cx="32064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R T</a:t>
              </a:r>
              <a:endParaRPr lang="en-US" sz="2200" dirty="0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19"/>
          <p:cNvGrpSpPr/>
          <p:nvPr/>
        </p:nvGrpSpPr>
        <p:grpSpPr>
          <a:xfrm>
            <a:off x="2514599" y="4674513"/>
            <a:ext cx="4800891" cy="735687"/>
            <a:chOff x="1371600" y="4598313"/>
            <a:chExt cx="560104" cy="735687"/>
          </a:xfrm>
        </p:grpSpPr>
        <p:sp>
          <p:nvSpPr>
            <p:cNvPr id="23" name="TextBox 22"/>
            <p:cNvSpPr txBox="1"/>
            <p:nvPr/>
          </p:nvSpPr>
          <p:spPr>
            <a:xfrm>
              <a:off x="1380490" y="4598313"/>
              <a:ext cx="55121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32gmol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101000 Pa x 124.21x 10</a:t>
              </a:r>
              <a:r>
                <a:rPr lang="en-US" altLang="zh-CN" sz="2200" baseline="30000" dirty="0"/>
                <a:t>-6 </a:t>
              </a:r>
              <a:r>
                <a:rPr lang="en-US" altLang="zh-CN" sz="2200" dirty="0"/>
                <a:t> m</a:t>
              </a:r>
              <a:r>
                <a:rPr lang="en-US" altLang="zh-CN" sz="2200" baseline="30000" dirty="0"/>
                <a:t>3</a:t>
              </a:r>
              <a:endParaRPr lang="en-US" sz="22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03684" y="4903113"/>
              <a:ext cx="4255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   8.314 Pa m</a:t>
              </a:r>
              <a:r>
                <a:rPr lang="en-US" altLang="zh-CN" sz="2200" baseline="30000" dirty="0"/>
                <a:t>3</a:t>
              </a:r>
              <a:r>
                <a:rPr lang="en-US" altLang="zh-CN" sz="2200" dirty="0"/>
                <a:t> mol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K</a:t>
              </a:r>
              <a:r>
                <a:rPr lang="en-US" altLang="zh-CN" sz="2200" baseline="30000" dirty="0"/>
                <a:t>-1</a:t>
              </a:r>
              <a:r>
                <a:rPr lang="en-US" altLang="zh-CN" sz="2200" dirty="0"/>
                <a:t> x 297 K</a:t>
              </a:r>
              <a:endParaRPr lang="en-US" sz="2200" dirty="0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1371600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/>
      <p:bldP spid="16" grpId="0" uiExpand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历届考题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/>
              <a:t>某气体样本含有</a:t>
            </a:r>
            <a:r>
              <a:rPr lang="en-US" altLang="zh-CN" sz="2800" dirty="0"/>
              <a:t>7.5g</a:t>
            </a:r>
            <a:r>
              <a:rPr lang="zh-CN" altLang="en-US" sz="2800" dirty="0"/>
              <a:t>氖气与</a:t>
            </a:r>
            <a:r>
              <a:rPr lang="en-US" altLang="zh-CN" sz="2800" dirty="0"/>
              <a:t>96g</a:t>
            </a:r>
            <a:r>
              <a:rPr lang="zh-CN" altLang="en-US" sz="2800" dirty="0"/>
              <a:t>氧气。在</a:t>
            </a:r>
            <a:r>
              <a:rPr lang="en-US" altLang="zh-CN" sz="2800" dirty="0"/>
              <a:t>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时，这个混合气体的总压强是</a:t>
            </a:r>
            <a:r>
              <a:rPr lang="en-US" altLang="zh-CN" sz="2800" dirty="0"/>
              <a:t>500kPa</a:t>
            </a:r>
            <a:r>
              <a:rPr lang="zh-CN" altLang="en-US" sz="2800" dirty="0"/>
              <a:t>。问在此温度下，混合气体中氧气的分压强是多少？</a:t>
            </a:r>
            <a:r>
              <a:rPr lang="en-US" altLang="zh-CN" sz="2800" dirty="0"/>
              <a:t>Ne=20,O=16 </a:t>
            </a:r>
          </a:p>
          <a:p>
            <a:pPr marL="514350" indent="-514350">
              <a:buNone/>
            </a:pPr>
            <a:r>
              <a:rPr lang="en-US" sz="2800" dirty="0"/>
              <a:t>A 463.77kPa      B 400kPa      </a:t>
            </a:r>
            <a:r>
              <a:rPr lang="en-US" altLang="zh-CN" sz="2800" dirty="0"/>
              <a:t>C 444.44kPa 	D 55.56kPa</a:t>
            </a:r>
          </a:p>
          <a:p>
            <a:pPr marL="514350" indent="-514350">
              <a:buNone/>
            </a:pPr>
            <a:endParaRPr lang="en-US" sz="2800" dirty="0"/>
          </a:p>
          <a:p>
            <a:pPr marL="514350" indent="-514350">
              <a:buNone/>
            </a:pPr>
            <a:endParaRPr lang="en-US" sz="2800" dirty="0"/>
          </a:p>
          <a:p>
            <a:pPr marL="514350" indent="-514350">
              <a:buNone/>
            </a:pPr>
            <a:r>
              <a:rPr lang="en-US" sz="2800" dirty="0"/>
              <a:t>2.</a:t>
            </a:r>
            <a:r>
              <a:rPr lang="zh-CN" altLang="en-US" sz="2800" dirty="0"/>
              <a:t>在</a:t>
            </a:r>
            <a:r>
              <a:rPr lang="en-US" altLang="zh-CN" sz="2800" dirty="0"/>
              <a:t>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C, 1.01x10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  <a:r>
              <a:rPr lang="zh-CN" altLang="en-US" sz="2800" dirty="0"/>
              <a:t>时，用排水集气法收集氧气</a:t>
            </a:r>
            <a:r>
              <a:rPr lang="en-US" altLang="zh-CN" sz="2800" dirty="0"/>
              <a:t>30ml</a:t>
            </a:r>
            <a:r>
              <a:rPr lang="zh-CN" altLang="en-US" sz="2800" dirty="0"/>
              <a:t>，已知在</a:t>
            </a:r>
            <a:r>
              <a:rPr lang="en-US" altLang="zh-CN" sz="2800" dirty="0"/>
              <a:t>25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r>
              <a:rPr lang="zh-CN" altLang="en-US" sz="2800" dirty="0"/>
              <a:t>时水的饱和蒸气压为</a:t>
            </a:r>
            <a:r>
              <a:rPr lang="en-US" altLang="zh-CN" sz="2800" dirty="0"/>
              <a:t>2.4x10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Pa</a:t>
            </a:r>
            <a:r>
              <a:rPr lang="zh-CN" altLang="en-US" sz="2800" dirty="0"/>
              <a:t>。除去水蒸气后，干燥氧气的体积是多少</a:t>
            </a:r>
            <a:r>
              <a:rPr lang="en-US" altLang="zh-CN" sz="2800" dirty="0"/>
              <a:t>ml?</a:t>
            </a:r>
          </a:p>
          <a:p>
            <a:pPr marL="514350" indent="-514350">
              <a:buNone/>
            </a:pPr>
            <a:r>
              <a:rPr lang="en-US" sz="2800" dirty="0"/>
              <a:t>A 29.29 	   B 25              C 27.13 	   D 24.29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76600"/>
            <a:ext cx="4571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267980"/>
            <a:ext cx="484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>
              <a:buNone/>
            </a:pPr>
            <a:r>
              <a:rPr lang="en-US" dirty="0"/>
              <a:t>3(a)</a:t>
            </a:r>
            <a:r>
              <a:rPr lang="zh-CN" altLang="en-US" dirty="0"/>
              <a:t>在</a:t>
            </a:r>
            <a:r>
              <a:rPr lang="en-US" altLang="zh-CN" dirty="0"/>
              <a:t>25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时，体积为</a:t>
            </a:r>
            <a:r>
              <a:rPr lang="en-US" altLang="zh-CN" dirty="0"/>
              <a:t>40L</a:t>
            </a:r>
            <a:r>
              <a:rPr lang="zh-CN" altLang="en-US" dirty="0"/>
              <a:t>的容器中含有</a:t>
            </a:r>
            <a:r>
              <a:rPr lang="en-US" altLang="zh-CN" dirty="0"/>
              <a:t>70g</a:t>
            </a:r>
            <a:r>
              <a:rPr lang="zh-CN" altLang="en-US" dirty="0"/>
              <a:t>的</a:t>
            </a:r>
            <a:r>
              <a:rPr lang="en-US" altLang="zh-CN" dirty="0"/>
              <a:t>CO</a:t>
            </a:r>
            <a:r>
              <a:rPr lang="zh-CN" altLang="en-US" dirty="0"/>
              <a:t>与</a:t>
            </a:r>
            <a:r>
              <a:rPr lang="en-US" altLang="zh-CN" dirty="0"/>
              <a:t>96g</a:t>
            </a:r>
            <a:r>
              <a:rPr lang="zh-CN" altLang="en-US" dirty="0"/>
              <a:t>的氧气，试计算</a:t>
            </a:r>
            <a:endParaRPr lang="en-US" altLang="zh-CN" dirty="0"/>
          </a:p>
          <a:p>
            <a:pPr marL="571500" indent="-571500">
              <a:buAutoNum type="romanLcParenBoth"/>
            </a:pPr>
            <a:r>
              <a:rPr lang="en-US" altLang="zh-CN" dirty="0"/>
              <a:t>CO</a:t>
            </a:r>
            <a:r>
              <a:rPr lang="zh-CN" altLang="en-US" dirty="0"/>
              <a:t>及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的摩尔分数</a:t>
            </a:r>
            <a:endParaRPr lang="en-US" altLang="zh-CN" dirty="0"/>
          </a:p>
          <a:p>
            <a:pPr marL="571500" indent="-571500">
              <a:buAutoNum type="romanLcParenBoth"/>
            </a:pPr>
            <a:endParaRPr lang="en-US" altLang="zh-CN" dirty="0"/>
          </a:p>
          <a:p>
            <a:pPr marL="571500" indent="-571500">
              <a:buAutoNum type="romanLcParenBoth"/>
            </a:pPr>
            <a:r>
              <a:rPr lang="en-US" dirty="0"/>
              <a:t> </a:t>
            </a:r>
            <a:r>
              <a:rPr lang="zh-CN" altLang="en-US" dirty="0"/>
              <a:t>总压强</a:t>
            </a:r>
            <a:endParaRPr lang="en-US" altLang="zh-CN" dirty="0"/>
          </a:p>
          <a:p>
            <a:pPr marL="571500" indent="-571500">
              <a:buAutoNum type="romanLcParenBoth"/>
            </a:pPr>
            <a:r>
              <a:rPr lang="en-US" altLang="zh-CN" dirty="0"/>
              <a:t>CO</a:t>
            </a:r>
            <a:r>
              <a:rPr lang="zh-CN" altLang="en-US" dirty="0"/>
              <a:t>及</a:t>
            </a:r>
            <a:r>
              <a:rPr lang="en-US" altLang="zh-CN" dirty="0"/>
              <a:t>O</a:t>
            </a:r>
            <a:r>
              <a:rPr lang="en-US" altLang="zh-CN" baseline="-25000" dirty="0"/>
              <a:t>2</a:t>
            </a:r>
            <a:r>
              <a:rPr lang="zh-CN" altLang="en-US" dirty="0"/>
              <a:t>的分压</a:t>
            </a:r>
            <a:endParaRPr lang="en-US" altLang="zh-CN" dirty="0"/>
          </a:p>
          <a:p>
            <a:pPr marL="571500" indent="-571500">
              <a:buNone/>
            </a:pPr>
            <a:endParaRPr lang="en-US" altLang="zh-CN" dirty="0"/>
          </a:p>
          <a:p>
            <a:pPr marL="571500" indent="-571500">
              <a:buNone/>
            </a:pPr>
            <a:r>
              <a:rPr lang="en-US" dirty="0"/>
              <a:t>(b)</a:t>
            </a:r>
            <a:r>
              <a:rPr lang="zh-CN" altLang="en-US" dirty="0"/>
              <a:t>当以上气体点燃产生反应后再冷却至</a:t>
            </a:r>
            <a:r>
              <a:rPr lang="en-US" altLang="zh-CN" dirty="0"/>
              <a:t>25</a:t>
            </a:r>
            <a:r>
              <a:rPr lang="en-US" altLang="zh-CN" baseline="30000" dirty="0"/>
              <a:t>o</a:t>
            </a:r>
            <a:r>
              <a:rPr lang="en-US" altLang="zh-CN" dirty="0"/>
              <a:t>C,</a:t>
            </a:r>
            <a:r>
              <a:rPr lang="zh-CN" altLang="en-US" dirty="0"/>
              <a:t>求最后气体的总压强</a:t>
            </a:r>
            <a:endParaRPr lang="en-US" altLang="zh-CN" dirty="0"/>
          </a:p>
          <a:p>
            <a:pPr marL="571500" indent="-5715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81945" y="1447800"/>
            <a:ext cx="4462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n(CO)= 2.5mol , n(O</a:t>
            </a:r>
            <a:r>
              <a:rPr lang="en-US" sz="2800" b="1" baseline="-25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) = 3mol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χ (CO)= 5/11  ,  </a:t>
            </a:r>
            <a:r>
              <a:rPr lang="el-GR" sz="2800" b="1" dirty="0">
                <a:solidFill>
                  <a:srgbClr val="002060"/>
                </a:solidFill>
              </a:rPr>
              <a:t>χ</a:t>
            </a:r>
            <a:r>
              <a:rPr lang="en-US" sz="2800" b="1" dirty="0">
                <a:solidFill>
                  <a:srgbClr val="002060"/>
                </a:solidFill>
              </a:rPr>
              <a:t>(O</a:t>
            </a:r>
            <a:r>
              <a:rPr lang="en-US" sz="2800" b="1" baseline="-25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) = 6/11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2600980"/>
            <a:ext cx="2633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</a:rPr>
              <a:t>p</a:t>
            </a:r>
            <a:r>
              <a:rPr lang="en-US" sz="2800" b="1" baseline="-25000" dirty="0" err="1">
                <a:solidFill>
                  <a:srgbClr val="002060"/>
                </a:solidFill>
              </a:rPr>
              <a:t>T</a:t>
            </a:r>
            <a:r>
              <a:rPr lang="en-US" sz="2800" b="1" dirty="0">
                <a:solidFill>
                  <a:srgbClr val="002060"/>
                </a:solidFill>
              </a:rPr>
              <a:t> = 3.41x10</a:t>
            </a:r>
            <a:r>
              <a:rPr lang="en-US" sz="2800" b="1" baseline="30000" dirty="0">
                <a:solidFill>
                  <a:srgbClr val="002060"/>
                </a:solidFill>
              </a:rPr>
              <a:t>5 </a:t>
            </a:r>
            <a:r>
              <a:rPr lang="en-US" sz="2800" b="1" dirty="0">
                <a:solidFill>
                  <a:srgbClr val="002060"/>
                </a:solidFill>
              </a:rPr>
              <a:t> 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2400" y="3200400"/>
            <a:ext cx="32666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</a:rPr>
              <a:t>p</a:t>
            </a:r>
            <a:r>
              <a:rPr lang="en-US" sz="2800" b="1" baseline="-25000" dirty="0" err="1">
                <a:solidFill>
                  <a:srgbClr val="002060"/>
                </a:solidFill>
              </a:rPr>
              <a:t>CO</a:t>
            </a:r>
            <a:r>
              <a:rPr lang="en-US" sz="2800" b="1" dirty="0">
                <a:solidFill>
                  <a:srgbClr val="002060"/>
                </a:solidFill>
              </a:rPr>
              <a:t> = 1.55x10</a:t>
            </a:r>
            <a:r>
              <a:rPr lang="en-US" sz="2800" b="1" baseline="30000" dirty="0">
                <a:solidFill>
                  <a:srgbClr val="002060"/>
                </a:solidFill>
              </a:rPr>
              <a:t>5 </a:t>
            </a:r>
            <a:r>
              <a:rPr lang="en-US" sz="2800" b="1" dirty="0">
                <a:solidFill>
                  <a:srgbClr val="002060"/>
                </a:solidFill>
              </a:rPr>
              <a:t> Pa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p(O</a:t>
            </a:r>
            <a:r>
              <a:rPr lang="en-US" sz="2800" b="1" baseline="-25000" dirty="0">
                <a:solidFill>
                  <a:srgbClr val="002060"/>
                </a:solidFill>
              </a:rPr>
              <a:t>2</a:t>
            </a:r>
            <a:r>
              <a:rPr lang="en-US" sz="2800" b="1" dirty="0">
                <a:solidFill>
                  <a:srgbClr val="002060"/>
                </a:solidFill>
              </a:rPr>
              <a:t>) = 1.86 x 10</a:t>
            </a:r>
            <a:r>
              <a:rPr lang="en-US" sz="2800" b="1" baseline="30000" dirty="0">
                <a:solidFill>
                  <a:srgbClr val="002060"/>
                </a:solidFill>
              </a:rPr>
              <a:t>5 </a:t>
            </a:r>
            <a:r>
              <a:rPr lang="en-US" sz="2800" b="1" dirty="0">
                <a:solidFill>
                  <a:srgbClr val="002060"/>
                </a:solidFill>
              </a:rPr>
              <a:t>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5294293"/>
            <a:ext cx="7039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反应后将产生</a:t>
            </a:r>
            <a:r>
              <a:rPr lang="en-US" altLang="zh-CN" sz="2800" b="1" dirty="0">
                <a:solidFill>
                  <a:srgbClr val="002060"/>
                </a:solidFill>
              </a:rPr>
              <a:t>2.5molCO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</a:rPr>
              <a:t>及剩下</a:t>
            </a:r>
            <a:r>
              <a:rPr lang="en-US" altLang="zh-CN" sz="2800" b="1" dirty="0">
                <a:solidFill>
                  <a:srgbClr val="002060"/>
                </a:solidFill>
              </a:rPr>
              <a:t>1.75mol</a:t>
            </a:r>
            <a:r>
              <a:rPr lang="zh-CN" altLang="en-US" sz="2800" b="1" dirty="0">
                <a:solidFill>
                  <a:srgbClr val="002060"/>
                </a:solidFill>
              </a:rPr>
              <a:t>的</a:t>
            </a:r>
            <a:r>
              <a:rPr lang="en-US" altLang="zh-CN" sz="2800" b="1" dirty="0">
                <a:solidFill>
                  <a:srgbClr val="002060"/>
                </a:solidFill>
              </a:rPr>
              <a:t>O</a:t>
            </a:r>
            <a:r>
              <a:rPr lang="en-US" altLang="zh-CN" sz="2800" b="1" baseline="-250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801380"/>
            <a:ext cx="3742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反应后</a:t>
            </a:r>
            <a:r>
              <a:rPr lang="en-US" altLang="zh-CN" sz="2800" b="1" dirty="0" err="1">
                <a:solidFill>
                  <a:srgbClr val="002060"/>
                </a:solidFill>
              </a:rPr>
              <a:t>p</a:t>
            </a:r>
            <a:r>
              <a:rPr lang="en-US" altLang="zh-CN" sz="2800" b="1" baseline="-25000" dirty="0" err="1">
                <a:solidFill>
                  <a:srgbClr val="002060"/>
                </a:solidFill>
              </a:rPr>
              <a:t>T</a:t>
            </a:r>
            <a:r>
              <a:rPr lang="en-US" altLang="zh-CN" sz="2800" b="1" dirty="0">
                <a:solidFill>
                  <a:srgbClr val="002060"/>
                </a:solidFill>
              </a:rPr>
              <a:t> = 2.63x 10</a:t>
            </a:r>
            <a:r>
              <a:rPr lang="en-US" altLang="zh-CN" sz="2800" b="1" baseline="30000" dirty="0">
                <a:solidFill>
                  <a:srgbClr val="002060"/>
                </a:solidFill>
              </a:rPr>
              <a:t>5</a:t>
            </a:r>
            <a:r>
              <a:rPr lang="en-US" altLang="zh-CN" sz="2800" b="1" dirty="0">
                <a:solidFill>
                  <a:srgbClr val="002060"/>
                </a:solidFill>
              </a:rPr>
              <a:t> Pa</a:t>
            </a:r>
            <a:endParaRPr lang="en-US" altLang="zh-CN" sz="2800" b="1" baseline="-25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altLang="zh-CN" dirty="0"/>
              <a:t>7</a:t>
            </a:r>
            <a:r>
              <a:rPr lang="en-US" dirty="0"/>
              <a:t>.7-1</a:t>
            </a:r>
            <a:r>
              <a:rPr lang="en-US" altLang="zh-CN" dirty="0"/>
              <a:t>7</a:t>
            </a:r>
            <a:r>
              <a:rPr lang="en-US" dirty="0"/>
              <a:t>.</a:t>
            </a:r>
            <a:r>
              <a:rPr lang="en-US" altLang="zh-CN" dirty="0"/>
              <a:t>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533400"/>
            <a:ext cx="8229600" cy="775542"/>
          </a:xfrm>
        </p:spPr>
        <p:txBody>
          <a:bodyPr>
            <a:normAutofit/>
          </a:bodyPr>
          <a:lstStyle/>
          <a:p>
            <a:r>
              <a:rPr lang="en-US" sz="4000" dirty="0"/>
              <a:t>1</a:t>
            </a:r>
            <a:r>
              <a:rPr lang="en-US" altLang="zh-CN" sz="4000" dirty="0"/>
              <a:t>7</a:t>
            </a:r>
            <a:r>
              <a:rPr lang="en-US" sz="4000" dirty="0"/>
              <a:t>.7  </a:t>
            </a:r>
            <a:r>
              <a:rPr lang="zh-CN" altLang="en-US" sz="4000" dirty="0"/>
              <a:t>气体分子运动论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2800" dirty="0"/>
              <a:t>气体分子运动论有以下假设：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(1) </a:t>
            </a:r>
            <a:r>
              <a:rPr lang="zh-CN" altLang="en-US" sz="2800" dirty="0"/>
              <a:t>气体分子可当作是</a:t>
            </a:r>
            <a:r>
              <a:rPr lang="zh-CN" altLang="en-US" sz="2800" b="1" dirty="0">
                <a:solidFill>
                  <a:srgbClr val="7030A0"/>
                </a:solidFill>
              </a:rPr>
              <a:t>没有体积</a:t>
            </a:r>
            <a:r>
              <a:rPr lang="zh-CN" altLang="en-US" sz="2800" dirty="0"/>
              <a:t>的质点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(2) </a:t>
            </a:r>
            <a:r>
              <a:rPr lang="zh-CN" altLang="en-US" sz="2800" dirty="0"/>
              <a:t>气体分子做</a:t>
            </a:r>
            <a:r>
              <a:rPr lang="zh-CN" altLang="en-US" sz="2800" b="1" dirty="0">
                <a:solidFill>
                  <a:srgbClr val="7030A0"/>
                </a:solidFill>
              </a:rPr>
              <a:t>快速</a:t>
            </a:r>
            <a:r>
              <a:rPr lang="zh-CN" altLang="en-US" sz="2800" dirty="0"/>
              <a:t>而不规则的</a:t>
            </a:r>
            <a:r>
              <a:rPr lang="zh-CN" altLang="en-US" sz="2800" b="1" dirty="0">
                <a:solidFill>
                  <a:srgbClr val="7030A0"/>
                </a:solidFill>
              </a:rPr>
              <a:t>运动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(3) </a:t>
            </a:r>
            <a:r>
              <a:rPr lang="zh-CN" altLang="en-US" sz="2800" dirty="0"/>
              <a:t>把气体看作是完全的弹性体，与器壁碰撞时是完全弹性的，所以</a:t>
            </a:r>
            <a:r>
              <a:rPr lang="zh-CN" altLang="en-US" sz="2800" b="1" dirty="0">
                <a:solidFill>
                  <a:srgbClr val="7030A0"/>
                </a:solidFill>
              </a:rPr>
              <a:t>没有能量损失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(4) </a:t>
            </a:r>
            <a:r>
              <a:rPr lang="zh-CN" altLang="en-US" sz="2800" dirty="0"/>
              <a:t>大量分子向各个不同方向不停运动时，气体与器壁作频繁的、有弹性的碰撞。器壁单位面积所承受的碰撞作用力就叫做气体的</a:t>
            </a:r>
            <a:r>
              <a:rPr lang="zh-CN" altLang="en-US" sz="2800" b="1" dirty="0">
                <a:solidFill>
                  <a:srgbClr val="7030A0"/>
                </a:solidFill>
              </a:rPr>
              <a:t>压强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(5) </a:t>
            </a:r>
            <a:r>
              <a:rPr lang="zh-CN" altLang="en-US" sz="2800" dirty="0"/>
              <a:t>气体</a:t>
            </a:r>
            <a:r>
              <a:rPr lang="zh-CN" altLang="en-US" sz="2800" b="1" dirty="0">
                <a:solidFill>
                  <a:srgbClr val="7030A0"/>
                </a:solidFill>
              </a:rPr>
              <a:t>分子间作用力</a:t>
            </a:r>
            <a:r>
              <a:rPr lang="zh-CN" altLang="en-US" sz="2800" dirty="0"/>
              <a:t>很小，可</a:t>
            </a:r>
            <a:r>
              <a:rPr lang="zh-CN" altLang="en-US" sz="2800" b="1" dirty="0">
                <a:solidFill>
                  <a:srgbClr val="7030A0"/>
                </a:solidFill>
              </a:rPr>
              <a:t>忽略不计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Title 1"/>
          <p:cNvSpPr txBox="1"/>
          <p:nvPr/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.8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真实气体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真实气体的行为和理想气体状态方程式之间的</a:t>
            </a:r>
            <a:r>
              <a:rPr kumimoji="0" lang="zh-CN" altLang="en-US" sz="3300" b="0" i="0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差异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由以下两个因素造成的：</a:t>
            </a:r>
            <a:endParaRPr kumimoji="0" lang="en-US" altLang="zh-CN" sz="3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3200" noProof="0" dirty="0"/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1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 </a:t>
            </a:r>
            <a:r>
              <a:rPr kumimoji="0" lang="zh-CN" alt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尽管分子的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体积</a:t>
            </a:r>
            <a:r>
              <a:rPr kumimoji="0" lang="zh-CN" alt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很小，但分子本身确实占有空间。</a:t>
            </a:r>
            <a:br>
              <a:rPr kumimoji="0" lang="en-US" altLang="zh-CN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(2) </a:t>
            </a:r>
            <a:r>
              <a:rPr kumimoji="0" lang="zh-CN" alt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尽管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分子间作用力</a:t>
            </a:r>
            <a:r>
              <a:rPr kumimoji="0" lang="zh-CN" altLang="en-US" sz="3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很小，但分子间确实存在着分子间作用力。</a:t>
            </a:r>
            <a:b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真实气体状态方程式  </a:t>
            </a:r>
            <a:r>
              <a:rPr kumimoji="0" lang="zh-CN" altLang="en-US" sz="3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/>
              </a:rPr>
              <a:t>→ 范德华方程式</a:t>
            </a:r>
            <a:r>
              <a:rPr kumimoji="0" lang="en-US" altLang="zh-CN" sz="3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/>
              </a:rPr>
              <a:t>适用于中压范围内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2e3ff3ec6caf8a36b8520a79879597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62" y="4443439"/>
            <a:ext cx="3129703" cy="814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altLang="zh-CN" dirty="0"/>
              <a:t>7</a:t>
            </a:r>
            <a:r>
              <a:rPr lang="en-US" dirty="0"/>
              <a:t>.9 </a:t>
            </a:r>
            <a:r>
              <a:rPr lang="zh-CN" altLang="en-US" dirty="0"/>
              <a:t>相的变化</a:t>
            </a:r>
            <a:endParaRPr lang="en-US" dirty="0"/>
          </a:p>
        </p:txBody>
      </p:sp>
      <p:pic>
        <p:nvPicPr>
          <p:cNvPr id="6" name="Picture 5" descr="download.png"/>
          <p:cNvPicPr>
            <a:picLocks noChangeAspect="1"/>
          </p:cNvPicPr>
          <p:nvPr/>
        </p:nvPicPr>
        <p:blipFill>
          <a:blip r:embed="rId3">
            <a:lum bright="-20000"/>
          </a:blip>
          <a:stretch>
            <a:fillRect/>
          </a:stretch>
        </p:blipFill>
        <p:spPr>
          <a:xfrm>
            <a:off x="1219200" y="1447800"/>
            <a:ext cx="6858000" cy="513688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15.9.1 </a:t>
            </a:r>
            <a:r>
              <a:rPr lang="zh-CN" altLang="en-US" sz="4000" dirty="0"/>
              <a:t>液相</a:t>
            </a:r>
            <a:r>
              <a:rPr lang="en-US" altLang="zh-CN" sz="4000" dirty="0"/>
              <a:t>——</a:t>
            </a:r>
            <a:r>
              <a:rPr lang="zh-CN" altLang="en-US" sz="4000" dirty="0"/>
              <a:t>气相间的变化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71612"/>
            <a:ext cx="8486804" cy="5286388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组成物质的微粒（如分子）在液相和气相时有以下不同点：</a:t>
            </a:r>
            <a:br>
              <a:rPr lang="en-US" altLang="zh-CN" dirty="0"/>
            </a:br>
            <a:r>
              <a:rPr lang="en-US" altLang="zh-CN" sz="3100" dirty="0"/>
              <a:t>(1) </a:t>
            </a:r>
            <a:r>
              <a:rPr lang="zh-CN" altLang="en-US" sz="3100" dirty="0"/>
              <a:t>在气相时，分子的平均动能比在液相时高。</a:t>
            </a:r>
            <a:br>
              <a:rPr lang="en-US" altLang="zh-CN" sz="3100" dirty="0"/>
            </a:br>
            <a:r>
              <a:rPr lang="en-US" altLang="zh-CN" sz="3100" dirty="0"/>
              <a:t>(2) </a:t>
            </a:r>
            <a:r>
              <a:rPr lang="zh-CN" altLang="en-US" sz="3100" dirty="0"/>
              <a:t>在气相时，分子间的距离比液相时大，分子间的作用力比在液相时小。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b="1" dirty="0"/>
              <a:t>摩尔凝结热</a:t>
            </a:r>
            <a:r>
              <a:rPr lang="en-US" altLang="zh-CN" b="1" dirty="0"/>
              <a:t>:</a:t>
            </a:r>
            <a:br>
              <a:rPr lang="en-US" altLang="zh-CN" dirty="0"/>
            </a:br>
            <a:r>
              <a:rPr lang="en-US" altLang="zh-CN" sz="3100" dirty="0"/>
              <a:t>1 mol </a:t>
            </a:r>
            <a:r>
              <a:rPr lang="zh-CN" altLang="en-US" sz="3100" dirty="0"/>
              <a:t>气体在压强和温度不变的情况下，完全转化为液相时所释放出来的热量，就叫做该气体的摩尔凝结热。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b="1" dirty="0"/>
              <a:t>摩尔汽化热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sz="3100" dirty="0"/>
              <a:t> 1 mol </a:t>
            </a:r>
            <a:r>
              <a:rPr lang="zh-CN" altLang="en-US" sz="3100" dirty="0"/>
              <a:t>液体在压强和温度不变的情况下，完全汽化时所需要的热量，就叫做该气体的摩尔汽化热。</a:t>
            </a:r>
            <a:endParaRPr lang="en-US" altLang="zh-CN" sz="3100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zh-CN" altLang="en-US" dirty="0"/>
              <a:t>一种物质的摩尔凝结热</a:t>
            </a:r>
            <a:r>
              <a:rPr lang="en-US" altLang="zh-CN" dirty="0"/>
              <a:t>=</a:t>
            </a:r>
            <a:r>
              <a:rPr lang="zh-CN" altLang="en-US" dirty="0"/>
              <a:t>摩尔汽化热。</a:t>
            </a:r>
            <a:endParaRPr lang="en-US" altLang="zh-CN" dirty="0"/>
          </a:p>
          <a:p>
            <a:r>
              <a:rPr lang="zh-CN" altLang="en-US" dirty="0"/>
              <a:t>放热（凝结），摩尔凝结热值为负。</a:t>
            </a:r>
            <a:endParaRPr lang="en-US" altLang="zh-CN" dirty="0"/>
          </a:p>
          <a:p>
            <a:r>
              <a:rPr lang="zh-CN" altLang="en-US" dirty="0"/>
              <a:t>吸热（汽化），摩尔汽化热值为正。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思考题</a:t>
            </a:r>
            <a:r>
              <a:rPr lang="en-US" altLang="zh-CN" dirty="0"/>
              <a:t>17k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吸收的热量</a:t>
            </a:r>
            <a:r>
              <a:rPr lang="en-US" altLang="zh-CN" dirty="0"/>
              <a:t>=40.7kJmol</a:t>
            </a:r>
            <a:r>
              <a:rPr lang="en-US" altLang="zh-CN" baseline="30000" dirty="0"/>
              <a:t>-1</a:t>
            </a:r>
            <a:r>
              <a:rPr lang="en-US" altLang="zh-CN" dirty="0"/>
              <a:t> x </a:t>
            </a:r>
          </a:p>
          <a:p>
            <a:pPr>
              <a:buNone/>
            </a:pPr>
            <a:r>
              <a:rPr lang="en-US" altLang="zh-CN" dirty="0"/>
              <a:t>			      = 2.26kJ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480692" y="2952378"/>
            <a:ext cx="1224908" cy="705222"/>
            <a:chOff x="1252383" y="4707204"/>
            <a:chExt cx="533400" cy="503617"/>
          </a:xfrm>
        </p:grpSpPr>
        <p:sp>
          <p:nvSpPr>
            <p:cNvPr id="5" name="TextBox 4"/>
            <p:cNvSpPr txBox="1"/>
            <p:nvPr/>
          </p:nvSpPr>
          <p:spPr>
            <a:xfrm>
              <a:off x="1318746" y="4707204"/>
              <a:ext cx="228401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 1g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58874" y="4903114"/>
              <a:ext cx="520184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18gmol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2464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17.9.2</a:t>
            </a:r>
            <a:r>
              <a:rPr lang="zh-CN" altLang="en-US" dirty="0"/>
              <a:t>蒸发和沸腾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3600" dirty="0"/>
              <a:t>蒸发：</a:t>
            </a:r>
            <a:r>
              <a:rPr lang="zh-CN" altLang="en-US" sz="3600" dirty="0">
                <a:solidFill>
                  <a:srgbClr val="0070C0"/>
                </a:solidFill>
              </a:rPr>
              <a:t>液体表面发生、任何温度下。</a:t>
            </a:r>
            <a:endParaRPr lang="en-US" altLang="zh-CN" sz="3600" dirty="0">
              <a:solidFill>
                <a:srgbClr val="0070C0"/>
              </a:solidFill>
            </a:endParaRPr>
          </a:p>
          <a:p>
            <a:pPr>
              <a:buNone/>
            </a:pPr>
            <a:br>
              <a:rPr lang="en-US" altLang="zh-CN" sz="4200" dirty="0">
                <a:latin typeface="Calibri" panose="020F0502020204030204"/>
                <a:cs typeface="Calibri" panose="020F0502020204030204"/>
              </a:rPr>
            </a:br>
            <a:r>
              <a:rPr lang="zh-CN" altLang="en-US" sz="3400" dirty="0">
                <a:latin typeface="Calibri" panose="020F0502020204030204"/>
                <a:cs typeface="Calibri" panose="020F0502020204030204"/>
              </a:rPr>
              <a:t>用分子运动论解释蒸发现象：</a:t>
            </a:r>
            <a:br>
              <a:rPr lang="en-US" altLang="zh-CN" sz="3400" dirty="0">
                <a:latin typeface="Calibri" panose="020F0502020204030204"/>
                <a:cs typeface="Calibri" panose="020F0502020204030204"/>
              </a:rPr>
            </a:br>
            <a:r>
              <a:rPr lang="zh-CN" altLang="en-US" sz="3400" dirty="0">
                <a:latin typeface="Calibri" panose="020F0502020204030204"/>
                <a:cs typeface="Calibri" panose="020F0502020204030204"/>
              </a:rPr>
              <a:t>在液体表面，总有一些动能较大的分子能够克服其他分子的引力，飞出液面为气态分子，这就是蒸发。</a:t>
            </a:r>
            <a:endParaRPr lang="en-US" altLang="zh-CN" sz="3400" dirty="0">
              <a:latin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altLang="zh-CN" sz="4200" dirty="0"/>
          </a:p>
          <a:p>
            <a:r>
              <a:rPr lang="zh-CN" altLang="en-US" sz="3600" dirty="0"/>
              <a:t>沸腾：</a:t>
            </a:r>
            <a:r>
              <a:rPr lang="zh-CN" altLang="en-US" sz="3600" dirty="0">
                <a:solidFill>
                  <a:srgbClr val="0070C0"/>
                </a:solidFill>
              </a:rPr>
              <a:t>液体的内部和表面、达到沸点。</a:t>
            </a:r>
            <a:endParaRPr lang="en-US" altLang="zh-CN" sz="4200" dirty="0"/>
          </a:p>
          <a:p>
            <a:endParaRPr lang="en-US" altLang="zh-CN" sz="3600" dirty="0"/>
          </a:p>
          <a:p>
            <a:pPr>
              <a:buNone/>
            </a:pPr>
            <a:r>
              <a:rPr lang="en-US" altLang="zh-CN" sz="4200" dirty="0"/>
              <a:t>	</a:t>
            </a:r>
            <a:r>
              <a:rPr lang="zh-CN" altLang="en-US" sz="3400" dirty="0"/>
              <a:t>液体在沸腾时，虽然对它继续加热，但液体的温度并不提高，而是由更多的液体变成气体，这表明液体汽化时要吸收热量。</a:t>
            </a:r>
            <a:br>
              <a:rPr lang="en-US" altLang="zh-CN" sz="3400" dirty="0"/>
            </a:br>
            <a:endParaRPr lang="en-US" dirty="0">
              <a:latin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pic>
        <p:nvPicPr>
          <p:cNvPr id="5" name="Picture 4" descr="image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200400"/>
            <a:ext cx="3657600" cy="3595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17.9.3 </a:t>
            </a:r>
            <a:r>
              <a:rPr lang="zh-CN" altLang="en-US" sz="4000" dirty="0"/>
              <a:t>蒸气压</a:t>
            </a:r>
            <a:endParaRPr lang="en-US" sz="400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15040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在密闭容器中，随着液体的不断蒸发，液面上气体分子的密度不断增大，回到液体中的分子数目也逐渐增多。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最后，当气体分子的密度达到一定程度时，在单位时间内回到液体中的分子数目等于从液面飞出去的分子数目。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这时气体分子的密度不再增加，液体也不再减少，液相和气相达至平衡（动态平衡），此时的蒸气压强叫</a:t>
            </a:r>
            <a:r>
              <a:rPr lang="zh-CN" altLang="en-US" sz="2400" b="1" dirty="0"/>
              <a:t>饱和气态压</a:t>
            </a:r>
            <a:r>
              <a:rPr lang="zh-CN" altLang="en-US" sz="2400" dirty="0"/>
              <a:t>。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		</a:t>
            </a:r>
            <a:r>
              <a:rPr lang="zh-CN" altLang="en-US" sz="2400" b="1" dirty="0">
                <a:solidFill>
                  <a:srgbClr val="7030A0"/>
                </a:solidFill>
              </a:rPr>
              <a:t>同一物质的饱和蒸气压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		</a:t>
            </a:r>
            <a:r>
              <a:rPr lang="zh-CN" altLang="en-US" sz="2400" b="1" dirty="0">
                <a:solidFill>
                  <a:srgbClr val="7030A0"/>
                </a:solidFill>
              </a:rPr>
              <a:t>随温度的升高而增大。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7030A0"/>
                </a:solidFill>
              </a:rPr>
              <a:t>沸点是该物质的饱和蒸气压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7030A0"/>
                </a:solidFill>
              </a:rPr>
              <a:t>与外界大气压强相等时的温度。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17.9.4 </a:t>
            </a:r>
            <a:r>
              <a:rPr lang="zh-CN" altLang="en-US" sz="4000" dirty="0"/>
              <a:t>固相</a:t>
            </a:r>
            <a:r>
              <a:rPr lang="en-US" altLang="zh-CN" sz="4000" dirty="0"/>
              <a:t>——</a:t>
            </a:r>
            <a:r>
              <a:rPr lang="zh-CN" altLang="en-US" sz="4000" dirty="0"/>
              <a:t>液相间的变化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571612"/>
            <a:ext cx="8229600" cy="4857784"/>
          </a:xfrm>
        </p:spPr>
        <p:txBody>
          <a:bodyPr>
            <a:normAutofit/>
          </a:bodyPr>
          <a:lstStyle/>
          <a:p>
            <a:r>
              <a:rPr lang="zh-CN" altLang="en-US" sz="2600" dirty="0"/>
              <a:t>组成物质的微粒</a:t>
            </a:r>
            <a:r>
              <a:rPr lang="en-US" altLang="zh-CN" sz="2600" dirty="0"/>
              <a:t>(</a:t>
            </a:r>
            <a:r>
              <a:rPr lang="zh-CN" altLang="en-US" sz="2600" dirty="0"/>
              <a:t>如分子</a:t>
            </a:r>
            <a:r>
              <a:rPr lang="en-US" altLang="zh-CN" sz="2600" dirty="0"/>
              <a:t>)</a:t>
            </a:r>
            <a:r>
              <a:rPr lang="zh-CN" altLang="en-US" sz="2600" dirty="0"/>
              <a:t>在固相时有两个特征：</a:t>
            </a:r>
            <a:br>
              <a:rPr lang="en-US" altLang="zh-CN" sz="2600" dirty="0"/>
            </a:br>
            <a:r>
              <a:rPr lang="en-US" altLang="zh-CN" sz="2600" dirty="0"/>
              <a:t>(1) </a:t>
            </a:r>
            <a:r>
              <a:rPr lang="zh-CN" altLang="en-US" sz="2600" dirty="0"/>
              <a:t>固相的分子振动而不移动。</a:t>
            </a:r>
            <a:br>
              <a:rPr lang="en-US" altLang="zh-CN" sz="2600" dirty="0"/>
            </a:br>
            <a:r>
              <a:rPr lang="en-US" altLang="zh-CN" sz="2600" dirty="0"/>
              <a:t>(2) </a:t>
            </a:r>
            <a:r>
              <a:rPr lang="zh-CN" altLang="en-US" sz="2600" dirty="0"/>
              <a:t>固相分子间作用力最大。</a:t>
            </a:r>
            <a:br>
              <a:rPr lang="en-US" altLang="zh-CN" sz="2600" dirty="0"/>
            </a:br>
            <a:endParaRPr lang="en-US" altLang="zh-CN" sz="2600" dirty="0"/>
          </a:p>
          <a:p>
            <a:r>
              <a:rPr lang="zh-CN" altLang="en-US" sz="2600" dirty="0"/>
              <a:t>摩尔凝固热</a:t>
            </a:r>
            <a:r>
              <a:rPr lang="en-US" altLang="zh-CN" sz="2600" dirty="0"/>
              <a:t>:</a:t>
            </a:r>
            <a:br>
              <a:rPr lang="en-US" altLang="zh-CN" sz="2600" dirty="0"/>
            </a:br>
            <a:r>
              <a:rPr lang="zh-CN" altLang="en-US" sz="2600" dirty="0"/>
              <a:t>在压强和温度不变下，</a:t>
            </a:r>
            <a:r>
              <a:rPr lang="en-US" altLang="zh-CN" sz="2600" dirty="0"/>
              <a:t>1 mol </a:t>
            </a:r>
            <a:r>
              <a:rPr lang="zh-CN" altLang="en-US" sz="2600" dirty="0"/>
              <a:t>液体完全变成固体所释放出来的热量，就叫做该液体的摩尔凝固热。</a:t>
            </a:r>
            <a:br>
              <a:rPr lang="en-US" altLang="zh-CN" sz="2600" dirty="0"/>
            </a:br>
            <a:endParaRPr lang="en-US" altLang="zh-CN" sz="2600" dirty="0"/>
          </a:p>
          <a:p>
            <a:r>
              <a:rPr lang="zh-CN" altLang="en-US" sz="2600" dirty="0"/>
              <a:t>摩尔熔化热</a:t>
            </a:r>
            <a:r>
              <a:rPr lang="en-US" altLang="zh-CN" sz="2600" dirty="0"/>
              <a:t>:</a:t>
            </a:r>
            <a:br>
              <a:rPr lang="en-US" altLang="zh-CN" sz="2600" dirty="0"/>
            </a:br>
            <a:r>
              <a:rPr lang="zh-CN" altLang="en-US" sz="2600" dirty="0"/>
              <a:t>在压强和温度不变下，</a:t>
            </a:r>
            <a:r>
              <a:rPr lang="en-US" altLang="zh-CN" sz="2600" dirty="0"/>
              <a:t>1 mol </a:t>
            </a:r>
            <a:r>
              <a:rPr lang="zh-CN" altLang="en-US" sz="2600" dirty="0"/>
              <a:t>固体完全变成液体所需要的热量，就叫做该固体的摩尔熔化热。</a:t>
            </a:r>
            <a:endParaRPr lang="en-US" altLang="zh-CN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交流分享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/>
              <a:t>	    </a:t>
            </a:r>
            <a:r>
              <a:rPr lang="zh-CN" altLang="en-US" dirty="0"/>
              <a:t>热量变化</a:t>
            </a:r>
            <a:r>
              <a:rPr lang="en-US" altLang="zh-CN" dirty="0"/>
              <a:t>=6.004kJmol</a:t>
            </a:r>
            <a:r>
              <a:rPr lang="en-US" altLang="zh-CN" baseline="30000" dirty="0"/>
              <a:t>-1</a:t>
            </a:r>
            <a:r>
              <a:rPr lang="en-US" altLang="zh-CN" dirty="0"/>
              <a:t> x </a:t>
            </a:r>
          </a:p>
          <a:p>
            <a:pPr>
              <a:buNone/>
            </a:pPr>
            <a:r>
              <a:rPr lang="en-US" altLang="zh-CN" dirty="0"/>
              <a:t>			      = 6.617kJ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633092" y="1524000"/>
            <a:ext cx="1224908" cy="705222"/>
            <a:chOff x="1252383" y="4707204"/>
            <a:chExt cx="533400" cy="503617"/>
          </a:xfrm>
        </p:grpSpPr>
        <p:sp>
          <p:nvSpPr>
            <p:cNvPr id="5" name="TextBox 4"/>
            <p:cNvSpPr txBox="1"/>
            <p:nvPr/>
          </p:nvSpPr>
          <p:spPr>
            <a:xfrm>
              <a:off x="1318746" y="4707204"/>
              <a:ext cx="290527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 </a:t>
              </a:r>
              <a:r>
                <a:rPr lang="en-US" altLang="zh-CN" sz="2200" dirty="0"/>
                <a:t>20</a:t>
              </a:r>
              <a:r>
                <a:rPr lang="en-US" sz="2200" dirty="0"/>
                <a:t>g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58874" y="4903114"/>
              <a:ext cx="520184" cy="307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18gmol</a:t>
              </a:r>
              <a:r>
                <a:rPr lang="en-US" sz="2200" baseline="30000" dirty="0"/>
                <a:t>-1</a:t>
              </a:r>
              <a:endParaRPr lang="en-US" sz="2200" dirty="0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52383" y="4979313"/>
              <a:ext cx="5334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每种物质都有一个特有的温度，在这个温度以上，无论怎样增大压强，气态物质也不会液化，这个温度叫做临界温度。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r>
              <a:rPr lang="zh-CN" altLang="en-US" dirty="0"/>
              <a:t>在临界温度时使气体液化所需的压强叫临界压强。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资料链接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  <a:r>
              <a:rPr lang="en-US" altLang="zh-CN" dirty="0"/>
              <a:t>17n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D</a:t>
            </a:r>
          </a:p>
          <a:p>
            <a:pPr marL="514350" indent="-514350"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第十七章</a:t>
            </a:r>
            <a:r>
              <a:rPr lang="en-US" altLang="zh-CN" dirty="0"/>
              <a:t>	</a:t>
            </a:r>
            <a:r>
              <a:rPr lang="zh-CN" altLang="en-US" dirty="0"/>
              <a:t>气体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3,5,6,8,9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/>
              <a:t>已知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      V</a:t>
            </a:r>
            <a:r>
              <a:rPr lang="en-US" altLang="zh-CN" sz="2800" baseline="-25000" dirty="0"/>
              <a:t>1  </a:t>
            </a:r>
            <a:r>
              <a:rPr lang="en-US" altLang="zh-CN" sz="2800" dirty="0"/>
              <a:t>  </a:t>
            </a:r>
          </a:p>
          <a:p>
            <a:pPr marL="0" indent="0">
              <a:buNone/>
            </a:pPr>
            <a:r>
              <a:rPr lang="zh-CN" altLang="en-US" sz="2800" dirty="0"/>
              <a:t>公式：</a:t>
            </a:r>
            <a:r>
              <a:rPr lang="en-US" altLang="zh-CN" sz="2800" dirty="0"/>
              <a:t>	 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</a:p>
          <a:p>
            <a:pPr marL="0" indent="0">
              <a:buNone/>
            </a:pPr>
            <a:r>
              <a:rPr lang="en-US" altLang="zh-CN" sz="2800" dirty="0"/>
              <a:t>	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 = p</a:t>
            </a:r>
            <a:r>
              <a:rPr lang="en-US" altLang="zh-CN" sz="2800" baseline="-25000" dirty="0"/>
              <a:t>2      </a:t>
            </a:r>
            <a:r>
              <a:rPr lang="en-US" altLang="zh-CN" sz="2800" dirty="0"/>
              <a:t>  V</a:t>
            </a:r>
            <a:r>
              <a:rPr lang="en-US" altLang="zh-CN" sz="2800" baseline="-25000" dirty="0"/>
              <a:t>1 </a:t>
            </a:r>
          </a:p>
          <a:p>
            <a:pPr marL="0" indent="0">
              <a:buNone/>
            </a:pPr>
            <a:r>
              <a:rPr lang="en-US" altLang="zh-CN" sz="2800" baseline="-25000" dirty="0"/>
              <a:t>	 </a:t>
            </a:r>
            <a:r>
              <a:rPr lang="en-US" altLang="zh-CN" sz="2800" dirty="0"/>
              <a:t>   	   2p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p</a:t>
            </a:r>
            <a:r>
              <a:rPr lang="en-US" altLang="zh-CN" sz="2800" baseline="-25000" dirty="0"/>
              <a:t>2</a:t>
            </a:r>
          </a:p>
          <a:p>
            <a:pPr marL="0" indent="0">
              <a:buNone/>
            </a:pPr>
            <a:r>
              <a:rPr lang="en-US" altLang="zh-CN" sz="2800" dirty="0"/>
              <a:t>		     </a:t>
            </a:r>
            <a:r>
              <a:rPr lang="en-US" altLang="zh-CN" sz="2800" dirty="0">
                <a:solidFill>
                  <a:srgbClr val="7030A0"/>
                </a:solidFill>
              </a:rPr>
              <a:t>p</a:t>
            </a:r>
            <a:r>
              <a:rPr lang="en-US" altLang="zh-CN" sz="2800" baseline="-25000" dirty="0">
                <a:solidFill>
                  <a:srgbClr val="7030A0"/>
                </a:solidFill>
              </a:rPr>
              <a:t>2 </a:t>
            </a:r>
            <a:r>
              <a:rPr lang="en-US" altLang="zh-CN" sz="2800" dirty="0">
                <a:solidFill>
                  <a:srgbClr val="7030A0"/>
                </a:solidFill>
              </a:rPr>
              <a:t>= 2 p</a:t>
            </a:r>
            <a:r>
              <a:rPr lang="en-US" altLang="zh-CN" sz="2800" baseline="-25000" dirty="0">
                <a:solidFill>
                  <a:srgbClr val="7030A0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C </a:t>
            </a:r>
          </a:p>
          <a:p>
            <a:pPr marL="0" indent="0">
              <a:buNone/>
            </a:pPr>
            <a:r>
              <a:rPr lang="en-US" altLang="zh-CN" sz="2800" dirty="0"/>
              <a:t>2. C </a:t>
            </a:r>
            <a:r>
              <a:rPr lang="zh-CN" altLang="en-US" sz="2800" dirty="0"/>
              <a:t>参考课本</a:t>
            </a:r>
            <a:r>
              <a:rPr lang="en-US" altLang="zh-CN" sz="2800" dirty="0"/>
              <a:t>pg13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grpSp>
        <p:nvGrpSpPr>
          <p:cNvPr id="5" name="Group 4"/>
          <p:cNvGrpSpPr/>
          <p:nvPr/>
        </p:nvGrpSpPr>
        <p:grpSpPr>
          <a:xfrm>
            <a:off x="2514600" y="990600"/>
            <a:ext cx="330270" cy="709374"/>
            <a:chOff x="1521678" y="5081826"/>
            <a:chExt cx="1499936" cy="709374"/>
          </a:xfrm>
        </p:grpSpPr>
        <p:sp>
          <p:nvSpPr>
            <p:cNvPr id="6" name="TextBox 5"/>
            <p:cNvSpPr txBox="1"/>
            <p:nvPr/>
          </p:nvSpPr>
          <p:spPr>
            <a:xfrm>
              <a:off x="1535012" y="5081826"/>
              <a:ext cx="148660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1</a:t>
              </a:r>
              <a:endParaRPr lang="en-US" sz="2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21678" y="5360313"/>
              <a:ext cx="14430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</a:t>
              </a:r>
              <a:endParaRPr lang="en-US" sz="2200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1631325" y="5434925"/>
              <a:ext cx="1219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936930" y="2033826"/>
            <a:ext cx="330270" cy="709374"/>
            <a:chOff x="1521678" y="5081826"/>
            <a:chExt cx="1499936" cy="709374"/>
          </a:xfrm>
        </p:grpSpPr>
        <p:sp>
          <p:nvSpPr>
            <p:cNvPr id="10" name="TextBox 9"/>
            <p:cNvSpPr txBox="1"/>
            <p:nvPr/>
          </p:nvSpPr>
          <p:spPr>
            <a:xfrm>
              <a:off x="1535012" y="5081826"/>
              <a:ext cx="148660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1</a:t>
              </a:r>
              <a:endParaRPr lang="en-US" sz="22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21678" y="5360313"/>
              <a:ext cx="14430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/>
                <a:t>2</a:t>
              </a:r>
              <a:endParaRPr lang="en-US" sz="2200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631325" y="5434925"/>
              <a:ext cx="1219200" cy="1588"/>
            </a:xfrm>
            <a:prstGeom prst="line">
              <a:avLst/>
            </a:prstGeom>
            <a:ln cmpd="dbl">
              <a:solidFill>
                <a:schemeClr val="tx1"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Autofit/>
          </a:bodyPr>
          <a:lstStyle/>
          <a:p>
            <a:pPr marL="514350" indent="-514350">
              <a:buAutoNum type="arabicPeriod" startAt="3"/>
            </a:pPr>
            <a:r>
              <a:rPr lang="zh-CN" altLang="en-US" sz="2800" dirty="0"/>
              <a:t>已知</a:t>
            </a:r>
            <a:r>
              <a:rPr lang="en-US" altLang="zh-CN" sz="2800" dirty="0"/>
              <a:t>: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273K </a:t>
            </a:r>
            <a:r>
              <a:rPr lang="zh-CN" altLang="en-US" sz="2800" dirty="0"/>
              <a:t>   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	      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 2V</a:t>
            </a:r>
            <a:r>
              <a:rPr lang="en-US" altLang="zh-CN" sz="2800" baseline="-25000" dirty="0"/>
              <a:t>1</a:t>
            </a:r>
          </a:p>
          <a:p>
            <a:pPr marL="0" indent="0">
              <a:buNone/>
            </a:pPr>
            <a:r>
              <a:rPr lang="en-US" altLang="zh-CN" sz="2800" baseline="-25000" dirty="0"/>
              <a:t>	 </a:t>
            </a:r>
            <a:r>
              <a:rPr lang="en-US" altLang="zh-CN" sz="2800" dirty="0"/>
              <a:t>     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? </a:t>
            </a:r>
            <a:r>
              <a:rPr lang="en-US" altLang="zh-CN" sz="2800" baseline="-25000" dirty="0"/>
              <a:t>  </a:t>
            </a:r>
            <a:r>
              <a:rPr lang="en-US" altLang="zh-CN" sz="2800" dirty="0"/>
              <a:t>  </a:t>
            </a:r>
          </a:p>
          <a:p>
            <a:pPr marL="0" indent="0">
              <a:buNone/>
            </a:pPr>
            <a:r>
              <a:rPr lang="zh-CN" altLang="en-US" sz="2800" dirty="0"/>
              <a:t>公式：</a:t>
            </a:r>
            <a:r>
              <a:rPr lang="en-US" altLang="zh-CN" sz="2800" dirty="0"/>
              <a:t>		=	     </a:t>
            </a:r>
            <a:endParaRPr lang="en-US" altLang="zh-CN" sz="28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altLang="zh-CN" sz="2800" baseline="-25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2800" baseline="-25000" dirty="0">
                <a:solidFill>
                  <a:srgbClr val="7030A0"/>
                </a:solidFill>
              </a:rPr>
              <a:t> </a:t>
            </a:r>
            <a:r>
              <a:rPr lang="en-US" altLang="zh-CN" sz="2800" dirty="0">
                <a:solidFill>
                  <a:srgbClr val="7030A0"/>
                </a:solidFill>
              </a:rPr>
              <a:t>                      	</a:t>
            </a:r>
            <a:r>
              <a:rPr lang="en-US" altLang="zh-CN" sz="2800" dirty="0"/>
              <a:t>=</a:t>
            </a:r>
          </a:p>
          <a:p>
            <a:pPr marL="0" indent="0">
              <a:buNone/>
            </a:pPr>
            <a:r>
              <a:rPr lang="en-US" altLang="zh-CN" sz="2800" baseline="-25000" dirty="0"/>
              <a:t>   </a:t>
            </a:r>
          </a:p>
          <a:p>
            <a:pPr marL="0" indent="0">
              <a:buNone/>
            </a:pPr>
            <a:r>
              <a:rPr lang="en-US" altLang="zh-CN" sz="2800" baseline="-25000" dirty="0"/>
              <a:t>  </a:t>
            </a:r>
            <a:r>
              <a:rPr lang="en-US" altLang="zh-CN" sz="2800" dirty="0"/>
              <a:t>   		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546 K </a:t>
            </a:r>
          </a:p>
          <a:p>
            <a:pPr marL="0" indent="0">
              <a:buNone/>
            </a:pPr>
            <a:r>
              <a:rPr lang="en-US" altLang="zh-CN" sz="2800" baseline="-25000" dirty="0"/>
              <a:t>	 </a:t>
            </a:r>
            <a:r>
              <a:rPr lang="en-US" altLang="zh-CN" sz="2800" dirty="0"/>
              <a:t>               = 273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  <a:endParaRPr lang="en-US" altLang="zh-CN" sz="2800" baseline="-25000" dirty="0"/>
          </a:p>
          <a:p>
            <a:pPr marL="0" indent="0"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D 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09800" y="2514600"/>
            <a:ext cx="2209800" cy="762000"/>
            <a:chOff x="2209800" y="1524000"/>
            <a:chExt cx="2209800" cy="762000"/>
          </a:xfrm>
        </p:grpSpPr>
        <p:grpSp>
          <p:nvGrpSpPr>
            <p:cNvPr id="14" name="Group 13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24384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4384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733800" y="15503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T</a:t>
              </a:r>
              <a:r>
                <a:rPr lang="en-US" altLang="zh-CN" sz="2200" b="1" baseline="-25000" dirty="0"/>
                <a:t>2</a:t>
              </a:r>
              <a:endParaRPr lang="en-US" sz="2200" b="1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286000" y="3352800"/>
            <a:ext cx="2209800" cy="762000"/>
            <a:chOff x="2209800" y="1524000"/>
            <a:chExt cx="2209800" cy="762000"/>
          </a:xfrm>
        </p:grpSpPr>
        <p:grpSp>
          <p:nvGrpSpPr>
            <p:cNvPr id="30" name="Group 29"/>
            <p:cNvGrpSpPr/>
            <p:nvPr/>
          </p:nvGrpSpPr>
          <p:grpSpPr>
            <a:xfrm>
              <a:off x="2209800" y="1524000"/>
              <a:ext cx="2209800" cy="762000"/>
              <a:chOff x="2209800" y="1524000"/>
              <a:chExt cx="2209800" cy="762000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2438400" y="1524000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V</a:t>
                </a:r>
                <a:r>
                  <a:rPr lang="en-US" altLang="zh-CN" sz="2200" b="1" baseline="-25000" dirty="0"/>
                  <a:t>1</a:t>
                </a:r>
                <a:endParaRPr lang="en-US" sz="2200" b="1" dirty="0"/>
              </a:p>
            </p:txBody>
          </p:sp>
          <p:cxnSp>
            <p:nvCxnSpPr>
              <p:cNvPr id="33" name="Straight Connector 32"/>
              <p:cNvCxnSpPr/>
              <p:nvPr/>
            </p:nvCxnSpPr>
            <p:spPr>
              <a:xfrm>
                <a:off x="22098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581400" y="1905000"/>
                <a:ext cx="8382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2286000" y="1855113"/>
                <a:ext cx="762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273K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581400" y="1550313"/>
                <a:ext cx="838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2V</a:t>
                </a:r>
                <a:r>
                  <a:rPr lang="en-US" sz="2200" b="1" baseline="-25000" dirty="0"/>
                  <a:t>1</a:t>
                </a:r>
                <a:endParaRPr lang="en-US" sz="2200" b="1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3733800" y="18551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T</a:t>
              </a:r>
              <a:r>
                <a:rPr lang="en-US" altLang="zh-CN" sz="2200" b="1" baseline="-25000" dirty="0"/>
                <a:t>2</a:t>
              </a:r>
              <a:endParaRPr lang="en-US" sz="22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 dirty="0"/>
              <a:t>4.</a:t>
            </a:r>
            <a:r>
              <a:rPr lang="zh-CN" altLang="en-US" sz="2800" dirty="0"/>
              <a:t>在温度和压强不变时，气体的</a:t>
            </a:r>
            <a:r>
              <a:rPr lang="zh-CN" altLang="en-US" sz="2800" b="1" dirty="0">
                <a:solidFill>
                  <a:srgbClr val="7030A0"/>
                </a:solidFill>
              </a:rPr>
              <a:t>扩散速率</a:t>
            </a:r>
            <a:r>
              <a:rPr lang="zh-CN" altLang="en-US" sz="2800" dirty="0"/>
              <a:t>和它的</a:t>
            </a:r>
            <a:r>
              <a:rPr lang="zh-CN" altLang="en-US" sz="2800" b="1" dirty="0">
                <a:solidFill>
                  <a:srgbClr val="7030A0"/>
                </a:solidFill>
              </a:rPr>
              <a:t>密度的平方根</a:t>
            </a:r>
            <a:r>
              <a:rPr lang="zh-CN" altLang="en-US" sz="2800" dirty="0"/>
              <a:t>成</a:t>
            </a:r>
            <a:r>
              <a:rPr lang="zh-CN" altLang="en-US" sz="2800" b="1" dirty="0">
                <a:solidFill>
                  <a:srgbClr val="7030A0"/>
                </a:solidFill>
              </a:rPr>
              <a:t>反比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因气体的密度与摩尔质量成正比，所以 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>
                <a:solidFill>
                  <a:srgbClr val="002060"/>
                </a:solidFill>
              </a:rPr>
              <a:t>          v= </a:t>
            </a:r>
            <a:r>
              <a:rPr lang="en-US" altLang="zh-CN" sz="2800" u="sng" baseline="30000" dirty="0">
                <a:solidFill>
                  <a:srgbClr val="002060"/>
                </a:solidFill>
              </a:rPr>
              <a:t>   </a:t>
            </a:r>
            <a:r>
              <a:rPr lang="en-US" altLang="zh-CN" sz="2800" b="1" u="sng" baseline="30000" dirty="0">
                <a:solidFill>
                  <a:srgbClr val="002060"/>
                </a:solidFill>
              </a:rPr>
              <a:t>k  	  </a:t>
            </a:r>
            <a:r>
              <a:rPr lang="en-US" altLang="zh-CN" sz="2800" b="1" baseline="30000" dirty="0">
                <a:solidFill>
                  <a:srgbClr val="002060"/>
                </a:solidFill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en-US" altLang="zh-CN" sz="2800" dirty="0" err="1"/>
              <a:t>Ans:D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5. 	</a:t>
            </a:r>
            <a:r>
              <a:rPr lang="en-US" sz="2800" dirty="0"/>
              <a:t>	        =</a:t>
            </a:r>
          </a:p>
          <a:p>
            <a:pPr>
              <a:buNone/>
            </a:pPr>
            <a:r>
              <a:rPr lang="en-US" sz="2800" dirty="0"/>
              <a:t>			        </a:t>
            </a:r>
          </a:p>
          <a:p>
            <a:pPr>
              <a:buNone/>
            </a:pPr>
            <a:r>
              <a:rPr lang="en-US" altLang="zh-CN" sz="2800" dirty="0"/>
              <a:t>			</a:t>
            </a:r>
          </a:p>
          <a:p>
            <a:pPr>
              <a:buNone/>
            </a:pPr>
            <a:r>
              <a:rPr lang="en-US" sz="2800" dirty="0"/>
              <a:t>		         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(X)=2x6</a:t>
            </a:r>
            <a:r>
              <a:rPr lang="en-US" altLang="zh-CN" sz="2800" baseline="30000" dirty="0"/>
              <a:t>2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			       = 72</a:t>
            </a:r>
            <a:endParaRPr lang="en-US" altLang="zh-CN" sz="2800" baseline="30000" dirty="0"/>
          </a:p>
          <a:p>
            <a:pPr>
              <a:buNone/>
            </a:pPr>
            <a:r>
              <a:rPr lang="en-US" altLang="zh-CN" sz="2800" dirty="0" err="1"/>
              <a:t>Ans:D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u="sng" baseline="30000" dirty="0"/>
          </a:p>
          <a:p>
            <a:pPr>
              <a:buNone/>
            </a:pPr>
            <a:endParaRPr lang="en-US" sz="2800" u="sng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1828800" y="2845713"/>
            <a:ext cx="838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2060"/>
                </a:solidFill>
              </a:rPr>
              <a:t>M</a:t>
            </a:r>
            <a:endParaRPr lang="en-US" sz="2200" b="1" dirty="0">
              <a:solidFill>
                <a:srgbClr val="00206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752600" y="2895600"/>
            <a:ext cx="381000" cy="228600"/>
            <a:chOff x="6553200" y="3657600"/>
            <a:chExt cx="990600" cy="685800"/>
          </a:xfrm>
        </p:grpSpPr>
        <p:cxnSp>
          <p:nvCxnSpPr>
            <p:cNvPr id="23" name="Straight Connector 22"/>
            <p:cNvCxnSpPr/>
            <p:nvPr/>
          </p:nvCxnSpPr>
          <p:spPr>
            <a:xfrm rot="5400000">
              <a:off x="6438900" y="3924300"/>
              <a:ext cx="685800" cy="152400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858000" y="3657600"/>
              <a:ext cx="685800" cy="1588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553200" y="4267200"/>
              <a:ext cx="152400" cy="76200"/>
            </a:xfrm>
            <a:prstGeom prst="line">
              <a:avLst/>
            </a:prstGeom>
            <a:ln w="22225">
              <a:solidFill>
                <a:srgbClr val="00206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057400" y="3429000"/>
            <a:ext cx="2438400" cy="811887"/>
            <a:chOff x="1905000" y="3505200"/>
            <a:chExt cx="2438400" cy="811887"/>
          </a:xfrm>
        </p:grpSpPr>
        <p:grpSp>
          <p:nvGrpSpPr>
            <p:cNvPr id="10" name="Group 3"/>
            <p:cNvGrpSpPr/>
            <p:nvPr/>
          </p:nvGrpSpPr>
          <p:grpSpPr>
            <a:xfrm>
              <a:off x="1905000" y="3505200"/>
              <a:ext cx="2438400" cy="811887"/>
              <a:chOff x="2209800" y="1524000"/>
              <a:chExt cx="2438400" cy="811887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2209800" y="1524000"/>
                <a:ext cx="2438400" cy="735687"/>
                <a:chOff x="2209800" y="1524000"/>
                <a:chExt cx="2438400" cy="735687"/>
              </a:xfrm>
            </p:grpSpPr>
            <p:sp>
              <p:nvSpPr>
                <p:cNvPr id="18" name="TextBox 17"/>
                <p:cNvSpPr txBox="1"/>
                <p:nvPr/>
              </p:nvSpPr>
              <p:spPr>
                <a:xfrm>
                  <a:off x="2286000" y="1524000"/>
                  <a:ext cx="8382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ν (H</a:t>
                  </a:r>
                  <a:r>
                    <a:rPr lang="en-US" altLang="zh-CN" sz="2200" baseline="-25000" dirty="0"/>
                    <a:t>2</a:t>
                  </a:r>
                  <a:r>
                    <a:rPr lang="en-US" altLang="zh-CN" sz="2200" dirty="0"/>
                    <a:t>)</a:t>
                  </a:r>
                  <a:endParaRPr lang="en-US" sz="2200" dirty="0"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TextBox 25"/>
                <p:cNvSpPr txBox="1"/>
                <p:nvPr/>
              </p:nvSpPr>
              <p:spPr>
                <a:xfrm>
                  <a:off x="2362200" y="18288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/>
                    <a:t>ν(X)</a:t>
                  </a:r>
                  <a:endParaRPr lang="en-US" sz="2200" dirty="0"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3733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(X)</a:t>
                  </a:r>
                  <a:endParaRPr lang="en-US" sz="2200" dirty="0"/>
                </a:p>
              </p:txBody>
            </p:sp>
          </p:grpSp>
          <p:sp>
            <p:nvSpPr>
              <p:cNvPr id="17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/>
                  <a:t>Mr</a:t>
                </a:r>
                <a:r>
                  <a:rPr lang="en-US" altLang="zh-CN" sz="2200" dirty="0"/>
                  <a:t>(H</a:t>
                </a:r>
                <a:r>
                  <a:rPr lang="en-US" altLang="zh-CN" sz="2200" baseline="-25000" dirty="0"/>
                  <a:t>2</a:t>
                </a:r>
                <a:r>
                  <a:rPr lang="en-US" altLang="zh-CN" sz="2200" dirty="0"/>
                  <a:t>)</a:t>
                </a:r>
                <a:endParaRPr lang="en-US" sz="2200" dirty="0"/>
              </a:p>
            </p:txBody>
          </p:sp>
        </p:grpSp>
        <p:grpSp>
          <p:nvGrpSpPr>
            <p:cNvPr id="11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Group 27"/>
          <p:cNvGrpSpPr/>
          <p:nvPr/>
        </p:nvGrpSpPr>
        <p:grpSpPr>
          <a:xfrm>
            <a:off x="2590800" y="4217313"/>
            <a:ext cx="1981200" cy="811887"/>
            <a:chOff x="2362200" y="3505200"/>
            <a:chExt cx="1981200" cy="811887"/>
          </a:xfrm>
        </p:grpSpPr>
        <p:grpSp>
          <p:nvGrpSpPr>
            <p:cNvPr id="29" name="Group 3"/>
            <p:cNvGrpSpPr/>
            <p:nvPr/>
          </p:nvGrpSpPr>
          <p:grpSpPr>
            <a:xfrm>
              <a:off x="2362200" y="3505200"/>
              <a:ext cx="1981200" cy="811887"/>
              <a:chOff x="2667000" y="1524000"/>
              <a:chExt cx="1981200" cy="811887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2667000" y="1524000"/>
                <a:ext cx="1981200" cy="649307"/>
                <a:chOff x="2667000" y="1524000"/>
                <a:chExt cx="1981200" cy="649307"/>
              </a:xfrm>
            </p:grpSpPr>
            <p:sp>
              <p:nvSpPr>
                <p:cNvPr id="37" name="TextBox 36"/>
                <p:cNvSpPr txBox="1"/>
                <p:nvPr/>
              </p:nvSpPr>
              <p:spPr>
                <a:xfrm>
                  <a:off x="2667000" y="1650087"/>
                  <a:ext cx="8382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800" dirty="0"/>
                    <a:t>6   =</a:t>
                  </a:r>
                  <a:endParaRPr lang="en-US" sz="2800" dirty="0"/>
                </a:p>
              </p:txBody>
            </p:sp>
            <p:cxnSp>
              <p:nvCxnSpPr>
                <p:cNvPr id="38" name="Straight Connector 8"/>
                <p:cNvCxnSpPr/>
                <p:nvPr/>
              </p:nvCxnSpPr>
              <p:spPr>
                <a:xfrm>
                  <a:off x="3733800" y="1905000"/>
                  <a:ext cx="609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3733800" y="1524000"/>
                  <a:ext cx="9144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 err="1"/>
                    <a:t>Mr</a:t>
                  </a:r>
                  <a:r>
                    <a:rPr lang="en-US" altLang="zh-CN" sz="2200" dirty="0"/>
                    <a:t>(X)</a:t>
                  </a:r>
                  <a:endParaRPr lang="en-US" sz="2200" dirty="0"/>
                </a:p>
              </p:txBody>
            </p:sp>
          </p:grpSp>
          <p:sp>
            <p:nvSpPr>
              <p:cNvPr id="36" name="TextBox 5"/>
              <p:cNvSpPr txBox="1"/>
              <p:nvPr/>
            </p:nvSpPr>
            <p:spPr>
              <a:xfrm>
                <a:off x="3733800" y="1905000"/>
                <a:ext cx="9144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/>
                  <a:t>  2</a:t>
                </a:r>
                <a:endParaRPr lang="en-US" sz="2200" dirty="0"/>
              </a:p>
            </p:txBody>
          </p:sp>
        </p:grpSp>
        <p:grpSp>
          <p:nvGrpSpPr>
            <p:cNvPr id="30" name="Group 24"/>
            <p:cNvGrpSpPr/>
            <p:nvPr/>
          </p:nvGrpSpPr>
          <p:grpSpPr>
            <a:xfrm>
              <a:off x="3048000" y="3505200"/>
              <a:ext cx="990600" cy="685800"/>
              <a:chOff x="6477000" y="457200"/>
              <a:chExt cx="990600" cy="685800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 rot="5400000">
                <a:off x="6362700" y="723900"/>
                <a:ext cx="685800" cy="1524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23"/>
              <p:cNvGrpSpPr/>
              <p:nvPr/>
            </p:nvGrpSpPr>
            <p:grpSpPr>
              <a:xfrm>
                <a:off x="6477000" y="457200"/>
                <a:ext cx="990600" cy="685800"/>
                <a:chOff x="6477000" y="457200"/>
                <a:chExt cx="990600" cy="685800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6781800" y="457200"/>
                  <a:ext cx="6858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>
                  <a:off x="6477000" y="1066800"/>
                  <a:ext cx="152400" cy="76200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6. A </a:t>
            </a:r>
            <a:r>
              <a:rPr lang="zh-CN" altLang="en-US" sz="2800" dirty="0"/>
              <a:t>在</a:t>
            </a:r>
            <a:r>
              <a:rPr lang="en-US" altLang="zh-CN" sz="2800" dirty="0"/>
              <a:t>STP</a:t>
            </a:r>
            <a:r>
              <a:rPr lang="zh-CN" altLang="en-US" sz="2800" dirty="0"/>
              <a:t>时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B </a:t>
            </a:r>
            <a:r>
              <a:rPr lang="zh-CN" altLang="en-US" sz="2800" dirty="0"/>
              <a:t>在</a:t>
            </a:r>
            <a:r>
              <a:rPr lang="en-US" altLang="zh-CN" sz="2800" dirty="0"/>
              <a:t>STP</a:t>
            </a:r>
            <a:r>
              <a:rPr lang="zh-CN" altLang="en-US" sz="2800" dirty="0"/>
              <a:t>时，</a:t>
            </a:r>
            <a:r>
              <a:rPr lang="en-US" altLang="zh-CN" sz="2800" dirty="0"/>
              <a:t>22.4Lmol</a:t>
            </a:r>
            <a:r>
              <a:rPr lang="en-US" altLang="zh-CN" sz="2800" baseline="30000" dirty="0"/>
              <a:t>-1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C </a:t>
            </a:r>
            <a:r>
              <a:rPr lang="en-US" altLang="zh-CN" sz="2800" dirty="0"/>
              <a:t>STP</a:t>
            </a:r>
            <a:r>
              <a:rPr lang="zh-CN" altLang="en-US" sz="2800" dirty="0"/>
              <a:t>时水不是气态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D</a:t>
            </a:r>
          </a:p>
          <a:p>
            <a:pPr>
              <a:buNone/>
            </a:pPr>
            <a:r>
              <a:rPr lang="en-US" altLang="zh-CN" sz="2800" dirty="0"/>
              <a:t>7. A</a:t>
            </a:r>
          </a:p>
          <a:p>
            <a:pPr>
              <a:buNone/>
            </a:pPr>
            <a:r>
              <a:rPr lang="en-US" altLang="zh-CN" sz="2800" dirty="0"/>
              <a:t>8. m=		mol x 30gmol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sz="2800" dirty="0"/>
              <a:t>	   = 1.5g</a:t>
            </a:r>
          </a:p>
          <a:p>
            <a:pPr>
              <a:buNone/>
            </a:pPr>
            <a:r>
              <a:rPr lang="en-US" sz="2800" dirty="0" err="1"/>
              <a:t>Ans:B</a:t>
            </a:r>
            <a:r>
              <a:rPr lang="en-US" sz="2800" dirty="0"/>
              <a:t> </a:t>
            </a:r>
          </a:p>
          <a:p>
            <a:pPr>
              <a:buNone/>
            </a:pPr>
            <a:r>
              <a:rPr lang="en-US" sz="2800" dirty="0"/>
              <a:t>9. B </a:t>
            </a:r>
          </a:p>
          <a:p>
            <a:pPr>
              <a:buNone/>
            </a:pPr>
            <a:r>
              <a:rPr lang="en-US" sz="2800" dirty="0"/>
              <a:t>10.C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504950" y="3505200"/>
          <a:ext cx="704850" cy="809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9448800" progId="Equation.3">
                  <p:embed/>
                </p:oleObj>
              </mc:Choice>
              <mc:Fallback>
                <p:oleObj name="Equation" r:id="rId3" imgW="8229600" imgH="944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505200"/>
                        <a:ext cx="704850" cy="8092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11. </a:t>
            </a:r>
            <a:r>
              <a:rPr lang="zh-CN" altLang="en-US" sz="2800" dirty="0"/>
              <a:t>同温同压，体积比</a:t>
            </a:r>
            <a:r>
              <a:rPr lang="en-US" altLang="zh-CN" sz="2800" dirty="0"/>
              <a:t>=</a:t>
            </a:r>
            <a:r>
              <a:rPr lang="zh-CN" altLang="en-US" sz="2800" dirty="0"/>
              <a:t>物质的量之比</a:t>
            </a: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 err="1"/>
              <a:t>Ans:C</a:t>
            </a:r>
            <a:endParaRPr lang="en-US" altLang="zh-C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219200" y="1752600"/>
            <a:ext cx="2209800" cy="811887"/>
            <a:chOff x="2362200" y="2845713"/>
            <a:chExt cx="2209800" cy="811887"/>
          </a:xfrm>
        </p:grpSpPr>
        <p:grpSp>
          <p:nvGrpSpPr>
            <p:cNvPr id="8" name="Group 4"/>
            <p:cNvGrpSpPr/>
            <p:nvPr/>
          </p:nvGrpSpPr>
          <p:grpSpPr>
            <a:xfrm>
              <a:off x="2362200" y="2845713"/>
              <a:ext cx="2209800" cy="811887"/>
              <a:chOff x="2209800" y="1474113"/>
              <a:chExt cx="2209800" cy="811887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2209800" y="1474113"/>
                <a:ext cx="2209800" cy="811887"/>
                <a:chOff x="2209800" y="1474113"/>
                <a:chExt cx="2209800" cy="811887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V</a:t>
                  </a:r>
                  <a:r>
                    <a:rPr lang="zh-CN" altLang="en-US" sz="2200" b="1" baseline="-25000" dirty="0"/>
                    <a:t>氢</a:t>
                  </a:r>
                  <a:endParaRPr lang="en-US" sz="2200" b="1" dirty="0"/>
                </a:p>
              </p:txBody>
            </p: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V</a:t>
                  </a:r>
                  <a:r>
                    <a:rPr lang="zh-CN" altLang="en-US" sz="2200" b="1" baseline="-25000" dirty="0" err="1"/>
                    <a:t>氨</a:t>
                  </a:r>
                  <a:endParaRPr lang="en-US" sz="2200" b="1" dirty="0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3733800" y="1474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n</a:t>
                  </a:r>
                  <a:r>
                    <a:rPr lang="zh-CN" altLang="en-US" sz="2200" b="1" baseline="-25000" dirty="0"/>
                    <a:t>氢</a:t>
                  </a:r>
                  <a:endParaRPr lang="en-US" sz="2200" b="1" dirty="0"/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n</a:t>
                </a:r>
                <a:r>
                  <a:rPr lang="zh-CN" altLang="en-US" sz="2200" b="1" baseline="-25000" dirty="0"/>
                  <a:t>氨</a:t>
                </a:r>
                <a:endParaRPr lang="en-US" sz="2200" b="1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209800" y="2564487"/>
            <a:ext cx="2286000" cy="811887"/>
            <a:chOff x="3352800" y="2845713"/>
            <a:chExt cx="1524000" cy="811887"/>
          </a:xfrm>
        </p:grpSpPr>
        <p:grpSp>
          <p:nvGrpSpPr>
            <p:cNvPr id="18" name="Group 4"/>
            <p:cNvGrpSpPr/>
            <p:nvPr/>
          </p:nvGrpSpPr>
          <p:grpSpPr>
            <a:xfrm>
              <a:off x="3733800" y="2845713"/>
              <a:ext cx="1143000" cy="811887"/>
              <a:chOff x="3581400" y="1474113"/>
              <a:chExt cx="1143000" cy="811887"/>
            </a:xfrm>
          </p:grpSpPr>
          <p:grpSp>
            <p:nvGrpSpPr>
              <p:cNvPr id="20" name="Group 10"/>
              <p:cNvGrpSpPr/>
              <p:nvPr/>
            </p:nvGrpSpPr>
            <p:grpSpPr>
              <a:xfrm>
                <a:off x="3581400" y="1474113"/>
                <a:ext cx="1143000" cy="432475"/>
                <a:chOff x="3581400" y="1474113"/>
                <a:chExt cx="1143000" cy="432475"/>
              </a:xfrm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/>
                <p:cNvSpPr txBox="1"/>
                <p:nvPr/>
              </p:nvSpPr>
              <p:spPr>
                <a:xfrm>
                  <a:off x="3581400" y="1474113"/>
                  <a:ext cx="1143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m</a:t>
                  </a:r>
                  <a:r>
                    <a:rPr lang="en-US" altLang="zh-CN" sz="2200" b="1" baseline="-25000" dirty="0"/>
                    <a:t> </a:t>
                  </a:r>
                  <a:r>
                    <a:rPr lang="en-US" altLang="zh-CN" sz="2200" b="1" dirty="0"/>
                    <a:t> /M</a:t>
                  </a:r>
                  <a:r>
                    <a:rPr lang="zh-CN" altLang="en-US" sz="2200" b="1" baseline="-25000" dirty="0"/>
                    <a:t>氢</a:t>
                  </a:r>
                  <a:endParaRPr lang="en-US" sz="2200" b="1" dirty="0"/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m</a:t>
                </a:r>
                <a:r>
                  <a:rPr lang="en-US" altLang="zh-CN" sz="2200" b="1" baseline="-25000" dirty="0"/>
                  <a:t> </a:t>
                </a:r>
                <a:r>
                  <a:rPr lang="en-US" altLang="zh-CN" sz="2200" b="1" dirty="0"/>
                  <a:t>/ M</a:t>
                </a:r>
                <a:r>
                  <a:rPr lang="zh-CN" altLang="en-US" sz="2200" b="1" baseline="-25000" dirty="0"/>
                  <a:t>氨</a:t>
                </a:r>
                <a:endParaRPr lang="en-US" sz="2200" b="1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209800" y="3429000"/>
            <a:ext cx="1828800" cy="811887"/>
            <a:chOff x="3352800" y="2845713"/>
            <a:chExt cx="1219200" cy="811887"/>
          </a:xfrm>
        </p:grpSpPr>
        <p:grpSp>
          <p:nvGrpSpPr>
            <p:cNvPr id="25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27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29" name="Straight Connector 28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M</a:t>
                  </a:r>
                  <a:r>
                    <a:rPr lang="zh-CN" altLang="en-US" sz="2200" b="1" baseline="-25000" dirty="0"/>
                    <a:t>氨</a:t>
                  </a:r>
                  <a:endParaRPr lang="en-US" sz="2200" b="1" dirty="0"/>
                </a:p>
              </p:txBody>
            </p:sp>
          </p:grpSp>
          <p:sp>
            <p:nvSpPr>
              <p:cNvPr id="28" name="TextBox 27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M</a:t>
                </a:r>
                <a:r>
                  <a:rPr lang="zh-CN" altLang="en-US" sz="2200" b="1" baseline="-25000" dirty="0"/>
                  <a:t>氢</a:t>
                </a:r>
                <a:endParaRPr lang="en-US" sz="2200" b="1" dirty="0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209800" y="4191000"/>
            <a:ext cx="1828800" cy="811887"/>
            <a:chOff x="3352800" y="2845713"/>
            <a:chExt cx="1219200" cy="811887"/>
          </a:xfrm>
        </p:grpSpPr>
        <p:grpSp>
          <p:nvGrpSpPr>
            <p:cNvPr id="32" name="Group 4"/>
            <p:cNvGrpSpPr/>
            <p:nvPr/>
          </p:nvGrpSpPr>
          <p:grpSpPr>
            <a:xfrm>
              <a:off x="3733800" y="2845713"/>
              <a:ext cx="838200" cy="811887"/>
              <a:chOff x="3581400" y="1474113"/>
              <a:chExt cx="838200" cy="811887"/>
            </a:xfrm>
          </p:grpSpPr>
          <p:grpSp>
            <p:nvGrpSpPr>
              <p:cNvPr id="34" name="Group 10"/>
              <p:cNvGrpSpPr/>
              <p:nvPr/>
            </p:nvGrpSpPr>
            <p:grpSpPr>
              <a:xfrm>
                <a:off x="3581400" y="1474113"/>
                <a:ext cx="487680" cy="432475"/>
                <a:chOff x="3581400" y="1474113"/>
                <a:chExt cx="487680" cy="432475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>
                  <a:off x="3581400" y="1905000"/>
                  <a:ext cx="48768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/>
                <p:cNvSpPr txBox="1"/>
                <p:nvPr/>
              </p:nvSpPr>
              <p:spPr>
                <a:xfrm>
                  <a:off x="3581400" y="1474113"/>
                  <a:ext cx="4826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17</a:t>
                  </a:r>
                  <a:endParaRPr lang="en-US" sz="2200" b="1" dirty="0"/>
                </a:p>
              </p:txBody>
            </p:sp>
          </p:grpSp>
          <p:sp>
            <p:nvSpPr>
              <p:cNvPr id="35" name="TextBox 34"/>
              <p:cNvSpPr txBox="1"/>
              <p:nvPr/>
            </p:nvSpPr>
            <p:spPr>
              <a:xfrm>
                <a:off x="3606800" y="1855113"/>
                <a:ext cx="812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12. D </a:t>
            </a:r>
          </a:p>
          <a:p>
            <a:pPr>
              <a:buNone/>
            </a:pPr>
            <a:r>
              <a:rPr lang="en-US" altLang="zh-CN" sz="2800" dirty="0"/>
              <a:t>H=1</a:t>
            </a:r>
            <a:r>
              <a:rPr lang="zh-CN" altLang="en-US" sz="2800" dirty="0"/>
              <a:t>，</a:t>
            </a:r>
            <a:r>
              <a:rPr lang="en-US" sz="2800" dirty="0"/>
              <a:t>C=12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  <a:r>
              <a:rPr lang="zh-CN" altLang="en-US" sz="2800" dirty="0"/>
              <a:t>，</a:t>
            </a:r>
            <a:r>
              <a:rPr lang="en-US" sz="2800" dirty="0"/>
              <a:t>Ne=20</a:t>
            </a:r>
          </a:p>
          <a:p>
            <a:pPr>
              <a:buNone/>
            </a:pPr>
            <a:r>
              <a:rPr lang="en-US" sz="2800" dirty="0"/>
              <a:t>13. n= 	 mol</a:t>
            </a:r>
          </a:p>
          <a:p>
            <a:pPr>
              <a:buNone/>
            </a:pPr>
            <a:r>
              <a:rPr lang="en-US" sz="2800" dirty="0"/>
              <a:t>	     = 0.25mol</a:t>
            </a:r>
          </a:p>
          <a:p>
            <a:pPr>
              <a:buNone/>
            </a:pPr>
            <a:r>
              <a:rPr lang="en-US" sz="2800" dirty="0"/>
              <a:t>	(1) n(CO</a:t>
            </a:r>
            <a:r>
              <a:rPr lang="en-US" sz="2800" baseline="-25000" dirty="0"/>
              <a:t>2</a:t>
            </a:r>
            <a:r>
              <a:rPr lang="en-US" sz="2800" dirty="0"/>
              <a:t>)= 	mol</a:t>
            </a:r>
          </a:p>
          <a:p>
            <a:pPr>
              <a:buNone/>
            </a:pPr>
            <a:r>
              <a:rPr lang="en-US" sz="2800" dirty="0"/>
              <a:t>	(2) n(Ne) = 	 mol</a:t>
            </a:r>
          </a:p>
          <a:p>
            <a:pPr>
              <a:buNone/>
            </a:pPr>
            <a:r>
              <a:rPr lang="en-US" sz="2800" dirty="0"/>
              <a:t>	(3) n(O</a:t>
            </a:r>
            <a:r>
              <a:rPr lang="en-US" sz="2800" baseline="-25000" dirty="0"/>
              <a:t>2</a:t>
            </a:r>
            <a:r>
              <a:rPr lang="en-US" sz="2800" dirty="0"/>
              <a:t> ) = 	 mol</a:t>
            </a:r>
          </a:p>
          <a:p>
            <a:pPr>
              <a:buNone/>
            </a:pPr>
            <a:r>
              <a:rPr lang="en-US" sz="2800" dirty="0"/>
              <a:t>	(4) </a:t>
            </a:r>
            <a:r>
              <a:rPr lang="zh-CN" altLang="en-US" sz="2800" dirty="0"/>
              <a:t>不是气态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(</a:t>
            </a:r>
            <a:r>
              <a:rPr lang="en-US" altLang="zh-CN" sz="2800" dirty="0"/>
              <a:t>5</a:t>
            </a:r>
            <a:r>
              <a:rPr lang="en-US" sz="2800" dirty="0"/>
              <a:t>) n(</a:t>
            </a:r>
            <a:r>
              <a:rPr lang="en-US" altLang="zh-CN" sz="2800" dirty="0"/>
              <a:t>H</a:t>
            </a:r>
            <a:r>
              <a:rPr lang="en-US" sz="2800" baseline="-25000" dirty="0"/>
              <a:t>2</a:t>
            </a:r>
            <a:r>
              <a:rPr lang="en-US" sz="2800" dirty="0"/>
              <a:t> ) = 	 mol</a:t>
            </a:r>
          </a:p>
          <a:p>
            <a:pPr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B</a:t>
            </a:r>
            <a:endParaRPr lang="en-US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76400" y="2057400"/>
          <a:ext cx="70294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9448800" progId="Equation.3">
                  <p:embed/>
                </p:oleObj>
              </mc:Choice>
              <mc:Fallback>
                <p:oleObj name="Equation" r:id="rId3" imgW="8229600" imgH="944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70294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81300" y="3048000"/>
          <a:ext cx="4953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86400" imgH="9448800" progId="Equation.3">
                  <p:embed/>
                </p:oleObj>
              </mc:Choice>
              <mc:Fallback>
                <p:oleObj name="Equation" r:id="rId5" imgW="5486400" imgH="944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048000"/>
                        <a:ext cx="4953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781300" y="3689350"/>
          <a:ext cx="4191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86400" imgH="9448800" progId="Equation.3">
                  <p:embed/>
                </p:oleObj>
              </mc:Choice>
              <mc:Fallback>
                <p:oleObj name="Equation" r:id="rId7" imgW="5486400" imgH="9448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689350"/>
                        <a:ext cx="4191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787650" y="4276538"/>
          <a:ext cx="412750" cy="60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181600" imgH="9448800" progId="Equation.3">
                  <p:embed/>
                </p:oleObj>
              </mc:Choice>
              <mc:Fallback>
                <p:oleObj name="Equation" r:id="rId9" imgW="5181600" imgH="944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4276538"/>
                        <a:ext cx="412750" cy="60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819400" y="5181600"/>
          <a:ext cx="38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57600" imgH="9448800" progId="Equation.3">
                  <p:embed/>
                </p:oleObj>
              </mc:Choice>
              <mc:Fallback>
                <p:oleObj name="Equation" r:id="rId11" imgW="3657600" imgH="9448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81600"/>
                        <a:ext cx="3810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6019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3000" dirty="0"/>
              <a:t>14.  	      </a:t>
            </a:r>
            <a:r>
              <a:rPr lang="en-US" altLang="zh-CN" sz="2400" dirty="0"/>
              <a:t> CaCO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(s) + 2HCl 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anose="05000000000000000000" pitchFamily="2" charset="2"/>
              </a:rPr>
              <a:t> CaCl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aq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Wingdings" panose="05000000000000000000" pitchFamily="2" charset="2"/>
              </a:rPr>
              <a:t>+ CO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/>
              <a:t> (g)</a:t>
            </a:r>
            <a:r>
              <a:rPr lang="en-US" altLang="zh-CN" sz="2400" dirty="0">
                <a:sym typeface="Wingdings" panose="05000000000000000000" pitchFamily="2" charset="2"/>
              </a:rPr>
              <a:t> + H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O</a:t>
            </a:r>
            <a:r>
              <a:rPr lang="en-US" altLang="zh-CN" sz="2400" dirty="0"/>
              <a:t> (l) </a:t>
            </a:r>
            <a:endParaRPr lang="en-US" altLang="zh-CN" sz="3000" baseline="-25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baseline="-25000" dirty="0">
                <a:sym typeface="Wingdings" panose="05000000000000000000" pitchFamily="2" charset="2"/>
              </a:rPr>
              <a:t>	 </a:t>
            </a:r>
            <a:r>
              <a:rPr lang="en-US" sz="3000" dirty="0">
                <a:sym typeface="Wingdings" panose="05000000000000000000" pitchFamily="2" charset="2"/>
              </a:rPr>
              <a:t>  	         2</a:t>
            </a:r>
            <a:r>
              <a:rPr lang="en-US" altLang="zh-CN" sz="3000" dirty="0">
                <a:sym typeface="Wingdings" panose="05000000000000000000" pitchFamily="2" charset="2"/>
              </a:rPr>
              <a:t>g</a:t>
            </a:r>
            <a:r>
              <a:rPr lang="en-US" sz="3000" dirty="0">
                <a:sym typeface="Wingdings" panose="05000000000000000000" pitchFamily="2" charset="2"/>
              </a:rPr>
              <a:t> 				      x L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 	        100</a:t>
            </a:r>
            <a:r>
              <a:rPr lang="en-US" altLang="zh-CN" sz="3000" dirty="0">
                <a:sym typeface="Wingdings" panose="05000000000000000000" pitchFamily="2" charset="2"/>
              </a:rPr>
              <a:t>g				    </a:t>
            </a:r>
            <a:r>
              <a:rPr lang="en-US" sz="3000" dirty="0">
                <a:sym typeface="Wingdings" panose="05000000000000000000" pitchFamily="2" charset="2"/>
              </a:rPr>
              <a:t>22.4L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		 		   </a:t>
            </a:r>
            <a:r>
              <a:rPr lang="en-US" altLang="zh-CN" sz="3000" dirty="0">
                <a:sym typeface="Wingdings" panose="05000000000000000000" pitchFamily="2" charset="2"/>
              </a:rPr>
              <a:t>x= 0.448L</a:t>
            </a:r>
          </a:p>
          <a:p>
            <a:pPr marL="514350" indent="-514350">
              <a:buNone/>
            </a:pPr>
            <a:r>
              <a:rPr lang="en-US" sz="3000" dirty="0" err="1">
                <a:sym typeface="Wingdings" panose="05000000000000000000" pitchFamily="2" charset="2"/>
              </a:rPr>
              <a:t>Ans</a:t>
            </a:r>
            <a:r>
              <a:rPr lang="en-US" sz="3000" dirty="0">
                <a:sym typeface="Wingdings" panose="05000000000000000000" pitchFamily="2" charset="2"/>
              </a:rPr>
              <a:t>: C</a:t>
            </a:r>
          </a:p>
          <a:p>
            <a:pPr marL="514350" indent="-514350">
              <a:buNone/>
            </a:pPr>
            <a:r>
              <a:rPr lang="en-US" sz="3000" dirty="0">
                <a:sym typeface="Wingdings" panose="05000000000000000000" pitchFamily="2" charset="2"/>
              </a:rPr>
              <a:t>15</a:t>
            </a:r>
            <a:r>
              <a:rPr lang="en-US" altLang="zh-CN" sz="3000" dirty="0">
                <a:sym typeface="Wingdings" panose="05000000000000000000" pitchFamily="2" charset="2"/>
              </a:rPr>
              <a:t>&amp;16</a:t>
            </a:r>
            <a:r>
              <a:rPr lang="en-US" sz="3000" dirty="0">
                <a:sym typeface="Wingdings" panose="05000000000000000000" pitchFamily="2" charset="2"/>
              </a:rPr>
              <a:t>.	</a:t>
            </a:r>
            <a:r>
              <a:rPr lang="zh-CN" altLang="en-US" sz="3000" dirty="0">
                <a:sym typeface="Wingdings" panose="05000000000000000000" pitchFamily="2" charset="2"/>
              </a:rPr>
              <a:t>开口朝下：</a:t>
            </a:r>
            <a:r>
              <a:rPr lang="en-US" altLang="zh-CN" sz="3000" dirty="0">
                <a:sym typeface="Wingdings" panose="05000000000000000000" pitchFamily="2" charset="2"/>
              </a:rPr>
              <a:t>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1</a:t>
            </a:r>
            <a:r>
              <a:rPr lang="en-US" altLang="zh-CN" sz="3000" dirty="0">
                <a:sym typeface="Wingdings" panose="05000000000000000000" pitchFamily="2" charset="2"/>
              </a:rPr>
              <a:t> + p(Hg) = p</a:t>
            </a:r>
            <a:r>
              <a:rPr lang="zh-CN" altLang="en-US" sz="3000" baseline="-25000" dirty="0">
                <a:sym typeface="Wingdings" panose="05000000000000000000" pitchFamily="2" charset="2"/>
              </a:rPr>
              <a:t>大</a:t>
            </a:r>
            <a:endParaRPr lang="en-US" altLang="zh-CN" sz="3000" baseline="-25000" dirty="0">
              <a:sym typeface="Wingdings" panose="05000000000000000000" pitchFamily="2" charset="2"/>
            </a:endParaRPr>
          </a:p>
          <a:p>
            <a:pPr marL="514350" indent="-514350">
              <a:buNone/>
            </a:pPr>
            <a:r>
              <a:rPr lang="en-US" sz="3000" baseline="-25000" dirty="0">
                <a:sym typeface="Wingdings" panose="05000000000000000000" pitchFamily="2" charset="2"/>
              </a:rPr>
              <a:t>  </a:t>
            </a:r>
            <a:r>
              <a:rPr lang="en-US" sz="3000" dirty="0">
                <a:sym typeface="Wingdings" panose="05000000000000000000" pitchFamily="2" charset="2"/>
              </a:rPr>
              <a:t> 			</a:t>
            </a:r>
            <a:r>
              <a:rPr lang="zh-CN" altLang="en-US" sz="3000" dirty="0">
                <a:sym typeface="Wingdings" panose="05000000000000000000" pitchFamily="2" charset="2"/>
              </a:rPr>
              <a:t>水平：</a:t>
            </a:r>
            <a:r>
              <a:rPr lang="en-US" altLang="zh-CN" sz="3000" dirty="0">
                <a:sym typeface="Wingdings" panose="05000000000000000000" pitchFamily="2" charset="2"/>
              </a:rPr>
              <a:t>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= p</a:t>
            </a:r>
            <a:r>
              <a:rPr lang="zh-CN" altLang="en-US" sz="3000" baseline="-25000" dirty="0">
                <a:sym typeface="Wingdings" panose="05000000000000000000" pitchFamily="2" charset="2"/>
              </a:rPr>
              <a:t>大</a:t>
            </a:r>
            <a:r>
              <a:rPr lang="en-US" altLang="zh-CN" sz="3000" dirty="0">
                <a:sym typeface="Wingdings" panose="05000000000000000000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anose="05000000000000000000" pitchFamily="2" charset="2"/>
              </a:rPr>
              <a:t> 			</a:t>
            </a:r>
            <a:r>
              <a:rPr lang="zh-CN" altLang="en-US" sz="3000" dirty="0">
                <a:sym typeface="Wingdings" panose="05000000000000000000" pitchFamily="2" charset="2"/>
              </a:rPr>
              <a:t>开口朝上：</a:t>
            </a:r>
            <a:r>
              <a:rPr lang="en-US" altLang="zh-CN" sz="3000" dirty="0">
                <a:sym typeface="Wingdings" panose="05000000000000000000" pitchFamily="2" charset="2"/>
              </a:rPr>
              <a:t>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 = p</a:t>
            </a:r>
            <a:r>
              <a:rPr lang="zh-CN" altLang="en-US" sz="3000" baseline="-25000" dirty="0">
                <a:sym typeface="Wingdings" panose="05000000000000000000" pitchFamily="2" charset="2"/>
              </a:rPr>
              <a:t>大</a:t>
            </a:r>
            <a:r>
              <a:rPr lang="en-US" altLang="zh-CN" sz="3000" dirty="0">
                <a:sym typeface="Wingdings" panose="05000000000000000000" pitchFamily="2" charset="2"/>
              </a:rPr>
              <a:t>+ p(Hg) 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anose="05000000000000000000" pitchFamily="2" charset="2"/>
              </a:rPr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   	</a:t>
            </a:r>
            <a:r>
              <a:rPr lang="zh-CN" altLang="en-US" sz="3000" dirty="0">
                <a:sym typeface="Wingdings" panose="05000000000000000000" pitchFamily="2" charset="2"/>
              </a:rPr>
              <a:t>根据波义耳定律：</a:t>
            </a:r>
            <a:r>
              <a:rPr lang="en-US" altLang="zh-CN" sz="3000" dirty="0">
                <a:sym typeface="Wingdings" panose="05000000000000000000" pitchFamily="2" charset="2"/>
              </a:rPr>
              <a:t>	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 &gt; 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&gt; p</a:t>
            </a:r>
            <a:r>
              <a:rPr lang="en-US" altLang="zh-CN" sz="3000" baseline="-25000" dirty="0">
                <a:sym typeface="Wingdings" panose="05000000000000000000" pitchFamily="2" charset="2"/>
              </a:rPr>
              <a:t>1</a:t>
            </a:r>
            <a:r>
              <a:rPr lang="en-US" altLang="zh-CN" sz="3000" dirty="0">
                <a:sym typeface="Wingdings" panose="05000000000000000000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anose="05000000000000000000" pitchFamily="2" charset="2"/>
              </a:rPr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 				</a:t>
            </a:r>
            <a:r>
              <a:rPr lang="zh-CN" altLang="en-US" sz="3000" dirty="0">
                <a:sym typeface="Wingdings" panose="05000000000000000000" pitchFamily="2" charset="2"/>
              </a:rPr>
              <a:t>则</a:t>
            </a:r>
            <a:r>
              <a:rPr lang="en-US" altLang="zh-CN" sz="3000" dirty="0">
                <a:sym typeface="Wingdings" panose="05000000000000000000" pitchFamily="2" charset="2"/>
              </a:rPr>
              <a:t>	V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 &lt; V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 &lt; V</a:t>
            </a:r>
            <a:r>
              <a:rPr lang="en-US" altLang="zh-CN" sz="3000" baseline="-25000" dirty="0">
                <a:sym typeface="Wingdings" panose="05000000000000000000" pitchFamily="2" charset="2"/>
              </a:rPr>
              <a:t>1</a:t>
            </a:r>
            <a:r>
              <a:rPr lang="en-US" altLang="zh-CN" sz="3000" dirty="0">
                <a:sym typeface="Wingdings" panose="05000000000000000000" pitchFamily="2" charset="2"/>
              </a:rPr>
              <a:t>  	</a:t>
            </a:r>
            <a:r>
              <a:rPr lang="en-US" altLang="zh-CN" sz="3000" dirty="0" err="1">
                <a:sym typeface="Wingdings" panose="05000000000000000000" pitchFamily="2" charset="2"/>
              </a:rPr>
              <a:t>Ans</a:t>
            </a:r>
            <a:r>
              <a:rPr lang="en-US" altLang="zh-CN" sz="3000" dirty="0">
                <a:sym typeface="Wingdings" panose="05000000000000000000" pitchFamily="2" charset="2"/>
              </a:rPr>
              <a:t>: </a:t>
            </a:r>
            <a:r>
              <a:rPr lang="zh-CN" altLang="en-US" sz="3000" dirty="0">
                <a:sym typeface="Wingdings" panose="05000000000000000000" pitchFamily="2" charset="2"/>
              </a:rPr>
              <a:t>变短</a:t>
            </a:r>
            <a:endParaRPr lang="en-US" altLang="zh-CN" sz="3000" baseline="-25000" dirty="0">
              <a:sym typeface="Wingdings" panose="05000000000000000000" pitchFamily="2" charset="2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057398" y="1828800"/>
            <a:ext cx="5486401" cy="914400"/>
            <a:chOff x="1219200" y="2971800"/>
            <a:chExt cx="5640388" cy="914400"/>
          </a:xfrm>
        </p:grpSpPr>
        <p:cxnSp>
          <p:nvCxnSpPr>
            <p:cNvPr id="7" name="Straight Arrow Connector 6"/>
            <p:cNvCxnSpPr/>
            <p:nvPr/>
          </p:nvCxnSpPr>
          <p:spPr>
            <a:xfrm rot="5400000">
              <a:off x="800894" y="34663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5400000">
              <a:off x="6439694" y="33901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590800" y="3200400"/>
              <a:ext cx="2971800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2590800" y="3200400"/>
              <a:ext cx="2895600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17.</a:t>
            </a:r>
            <a:r>
              <a:rPr lang="zh-CN" altLang="en-US" sz="2800" dirty="0"/>
              <a:t>封闭在钢瓶，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=V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	= 50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	</a:t>
            </a:r>
            <a:r>
              <a:rPr lang="zh-CN" altLang="en-US" sz="2800" dirty="0"/>
              <a:t>，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= 100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>
              <a:buNone/>
            </a:pPr>
            <a:r>
              <a:rPr lang="en-US" altLang="zh-CN" sz="2800" dirty="0"/>
              <a:t>		= 323K 		= 373K 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			  p</a:t>
            </a:r>
            <a:r>
              <a:rPr lang="en-US" sz="2800" baseline="-25000" dirty="0"/>
              <a:t>2</a:t>
            </a:r>
            <a:r>
              <a:rPr lang="en-US" sz="2800" dirty="0"/>
              <a:t> 	= p</a:t>
            </a:r>
            <a:r>
              <a:rPr lang="en-US" sz="2800" baseline="-25000" dirty="0"/>
              <a:t>1</a:t>
            </a:r>
            <a:r>
              <a:rPr lang="en-US" sz="2800" dirty="0"/>
              <a:t> T</a:t>
            </a:r>
            <a:r>
              <a:rPr lang="en-US" sz="2800" baseline="-25000" dirty="0"/>
              <a:t>2</a:t>
            </a:r>
            <a:r>
              <a:rPr lang="en-US" sz="2800" dirty="0"/>
              <a:t> / T</a:t>
            </a:r>
            <a:r>
              <a:rPr lang="en-US" sz="2800" baseline="-25000" dirty="0"/>
              <a:t>1</a:t>
            </a:r>
          </a:p>
          <a:p>
            <a:pPr>
              <a:buNone/>
            </a:pPr>
            <a:r>
              <a:rPr lang="en-US" sz="2800" baseline="-25000" dirty="0"/>
              <a:t>		</a:t>
            </a:r>
            <a:r>
              <a:rPr lang="en-US" sz="2800" dirty="0"/>
              <a:t>  		=  	   p</a:t>
            </a:r>
            <a:r>
              <a:rPr lang="en-US" sz="2800" baseline="-25000" dirty="0"/>
              <a:t>1</a:t>
            </a:r>
          </a:p>
          <a:p>
            <a:pPr>
              <a:buNone/>
            </a:pPr>
            <a:r>
              <a:rPr lang="en-US" sz="2800" baseline="-25000" dirty="0"/>
              <a:t>	 </a:t>
            </a:r>
            <a:r>
              <a:rPr lang="en-US" sz="2800" dirty="0"/>
              <a:t> 			</a:t>
            </a:r>
          </a:p>
          <a:p>
            <a:pPr>
              <a:buNone/>
            </a:pPr>
            <a:r>
              <a:rPr lang="en-US" sz="2800" dirty="0"/>
              <a:t>				= 1.15p</a:t>
            </a:r>
            <a:r>
              <a:rPr lang="en-US" sz="2800" baseline="-25000" dirty="0"/>
              <a:t>1</a:t>
            </a:r>
          </a:p>
          <a:p>
            <a:pPr>
              <a:buNone/>
            </a:pPr>
            <a:r>
              <a:rPr lang="en-US" sz="2800" baseline="-25000" dirty="0"/>
              <a:t> </a:t>
            </a:r>
            <a:r>
              <a:rPr lang="en-US" sz="2800" dirty="0"/>
              <a:t> </a:t>
            </a:r>
            <a:r>
              <a:rPr lang="en-US" altLang="zh-CN" sz="2800" dirty="0" err="1"/>
              <a:t>Ans</a:t>
            </a:r>
            <a:r>
              <a:rPr lang="zh-CN" altLang="en-US" sz="2800" dirty="0"/>
              <a:t>：</a:t>
            </a:r>
            <a:r>
              <a:rPr lang="en-US" altLang="zh-CN" sz="2800" dirty="0"/>
              <a:t>C</a:t>
            </a:r>
            <a:endParaRPr lang="en-US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362200" y="2743200"/>
            <a:ext cx="2209800" cy="762000"/>
            <a:chOff x="2362200" y="2895600"/>
            <a:chExt cx="2209800" cy="762000"/>
          </a:xfrm>
        </p:grpSpPr>
        <p:grpSp>
          <p:nvGrpSpPr>
            <p:cNvPr id="5" name="Group 4"/>
            <p:cNvGrpSpPr/>
            <p:nvPr/>
          </p:nvGrpSpPr>
          <p:grpSpPr>
            <a:xfrm>
              <a:off x="2362200" y="2895600"/>
              <a:ext cx="2209800" cy="762000"/>
              <a:chOff x="2209800" y="1524000"/>
              <a:chExt cx="2209800" cy="762000"/>
            </a:xfrm>
          </p:grpSpPr>
          <p:grpSp>
            <p:nvGrpSpPr>
              <p:cNvPr id="8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T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816350" y="4166428"/>
          <a:ext cx="527050" cy="710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010400" imgH="9448800" progId="Equation.3">
                  <p:embed/>
                </p:oleObj>
              </mc:Choice>
              <mc:Fallback>
                <p:oleObj name="Equation" r:id="rId3" imgW="7010400" imgH="9448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4166428"/>
                        <a:ext cx="527050" cy="7103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048000" y="1143000"/>
            <a:ext cx="1066800" cy="4572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18. D</a:t>
            </a:r>
          </a:p>
          <a:p>
            <a:pPr>
              <a:buNone/>
            </a:pPr>
            <a:r>
              <a:rPr lang="en-US" altLang="zh-CN" sz="2800" dirty="0"/>
              <a:t>19. B</a:t>
            </a:r>
          </a:p>
          <a:p>
            <a:pPr>
              <a:buNone/>
            </a:pPr>
            <a:r>
              <a:rPr lang="en-US" altLang="zh-CN" sz="2800" dirty="0"/>
              <a:t>20.C</a:t>
            </a:r>
          </a:p>
          <a:p>
            <a:pPr>
              <a:buNone/>
            </a:pPr>
            <a:r>
              <a:rPr lang="en-US" altLang="zh-CN" sz="2800" dirty="0"/>
              <a:t>21. D</a:t>
            </a:r>
          </a:p>
          <a:p>
            <a:pPr>
              <a:buNone/>
            </a:pPr>
            <a:r>
              <a:rPr lang="en-US" altLang="zh-CN" sz="2800" dirty="0"/>
              <a:t>22. I </a:t>
            </a:r>
            <a:r>
              <a:rPr lang="zh-CN" altLang="en-US" sz="2800" dirty="0"/>
              <a:t>体积增大，压强减小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II </a:t>
            </a:r>
            <a:r>
              <a:rPr lang="zh-CN" altLang="en-US" sz="2800" dirty="0"/>
              <a:t>气体分子的运动速率与温度有关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IV </a:t>
            </a:r>
            <a:r>
              <a:rPr lang="zh-CN" altLang="en-US" sz="2800" dirty="0"/>
              <a:t>体积增大，密度减小</a:t>
            </a:r>
            <a:endParaRPr lang="en-US" altLang="zh-CN" sz="2800" dirty="0"/>
          </a:p>
          <a:p>
            <a:pPr>
              <a:buNone/>
            </a:pPr>
            <a:r>
              <a:rPr lang="en-US" sz="2800" dirty="0" err="1"/>
              <a:t>Ans:D</a:t>
            </a:r>
            <a:r>
              <a:rPr lang="en-US" sz="2800" dirty="0"/>
              <a:t>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zh-CN" altLang="en-US" sz="2800" dirty="0"/>
              <a:t>气体没有固定的形状和体积，会产生压强，密度很小，能自发地扩散。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sz="2800" dirty="0"/>
              <a:t>(1) </a:t>
            </a:r>
            <a:r>
              <a:rPr lang="zh-CN" altLang="en-US" sz="2800" dirty="0"/>
              <a:t>气体分子进行快速而没有规则的运动，不断进行弹性碰撞即没有一定的方向。而从屋中一角扩散到另一角是有方向的，扩散速率遵守格雷姆扩散定律。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sz="2800" dirty="0"/>
              <a:t>	(2) </a:t>
            </a:r>
            <a:r>
              <a:rPr lang="zh-CN" altLang="en-US" sz="2800" dirty="0"/>
              <a:t>分子很小，而气体分子之间的距离很大，受压时，分子间距离变小，因此可以被压缩。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sz="2800" dirty="0"/>
              <a:t>	(3)</a:t>
            </a:r>
            <a:r>
              <a:rPr lang="zh-CN" altLang="en-US" sz="2800" dirty="0"/>
              <a:t>根据理想气体状态方程式可知，同温同体积的气体，其压强与物质的量成正比，</a:t>
            </a:r>
            <a:r>
              <a:rPr lang="en-US" altLang="zh-CN" sz="2800" dirty="0"/>
              <a:t>2gN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与</a:t>
            </a:r>
            <a:r>
              <a:rPr lang="en-US" altLang="zh-CN" sz="2800" dirty="0"/>
              <a:t>1gN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物质的量之比为</a:t>
            </a:r>
            <a:r>
              <a:rPr lang="en-US" altLang="zh-CN" sz="2800" dirty="0"/>
              <a:t>2:1</a:t>
            </a:r>
            <a:r>
              <a:rPr lang="zh-CN" altLang="en-US" sz="2800" dirty="0"/>
              <a:t>，因此压强之比也是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(4) </a:t>
            </a:r>
            <a:r>
              <a:rPr lang="zh-CN" altLang="en-US" sz="2800" dirty="0"/>
              <a:t>液态氧的分子间距离小于气态氧，因此同质量时，液态氧体积小。</a:t>
            </a:r>
            <a:endParaRPr lang="en-US" altLang="zh-C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r>
              <a:rPr lang="en-US" altLang="zh-CN"/>
              <a:t>3,5,6,7,8,9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zh-CN" altLang="en-US" sz="2800" dirty="0"/>
              <a:t>公式</a:t>
            </a:r>
            <a:r>
              <a:rPr lang="en-US" altLang="zh-CN" sz="2800" dirty="0"/>
              <a:t>: 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nRT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*</a:t>
            </a:r>
            <a:r>
              <a:rPr lang="zh-CN" altLang="en-US" sz="2800" dirty="0"/>
              <a:t>单位换算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	(1) 209.88mol</a:t>
            </a:r>
          </a:p>
          <a:p>
            <a:pPr marL="514350" indent="-514350">
              <a:buNone/>
            </a:pPr>
            <a:r>
              <a:rPr lang="en-US" altLang="zh-CN" sz="2800" dirty="0"/>
              <a:t>	(2) 6716.16g</a:t>
            </a:r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4. 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(C ) = 12x1 + 35.5x4</a:t>
            </a:r>
          </a:p>
          <a:p>
            <a:pPr marL="514350" indent="-514350">
              <a:buNone/>
            </a:pPr>
            <a:r>
              <a:rPr lang="en-US" altLang="zh-CN" sz="2800" dirty="0"/>
              <a:t>		     = 154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5962"/>
            <a:ext cx="8229600" cy="6142038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altLang="zh-CN" sz="2800" dirty="0"/>
              <a:t>5. 	(1)</a:t>
            </a:r>
            <a:r>
              <a:rPr lang="zh-CN" altLang="en-US" sz="2800" dirty="0"/>
              <a:t>公式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en-US" altLang="zh-CN" sz="2800" dirty="0"/>
              <a:t>  </a:t>
            </a:r>
          </a:p>
          <a:p>
            <a:pPr marL="514350" indent="-514350">
              <a:buNone/>
            </a:pPr>
            <a:r>
              <a:rPr lang="en-US" altLang="zh-CN" sz="2800" dirty="0"/>
              <a:t>	p= 3.12x10</a:t>
            </a:r>
            <a:r>
              <a:rPr lang="en-US" altLang="zh-CN" sz="2800" baseline="30000" dirty="0"/>
              <a:t>5</a:t>
            </a:r>
            <a:r>
              <a:rPr lang="en-US" altLang="zh-CN" sz="2800" dirty="0"/>
              <a:t> Pa</a:t>
            </a:r>
          </a:p>
          <a:p>
            <a:pPr marL="514350" indent="-514350">
              <a:buNone/>
            </a:pPr>
            <a:r>
              <a:rPr lang="en-US" altLang="zh-CN" sz="2800" dirty="0"/>
              <a:t>	(2) </a:t>
            </a:r>
            <a:r>
              <a:rPr lang="zh-CN" altLang="en-US" sz="2800" dirty="0"/>
              <a:t>可计算</a:t>
            </a:r>
            <a:r>
              <a:rPr lang="en-US" altLang="zh-CN" sz="2800" dirty="0"/>
              <a:t>p(O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  <a:r>
              <a:rPr lang="zh-CN" altLang="en-US" sz="2800" dirty="0"/>
              <a:t>然后</a:t>
            </a:r>
            <a:r>
              <a:rPr lang="en-US" altLang="zh-CN" sz="2800" dirty="0"/>
              <a:t>+ p(CO) 	</a:t>
            </a:r>
          </a:p>
          <a:p>
            <a:pPr marL="514350" indent="-514350"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或直接 </a:t>
            </a: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T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=1.25mol </a:t>
            </a:r>
            <a:r>
              <a:rPr lang="zh-CN" altLang="en-US" sz="2800" dirty="0"/>
              <a:t>计算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</a:t>
            </a:r>
          </a:p>
          <a:p>
            <a:pPr marL="514350" indent="-514350">
              <a:buNone/>
            </a:pPr>
            <a:r>
              <a:rPr lang="en-US" altLang="zh-CN" sz="2800" dirty="0"/>
              <a:t>	 p(O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 1.25x10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</a:t>
            </a:r>
          </a:p>
          <a:p>
            <a:pPr marL="514350" indent="-514350">
              <a:buNone/>
            </a:pPr>
            <a:r>
              <a:rPr lang="en-US" altLang="zh-CN" sz="2800" dirty="0"/>
              <a:t>	 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 1.56x10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</a:t>
            </a:r>
          </a:p>
          <a:p>
            <a:pPr marL="514350" indent="-514350">
              <a:buNone/>
            </a:pPr>
            <a:r>
              <a:rPr lang="en-US" altLang="zh-CN" sz="2800" dirty="0"/>
              <a:t>	(3) 	2CO(g)     + 	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    </a:t>
            </a:r>
            <a:r>
              <a:rPr lang="en-US" altLang="zh-CN" sz="2800" dirty="0">
                <a:sym typeface="Wingdings" panose="05000000000000000000" pitchFamily="2" charset="2"/>
              </a:rPr>
              <a:t>    2CO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/>
              <a:t> (g) </a:t>
            </a:r>
          </a:p>
          <a:p>
            <a:pPr marL="514350" indent="-514350">
              <a:buNone/>
            </a:pPr>
            <a:r>
              <a:rPr lang="zh-CN" altLang="en-US" sz="2800" dirty="0"/>
              <a:t>开始</a:t>
            </a:r>
            <a:r>
              <a:rPr lang="en-US" altLang="zh-CN" sz="2800" dirty="0"/>
              <a:t>(mol)</a:t>
            </a:r>
            <a:r>
              <a:rPr lang="zh-CN" altLang="en-US" sz="2800" dirty="0"/>
              <a:t>：</a:t>
            </a:r>
            <a:r>
              <a:rPr lang="en-US" altLang="zh-CN" sz="2800" dirty="0"/>
              <a:t>0.25		1	    	0</a:t>
            </a:r>
          </a:p>
          <a:p>
            <a:pPr marL="514350" indent="-514350">
              <a:buNone/>
            </a:pPr>
            <a:r>
              <a:rPr lang="zh-CN" altLang="en-US" sz="2800" dirty="0"/>
              <a:t>反应</a:t>
            </a:r>
            <a:r>
              <a:rPr lang="en-US" altLang="zh-CN" sz="2800" dirty="0"/>
              <a:t>(mol):    0.25		0.125		0.25</a:t>
            </a:r>
          </a:p>
          <a:p>
            <a:pPr marL="514350" indent="-514350">
              <a:buNone/>
            </a:pPr>
            <a:r>
              <a:rPr lang="zh-CN" altLang="en-US" sz="2800" dirty="0"/>
              <a:t>结束</a:t>
            </a:r>
            <a:r>
              <a:rPr lang="en-US" altLang="zh-CN" sz="2800" dirty="0"/>
              <a:t>(mol):	0		0.875		0.25</a:t>
            </a:r>
          </a:p>
          <a:p>
            <a:pPr marL="514350" indent="-514350">
              <a:buNone/>
            </a:pP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 0.875mol + 0.25mol = 1.125mol</a:t>
            </a:r>
          </a:p>
          <a:p>
            <a:pPr marL="514350" indent="-514350">
              <a:buNone/>
            </a:pP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T</a:t>
            </a:r>
            <a:r>
              <a:rPr lang="en-US" altLang="zh-CN" sz="2800" dirty="0"/>
              <a:t> = 1.40 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6. 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V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100g</a:t>
            </a:r>
          </a:p>
          <a:p>
            <a:pPr>
              <a:buNone/>
            </a:pPr>
            <a:r>
              <a:rPr lang="en-US" altLang="zh-CN" sz="2800" dirty="0"/>
              <a:t>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320K	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1x10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 	</a:t>
            </a:r>
          </a:p>
          <a:p>
            <a:pPr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300K 	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0.6x10</a:t>
            </a:r>
            <a:r>
              <a:rPr lang="en-US" altLang="zh-CN" sz="2800" baseline="30000" dirty="0"/>
              <a:t>6 </a:t>
            </a:r>
            <a:r>
              <a:rPr lang="en-US" altLang="zh-CN" sz="2800" dirty="0"/>
              <a:t>Pa </a:t>
            </a:r>
          </a:p>
          <a:p>
            <a:pPr>
              <a:buNone/>
            </a:pPr>
            <a:r>
              <a:rPr lang="en-US" altLang="zh-CN" sz="2800" dirty="0"/>
              <a:t>M(O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=32gmol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	</a:t>
            </a:r>
          </a:p>
          <a:p>
            <a:pPr marL="514350" indent="-514350">
              <a:buNone/>
            </a:pPr>
            <a:r>
              <a:rPr lang="zh-CN" altLang="en-US" sz="2800" dirty="0"/>
              <a:t>带入</a:t>
            </a:r>
            <a:r>
              <a:rPr lang="en-US" altLang="zh-CN" sz="2800" dirty="0"/>
              <a:t>1</a:t>
            </a:r>
            <a:r>
              <a:rPr lang="zh-CN" altLang="en-US" sz="2800" dirty="0"/>
              <a:t>的资料进公式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zh-CN" altLang="en-US" sz="2800" dirty="0"/>
              <a:t>得</a:t>
            </a:r>
            <a:r>
              <a:rPr lang="en-US" altLang="zh-CN" sz="2800" dirty="0"/>
              <a:t>V</a:t>
            </a:r>
          </a:p>
          <a:p>
            <a:pPr marL="514350" indent="-514350">
              <a:buNone/>
            </a:pPr>
            <a:r>
              <a:rPr lang="zh-CN" altLang="en-US" sz="2800" dirty="0"/>
              <a:t>带入</a:t>
            </a:r>
            <a:r>
              <a:rPr lang="en-US" altLang="zh-CN" sz="2800" dirty="0"/>
              <a:t>2</a:t>
            </a:r>
            <a:r>
              <a:rPr lang="zh-CN" altLang="en-US" sz="2800" dirty="0"/>
              <a:t>的资料进公式</a:t>
            </a:r>
            <a:r>
              <a:rPr lang="en-US" altLang="zh-CN" sz="2800" dirty="0" err="1"/>
              <a:t>pV</a:t>
            </a:r>
            <a:r>
              <a:rPr lang="en-US" altLang="zh-CN" sz="2800" dirty="0"/>
              <a:t>=</a:t>
            </a:r>
            <a:r>
              <a:rPr lang="en-US" altLang="zh-CN" sz="2800" dirty="0" err="1"/>
              <a:t>nRT</a:t>
            </a:r>
            <a:r>
              <a:rPr lang="zh-CN" altLang="en-US" sz="2800" dirty="0"/>
              <a:t>得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marL="514350" indent="-514350">
              <a:buAutoNum type="arabicParenBoth"/>
            </a:pPr>
            <a:r>
              <a:rPr lang="en-US" altLang="zh-CN" sz="2800" dirty="0"/>
              <a:t>V = 8.314L </a:t>
            </a:r>
          </a:p>
          <a:p>
            <a:pPr marL="514350" indent="-514350">
              <a:buNone/>
            </a:pPr>
            <a:r>
              <a:rPr lang="en-US" altLang="zh-CN" sz="2800" dirty="0"/>
              <a:t>(2) m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64g</a:t>
            </a:r>
          </a:p>
          <a:p>
            <a:pPr marL="514350" indent="-51435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漏去了</a:t>
            </a:r>
            <a:r>
              <a:rPr lang="en-US" altLang="zh-CN" sz="2800" dirty="0"/>
              <a:t>36g</a:t>
            </a:r>
            <a:r>
              <a:rPr lang="zh-CN" altLang="en-US" sz="2800" dirty="0"/>
              <a:t>氧气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4562"/>
            <a:ext cx="8229600" cy="5913438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altLang="zh-CN" sz="2800" dirty="0"/>
              <a:t>7. 	V</a:t>
            </a:r>
            <a:r>
              <a:rPr lang="zh-CN" altLang="en-US" sz="2800" dirty="0"/>
              <a:t>不变，利用公式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= 307.5K</a:t>
            </a:r>
          </a:p>
          <a:p>
            <a:pPr marL="514350" indent="-514350">
              <a:buNone/>
            </a:pPr>
            <a:r>
              <a:rPr lang="en-US" altLang="zh-CN" sz="2800" dirty="0"/>
              <a:t>	= 34.5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</a:p>
          <a:p>
            <a:pPr marL="514350" indent="-514350">
              <a:buNone/>
            </a:pPr>
            <a:r>
              <a:rPr lang="zh-CN" altLang="en-US" sz="2800" dirty="0"/>
              <a:t>单位必须换成摄氏度，因为题目给的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是摄氏度。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8.  </a:t>
            </a:r>
            <a:r>
              <a:rPr lang="zh-CN" altLang="en-US" sz="2800" dirty="0"/>
              <a:t>利用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求此氧气瓶能置于的最高温度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得</a:t>
            </a:r>
            <a:r>
              <a:rPr lang="en-US" altLang="zh-CN" sz="2800" dirty="0"/>
              <a:t>30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</a:p>
          <a:p>
            <a:pPr marL="514350" indent="-514350">
              <a:buNone/>
            </a:pPr>
            <a:r>
              <a:rPr lang="zh-CN" altLang="en-US" sz="2800" dirty="0"/>
              <a:t>不能置于</a:t>
            </a:r>
            <a:r>
              <a:rPr lang="en-US" altLang="zh-CN" sz="2800" dirty="0"/>
              <a:t>40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  <a:r>
              <a:rPr lang="zh-CN" altLang="en-US" sz="2800" dirty="0"/>
              <a:t>的环境中。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或计算置于</a:t>
            </a:r>
            <a:r>
              <a:rPr lang="en-US" altLang="zh-CN" sz="2800" dirty="0"/>
              <a:t>40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 C </a:t>
            </a:r>
            <a:r>
              <a:rPr lang="zh-CN" altLang="en-US" sz="2800" dirty="0"/>
              <a:t>的环境时的压强得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1.03x10</a:t>
            </a:r>
            <a:r>
              <a:rPr lang="en-US" altLang="zh-CN" sz="2800" baseline="30000" dirty="0"/>
              <a:t>6</a:t>
            </a:r>
            <a:r>
              <a:rPr lang="en-US" altLang="zh-CN" sz="2800" dirty="0"/>
              <a:t> Pa </a:t>
            </a:r>
          </a:p>
          <a:p>
            <a:pPr marL="514350" indent="-514350">
              <a:buNone/>
            </a:pPr>
            <a:r>
              <a:rPr lang="zh-CN" altLang="en-US" sz="2800" dirty="0"/>
              <a:t>大于能承受的最大压强，因此不能。</a:t>
            </a:r>
            <a:endParaRPr lang="en-US" altLang="zh-C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3810000" y="792162"/>
            <a:ext cx="2209800" cy="762000"/>
            <a:chOff x="2362200" y="2895600"/>
            <a:chExt cx="2209800" cy="762000"/>
          </a:xfrm>
        </p:grpSpPr>
        <p:grpSp>
          <p:nvGrpSpPr>
            <p:cNvPr id="16" name="Group 4"/>
            <p:cNvGrpSpPr/>
            <p:nvPr/>
          </p:nvGrpSpPr>
          <p:grpSpPr>
            <a:xfrm>
              <a:off x="2362200" y="2895600"/>
              <a:ext cx="2209800" cy="762000"/>
              <a:chOff x="2209800" y="1524000"/>
              <a:chExt cx="2209800" cy="762000"/>
            </a:xfrm>
          </p:grpSpPr>
          <p:grpSp>
            <p:nvGrpSpPr>
              <p:cNvPr id="18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20" name="TextBox 19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T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</p:grpSp>
          <p:sp>
            <p:nvSpPr>
              <p:cNvPr id="19" name="TextBox 18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286000" y="3048000"/>
            <a:ext cx="2209800" cy="762000"/>
            <a:chOff x="2362200" y="2895600"/>
            <a:chExt cx="2209800" cy="762000"/>
          </a:xfrm>
        </p:grpSpPr>
        <p:grpSp>
          <p:nvGrpSpPr>
            <p:cNvPr id="26" name="Group 4"/>
            <p:cNvGrpSpPr/>
            <p:nvPr/>
          </p:nvGrpSpPr>
          <p:grpSpPr>
            <a:xfrm>
              <a:off x="2362200" y="2895600"/>
              <a:ext cx="2209800" cy="762000"/>
              <a:chOff x="2209800" y="1524000"/>
              <a:chExt cx="2209800" cy="762000"/>
            </a:xfrm>
          </p:grpSpPr>
          <p:grpSp>
            <p:nvGrpSpPr>
              <p:cNvPr id="28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30" name="TextBox 29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T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p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3352800" y="3043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:\Users\user\Desktop\chemistry\ppt&amp;video\高中化学\背景图\pictur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9. </a:t>
            </a:r>
            <a:r>
              <a:rPr lang="zh-CN" altLang="en-US" sz="2800" dirty="0"/>
              <a:t>利用公式</a:t>
            </a: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	= 185.6K</a:t>
            </a:r>
          </a:p>
          <a:p>
            <a:pPr marL="514350" indent="-514350">
              <a:buNone/>
            </a:pPr>
            <a:r>
              <a:rPr lang="en-US" altLang="zh-CN" sz="2800" dirty="0"/>
              <a:t>	= -87.4</a:t>
            </a:r>
            <a:r>
              <a:rPr lang="en-US" altLang="zh-CN" sz="2800" baseline="30000" dirty="0"/>
              <a:t>o</a:t>
            </a:r>
            <a:r>
              <a:rPr lang="en-US" altLang="zh-CN" sz="2800" dirty="0"/>
              <a:t>C</a:t>
            </a:r>
          </a:p>
          <a:p>
            <a:pPr marL="514350" indent="-514350">
              <a:buNone/>
            </a:pPr>
            <a:r>
              <a:rPr lang="zh-CN" altLang="en-US" sz="2800" dirty="0"/>
              <a:t>单位必须换成摄氏度，因为题目给的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</a:t>
            </a:r>
            <a:r>
              <a:rPr lang="zh-CN" altLang="en-US" sz="2800" dirty="0"/>
              <a:t>是摄氏度。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10. </a:t>
            </a:r>
            <a:r>
              <a:rPr lang="zh-CN" altLang="en-US" sz="2800" dirty="0"/>
              <a:t>利用公式</a:t>
            </a:r>
            <a:endParaRPr lang="en-US" altLang="zh-CN" sz="2800" dirty="0"/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/>
              <a:t>得</a:t>
            </a:r>
            <a:r>
              <a:rPr lang="en-US" altLang="zh-CN" sz="2800" dirty="0"/>
              <a:t>			= 9</a:t>
            </a:r>
          </a:p>
          <a:p>
            <a:pPr marL="514350" indent="-514350">
              <a:buNone/>
            </a:pPr>
            <a:endParaRPr lang="en-US" altLang="zh-CN" sz="28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zh-CN" altLang="en-US" dirty="0"/>
              <a:t>作答题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90800" y="1066800"/>
            <a:ext cx="2514600" cy="662078"/>
            <a:chOff x="533400" y="3657600"/>
            <a:chExt cx="2514600" cy="662078"/>
          </a:xfrm>
        </p:grpSpPr>
        <p:grpSp>
          <p:nvGrpSpPr>
            <p:cNvPr id="6" name="Group 140"/>
            <p:cNvGrpSpPr/>
            <p:nvPr/>
          </p:nvGrpSpPr>
          <p:grpSpPr>
            <a:xfrm>
              <a:off x="533400" y="3657600"/>
              <a:ext cx="2514600" cy="662078"/>
              <a:chOff x="2209800" y="1524000"/>
              <a:chExt cx="2209800" cy="748849"/>
            </a:xfrm>
          </p:grpSpPr>
          <p:grpSp>
            <p:nvGrpSpPr>
              <p:cNvPr id="9" name="Group 10"/>
              <p:cNvGrpSpPr/>
              <p:nvPr/>
            </p:nvGrpSpPr>
            <p:grpSpPr>
              <a:xfrm>
                <a:off x="2209800" y="1524000"/>
                <a:ext cx="2209800" cy="748849"/>
                <a:chOff x="2209800" y="1524000"/>
                <a:chExt cx="2209800" cy="748849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2209800" y="1524000"/>
                  <a:ext cx="9144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p</a:t>
                  </a:r>
                  <a:r>
                    <a:rPr lang="en-US" altLang="zh-CN" b="1" baseline="-25000" dirty="0"/>
                    <a:t>1</a:t>
                  </a:r>
                  <a:r>
                    <a:rPr lang="en-US" altLang="zh-CN" b="1" dirty="0"/>
                    <a:t> V</a:t>
                  </a:r>
                  <a:r>
                    <a:rPr lang="en-US" altLang="zh-CN" b="1" baseline="-25000" dirty="0"/>
                    <a:t>1</a:t>
                  </a:r>
                  <a:endParaRPr lang="en-US" b="1" dirty="0"/>
                </a:p>
              </p:txBody>
            </p: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TextBox 14"/>
                <p:cNvSpPr txBox="1"/>
                <p:nvPr/>
              </p:nvSpPr>
              <p:spPr>
                <a:xfrm>
                  <a:off x="2438400" y="1855113"/>
                  <a:ext cx="6858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T</a:t>
                  </a:r>
                  <a:r>
                    <a:rPr lang="en-US" altLang="zh-CN" b="1" baseline="-25000" dirty="0"/>
                    <a:t>1</a:t>
                  </a:r>
                  <a:endParaRPr lang="en-US" b="1" dirty="0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3639671" y="1524000"/>
                  <a:ext cx="6858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p</a:t>
                  </a:r>
                  <a:r>
                    <a:rPr lang="en-US" altLang="zh-CN" b="1" baseline="-25000" dirty="0"/>
                    <a:t>2</a:t>
                  </a:r>
                  <a:r>
                    <a:rPr lang="en-US" altLang="zh-CN" b="1" dirty="0"/>
                    <a:t> V</a:t>
                  </a:r>
                  <a:r>
                    <a:rPr lang="en-US" altLang="zh-CN" b="1" baseline="-25000" dirty="0"/>
                    <a:t>2</a:t>
                  </a:r>
                  <a:endParaRPr lang="en-US" b="1" dirty="0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3733800" y="1855113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T</a:t>
                </a:r>
                <a:r>
                  <a:rPr lang="en-US" altLang="zh-CN" b="1" baseline="-25000" dirty="0"/>
                  <a:t>2</a:t>
                </a:r>
                <a:endParaRPr lang="en-US" b="1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1642646" y="37293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743200" y="3681322"/>
            <a:ext cx="2514600" cy="662078"/>
            <a:chOff x="533400" y="3657600"/>
            <a:chExt cx="2514600" cy="662078"/>
          </a:xfrm>
        </p:grpSpPr>
        <p:grpSp>
          <p:nvGrpSpPr>
            <p:cNvPr id="18" name="Group 140"/>
            <p:cNvGrpSpPr/>
            <p:nvPr/>
          </p:nvGrpSpPr>
          <p:grpSpPr>
            <a:xfrm>
              <a:off x="533400" y="3657600"/>
              <a:ext cx="2514600" cy="662078"/>
              <a:chOff x="2209800" y="1524000"/>
              <a:chExt cx="2209800" cy="748849"/>
            </a:xfrm>
          </p:grpSpPr>
          <p:grpSp>
            <p:nvGrpSpPr>
              <p:cNvPr id="20" name="Group 10"/>
              <p:cNvGrpSpPr/>
              <p:nvPr/>
            </p:nvGrpSpPr>
            <p:grpSpPr>
              <a:xfrm>
                <a:off x="2209800" y="1524000"/>
                <a:ext cx="2209800" cy="748849"/>
                <a:chOff x="2209800" y="1524000"/>
                <a:chExt cx="2209800" cy="748849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2209800" y="1524000"/>
                  <a:ext cx="9144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p</a:t>
                  </a:r>
                  <a:r>
                    <a:rPr lang="en-US" altLang="zh-CN" b="1" baseline="-25000" dirty="0" err="1"/>
                    <a:t>a</a:t>
                  </a:r>
                  <a:r>
                    <a:rPr lang="en-US" altLang="zh-CN" b="1" dirty="0" err="1"/>
                    <a:t>V</a:t>
                  </a:r>
                  <a:r>
                    <a:rPr lang="en-US" altLang="zh-CN" b="1" baseline="-25000" dirty="0" err="1"/>
                    <a:t>a</a:t>
                  </a:r>
                  <a:endParaRPr lang="en-US" b="1" dirty="0"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2438400" y="1855113"/>
                  <a:ext cx="6858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T</a:t>
                  </a:r>
                  <a:r>
                    <a:rPr lang="en-US" altLang="zh-CN" b="1" baseline="-25000" dirty="0"/>
                    <a:t>a</a:t>
                  </a:r>
                  <a:endParaRPr lang="en-US" b="1"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3639671" y="1524000"/>
                  <a:ext cx="685800" cy="417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 err="1"/>
                    <a:t>p</a:t>
                  </a:r>
                  <a:r>
                    <a:rPr lang="en-US" altLang="zh-CN" b="1" baseline="-25000" dirty="0" err="1"/>
                    <a:t>b</a:t>
                  </a:r>
                  <a:r>
                    <a:rPr lang="en-US" altLang="zh-CN" b="1" dirty="0"/>
                    <a:t> </a:t>
                  </a:r>
                  <a:r>
                    <a:rPr lang="en-US" altLang="zh-CN" b="1" dirty="0" err="1"/>
                    <a:t>V</a:t>
                  </a:r>
                  <a:r>
                    <a:rPr lang="en-US" altLang="zh-CN" b="1" baseline="-25000" dirty="0" err="1"/>
                    <a:t>b</a:t>
                  </a:r>
                  <a:endParaRPr lang="en-US" b="1" dirty="0"/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3733800" y="1855113"/>
                <a:ext cx="685800" cy="41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T</a:t>
                </a:r>
                <a:r>
                  <a:rPr lang="en-US" altLang="zh-CN" b="1" baseline="-25000" dirty="0"/>
                  <a:t>b</a:t>
                </a:r>
                <a:endParaRPr lang="en-US" b="1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1642646" y="37293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=</a:t>
              </a:r>
            </a:p>
          </p:txBody>
        </p:sp>
      </p:grp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1295400" y="4495800"/>
          <a:ext cx="723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86400" imgH="9448800" progId="Equation.3">
                  <p:embed/>
                </p:oleObj>
              </mc:Choice>
              <mc:Fallback>
                <p:oleObj name="Equation" r:id="rId3" imgW="5486400" imgH="94488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95800"/>
                        <a:ext cx="7239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9646</Words>
  <Application>Microsoft Office PowerPoint</Application>
  <PresentationFormat>On-screen Show (4:3)</PresentationFormat>
  <Paragraphs>1483</Paragraphs>
  <Slides>115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0" baseType="lpstr">
      <vt:lpstr>Arial</vt:lpstr>
      <vt:lpstr>Calibri</vt:lpstr>
      <vt:lpstr>Wingdings</vt:lpstr>
      <vt:lpstr>Office Theme</vt:lpstr>
      <vt:lpstr>Equation</vt:lpstr>
      <vt:lpstr>第十七章 气体</vt:lpstr>
      <vt:lpstr>17.1 物质的状态</vt:lpstr>
      <vt:lpstr>17.2 气体的性质</vt:lpstr>
      <vt:lpstr>资料链接</vt:lpstr>
      <vt:lpstr>17.3.1 波义耳定律</vt:lpstr>
      <vt:lpstr>17.3.1 波义耳定律</vt:lpstr>
      <vt:lpstr>17.3.1 波义耳定律</vt:lpstr>
      <vt:lpstr>PowerPoint Presentation</vt:lpstr>
      <vt:lpstr>PowerPoint Presentation</vt:lpstr>
      <vt:lpstr>PowerPoint Presentation</vt:lpstr>
      <vt:lpstr>思考题17c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17.3.4 盖·吕萨克定律</vt:lpstr>
      <vt:lpstr>17.4 阿伏加德罗定律和气体摩尔体积</vt:lpstr>
      <vt:lpstr>17.4 .1 气体摩尔体积</vt:lpstr>
      <vt:lpstr>思考题17f</vt:lpstr>
      <vt:lpstr>17.4.2 阿伏加德罗定律</vt:lpstr>
      <vt:lpstr>17.4.2 阿伏加德罗定律</vt:lpstr>
      <vt:lpstr>思考题17g</vt:lpstr>
      <vt:lpstr>17.4.2 阿伏加德罗定律</vt:lpstr>
      <vt:lpstr>PowerPoint Presentation</vt:lpstr>
      <vt:lpstr>17.4.3 关于气体摩尔体积的计算</vt:lpstr>
      <vt:lpstr>17.4.3 关于气体摩尔体积的计算</vt:lpstr>
      <vt:lpstr>方法二</vt:lpstr>
      <vt:lpstr>PowerPoint Presentation</vt:lpstr>
      <vt:lpstr>方法二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17.5  理想气体及理想气体状态方程式</vt:lpstr>
      <vt:lpstr>17.5.1 理想气体</vt:lpstr>
      <vt:lpstr>PowerPoint Presentation</vt:lpstr>
      <vt:lpstr>17.5.2 一定质量的理想气体状态方程式 </vt:lpstr>
      <vt:lpstr>17.5.3 任意质量的理想气体状态方程式</vt:lpstr>
      <vt:lpstr>15.5.4  关于理想气体状态方程式的计算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17.6 道尔顿分压定律</vt:lpstr>
      <vt:lpstr>道尔顿分压定律</vt:lpstr>
      <vt:lpstr>PowerPoint Presentation</vt:lpstr>
      <vt:lpstr>PowerPoint Presentation</vt:lpstr>
      <vt:lpstr>问题解决</vt:lpstr>
      <vt:lpstr>分体积定律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历届考题</vt:lpstr>
      <vt:lpstr>PowerPoint Presentation</vt:lpstr>
      <vt:lpstr>17.7-17.9</vt:lpstr>
      <vt:lpstr>17.7  气体分子运动论</vt:lpstr>
      <vt:lpstr>PowerPoint Presentation</vt:lpstr>
      <vt:lpstr>17.9 相的变化</vt:lpstr>
      <vt:lpstr>15.9.1 液相——气相间的变化</vt:lpstr>
      <vt:lpstr>PowerPoint Presentation</vt:lpstr>
      <vt:lpstr>17.9.2蒸发和沸腾</vt:lpstr>
      <vt:lpstr>17.9.3 蒸气压</vt:lpstr>
      <vt:lpstr>17.9.4 固相——液相间的变化</vt:lpstr>
      <vt:lpstr>交流分享</vt:lpstr>
      <vt:lpstr>资料链接</vt:lpstr>
      <vt:lpstr>思考题17n</vt:lpstr>
      <vt:lpstr>第十七章 气体</vt:lpstr>
      <vt:lpstr>选择题</vt:lpstr>
      <vt:lpstr>选择题</vt:lpstr>
      <vt:lpstr>选择题</vt:lpstr>
      <vt:lpstr>选择题</vt:lpstr>
      <vt:lpstr>选择题</vt:lpstr>
      <vt:lpstr>选择题</vt:lpstr>
      <vt:lpstr>选择题</vt:lpstr>
      <vt:lpstr>选择题</vt:lpstr>
      <vt:lpstr>选择题</vt:lpstr>
      <vt:lpstr>作答题3,5,6,7,8,9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第十五章 气体</dc:title>
  <dc:creator>user</dc:creator>
  <cp:lastModifiedBy>LIM YI EN</cp:lastModifiedBy>
  <cp:revision>196</cp:revision>
  <dcterms:created xsi:type="dcterms:W3CDTF">2016-03-16T04:32:00Z</dcterms:created>
  <dcterms:modified xsi:type="dcterms:W3CDTF">2024-04-16T12:31:05Z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E567B654F179424A961243A0E4CED14C_12</vt:lpwstr>
  </property>
  <property fmtid="{D5CDD505-2E9C-101B-9397-08002B2CF9AE}" pid="3" name="KSOProductBuildVer">
    <vt:lpwstr>1033-12.2.0.16731</vt:lpwstr>
  </property>
</Properties>
</file>