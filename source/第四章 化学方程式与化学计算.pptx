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3" r:id="rId4"/>
    <p:sldId id="258" r:id="rId5"/>
    <p:sldId id="275" r:id="rId6"/>
    <p:sldId id="276" r:id="rId7"/>
    <p:sldId id="260" r:id="rId8"/>
    <p:sldId id="277" r:id="rId9"/>
    <p:sldId id="278" r:id="rId10"/>
    <p:sldId id="263" r:id="rId11"/>
    <p:sldId id="265" r:id="rId12"/>
    <p:sldId id="266" r:id="rId13"/>
    <p:sldId id="270" r:id="rId14"/>
    <p:sldId id="272" r:id="rId15"/>
    <p:sldId id="279" r:id="rId16"/>
    <p:sldId id="280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CC76-29B0-4BDA-AE05-CAFED3063D38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4A3F8-B523-4BEE-B312-7CA22C3A6D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CC76-29B0-4BDA-AE05-CAFED3063D38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4A3F8-B523-4BEE-B312-7CA22C3A6D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CC76-29B0-4BDA-AE05-CAFED3063D38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4A3F8-B523-4BEE-B312-7CA22C3A6D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CC76-29B0-4BDA-AE05-CAFED3063D38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4A3F8-B523-4BEE-B312-7CA22C3A6D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CC76-29B0-4BDA-AE05-CAFED3063D38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4A3F8-B523-4BEE-B312-7CA22C3A6D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CC76-29B0-4BDA-AE05-CAFED3063D38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4A3F8-B523-4BEE-B312-7CA22C3A6D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CC76-29B0-4BDA-AE05-CAFED3063D38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4A3F8-B523-4BEE-B312-7CA22C3A6D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CC76-29B0-4BDA-AE05-CAFED3063D38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4A3F8-B523-4BEE-B312-7CA22C3A6D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CC76-29B0-4BDA-AE05-CAFED3063D38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4A3F8-B523-4BEE-B312-7CA22C3A6D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CC76-29B0-4BDA-AE05-CAFED3063D38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4A3F8-B523-4BEE-B312-7CA22C3A6D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1CC76-29B0-4BDA-AE05-CAFED3063D38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84A3F8-B523-4BEE-B312-7CA22C3A6DD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1CC76-29B0-4BDA-AE05-CAFED3063D38}" type="datetimeFigureOut">
              <a:rPr lang="en-US" smtClean="0"/>
              <a:pPr/>
              <a:t>5/1/2020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4A3F8-B523-4BEE-B312-7CA22C3A6DD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057400"/>
            <a:ext cx="7772400" cy="2666999"/>
          </a:xfrm>
        </p:spPr>
        <p:txBody>
          <a:bodyPr>
            <a:normAutofit/>
          </a:bodyPr>
          <a:lstStyle/>
          <a:p>
            <a:r>
              <a:rPr lang="zh-CN" altLang="en-US" dirty="0"/>
              <a:t>第四章</a:t>
            </a:r>
            <a:br>
              <a:rPr lang="en-US" altLang="zh-CN" dirty="0"/>
            </a:br>
            <a:r>
              <a:rPr lang="zh-CN" altLang="en-US" dirty="0"/>
              <a:t>化学方程式与化学计算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503825"/>
          </a:xfrm>
        </p:spPr>
        <p:txBody>
          <a:bodyPr>
            <a:normAutofit fontScale="90000"/>
          </a:bodyPr>
          <a:lstStyle/>
          <a:p>
            <a:r>
              <a:rPr lang="zh-CN" altLang="en-US" sz="4000" dirty="0"/>
              <a:t>选择题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4343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D</a:t>
            </a:r>
          </a:p>
          <a:p>
            <a:pPr marL="514350" indent="-514350">
              <a:buNone/>
            </a:pPr>
            <a:r>
              <a:rPr lang="en-US" altLang="zh-CN" dirty="0"/>
              <a:t>2. 	C</a:t>
            </a:r>
          </a:p>
          <a:p>
            <a:pPr marL="514350" indent="-514350">
              <a:buNone/>
            </a:pPr>
            <a:r>
              <a:rPr lang="en-US" altLang="zh-CN" dirty="0"/>
              <a:t>3. 	B</a:t>
            </a:r>
          </a:p>
          <a:p>
            <a:pPr marL="514350" indent="-514350">
              <a:buNone/>
            </a:pPr>
            <a:r>
              <a:rPr lang="en-US" altLang="zh-CN" dirty="0"/>
              <a:t>	A CuSO</a:t>
            </a:r>
            <a:r>
              <a:rPr lang="en-US" altLang="zh-CN" baseline="-25000" dirty="0"/>
              <a:t>4</a:t>
            </a:r>
            <a:r>
              <a:rPr lang="en-US" altLang="zh-CN" dirty="0"/>
              <a:t> ·5 H</a:t>
            </a:r>
            <a:r>
              <a:rPr lang="en-US" altLang="zh-CN" baseline="-25000" dirty="0"/>
              <a:t>2</a:t>
            </a:r>
            <a:r>
              <a:rPr lang="en-US" altLang="zh-CN" dirty="0"/>
              <a:t>O </a:t>
            </a:r>
            <a:r>
              <a:rPr lang="en-US" altLang="zh-CN" dirty="0">
                <a:sym typeface="Wingdings" pitchFamily="2" charset="2"/>
              </a:rPr>
              <a:t> </a:t>
            </a:r>
            <a:r>
              <a:rPr lang="en-US" altLang="zh-CN" dirty="0"/>
              <a:t>CuSO</a:t>
            </a:r>
            <a:r>
              <a:rPr lang="en-US" altLang="zh-CN" baseline="-25000" dirty="0"/>
              <a:t>4</a:t>
            </a:r>
            <a:r>
              <a:rPr lang="en-US" altLang="zh-CN" dirty="0"/>
              <a:t> + 5 H</a:t>
            </a:r>
            <a:r>
              <a:rPr lang="en-US" altLang="zh-CN" baseline="-25000" dirty="0"/>
              <a:t>2</a:t>
            </a:r>
            <a:r>
              <a:rPr lang="en-US" altLang="zh-CN" dirty="0"/>
              <a:t>O  </a:t>
            </a:r>
            <a:r>
              <a:rPr lang="zh-CN" altLang="en-US" dirty="0"/>
              <a:t>分解反应</a:t>
            </a:r>
            <a:endParaRPr lang="en-US" altLang="zh-CN" dirty="0"/>
          </a:p>
          <a:p>
            <a:pPr marL="514350" indent="-514350">
              <a:buNone/>
            </a:pPr>
            <a:r>
              <a:rPr lang="en-US" altLang="zh-CN" dirty="0"/>
              <a:t>	C </a:t>
            </a:r>
            <a:r>
              <a:rPr lang="zh-CN" altLang="en-US" dirty="0"/>
              <a:t>无反应（</a:t>
            </a:r>
            <a:r>
              <a:rPr lang="en-US" altLang="zh-CN" dirty="0"/>
              <a:t>Pb</a:t>
            </a:r>
            <a:r>
              <a:rPr lang="zh-CN" altLang="en-US" dirty="0"/>
              <a:t>没有比</a:t>
            </a:r>
            <a:r>
              <a:rPr lang="en-US" altLang="zh-CN" dirty="0"/>
              <a:t>Sn</a:t>
            </a:r>
            <a:r>
              <a:rPr lang="zh-CN" altLang="en-US" dirty="0"/>
              <a:t>活泼）</a:t>
            </a:r>
            <a:endParaRPr lang="en-US" altLang="zh-CN" dirty="0"/>
          </a:p>
          <a:p>
            <a:pPr marL="514350" indent="-514350">
              <a:buNone/>
            </a:pPr>
            <a:r>
              <a:rPr lang="en-US" altLang="zh-CN" dirty="0"/>
              <a:t>	D </a:t>
            </a:r>
            <a:r>
              <a:rPr lang="zh-CN" altLang="en-US" dirty="0"/>
              <a:t>没配平  </a:t>
            </a:r>
            <a:r>
              <a:rPr lang="en-US" altLang="zh-CN" dirty="0"/>
              <a:t>2 Fe</a:t>
            </a:r>
            <a:r>
              <a:rPr lang="en-US" altLang="zh-CN" baseline="-25000" dirty="0"/>
              <a:t>2</a:t>
            </a:r>
            <a:r>
              <a:rPr lang="en-US" altLang="zh-CN" dirty="0"/>
              <a:t>O</a:t>
            </a:r>
            <a:r>
              <a:rPr lang="en-US" altLang="zh-CN" baseline="-25000" dirty="0"/>
              <a:t>3</a:t>
            </a:r>
            <a:r>
              <a:rPr lang="en-US" altLang="zh-CN" dirty="0"/>
              <a:t> +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/>
              <a:t>C</a:t>
            </a:r>
            <a:r>
              <a:rPr lang="en-US" altLang="zh-CN" dirty="0">
                <a:solidFill>
                  <a:srgbClr val="002060"/>
                </a:solidFill>
              </a:rPr>
              <a:t> </a:t>
            </a:r>
            <a:r>
              <a:rPr lang="en-US" altLang="zh-CN" dirty="0">
                <a:sym typeface="Wingdings" pitchFamily="2" charset="2"/>
              </a:rPr>
              <a:t> 4 Fe + 3 CO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endParaRPr lang="en-US" altLang="zh-CN" dirty="0"/>
          </a:p>
          <a:p>
            <a:pPr marL="514350" indent="-51435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1722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sz="2800" dirty="0"/>
              <a:t>4. C</a:t>
            </a:r>
          </a:p>
          <a:p>
            <a:pPr marL="514350" indent="-514350">
              <a:buNone/>
            </a:pPr>
            <a:r>
              <a:rPr lang="en-US" altLang="zh-CN" sz="2800" dirty="0"/>
              <a:t>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+ Ba(OH)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</a:t>
            </a:r>
            <a:r>
              <a:rPr lang="en-US" altLang="zh-CN" sz="2800" dirty="0">
                <a:sym typeface="Wingdings" pitchFamily="2" charset="2"/>
              </a:rPr>
              <a:t> BaSO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(s) + 2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O(l)</a:t>
            </a:r>
          </a:p>
          <a:p>
            <a:pPr marL="514350" indent="-514350">
              <a:buNone/>
            </a:pPr>
            <a:r>
              <a:rPr lang="en-US" altLang="zh-CN" sz="2800" dirty="0"/>
              <a:t>2H</a:t>
            </a:r>
            <a:r>
              <a:rPr lang="en-US" altLang="zh-CN" sz="2800" baseline="30000" dirty="0"/>
              <a:t>+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+ SO</a:t>
            </a:r>
            <a:r>
              <a:rPr lang="en-US" altLang="zh-CN" sz="2800" baseline="-25000" dirty="0"/>
              <a:t>4</a:t>
            </a:r>
            <a:r>
              <a:rPr lang="en-US" altLang="zh-CN" sz="2800" baseline="30000" dirty="0"/>
              <a:t>2-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+ Ba</a:t>
            </a:r>
            <a:r>
              <a:rPr lang="en-US" altLang="zh-CN" sz="2800" baseline="30000" dirty="0"/>
              <a:t>2+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+ 2OH</a:t>
            </a:r>
            <a:r>
              <a:rPr lang="en-US" altLang="zh-CN" sz="2800" baseline="30000" dirty="0"/>
              <a:t>-</a:t>
            </a:r>
            <a:r>
              <a:rPr lang="en-US" altLang="zh-CN" sz="2800" dirty="0"/>
              <a:t> (</a:t>
            </a:r>
            <a:r>
              <a:rPr lang="en-US" altLang="zh-CN" sz="2800" dirty="0" err="1"/>
              <a:t>aq</a:t>
            </a:r>
            <a:r>
              <a:rPr lang="en-US" altLang="zh-CN" sz="2800" dirty="0"/>
              <a:t>) </a:t>
            </a:r>
          </a:p>
          <a:p>
            <a:pPr marL="514350" indent="-514350">
              <a:buNone/>
            </a:pPr>
            <a:r>
              <a:rPr lang="en-US" altLang="zh-CN" sz="2800" dirty="0">
                <a:sym typeface="Wingdings" pitchFamily="2" charset="2"/>
              </a:rPr>
              <a:t>						 BaSO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altLang="zh-CN" sz="2800" dirty="0">
                <a:sym typeface="Wingdings" pitchFamily="2" charset="2"/>
              </a:rPr>
              <a:t> (s) + 2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O(l)</a:t>
            </a:r>
          </a:p>
          <a:p>
            <a:pPr marL="514350" indent="-514350">
              <a:buNone/>
            </a:pPr>
            <a:endParaRPr lang="en-US" altLang="zh-CN" sz="2800" dirty="0"/>
          </a:p>
          <a:p>
            <a:pPr marL="514350" indent="-514350">
              <a:buNone/>
            </a:pPr>
            <a:r>
              <a:rPr lang="en-US" altLang="zh-CN" sz="2800" dirty="0"/>
              <a:t>5. 	2 Mg + O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Wingdings" pitchFamily="2" charset="2"/>
              </a:rPr>
              <a:t> 2 </a:t>
            </a:r>
            <a:r>
              <a:rPr lang="en-US" altLang="zh-CN" sz="2800" dirty="0" err="1">
                <a:sym typeface="Wingdings" pitchFamily="2" charset="2"/>
              </a:rPr>
              <a:t>MgO</a:t>
            </a:r>
            <a:r>
              <a:rPr lang="en-US" altLang="zh-CN" sz="2800" dirty="0">
                <a:sym typeface="Wingdings" pitchFamily="2" charset="2"/>
              </a:rPr>
              <a:t> 		4 Al +    3 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 2 Al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</a:p>
          <a:p>
            <a:pPr marL="514350" indent="-514350">
              <a:buNone/>
            </a:pPr>
            <a:r>
              <a:rPr lang="en-US" altLang="zh-CN" sz="2800" dirty="0"/>
              <a:t>	2mol     1mol			4mol     3mol</a:t>
            </a:r>
          </a:p>
          <a:p>
            <a:pPr marL="514350" indent="-514350">
              <a:buNone/>
            </a:pPr>
            <a:r>
              <a:rPr lang="en-US" altLang="zh-CN" sz="2800" dirty="0"/>
              <a:t>	1mol     ?				1mol      ?</a:t>
            </a:r>
          </a:p>
          <a:p>
            <a:pPr marL="514350" indent="-514350">
              <a:buNone/>
            </a:pPr>
            <a:r>
              <a:rPr lang="en-US" sz="2800" dirty="0"/>
              <a:t>	4 Na + O</a:t>
            </a:r>
            <a:r>
              <a:rPr lang="en-US" sz="2800" baseline="-25000" dirty="0"/>
              <a:t>2</a:t>
            </a:r>
            <a:r>
              <a:rPr lang="en-US" sz="2800" dirty="0"/>
              <a:t>  </a:t>
            </a:r>
            <a:r>
              <a:rPr lang="en-US" sz="2800" dirty="0">
                <a:sym typeface="Wingdings" pitchFamily="2" charset="2"/>
              </a:rPr>
              <a:t> 2 Na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O		2 H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+   O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 2 H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O</a:t>
            </a: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	4mol    1mol			2mol    1mol</a:t>
            </a: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	1mol     ?				1mol     ?</a:t>
            </a:r>
          </a:p>
          <a:p>
            <a:pPr marL="514350" indent="-514350">
              <a:buNone/>
            </a:pPr>
            <a:r>
              <a:rPr lang="en-US" altLang="zh-CN" sz="2800" dirty="0" err="1">
                <a:solidFill>
                  <a:srgbClr val="7030A0"/>
                </a:solidFill>
                <a:sym typeface="Wingdings" pitchFamily="2" charset="2"/>
              </a:rPr>
              <a:t>Ans</a:t>
            </a:r>
            <a:r>
              <a:rPr lang="en-US" altLang="zh-CN" sz="2800" dirty="0">
                <a:solidFill>
                  <a:srgbClr val="7030A0"/>
                </a:solidFill>
                <a:sym typeface="Wingdings" pitchFamily="2" charset="2"/>
              </a:rPr>
              <a:t>: B</a:t>
            </a: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54912" y="3896380"/>
            <a:ext cx="1199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0.5mol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66621" y="3896380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0.75mol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420380"/>
            <a:ext cx="1382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0.25mol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9712" y="5420380"/>
            <a:ext cx="11993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0.5mol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65532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dirty="0"/>
              <a:t>6. C + O</a:t>
            </a:r>
            <a:r>
              <a:rPr lang="en-US" altLang="zh-CN" baseline="-25000" dirty="0"/>
              <a:t>2</a:t>
            </a:r>
            <a:r>
              <a:rPr lang="en-US" altLang="zh-CN" dirty="0"/>
              <a:t> </a:t>
            </a:r>
            <a:r>
              <a:rPr lang="en-US" altLang="zh-CN" dirty="0">
                <a:sym typeface="Wingdings" pitchFamily="2" charset="2"/>
              </a:rPr>
              <a:t> CO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  </a:t>
            </a:r>
            <a:endParaRPr lang="en-US" altLang="zh-CN" baseline="-25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baseline="-25000" dirty="0">
                <a:sym typeface="Wingdings" pitchFamily="2" charset="2"/>
              </a:rPr>
              <a:t> </a:t>
            </a:r>
            <a:r>
              <a:rPr lang="en-US" altLang="zh-CN" dirty="0">
                <a:sym typeface="Wingdings" pitchFamily="2" charset="2"/>
              </a:rPr>
              <a:t>   12g              44g		(</a:t>
            </a:r>
            <a:r>
              <a:rPr lang="en-US" altLang="zh-CN" dirty="0" err="1">
                <a:solidFill>
                  <a:srgbClr val="7030A0"/>
                </a:solidFill>
                <a:sym typeface="Wingdings" pitchFamily="2" charset="2"/>
              </a:rPr>
              <a:t>Ans:C</a:t>
            </a:r>
            <a:r>
              <a:rPr lang="en-US" altLang="zh-CN" dirty="0">
                <a:sym typeface="Wingdings" pitchFamily="2" charset="2"/>
              </a:rPr>
              <a:t>)</a:t>
            </a: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7.  Cu=64</a:t>
            </a:r>
            <a:r>
              <a:rPr lang="zh-CN" altLang="en-US" dirty="0">
                <a:sym typeface="Wingdings" pitchFamily="2" charset="2"/>
              </a:rPr>
              <a:t>，</a:t>
            </a:r>
            <a:r>
              <a:rPr lang="en-US" altLang="zh-CN" dirty="0">
                <a:sym typeface="Wingdings" pitchFamily="2" charset="2"/>
              </a:rPr>
              <a:t>O=16</a:t>
            </a: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  2Cu   +   O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      2CuO</a:t>
            </a: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   8g			  </a:t>
            </a:r>
            <a:r>
              <a:rPr lang="en-US" altLang="zh-CN" dirty="0" err="1">
                <a:sym typeface="Wingdings" pitchFamily="2" charset="2"/>
              </a:rPr>
              <a:t>xg</a:t>
            </a:r>
            <a:r>
              <a:rPr lang="en-US" altLang="zh-CN" dirty="0">
                <a:sym typeface="Wingdings" pitchFamily="2" charset="2"/>
              </a:rPr>
              <a:t>	</a:t>
            </a: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  2(64)g	      2(64+16)g	(</a:t>
            </a:r>
            <a:r>
              <a:rPr lang="en-US" altLang="zh-CN" dirty="0" err="1">
                <a:solidFill>
                  <a:srgbClr val="7030A0"/>
                </a:solidFill>
                <a:sym typeface="Wingdings" pitchFamily="2" charset="2"/>
              </a:rPr>
              <a:t>Ans:A</a:t>
            </a:r>
            <a:r>
              <a:rPr lang="en-US" altLang="zh-CN" dirty="0">
                <a:sym typeface="Wingdings" pitchFamily="2" charset="2"/>
              </a:rPr>
              <a:t>)</a:t>
            </a: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8. Cu=64 </a:t>
            </a:r>
            <a:r>
              <a:rPr lang="zh-CN" altLang="en-US" dirty="0">
                <a:sym typeface="Wingdings" pitchFamily="2" charset="2"/>
              </a:rPr>
              <a:t>，</a:t>
            </a:r>
            <a:r>
              <a:rPr lang="en-US" altLang="zh-CN" dirty="0">
                <a:sym typeface="Wingdings" pitchFamily="2" charset="2"/>
              </a:rPr>
              <a:t> S=32</a:t>
            </a:r>
            <a:r>
              <a:rPr lang="zh-CN" altLang="en-US" dirty="0">
                <a:sym typeface="Wingdings" pitchFamily="2" charset="2"/>
              </a:rPr>
              <a:t>，</a:t>
            </a:r>
            <a:r>
              <a:rPr lang="en-US" altLang="zh-CN" dirty="0">
                <a:sym typeface="Wingdings" pitchFamily="2" charset="2"/>
              </a:rPr>
              <a:t>O=16</a:t>
            </a: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	CuSO</a:t>
            </a:r>
            <a:r>
              <a:rPr lang="en-US" altLang="zh-CN" baseline="-25000" dirty="0">
                <a:sym typeface="Wingdings" pitchFamily="2" charset="2"/>
              </a:rPr>
              <a:t>4</a:t>
            </a:r>
            <a:r>
              <a:rPr lang="en-US" altLang="zh-CN" dirty="0">
                <a:sym typeface="Wingdings" pitchFamily="2" charset="2"/>
              </a:rPr>
              <a:t>· 5H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O		   	CuSO</a:t>
            </a:r>
            <a:r>
              <a:rPr lang="en-US" altLang="zh-CN" baseline="-25000" dirty="0">
                <a:sym typeface="Wingdings" pitchFamily="2" charset="2"/>
              </a:rPr>
              <a:t>4</a:t>
            </a:r>
            <a:r>
              <a:rPr lang="en-US" altLang="zh-CN" dirty="0">
                <a:sym typeface="Wingdings" pitchFamily="2" charset="2"/>
              </a:rPr>
              <a:t> + 5H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O</a:t>
            </a: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			25g			</a:t>
            </a:r>
            <a:r>
              <a:rPr lang="en-US" altLang="zh-CN" dirty="0" err="1">
                <a:sym typeface="Wingdings" pitchFamily="2" charset="2"/>
              </a:rPr>
              <a:t>xg</a:t>
            </a:r>
            <a:endParaRPr lang="en-US" altLang="zh-CN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(64+32+16x4</a:t>
            </a:r>
            <a:r>
              <a:rPr lang="en-US" altLang="zh-CN" dirty="0">
                <a:solidFill>
                  <a:srgbClr val="7030A0"/>
                </a:solidFill>
                <a:sym typeface="Wingdings" pitchFamily="2" charset="2"/>
              </a:rPr>
              <a:t>+5x18</a:t>
            </a:r>
            <a:r>
              <a:rPr lang="en-US" altLang="zh-CN" dirty="0">
                <a:sym typeface="Wingdings" pitchFamily="2" charset="2"/>
              </a:rPr>
              <a:t>)		64+32+16x4	</a:t>
            </a: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						(</a:t>
            </a:r>
            <a:r>
              <a:rPr lang="en-US" altLang="zh-CN" dirty="0" err="1">
                <a:solidFill>
                  <a:srgbClr val="7030A0"/>
                </a:solidFill>
                <a:sym typeface="Wingdings" pitchFamily="2" charset="2"/>
              </a:rPr>
              <a:t>Ans:C</a:t>
            </a:r>
            <a:r>
              <a:rPr lang="en-US" altLang="zh-CN" dirty="0">
                <a:sym typeface="Wingdings" pitchFamily="2" charset="2"/>
              </a:rPr>
              <a:t>)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rot="5400000">
            <a:off x="153194" y="3124200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rot="5400000">
            <a:off x="4266406" y="3123406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-75406" y="5333206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5400000">
            <a:off x="6934994" y="5333206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17220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 startAt="9"/>
            </a:pPr>
            <a:r>
              <a:rPr lang="en-US" dirty="0"/>
              <a:t> CO</a:t>
            </a:r>
            <a:r>
              <a:rPr lang="en-US" baseline="-25000" dirty="0"/>
              <a:t>2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CO</a:t>
            </a:r>
          </a:p>
          <a:p>
            <a:pPr marL="514350" indent="-514350">
              <a:buNone/>
            </a:pPr>
            <a:r>
              <a:rPr lang="en-US" dirty="0">
                <a:solidFill>
                  <a:srgbClr val="7030A0"/>
                </a:solidFill>
              </a:rPr>
              <a:t>	</a:t>
            </a:r>
            <a:r>
              <a:rPr lang="zh-CN" altLang="en-US" dirty="0"/>
              <a:t>碳质量相同时，氧的质量比</a:t>
            </a:r>
            <a:r>
              <a:rPr lang="en-US" altLang="zh-CN" dirty="0"/>
              <a:t>=2</a:t>
            </a:r>
            <a:r>
              <a:rPr lang="zh-CN" altLang="en-US" dirty="0"/>
              <a:t>：</a:t>
            </a:r>
            <a:r>
              <a:rPr lang="en-US" altLang="zh-CN" dirty="0"/>
              <a:t>1	</a:t>
            </a:r>
            <a:r>
              <a:rPr lang="en-US" altLang="zh-CN" dirty="0">
                <a:sym typeface="Wingdings" pitchFamily="2" charset="2"/>
              </a:rPr>
              <a:t>(</a:t>
            </a:r>
            <a:r>
              <a:rPr lang="en-US" altLang="zh-CN" dirty="0" err="1">
                <a:solidFill>
                  <a:srgbClr val="7030A0"/>
                </a:solidFill>
                <a:sym typeface="Wingdings" pitchFamily="2" charset="2"/>
              </a:rPr>
              <a:t>Ans:B</a:t>
            </a:r>
            <a:r>
              <a:rPr lang="en-US" altLang="zh-CN" dirty="0">
                <a:sym typeface="Wingdings" pitchFamily="2" charset="2"/>
              </a:rPr>
              <a:t>)</a:t>
            </a:r>
          </a:p>
          <a:p>
            <a:pPr marL="514350" indent="-514350">
              <a:buNone/>
            </a:pPr>
            <a:endParaRPr lang="en-US" dirty="0"/>
          </a:p>
          <a:p>
            <a:pPr marL="514350" indent="-514350">
              <a:buNone/>
            </a:pPr>
            <a:r>
              <a:rPr lang="en-US" dirty="0"/>
              <a:t>10. </a:t>
            </a:r>
            <a:r>
              <a:rPr lang="en-US" dirty="0">
                <a:solidFill>
                  <a:srgbClr val="7030A0"/>
                </a:solidFill>
              </a:rPr>
              <a:t>C</a:t>
            </a:r>
            <a:endParaRPr lang="en-US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dirty="0"/>
              <a:t>A CaCO</a:t>
            </a:r>
            <a:r>
              <a:rPr lang="en-US" baseline="-25000" dirty="0"/>
              <a:t>3</a:t>
            </a:r>
            <a:r>
              <a:rPr lang="en-US" dirty="0"/>
              <a:t> </a:t>
            </a:r>
            <a:r>
              <a:rPr lang="zh-CN" altLang="en-US" dirty="0"/>
              <a:t>难溶于水</a:t>
            </a:r>
            <a:endParaRPr lang="en-US" altLang="zh-CN" dirty="0"/>
          </a:p>
          <a:p>
            <a:pPr marL="514350" indent="-514350">
              <a:buNone/>
            </a:pPr>
            <a:r>
              <a:rPr lang="en-US" altLang="zh-CN" dirty="0"/>
              <a:t>CaCO</a:t>
            </a:r>
            <a:r>
              <a:rPr lang="en-US" altLang="zh-CN" baseline="-25000" dirty="0"/>
              <a:t>3</a:t>
            </a:r>
            <a:r>
              <a:rPr lang="en-US" altLang="zh-CN" dirty="0"/>
              <a:t> (s) + 2 H</a:t>
            </a:r>
            <a:r>
              <a:rPr lang="en-US" altLang="zh-CN" baseline="30000" dirty="0"/>
              <a:t>+</a:t>
            </a:r>
            <a:r>
              <a:rPr lang="en-US" altLang="zh-CN" dirty="0"/>
              <a:t> (</a:t>
            </a:r>
            <a:r>
              <a:rPr lang="en-US" altLang="zh-CN" dirty="0" err="1"/>
              <a:t>aq</a:t>
            </a:r>
            <a:r>
              <a:rPr lang="en-US" altLang="zh-CN" dirty="0"/>
              <a:t>) </a:t>
            </a:r>
            <a:r>
              <a:rPr lang="en-US" altLang="zh-CN" dirty="0">
                <a:sym typeface="Wingdings" pitchFamily="2" charset="2"/>
              </a:rPr>
              <a:t> Ca</a:t>
            </a:r>
            <a:r>
              <a:rPr lang="en-US" altLang="zh-CN" baseline="30000" dirty="0">
                <a:sym typeface="Wingdings" pitchFamily="2" charset="2"/>
              </a:rPr>
              <a:t>2+</a:t>
            </a:r>
            <a:r>
              <a:rPr lang="en-US" altLang="zh-CN" dirty="0">
                <a:sym typeface="Wingdings" pitchFamily="2" charset="2"/>
              </a:rPr>
              <a:t>(</a:t>
            </a:r>
            <a:r>
              <a:rPr lang="en-US" altLang="zh-CN" dirty="0" err="1">
                <a:sym typeface="Wingdings" pitchFamily="2" charset="2"/>
              </a:rPr>
              <a:t>aq</a:t>
            </a:r>
            <a:r>
              <a:rPr lang="en-US" altLang="zh-CN" dirty="0">
                <a:sym typeface="Wingdings" pitchFamily="2" charset="2"/>
              </a:rPr>
              <a:t>) + 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O(l) +CO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 (g) </a:t>
            </a:r>
          </a:p>
          <a:p>
            <a:pPr marL="514350" indent="-514350">
              <a:buNone/>
            </a:pPr>
            <a:endParaRPr lang="en-US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dirty="0">
                <a:sym typeface="Wingdings" pitchFamily="2" charset="2"/>
              </a:rPr>
              <a:t>B </a:t>
            </a:r>
            <a:r>
              <a:rPr lang="zh-CN" altLang="en-US" dirty="0">
                <a:sym typeface="Wingdings" pitchFamily="2" charset="2"/>
              </a:rPr>
              <a:t>没配平</a:t>
            </a:r>
            <a:endParaRPr lang="en-US" altLang="zh-CN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dirty="0">
                <a:sym typeface="Wingdings" pitchFamily="2" charset="2"/>
              </a:rPr>
              <a:t>2 Na(s) + 2 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O(l) 2 Na</a:t>
            </a:r>
            <a:r>
              <a:rPr lang="en-US" altLang="zh-CN" baseline="30000" dirty="0">
                <a:sym typeface="Wingdings" pitchFamily="2" charset="2"/>
              </a:rPr>
              <a:t>+ </a:t>
            </a:r>
            <a:r>
              <a:rPr lang="en-US" altLang="zh-CN" dirty="0">
                <a:sym typeface="Wingdings" pitchFamily="2" charset="2"/>
              </a:rPr>
              <a:t>(</a:t>
            </a:r>
            <a:r>
              <a:rPr lang="en-US" altLang="zh-CN" dirty="0" err="1">
                <a:sym typeface="Wingdings" pitchFamily="2" charset="2"/>
              </a:rPr>
              <a:t>aq</a:t>
            </a:r>
            <a:r>
              <a:rPr lang="en-US" altLang="zh-CN" dirty="0">
                <a:sym typeface="Wingdings" pitchFamily="2" charset="2"/>
              </a:rPr>
              <a:t>)+ 2 OH</a:t>
            </a:r>
            <a:r>
              <a:rPr lang="en-US" altLang="zh-CN" baseline="30000" dirty="0">
                <a:sym typeface="Wingdings" pitchFamily="2" charset="2"/>
              </a:rPr>
              <a:t>-</a:t>
            </a:r>
            <a:r>
              <a:rPr lang="en-US" altLang="zh-CN" dirty="0">
                <a:sym typeface="Wingdings" pitchFamily="2" charset="2"/>
              </a:rPr>
              <a:t>(</a:t>
            </a:r>
            <a:r>
              <a:rPr lang="en-US" altLang="zh-CN" dirty="0" err="1">
                <a:sym typeface="Wingdings" pitchFamily="2" charset="2"/>
              </a:rPr>
              <a:t>aq</a:t>
            </a:r>
            <a:r>
              <a:rPr lang="en-US" altLang="zh-CN" dirty="0">
                <a:sym typeface="Wingdings" pitchFamily="2" charset="2"/>
              </a:rPr>
              <a:t>) +H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 (g)</a:t>
            </a:r>
          </a:p>
          <a:p>
            <a:pPr marL="514350" indent="-514350">
              <a:buNone/>
            </a:pPr>
            <a:endParaRPr lang="en-US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dirty="0">
                <a:sym typeface="Wingdings" pitchFamily="2" charset="2"/>
              </a:rPr>
              <a:t>D </a:t>
            </a:r>
            <a:r>
              <a:rPr lang="zh-CN" altLang="en-US" dirty="0">
                <a:sym typeface="Wingdings" pitchFamily="2" charset="2"/>
              </a:rPr>
              <a:t>铁和稀酸反应后生成物为</a:t>
            </a:r>
            <a:r>
              <a:rPr lang="en-US" altLang="zh-CN" dirty="0">
                <a:sym typeface="Wingdings" pitchFamily="2" charset="2"/>
              </a:rPr>
              <a:t>Fe</a:t>
            </a:r>
            <a:r>
              <a:rPr lang="en-US" altLang="zh-CN" baseline="30000" dirty="0">
                <a:sym typeface="Wingdings" pitchFamily="2" charset="2"/>
              </a:rPr>
              <a:t>2+</a:t>
            </a:r>
            <a:r>
              <a:rPr lang="en-US" altLang="zh-CN" dirty="0">
                <a:sym typeface="Wingdings" pitchFamily="2" charset="2"/>
              </a:rPr>
              <a:t> </a:t>
            </a:r>
            <a:r>
              <a:rPr lang="zh-CN" altLang="en-US" dirty="0">
                <a:sym typeface="Wingdings" pitchFamily="2" charset="2"/>
              </a:rPr>
              <a:t>的化合物。</a:t>
            </a:r>
            <a:endParaRPr lang="en-US" altLang="zh-CN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dirty="0">
                <a:sym typeface="Wingdings" pitchFamily="2" charset="2"/>
              </a:rPr>
              <a:t>没配平</a:t>
            </a:r>
            <a:endParaRPr lang="en-US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dirty="0">
                <a:sym typeface="Wingdings" pitchFamily="2" charset="2"/>
              </a:rPr>
              <a:t>Fe</a:t>
            </a:r>
            <a:r>
              <a:rPr lang="en-US" baseline="30000" dirty="0">
                <a:sym typeface="Wingdings" pitchFamily="2" charset="2"/>
              </a:rPr>
              <a:t> </a:t>
            </a:r>
            <a:r>
              <a:rPr lang="en-US" dirty="0">
                <a:sym typeface="Wingdings" pitchFamily="2" charset="2"/>
              </a:rPr>
              <a:t>(s) + 2 H</a:t>
            </a:r>
            <a:r>
              <a:rPr lang="en-US" baseline="30000" dirty="0">
                <a:sym typeface="Wingdings" pitchFamily="2" charset="2"/>
              </a:rPr>
              <a:t>+</a:t>
            </a:r>
            <a:r>
              <a:rPr lang="en-US" dirty="0">
                <a:sym typeface="Wingdings" pitchFamily="2" charset="2"/>
              </a:rPr>
              <a:t> (</a:t>
            </a:r>
            <a:r>
              <a:rPr lang="en-US" dirty="0" err="1">
                <a:sym typeface="Wingdings" pitchFamily="2" charset="2"/>
              </a:rPr>
              <a:t>aq</a:t>
            </a:r>
            <a:r>
              <a:rPr lang="en-US" dirty="0">
                <a:sym typeface="Wingdings" pitchFamily="2" charset="2"/>
              </a:rPr>
              <a:t>)  Fe</a:t>
            </a:r>
            <a:r>
              <a:rPr lang="en-US" baseline="30000" dirty="0">
                <a:sym typeface="Wingdings" pitchFamily="2" charset="2"/>
              </a:rPr>
              <a:t>2+ </a:t>
            </a:r>
            <a:r>
              <a:rPr lang="en-US" dirty="0">
                <a:sym typeface="Wingdings" pitchFamily="2" charset="2"/>
              </a:rPr>
              <a:t> (</a:t>
            </a:r>
            <a:r>
              <a:rPr lang="en-US" dirty="0" err="1">
                <a:sym typeface="Wingdings" pitchFamily="2" charset="2"/>
              </a:rPr>
              <a:t>aq</a:t>
            </a:r>
            <a:r>
              <a:rPr lang="en-US" dirty="0">
                <a:sym typeface="Wingdings" pitchFamily="2" charset="2"/>
              </a:rPr>
              <a:t>) + </a:t>
            </a:r>
            <a:r>
              <a:rPr lang="en-US" altLang="zh-CN" dirty="0">
                <a:sym typeface="Wingdings" pitchFamily="2" charset="2"/>
              </a:rPr>
              <a:t>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 (g)</a:t>
            </a:r>
          </a:p>
          <a:p>
            <a:pPr marL="514350" indent="-51435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458200" cy="5486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000" dirty="0"/>
              <a:t>1.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3000" dirty="0"/>
              <a:t> </a:t>
            </a:r>
            <a:r>
              <a:rPr lang="en-US" altLang="zh-CN" sz="3000" dirty="0">
                <a:sym typeface="Wingdings" pitchFamily="2" charset="2"/>
              </a:rPr>
              <a:t>Al(OH)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 +   </a:t>
            </a:r>
            <a:r>
              <a:rPr lang="en-US" altLang="zh-CN" sz="3000" dirty="0" err="1">
                <a:sym typeface="Wingdings" pitchFamily="2" charset="2"/>
              </a:rPr>
              <a:t>HCl</a:t>
            </a:r>
            <a:r>
              <a:rPr lang="en-US" altLang="zh-CN" sz="3000" dirty="0">
                <a:sym typeface="Wingdings" pitchFamily="2" charset="2"/>
              </a:rPr>
              <a:t>    AlCl</a:t>
            </a:r>
            <a:r>
              <a:rPr lang="en-US" altLang="zh-CN" sz="3000" baseline="-25000" dirty="0">
                <a:sym typeface="Wingdings" pitchFamily="2" charset="2"/>
              </a:rPr>
              <a:t>3 </a:t>
            </a:r>
            <a:r>
              <a:rPr lang="en-US" altLang="zh-CN" sz="3000" dirty="0">
                <a:sym typeface="Wingdings" pitchFamily="2" charset="2"/>
              </a:rPr>
              <a:t> +   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  </a:t>
            </a: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2.  NH</a:t>
            </a:r>
            <a:r>
              <a:rPr lang="en-US" altLang="zh-CN" sz="3000" baseline="-25000" dirty="0">
                <a:sym typeface="Wingdings" pitchFamily="2" charset="2"/>
              </a:rPr>
              <a:t>4</a:t>
            </a:r>
            <a:r>
              <a:rPr lang="en-US" altLang="zh-CN" sz="3000" dirty="0">
                <a:sym typeface="Wingdings" pitchFamily="2" charset="2"/>
              </a:rPr>
              <a:t>HCO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  NH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 +  H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  +  CO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</a:p>
          <a:p>
            <a:pPr marL="514350" indent="-514350">
              <a:buNone/>
            </a:pPr>
            <a:endParaRPr lang="en-US" altLang="zh-CN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sz="3000" dirty="0">
                <a:sym typeface="Wingdings" pitchFamily="2" charset="2"/>
              </a:rPr>
              <a:t>3.	</a:t>
            </a:r>
            <a:r>
              <a:rPr lang="zh-CN" altLang="en-US" sz="3000" dirty="0">
                <a:sym typeface="Wingdings" pitchFamily="2" charset="2"/>
              </a:rPr>
              <a:t>   </a:t>
            </a:r>
            <a:r>
              <a:rPr lang="en-US" altLang="zh-CN" sz="3000" dirty="0">
                <a:sym typeface="Wingdings" pitchFamily="2" charset="2"/>
              </a:rPr>
              <a:t>Al</a:t>
            </a:r>
            <a:r>
              <a:rPr lang="en-US" altLang="zh-CN" sz="3000" baseline="-25000" dirty="0">
                <a:sym typeface="Wingdings" pitchFamily="2" charset="2"/>
              </a:rPr>
              <a:t>  </a:t>
            </a:r>
            <a:r>
              <a:rPr lang="en-US" altLang="zh-CN" sz="3000" dirty="0">
                <a:sym typeface="Wingdings" pitchFamily="2" charset="2"/>
              </a:rPr>
              <a:t> +  Fe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   Al</a:t>
            </a:r>
            <a:r>
              <a:rPr lang="en-US" altLang="zh-CN" sz="3000" baseline="-25000" dirty="0">
                <a:sym typeface="Wingdings" pitchFamily="2" charset="2"/>
              </a:rPr>
              <a:t>2</a:t>
            </a:r>
            <a:r>
              <a:rPr lang="en-US" altLang="zh-CN" sz="3000" dirty="0">
                <a:sym typeface="Wingdings" pitchFamily="2" charset="2"/>
              </a:rPr>
              <a:t>O</a:t>
            </a:r>
            <a:r>
              <a:rPr lang="en-US" altLang="zh-CN" sz="3000" baseline="-25000" dirty="0">
                <a:sym typeface="Wingdings" pitchFamily="2" charset="2"/>
              </a:rPr>
              <a:t>3</a:t>
            </a:r>
            <a:r>
              <a:rPr lang="en-US" altLang="zh-CN" sz="3000" dirty="0">
                <a:sym typeface="Wingdings" pitchFamily="2" charset="2"/>
              </a:rPr>
              <a:t>  +   Fe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67000" y="1447800"/>
            <a:ext cx="457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solidFill>
                  <a:srgbClr val="C00000"/>
                </a:solidFill>
              </a:rPr>
              <a:t>3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58000" y="1447800"/>
            <a:ext cx="2057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rgbClr val="C00000"/>
                </a:solidFill>
              </a:rPr>
              <a:t>中和反应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381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solidFill>
                  <a:srgbClr val="C00000"/>
                </a:solidFill>
              </a:rPr>
              <a:t>2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34200" y="2570202"/>
            <a:ext cx="2133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rgbClr val="C00000"/>
                </a:solidFill>
              </a:rPr>
              <a:t>分解反应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76800" y="3657600"/>
            <a:ext cx="30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4200" y="3713202"/>
            <a:ext cx="1981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dirty="0">
                <a:solidFill>
                  <a:srgbClr val="C00000"/>
                </a:solidFill>
              </a:rPr>
              <a:t>置换反应</a:t>
            </a:r>
            <a:endParaRPr lang="en-US" sz="3000" dirty="0">
              <a:solidFill>
                <a:srgbClr val="C00000"/>
              </a:solidFill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228600" y="228600"/>
            <a:ext cx="8915400" cy="838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作答题 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lang="en-MY" altLang="zh-CN" sz="4400" dirty="0">
                <a:latin typeface="+mj-lt"/>
                <a:ea typeface="+mj-ea"/>
                <a:cs typeface="+mj-cs"/>
              </a:rPr>
              <a:t>(2,3)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、</a:t>
            </a:r>
            <a:r>
              <a:rPr lang="en-MY" altLang="zh-CN" sz="4400" dirty="0">
                <a:latin typeface="+mj-lt"/>
                <a:ea typeface="+mj-ea"/>
                <a:cs typeface="+mj-cs"/>
              </a:rPr>
              <a:t>3(3,4)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、</a:t>
            </a:r>
            <a:r>
              <a:rPr lang="en-MY" altLang="zh-CN" sz="4400" dirty="0">
                <a:latin typeface="+mj-lt"/>
                <a:ea typeface="+mj-ea"/>
                <a:cs typeface="+mj-cs"/>
              </a:rPr>
              <a:t>4(2,4)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、</a:t>
            </a:r>
            <a:r>
              <a:rPr lang="en-US" altLang="zh-CN" sz="4400" dirty="0">
                <a:latin typeface="+mj-lt"/>
                <a:ea typeface="+mj-ea"/>
                <a:cs typeface="+mj-cs"/>
              </a:rPr>
              <a:t>7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、</a:t>
            </a:r>
            <a:r>
              <a:rPr lang="en-US" altLang="zh-CN" sz="4400" dirty="0">
                <a:latin typeface="+mj-lt"/>
                <a:ea typeface="+mj-ea"/>
                <a:cs typeface="+mj-cs"/>
              </a:rPr>
              <a:t>8</a:t>
            </a:r>
            <a:r>
              <a:rPr lang="zh-CN" altLang="en-US" sz="4400" dirty="0">
                <a:latin typeface="+mj-lt"/>
                <a:ea typeface="+mj-ea"/>
                <a:cs typeface="+mj-cs"/>
              </a:rPr>
              <a:t>、</a:t>
            </a:r>
            <a:r>
              <a:rPr lang="en-US" altLang="zh-CN" sz="4400" dirty="0">
                <a:latin typeface="+mj-lt"/>
                <a:ea typeface="+mj-ea"/>
                <a:cs typeface="+mj-cs"/>
              </a:rPr>
              <a:t>9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181600" y="1447800"/>
            <a:ext cx="4572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" dirty="0">
                <a:solidFill>
                  <a:srgbClr val="C00000"/>
                </a:solidFill>
              </a:rPr>
              <a:t>3</a:t>
            </a:r>
            <a:endParaRPr lang="en-US" sz="3000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/>
      <p:bldP spid="14" grpId="0"/>
      <p:bldP spid="15" grpId="0"/>
      <p:bldP spid="16" grpId="0"/>
      <p:bldP spid="17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24383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dirty="0"/>
              <a:t>2(1)</a:t>
            </a:r>
            <a:r>
              <a:rPr lang="en-US" dirty="0">
                <a:sym typeface="Wingdings" pitchFamily="2" charset="2"/>
              </a:rPr>
              <a:t>      H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+   O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     H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O</a:t>
            </a:r>
          </a:p>
          <a:p>
            <a:pPr marL="514350" indent="-514350">
              <a:buAutoNum type="arabicParenBoth" startAt="2"/>
            </a:pPr>
            <a:r>
              <a:rPr lang="en-US" dirty="0">
                <a:sym typeface="Wingdings" pitchFamily="2" charset="2"/>
              </a:rPr>
              <a:t>       </a:t>
            </a:r>
            <a:r>
              <a:rPr lang="en-US" dirty="0" err="1">
                <a:sym typeface="Wingdings" pitchFamily="2" charset="2"/>
              </a:rPr>
              <a:t>NaBr</a:t>
            </a:r>
            <a:r>
              <a:rPr lang="en-US" dirty="0">
                <a:sym typeface="Wingdings" pitchFamily="2" charset="2"/>
              </a:rPr>
              <a:t> + Cl</a:t>
            </a:r>
            <a:r>
              <a:rPr lang="en-US" baseline="-25000" dirty="0">
                <a:sym typeface="Wingdings" pitchFamily="2" charset="2"/>
              </a:rPr>
              <a:t>2 </a:t>
            </a:r>
            <a:r>
              <a:rPr lang="en-US" dirty="0">
                <a:sym typeface="Wingdings" pitchFamily="2" charset="2"/>
              </a:rPr>
              <a:t>     NaCl  +  Br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 </a:t>
            </a:r>
          </a:p>
          <a:p>
            <a:pPr marL="514350" indent="-514350">
              <a:buAutoNum type="arabicParenBoth" startAt="2"/>
            </a:pPr>
            <a:r>
              <a:rPr lang="en-US" dirty="0">
                <a:sym typeface="Wingdings" pitchFamily="2" charset="2"/>
              </a:rPr>
              <a:t>   Fe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O</a:t>
            </a:r>
            <a:r>
              <a:rPr lang="en-US" baseline="-25000" dirty="0">
                <a:sym typeface="Wingdings" pitchFamily="2" charset="2"/>
              </a:rPr>
              <a:t>3</a:t>
            </a:r>
            <a:r>
              <a:rPr lang="en-US" dirty="0">
                <a:sym typeface="Wingdings" pitchFamily="2" charset="2"/>
              </a:rPr>
              <a:t> +   HCl      FeCl</a:t>
            </a:r>
            <a:r>
              <a:rPr lang="en-US" baseline="-25000" dirty="0">
                <a:sym typeface="Wingdings" pitchFamily="2" charset="2"/>
              </a:rPr>
              <a:t>3 </a:t>
            </a:r>
            <a:r>
              <a:rPr lang="en-US" dirty="0">
                <a:sym typeface="Wingdings" pitchFamily="2" charset="2"/>
              </a:rPr>
              <a:t>  +     H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O</a:t>
            </a:r>
          </a:p>
          <a:p>
            <a:pPr marL="514350" indent="-514350">
              <a:buAutoNum type="arabicParenBoth" startAt="2"/>
            </a:pPr>
            <a:r>
              <a:rPr lang="en-US" dirty="0">
                <a:sym typeface="Wingdings" pitchFamily="2" charset="2"/>
              </a:rPr>
              <a:t>  Cl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+   H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O  HCl  + </a:t>
            </a:r>
            <a:r>
              <a:rPr lang="en-US" dirty="0" err="1">
                <a:sym typeface="Wingdings" pitchFamily="2" charset="2"/>
              </a:rPr>
              <a:t>HClO</a:t>
            </a:r>
            <a:endParaRPr lang="en-US" dirty="0">
              <a:sym typeface="Wingdings" pitchFamily="2" charset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71192" y="9245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5192" y="91440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99792" y="15341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5192" y="15341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99792" y="21437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51992" y="2143780"/>
            <a:ext cx="36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28592" y="21437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57200" y="3505200"/>
            <a:ext cx="8229600" cy="2743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/>
              <a:t>3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(1) Zn  + S          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ZnS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>
                <a:sym typeface="Wingdings" pitchFamily="2" charset="2"/>
              </a:rPr>
              <a:t>(2)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CaO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 + H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O  Ca(OH)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>
                <a:sym typeface="Wingdings" pitchFamily="2" charset="2"/>
              </a:rPr>
              <a:t>(3)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2 KClO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3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  	      2KCl  +  3O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3200" dirty="0">
                <a:sym typeface="Wingdings" pitchFamily="2" charset="2"/>
              </a:rPr>
              <a:t>(4)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2 AgNO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3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+ ZnCl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  Zn(NO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3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)</a:t>
            </a:r>
            <a:r>
              <a:rPr kumimoji="0" lang="en-US" sz="3200" b="0" i="0" u="none" strike="noStrike" kern="1200" cap="none" spc="0" normalizeH="0" baseline="-25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2   </a:t>
            </a:r>
            <a:r>
              <a:rPr lang="en-US" sz="3200" dirty="0">
                <a:sym typeface="Wingdings" pitchFamily="2" charset="2"/>
              </a:rPr>
              <a:t>+ 2AgCl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590800" y="4648200"/>
            <a:ext cx="1143000" cy="609600"/>
            <a:chOff x="2590800" y="2743200"/>
            <a:chExt cx="1143000" cy="609600"/>
          </a:xfrm>
        </p:grpSpPr>
        <p:cxnSp>
          <p:nvCxnSpPr>
            <p:cNvPr id="13" name="Straight Arrow Connector 12"/>
            <p:cNvCxnSpPr/>
            <p:nvPr/>
          </p:nvCxnSpPr>
          <p:spPr>
            <a:xfrm>
              <a:off x="2590800" y="3122612"/>
              <a:ext cx="11430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Isosceles Triangle 13"/>
            <p:cNvSpPr/>
            <p:nvPr/>
          </p:nvSpPr>
          <p:spPr>
            <a:xfrm>
              <a:off x="2895600" y="3200400"/>
              <a:ext cx="228600" cy="152400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667000" y="2743200"/>
              <a:ext cx="91723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MnO</a:t>
              </a:r>
              <a:r>
                <a:rPr lang="en-US" sz="2400" baseline="-25000" dirty="0"/>
                <a:t>2</a:t>
              </a:r>
              <a:endParaRPr lang="en-US" sz="24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2514600" y="3581392"/>
            <a:ext cx="838200" cy="229125"/>
            <a:chOff x="2590800" y="2952059"/>
            <a:chExt cx="1143000" cy="172141"/>
          </a:xfrm>
        </p:grpSpPr>
        <p:cxnSp>
          <p:nvCxnSpPr>
            <p:cNvPr id="18" name="Straight Arrow Connector 17"/>
            <p:cNvCxnSpPr/>
            <p:nvPr/>
          </p:nvCxnSpPr>
          <p:spPr>
            <a:xfrm>
              <a:off x="2590800" y="3122612"/>
              <a:ext cx="1143000" cy="158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Isosceles Triangle 18"/>
            <p:cNvSpPr/>
            <p:nvPr/>
          </p:nvSpPr>
          <p:spPr>
            <a:xfrm>
              <a:off x="3006436" y="2952059"/>
              <a:ext cx="228600" cy="152400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686800" cy="6172200"/>
          </a:xfrm>
        </p:spPr>
        <p:txBody>
          <a:bodyPr>
            <a:normAutofit lnSpcReduction="10000"/>
          </a:bodyPr>
          <a:lstStyle/>
          <a:p>
            <a:pPr marL="514350" indent="-514350">
              <a:buNone/>
            </a:pPr>
            <a:r>
              <a:rPr lang="en-US" dirty="0"/>
              <a:t>4. </a:t>
            </a:r>
          </a:p>
          <a:p>
            <a:pPr marL="514350" indent="-514350">
              <a:buNone/>
            </a:pPr>
            <a:r>
              <a:rPr lang="en-US" dirty="0"/>
              <a:t>1) 2 Cl</a:t>
            </a:r>
            <a:r>
              <a:rPr lang="en-US" baseline="-25000" dirty="0"/>
              <a:t>2</a:t>
            </a:r>
            <a:r>
              <a:rPr lang="en-US" dirty="0"/>
              <a:t> + 2 Ca(OH)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 Ca(</a:t>
            </a:r>
            <a:r>
              <a:rPr lang="en-US" dirty="0" err="1">
                <a:sym typeface="Wingdings" pitchFamily="2" charset="2"/>
              </a:rPr>
              <a:t>ClO</a:t>
            </a:r>
            <a:r>
              <a:rPr lang="en-US" dirty="0">
                <a:sym typeface="Wingdings" pitchFamily="2" charset="2"/>
              </a:rPr>
              <a:t>)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+ CaCl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+ 2 H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O</a:t>
            </a:r>
          </a:p>
          <a:p>
            <a:pPr marL="514350" indent="-514350">
              <a:buNone/>
            </a:pPr>
            <a:r>
              <a:rPr lang="en-US" dirty="0">
                <a:solidFill>
                  <a:srgbClr val="7030A0"/>
                </a:solidFill>
              </a:rPr>
              <a:t>2 Cl</a:t>
            </a:r>
            <a:r>
              <a:rPr lang="en-US" baseline="-25000" dirty="0">
                <a:solidFill>
                  <a:srgbClr val="7030A0"/>
                </a:solidFill>
              </a:rPr>
              <a:t>2</a:t>
            </a:r>
            <a:r>
              <a:rPr lang="en-US" dirty="0">
                <a:solidFill>
                  <a:srgbClr val="7030A0"/>
                </a:solidFill>
              </a:rPr>
              <a:t> (g) + 2 Ca</a:t>
            </a:r>
            <a:r>
              <a:rPr lang="en-US" baseline="30000" dirty="0">
                <a:solidFill>
                  <a:srgbClr val="7030A0"/>
                </a:solidFill>
              </a:rPr>
              <a:t>2</a:t>
            </a:r>
            <a:r>
              <a:rPr lang="en-US" altLang="zh-CN" baseline="30000" dirty="0">
                <a:solidFill>
                  <a:srgbClr val="7030A0"/>
                </a:solidFill>
              </a:rPr>
              <a:t>+ </a:t>
            </a:r>
            <a:r>
              <a:rPr lang="en-US" altLang="zh-CN" dirty="0">
                <a:solidFill>
                  <a:srgbClr val="7030A0"/>
                </a:solidFill>
              </a:rPr>
              <a:t> (</a:t>
            </a:r>
            <a:r>
              <a:rPr lang="en-US" altLang="zh-CN" dirty="0" err="1">
                <a:solidFill>
                  <a:srgbClr val="7030A0"/>
                </a:solidFill>
              </a:rPr>
              <a:t>aq</a:t>
            </a:r>
            <a:r>
              <a:rPr lang="en-US" altLang="zh-CN" dirty="0">
                <a:solidFill>
                  <a:srgbClr val="7030A0"/>
                </a:solidFill>
              </a:rPr>
              <a:t>)</a:t>
            </a:r>
            <a:r>
              <a:rPr lang="en-US" dirty="0">
                <a:solidFill>
                  <a:srgbClr val="7030A0"/>
                </a:solidFill>
              </a:rPr>
              <a:t> + 4 OH</a:t>
            </a:r>
            <a:r>
              <a:rPr lang="en-US" baseline="30000" dirty="0">
                <a:solidFill>
                  <a:srgbClr val="7030A0"/>
                </a:solidFill>
              </a:rPr>
              <a:t>-</a:t>
            </a:r>
            <a:r>
              <a:rPr lang="en-US" dirty="0">
                <a:solidFill>
                  <a:srgbClr val="7030A0"/>
                </a:solidFill>
              </a:rPr>
              <a:t> (</a:t>
            </a:r>
            <a:r>
              <a:rPr lang="en-US" dirty="0" err="1">
                <a:solidFill>
                  <a:srgbClr val="7030A0"/>
                </a:solidFill>
              </a:rPr>
              <a:t>aq</a:t>
            </a:r>
            <a:r>
              <a:rPr lang="en-US" dirty="0">
                <a:solidFill>
                  <a:srgbClr val="7030A0"/>
                </a:solidFill>
              </a:rPr>
              <a:t>) </a:t>
            </a:r>
            <a:r>
              <a:rPr lang="en-US" dirty="0">
                <a:solidFill>
                  <a:srgbClr val="7030A0"/>
                </a:solidFill>
                <a:sym typeface="Wingdings" pitchFamily="2" charset="2"/>
              </a:rPr>
              <a:t> </a:t>
            </a:r>
          </a:p>
          <a:p>
            <a:pPr marL="514350" indent="-514350">
              <a:buNone/>
            </a:pPr>
            <a:r>
              <a:rPr lang="en-US" dirty="0">
                <a:solidFill>
                  <a:srgbClr val="7030A0"/>
                </a:solidFill>
                <a:sym typeface="Wingdings" pitchFamily="2" charset="2"/>
              </a:rPr>
              <a:t>	Ca</a:t>
            </a:r>
            <a:r>
              <a:rPr lang="en-US" baseline="30000" dirty="0">
                <a:solidFill>
                  <a:srgbClr val="7030A0"/>
                </a:solidFill>
                <a:sym typeface="Wingdings" pitchFamily="2" charset="2"/>
              </a:rPr>
              <a:t>2+</a:t>
            </a:r>
            <a:r>
              <a:rPr lang="en-US" dirty="0">
                <a:solidFill>
                  <a:srgbClr val="7030A0"/>
                </a:solidFill>
                <a:sym typeface="Wingdings" pitchFamily="2" charset="2"/>
              </a:rPr>
              <a:t>(</a:t>
            </a:r>
            <a:r>
              <a:rPr lang="en-US" dirty="0" err="1">
                <a:solidFill>
                  <a:srgbClr val="7030A0"/>
                </a:solidFill>
                <a:sym typeface="Wingdings" pitchFamily="2" charset="2"/>
              </a:rPr>
              <a:t>aq</a:t>
            </a:r>
            <a:r>
              <a:rPr lang="en-US" dirty="0">
                <a:solidFill>
                  <a:srgbClr val="7030A0"/>
                </a:solidFill>
                <a:sym typeface="Wingdings" pitchFamily="2" charset="2"/>
              </a:rPr>
              <a:t>)+ 2 </a:t>
            </a:r>
            <a:r>
              <a:rPr lang="en-US" dirty="0" err="1">
                <a:solidFill>
                  <a:srgbClr val="7030A0"/>
                </a:solidFill>
                <a:sym typeface="Wingdings" pitchFamily="2" charset="2"/>
              </a:rPr>
              <a:t>ClO</a:t>
            </a:r>
            <a:r>
              <a:rPr lang="en-US" baseline="30000" dirty="0">
                <a:solidFill>
                  <a:srgbClr val="7030A0"/>
                </a:solidFill>
                <a:sym typeface="Wingdings" pitchFamily="2" charset="2"/>
              </a:rPr>
              <a:t>-</a:t>
            </a:r>
            <a:r>
              <a:rPr lang="en-US" dirty="0">
                <a:solidFill>
                  <a:srgbClr val="7030A0"/>
                </a:solidFill>
                <a:sym typeface="Wingdings" pitchFamily="2" charset="2"/>
              </a:rPr>
              <a:t>(</a:t>
            </a:r>
            <a:r>
              <a:rPr lang="en-US" dirty="0" err="1">
                <a:solidFill>
                  <a:srgbClr val="7030A0"/>
                </a:solidFill>
                <a:sym typeface="Wingdings" pitchFamily="2" charset="2"/>
              </a:rPr>
              <a:t>aq</a:t>
            </a:r>
            <a:r>
              <a:rPr lang="en-US" dirty="0">
                <a:solidFill>
                  <a:srgbClr val="7030A0"/>
                </a:solidFill>
                <a:sym typeface="Wingdings" pitchFamily="2" charset="2"/>
              </a:rPr>
              <a:t>)+ Ca</a:t>
            </a:r>
            <a:r>
              <a:rPr lang="en-US" baseline="30000" dirty="0">
                <a:solidFill>
                  <a:srgbClr val="7030A0"/>
                </a:solidFill>
                <a:sym typeface="Wingdings" pitchFamily="2" charset="2"/>
              </a:rPr>
              <a:t>2+</a:t>
            </a:r>
            <a:r>
              <a:rPr lang="en-US" dirty="0">
                <a:solidFill>
                  <a:srgbClr val="7030A0"/>
                </a:solidFill>
                <a:sym typeface="Wingdings" pitchFamily="2" charset="2"/>
              </a:rPr>
              <a:t>(</a:t>
            </a:r>
            <a:r>
              <a:rPr lang="en-US" dirty="0" err="1">
                <a:solidFill>
                  <a:srgbClr val="7030A0"/>
                </a:solidFill>
                <a:sym typeface="Wingdings" pitchFamily="2" charset="2"/>
              </a:rPr>
              <a:t>aq</a:t>
            </a:r>
            <a:r>
              <a:rPr lang="en-US" dirty="0">
                <a:solidFill>
                  <a:srgbClr val="7030A0"/>
                </a:solidFill>
                <a:sym typeface="Wingdings" pitchFamily="2" charset="2"/>
              </a:rPr>
              <a:t>)+ 2Cl</a:t>
            </a:r>
            <a:r>
              <a:rPr lang="en-US" baseline="30000" dirty="0">
                <a:solidFill>
                  <a:srgbClr val="7030A0"/>
                </a:solidFill>
                <a:sym typeface="Wingdings" pitchFamily="2" charset="2"/>
              </a:rPr>
              <a:t>-</a:t>
            </a:r>
            <a:r>
              <a:rPr lang="en-US" dirty="0">
                <a:solidFill>
                  <a:srgbClr val="7030A0"/>
                </a:solidFill>
                <a:sym typeface="Wingdings" pitchFamily="2" charset="2"/>
              </a:rPr>
              <a:t>(</a:t>
            </a:r>
            <a:r>
              <a:rPr lang="en-US" dirty="0" err="1">
                <a:solidFill>
                  <a:srgbClr val="7030A0"/>
                </a:solidFill>
                <a:sym typeface="Wingdings" pitchFamily="2" charset="2"/>
              </a:rPr>
              <a:t>aq</a:t>
            </a:r>
            <a:r>
              <a:rPr lang="en-US" dirty="0">
                <a:solidFill>
                  <a:srgbClr val="7030A0"/>
                </a:solidFill>
                <a:sym typeface="Wingdings" pitchFamily="2" charset="2"/>
              </a:rPr>
              <a:t>)+ 2H</a:t>
            </a:r>
            <a:r>
              <a:rPr lang="en-US" baseline="-25000" dirty="0">
                <a:solidFill>
                  <a:srgbClr val="7030A0"/>
                </a:solidFill>
                <a:sym typeface="Wingdings" pitchFamily="2" charset="2"/>
              </a:rPr>
              <a:t>2</a:t>
            </a:r>
            <a:r>
              <a:rPr lang="en-US" dirty="0">
                <a:solidFill>
                  <a:srgbClr val="7030A0"/>
                </a:solidFill>
                <a:sym typeface="Wingdings" pitchFamily="2" charset="2"/>
              </a:rPr>
              <a:t>O(l)</a:t>
            </a:r>
          </a:p>
          <a:p>
            <a:pPr marL="514350" indent="-514350">
              <a:buNone/>
            </a:pPr>
            <a:r>
              <a:rPr lang="en-US" b="1" dirty="0">
                <a:solidFill>
                  <a:srgbClr val="002060"/>
                </a:solidFill>
              </a:rPr>
              <a:t> Cl</a:t>
            </a:r>
            <a:r>
              <a:rPr lang="en-US" b="1" baseline="-25000" dirty="0">
                <a:solidFill>
                  <a:srgbClr val="002060"/>
                </a:solidFill>
              </a:rPr>
              <a:t>2</a:t>
            </a:r>
            <a:r>
              <a:rPr lang="en-US" b="1" dirty="0">
                <a:solidFill>
                  <a:srgbClr val="002060"/>
                </a:solidFill>
              </a:rPr>
              <a:t> (g) +  2 OH</a:t>
            </a:r>
            <a:r>
              <a:rPr lang="en-US" b="1" baseline="30000" dirty="0">
                <a:solidFill>
                  <a:srgbClr val="002060"/>
                </a:solidFill>
              </a:rPr>
              <a:t>-</a:t>
            </a:r>
            <a:r>
              <a:rPr lang="en-US" b="1" dirty="0">
                <a:solidFill>
                  <a:srgbClr val="002060"/>
                </a:solidFill>
              </a:rPr>
              <a:t> (</a:t>
            </a:r>
            <a:r>
              <a:rPr lang="en-US" b="1" dirty="0" err="1">
                <a:solidFill>
                  <a:srgbClr val="002060"/>
                </a:solidFill>
              </a:rPr>
              <a:t>aq</a:t>
            </a:r>
            <a:r>
              <a:rPr lang="en-US" b="1" dirty="0">
                <a:solidFill>
                  <a:srgbClr val="002060"/>
                </a:solidFill>
              </a:rPr>
              <a:t>) </a:t>
            </a:r>
            <a:r>
              <a:rPr lang="en-US" b="1" dirty="0">
                <a:solidFill>
                  <a:srgbClr val="002060"/>
                </a:solidFill>
                <a:sym typeface="Wingdings" pitchFamily="2" charset="2"/>
              </a:rPr>
              <a:t> </a:t>
            </a:r>
            <a:r>
              <a:rPr lang="en-US" b="1" dirty="0" err="1">
                <a:solidFill>
                  <a:srgbClr val="002060"/>
                </a:solidFill>
                <a:sym typeface="Wingdings" pitchFamily="2" charset="2"/>
              </a:rPr>
              <a:t>ClO</a:t>
            </a:r>
            <a:r>
              <a:rPr lang="en-US" b="1" baseline="30000" dirty="0">
                <a:solidFill>
                  <a:srgbClr val="002060"/>
                </a:solidFill>
                <a:sym typeface="Wingdings" pitchFamily="2" charset="2"/>
              </a:rPr>
              <a:t>-</a:t>
            </a:r>
            <a:r>
              <a:rPr lang="en-US" b="1" dirty="0">
                <a:solidFill>
                  <a:srgbClr val="002060"/>
                </a:solidFill>
                <a:sym typeface="Wingdings" pitchFamily="2" charset="2"/>
              </a:rPr>
              <a:t>(</a:t>
            </a:r>
            <a:r>
              <a:rPr lang="en-US" b="1" dirty="0" err="1">
                <a:solidFill>
                  <a:srgbClr val="002060"/>
                </a:solidFill>
                <a:sym typeface="Wingdings" pitchFamily="2" charset="2"/>
              </a:rPr>
              <a:t>aq</a:t>
            </a:r>
            <a:r>
              <a:rPr lang="en-US" b="1" dirty="0">
                <a:solidFill>
                  <a:srgbClr val="002060"/>
                </a:solidFill>
                <a:sym typeface="Wingdings" pitchFamily="2" charset="2"/>
              </a:rPr>
              <a:t>)+ </a:t>
            </a:r>
            <a:r>
              <a:rPr lang="en-US" b="1" dirty="0" err="1">
                <a:solidFill>
                  <a:srgbClr val="002060"/>
                </a:solidFill>
                <a:sym typeface="Wingdings" pitchFamily="2" charset="2"/>
              </a:rPr>
              <a:t>Cl</a:t>
            </a:r>
            <a:r>
              <a:rPr lang="en-US" b="1" baseline="30000" dirty="0">
                <a:solidFill>
                  <a:srgbClr val="002060"/>
                </a:solidFill>
                <a:sym typeface="Wingdings" pitchFamily="2" charset="2"/>
              </a:rPr>
              <a:t>-</a:t>
            </a:r>
            <a:r>
              <a:rPr lang="en-US" b="1" dirty="0">
                <a:solidFill>
                  <a:srgbClr val="002060"/>
                </a:solidFill>
                <a:sym typeface="Wingdings" pitchFamily="2" charset="2"/>
              </a:rPr>
              <a:t>(</a:t>
            </a:r>
            <a:r>
              <a:rPr lang="en-US" b="1" dirty="0" err="1">
                <a:solidFill>
                  <a:srgbClr val="002060"/>
                </a:solidFill>
                <a:sym typeface="Wingdings" pitchFamily="2" charset="2"/>
              </a:rPr>
              <a:t>aq</a:t>
            </a:r>
            <a:r>
              <a:rPr lang="en-US" b="1" dirty="0">
                <a:solidFill>
                  <a:srgbClr val="002060"/>
                </a:solidFill>
                <a:sym typeface="Wingdings" pitchFamily="2" charset="2"/>
              </a:rPr>
              <a:t>)+ H</a:t>
            </a:r>
            <a:r>
              <a:rPr lang="en-US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b="1" dirty="0">
                <a:solidFill>
                  <a:srgbClr val="002060"/>
                </a:solidFill>
                <a:sym typeface="Wingdings" pitchFamily="2" charset="2"/>
              </a:rPr>
              <a:t>O(l)</a:t>
            </a:r>
          </a:p>
          <a:p>
            <a:pPr marL="514350" indent="-514350">
              <a:buNone/>
            </a:pPr>
            <a:endParaRPr lang="en-US" altLang="zh-CN" dirty="0"/>
          </a:p>
          <a:p>
            <a:pPr marL="514350" indent="-514350">
              <a:buNone/>
            </a:pPr>
            <a:r>
              <a:rPr lang="en-US" altLang="zh-CN" dirty="0"/>
              <a:t>2) CaCO</a:t>
            </a:r>
            <a:r>
              <a:rPr lang="en-US" altLang="zh-CN" baseline="-25000" dirty="0"/>
              <a:t>3</a:t>
            </a:r>
            <a:r>
              <a:rPr lang="en-US" altLang="zh-CN" dirty="0"/>
              <a:t>  + 2 HCl </a:t>
            </a:r>
            <a:r>
              <a:rPr lang="en-US" altLang="zh-CN" dirty="0">
                <a:sym typeface="Wingdings" pitchFamily="2" charset="2"/>
              </a:rPr>
              <a:t> CaCl</a:t>
            </a:r>
            <a:r>
              <a:rPr lang="en-US" altLang="zh-CN" baseline="-25000" dirty="0">
                <a:sym typeface="Wingdings" pitchFamily="2" charset="2"/>
              </a:rPr>
              <a:t>2  </a:t>
            </a:r>
            <a:r>
              <a:rPr lang="en-US" altLang="zh-CN" dirty="0">
                <a:sym typeface="Wingdings" pitchFamily="2" charset="2"/>
              </a:rPr>
              <a:t>+  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O + CO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 </a:t>
            </a:r>
            <a:endParaRPr lang="en-US" altLang="zh-CN" dirty="0"/>
          </a:p>
          <a:p>
            <a:pPr marL="514350" indent="-514350">
              <a:buNone/>
            </a:pPr>
            <a:r>
              <a:rPr lang="en-US" altLang="zh-CN" b="1" dirty="0">
                <a:solidFill>
                  <a:srgbClr val="002060"/>
                </a:solidFill>
              </a:rPr>
              <a:t>CaCO</a:t>
            </a:r>
            <a:r>
              <a:rPr lang="en-US" altLang="zh-CN" b="1" baseline="-25000" dirty="0">
                <a:solidFill>
                  <a:srgbClr val="002060"/>
                </a:solidFill>
              </a:rPr>
              <a:t>3</a:t>
            </a:r>
            <a:r>
              <a:rPr lang="en-US" altLang="zh-CN" b="1" dirty="0">
                <a:solidFill>
                  <a:srgbClr val="002060"/>
                </a:solidFill>
              </a:rPr>
              <a:t> (s) + 2 H</a:t>
            </a:r>
            <a:r>
              <a:rPr lang="en-US" altLang="zh-CN" b="1" baseline="30000" dirty="0">
                <a:solidFill>
                  <a:srgbClr val="002060"/>
                </a:solidFill>
              </a:rPr>
              <a:t>+</a:t>
            </a:r>
            <a:r>
              <a:rPr lang="en-US" altLang="zh-CN" b="1" dirty="0">
                <a:solidFill>
                  <a:srgbClr val="002060"/>
                </a:solidFill>
              </a:rPr>
              <a:t> (</a:t>
            </a:r>
            <a:r>
              <a:rPr lang="en-US" altLang="zh-CN" b="1" dirty="0" err="1">
                <a:solidFill>
                  <a:srgbClr val="002060"/>
                </a:solidFill>
              </a:rPr>
              <a:t>aq</a:t>
            </a:r>
            <a:r>
              <a:rPr lang="en-US" altLang="zh-CN" b="1" dirty="0">
                <a:solidFill>
                  <a:srgbClr val="002060"/>
                </a:solidFill>
              </a:rPr>
              <a:t>) 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 Ca</a:t>
            </a:r>
            <a:r>
              <a:rPr lang="en-US" altLang="zh-CN" b="1" baseline="30000" dirty="0">
                <a:solidFill>
                  <a:srgbClr val="002060"/>
                </a:solidFill>
                <a:sym typeface="Wingdings" pitchFamily="2" charset="2"/>
              </a:rPr>
              <a:t>2+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(</a:t>
            </a:r>
            <a:r>
              <a:rPr lang="en-US" altLang="zh-CN" b="1" dirty="0" err="1">
                <a:solidFill>
                  <a:srgbClr val="002060"/>
                </a:solidFill>
                <a:sym typeface="Wingdings" pitchFamily="2" charset="2"/>
              </a:rPr>
              <a:t>aq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) + H</a:t>
            </a:r>
            <a:r>
              <a:rPr lang="en-US" altLang="zh-CN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O(l) +CO</a:t>
            </a:r>
            <a:r>
              <a:rPr lang="en-US" altLang="zh-CN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 (g) </a:t>
            </a:r>
          </a:p>
          <a:p>
            <a:pPr marL="514350" indent="-514350">
              <a:buNone/>
            </a:pPr>
            <a:endParaRPr lang="en-US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dirty="0">
                <a:sym typeface="Wingdings" pitchFamily="2" charset="2"/>
              </a:rPr>
              <a:t>3) MgCl</a:t>
            </a:r>
            <a:r>
              <a:rPr lang="en-US" baseline="-25000" dirty="0">
                <a:sym typeface="Wingdings" pitchFamily="2" charset="2"/>
              </a:rPr>
              <a:t>2</a:t>
            </a:r>
            <a:r>
              <a:rPr lang="en-US" dirty="0">
                <a:sym typeface="Wingdings" pitchFamily="2" charset="2"/>
              </a:rPr>
              <a:t> +</a:t>
            </a:r>
            <a:r>
              <a:rPr lang="en-US" dirty="0"/>
              <a:t> Ca(OH)</a:t>
            </a:r>
            <a:r>
              <a:rPr lang="en-US" baseline="-25000" dirty="0"/>
              <a:t>2</a:t>
            </a:r>
            <a:r>
              <a:rPr lang="en-US" dirty="0">
                <a:sym typeface="Wingdings" pitchFamily="2" charset="2"/>
              </a:rPr>
              <a:t>   </a:t>
            </a:r>
            <a:r>
              <a:rPr lang="en-US" dirty="0"/>
              <a:t>CaCl</a:t>
            </a:r>
            <a:r>
              <a:rPr lang="en-US" baseline="-25000" dirty="0"/>
              <a:t>2</a:t>
            </a:r>
            <a:r>
              <a:rPr lang="en-US" dirty="0"/>
              <a:t> + Mg(OH)</a:t>
            </a:r>
            <a:r>
              <a:rPr lang="en-US" baseline="-25000" dirty="0"/>
              <a:t>2</a:t>
            </a:r>
            <a:endParaRPr lang="en-US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Mg</a:t>
            </a:r>
            <a:r>
              <a:rPr lang="en-US" altLang="zh-CN" b="1" baseline="30000" dirty="0">
                <a:solidFill>
                  <a:srgbClr val="002060"/>
                </a:solidFill>
                <a:sym typeface="Wingdings" pitchFamily="2" charset="2"/>
              </a:rPr>
              <a:t>2+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 (</a:t>
            </a:r>
            <a:r>
              <a:rPr lang="en-US" altLang="zh-CN" b="1" dirty="0" err="1">
                <a:solidFill>
                  <a:srgbClr val="002060"/>
                </a:solidFill>
                <a:sym typeface="Wingdings" pitchFamily="2" charset="2"/>
              </a:rPr>
              <a:t>aq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) + 2 OH</a:t>
            </a:r>
            <a:r>
              <a:rPr lang="en-US" altLang="zh-CN" b="1" baseline="30000" dirty="0">
                <a:solidFill>
                  <a:srgbClr val="002060"/>
                </a:solidFill>
                <a:sym typeface="Wingdings" pitchFamily="2" charset="2"/>
              </a:rPr>
              <a:t>-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 (</a:t>
            </a:r>
            <a:r>
              <a:rPr lang="en-US" altLang="zh-CN" b="1" dirty="0" err="1">
                <a:solidFill>
                  <a:srgbClr val="002060"/>
                </a:solidFill>
                <a:sym typeface="Wingdings" pitchFamily="2" charset="2"/>
              </a:rPr>
              <a:t>aq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)  Mg(OH)</a:t>
            </a:r>
            <a:r>
              <a:rPr lang="en-US" altLang="zh-CN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 (s)</a:t>
            </a:r>
            <a:endParaRPr lang="en-US" altLang="zh-CN" b="1" dirty="0">
              <a:solidFill>
                <a:srgbClr val="002060"/>
              </a:solidFill>
            </a:endParaRPr>
          </a:p>
          <a:p>
            <a:pPr marL="514350" indent="-514350">
              <a:buNone/>
            </a:pPr>
            <a:endParaRPr lang="en-US" altLang="zh-CN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686800" cy="56388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dirty="0"/>
              <a:t>4. </a:t>
            </a:r>
          </a:p>
          <a:p>
            <a:pPr marL="514350" indent="-514350">
              <a:buNone/>
            </a:pPr>
            <a:r>
              <a:rPr lang="en-US" dirty="0">
                <a:sym typeface="Wingdings" pitchFamily="2" charset="2"/>
              </a:rPr>
              <a:t>4) </a:t>
            </a:r>
            <a:r>
              <a:rPr lang="en-US" altLang="zh-CN" dirty="0">
                <a:sym typeface="Wingdings" pitchFamily="2" charset="2"/>
              </a:rPr>
              <a:t>Fe + 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SO</a:t>
            </a:r>
            <a:r>
              <a:rPr lang="en-US" altLang="zh-CN" baseline="-25000" dirty="0">
                <a:sym typeface="Wingdings" pitchFamily="2" charset="2"/>
              </a:rPr>
              <a:t>4</a:t>
            </a:r>
            <a:r>
              <a:rPr lang="en-US" altLang="zh-CN" dirty="0">
                <a:sym typeface="Wingdings" pitchFamily="2" charset="2"/>
              </a:rPr>
              <a:t>   FeSO</a:t>
            </a:r>
            <a:r>
              <a:rPr lang="en-US" altLang="zh-CN" baseline="-25000" dirty="0">
                <a:sym typeface="Wingdings" pitchFamily="2" charset="2"/>
              </a:rPr>
              <a:t>4</a:t>
            </a:r>
            <a:r>
              <a:rPr lang="en-US" altLang="zh-CN" dirty="0">
                <a:sym typeface="Wingdings" pitchFamily="2" charset="2"/>
              </a:rPr>
              <a:t> + 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endParaRPr lang="en-US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b="1" dirty="0">
                <a:solidFill>
                  <a:srgbClr val="002060"/>
                </a:solidFill>
                <a:sym typeface="Wingdings" pitchFamily="2" charset="2"/>
              </a:rPr>
              <a:t>Fe</a:t>
            </a:r>
            <a:r>
              <a:rPr lang="en-US" b="1" baseline="30000" dirty="0">
                <a:solidFill>
                  <a:srgbClr val="002060"/>
                </a:solidFill>
                <a:sym typeface="Wingdings" pitchFamily="2" charset="2"/>
              </a:rPr>
              <a:t> </a:t>
            </a:r>
            <a:r>
              <a:rPr lang="en-US" b="1" dirty="0">
                <a:solidFill>
                  <a:srgbClr val="002060"/>
                </a:solidFill>
                <a:sym typeface="Wingdings" pitchFamily="2" charset="2"/>
              </a:rPr>
              <a:t>(s) + 2 H</a:t>
            </a:r>
            <a:r>
              <a:rPr lang="en-US" b="1" baseline="30000" dirty="0">
                <a:solidFill>
                  <a:srgbClr val="002060"/>
                </a:solidFill>
                <a:sym typeface="Wingdings" pitchFamily="2" charset="2"/>
              </a:rPr>
              <a:t>+</a:t>
            </a:r>
            <a:r>
              <a:rPr lang="en-US" b="1" dirty="0">
                <a:solidFill>
                  <a:srgbClr val="002060"/>
                </a:solidFill>
                <a:sym typeface="Wingdings" pitchFamily="2" charset="2"/>
              </a:rPr>
              <a:t> (</a:t>
            </a:r>
            <a:r>
              <a:rPr lang="en-US" b="1" dirty="0" err="1">
                <a:solidFill>
                  <a:srgbClr val="002060"/>
                </a:solidFill>
                <a:sym typeface="Wingdings" pitchFamily="2" charset="2"/>
              </a:rPr>
              <a:t>aq</a:t>
            </a:r>
            <a:r>
              <a:rPr lang="en-US" b="1" dirty="0">
                <a:solidFill>
                  <a:srgbClr val="002060"/>
                </a:solidFill>
                <a:sym typeface="Wingdings" pitchFamily="2" charset="2"/>
              </a:rPr>
              <a:t>)  Fe</a:t>
            </a:r>
            <a:r>
              <a:rPr lang="en-US" b="1" baseline="30000" dirty="0">
                <a:solidFill>
                  <a:srgbClr val="002060"/>
                </a:solidFill>
                <a:sym typeface="Wingdings" pitchFamily="2" charset="2"/>
              </a:rPr>
              <a:t>2+ </a:t>
            </a:r>
            <a:r>
              <a:rPr lang="en-US" b="1" dirty="0">
                <a:solidFill>
                  <a:srgbClr val="002060"/>
                </a:solidFill>
                <a:sym typeface="Wingdings" pitchFamily="2" charset="2"/>
              </a:rPr>
              <a:t> (</a:t>
            </a:r>
            <a:r>
              <a:rPr lang="en-US" b="1" dirty="0" err="1">
                <a:solidFill>
                  <a:srgbClr val="002060"/>
                </a:solidFill>
                <a:sym typeface="Wingdings" pitchFamily="2" charset="2"/>
              </a:rPr>
              <a:t>aq</a:t>
            </a:r>
            <a:r>
              <a:rPr lang="en-US" b="1" dirty="0">
                <a:solidFill>
                  <a:srgbClr val="002060"/>
                </a:solidFill>
                <a:sym typeface="Wingdings" pitchFamily="2" charset="2"/>
              </a:rPr>
              <a:t>) + 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H</a:t>
            </a:r>
            <a:r>
              <a:rPr lang="en-US" altLang="zh-CN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 (g)</a:t>
            </a:r>
          </a:p>
          <a:p>
            <a:pPr marL="514350" indent="-514350">
              <a:buNone/>
            </a:pPr>
            <a:endParaRPr lang="en-US" altLang="zh-CN" dirty="0"/>
          </a:p>
          <a:p>
            <a:pPr marL="514350" indent="-514350">
              <a:buNone/>
            </a:pPr>
            <a:endParaRPr lang="en-US" altLang="zh-CN" dirty="0"/>
          </a:p>
          <a:p>
            <a:pPr marL="514350" indent="-514350">
              <a:buNone/>
            </a:pPr>
            <a:r>
              <a:rPr lang="en-US" altLang="zh-CN" dirty="0"/>
              <a:t>5) Mg(OH)</a:t>
            </a:r>
            <a:r>
              <a:rPr lang="en-US" altLang="zh-CN" baseline="-25000" dirty="0"/>
              <a:t>2</a:t>
            </a:r>
            <a:r>
              <a:rPr lang="en-US" altLang="zh-CN" dirty="0"/>
              <a:t> + 2 HCl   </a:t>
            </a:r>
            <a:r>
              <a:rPr lang="en-US" altLang="zh-CN" dirty="0">
                <a:sym typeface="Wingdings" pitchFamily="2" charset="2"/>
              </a:rPr>
              <a:t> MgCl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  + 2 H</a:t>
            </a:r>
            <a:r>
              <a:rPr lang="en-US" altLang="zh-CN" baseline="-25000" dirty="0">
                <a:sym typeface="Wingdings" pitchFamily="2" charset="2"/>
              </a:rPr>
              <a:t>2</a:t>
            </a:r>
            <a:r>
              <a:rPr lang="en-US" altLang="zh-CN" dirty="0">
                <a:sym typeface="Wingdings" pitchFamily="2" charset="2"/>
              </a:rPr>
              <a:t>O</a:t>
            </a:r>
            <a:endParaRPr lang="en-US" altLang="zh-CN" dirty="0"/>
          </a:p>
          <a:p>
            <a:pPr marL="514350" indent="-514350">
              <a:buNone/>
            </a:pPr>
            <a:r>
              <a:rPr lang="en-US" altLang="zh-CN" b="1" dirty="0">
                <a:solidFill>
                  <a:srgbClr val="002060"/>
                </a:solidFill>
              </a:rPr>
              <a:t>Mg(OH)</a:t>
            </a:r>
            <a:r>
              <a:rPr lang="en-US" altLang="zh-CN" b="1" baseline="-25000" dirty="0">
                <a:solidFill>
                  <a:srgbClr val="002060"/>
                </a:solidFill>
              </a:rPr>
              <a:t>2</a:t>
            </a:r>
            <a:r>
              <a:rPr lang="en-US" altLang="zh-CN" b="1" dirty="0">
                <a:solidFill>
                  <a:srgbClr val="002060"/>
                </a:solidFill>
              </a:rPr>
              <a:t> (s) + 2 H</a:t>
            </a:r>
            <a:r>
              <a:rPr lang="en-US" altLang="zh-CN" b="1" baseline="30000" dirty="0">
                <a:solidFill>
                  <a:srgbClr val="002060"/>
                </a:solidFill>
              </a:rPr>
              <a:t>+</a:t>
            </a:r>
            <a:r>
              <a:rPr lang="en-US" altLang="zh-CN" b="1" dirty="0">
                <a:solidFill>
                  <a:srgbClr val="002060"/>
                </a:solidFill>
              </a:rPr>
              <a:t> (</a:t>
            </a:r>
            <a:r>
              <a:rPr lang="en-US" altLang="zh-CN" b="1" dirty="0" err="1">
                <a:solidFill>
                  <a:srgbClr val="002060"/>
                </a:solidFill>
              </a:rPr>
              <a:t>aq</a:t>
            </a:r>
            <a:r>
              <a:rPr lang="en-US" altLang="zh-CN" b="1" dirty="0">
                <a:solidFill>
                  <a:srgbClr val="002060"/>
                </a:solidFill>
              </a:rPr>
              <a:t>)   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 Mg</a:t>
            </a:r>
            <a:r>
              <a:rPr lang="en-US" altLang="zh-CN" b="1" baseline="30000" dirty="0">
                <a:solidFill>
                  <a:srgbClr val="002060"/>
                </a:solidFill>
                <a:sym typeface="Wingdings" pitchFamily="2" charset="2"/>
              </a:rPr>
              <a:t>2+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 (</a:t>
            </a:r>
            <a:r>
              <a:rPr lang="en-US" altLang="zh-CN" b="1" dirty="0" err="1">
                <a:solidFill>
                  <a:srgbClr val="002060"/>
                </a:solidFill>
                <a:sym typeface="Wingdings" pitchFamily="2" charset="2"/>
              </a:rPr>
              <a:t>aq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)  + 2 H</a:t>
            </a:r>
            <a:r>
              <a:rPr lang="en-US" altLang="zh-CN" b="1" baseline="-25000" dirty="0">
                <a:solidFill>
                  <a:srgbClr val="002060"/>
                </a:solidFill>
                <a:sym typeface="Wingdings" pitchFamily="2" charset="2"/>
              </a:rPr>
              <a:t>2</a:t>
            </a:r>
            <a:r>
              <a:rPr lang="en-US" altLang="zh-CN" b="1" dirty="0">
                <a:solidFill>
                  <a:srgbClr val="002060"/>
                </a:solidFill>
                <a:sym typeface="Wingdings" pitchFamily="2" charset="2"/>
              </a:rPr>
              <a:t>O(l)</a:t>
            </a:r>
          </a:p>
          <a:p>
            <a:pPr marL="514350" indent="-514350"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19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3000" dirty="0"/>
              <a:t>5.</a:t>
            </a:r>
            <a:r>
              <a:rPr lang="zh-CN" altLang="en-US" sz="3000" dirty="0"/>
              <a:t> </a:t>
            </a:r>
            <a:r>
              <a:rPr lang="en-US" altLang="zh-CN" sz="3000" dirty="0"/>
              <a:t>	</a:t>
            </a:r>
          </a:p>
          <a:p>
            <a:pPr marL="514350" indent="-514350">
              <a:buAutoNum type="arabicPeriod"/>
            </a:pPr>
            <a:r>
              <a:rPr lang="zh-CN" altLang="en-US" sz="3000" dirty="0"/>
              <a:t>设：可制得 </a:t>
            </a:r>
            <a:r>
              <a:rPr lang="en-US" altLang="zh-CN" sz="3000" dirty="0"/>
              <a:t>x mol O</a:t>
            </a:r>
            <a:r>
              <a:rPr lang="en-US" altLang="zh-CN" sz="3000" baseline="-25000" dirty="0"/>
              <a:t>2</a:t>
            </a:r>
            <a:r>
              <a:rPr lang="en-US" altLang="zh-CN" sz="3000" dirty="0"/>
              <a:t>  	 </a:t>
            </a:r>
          </a:p>
          <a:p>
            <a:pPr marL="514350" indent="-514350">
              <a:buAutoNum type="arabicPeriod"/>
            </a:pPr>
            <a:r>
              <a:rPr lang="en-US" sz="2800" dirty="0">
                <a:sym typeface="Wingdings" pitchFamily="2" charset="2"/>
              </a:rPr>
              <a:t>    2  KClO</a:t>
            </a:r>
            <a:r>
              <a:rPr lang="en-US" sz="2800" baseline="-25000" dirty="0">
                <a:sym typeface="Wingdings" pitchFamily="2" charset="2"/>
              </a:rPr>
              <a:t>3</a:t>
            </a:r>
            <a:r>
              <a:rPr lang="en-US" sz="2800" dirty="0">
                <a:sym typeface="Wingdings" pitchFamily="2" charset="2"/>
              </a:rPr>
              <a:t>   </a:t>
            </a:r>
            <a:r>
              <a:rPr lang="en-US" altLang="zh-CN" sz="2800" dirty="0">
                <a:sym typeface="Wingdings" pitchFamily="2" charset="2"/>
              </a:rPr>
              <a:t>   </a:t>
            </a:r>
            <a:r>
              <a:rPr lang="en-US" sz="2800" dirty="0">
                <a:sym typeface="Wingdings" pitchFamily="2" charset="2"/>
              </a:rPr>
              <a:t>2KCl   +  3O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</a:t>
            </a:r>
            <a:endParaRPr lang="en-US" altLang="zh-CN" sz="3000" baseline="-25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en-US" sz="3000" baseline="-25000" dirty="0">
                <a:sym typeface="Wingdings" pitchFamily="2" charset="2"/>
              </a:rPr>
              <a:t> </a:t>
            </a:r>
            <a:r>
              <a:rPr lang="en-US" sz="3000" dirty="0">
                <a:sym typeface="Wingdings" pitchFamily="2" charset="2"/>
              </a:rPr>
              <a:t>  	1mol 		 	   x mol</a:t>
            </a:r>
          </a:p>
          <a:p>
            <a:pPr marL="514350" indent="-514350">
              <a:buAutoNum type="arabicPeriod"/>
            </a:pPr>
            <a:r>
              <a:rPr lang="en-US" sz="3000" dirty="0">
                <a:sym typeface="Wingdings" pitchFamily="2" charset="2"/>
              </a:rPr>
              <a:t>    2mol 			   3 mol</a:t>
            </a:r>
          </a:p>
          <a:p>
            <a:pPr marL="514350" indent="-514350">
              <a:buAutoNum type="arabicPeriod"/>
            </a:pPr>
            <a:r>
              <a:rPr lang="en-US" sz="3000" dirty="0">
                <a:sym typeface="Wingdings" pitchFamily="2" charset="2"/>
              </a:rPr>
              <a:t> 			2</a:t>
            </a:r>
            <a:r>
              <a:rPr lang="en-US" altLang="zh-CN" sz="3000" dirty="0">
                <a:sym typeface="Wingdings" pitchFamily="2" charset="2"/>
              </a:rPr>
              <a:t>x = 3	</a:t>
            </a:r>
          </a:p>
          <a:p>
            <a:pPr marL="514350" indent="-514350">
              <a:buNone/>
            </a:pPr>
            <a:r>
              <a:rPr lang="en-US" sz="3000" dirty="0">
                <a:sym typeface="Wingdings" pitchFamily="2" charset="2"/>
              </a:rPr>
              <a:t>			  	  x = 1.5</a:t>
            </a:r>
          </a:p>
          <a:p>
            <a:pPr marL="514350" indent="-514350">
              <a:buNone/>
            </a:pPr>
            <a:r>
              <a:rPr lang="en-US" sz="3000" dirty="0">
                <a:sym typeface="Wingdings" pitchFamily="2" charset="2"/>
              </a:rPr>
              <a:t>M(O</a:t>
            </a:r>
            <a:r>
              <a:rPr lang="en-US" sz="3000" baseline="-25000" dirty="0">
                <a:sym typeface="Wingdings" pitchFamily="2" charset="2"/>
              </a:rPr>
              <a:t>2</a:t>
            </a:r>
            <a:r>
              <a:rPr lang="en-US" sz="3000" dirty="0">
                <a:sym typeface="Wingdings" pitchFamily="2" charset="2"/>
              </a:rPr>
              <a:t>)=32gmol</a:t>
            </a:r>
            <a:r>
              <a:rPr lang="en-US" sz="3000" baseline="30000" dirty="0">
                <a:sym typeface="Wingdings" pitchFamily="2" charset="2"/>
              </a:rPr>
              <a:t>-1</a:t>
            </a:r>
            <a:endParaRPr lang="en-US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sz="3000" dirty="0">
                <a:sym typeface="Wingdings" pitchFamily="2" charset="2"/>
              </a:rPr>
              <a:t>m = 1.5mol x 32gmol</a:t>
            </a:r>
            <a:r>
              <a:rPr lang="en-US" sz="3000" baseline="30000" dirty="0">
                <a:sym typeface="Wingdings" pitchFamily="2" charset="2"/>
              </a:rPr>
              <a:t>-1</a:t>
            </a:r>
            <a:endParaRPr lang="en-US" sz="3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sz="3000" dirty="0">
                <a:sym typeface="Wingdings" pitchFamily="2" charset="2"/>
              </a:rPr>
              <a:t>     = 48g</a:t>
            </a:r>
          </a:p>
          <a:p>
            <a:pPr marL="514350" indent="-514350">
              <a:buNone/>
            </a:pPr>
            <a:r>
              <a:rPr lang="en-US" sz="3000" dirty="0">
                <a:sym typeface="Wingdings" pitchFamily="2" charset="2"/>
              </a:rPr>
              <a:t>6. </a:t>
            </a:r>
            <a:r>
              <a:rPr lang="zh-CN" altLang="en-US" sz="3000" dirty="0">
                <a:sym typeface="Wingdings" pitchFamily="2" charset="2"/>
              </a:rPr>
              <a:t>答：</a:t>
            </a:r>
            <a:r>
              <a:rPr lang="zh-CN" altLang="en-US" sz="3000" dirty="0">
                <a:solidFill>
                  <a:srgbClr val="7030A0"/>
                </a:solidFill>
                <a:sym typeface="Wingdings" pitchFamily="2" charset="2"/>
              </a:rPr>
              <a:t>可制得</a:t>
            </a:r>
            <a:r>
              <a:rPr lang="en-US" altLang="zh-CN" sz="3000" dirty="0">
                <a:solidFill>
                  <a:srgbClr val="7030A0"/>
                </a:solidFill>
                <a:sym typeface="Wingdings" pitchFamily="2" charset="2"/>
              </a:rPr>
              <a:t>1.5mol</a:t>
            </a:r>
            <a:r>
              <a:rPr lang="zh-CN" altLang="en-US" sz="3000" dirty="0">
                <a:solidFill>
                  <a:srgbClr val="7030A0"/>
                </a:solidFill>
                <a:sym typeface="Wingdings" pitchFamily="2" charset="2"/>
              </a:rPr>
              <a:t>氧气，这些氧气</a:t>
            </a:r>
            <a:r>
              <a:rPr lang="en-US" altLang="zh-CN" sz="3000" dirty="0">
                <a:solidFill>
                  <a:srgbClr val="7030A0"/>
                </a:solidFill>
                <a:sym typeface="Wingdings" pitchFamily="2" charset="2"/>
              </a:rPr>
              <a:t>48g</a:t>
            </a:r>
            <a:r>
              <a:rPr lang="zh-CN" altLang="en-US" sz="3000" dirty="0">
                <a:solidFill>
                  <a:srgbClr val="7030A0"/>
                </a:solidFill>
              </a:rPr>
              <a:t>。</a:t>
            </a:r>
            <a:endParaRPr lang="en-US" sz="3000" dirty="0">
              <a:solidFill>
                <a:srgbClr val="7030A0"/>
              </a:solidFill>
              <a:sym typeface="Wingdings" pitchFamily="2" charset="2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800894" y="2780506"/>
            <a:ext cx="838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5066506" y="2780506"/>
            <a:ext cx="838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667000" y="2438400"/>
            <a:ext cx="12954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10800000" flipV="1">
            <a:off x="2514600" y="2362199"/>
            <a:ext cx="13716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943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CN" sz="2800" dirty="0"/>
              <a:t>6(a)</a:t>
            </a:r>
            <a:r>
              <a:rPr lang="zh-CN" altLang="en-US" sz="2800" dirty="0"/>
              <a:t> </a:t>
            </a:r>
            <a:r>
              <a:rPr lang="en-US" altLang="zh-CN" sz="2800" dirty="0"/>
              <a:t>	H=1, </a:t>
            </a:r>
            <a:r>
              <a:rPr lang="en-US" altLang="zh-CN" sz="2800" dirty="0">
                <a:sym typeface="Wingdings" pitchFamily="2" charset="2"/>
              </a:rPr>
              <a:t>Zn</a:t>
            </a:r>
            <a:r>
              <a:rPr lang="en-US" sz="2800" dirty="0">
                <a:sym typeface="Wingdings" pitchFamily="2" charset="2"/>
              </a:rPr>
              <a:t>=</a:t>
            </a:r>
            <a:r>
              <a:rPr lang="en-US" altLang="zh-CN" sz="2800" dirty="0">
                <a:sym typeface="Wingdings" pitchFamily="2" charset="2"/>
              </a:rPr>
              <a:t>65</a:t>
            </a:r>
            <a:endParaRPr lang="en-US" altLang="zh-CN" sz="2800" dirty="0"/>
          </a:p>
          <a:p>
            <a:pPr>
              <a:buNone/>
            </a:pPr>
            <a:r>
              <a:rPr lang="zh-CN" altLang="en-US" sz="2800" dirty="0"/>
              <a:t>已知</a:t>
            </a:r>
            <a:r>
              <a:rPr lang="en-US" altLang="zh-CN" sz="2800" dirty="0"/>
              <a:t>    m = 0.1g 	</a:t>
            </a:r>
            <a:r>
              <a:rPr lang="en-US" altLang="zh-CN" sz="2800" dirty="0" err="1"/>
              <a:t>Mr</a:t>
            </a:r>
            <a:r>
              <a:rPr lang="en-US" altLang="zh-CN" sz="2800" dirty="0"/>
              <a:t>(H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)=2</a:t>
            </a:r>
          </a:p>
          <a:p>
            <a:pPr>
              <a:buNone/>
            </a:pPr>
            <a:r>
              <a:rPr lang="en-US" altLang="zh-CN" sz="2800" dirty="0"/>
              <a:t>n = 0.1g / 2gmol</a:t>
            </a:r>
            <a:r>
              <a:rPr lang="en-US" altLang="zh-CN" sz="2800" baseline="30000" dirty="0"/>
              <a:t>-1</a:t>
            </a:r>
            <a:r>
              <a:rPr lang="en-US" altLang="zh-CN" sz="2800" dirty="0"/>
              <a:t>  = 0.05mol</a:t>
            </a:r>
          </a:p>
          <a:p>
            <a:pPr>
              <a:buNone/>
            </a:pPr>
            <a:r>
              <a:rPr lang="en-US" altLang="zh-CN" sz="2800" dirty="0"/>
              <a:t>(b)</a:t>
            </a:r>
          </a:p>
          <a:p>
            <a:pPr marL="514350" indent="-514350">
              <a:buAutoNum type="arabicPeriod"/>
            </a:pPr>
            <a:r>
              <a:rPr lang="zh-CN" altLang="en-US" sz="2800" dirty="0"/>
              <a:t>设：需要</a:t>
            </a:r>
            <a:r>
              <a:rPr lang="en-US" altLang="zh-CN" sz="2800" dirty="0"/>
              <a:t>x mol Zn  	 </a:t>
            </a:r>
          </a:p>
          <a:p>
            <a:pPr marL="514350" indent="-514350">
              <a:buAutoNum type="arabicPeriod"/>
            </a:pPr>
            <a:r>
              <a:rPr lang="en-US" sz="2800" dirty="0">
                <a:sym typeface="Wingdings" pitchFamily="2" charset="2"/>
              </a:rPr>
              <a:t>         </a:t>
            </a:r>
            <a:r>
              <a:rPr lang="en-US" altLang="zh-CN" sz="2800" dirty="0">
                <a:sym typeface="Wingdings" pitchFamily="2" charset="2"/>
              </a:rPr>
              <a:t>Zn + </a:t>
            </a:r>
            <a:r>
              <a:rPr lang="en-US" sz="2800" dirty="0">
                <a:sym typeface="Wingdings" pitchFamily="2" charset="2"/>
              </a:rPr>
              <a:t>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</a:t>
            </a:r>
            <a:r>
              <a:rPr lang="en-US" sz="2800" dirty="0">
                <a:sym typeface="Wingdings" pitchFamily="2" charset="2"/>
              </a:rPr>
              <a:t>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sz="2800" dirty="0">
                <a:sym typeface="Wingdings" pitchFamily="2" charset="2"/>
              </a:rPr>
              <a:t> </a:t>
            </a:r>
            <a:r>
              <a:rPr lang="en-US" altLang="zh-CN" sz="2800" dirty="0">
                <a:sym typeface="Wingdings" pitchFamily="2" charset="2"/>
              </a:rPr>
              <a:t>  ZnSO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  <a:r>
              <a:rPr lang="en-US" sz="2800" dirty="0">
                <a:sym typeface="Wingdings" pitchFamily="2" charset="2"/>
              </a:rPr>
              <a:t>  +  </a:t>
            </a:r>
            <a:r>
              <a:rPr lang="en-US" altLang="zh-CN" sz="2800" dirty="0">
                <a:sym typeface="Wingdings" pitchFamily="2" charset="2"/>
              </a:rPr>
              <a:t>H</a:t>
            </a:r>
            <a:r>
              <a:rPr lang="en-US" sz="2800" baseline="-25000" dirty="0">
                <a:sym typeface="Wingdings" pitchFamily="2" charset="2"/>
              </a:rPr>
              <a:t>2</a:t>
            </a:r>
            <a:r>
              <a:rPr lang="en-US" sz="2800" dirty="0">
                <a:sym typeface="Wingdings" pitchFamily="2" charset="2"/>
              </a:rPr>
              <a:t> </a:t>
            </a:r>
            <a:endParaRPr lang="en-US" altLang="zh-CN" sz="2800" baseline="-25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en-US" sz="2800" baseline="-25000" dirty="0">
                <a:sym typeface="Wingdings" pitchFamily="2" charset="2"/>
              </a:rPr>
              <a:t> </a:t>
            </a:r>
            <a:r>
              <a:rPr lang="en-US" sz="2800" dirty="0">
                <a:sym typeface="Wingdings" pitchFamily="2" charset="2"/>
              </a:rPr>
              <a:t> 	  </a:t>
            </a:r>
            <a:r>
              <a:rPr lang="en-US" sz="2800" dirty="0" err="1">
                <a:sym typeface="Wingdings" pitchFamily="2" charset="2"/>
              </a:rPr>
              <a:t>xmol</a:t>
            </a:r>
            <a:r>
              <a:rPr lang="en-US" sz="2800" dirty="0">
                <a:sym typeface="Wingdings" pitchFamily="2" charset="2"/>
              </a:rPr>
              <a:t>			  0.05 mol</a:t>
            </a:r>
          </a:p>
          <a:p>
            <a:pPr marL="514350" indent="-514350">
              <a:buAutoNum type="arabicPeriod"/>
            </a:pPr>
            <a:r>
              <a:rPr lang="en-US" sz="2800" dirty="0">
                <a:sym typeface="Wingdings" pitchFamily="2" charset="2"/>
              </a:rPr>
              <a:t>    	  1mol 		   1 mol</a:t>
            </a:r>
          </a:p>
          <a:p>
            <a:pPr marL="514350" indent="-514350">
              <a:buAutoNum type="arabicPeriod"/>
            </a:pPr>
            <a:r>
              <a:rPr lang="en-US" sz="2800" dirty="0">
                <a:sym typeface="Wingdings" pitchFamily="2" charset="2"/>
              </a:rPr>
              <a:t> 			</a:t>
            </a:r>
            <a:r>
              <a:rPr lang="en-US" altLang="zh-CN" sz="2800" dirty="0">
                <a:sym typeface="Wingdings" pitchFamily="2" charset="2"/>
              </a:rPr>
              <a:t>x = 0.05	</a:t>
            </a:r>
            <a:endParaRPr lang="en-US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(c) 		m = 0.0</a:t>
            </a:r>
            <a:r>
              <a:rPr lang="en-US" altLang="zh-CN" sz="2800" dirty="0">
                <a:sym typeface="Wingdings" pitchFamily="2" charset="2"/>
              </a:rPr>
              <a:t>5</a:t>
            </a:r>
            <a:r>
              <a:rPr lang="en-US" sz="2800" dirty="0">
                <a:sym typeface="Wingdings" pitchFamily="2" charset="2"/>
              </a:rPr>
              <a:t>mol x </a:t>
            </a:r>
            <a:r>
              <a:rPr lang="en-US" altLang="zh-CN" sz="2800" dirty="0">
                <a:sym typeface="Wingdings" pitchFamily="2" charset="2"/>
              </a:rPr>
              <a:t>65</a:t>
            </a:r>
            <a:r>
              <a:rPr lang="en-US" sz="2800" dirty="0">
                <a:sym typeface="Wingdings" pitchFamily="2" charset="2"/>
              </a:rPr>
              <a:t>gmol</a:t>
            </a:r>
            <a:r>
              <a:rPr lang="en-US" sz="2800" baseline="30000" dirty="0">
                <a:sym typeface="Wingdings" pitchFamily="2" charset="2"/>
              </a:rPr>
              <a:t>-1</a:t>
            </a:r>
            <a:endParaRPr lang="en-US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     		    = </a:t>
            </a:r>
            <a:r>
              <a:rPr lang="en-US" altLang="zh-CN" sz="2800" dirty="0">
                <a:sym typeface="Wingdings" pitchFamily="2" charset="2"/>
              </a:rPr>
              <a:t>3.25</a:t>
            </a:r>
            <a:r>
              <a:rPr lang="en-US" sz="2800" dirty="0">
                <a:sym typeface="Wingdings" pitchFamily="2" charset="2"/>
              </a:rPr>
              <a:t>g</a:t>
            </a: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答：</a:t>
            </a:r>
            <a:r>
              <a:rPr lang="zh-CN" altLang="en-US" sz="2800" dirty="0">
                <a:solidFill>
                  <a:srgbClr val="7030A0"/>
                </a:solidFill>
                <a:sym typeface="Wingdings" pitchFamily="2" charset="2"/>
              </a:rPr>
              <a:t>生成了</a:t>
            </a:r>
            <a:r>
              <a:rPr lang="en-US" altLang="zh-CN" sz="2800" dirty="0">
                <a:solidFill>
                  <a:srgbClr val="7030A0"/>
                </a:solidFill>
                <a:sym typeface="Wingdings" pitchFamily="2" charset="2"/>
              </a:rPr>
              <a:t>0.05mol</a:t>
            </a:r>
            <a:r>
              <a:rPr lang="zh-CN" altLang="en-US" sz="2800" dirty="0">
                <a:solidFill>
                  <a:srgbClr val="7030A0"/>
                </a:solidFill>
                <a:sym typeface="Wingdings" pitchFamily="2" charset="2"/>
              </a:rPr>
              <a:t>的</a:t>
            </a:r>
            <a:r>
              <a:rPr lang="en-US" altLang="zh-CN" sz="2800" dirty="0">
                <a:solidFill>
                  <a:srgbClr val="7030A0"/>
                </a:solidFill>
                <a:sym typeface="Wingdings" pitchFamily="2" charset="2"/>
              </a:rPr>
              <a:t>H</a:t>
            </a:r>
            <a:r>
              <a:rPr lang="en-US" altLang="zh-CN" sz="2800" baseline="-25000" dirty="0">
                <a:solidFill>
                  <a:srgbClr val="7030A0"/>
                </a:solidFill>
                <a:sym typeface="Wingdings" pitchFamily="2" charset="2"/>
              </a:rPr>
              <a:t>2</a:t>
            </a:r>
            <a:r>
              <a:rPr lang="zh-CN" altLang="en-US" sz="2800" dirty="0">
                <a:solidFill>
                  <a:srgbClr val="7030A0"/>
                </a:solidFill>
                <a:sym typeface="Wingdings" pitchFamily="2" charset="2"/>
              </a:rPr>
              <a:t>，需要</a:t>
            </a:r>
            <a:r>
              <a:rPr lang="en-US" altLang="zh-CN" sz="2800" dirty="0">
                <a:solidFill>
                  <a:srgbClr val="7030A0"/>
                </a:solidFill>
                <a:sym typeface="Wingdings" pitchFamily="2" charset="2"/>
              </a:rPr>
              <a:t>0.05molZn</a:t>
            </a:r>
            <a:r>
              <a:rPr lang="zh-CN" altLang="en-US" sz="2800" dirty="0">
                <a:solidFill>
                  <a:srgbClr val="7030A0"/>
                </a:solidFill>
                <a:sym typeface="Wingdings" pitchFamily="2" charset="2"/>
              </a:rPr>
              <a:t>，需</a:t>
            </a:r>
            <a:r>
              <a:rPr lang="en-US" altLang="zh-CN" sz="2800" dirty="0">
                <a:solidFill>
                  <a:srgbClr val="7030A0"/>
                </a:solidFill>
                <a:sym typeface="Wingdings" pitchFamily="2" charset="2"/>
              </a:rPr>
              <a:t>3.25gZn</a:t>
            </a:r>
            <a:r>
              <a:rPr lang="zh-CN" altLang="en-US" sz="2800" dirty="0"/>
              <a:t>。</a:t>
            </a:r>
            <a:endParaRPr lang="en-US" sz="2800" dirty="0">
              <a:sym typeface="Wingdings" pitchFamily="2" charset="2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1029494" y="3999706"/>
            <a:ext cx="838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5066506" y="3999706"/>
            <a:ext cx="838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2971800" y="3810000"/>
            <a:ext cx="1143000" cy="457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10800000" flipV="1">
            <a:off x="2971800" y="3810000"/>
            <a:ext cx="1066800" cy="4572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0"/>
            <a:ext cx="8229600" cy="6096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/>
              <a:t>7)		Fe=56 </a:t>
            </a:r>
            <a:r>
              <a:rPr lang="zh-CN" altLang="en-US" sz="2800" dirty="0"/>
              <a:t>，</a:t>
            </a:r>
            <a:r>
              <a:rPr lang="en-US" altLang="zh-CN" sz="2800" dirty="0"/>
              <a:t>O=16</a:t>
            </a:r>
          </a:p>
          <a:p>
            <a:pPr marL="514350" indent="-514350">
              <a:buAutoNum type="arabicPeriod"/>
            </a:pPr>
            <a:r>
              <a:rPr lang="zh-CN" altLang="en-US" sz="2800" dirty="0"/>
              <a:t> </a:t>
            </a:r>
            <a:r>
              <a:rPr lang="en-US" altLang="zh-CN" sz="2800" dirty="0"/>
              <a:t>	</a:t>
            </a:r>
            <a:r>
              <a:rPr lang="zh-CN" altLang="en-US" sz="2800" dirty="0"/>
              <a:t>设：冶炼出含杂质</a:t>
            </a:r>
            <a:r>
              <a:rPr lang="en-US" altLang="zh-CN" sz="2800" dirty="0"/>
              <a:t>2%</a:t>
            </a:r>
            <a:r>
              <a:rPr lang="zh-CN" altLang="en-US" sz="2800" dirty="0"/>
              <a:t>生铁</a:t>
            </a:r>
            <a:r>
              <a:rPr lang="en-US" altLang="zh-CN" sz="2800" dirty="0"/>
              <a:t>x t</a:t>
            </a:r>
          </a:p>
          <a:p>
            <a:pPr marL="514350" indent="-514350">
              <a:buAutoNum type="arabicPeriod"/>
            </a:pPr>
            <a:r>
              <a:rPr lang="en-US" altLang="zh-CN" sz="2800" dirty="0"/>
              <a:t> 	      Fe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+  3 CO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  </a:t>
            </a:r>
            <a:r>
              <a:rPr lang="en-US" altLang="zh-CN" sz="2800" dirty="0">
                <a:sym typeface="Wingdings" pitchFamily="2" charset="2"/>
              </a:rPr>
              <a:t>    2 Fe  +   3 CO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</a:p>
          <a:p>
            <a:pPr marL="514350" indent="-514350">
              <a:buAutoNum type="arabicPeriod"/>
            </a:pPr>
            <a:r>
              <a:rPr lang="en-US" sz="2800" baseline="-25000" dirty="0">
                <a:sym typeface="Wingdings" pitchFamily="2" charset="2"/>
              </a:rPr>
              <a:t> </a:t>
            </a:r>
            <a:r>
              <a:rPr lang="en-US" sz="2800" dirty="0">
                <a:sym typeface="Wingdings" pitchFamily="2" charset="2"/>
              </a:rPr>
              <a:t>  	     100t  		    </a:t>
            </a:r>
            <a:r>
              <a:rPr lang="en-US" altLang="zh-CN" sz="2800" dirty="0" err="1">
                <a:sym typeface="Wingdings" pitchFamily="2" charset="2"/>
              </a:rPr>
              <a:t>xt</a:t>
            </a:r>
            <a:endParaRPr lang="en-US" sz="28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en-US" sz="2800" dirty="0">
                <a:sym typeface="Wingdings" pitchFamily="2" charset="2"/>
              </a:rPr>
              <a:t>  (56x2+16x3)t		     (2x56)t</a:t>
            </a: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	   =160t		          	     =112t		</a:t>
            </a: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5. 		(</a:t>
            </a:r>
            <a:r>
              <a:rPr lang="en-US" altLang="zh-CN" sz="2800" dirty="0">
                <a:sym typeface="Wingdings" pitchFamily="2" charset="2"/>
              </a:rPr>
              <a:t>x)(0.98)(160) = (100)(112)	</a:t>
            </a: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			            x= 71.43</a:t>
            </a:r>
          </a:p>
          <a:p>
            <a:pPr marL="514350" indent="-514350">
              <a:buNone/>
            </a:pPr>
            <a:endParaRPr lang="en-US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6. </a:t>
            </a:r>
            <a:r>
              <a:rPr lang="zh-CN" altLang="en-US" sz="2800" dirty="0">
                <a:sym typeface="Wingdings" pitchFamily="2" charset="2"/>
              </a:rPr>
              <a:t>答：</a:t>
            </a:r>
            <a:r>
              <a:rPr lang="zh-CN" altLang="en-US" sz="2800" dirty="0">
                <a:solidFill>
                  <a:srgbClr val="7030A0"/>
                </a:solidFill>
              </a:rPr>
              <a:t>冶炼出含杂质</a:t>
            </a:r>
            <a:r>
              <a:rPr lang="en-US" altLang="zh-CN" sz="2800" dirty="0">
                <a:solidFill>
                  <a:srgbClr val="7030A0"/>
                </a:solidFill>
              </a:rPr>
              <a:t>2%</a:t>
            </a:r>
            <a:r>
              <a:rPr lang="zh-CN" altLang="en-US" sz="2800" dirty="0">
                <a:solidFill>
                  <a:srgbClr val="7030A0"/>
                </a:solidFill>
              </a:rPr>
              <a:t>生铁</a:t>
            </a:r>
            <a:r>
              <a:rPr lang="en-US" altLang="zh-CN" sz="2800" dirty="0">
                <a:solidFill>
                  <a:srgbClr val="7030A0"/>
                </a:solidFill>
              </a:rPr>
              <a:t>71.43 t </a:t>
            </a:r>
            <a:r>
              <a:rPr lang="zh-CN" altLang="en-US" sz="2800" dirty="0">
                <a:sym typeface="Wingdings" pitchFamily="2" charset="2"/>
              </a:rPr>
              <a:t>。</a:t>
            </a:r>
            <a:endParaRPr lang="en-US" sz="2800" dirty="0">
              <a:sym typeface="Wingdings" pitchFamily="2" charset="2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457994" y="3047206"/>
            <a:ext cx="1219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5409406" y="3123406"/>
            <a:ext cx="10668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124200" y="2590800"/>
            <a:ext cx="1371600" cy="990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10800000" flipV="1">
            <a:off x="3048000" y="2667000"/>
            <a:ext cx="1219200" cy="9144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724400" y="228600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en-US" sz="2800" dirty="0">
                <a:sym typeface="Wingdings" pitchFamily="2" charset="2"/>
              </a:rPr>
              <a:t>(98%)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3" grpId="3" uiExpand="1" build="p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"/>
            <a:ext cx="8534400" cy="6324600"/>
          </a:xfrm>
        </p:spPr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altLang="zh-CN" sz="2800" dirty="0"/>
              <a:t>8.) N=14</a:t>
            </a:r>
            <a:r>
              <a:rPr lang="zh-CN" altLang="en-US" sz="2800" dirty="0"/>
              <a:t>，</a:t>
            </a:r>
            <a:r>
              <a:rPr lang="en-US" altLang="zh-CN" sz="2800" dirty="0"/>
              <a:t>O=16</a:t>
            </a:r>
            <a:r>
              <a:rPr lang="zh-CN" altLang="en-US" sz="2800" dirty="0"/>
              <a:t>，</a:t>
            </a:r>
            <a:r>
              <a:rPr lang="en-US" altLang="zh-CN" sz="2800" dirty="0"/>
              <a:t>Cu=64</a:t>
            </a:r>
            <a:r>
              <a:rPr lang="zh-CN" altLang="en-US" sz="2800" dirty="0"/>
              <a:t>，</a:t>
            </a:r>
            <a:r>
              <a:rPr lang="en-US" altLang="zh-CN" sz="2800" dirty="0"/>
              <a:t> Ag=108</a:t>
            </a:r>
          </a:p>
          <a:p>
            <a:pPr marL="514350" indent="-514350">
              <a:buNone/>
            </a:pPr>
            <a:r>
              <a:rPr lang="en-US" altLang="zh-CN" sz="2800" dirty="0" err="1"/>
              <a:t>Mr</a:t>
            </a:r>
            <a:r>
              <a:rPr lang="en-US" altLang="zh-CN" sz="2800" dirty="0"/>
              <a:t>(AgNO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) = 108+14+16x3=170</a:t>
            </a:r>
          </a:p>
          <a:p>
            <a:pPr marL="0" indent="0">
              <a:buNone/>
            </a:pPr>
            <a:r>
              <a:rPr lang="en-US" altLang="zh-CN" sz="2800" dirty="0"/>
              <a:t>n (AgNO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) =85/170  mol =0.5mol</a:t>
            </a:r>
          </a:p>
          <a:p>
            <a:pPr marL="0" indent="0">
              <a:buNone/>
            </a:pPr>
            <a:r>
              <a:rPr lang="en-US" altLang="zh-CN" sz="2800" dirty="0"/>
              <a:t>n(Cu) = 32/64 mol = 0.5mol</a:t>
            </a:r>
          </a:p>
          <a:p>
            <a:pPr marL="0" indent="0">
              <a:buNone/>
            </a:pPr>
            <a:r>
              <a:rPr lang="en-US" altLang="zh-CN" sz="2800" dirty="0"/>
              <a:t>	                Cu  +    2 AgNO</a:t>
            </a:r>
            <a:r>
              <a:rPr lang="en-US" altLang="zh-CN" sz="2800" baseline="-25000" dirty="0"/>
              <a:t>3 </a:t>
            </a:r>
            <a:r>
              <a:rPr lang="en-US" altLang="zh-CN" sz="2800" dirty="0"/>
              <a:t>  </a:t>
            </a:r>
            <a:r>
              <a:rPr lang="en-US" altLang="zh-CN" sz="2800" dirty="0">
                <a:sym typeface="Wingdings" pitchFamily="2" charset="2"/>
              </a:rPr>
              <a:t>  Cu(NO</a:t>
            </a:r>
            <a:r>
              <a:rPr lang="en-US" altLang="zh-CN" sz="2800" baseline="-25000" dirty="0">
                <a:sym typeface="Wingdings" pitchFamily="2" charset="2"/>
              </a:rPr>
              <a:t>3</a:t>
            </a:r>
            <a:r>
              <a:rPr lang="en-US" altLang="zh-CN" sz="2800" dirty="0">
                <a:sym typeface="Wingdings" pitchFamily="2" charset="2"/>
              </a:rPr>
              <a:t>) 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+ 2 Ag</a:t>
            </a:r>
          </a:p>
          <a:p>
            <a:pPr marL="0" indent="0">
              <a:buNone/>
            </a:pPr>
            <a:r>
              <a:rPr lang="zh-CN" altLang="en-US" sz="2800" dirty="0">
                <a:sym typeface="Wingdings" pitchFamily="2" charset="2"/>
              </a:rPr>
              <a:t>开始</a:t>
            </a:r>
            <a:r>
              <a:rPr lang="en-MY" altLang="zh-CN" sz="2800" dirty="0">
                <a:sym typeface="Wingdings" pitchFamily="2" charset="2"/>
              </a:rPr>
              <a:t>(</a:t>
            </a:r>
            <a:r>
              <a:rPr lang="en-US" altLang="zh-CN" sz="2800" dirty="0">
                <a:sym typeface="Wingdings" pitchFamily="2" charset="2"/>
              </a:rPr>
              <a:t>mol)</a:t>
            </a:r>
            <a:r>
              <a:rPr lang="en-US" sz="2800" dirty="0">
                <a:sym typeface="Wingdings" pitchFamily="2" charset="2"/>
              </a:rPr>
              <a:t>   0.5mol     </a:t>
            </a:r>
            <a:r>
              <a:rPr lang="en-US" altLang="zh-CN" sz="2800" dirty="0" err="1">
                <a:sym typeface="Wingdings" pitchFamily="2" charset="2"/>
              </a:rPr>
              <a:t>0.5</a:t>
            </a:r>
            <a:r>
              <a:rPr lang="en-US" sz="2800" dirty="0" err="1">
                <a:sym typeface="Wingdings" pitchFamily="2" charset="2"/>
              </a:rPr>
              <a:t>mol</a:t>
            </a:r>
            <a:r>
              <a:rPr lang="en-US" sz="2800" dirty="0">
                <a:sym typeface="Wingdings" pitchFamily="2" charset="2"/>
              </a:rPr>
              <a:t>		0	   0</a:t>
            </a:r>
          </a:p>
          <a:p>
            <a:pPr marL="0" indent="0">
              <a:buNone/>
            </a:pPr>
            <a:r>
              <a:rPr lang="zh-CN" altLang="en-US" sz="2800" dirty="0">
                <a:sym typeface="Wingdings" pitchFamily="2" charset="2"/>
              </a:rPr>
              <a:t>转化</a:t>
            </a:r>
            <a:r>
              <a:rPr lang="en-MY" altLang="zh-CN" sz="2800" dirty="0">
                <a:sym typeface="Wingdings" pitchFamily="2" charset="2"/>
              </a:rPr>
              <a:t>(mol)</a:t>
            </a:r>
            <a:r>
              <a:rPr lang="en-US" altLang="zh-CN" sz="2800" dirty="0">
                <a:sym typeface="Wingdings" pitchFamily="2" charset="2"/>
              </a:rPr>
              <a:t>   </a:t>
            </a:r>
            <a:r>
              <a:rPr lang="en-US" sz="2800" dirty="0">
                <a:sym typeface="Wingdings" pitchFamily="2" charset="2"/>
              </a:rPr>
              <a:t>0.25mol   </a:t>
            </a:r>
            <a:r>
              <a:rPr lang="en-US" altLang="zh-CN" sz="2800" dirty="0">
                <a:sym typeface="Wingdings" pitchFamily="2" charset="2"/>
              </a:rPr>
              <a:t>0.5</a:t>
            </a:r>
            <a:r>
              <a:rPr lang="en-US" sz="2800" dirty="0">
                <a:sym typeface="Wingdings" pitchFamily="2" charset="2"/>
              </a:rPr>
              <a:t>mol	      </a:t>
            </a:r>
            <a:r>
              <a:rPr lang="en-US" altLang="zh-CN" sz="2800" dirty="0">
                <a:sym typeface="Wingdings" pitchFamily="2" charset="2"/>
              </a:rPr>
              <a:t>0.25</a:t>
            </a:r>
            <a:r>
              <a:rPr lang="en-US" sz="2800" dirty="0">
                <a:sym typeface="Wingdings" pitchFamily="2" charset="2"/>
              </a:rPr>
              <a:t>mol   </a:t>
            </a:r>
            <a:r>
              <a:rPr lang="en-US" altLang="zh-CN" sz="2800" dirty="0">
                <a:sym typeface="Wingdings" pitchFamily="2" charset="2"/>
              </a:rPr>
              <a:t>0.5</a:t>
            </a:r>
            <a:r>
              <a:rPr lang="en-US" sz="2800" dirty="0">
                <a:sym typeface="Wingdings" pitchFamily="2" charset="2"/>
              </a:rPr>
              <a:t>mol</a:t>
            </a:r>
          </a:p>
          <a:p>
            <a:pPr marL="0" indent="0">
              <a:buNone/>
            </a:pPr>
            <a:r>
              <a:rPr lang="zh-CN" altLang="en-US" sz="2800" dirty="0">
                <a:sym typeface="Wingdings" pitchFamily="2" charset="2"/>
              </a:rPr>
              <a:t>结束</a:t>
            </a:r>
            <a:r>
              <a:rPr lang="en-MY" altLang="zh-CN" sz="2800" dirty="0">
                <a:sym typeface="Wingdings" pitchFamily="2" charset="2"/>
              </a:rPr>
              <a:t>(mol)</a:t>
            </a:r>
            <a:r>
              <a:rPr lang="en-US" altLang="zh-CN" sz="2800" dirty="0">
                <a:sym typeface="Wingdings" pitchFamily="2" charset="2"/>
              </a:rPr>
              <a:t>   </a:t>
            </a:r>
            <a:r>
              <a:rPr lang="en-US" sz="2800" dirty="0">
                <a:sym typeface="Wingdings" pitchFamily="2" charset="2"/>
              </a:rPr>
              <a:t>0</a:t>
            </a:r>
            <a:r>
              <a:rPr lang="en-US" altLang="zh-CN" sz="2800" dirty="0">
                <a:sym typeface="Wingdings" pitchFamily="2" charset="2"/>
              </a:rPr>
              <a:t>.25mol</a:t>
            </a:r>
            <a:r>
              <a:rPr lang="en-US" sz="2800" dirty="0">
                <a:sym typeface="Wingdings" pitchFamily="2" charset="2"/>
              </a:rPr>
              <a:t>        0	      0.25mol   0.5mol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800" baseline="-250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答：</a:t>
            </a:r>
            <a:r>
              <a:rPr lang="en-US" altLang="zh-CN" sz="2800" dirty="0"/>
              <a:t>AgNO</a:t>
            </a:r>
            <a:r>
              <a:rPr lang="en-US" altLang="zh-CN" sz="2800" baseline="-25000" dirty="0"/>
              <a:t>3</a:t>
            </a:r>
            <a:r>
              <a:rPr lang="zh-CN" altLang="en-US" sz="2800" dirty="0"/>
              <a:t>为限量试剂，反应后能析出</a:t>
            </a:r>
            <a:r>
              <a:rPr lang="en-US" altLang="zh-CN" sz="2800" dirty="0"/>
              <a:t>0.5mol Ag</a:t>
            </a:r>
            <a:r>
              <a:rPr lang="zh-CN" altLang="en-US" sz="2800" dirty="0"/>
              <a:t>。</a:t>
            </a:r>
            <a:endParaRPr lang="en-US" sz="2800" dirty="0">
              <a:sym typeface="Wingdings" pitchFamily="2" charset="2"/>
            </a:endParaRPr>
          </a:p>
        </p:txBody>
      </p:sp>
      <p:sp>
        <p:nvSpPr>
          <p:cNvPr id="9" name="Rounded Rectangle 38">
            <a:extLst>
              <a:ext uri="{FF2B5EF4-FFF2-40B4-BE49-F238E27FC236}">
                <a16:creationId xmlns:a16="http://schemas.microsoft.com/office/drawing/2014/main" id="{1257A37A-3980-4311-BECE-D2DAD8A001A7}"/>
              </a:ext>
            </a:extLst>
          </p:cNvPr>
          <p:cNvSpPr/>
          <p:nvPr/>
        </p:nvSpPr>
        <p:spPr>
          <a:xfrm>
            <a:off x="2215662" y="2667000"/>
            <a:ext cx="1224000" cy="4572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38">
            <a:extLst>
              <a:ext uri="{FF2B5EF4-FFF2-40B4-BE49-F238E27FC236}">
                <a16:creationId xmlns:a16="http://schemas.microsoft.com/office/drawing/2014/main" id="{1EF18C0A-D6E4-4D02-8A7F-9B5444C8D393}"/>
              </a:ext>
            </a:extLst>
          </p:cNvPr>
          <p:cNvSpPr/>
          <p:nvPr/>
        </p:nvSpPr>
        <p:spPr>
          <a:xfrm>
            <a:off x="3657600" y="2667000"/>
            <a:ext cx="1224000" cy="4572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38">
            <a:extLst>
              <a:ext uri="{FF2B5EF4-FFF2-40B4-BE49-F238E27FC236}">
                <a16:creationId xmlns:a16="http://schemas.microsoft.com/office/drawing/2014/main" id="{32729CDD-1157-41C1-ADB7-0895D6F95693}"/>
              </a:ext>
            </a:extLst>
          </p:cNvPr>
          <p:cNvSpPr/>
          <p:nvPr/>
        </p:nvSpPr>
        <p:spPr>
          <a:xfrm>
            <a:off x="5604462" y="2667000"/>
            <a:ext cx="1224000" cy="4572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38">
            <a:extLst>
              <a:ext uri="{FF2B5EF4-FFF2-40B4-BE49-F238E27FC236}">
                <a16:creationId xmlns:a16="http://schemas.microsoft.com/office/drawing/2014/main" id="{CFB9E7CF-4E5A-4832-9E1F-4A84FE9BDCF9}"/>
              </a:ext>
            </a:extLst>
          </p:cNvPr>
          <p:cNvSpPr/>
          <p:nvPr/>
        </p:nvSpPr>
        <p:spPr>
          <a:xfrm>
            <a:off x="7010400" y="2667000"/>
            <a:ext cx="1224000" cy="4572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38">
            <a:extLst>
              <a:ext uri="{FF2B5EF4-FFF2-40B4-BE49-F238E27FC236}">
                <a16:creationId xmlns:a16="http://schemas.microsoft.com/office/drawing/2014/main" id="{F5456ED4-F516-4980-8D14-B3C356C8DAC6}"/>
              </a:ext>
            </a:extLst>
          </p:cNvPr>
          <p:cNvSpPr/>
          <p:nvPr/>
        </p:nvSpPr>
        <p:spPr>
          <a:xfrm>
            <a:off x="2215662" y="3200400"/>
            <a:ext cx="1224000" cy="4572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38">
            <a:extLst>
              <a:ext uri="{FF2B5EF4-FFF2-40B4-BE49-F238E27FC236}">
                <a16:creationId xmlns:a16="http://schemas.microsoft.com/office/drawing/2014/main" id="{0C94C57C-6289-445A-8F67-187248EA773C}"/>
              </a:ext>
            </a:extLst>
          </p:cNvPr>
          <p:cNvSpPr/>
          <p:nvPr/>
        </p:nvSpPr>
        <p:spPr>
          <a:xfrm>
            <a:off x="3657600" y="3200400"/>
            <a:ext cx="1224000" cy="4572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38">
            <a:extLst>
              <a:ext uri="{FF2B5EF4-FFF2-40B4-BE49-F238E27FC236}">
                <a16:creationId xmlns:a16="http://schemas.microsoft.com/office/drawing/2014/main" id="{BEDFA95E-FF42-4663-B5F9-958D57B72252}"/>
              </a:ext>
            </a:extLst>
          </p:cNvPr>
          <p:cNvSpPr/>
          <p:nvPr/>
        </p:nvSpPr>
        <p:spPr>
          <a:xfrm>
            <a:off x="5604462" y="3200400"/>
            <a:ext cx="1224000" cy="4572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38">
            <a:extLst>
              <a:ext uri="{FF2B5EF4-FFF2-40B4-BE49-F238E27FC236}">
                <a16:creationId xmlns:a16="http://schemas.microsoft.com/office/drawing/2014/main" id="{E77BAC93-47E9-4ECD-8F6C-F7CB3AA4A8E6}"/>
              </a:ext>
            </a:extLst>
          </p:cNvPr>
          <p:cNvSpPr/>
          <p:nvPr/>
        </p:nvSpPr>
        <p:spPr>
          <a:xfrm>
            <a:off x="7010400" y="3200400"/>
            <a:ext cx="1224000" cy="4572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38">
            <a:extLst>
              <a:ext uri="{FF2B5EF4-FFF2-40B4-BE49-F238E27FC236}">
                <a16:creationId xmlns:a16="http://schemas.microsoft.com/office/drawing/2014/main" id="{40DD6B6D-7B06-449A-AC52-EDF7D1E47582}"/>
              </a:ext>
            </a:extLst>
          </p:cNvPr>
          <p:cNvSpPr/>
          <p:nvPr/>
        </p:nvSpPr>
        <p:spPr>
          <a:xfrm>
            <a:off x="2209800" y="3733800"/>
            <a:ext cx="1224000" cy="4572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38">
            <a:extLst>
              <a:ext uri="{FF2B5EF4-FFF2-40B4-BE49-F238E27FC236}">
                <a16:creationId xmlns:a16="http://schemas.microsoft.com/office/drawing/2014/main" id="{019AFA2A-4559-409E-A4B2-A3D3658870DF}"/>
              </a:ext>
            </a:extLst>
          </p:cNvPr>
          <p:cNvSpPr/>
          <p:nvPr/>
        </p:nvSpPr>
        <p:spPr>
          <a:xfrm>
            <a:off x="3657600" y="3733800"/>
            <a:ext cx="1224000" cy="4572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38">
            <a:extLst>
              <a:ext uri="{FF2B5EF4-FFF2-40B4-BE49-F238E27FC236}">
                <a16:creationId xmlns:a16="http://schemas.microsoft.com/office/drawing/2014/main" id="{0E4EC391-D446-406E-9324-38F7D3116D99}"/>
              </a:ext>
            </a:extLst>
          </p:cNvPr>
          <p:cNvSpPr/>
          <p:nvPr/>
        </p:nvSpPr>
        <p:spPr>
          <a:xfrm>
            <a:off x="5604462" y="3733800"/>
            <a:ext cx="1224000" cy="4572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38">
            <a:extLst>
              <a:ext uri="{FF2B5EF4-FFF2-40B4-BE49-F238E27FC236}">
                <a16:creationId xmlns:a16="http://schemas.microsoft.com/office/drawing/2014/main" id="{5B2BB10C-A2AE-4E26-BB26-3C28D7CA94CF}"/>
              </a:ext>
            </a:extLst>
          </p:cNvPr>
          <p:cNvSpPr/>
          <p:nvPr/>
        </p:nvSpPr>
        <p:spPr>
          <a:xfrm>
            <a:off x="7010400" y="3733800"/>
            <a:ext cx="1224000" cy="4572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9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/>
              <a:t>9) H=1</a:t>
            </a:r>
            <a:r>
              <a:rPr lang="zh-CN" altLang="en-US" sz="2800" dirty="0"/>
              <a:t>，</a:t>
            </a:r>
            <a:r>
              <a:rPr lang="en-US" altLang="zh-CN" sz="2800" dirty="0"/>
              <a:t>Na=23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Cl</a:t>
            </a:r>
            <a:r>
              <a:rPr lang="en-US" altLang="zh-CN" sz="2800" dirty="0"/>
              <a:t>=35.5</a:t>
            </a:r>
          </a:p>
          <a:p>
            <a:pPr marL="514350" indent="-514350">
              <a:buAutoNum type="arabicPeriod"/>
            </a:pPr>
            <a:r>
              <a:rPr lang="zh-CN" altLang="en-US" sz="2800" dirty="0"/>
              <a:t> </a:t>
            </a:r>
            <a:r>
              <a:rPr lang="en-US" altLang="zh-CN" sz="2800" dirty="0"/>
              <a:t>	</a:t>
            </a:r>
            <a:r>
              <a:rPr lang="zh-CN" altLang="en-US" sz="2800" dirty="0"/>
              <a:t>设：理论上制得</a:t>
            </a:r>
            <a:r>
              <a:rPr lang="en-US" altLang="zh-CN" sz="2800" dirty="0"/>
              <a:t>x g</a:t>
            </a:r>
            <a:r>
              <a:rPr lang="zh-CN" altLang="en-US" sz="2800" dirty="0"/>
              <a:t>氯化氢。</a:t>
            </a:r>
            <a:endParaRPr lang="en-US" altLang="zh-CN" sz="2800" dirty="0"/>
          </a:p>
          <a:p>
            <a:pPr marL="514350" indent="-514350">
              <a:buAutoNum type="arabicPeriod"/>
            </a:pPr>
            <a:r>
              <a:rPr lang="en-US" altLang="zh-CN" sz="2800" dirty="0"/>
              <a:t> 	      2NaCl    +  H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SO</a:t>
            </a:r>
            <a:r>
              <a:rPr lang="en-US" altLang="zh-CN" sz="2800" baseline="-25000" dirty="0"/>
              <a:t>4 </a:t>
            </a:r>
            <a:r>
              <a:rPr lang="en-US" altLang="zh-CN" sz="2800" dirty="0"/>
              <a:t>  </a:t>
            </a:r>
            <a:r>
              <a:rPr lang="en-US" altLang="zh-CN" sz="2800" dirty="0">
                <a:sym typeface="Wingdings" pitchFamily="2" charset="2"/>
              </a:rPr>
              <a:t>  2 </a:t>
            </a:r>
            <a:r>
              <a:rPr lang="en-US" altLang="zh-CN" sz="2800" dirty="0" err="1">
                <a:sym typeface="Wingdings" pitchFamily="2" charset="2"/>
              </a:rPr>
              <a:t>HCl</a:t>
            </a:r>
            <a:r>
              <a:rPr lang="en-US" altLang="zh-CN" sz="2800" dirty="0">
                <a:sym typeface="Wingdings" pitchFamily="2" charset="2"/>
              </a:rPr>
              <a:t> +   Na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SO</a:t>
            </a:r>
            <a:r>
              <a:rPr lang="en-US" altLang="zh-CN" sz="2800" baseline="-25000" dirty="0">
                <a:sym typeface="Wingdings" pitchFamily="2" charset="2"/>
              </a:rPr>
              <a:t>4</a:t>
            </a:r>
          </a:p>
          <a:p>
            <a:pPr marL="514350" indent="-514350">
              <a:buAutoNum type="arabicPeriod"/>
            </a:pPr>
            <a:r>
              <a:rPr lang="en-US" sz="2800" baseline="-25000" dirty="0">
                <a:sym typeface="Wingdings" pitchFamily="2" charset="2"/>
              </a:rPr>
              <a:t> </a:t>
            </a:r>
            <a:r>
              <a:rPr lang="en-US" sz="2800" dirty="0">
                <a:sym typeface="Wingdings" pitchFamily="2" charset="2"/>
              </a:rPr>
              <a:t>     </a:t>
            </a:r>
            <a:r>
              <a:rPr lang="en-US" altLang="zh-CN" sz="2800" dirty="0">
                <a:sym typeface="Wingdings" pitchFamily="2" charset="2"/>
              </a:rPr>
              <a:t>255</a:t>
            </a:r>
            <a:r>
              <a:rPr lang="en-US" sz="2800" dirty="0">
                <a:sym typeface="Wingdings" pitchFamily="2" charset="2"/>
              </a:rPr>
              <a:t> g 		          x g</a:t>
            </a:r>
            <a:r>
              <a:rPr lang="en-US" altLang="zh-CN" sz="2800" dirty="0">
                <a:sym typeface="Wingdings" pitchFamily="2" charset="2"/>
              </a:rPr>
              <a:t> </a:t>
            </a:r>
            <a:endParaRPr lang="en-US" sz="28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en-US" sz="2800" dirty="0">
                <a:sym typeface="Wingdings" pitchFamily="2" charset="2"/>
              </a:rPr>
              <a:t>  2(23+35.5)g		        2(1+35.5)g</a:t>
            </a: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	   =117g		          	        =73g		</a:t>
            </a: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5. 		         (</a:t>
            </a:r>
            <a:r>
              <a:rPr lang="en-US" altLang="zh-CN" sz="2800" dirty="0">
                <a:sym typeface="Wingdings" pitchFamily="2" charset="2"/>
              </a:rPr>
              <a:t>x)(117) = (255)(0.98)(73)	</a:t>
            </a: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			          x = 155.92</a:t>
            </a: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已知</a:t>
            </a:r>
            <a:r>
              <a:rPr lang="en-US" altLang="zh-CN" sz="2800" dirty="0">
                <a:sym typeface="Wingdings" pitchFamily="2" charset="2"/>
              </a:rPr>
              <a:t>	</a:t>
            </a:r>
            <a:r>
              <a:rPr lang="zh-CN" altLang="en-US" sz="2800" dirty="0">
                <a:sym typeface="Wingdings" pitchFamily="2" charset="2"/>
              </a:rPr>
              <a:t>实际产量</a:t>
            </a:r>
            <a:r>
              <a:rPr lang="en-US" altLang="zh-CN" sz="2800" dirty="0">
                <a:sym typeface="Wingdings" pitchFamily="2" charset="2"/>
              </a:rPr>
              <a:t>=148g</a:t>
            </a:r>
            <a:endParaRPr lang="en-US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产率</a:t>
            </a:r>
            <a:r>
              <a:rPr lang="en-US" altLang="zh-CN" sz="2800" dirty="0">
                <a:sym typeface="Wingdings" pitchFamily="2" charset="2"/>
              </a:rPr>
              <a:t>= 148/155.92  x 100%</a:t>
            </a: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	   = 9</a:t>
            </a:r>
            <a:r>
              <a:rPr lang="en-US" altLang="zh-CN" sz="2800" dirty="0">
                <a:sym typeface="Wingdings" pitchFamily="2" charset="2"/>
              </a:rPr>
              <a:t>4.92</a:t>
            </a:r>
            <a:r>
              <a:rPr lang="en-US" sz="2800" dirty="0">
                <a:sym typeface="Wingdings" pitchFamily="2" charset="2"/>
              </a:rPr>
              <a:t>%</a:t>
            </a: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答：</a:t>
            </a:r>
            <a:r>
              <a:rPr lang="zh-CN" altLang="en-US" sz="2800" dirty="0">
                <a:solidFill>
                  <a:srgbClr val="7030A0"/>
                </a:solidFill>
                <a:sym typeface="Wingdings" pitchFamily="2" charset="2"/>
              </a:rPr>
              <a:t>产率为</a:t>
            </a:r>
            <a:r>
              <a:rPr lang="en-US" altLang="zh-CN" sz="2800" dirty="0">
                <a:solidFill>
                  <a:srgbClr val="7030A0"/>
                </a:solidFill>
                <a:sym typeface="Wingdings" pitchFamily="2" charset="2"/>
              </a:rPr>
              <a:t>94.92%</a:t>
            </a:r>
            <a:endParaRPr lang="en-US" sz="2800" dirty="0">
              <a:solidFill>
                <a:srgbClr val="7030A0"/>
              </a:solidFill>
              <a:sym typeface="Wingdings" pitchFamily="2" charset="2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496094" y="2780506"/>
            <a:ext cx="1295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5942806" y="2818606"/>
            <a:ext cx="1219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276600" y="2286000"/>
            <a:ext cx="1143000" cy="990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10800000" flipV="1">
            <a:off x="3200400" y="2286000"/>
            <a:ext cx="1219200" cy="9906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09800" y="198120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en-US" sz="2800" dirty="0">
                <a:sym typeface="Wingdings" pitchFamily="2" charset="2"/>
              </a:rPr>
              <a:t>(9</a:t>
            </a:r>
            <a:r>
              <a:rPr lang="en-US" altLang="zh-CN" sz="2800" dirty="0">
                <a:sym typeface="Wingdings" pitchFamily="2" charset="2"/>
              </a:rPr>
              <a:t>8</a:t>
            </a:r>
            <a:r>
              <a:rPr lang="en-US" sz="2800" dirty="0">
                <a:sym typeface="Wingdings" pitchFamily="2" charset="2"/>
              </a:rPr>
              <a:t>%)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3" grpId="3" uiExpand="1" build="p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/>
              <a:t>10) H=1</a:t>
            </a:r>
            <a:r>
              <a:rPr lang="zh-CN" altLang="en-US" sz="2800" dirty="0"/>
              <a:t>，</a:t>
            </a:r>
            <a:r>
              <a:rPr lang="en-US" altLang="zh-CN" sz="2800" dirty="0"/>
              <a:t>O=16</a:t>
            </a:r>
            <a:r>
              <a:rPr lang="zh-CN" altLang="en-US" sz="2800" dirty="0"/>
              <a:t>，</a:t>
            </a:r>
            <a:r>
              <a:rPr lang="en-US" altLang="zh-CN" sz="2800" dirty="0"/>
              <a:t>Mg=24</a:t>
            </a:r>
            <a:r>
              <a:rPr lang="zh-CN" altLang="en-US" sz="2800" dirty="0"/>
              <a:t>，</a:t>
            </a:r>
            <a:r>
              <a:rPr lang="en-US" altLang="zh-CN" sz="2800" dirty="0" err="1"/>
              <a:t>Cl</a:t>
            </a:r>
            <a:r>
              <a:rPr lang="en-US" altLang="zh-CN" sz="2800" dirty="0"/>
              <a:t>=35.5</a:t>
            </a:r>
          </a:p>
          <a:p>
            <a:pPr marL="514350" indent="-514350">
              <a:buAutoNum type="arabicPeriod"/>
            </a:pPr>
            <a:r>
              <a:rPr lang="zh-CN" altLang="en-US" sz="2800" dirty="0"/>
              <a:t> </a:t>
            </a:r>
            <a:r>
              <a:rPr lang="en-US" altLang="zh-CN" sz="2800" dirty="0"/>
              <a:t>	</a:t>
            </a:r>
            <a:r>
              <a:rPr lang="zh-CN" altLang="en-US" sz="2800" dirty="0"/>
              <a:t>设：理论上可中和</a:t>
            </a:r>
            <a:r>
              <a:rPr lang="en-US" altLang="zh-CN" sz="2800" dirty="0"/>
              <a:t>x g</a:t>
            </a:r>
            <a:r>
              <a:rPr lang="zh-CN" altLang="en-US" sz="2800" dirty="0"/>
              <a:t>氯化氢。</a:t>
            </a:r>
            <a:endParaRPr lang="en-US" altLang="zh-CN" sz="2800" dirty="0"/>
          </a:p>
          <a:p>
            <a:pPr marL="514350" indent="-514350">
              <a:buAutoNum type="arabicPeriod"/>
            </a:pPr>
            <a:r>
              <a:rPr lang="en-US" altLang="zh-CN" sz="2800" dirty="0"/>
              <a:t> 	     Mg(OH)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       +        2 </a:t>
            </a:r>
            <a:r>
              <a:rPr lang="en-US" altLang="zh-CN" sz="2800" dirty="0" err="1"/>
              <a:t>HCl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  </a:t>
            </a:r>
            <a:r>
              <a:rPr lang="en-US" altLang="zh-CN" sz="2800" dirty="0">
                <a:sym typeface="Wingdings" pitchFamily="2" charset="2"/>
              </a:rPr>
              <a:t>  MgCl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+ 2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</a:t>
            </a:r>
            <a:endParaRPr lang="en-US" altLang="zh-CN" sz="2800" baseline="-25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en-US" sz="2800" baseline="-25000" dirty="0">
                <a:sym typeface="Wingdings" pitchFamily="2" charset="2"/>
              </a:rPr>
              <a:t> </a:t>
            </a:r>
            <a:r>
              <a:rPr lang="en-US" sz="2800" dirty="0">
                <a:sym typeface="Wingdings" pitchFamily="2" charset="2"/>
              </a:rPr>
              <a:t>     0.25 g 		     x g</a:t>
            </a:r>
            <a:r>
              <a:rPr lang="en-US" altLang="zh-CN" sz="2800" dirty="0">
                <a:sym typeface="Wingdings" pitchFamily="2" charset="2"/>
              </a:rPr>
              <a:t> </a:t>
            </a:r>
            <a:endParaRPr lang="en-US" sz="28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en-US" sz="2800" dirty="0">
                <a:sym typeface="Wingdings" pitchFamily="2" charset="2"/>
              </a:rPr>
              <a:t>  (</a:t>
            </a:r>
            <a:r>
              <a:rPr lang="en-US" altLang="zh-CN" sz="2800" dirty="0">
                <a:sym typeface="Wingdings" pitchFamily="2" charset="2"/>
              </a:rPr>
              <a:t>24+16x2+2</a:t>
            </a:r>
            <a:r>
              <a:rPr lang="en-US" sz="2800" dirty="0">
                <a:sym typeface="Wingdings" pitchFamily="2" charset="2"/>
              </a:rPr>
              <a:t>)g		    2(1+35.5)g</a:t>
            </a: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	   =58g		          	    =73g		</a:t>
            </a: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5. 		         (</a:t>
            </a:r>
            <a:r>
              <a:rPr lang="en-US" altLang="zh-CN" sz="2800" dirty="0">
                <a:sym typeface="Wingdings" pitchFamily="2" charset="2"/>
              </a:rPr>
              <a:t>x)(58) = (0.25)(6)(73)	</a:t>
            </a: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			          x = 1.89</a:t>
            </a:r>
            <a:r>
              <a:rPr lang="en-US" altLang="zh-CN" sz="2800" dirty="0">
                <a:sym typeface="Wingdings" pitchFamily="2" charset="2"/>
              </a:rPr>
              <a:t>g</a:t>
            </a:r>
            <a:endParaRPr lang="en-US" sz="28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答：</a:t>
            </a:r>
            <a:r>
              <a:rPr lang="zh-CN" altLang="en-US" sz="2800" dirty="0"/>
              <a:t>理论上可中和</a:t>
            </a:r>
            <a:r>
              <a:rPr lang="en-US" altLang="zh-CN" sz="2800" dirty="0"/>
              <a:t>1.89 g</a:t>
            </a:r>
            <a:r>
              <a:rPr lang="zh-CN" altLang="en-US" sz="2800" dirty="0"/>
              <a:t>氯化氢。</a:t>
            </a:r>
            <a:endParaRPr lang="en-US" sz="2800" dirty="0">
              <a:solidFill>
                <a:srgbClr val="7030A0"/>
              </a:solidFill>
              <a:sym typeface="Wingdings" pitchFamily="2" charset="2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496094" y="2780506"/>
            <a:ext cx="1295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5942806" y="2818606"/>
            <a:ext cx="1219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276600" y="2286000"/>
            <a:ext cx="1143000" cy="990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10800000" flipV="1">
            <a:off x="3200400" y="2286000"/>
            <a:ext cx="1219200" cy="9906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86000" y="1981200"/>
            <a:ext cx="1295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en-US" sz="2800" dirty="0">
                <a:sym typeface="Wingdings" pitchFamily="2" charset="2"/>
              </a:rPr>
              <a:t>(6)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3" grpId="3" build="p"/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6400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CN" sz="2800" dirty="0"/>
              <a:t>11) C=12</a:t>
            </a:r>
            <a:r>
              <a:rPr lang="zh-CN" altLang="en-US" sz="2800" dirty="0"/>
              <a:t>，</a:t>
            </a:r>
            <a:r>
              <a:rPr lang="en-US" altLang="zh-CN" sz="2800" dirty="0"/>
              <a:t>O=16</a:t>
            </a:r>
            <a:r>
              <a:rPr lang="zh-CN" altLang="en-US" sz="2800" dirty="0"/>
              <a:t>，</a:t>
            </a:r>
            <a:r>
              <a:rPr lang="en-US" altLang="zh-CN" sz="2800" dirty="0"/>
              <a:t>Ca=40</a:t>
            </a:r>
          </a:p>
          <a:p>
            <a:pPr marL="514350" indent="-514350">
              <a:buAutoNum type="arabicPeriod"/>
            </a:pPr>
            <a:r>
              <a:rPr lang="zh-CN" altLang="en-US" sz="2800" dirty="0"/>
              <a:t> </a:t>
            </a:r>
            <a:r>
              <a:rPr lang="en-US" altLang="zh-CN" sz="2800" dirty="0"/>
              <a:t>	</a:t>
            </a:r>
            <a:r>
              <a:rPr lang="zh-CN" altLang="en-US" sz="2800" dirty="0"/>
              <a:t>设：需</a:t>
            </a:r>
            <a:r>
              <a:rPr lang="en-US" altLang="zh-CN" sz="2800" dirty="0"/>
              <a:t>x g</a:t>
            </a:r>
            <a:r>
              <a:rPr lang="zh-CN" altLang="en-US" sz="2800" dirty="0"/>
              <a:t>含</a:t>
            </a:r>
            <a:r>
              <a:rPr lang="en-US" altLang="zh-CN" sz="2800" dirty="0"/>
              <a:t>90%</a:t>
            </a:r>
            <a:r>
              <a:rPr lang="zh-CN" altLang="en-US" sz="2800" dirty="0"/>
              <a:t>碳酸钙的石灰石</a:t>
            </a:r>
            <a:endParaRPr lang="en-US" altLang="zh-CN" sz="2800" dirty="0"/>
          </a:p>
          <a:p>
            <a:pPr marL="514350" indent="-514350">
              <a:buAutoNum type="arabicPeriod"/>
            </a:pPr>
            <a:r>
              <a:rPr lang="en-US" altLang="zh-CN" sz="2800" dirty="0"/>
              <a:t> CaCO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+2 HCl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  </a:t>
            </a:r>
            <a:r>
              <a:rPr lang="en-US" altLang="zh-CN" sz="2800" dirty="0">
                <a:sym typeface="Wingdings" pitchFamily="2" charset="2"/>
              </a:rPr>
              <a:t>  CaCl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CO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 + H</a:t>
            </a:r>
            <a:r>
              <a:rPr lang="en-US" altLang="zh-CN" sz="2800" baseline="-25000" dirty="0">
                <a:sym typeface="Wingdings" pitchFamily="2" charset="2"/>
              </a:rPr>
              <a:t>2</a:t>
            </a:r>
            <a:r>
              <a:rPr lang="en-US" altLang="zh-CN" sz="2800" dirty="0">
                <a:sym typeface="Wingdings" pitchFamily="2" charset="2"/>
              </a:rPr>
              <a:t>O</a:t>
            </a:r>
            <a:endParaRPr lang="en-US" altLang="zh-CN" sz="2800" baseline="-250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en-US" sz="2800" baseline="-25000" dirty="0">
                <a:sym typeface="Wingdings" pitchFamily="2" charset="2"/>
              </a:rPr>
              <a:t> </a:t>
            </a:r>
            <a:r>
              <a:rPr lang="en-US" sz="2800" dirty="0">
                <a:sym typeface="Wingdings" pitchFamily="2" charset="2"/>
              </a:rPr>
              <a:t>     </a:t>
            </a:r>
            <a:r>
              <a:rPr lang="en-US" altLang="zh-CN" sz="2800" dirty="0">
                <a:sym typeface="Wingdings" pitchFamily="2" charset="2"/>
              </a:rPr>
              <a:t>x</a:t>
            </a:r>
            <a:r>
              <a:rPr lang="en-US" sz="2800" dirty="0">
                <a:sym typeface="Wingdings" pitchFamily="2" charset="2"/>
              </a:rPr>
              <a:t> g 		                0.5mol</a:t>
            </a:r>
            <a:r>
              <a:rPr lang="en-US" altLang="zh-CN" sz="2800" dirty="0">
                <a:sym typeface="Wingdings" pitchFamily="2" charset="2"/>
              </a:rPr>
              <a:t> </a:t>
            </a:r>
            <a:endParaRPr lang="en-US" sz="2800" dirty="0">
              <a:sym typeface="Wingdings" pitchFamily="2" charset="2"/>
            </a:endParaRPr>
          </a:p>
          <a:p>
            <a:pPr marL="514350" indent="-514350">
              <a:buAutoNum type="arabicPeriod"/>
            </a:pPr>
            <a:r>
              <a:rPr lang="en-US" sz="2800" dirty="0">
                <a:sym typeface="Wingdings" pitchFamily="2" charset="2"/>
              </a:rPr>
              <a:t>  (40+12+16x3)g	      1mol</a:t>
            </a: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	   =100g		 </a:t>
            </a: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5. 		         (</a:t>
            </a:r>
            <a:r>
              <a:rPr lang="en-US" altLang="zh-CN" sz="2800" dirty="0">
                <a:sym typeface="Wingdings" pitchFamily="2" charset="2"/>
              </a:rPr>
              <a:t>x)(0.9) = (0.5)(100)	</a:t>
            </a:r>
          </a:p>
          <a:p>
            <a:pPr marL="514350" indent="-514350">
              <a:buNone/>
            </a:pPr>
            <a:r>
              <a:rPr lang="en-US" sz="2800" dirty="0">
                <a:sym typeface="Wingdings" pitchFamily="2" charset="2"/>
              </a:rPr>
              <a:t>			          x = 55.56</a:t>
            </a:r>
            <a:r>
              <a:rPr lang="en-US" altLang="zh-CN" sz="2800" dirty="0">
                <a:sym typeface="Wingdings" pitchFamily="2" charset="2"/>
              </a:rPr>
              <a:t>g</a:t>
            </a:r>
            <a:endParaRPr lang="en-US" sz="2800" dirty="0">
              <a:sym typeface="Wingdings" pitchFamily="2" charset="2"/>
            </a:endParaRPr>
          </a:p>
          <a:p>
            <a:pPr marL="514350" indent="-514350">
              <a:buNone/>
            </a:pPr>
            <a:endParaRPr lang="en-US" sz="2800" dirty="0">
              <a:sym typeface="Wingdings" pitchFamily="2" charset="2"/>
            </a:endParaRPr>
          </a:p>
          <a:p>
            <a:pPr marL="514350" indent="-514350">
              <a:buNone/>
            </a:pPr>
            <a:r>
              <a:rPr lang="zh-CN" altLang="en-US" sz="2800" dirty="0">
                <a:sym typeface="Wingdings" pitchFamily="2" charset="2"/>
              </a:rPr>
              <a:t>答：</a:t>
            </a:r>
            <a:r>
              <a:rPr lang="en-US" altLang="zh-CN" sz="2800" dirty="0">
                <a:sym typeface="Wingdings" pitchFamily="2" charset="2"/>
              </a:rPr>
              <a:t>55.56g</a:t>
            </a:r>
            <a:r>
              <a:rPr lang="zh-CN" altLang="en-US" sz="2800" dirty="0"/>
              <a:t>含</a:t>
            </a:r>
            <a:r>
              <a:rPr lang="en-US" altLang="zh-CN" sz="2800" dirty="0"/>
              <a:t>90%</a:t>
            </a:r>
            <a:r>
              <a:rPr lang="zh-CN" altLang="en-US" sz="2800" dirty="0"/>
              <a:t>碳酸钙的石灰石。</a:t>
            </a:r>
            <a:endParaRPr lang="en-US" altLang="zh-CN" sz="2800" dirty="0"/>
          </a:p>
          <a:p>
            <a:pPr marL="514350" indent="-514350">
              <a:buNone/>
            </a:pPr>
            <a:r>
              <a:rPr lang="zh-CN" altLang="en-US" sz="2800" dirty="0">
                <a:solidFill>
                  <a:srgbClr val="7030A0"/>
                </a:solidFill>
                <a:sym typeface="Wingdings" pitchFamily="2" charset="2"/>
              </a:rPr>
              <a:t>生成的</a:t>
            </a:r>
            <a:r>
              <a:rPr lang="en-US" altLang="zh-CN" sz="2800" dirty="0">
                <a:solidFill>
                  <a:srgbClr val="7030A0"/>
                </a:solidFill>
                <a:sym typeface="Wingdings" pitchFamily="2" charset="2"/>
              </a:rPr>
              <a:t>CaCl</a:t>
            </a:r>
            <a:r>
              <a:rPr lang="en-US" altLang="zh-CN" sz="2800" baseline="-25000" dirty="0">
                <a:solidFill>
                  <a:srgbClr val="7030A0"/>
                </a:solidFill>
                <a:sym typeface="Wingdings" pitchFamily="2" charset="2"/>
              </a:rPr>
              <a:t>2</a:t>
            </a:r>
            <a:r>
              <a:rPr lang="en-US" altLang="zh-CN" sz="2800" dirty="0">
                <a:solidFill>
                  <a:srgbClr val="7030A0"/>
                </a:solidFill>
                <a:sym typeface="Wingdings" pitchFamily="2" charset="2"/>
              </a:rPr>
              <a:t> </a:t>
            </a:r>
            <a:r>
              <a:rPr lang="zh-CN" altLang="en-US" sz="2800" dirty="0">
                <a:solidFill>
                  <a:srgbClr val="7030A0"/>
                </a:solidFill>
                <a:sym typeface="Wingdings" pitchFamily="2" charset="2"/>
              </a:rPr>
              <a:t>的量与</a:t>
            </a:r>
            <a:r>
              <a:rPr lang="en-US" altLang="zh-CN" sz="2800" dirty="0">
                <a:solidFill>
                  <a:srgbClr val="7030A0"/>
                </a:solidFill>
                <a:sym typeface="Wingdings" pitchFamily="2" charset="2"/>
              </a:rPr>
              <a:t>CO</a:t>
            </a:r>
            <a:r>
              <a:rPr lang="en-US" altLang="zh-CN" sz="2800" baseline="-25000" dirty="0">
                <a:solidFill>
                  <a:srgbClr val="7030A0"/>
                </a:solidFill>
                <a:sym typeface="Wingdings" pitchFamily="2" charset="2"/>
              </a:rPr>
              <a:t>2</a:t>
            </a:r>
            <a:r>
              <a:rPr lang="zh-CN" altLang="en-US" sz="2800" baseline="-25000" dirty="0">
                <a:solidFill>
                  <a:srgbClr val="7030A0"/>
                </a:solidFill>
                <a:sym typeface="Wingdings" pitchFamily="2" charset="2"/>
              </a:rPr>
              <a:t> </a:t>
            </a:r>
            <a:r>
              <a:rPr lang="zh-CN" altLang="en-US" sz="2800" dirty="0">
                <a:solidFill>
                  <a:srgbClr val="7030A0"/>
                </a:solidFill>
                <a:sym typeface="Wingdings" pitchFamily="2" charset="2"/>
              </a:rPr>
              <a:t> 一样是</a:t>
            </a:r>
            <a:r>
              <a:rPr lang="en-US" altLang="zh-CN" sz="2800" dirty="0">
                <a:solidFill>
                  <a:srgbClr val="7030A0"/>
                </a:solidFill>
                <a:sym typeface="Wingdings" pitchFamily="2" charset="2"/>
              </a:rPr>
              <a:t>0.5mol.</a:t>
            </a:r>
            <a:endParaRPr lang="en-US" sz="2800" dirty="0">
              <a:solidFill>
                <a:srgbClr val="7030A0"/>
              </a:solidFill>
              <a:sym typeface="Wingdings" pitchFamily="2" charset="2"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496094" y="2780506"/>
            <a:ext cx="12954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rot="5400000">
            <a:off x="5942806" y="2818606"/>
            <a:ext cx="1219200" cy="1588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3276600" y="2286000"/>
            <a:ext cx="12954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rot="10800000" flipV="1">
            <a:off x="3200400" y="2286000"/>
            <a:ext cx="1219200" cy="99060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905000" y="1981200"/>
            <a:ext cx="12954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/>
            <a:r>
              <a:rPr lang="en-US" sz="2800" dirty="0">
                <a:sym typeface="Wingdings" pitchFamily="2" charset="2"/>
              </a:rPr>
              <a:t>(90%)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3" grpId="2" build="p"/>
      <p:bldP spid="3" grpId="3" build="p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1634</Words>
  <Application>Microsoft Office PowerPoint</Application>
  <PresentationFormat>On-screen Show (4:3)</PresentationFormat>
  <Paragraphs>177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第四章 化学方程式与化学计算 </vt:lpstr>
      <vt:lpstr>选择题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化学方程式与化学计算 </dc:title>
  <dc:creator>user</dc:creator>
  <cp:lastModifiedBy>User</cp:lastModifiedBy>
  <cp:revision>53</cp:revision>
  <dcterms:created xsi:type="dcterms:W3CDTF">2016-03-15T09:38:12Z</dcterms:created>
  <dcterms:modified xsi:type="dcterms:W3CDTF">2020-04-30T18:15:30Z</dcterms:modified>
</cp:coreProperties>
</file>