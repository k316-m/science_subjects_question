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262" r:id="rId3"/>
    <p:sldId id="306" r:id="rId4"/>
    <p:sldId id="263" r:id="rId5"/>
    <p:sldId id="264" r:id="rId6"/>
    <p:sldId id="265" r:id="rId7"/>
    <p:sldId id="266" r:id="rId8"/>
    <p:sldId id="268" r:id="rId9"/>
    <p:sldId id="267" r:id="rId10"/>
    <p:sldId id="269" r:id="rId11"/>
    <p:sldId id="270" r:id="rId12"/>
    <p:sldId id="307" r:id="rId13"/>
    <p:sldId id="273" r:id="rId14"/>
    <p:sldId id="272" r:id="rId15"/>
    <p:sldId id="274" r:id="rId16"/>
    <p:sldId id="276" r:id="rId17"/>
    <p:sldId id="275" r:id="rId18"/>
    <p:sldId id="279" r:id="rId19"/>
    <p:sldId id="280" r:id="rId20"/>
    <p:sldId id="308" r:id="rId21"/>
    <p:sldId id="309" r:id="rId22"/>
    <p:sldId id="277" r:id="rId23"/>
    <p:sldId id="278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303" r:id="rId33"/>
    <p:sldId id="304" r:id="rId34"/>
    <p:sldId id="305" r:id="rId35"/>
    <p:sldId id="310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11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2D1ABC"/>
    <a:srgbClr val="CCFF66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29" autoAdjust="0"/>
    <p:restoredTop sz="94660"/>
  </p:normalViewPr>
  <p:slideViewPr>
    <p:cSldViewPr>
      <p:cViewPr varScale="1">
        <p:scale>
          <a:sx n="68" d="100"/>
          <a:sy n="68" d="100"/>
        </p:scale>
        <p:origin x="142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D6688-5DD1-44BC-B31A-EC1609157C8F}" type="datetimeFigureOut">
              <a:rPr lang="en-US" smtClean="0"/>
              <a:pPr/>
              <a:t>3/30/2020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gi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zh-CN" altLang="en-US" sz="8000" b="1" dirty="0">
                <a:ln w="17780" cmpd="sng">
                  <a:solidFill>
                    <a:srgbClr val="7030A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第</a:t>
            </a:r>
            <a:r>
              <a:rPr lang="en-US" altLang="zh-CN" sz="8000" b="1" dirty="0">
                <a:ln w="17780" cmpd="sng">
                  <a:solidFill>
                    <a:srgbClr val="7030A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35</a:t>
            </a:r>
            <a:r>
              <a:rPr lang="zh-CN" altLang="en-US" sz="8000" b="1" dirty="0">
                <a:ln w="17780" cmpd="sng">
                  <a:solidFill>
                    <a:srgbClr val="7030A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章 </a:t>
            </a:r>
            <a:br>
              <a:rPr lang="en-US" altLang="zh-CN" sz="8000" b="1" dirty="0">
                <a:ln w="17780" cmpd="sng">
                  <a:solidFill>
                    <a:srgbClr val="7030A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</a:br>
            <a:r>
              <a:rPr lang="zh-CN" altLang="en-US" sz="8000" b="1" dirty="0">
                <a:ln w="17780" cmpd="sng">
                  <a:solidFill>
                    <a:srgbClr val="7030A0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有机高分子化合物</a:t>
            </a:r>
            <a:endParaRPr lang="en-US" sz="8000" b="1" dirty="0">
              <a:ln w="17780" cmpd="sng">
                <a:solidFill>
                  <a:srgbClr val="7030A0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35.1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有机高分子化合物的基本概念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9916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又称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聚合物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相对分子质量大（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en-US" altLang="zh-CN" sz="3000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~ 10</a:t>
            </a:r>
            <a:r>
              <a:rPr lang="en-US" altLang="zh-CN" sz="3000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分类：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无机高分子化合物：玻璃、云母、石墨、弹性硫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有机高分子化合物</a:t>
            </a:r>
            <a:endParaRPr lang="en-US" altLang="zh-CN" sz="3000" dirty="0"/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天然有机高分子化合物：蛋白质、淀粉、纤维素、天然橡胶等</a:t>
            </a:r>
            <a:endParaRPr lang="en-US" altLang="zh-CN" sz="3000" dirty="0"/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合成有机高分子化合物：塑料、合成纤维、合成橡胶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 lvl="1"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n>
                  <a:solidFill>
                    <a:srgbClr val="7030A0"/>
                  </a:solidFill>
                </a:ln>
              </a:rPr>
              <a:t>思考题 </a:t>
            </a:r>
            <a:r>
              <a:rPr lang="en-US" altLang="zh-CN" sz="4000" b="1" dirty="0">
                <a:ln>
                  <a:solidFill>
                    <a:srgbClr val="7030A0"/>
                  </a:solidFill>
                </a:ln>
              </a:rPr>
              <a:t>35a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458200" cy="5867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800" dirty="0"/>
              <a:t>Ans: A 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800" dirty="0"/>
              <a:t>B </a:t>
            </a:r>
            <a:r>
              <a:rPr lang="zh-CN" altLang="en-US" sz="2800" dirty="0"/>
              <a:t>云母：无机高分子化合物</a:t>
            </a:r>
            <a:endParaRPr lang="en-MY" altLang="zh-CN" sz="2800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800" dirty="0"/>
              <a:t>CD</a:t>
            </a:r>
            <a:r>
              <a:rPr lang="zh-CN" altLang="en-US" sz="2800" dirty="0"/>
              <a:t>：低分子有机物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4206778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高分子化合物的结构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聚合物</a:t>
            </a:r>
            <a:r>
              <a:rPr lang="zh-CN" altLang="en-US" sz="2800" dirty="0"/>
              <a:t>：由许多低分子化合物（单体）发生聚合反应而形成分子非常大的化合物。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单体</a:t>
            </a:r>
            <a:r>
              <a:rPr lang="zh-CN" altLang="en-US" sz="2800" dirty="0"/>
              <a:t>：用来合成高分子化合物（聚合物）的低分子化合物。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</a:rPr>
              <a:t>聚合反应</a:t>
            </a:r>
            <a:r>
              <a:rPr lang="zh-CN" altLang="en-US" sz="2800" dirty="0"/>
              <a:t>：由小分子的单体连接成聚合物的过程。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   n</a:t>
            </a:r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链节</a:t>
            </a:r>
            <a:r>
              <a:rPr lang="zh-CN" altLang="en-US" sz="2800" dirty="0"/>
              <a:t>：在聚合物里重复的结构单位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聚合度</a:t>
            </a:r>
            <a:r>
              <a:rPr lang="zh-CN" altLang="en-US" sz="2800" dirty="0"/>
              <a:t>： 聚合物里链节的重复次数</a:t>
            </a:r>
            <a:endParaRPr lang="en-US" altLang="zh-CN" sz="2800" dirty="0"/>
          </a:p>
          <a:p>
            <a:pPr lvl="1">
              <a:spcBef>
                <a:spcPts val="1200"/>
              </a:spcBef>
              <a:buNone/>
            </a:pPr>
            <a:endParaRPr lang="en-US" altLang="zh-CN" dirty="0"/>
          </a:p>
        </p:txBody>
      </p:sp>
      <p:grpSp>
        <p:nvGrpSpPr>
          <p:cNvPr id="6" name="Group 47"/>
          <p:cNvGrpSpPr/>
          <p:nvPr/>
        </p:nvGrpSpPr>
        <p:grpSpPr>
          <a:xfrm>
            <a:off x="3276600" y="3745468"/>
            <a:ext cx="1280160" cy="372309"/>
            <a:chOff x="2819400" y="5876091"/>
            <a:chExt cx="1280160" cy="372309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0" y="6246812"/>
              <a:ext cx="128016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87609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2D1AB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聚合反应</a:t>
              </a:r>
              <a:endParaRPr lang="en-US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10" name="Picture 9" descr="178.jpg"/>
          <p:cNvPicPr>
            <a:picLocks noChangeAspect="1"/>
          </p:cNvPicPr>
          <p:nvPr/>
        </p:nvPicPr>
        <p:blipFill>
          <a:blip r:embed="rId3"/>
          <a:srcRect l="3846" t="23769" r="63462" b="41929"/>
          <a:stretch>
            <a:fillRect/>
          </a:stretch>
        </p:blipFill>
        <p:spPr>
          <a:xfrm>
            <a:off x="1371600" y="3429000"/>
            <a:ext cx="1463040" cy="1463040"/>
          </a:xfrm>
          <a:prstGeom prst="rect">
            <a:avLst/>
          </a:prstGeom>
        </p:spPr>
      </p:pic>
      <p:pic>
        <p:nvPicPr>
          <p:cNvPr id="11" name="Picture 10" descr="178.jpg"/>
          <p:cNvPicPr>
            <a:picLocks noChangeAspect="1"/>
          </p:cNvPicPr>
          <p:nvPr/>
        </p:nvPicPr>
        <p:blipFill>
          <a:blip r:embed="rId3"/>
          <a:srcRect l="59615" t="23769" r="9615" b="41929"/>
          <a:stretch>
            <a:fillRect/>
          </a:stretch>
        </p:blipFill>
        <p:spPr>
          <a:xfrm>
            <a:off x="4724400" y="3505200"/>
            <a:ext cx="1376979" cy="146304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791200" y="4267200"/>
            <a:ext cx="381000" cy="3810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676400" y="472440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单体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19600" y="4800600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聚合物</a:t>
            </a:r>
            <a:endParaRPr 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38800" y="4800600"/>
            <a:ext cx="2198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链节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不写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n)</a:t>
            </a:r>
            <a:endParaRPr 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高分子化合物的结构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聚合物可以是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由一种单体</a:t>
            </a:r>
            <a:r>
              <a:rPr lang="zh-CN" altLang="en-US" sz="2800" dirty="0"/>
              <a:t>组成，如：聚乙烯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也可以是由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两种或多种不同</a:t>
            </a:r>
            <a:r>
              <a:rPr lang="zh-CN" altLang="en-US" sz="2800" dirty="0"/>
              <a:t>的单体组成，如：尼龙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聚合物是混合物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400" dirty="0"/>
              <a:t>每一条分子链上的链节并不是一样多。</a:t>
            </a:r>
            <a:endParaRPr lang="en-US" altLang="zh-CN" sz="2400" dirty="0"/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400" dirty="0"/>
              <a:t>聚合物实质上是由不同聚合度的</a:t>
            </a:r>
            <a:endParaRPr lang="en-US" altLang="zh-CN" sz="2400" dirty="0"/>
          </a:p>
          <a:p>
            <a:pPr lvl="1">
              <a:spcBef>
                <a:spcPts val="1200"/>
              </a:spcBef>
              <a:buNone/>
            </a:pPr>
            <a:r>
              <a:rPr lang="zh-CN" altLang="en-US" sz="2400" dirty="0"/>
              <a:t>分子链组成的混合物。</a:t>
            </a:r>
            <a:endParaRPr lang="en-US" altLang="zh-CN" sz="2400" dirty="0"/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400" dirty="0"/>
              <a:t>其式量只是一个平均值。</a:t>
            </a:r>
            <a:endParaRPr lang="en-US" altLang="zh-CN" sz="24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lvl="1"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dirty="0"/>
          </a:p>
        </p:txBody>
      </p:sp>
      <p:sp>
        <p:nvSpPr>
          <p:cNvPr id="6" name="Can 5"/>
          <p:cNvSpPr/>
          <p:nvPr/>
        </p:nvSpPr>
        <p:spPr>
          <a:xfrm>
            <a:off x="7467600" y="2514600"/>
            <a:ext cx="1143000" cy="2362200"/>
          </a:xfrm>
          <a:prstGeom prst="ca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>
            <a:off x="6515894" y="3694906"/>
            <a:ext cx="190500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6720046" y="3641566"/>
            <a:ext cx="164592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6569234" y="3793966"/>
            <a:ext cx="210312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6691154" y="3870166"/>
            <a:ext cx="201168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6995954" y="3748246"/>
            <a:ext cx="155448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>
            <a:off x="6796246" y="3793966"/>
            <a:ext cx="210312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7102634" y="4022566"/>
            <a:ext cx="164592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>
            <a:off x="7087394" y="3961606"/>
            <a:ext cx="182880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7072154" y="3870166"/>
            <a:ext cx="201168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>
            <a:off x="7376954" y="3748246"/>
            <a:ext cx="155448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>
            <a:off x="7177246" y="3793966"/>
            <a:ext cx="210312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>
            <a:off x="7483634" y="4022566"/>
            <a:ext cx="164592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>
            <a:off x="7468394" y="3961606"/>
            <a:ext cx="182880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7558246" y="3793966"/>
            <a:ext cx="210312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>
            <a:off x="7636034" y="4022566"/>
            <a:ext cx="164592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7620794" y="3961606"/>
            <a:ext cx="1828800" cy="1588"/>
          </a:xfrm>
          <a:prstGeom prst="line">
            <a:avLst/>
          </a:prstGeom>
          <a:ln w="50800">
            <a:solidFill>
              <a:srgbClr val="2D1A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-5891" y="4413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高分子化合物的结构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依聚合物的结构可分为：</a:t>
            </a:r>
            <a:endParaRPr lang="en-US" altLang="zh-CN" sz="2800" dirty="0"/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线型</a:t>
            </a:r>
            <a:endParaRPr lang="en-US" altLang="zh-CN" dirty="0"/>
          </a:p>
          <a:p>
            <a:pPr lvl="2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直链型：聚乙烯、聚氯乙烯</a:t>
            </a:r>
            <a:endParaRPr lang="en-US" altLang="zh-CN" sz="2800" dirty="0"/>
          </a:p>
          <a:p>
            <a:pPr lvl="2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支链型：天然橡胶</a:t>
            </a:r>
            <a:endParaRPr lang="en-US" altLang="zh-CN" sz="2800" dirty="0"/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/>
              <a:t>体型</a:t>
            </a:r>
            <a:r>
              <a:rPr lang="zh-CN" altLang="en-US" dirty="0">
                <a:sym typeface="Wingdings" pitchFamily="2" charset="2"/>
              </a:rPr>
              <a:t>（网状结构）：电木</a:t>
            </a:r>
            <a:endParaRPr lang="en-US" altLang="zh-CN" dirty="0">
              <a:sym typeface="Wingdings" pitchFamily="2" charset="2"/>
            </a:endParaRPr>
          </a:p>
          <a:p>
            <a:pPr lvl="1">
              <a:spcBef>
                <a:spcPts val="1200"/>
              </a:spcBef>
              <a:buNone/>
            </a:pPr>
            <a:endParaRPr lang="en-US" altLang="zh-CN" sz="24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lvl="1">
              <a:spcBef>
                <a:spcPts val="1200"/>
              </a:spcBef>
              <a:buNone/>
            </a:pPr>
            <a:endParaRPr lang="en-US" altLang="zh-CN" dirty="0"/>
          </a:p>
        </p:txBody>
      </p:sp>
      <p:pic>
        <p:nvPicPr>
          <p:cNvPr id="6" name="Picture 5" descr="17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62400"/>
            <a:ext cx="7315200" cy="2438400"/>
          </a:xfrm>
          <a:prstGeom prst="rect">
            <a:avLst/>
          </a:prstGeom>
        </p:spPr>
      </p:pic>
      <p:pic>
        <p:nvPicPr>
          <p:cNvPr id="7" name="Picture 6" descr="177.jpg"/>
          <p:cNvPicPr>
            <a:picLocks noChangeAspect="1"/>
          </p:cNvPicPr>
          <p:nvPr/>
        </p:nvPicPr>
        <p:blipFill>
          <a:blip r:embed="rId4"/>
          <a:srcRect t="50856" r="32605" b="2200"/>
          <a:stretch>
            <a:fillRect/>
          </a:stretch>
        </p:blipFill>
        <p:spPr>
          <a:xfrm>
            <a:off x="5486400" y="3962400"/>
            <a:ext cx="3505200" cy="1828800"/>
          </a:xfrm>
          <a:prstGeom prst="rect">
            <a:avLst/>
          </a:prstGeom>
        </p:spPr>
      </p:pic>
      <p:pic>
        <p:nvPicPr>
          <p:cNvPr id="8" name="Picture 7" descr="177.jpg"/>
          <p:cNvPicPr>
            <a:picLocks noChangeAspect="1"/>
          </p:cNvPicPr>
          <p:nvPr/>
        </p:nvPicPr>
        <p:blipFill>
          <a:blip r:embed="rId4"/>
          <a:srcRect t="23472" b="51100"/>
          <a:stretch>
            <a:fillRect/>
          </a:stretch>
        </p:blipFill>
        <p:spPr>
          <a:xfrm>
            <a:off x="838200" y="4038600"/>
            <a:ext cx="48768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35.3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高分子化合物的物理性质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弹性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线型</a:t>
            </a:r>
            <a:r>
              <a:rPr lang="zh-CN" altLang="en-US" sz="2800" dirty="0"/>
              <a:t>聚合物，分子链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一般</a:t>
            </a:r>
            <a:r>
              <a:rPr lang="zh-CN" altLang="en-US" sz="2800" dirty="0"/>
              <a:t>是卷曲。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当受到拉力时，它可以被拉长。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作用力消失，它又恢复原状。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分子链之间交联增加时，聚合物的弹性逐渐消失。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体型聚合物一般没有弹性。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spcBef>
                <a:spcPts val="1200"/>
              </a:spcBef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35.3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高分子化合物的物理性质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可塑性：有些聚合物当加热到某个温度时会软化而可以被塑造成各种形状、拉成丝或吹成薄膜，冷却后，所造成的形状保持不变的性质。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线型聚合物一般具有可塑性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热塑性</a:t>
            </a:r>
            <a:r>
              <a:rPr lang="en-US" altLang="zh-CN" sz="2800" dirty="0"/>
              <a:t>: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可重复地加热</a:t>
            </a:r>
            <a:r>
              <a:rPr lang="zh-CN" altLang="en-US" sz="2800" dirty="0"/>
              <a:t>熔化被塑造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	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热塑性塑料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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单体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	(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可逆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)</a:t>
            </a:r>
            <a:endParaRPr lang="en-US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体型聚合物加热时不软化，没有可塑性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热固性：受热熔化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一定形状</a:t>
            </a:r>
            <a:r>
              <a:rPr lang="en-US" altLang="zh-CN" sz="2800" dirty="0">
                <a:sym typeface="Wingdings" pitchFamily="2" charset="2"/>
              </a:rPr>
              <a:t>+</a:t>
            </a:r>
            <a:r>
              <a:rPr lang="zh-CN" altLang="en-US" sz="2800" dirty="0">
                <a:sym typeface="Wingdings" pitchFamily="2" charset="2"/>
              </a:rPr>
              <a:t>固化剂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网状结构硬化定型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再受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热不会也熔化。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线型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 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体型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sz="2800" dirty="0">
                <a:solidFill>
                  <a:srgbClr val="0070C0"/>
                </a:solidFill>
              </a:rPr>
              <a:t>	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单体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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热固性塑料 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(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不可逆</a:t>
            </a: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)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sz="2400" dirty="0"/>
              <a:t>	</a:t>
            </a:r>
          </a:p>
          <a:p>
            <a:pPr lvl="1">
              <a:spcBef>
                <a:spcPts val="1200"/>
              </a:spcBef>
              <a:buNone/>
            </a:pPr>
            <a:endParaRPr lang="en-US" altLang="zh-CN" dirty="0"/>
          </a:p>
        </p:txBody>
      </p:sp>
      <p:grpSp>
        <p:nvGrpSpPr>
          <p:cNvPr id="6" name="Group 47"/>
          <p:cNvGrpSpPr/>
          <p:nvPr/>
        </p:nvGrpSpPr>
        <p:grpSpPr>
          <a:xfrm>
            <a:off x="5943600" y="5193268"/>
            <a:ext cx="914400" cy="369332"/>
            <a:chOff x="2895600" y="5963959"/>
            <a:chExt cx="914400" cy="369332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95600" y="6246812"/>
              <a:ext cx="9144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963959"/>
              <a:ext cx="881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固化剂</a:t>
              </a:r>
              <a:endPara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35.3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高分子化合物的物理性质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机械强度：物质在受到外力作用时，会产生相应的作用力以抵抗外力的性质。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物质断裂：外力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 </a:t>
            </a:r>
            <a:r>
              <a:rPr lang="zh-CN" altLang="en-US" sz="2800" dirty="0"/>
              <a:t>机械强度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机械强度：聚合物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r>
              <a:rPr lang="en-US" altLang="zh-CN" sz="2800" dirty="0"/>
              <a:t> </a:t>
            </a:r>
            <a:r>
              <a:rPr lang="zh-CN" altLang="en-US" sz="2800" dirty="0"/>
              <a:t>相同质量的其他材料。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机械强度：网状结构</a:t>
            </a:r>
            <a:r>
              <a:rPr lang="en-US" altLang="zh-CN" sz="2800" dirty="0"/>
              <a:t>(</a:t>
            </a:r>
            <a:r>
              <a:rPr lang="zh-CN" altLang="en-US" sz="2800" dirty="0"/>
              <a:t>体型</a:t>
            </a:r>
            <a:r>
              <a:rPr lang="en-US" altLang="zh-CN" sz="2800" dirty="0"/>
              <a:t>)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r>
              <a:rPr lang="en-US" altLang="zh-CN" sz="2800" dirty="0"/>
              <a:t> </a:t>
            </a:r>
            <a:r>
              <a:rPr lang="zh-CN" altLang="en-US" sz="2800" dirty="0"/>
              <a:t>线型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影响机械强度大小的因素：</a:t>
            </a:r>
            <a:endParaRPr lang="en-US" altLang="zh-CN" sz="2800" dirty="0"/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400" dirty="0"/>
              <a:t>聚合度</a:t>
            </a:r>
            <a:endParaRPr lang="en-US" altLang="zh-CN" sz="2400" dirty="0"/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400" dirty="0"/>
              <a:t>结晶度</a:t>
            </a:r>
            <a:endParaRPr lang="en-US" altLang="zh-CN" sz="2400" dirty="0"/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400" dirty="0"/>
              <a:t>分子间作用力</a:t>
            </a:r>
            <a:endParaRPr lang="en-US" altLang="zh-CN" sz="24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 lvl="1">
              <a:spcBef>
                <a:spcPts val="1200"/>
              </a:spcBef>
              <a:buNone/>
            </a:pPr>
            <a:endParaRPr lang="en-US" altLang="zh-CN" dirty="0"/>
          </a:p>
        </p:txBody>
      </p:sp>
      <p:pic>
        <p:nvPicPr>
          <p:cNvPr id="6" name="Picture 5" descr="11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322" y="3048000"/>
            <a:ext cx="2761878" cy="2085975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6858000" y="3505200"/>
            <a:ext cx="1447800" cy="1752600"/>
            <a:chOff x="6400800" y="3657600"/>
            <a:chExt cx="1447800" cy="1752600"/>
          </a:xfrm>
        </p:grpSpPr>
        <p:cxnSp>
          <p:nvCxnSpPr>
            <p:cNvPr id="9" name="Straight Arrow Connector 8"/>
            <p:cNvCxnSpPr/>
            <p:nvPr/>
          </p:nvCxnSpPr>
          <p:spPr>
            <a:xfrm rot="5400000" flipH="1" flipV="1">
              <a:off x="6286500" y="3771900"/>
              <a:ext cx="1676400" cy="1447800"/>
            </a:xfrm>
            <a:prstGeom prst="straightConnector1">
              <a:avLst/>
            </a:prstGeom>
            <a:ln w="38100">
              <a:solidFill>
                <a:srgbClr val="2D1AB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rot="5400000" flipH="1" flipV="1">
              <a:off x="6134100" y="4762500"/>
              <a:ext cx="914400" cy="381000"/>
            </a:xfrm>
            <a:prstGeom prst="straightConnector1">
              <a:avLst/>
            </a:prstGeom>
            <a:ln w="38100">
              <a:solidFill>
                <a:srgbClr val="2D1AB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5715000" y="5257800"/>
            <a:ext cx="270939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结晶区：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分子排列整齐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分子间作用力大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35.3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高分子化合物的物理性质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800" dirty="0"/>
              <a:t>电绝缘性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聚合物内的原子是以共价键相连接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没有自由移动的电子或离子，所以不能导电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分子内含有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极性官能团</a:t>
            </a:r>
            <a:r>
              <a:rPr lang="zh-CN" altLang="en-US" sz="2800" dirty="0"/>
              <a:t>将会降低聚合物的绝缘性。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目前已研制出会导电的塑料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35.3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高分子化合物的物理性质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化学稳定性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具有饱和链烃的稳定性，能耐化学腐蚀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有苯环结构，比较耐热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有些耐油、不透水。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一般来说，大多数聚合物不耐高温、易燃烧、易老化等缺点</a:t>
            </a:r>
            <a:endParaRPr lang="en-MY" altLang="zh-CN" sz="2800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800" dirty="0"/>
              <a:t>思考题 </a:t>
            </a:r>
            <a:r>
              <a:rPr lang="en-US" altLang="zh-CN" sz="2800" dirty="0"/>
              <a:t>35c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800" dirty="0"/>
              <a:t>1. D </a:t>
            </a:r>
            <a:endParaRPr lang="zh-CN" altLang="en-US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高分子化合物的化学性质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大多具有饱和烃的稳定性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具有很强的化学稳定性，可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制成耐化学腐蚀产品</a:t>
            </a:r>
            <a:endParaRPr lang="en-MY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大多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不耐高温、易燃、易老化</a:t>
            </a:r>
            <a:endParaRPr lang="en-MY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聚合反应</a:t>
            </a:r>
            <a:r>
              <a:rPr lang="zh-CN" altLang="en-US" sz="2800" dirty="0"/>
              <a:t>： 由小分子的单体连接成聚合物的过程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800" dirty="0"/>
              <a:t>可分为：</a:t>
            </a:r>
            <a:r>
              <a:rPr lang="en-US" altLang="zh-CN" sz="2800" dirty="0"/>
              <a:t>1.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加成聚合反应</a:t>
            </a:r>
            <a:endParaRPr lang="en-US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800" dirty="0"/>
              <a:t>		      2. 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缩合聚合反应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959898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35.4.1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加成聚合反应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800" dirty="0"/>
              <a:t>加成聚合反应：一些具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有不饱和键的单体</a:t>
            </a:r>
            <a:r>
              <a:rPr lang="zh-CN" altLang="en-US" sz="2800" dirty="0"/>
              <a:t>在一定条件下通过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加成反应</a:t>
            </a:r>
            <a:r>
              <a:rPr lang="zh-CN" altLang="en-US" sz="2800" dirty="0"/>
              <a:t>连接在一起的反应。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800" dirty="0"/>
              <a:t>特点：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单体可相同或不同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单体要有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C=C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双键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没有其他产物（没副产品）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endParaRPr lang="zh-CN" altLang="en-US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35.4.1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加成聚合反应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800" dirty="0"/>
              <a:t>聚乙烯的聚合反应：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AutoNum type="arabicPeriod"/>
            </a:pPr>
            <a:r>
              <a:rPr lang="zh-CN" altLang="en-US" sz="2800" dirty="0"/>
              <a:t>链引发：</a:t>
            </a:r>
            <a:r>
              <a:rPr lang="zh-CN" alt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须引发剂</a:t>
            </a:r>
            <a:r>
              <a:rPr lang="en-US" altLang="zh-CN" sz="2800" dirty="0"/>
              <a:t>(</a:t>
            </a:r>
            <a:r>
              <a:rPr lang="zh-CN" altLang="en-US" sz="2800" dirty="0"/>
              <a:t>易分解生成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游离基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·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dirty="0"/>
              <a:t>)</a:t>
            </a:r>
          </a:p>
          <a:p>
            <a:pPr marL="914400" lvl="1" indent="-51435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·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en-US" altLang="zh-CN" sz="2400" dirty="0">
                <a:sym typeface="Wingdings" pitchFamily="2" charset="2"/>
              </a:rPr>
              <a:t> 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	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·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—CH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 R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2800" dirty="0"/>
              <a:t>链增长</a:t>
            </a:r>
            <a:endParaRPr lang="en-US" altLang="zh-CN" sz="2800" dirty="0"/>
          </a:p>
          <a:p>
            <a:pPr marL="914400" lvl="1" indent="-514350">
              <a:spcBef>
                <a:spcPts val="1200"/>
              </a:spcBef>
              <a:buNone/>
            </a:pPr>
            <a:r>
              <a:rPr lang="en-US" altLang="zh-CN" sz="2400" dirty="0">
                <a:sym typeface="Wingdings" pitchFamily="2" charset="2"/>
              </a:rPr>
              <a:t>	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+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·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—CH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Wingdings" pitchFamily="2" charset="2"/>
              </a:rPr>
              <a:t></a:t>
            </a:r>
            <a:r>
              <a:rPr lang="en-US" altLang="zh-CN" sz="2400" dirty="0">
                <a:latin typeface="Arial"/>
                <a:cs typeface="Arial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·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 R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2800" dirty="0"/>
              <a:t>链终止：</a:t>
            </a:r>
            <a:r>
              <a:rPr lang="zh-CN" alt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须终止剂</a:t>
            </a:r>
            <a:endParaRPr lang="en-US" altLang="zh-CN" sz="2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~~~CH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·</a:t>
            </a:r>
            <a:r>
              <a:rPr lang="en-US" altLang="zh-CN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+</a:t>
            </a:r>
            <a:r>
              <a:rPr lang="en-US" altLang="zh-CN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·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~~~  	   ~~~CH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—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~~~</a:t>
            </a:r>
            <a:endParaRPr lang="en-US" altLang="zh-CN" sz="24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~~~CH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·</a:t>
            </a:r>
            <a:r>
              <a:rPr lang="en-US" altLang="zh-CN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+</a:t>
            </a:r>
            <a:r>
              <a:rPr lang="en-US" altLang="zh-CN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·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—CH</a:t>
            </a:r>
            <a:r>
              <a:rPr lang="en-US" altLang="zh-CN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~~~  	</a:t>
            </a:r>
            <a:r>
              <a:rPr lang="en-US" altLang="zh-CN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~~~CH</a:t>
            </a:r>
            <a:r>
              <a:rPr lang="en-US" altLang="zh-CN" sz="24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—CH</a:t>
            </a:r>
            <a:r>
              <a:rPr lang="en-US" altLang="zh-CN" sz="24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+</a:t>
            </a:r>
            <a:r>
              <a:rPr lang="en-US" altLang="zh-CN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n-US" altLang="zh-CN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24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=CH~~~</a:t>
            </a:r>
            <a:endParaRPr lang="en-US" altLang="zh-CN" sz="2400" dirty="0">
              <a:solidFill>
                <a:srgbClr val="FF00FF"/>
              </a:solidFill>
            </a:endParaRPr>
          </a:p>
          <a:p>
            <a:pPr marL="914400" lvl="1" indent="-514350"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endParaRPr lang="zh-CN" altLang="en-US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Curved Down Arrow 8"/>
          <p:cNvSpPr/>
          <p:nvPr/>
        </p:nvSpPr>
        <p:spPr>
          <a:xfrm>
            <a:off x="1905000" y="2514600"/>
            <a:ext cx="64008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urved Down Arrow 9"/>
          <p:cNvSpPr/>
          <p:nvPr/>
        </p:nvSpPr>
        <p:spPr>
          <a:xfrm flipH="1">
            <a:off x="1143000" y="2514600"/>
            <a:ext cx="73152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20051" y="2922092"/>
            <a:ext cx="1723549" cy="583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lnSpc>
                <a:spcPct val="150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单体游离基</a:t>
            </a:r>
            <a:endParaRPr lang="en-US" altLang="zh-CN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2" name="Group 47"/>
          <p:cNvGrpSpPr/>
          <p:nvPr/>
        </p:nvGrpSpPr>
        <p:grpSpPr>
          <a:xfrm>
            <a:off x="4250072" y="4840069"/>
            <a:ext cx="779128" cy="646331"/>
            <a:chOff x="2924192" y="5963959"/>
            <a:chExt cx="779128" cy="646331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29718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924192" y="5963959"/>
              <a:ext cx="6495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双基</a:t>
              </a:r>
              <a:endPara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结合</a:t>
              </a:r>
              <a:endPara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5" name="Group 47"/>
          <p:cNvGrpSpPr/>
          <p:nvPr/>
        </p:nvGrpSpPr>
        <p:grpSpPr>
          <a:xfrm>
            <a:off x="4267200" y="5525869"/>
            <a:ext cx="779128" cy="646331"/>
            <a:chOff x="2924192" y="5963959"/>
            <a:chExt cx="779128" cy="646331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29718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924192" y="5963959"/>
              <a:ext cx="6495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双基</a:t>
              </a:r>
              <a:endPara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歧化</a:t>
              </a:r>
              <a:endPara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8" name="Curved Down Arrow 17"/>
          <p:cNvSpPr/>
          <p:nvPr/>
        </p:nvSpPr>
        <p:spPr>
          <a:xfrm rot="10800000">
            <a:off x="1763434" y="5945665"/>
            <a:ext cx="1828800" cy="47568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0" grpId="0" animBg="1"/>
      <p:bldP spid="11" grpId="0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35.4.1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加成聚合反应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endParaRPr lang="zh-CN" altLang="en-US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" y="914400"/>
          <a:ext cx="8839200" cy="5486401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526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92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名称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单体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结构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性质和用途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88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聚乙烯</a:t>
                      </a:r>
                      <a:endParaRPr lang="en-US" altLang="zh-CN" sz="2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/>
                        <a:t>PE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乙烯</a:t>
                      </a:r>
                      <a:endParaRPr lang="en-US" altLang="zh-CN" sz="2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/>
                        <a:t>CH</a:t>
                      </a:r>
                      <a:r>
                        <a:rPr lang="en-US" altLang="zh-CN" sz="2400" baseline="-25000" dirty="0"/>
                        <a:t>2</a:t>
                      </a:r>
                      <a:r>
                        <a:rPr lang="en-US" altLang="zh-CN" sz="2400" baseline="0" dirty="0"/>
                        <a:t>= CH</a:t>
                      </a:r>
                      <a:r>
                        <a:rPr lang="en-US" altLang="zh-CN" sz="2400" baseline="-25000" dirty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88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聚氯乙烯</a:t>
                      </a:r>
                      <a:endParaRPr lang="en-US" altLang="zh-CN" sz="2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/>
                        <a:t>PVC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氯乙烯</a:t>
                      </a:r>
                      <a:endParaRPr lang="en-US" altLang="zh-CN" sz="2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/>
                        <a:t>CH</a:t>
                      </a:r>
                      <a:r>
                        <a:rPr lang="en-US" altLang="zh-CN" sz="2400" baseline="-25000" dirty="0"/>
                        <a:t>2</a:t>
                      </a:r>
                      <a:r>
                        <a:rPr lang="en-US" altLang="zh-CN" sz="2400" baseline="0" dirty="0"/>
                        <a:t> = </a:t>
                      </a:r>
                      <a:r>
                        <a:rPr lang="en-US" altLang="zh-CN" sz="2400" baseline="0" dirty="0" err="1"/>
                        <a:t>CHCl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88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聚苯乙烯</a:t>
                      </a:r>
                      <a:endParaRPr lang="en-US" altLang="zh-CN" sz="2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/>
                        <a:t>PS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/>
                        <a:t>   CH=CH</a:t>
                      </a:r>
                      <a:r>
                        <a:rPr lang="en-US" altLang="zh-CN" sz="2400" baseline="-25000" dirty="0"/>
                        <a:t>2</a:t>
                      </a:r>
                      <a:endParaRPr lang="en-US" altLang="zh-CN" sz="2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           苯乙烯</a:t>
                      </a:r>
                      <a:r>
                        <a:rPr lang="en-US" sz="2400" dirty="0"/>
                        <a:t>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88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聚丙烯腈</a:t>
                      </a:r>
                      <a:endParaRPr lang="en-US" altLang="zh-CN" sz="2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腈纶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丙烯腈</a:t>
                      </a:r>
                      <a:endParaRPr lang="en-US" altLang="zh-CN" sz="2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/>
                        <a:t>CH</a:t>
                      </a:r>
                      <a:r>
                        <a:rPr lang="en-US" altLang="zh-CN" sz="2400" baseline="-25000" dirty="0"/>
                        <a:t>2</a:t>
                      </a:r>
                      <a:r>
                        <a:rPr lang="en-US" altLang="zh-CN" sz="2400" baseline="0" dirty="0"/>
                        <a:t>=CH-CN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 descr="1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038600"/>
            <a:ext cx="1447800" cy="1116524"/>
          </a:xfrm>
          <a:prstGeom prst="rect">
            <a:avLst/>
          </a:prstGeom>
        </p:spPr>
      </p:pic>
      <p:pic>
        <p:nvPicPr>
          <p:cNvPr id="10" name="Picture 9" descr="187.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895600"/>
            <a:ext cx="1188720" cy="1117397"/>
          </a:xfrm>
          <a:prstGeom prst="rect">
            <a:avLst/>
          </a:prstGeom>
        </p:spPr>
      </p:pic>
      <p:pic>
        <p:nvPicPr>
          <p:cNvPr id="11" name="Picture 10" descr="187.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600200"/>
            <a:ext cx="1295400" cy="1237107"/>
          </a:xfrm>
          <a:prstGeom prst="rect">
            <a:avLst/>
          </a:prstGeom>
        </p:spPr>
      </p:pic>
      <p:pic>
        <p:nvPicPr>
          <p:cNvPr id="12" name="Picture 11" descr="187.4.jpg"/>
          <p:cNvPicPr>
            <a:picLocks noChangeAspect="1"/>
          </p:cNvPicPr>
          <p:nvPr/>
        </p:nvPicPr>
        <p:blipFill>
          <a:blip r:embed="rId6"/>
          <a:srcRect l="6370" t="14607" r="17277" b="21685"/>
          <a:stretch>
            <a:fillRect/>
          </a:stretch>
        </p:blipFill>
        <p:spPr>
          <a:xfrm>
            <a:off x="3200400" y="5257800"/>
            <a:ext cx="1981200" cy="122137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958239" y="1524000"/>
            <a:ext cx="418576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/>
            <a:r>
              <a:rPr lang="zh-CN" altLang="en-US" sz="2400" dirty="0">
                <a:solidFill>
                  <a:srgbClr val="002060"/>
                </a:solidFill>
              </a:rPr>
              <a:t>可塑性、耐化学腐蚀、</a:t>
            </a:r>
            <a:r>
              <a:rPr lang="zh-CN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无毒</a:t>
            </a:r>
            <a:r>
              <a:rPr lang="zh-CN" altLang="en-US" sz="2400" dirty="0">
                <a:solidFill>
                  <a:srgbClr val="002060"/>
                </a:solidFill>
              </a:rPr>
              <a:t>、</a:t>
            </a:r>
            <a:endParaRPr lang="en-US" altLang="zh-CN" sz="2400" dirty="0">
              <a:solidFill>
                <a:srgbClr val="002060"/>
              </a:solidFill>
            </a:endParaRPr>
          </a:p>
          <a:p>
            <a:pPr marL="514350" indent="-514350"/>
            <a:r>
              <a:rPr lang="zh-CN" altLang="en-US" sz="2400" dirty="0">
                <a:solidFill>
                  <a:srgbClr val="002060"/>
                </a:solidFill>
              </a:rPr>
              <a:t>电绝缘性、</a:t>
            </a:r>
            <a:r>
              <a:rPr lang="zh-CN" altLang="en-US" sz="2400" b="1" dirty="0">
                <a:solidFill>
                  <a:srgbClr val="002060"/>
                </a:solidFill>
              </a:rPr>
              <a:t>但耐热性差</a:t>
            </a:r>
            <a:r>
              <a:rPr lang="zh-CN" altLang="en-US" sz="2400" dirty="0">
                <a:solidFill>
                  <a:srgbClr val="002060"/>
                </a:solidFill>
              </a:rPr>
              <a:t>。</a:t>
            </a:r>
            <a:endParaRPr lang="en-US" altLang="zh-CN" sz="2400" dirty="0">
              <a:solidFill>
                <a:srgbClr val="002060"/>
              </a:solidFill>
            </a:endParaRPr>
          </a:p>
          <a:p>
            <a:pPr marL="514350" indent="-514350"/>
            <a:r>
              <a:rPr lang="zh-CN" altLang="en-US" sz="2400" dirty="0">
                <a:solidFill>
                  <a:srgbClr val="002060"/>
                </a:solidFill>
              </a:rPr>
              <a:t>食品包装袋、瓶子、电器零件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55262" y="2743200"/>
            <a:ext cx="449353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/>
            <a:r>
              <a:rPr lang="zh-CN" altLang="en-US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热塑性、</a:t>
            </a:r>
            <a:r>
              <a:rPr lang="zh-CN" altLang="en-US" sz="2400" dirty="0">
                <a:solidFill>
                  <a:srgbClr val="2D1ABC"/>
                </a:solidFill>
              </a:rPr>
              <a:t>耐腐蚀性、电绝缘性。</a:t>
            </a:r>
            <a:endParaRPr lang="en-US" altLang="zh-CN" sz="2400" dirty="0">
              <a:solidFill>
                <a:srgbClr val="2D1ABC"/>
              </a:solidFill>
            </a:endParaRPr>
          </a:p>
          <a:p>
            <a:pPr marL="514350" indent="-514350"/>
            <a:r>
              <a:rPr lang="zh-CN" altLang="en-US" sz="2400" dirty="0">
                <a:solidFill>
                  <a:srgbClr val="2D1ABC"/>
                </a:solidFill>
              </a:rPr>
              <a:t>雨衣、人造皮革、建筑材料、</a:t>
            </a:r>
            <a:endParaRPr lang="en-US" altLang="zh-CN" sz="2400" dirty="0">
              <a:solidFill>
                <a:srgbClr val="2D1ABC"/>
              </a:solidFill>
            </a:endParaRPr>
          </a:p>
          <a:p>
            <a:pPr marL="514350" indent="-514350"/>
            <a:r>
              <a:rPr lang="zh-CN" altLang="en-US" sz="2400" dirty="0">
                <a:solidFill>
                  <a:srgbClr val="2D1ABC"/>
                </a:solidFill>
              </a:rPr>
              <a:t>水管、机械零件</a:t>
            </a:r>
            <a:r>
              <a:rPr lang="en-US" altLang="zh-CN" sz="2400" dirty="0">
                <a:solidFill>
                  <a:srgbClr val="2D1ABC"/>
                </a:solidFill>
              </a:rPr>
              <a:t>, </a:t>
            </a:r>
            <a:r>
              <a:rPr lang="zh-CN" altLang="en-US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不适合装食物</a:t>
            </a:r>
            <a:endParaRPr lang="en-US" altLang="zh-CN" sz="24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53000" y="3981271"/>
            <a:ext cx="449353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/>
            <a:r>
              <a:rPr lang="zh-CN" altLang="en-US" sz="2400" dirty="0">
                <a:solidFill>
                  <a:srgbClr val="0070C0"/>
                </a:solidFill>
              </a:rPr>
              <a:t>透明度高的坚硬塑料、易着色。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514350" indent="-514350"/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耐热性差、易脆裂</a:t>
            </a:r>
            <a:r>
              <a:rPr lang="zh-CN" altLang="en-US" sz="2400" dirty="0">
                <a:solidFill>
                  <a:srgbClr val="0070C0"/>
                </a:solidFill>
              </a:rPr>
              <a:t>。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514350" indent="-514350"/>
            <a:r>
              <a:rPr lang="zh-CN" altLang="en-US" sz="2400" dirty="0">
                <a:solidFill>
                  <a:srgbClr val="0070C0"/>
                </a:solidFill>
              </a:rPr>
              <a:t>灯饰等外壳、玩具、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泡沫塑料</a:t>
            </a:r>
            <a:endParaRPr lang="en-US" altLang="zh-CN" sz="2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0" y="5200471"/>
            <a:ext cx="418576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/>
            <a:r>
              <a:rPr lang="zh-CN" altLang="en-US" sz="2400" dirty="0">
                <a:solidFill>
                  <a:srgbClr val="7030A0"/>
                </a:solidFill>
              </a:rPr>
              <a:t>结构疏松、易着色、质轻丰满</a:t>
            </a:r>
            <a:endParaRPr lang="en-US" altLang="zh-CN" sz="2400" dirty="0">
              <a:solidFill>
                <a:srgbClr val="7030A0"/>
              </a:solidFill>
            </a:endParaRPr>
          </a:p>
          <a:p>
            <a:pPr marL="514350" indent="-514350"/>
            <a:r>
              <a:rPr lang="zh-CN" altLang="en-US" sz="2400" dirty="0">
                <a:solidFill>
                  <a:srgbClr val="7030A0"/>
                </a:solidFill>
              </a:rPr>
              <a:t>、保暖、耐日光，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易产生静电</a:t>
            </a:r>
            <a:endParaRPr lang="en-US" altLang="zh-CN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/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幕布、帐篷、帆布等织物</a:t>
            </a:r>
            <a:endParaRPr lang="en-US" altLang="zh-CN" sz="24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" name="Picture 16" descr="187.png"/>
          <p:cNvPicPr>
            <a:picLocks noChangeAspect="1"/>
          </p:cNvPicPr>
          <p:nvPr/>
        </p:nvPicPr>
        <p:blipFill>
          <a:blip r:embed="rId3"/>
          <a:srcRect l="21333" r="34303" b="41899"/>
          <a:stretch>
            <a:fillRect/>
          </a:stretch>
        </p:blipFill>
        <p:spPr>
          <a:xfrm rot="10800000">
            <a:off x="1676400" y="4495800"/>
            <a:ext cx="548640" cy="85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35.4.1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加成聚合反应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endParaRPr lang="zh-CN" altLang="en-US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376237"/>
              </p:ext>
            </p:extLst>
          </p:nvPr>
        </p:nvGraphicFramePr>
        <p:xfrm>
          <a:off x="76200" y="914400"/>
          <a:ext cx="8839200" cy="5714999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566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名称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单体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结构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性质和用途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48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聚丙烯</a:t>
                      </a:r>
                      <a:endParaRPr lang="en-US" altLang="zh-CN" sz="2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/>
                        <a:t>PP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丙烯</a:t>
                      </a:r>
                      <a:endParaRPr lang="en-US" altLang="zh-CN" sz="2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/>
                        <a:t>CH</a:t>
                      </a:r>
                      <a:r>
                        <a:rPr lang="en-US" altLang="zh-CN" sz="2400" baseline="-25000" dirty="0"/>
                        <a:t>3</a:t>
                      </a:r>
                      <a:r>
                        <a:rPr lang="en-US" altLang="zh-CN" sz="2400" dirty="0"/>
                        <a:t>CH</a:t>
                      </a:r>
                      <a:r>
                        <a:rPr lang="en-US" altLang="zh-CN" sz="2400" baseline="0" dirty="0"/>
                        <a:t>=CH</a:t>
                      </a:r>
                      <a:r>
                        <a:rPr lang="en-US" altLang="zh-CN" sz="2400" baseline="-25000" dirty="0"/>
                        <a:t>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9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dirty="0"/>
                        <a:t>聚</a:t>
                      </a:r>
                      <a:r>
                        <a:rPr lang="en-US" altLang="zh-CN" sz="2400" dirty="0"/>
                        <a:t>2-</a:t>
                      </a:r>
                      <a:r>
                        <a:rPr lang="zh-CN" altLang="en-US" sz="2400" dirty="0"/>
                        <a:t>甲基丙烯酸甲酯</a:t>
                      </a:r>
                      <a:r>
                        <a:rPr lang="en-US" altLang="zh-CN" sz="2400" dirty="0"/>
                        <a:t>PMMA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dirty="0"/>
                        <a:t>有机玻璃</a:t>
                      </a:r>
                      <a:endParaRPr lang="en-US" altLang="zh-CN" sz="2400" dirty="0"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dirty="0"/>
                        <a:t>压克力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2400" dirty="0"/>
                        <a:t>2-</a:t>
                      </a:r>
                      <a:r>
                        <a:rPr lang="zh-CN" altLang="en-US" sz="2400" dirty="0"/>
                        <a:t>甲基丙烯酸甲酯</a:t>
                      </a:r>
                      <a:endParaRPr lang="en-US" altLang="zh-CN" sz="2400" dirty="0"/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altLang="zh-CN" sz="2400" dirty="0"/>
                        <a:t>CH</a:t>
                      </a:r>
                      <a:r>
                        <a:rPr lang="en-US" altLang="zh-CN" sz="2400" baseline="-25000" dirty="0"/>
                        <a:t>2</a:t>
                      </a:r>
                      <a:r>
                        <a:rPr lang="en-US" altLang="zh-CN" sz="2400" baseline="0" dirty="0"/>
                        <a:t>=CCOOCH</a:t>
                      </a:r>
                      <a:r>
                        <a:rPr lang="en-US" altLang="zh-CN" sz="2400" baseline="-25000" dirty="0"/>
                        <a:t>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48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dirty="0"/>
                        <a:t>聚四氟乙烯</a:t>
                      </a:r>
                      <a:endParaRPr lang="en-US" altLang="zh-CN" sz="2400" dirty="0"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2400" dirty="0"/>
                        <a:t>PTFE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2400" dirty="0"/>
                        <a:t>塑料王</a:t>
                      </a:r>
                      <a:endParaRPr lang="en-US" altLang="zh-C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400" dirty="0"/>
                        <a:t>四氟乙烯</a:t>
                      </a:r>
                      <a:r>
                        <a:rPr lang="en-US" altLang="zh-CN" sz="2400" dirty="0"/>
                        <a:t> 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2400" dirty="0"/>
                        <a:t>CF</a:t>
                      </a:r>
                      <a:r>
                        <a:rPr lang="en-US" altLang="zh-CN" sz="2400" baseline="-25000" dirty="0"/>
                        <a:t>2</a:t>
                      </a:r>
                      <a:r>
                        <a:rPr lang="en-US" altLang="zh-CN" sz="2400" dirty="0"/>
                        <a:t>=CF</a:t>
                      </a:r>
                      <a:r>
                        <a:rPr lang="en-US" altLang="zh-CN" sz="2400" baseline="-25000" dirty="0"/>
                        <a:t>2</a:t>
                      </a:r>
                      <a:endParaRPr lang="en-US" altLang="zh-C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720239" y="1695271"/>
            <a:ext cx="33475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b="1" dirty="0">
                <a:solidFill>
                  <a:srgbClr val="002060"/>
                </a:solidFill>
              </a:rPr>
              <a:t>性质与聚乙烯相似。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marL="514350" indent="-514350"/>
            <a:r>
              <a:rPr lang="zh-CN" altLang="en-US" sz="2400" b="1" dirty="0">
                <a:solidFill>
                  <a:srgbClr val="002060"/>
                </a:solidFill>
              </a:rPr>
              <a:t>食品药物的包装、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marL="514350" indent="-514350"/>
            <a:r>
              <a:rPr lang="zh-CN" altLang="en-US" sz="2400" b="1" dirty="0">
                <a:solidFill>
                  <a:srgbClr val="002060"/>
                </a:solidFill>
              </a:rPr>
              <a:t>制成日常用品</a:t>
            </a:r>
            <a:endParaRPr lang="en-US" altLang="zh-CN" sz="24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0" y="2895600"/>
            <a:ext cx="3352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透光性好，轻、耐水、</a:t>
            </a:r>
            <a:endParaRPr lang="en-US" altLang="zh-CN" sz="24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/>
            <a:r>
              <a:rPr lang="zh-CN" altLang="en-US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耐腐蚀、不易破裂；</a:t>
            </a:r>
            <a:endParaRPr lang="en-US" altLang="zh-CN" sz="24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/>
            <a:r>
              <a:rPr lang="zh-CN" altLang="en-US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易加工。</a:t>
            </a:r>
            <a:endParaRPr lang="en-US" altLang="zh-CN" sz="24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/>
            <a:r>
              <a:rPr lang="zh-CN" altLang="en-US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制飞机、汽车用玻璃，</a:t>
            </a:r>
            <a:endParaRPr lang="en-US" altLang="zh-CN" sz="24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/>
            <a:r>
              <a:rPr lang="zh-CN" altLang="en-US" sz="24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光学仪器、假牙。</a:t>
            </a:r>
            <a:endParaRPr lang="en-US" altLang="zh-CN" sz="2400" dirty="0">
              <a:solidFill>
                <a:srgbClr val="2D1ABC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38800" y="5029200"/>
            <a:ext cx="365533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b="1" dirty="0">
                <a:solidFill>
                  <a:srgbClr val="0070C0"/>
                </a:solidFill>
              </a:rPr>
              <a:t>耐腐蚀性强、耐高低温、、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marL="514350" indent="-514350"/>
            <a:r>
              <a:rPr lang="zh-CN" altLang="en-US" sz="2400" b="1" dirty="0">
                <a:solidFill>
                  <a:srgbClr val="0070C0"/>
                </a:solidFill>
              </a:rPr>
              <a:t>电绝缘；贵、加工困难。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marL="514350" indent="-514350"/>
            <a:r>
              <a:rPr lang="zh-CN" altLang="en-US" sz="2400" b="1" dirty="0">
                <a:solidFill>
                  <a:srgbClr val="0070C0"/>
                </a:solidFill>
              </a:rPr>
              <a:t>制成耐腐蚀、耐高温、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marL="514350" indent="-514350"/>
            <a:r>
              <a:rPr lang="zh-CN" altLang="en-US" sz="2400" b="1" dirty="0">
                <a:solidFill>
                  <a:srgbClr val="0070C0"/>
                </a:solidFill>
              </a:rPr>
              <a:t>耐低温的制品。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marL="514350" indent="-514350"/>
            <a:endParaRPr lang="en-US" altLang="zh-CN" sz="2400" b="1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14600" y="3429000"/>
            <a:ext cx="6463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CH</a:t>
            </a:r>
            <a:r>
              <a:rPr lang="en-US" altLang="zh-CN" sz="2400" baseline="-25000" dirty="0"/>
              <a:t>3</a:t>
            </a:r>
          </a:p>
          <a:p>
            <a:r>
              <a:rPr lang="en-US" altLang="zh-CN" sz="2400" baseline="-25000" dirty="0"/>
              <a:t> </a:t>
            </a:r>
            <a:r>
              <a:rPr lang="en-US" altLang="zh-CN" sz="2400" dirty="0"/>
              <a:t>l</a:t>
            </a:r>
          </a:p>
          <a:p>
            <a:endParaRPr lang="en-US" altLang="zh-CN" sz="2400" dirty="0"/>
          </a:p>
        </p:txBody>
      </p:sp>
      <p:pic>
        <p:nvPicPr>
          <p:cNvPr id="18" name="Picture 17" descr="188.jpg"/>
          <p:cNvPicPr>
            <a:picLocks noChangeAspect="1"/>
          </p:cNvPicPr>
          <p:nvPr/>
        </p:nvPicPr>
        <p:blipFill>
          <a:blip r:embed="rId3"/>
          <a:srcRect l="44186" t="21178" b="47649"/>
          <a:stretch>
            <a:fillRect/>
          </a:stretch>
        </p:blipFill>
        <p:spPr>
          <a:xfrm>
            <a:off x="3657600" y="1676400"/>
            <a:ext cx="1752600" cy="1219200"/>
          </a:xfrm>
          <a:prstGeom prst="rect">
            <a:avLst/>
          </a:prstGeom>
        </p:spPr>
      </p:pic>
      <p:pic>
        <p:nvPicPr>
          <p:cNvPr id="11" name="Picture 10" descr="188.jpg"/>
          <p:cNvPicPr>
            <a:picLocks noChangeAspect="1"/>
          </p:cNvPicPr>
          <p:nvPr/>
        </p:nvPicPr>
        <p:blipFill>
          <a:blip r:embed="rId4"/>
          <a:srcRect l="7407"/>
          <a:stretch>
            <a:fillRect/>
          </a:stretch>
        </p:blipFill>
        <p:spPr>
          <a:xfrm>
            <a:off x="3810000" y="3048000"/>
            <a:ext cx="1905000" cy="1828800"/>
          </a:xfrm>
          <a:prstGeom prst="rect">
            <a:avLst/>
          </a:prstGeom>
        </p:spPr>
      </p:pic>
      <p:pic>
        <p:nvPicPr>
          <p:cNvPr id="12" name="Picture 11" descr="188.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5105400"/>
            <a:ext cx="16002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缩合聚合反应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800" dirty="0"/>
              <a:t>缩合聚合反应：由一种或一种以上的单体，通过缩合形成缩合聚合物的反应。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800" dirty="0"/>
              <a:t>特点：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单体可相同或不同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单体必须含有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两个或以上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的官能团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有小分子副产品，如：水，</a:t>
            </a:r>
            <a:r>
              <a:rPr lang="en-US" altLang="zh-CN" sz="2800" b="1" dirty="0" err="1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HCl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28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OH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endParaRPr lang="zh-CN" altLang="en-US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缩合聚合反应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涤纶：一种聚酯，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聚对苯二甲酸乙二醇酯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单体：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对苯二甲酸二甲酯、乙二醇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200000"/>
              </a:lnSpc>
              <a:spcBef>
                <a:spcPts val="1200"/>
              </a:spcBef>
              <a:buNone/>
            </a:pPr>
            <a:r>
              <a:rPr lang="zh-CN" altLang="en-US" sz="2800" dirty="0"/>
              <a:t>各链节以酯基（</a:t>
            </a:r>
            <a:r>
              <a:rPr lang="en-US" altLang="zh-CN" sz="2800" dirty="0"/>
              <a:t>-C-O-</a:t>
            </a:r>
            <a:r>
              <a:rPr lang="zh-CN" altLang="en-US" sz="2800" dirty="0"/>
              <a:t>）相联结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</a:rPr>
              <a:t>n				         + n		 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</a:t>
            </a:r>
            <a:endParaRPr lang="zh-CN" altLang="en-US" sz="2800" b="1" dirty="0">
              <a:solidFill>
                <a:srgbClr val="002060"/>
              </a:solidFill>
            </a:endParaRPr>
          </a:p>
          <a:p>
            <a:pPr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			 + 2n CH</a:t>
            </a:r>
            <a:r>
              <a:rPr lang="en-US" altLang="zh-CN" sz="28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OH</a:t>
            </a:r>
          </a:p>
        </p:txBody>
      </p:sp>
      <p:pic>
        <p:nvPicPr>
          <p:cNvPr id="8" name="Picture 7" descr="137.3.gif"/>
          <p:cNvPicPr>
            <a:picLocks noChangeAspect="1"/>
          </p:cNvPicPr>
          <p:nvPr/>
        </p:nvPicPr>
        <p:blipFill>
          <a:blip r:embed="rId3"/>
          <a:srcRect t="48648" r="82979" b="34512"/>
          <a:stretch>
            <a:fillRect/>
          </a:stretch>
        </p:blipFill>
        <p:spPr>
          <a:xfrm>
            <a:off x="2209800" y="1752600"/>
            <a:ext cx="1554480" cy="874395"/>
          </a:xfrm>
          <a:prstGeom prst="rect">
            <a:avLst/>
          </a:prstGeom>
        </p:spPr>
      </p:pic>
      <p:pic>
        <p:nvPicPr>
          <p:cNvPr id="10" name="Picture 9" descr="190.1.png"/>
          <p:cNvPicPr>
            <a:picLocks noChangeAspect="1"/>
          </p:cNvPicPr>
          <p:nvPr/>
        </p:nvPicPr>
        <p:blipFill>
          <a:blip r:embed="rId4"/>
          <a:srcRect l="26684" t="28571" r="58015" b="32143"/>
          <a:stretch>
            <a:fillRect/>
          </a:stretch>
        </p:blipFill>
        <p:spPr>
          <a:xfrm>
            <a:off x="4495800" y="3124200"/>
            <a:ext cx="1122220" cy="1371600"/>
          </a:xfrm>
          <a:prstGeom prst="rect">
            <a:avLst/>
          </a:prstGeom>
        </p:spPr>
      </p:pic>
      <p:pic>
        <p:nvPicPr>
          <p:cNvPr id="12" name="Picture 11" descr="190.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4724400"/>
            <a:ext cx="4762500" cy="1524000"/>
          </a:xfrm>
          <a:prstGeom prst="rect">
            <a:avLst/>
          </a:prstGeom>
        </p:spPr>
      </p:pic>
      <p:pic>
        <p:nvPicPr>
          <p:cNvPr id="15" name="Picture 14" descr="190.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849880"/>
            <a:ext cx="3200400" cy="1728216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3048000" y="2971800"/>
            <a:ext cx="914400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181600" y="3291840"/>
            <a:ext cx="36576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48640" y="3596640"/>
            <a:ext cx="822960" cy="8229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196840" y="4038600"/>
            <a:ext cx="36576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057400" y="4648200"/>
            <a:ext cx="609600" cy="685800"/>
          </a:xfrm>
          <a:prstGeom prst="ellipse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缩合聚合反应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800" u="sng" dirty="0"/>
              <a:t>涤纶性质与用途</a:t>
            </a:r>
            <a:endParaRPr lang="en-US" altLang="zh-CN" sz="2800" u="sng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涤纶纤维一般上和棉、毛丝混合纺织。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涤纶纺织物外形笔挺、抗皱性、弱吸湿性。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涤纶衣服不吸汗、不透气（穿了很热）。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用于制造：工作服、渔网、传送带、电绝缘材料等。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u="sng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缩合聚合反应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聚乳酸：一种聚酯，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聚丙交酯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单体：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乳酸（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羟基丙酸）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200000"/>
              </a:lnSpc>
              <a:spcBef>
                <a:spcPts val="1200"/>
              </a:spcBef>
              <a:buNone/>
            </a:pPr>
            <a:r>
              <a:rPr lang="zh-CN" altLang="en-US" sz="2800" dirty="0"/>
              <a:t>各链节以酯基（</a:t>
            </a:r>
            <a:r>
              <a:rPr lang="en-US" altLang="zh-CN" sz="2800" dirty="0"/>
              <a:t>-C-O-</a:t>
            </a:r>
            <a:r>
              <a:rPr lang="zh-CN" altLang="en-US" sz="2800" dirty="0"/>
              <a:t>）相联结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</a:rPr>
              <a:t>n				     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</a:t>
            </a:r>
            <a:r>
              <a:rPr lang="en-MY" altLang="zh-CN" sz="2800" b="1" dirty="0">
                <a:solidFill>
                  <a:srgbClr val="002060"/>
                </a:solidFill>
                <a:sym typeface="Wingdings" pitchFamily="2" charset="2"/>
              </a:rPr>
              <a:t>			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			   + n H</a:t>
            </a:r>
            <a:r>
              <a:rPr lang="en-US" altLang="zh-CN" sz="28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</a:p>
        </p:txBody>
      </p:sp>
      <p:pic>
        <p:nvPicPr>
          <p:cNvPr id="8" name="Picture 7" descr="137.3.gif"/>
          <p:cNvPicPr>
            <a:picLocks noChangeAspect="1"/>
          </p:cNvPicPr>
          <p:nvPr/>
        </p:nvPicPr>
        <p:blipFill>
          <a:blip r:embed="rId3"/>
          <a:srcRect t="48648" r="82979" b="34512"/>
          <a:stretch>
            <a:fillRect/>
          </a:stretch>
        </p:blipFill>
        <p:spPr>
          <a:xfrm>
            <a:off x="2209800" y="1752600"/>
            <a:ext cx="1554480" cy="8743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218AFB-67C6-4251-B264-27CB4229E3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9" t="8397" r="75241" b="56493"/>
          <a:stretch/>
        </p:blipFill>
        <p:spPr>
          <a:xfrm>
            <a:off x="838200" y="3156438"/>
            <a:ext cx="2314387" cy="1459523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886014" y="3596640"/>
            <a:ext cx="409386" cy="5562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708744" y="3695700"/>
            <a:ext cx="409386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0176DA-BCAD-417E-8D76-DAC67D4D6F4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22"/>
          <a:stretch/>
        </p:blipFill>
        <p:spPr>
          <a:xfrm>
            <a:off x="4191000" y="3395141"/>
            <a:ext cx="2709263" cy="193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951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缩合聚合反应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800" u="sng" dirty="0"/>
              <a:t>聚乳酸性质与用途</a:t>
            </a:r>
            <a:endParaRPr lang="en-US" altLang="zh-CN" sz="2800" u="sng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生产过程无污染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可被生物降解，可在自然界中循环，能有效防止白色污染，是理想的绿色高分子材料。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用途：无需拆线的手术缝合线，无需拆的骨折结合手术使用的螺钉；人体可吸收，无毒副作用。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1112360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缩合聚合反应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尼龙：锦纶，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聚酰胺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尼龙</a:t>
            </a:r>
            <a:r>
              <a:rPr lang="en-US" altLang="zh-CN" sz="2800" dirty="0"/>
              <a:t>-66</a:t>
            </a:r>
            <a:r>
              <a:rPr lang="zh-CN" altLang="en-US" sz="2800" dirty="0"/>
              <a:t>单体：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己二酸、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1,6-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己二胺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200000"/>
              </a:lnSpc>
              <a:spcBef>
                <a:spcPts val="1200"/>
              </a:spcBef>
              <a:buNone/>
            </a:pPr>
            <a:r>
              <a:rPr lang="zh-CN" altLang="en-US" sz="2800" dirty="0"/>
              <a:t>各链节以酰胺基（</a:t>
            </a:r>
            <a:r>
              <a:rPr lang="en-US" altLang="zh-CN" sz="2800" dirty="0"/>
              <a:t>-C-NH-</a:t>
            </a:r>
            <a:r>
              <a:rPr lang="zh-CN" altLang="en-US" sz="2800" dirty="0"/>
              <a:t>）相联结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002060"/>
              </a:solidFill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</a:rPr>
              <a:t>n				          + n				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</a:t>
            </a:r>
            <a:endParaRPr lang="zh-CN" altLang="en-US" sz="2800" b="1" dirty="0">
              <a:solidFill>
                <a:srgbClr val="002060"/>
              </a:solidFill>
            </a:endParaRPr>
          </a:p>
          <a:p>
            <a:pPr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			      +   n H</a:t>
            </a:r>
            <a:r>
              <a:rPr lang="en-US" altLang="zh-CN" sz="28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</a:p>
        </p:txBody>
      </p:sp>
      <p:pic>
        <p:nvPicPr>
          <p:cNvPr id="6" name="Picture 5" descr="190.png"/>
          <p:cNvPicPr>
            <a:picLocks noChangeAspect="1"/>
          </p:cNvPicPr>
          <p:nvPr/>
        </p:nvPicPr>
        <p:blipFill>
          <a:blip r:embed="rId3"/>
          <a:srcRect r="55985" b="55279"/>
          <a:stretch>
            <a:fillRect/>
          </a:stretch>
        </p:blipFill>
        <p:spPr>
          <a:xfrm>
            <a:off x="637564" y="3257550"/>
            <a:ext cx="3096236" cy="1371600"/>
          </a:xfrm>
          <a:prstGeom prst="rect">
            <a:avLst/>
          </a:prstGeom>
        </p:spPr>
      </p:pic>
      <p:pic>
        <p:nvPicPr>
          <p:cNvPr id="7" name="Picture 6" descr="190.png"/>
          <p:cNvPicPr>
            <a:picLocks noChangeAspect="1"/>
          </p:cNvPicPr>
          <p:nvPr/>
        </p:nvPicPr>
        <p:blipFill>
          <a:blip r:embed="rId3"/>
          <a:srcRect l="11175" t="47205" r="8666"/>
          <a:stretch>
            <a:fillRect/>
          </a:stretch>
        </p:blipFill>
        <p:spPr>
          <a:xfrm>
            <a:off x="1676400" y="4495800"/>
            <a:ext cx="5638800" cy="1619250"/>
          </a:xfrm>
          <a:prstGeom prst="rect">
            <a:avLst/>
          </a:prstGeom>
        </p:spPr>
      </p:pic>
      <p:pic>
        <p:nvPicPr>
          <p:cNvPr id="9" name="Picture 8" descr="137.3.gif"/>
          <p:cNvPicPr>
            <a:picLocks noChangeAspect="1"/>
          </p:cNvPicPr>
          <p:nvPr/>
        </p:nvPicPr>
        <p:blipFill>
          <a:blip r:embed="rId4"/>
          <a:srcRect t="48648" r="82979" b="34512"/>
          <a:stretch>
            <a:fillRect/>
          </a:stretch>
        </p:blipFill>
        <p:spPr>
          <a:xfrm>
            <a:off x="2590800" y="1752600"/>
            <a:ext cx="1554480" cy="874395"/>
          </a:xfrm>
          <a:prstGeom prst="rect">
            <a:avLst/>
          </a:prstGeom>
        </p:spPr>
      </p:pic>
      <p:pic>
        <p:nvPicPr>
          <p:cNvPr id="10" name="Picture 9" descr="190.png"/>
          <p:cNvPicPr>
            <a:picLocks noChangeAspect="1"/>
          </p:cNvPicPr>
          <p:nvPr/>
        </p:nvPicPr>
        <p:blipFill>
          <a:blip r:embed="rId3"/>
          <a:srcRect l="53764" b="55279"/>
          <a:stretch>
            <a:fillRect/>
          </a:stretch>
        </p:blipFill>
        <p:spPr>
          <a:xfrm>
            <a:off x="4419600" y="3276600"/>
            <a:ext cx="3252482" cy="13716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3200400" y="3581400"/>
            <a:ext cx="4572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419600" y="3886200"/>
            <a:ext cx="36576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缩合聚合反应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800" u="sng" dirty="0"/>
              <a:t>尼龙性质与用途</a:t>
            </a:r>
            <a:endParaRPr lang="en-US" altLang="zh-CN" sz="2800" u="sng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分子链间有氢键，具有高强度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有弹性、耐磨性好、耐腐蚀、不发霉、不受蛀等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用来制造：渔网、绳索、袜子、运输带、降落伞、宇航飞行服等。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u="sng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缩合聚合反应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酚醛树脂：俗称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电木</a:t>
            </a:r>
            <a:r>
              <a:rPr lang="zh-CN" altLang="en-US" sz="2800" dirty="0"/>
              <a:t>；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热固性塑料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单体：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苯酚、甲醛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200000"/>
              </a:lnSpc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n	              + n HCH</a:t>
            </a:r>
            <a:r>
              <a:rPr lang="en-US" altLang="zh-CN" sz="2800" dirty="0">
                <a:solidFill>
                  <a:srgbClr val="FF0000"/>
                </a:solidFill>
              </a:rPr>
              <a:t>O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          	    </a:t>
            </a:r>
            <a:r>
              <a:rPr lang="en-US" altLang="zh-CN" sz="2800" dirty="0"/>
              <a:t> 		     + n H</a:t>
            </a:r>
            <a:r>
              <a:rPr lang="en-US" altLang="zh-CN" sz="2800" baseline="-25000" dirty="0"/>
              <a:t>2</a:t>
            </a:r>
            <a:r>
              <a:rPr lang="en-US" altLang="zh-CN" sz="2800" dirty="0">
                <a:solidFill>
                  <a:srgbClr val="FF0000"/>
                </a:solidFill>
              </a:rPr>
              <a:t>O</a:t>
            </a:r>
          </a:p>
        </p:txBody>
      </p:sp>
      <p:pic>
        <p:nvPicPr>
          <p:cNvPr id="14" name="Picture 13" descr="191.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68487"/>
            <a:ext cx="8153400" cy="2351113"/>
          </a:xfrm>
          <a:prstGeom prst="rect">
            <a:avLst/>
          </a:prstGeom>
        </p:spPr>
      </p:pic>
      <p:grpSp>
        <p:nvGrpSpPr>
          <p:cNvPr id="24" name="Group 23"/>
          <p:cNvGrpSpPr/>
          <p:nvPr/>
        </p:nvGrpSpPr>
        <p:grpSpPr>
          <a:xfrm>
            <a:off x="3810000" y="4114800"/>
            <a:ext cx="3200400" cy="2285733"/>
            <a:chOff x="4038600" y="3886200"/>
            <a:chExt cx="3200400" cy="2285733"/>
          </a:xfrm>
        </p:grpSpPr>
        <p:pic>
          <p:nvPicPr>
            <p:cNvPr id="21" name="Picture 20" descr="191.png"/>
            <p:cNvPicPr>
              <a:picLocks noChangeAspect="1"/>
            </p:cNvPicPr>
            <p:nvPr/>
          </p:nvPicPr>
          <p:blipFill>
            <a:blip r:embed="rId4"/>
            <a:srcRect l="30773" r="56405"/>
            <a:stretch>
              <a:fillRect/>
            </a:stretch>
          </p:blipFill>
          <p:spPr>
            <a:xfrm>
              <a:off x="4038600" y="3886200"/>
              <a:ext cx="751208" cy="2103120"/>
            </a:xfrm>
            <a:prstGeom prst="rect">
              <a:avLst/>
            </a:prstGeom>
          </p:spPr>
        </p:pic>
        <p:pic>
          <p:nvPicPr>
            <p:cNvPr id="22" name="Picture 21" descr="191.png"/>
            <p:cNvPicPr>
              <a:picLocks noChangeAspect="1"/>
            </p:cNvPicPr>
            <p:nvPr/>
          </p:nvPicPr>
          <p:blipFill>
            <a:blip r:embed="rId4"/>
            <a:srcRect l="43595" r="26914"/>
            <a:stretch>
              <a:fillRect/>
            </a:stretch>
          </p:blipFill>
          <p:spPr>
            <a:xfrm>
              <a:off x="4800600" y="4038600"/>
              <a:ext cx="1752600" cy="2133333"/>
            </a:xfrm>
            <a:prstGeom prst="rect">
              <a:avLst/>
            </a:prstGeom>
          </p:spPr>
        </p:pic>
        <p:pic>
          <p:nvPicPr>
            <p:cNvPr id="23" name="Picture 22" descr="191.png"/>
            <p:cNvPicPr>
              <a:picLocks noChangeAspect="1"/>
            </p:cNvPicPr>
            <p:nvPr/>
          </p:nvPicPr>
          <p:blipFill>
            <a:blip r:embed="rId4"/>
            <a:srcRect l="73086" r="14092"/>
            <a:stretch>
              <a:fillRect/>
            </a:stretch>
          </p:blipFill>
          <p:spPr>
            <a:xfrm>
              <a:off x="6477000" y="3886467"/>
              <a:ext cx="762000" cy="2133333"/>
            </a:xfrm>
            <a:prstGeom prst="rect">
              <a:avLst/>
            </a:prstGeom>
          </p:spPr>
        </p:pic>
      </p:grpSp>
      <p:pic>
        <p:nvPicPr>
          <p:cNvPr id="25" name="Picture 24" descr="191.1.png"/>
          <p:cNvPicPr>
            <a:picLocks noChangeAspect="1"/>
          </p:cNvPicPr>
          <p:nvPr/>
        </p:nvPicPr>
        <p:blipFill>
          <a:blip r:embed="rId3"/>
          <a:srcRect l="4506" t="15625" r="82879"/>
          <a:stretch>
            <a:fillRect/>
          </a:stretch>
        </p:blipFill>
        <p:spPr>
          <a:xfrm>
            <a:off x="762000" y="4267200"/>
            <a:ext cx="1066800" cy="2057400"/>
          </a:xfrm>
          <a:prstGeom prst="rect">
            <a:avLst/>
          </a:prstGeom>
        </p:spPr>
      </p:pic>
      <p:pic>
        <p:nvPicPr>
          <p:cNvPr id="26" name="Picture 25" descr="191.jpg"/>
          <p:cNvPicPr>
            <a:picLocks noChangeAspect="1"/>
          </p:cNvPicPr>
          <p:nvPr/>
        </p:nvPicPr>
        <p:blipFill>
          <a:blip r:embed="rId5"/>
          <a:srcRect l="7754" t="51626" r="34760" b="6098"/>
          <a:stretch>
            <a:fillRect/>
          </a:stretch>
        </p:blipFill>
        <p:spPr>
          <a:xfrm>
            <a:off x="3810000" y="4267200"/>
            <a:ext cx="3276600" cy="2020824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685800" y="5105400"/>
            <a:ext cx="304800" cy="365760"/>
          </a:xfrm>
          <a:prstGeom prst="ellipse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1524000" y="5120640"/>
            <a:ext cx="304800" cy="365760"/>
          </a:xfrm>
          <a:prstGeom prst="ellipse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缩合聚合反应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800" u="sng" dirty="0"/>
              <a:t>酚醛树脂性质与用途</a:t>
            </a:r>
            <a:endParaRPr lang="en-US" altLang="zh-CN" sz="2800" u="sng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耐热、耐磨、耐化学腐蚀、电绝缘性。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用于：电灯开关、电器用品的外壳、锅具的手把等。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缺点：脆、着色性差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u="sng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缩合聚合反应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脲醛树脂：俗称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电玉</a:t>
            </a:r>
            <a:r>
              <a:rPr lang="zh-CN" altLang="en-US" sz="2800" dirty="0"/>
              <a:t>；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热固性塑料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单体：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尿素、甲醛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        	   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</a:t>
            </a:r>
          </a:p>
        </p:txBody>
      </p:sp>
      <p:pic>
        <p:nvPicPr>
          <p:cNvPr id="14" name="Picture 13" descr="191.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2438400"/>
            <a:ext cx="5715000" cy="1939547"/>
          </a:xfrm>
          <a:prstGeom prst="rect">
            <a:avLst/>
          </a:prstGeom>
        </p:spPr>
      </p:pic>
      <p:pic>
        <p:nvPicPr>
          <p:cNvPr id="12" name="Picture 11" descr="1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438400"/>
            <a:ext cx="2978150" cy="19145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47800" y="43434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尿素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35.4.2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缩合聚合反应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2800" u="sng" dirty="0"/>
              <a:t>脲醛树脂性质与用途</a:t>
            </a:r>
            <a:endParaRPr lang="en-US" altLang="zh-CN" sz="2800" u="sng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耐热、耐磨、耐化学腐蚀、电绝缘性（与电木相似）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本身是白色，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易于着色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用于：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代替电木</a:t>
            </a:r>
            <a:r>
              <a:rPr lang="zh-CN" altLang="en-US" sz="2800" dirty="0"/>
              <a:t>，制成各种颜色的电器外壳、电话机、锅具的手把、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三夹板的粘合剂</a:t>
            </a:r>
            <a:r>
              <a:rPr lang="zh-CN" altLang="en-US" sz="2800" dirty="0"/>
              <a:t>等。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u="sng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35.5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天然橡胶和合成橡胶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2800" u="sng" dirty="0"/>
              <a:t>29.5.1 </a:t>
            </a:r>
            <a:r>
              <a:rPr lang="zh-CN" altLang="en-US" sz="2800" u="sng" dirty="0"/>
              <a:t>天然橡胶</a:t>
            </a:r>
            <a:endParaRPr lang="en-US" altLang="zh-CN" sz="2800" u="sng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天然聚合物</a:t>
            </a:r>
            <a:endParaRPr lang="en-US" altLang="zh-CN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胶液：</a:t>
            </a:r>
            <a:r>
              <a:rPr lang="en-US" altLang="zh-CN" sz="2800" dirty="0"/>
              <a:t>62%</a:t>
            </a:r>
            <a:r>
              <a:rPr lang="zh-CN" altLang="en-US" sz="2800" dirty="0"/>
              <a:t>水</a:t>
            </a:r>
            <a:r>
              <a:rPr lang="en-US" altLang="zh-CN" sz="2800" dirty="0"/>
              <a:t>,35%</a:t>
            </a:r>
            <a:r>
              <a:rPr lang="zh-CN" altLang="en-US" sz="2800" dirty="0"/>
              <a:t>橡胶微粒</a:t>
            </a:r>
            <a:r>
              <a:rPr lang="en-US" altLang="zh-CN" sz="2800" dirty="0"/>
              <a:t>,3%</a:t>
            </a:r>
            <a:r>
              <a:rPr lang="zh-CN" altLang="en-US" sz="2800" dirty="0"/>
              <a:t>杂质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使胶液凝固：甲酸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单体：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甲基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-1,3-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丁二烯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</p:txBody>
      </p:sp>
      <p:pic>
        <p:nvPicPr>
          <p:cNvPr id="6" name="Picture 5" descr="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038600"/>
            <a:ext cx="3429000" cy="1731645"/>
          </a:xfrm>
          <a:prstGeom prst="rect">
            <a:avLst/>
          </a:prstGeom>
        </p:spPr>
      </p:pic>
      <p:pic>
        <p:nvPicPr>
          <p:cNvPr id="7" name="Picture 6" descr="19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50280" y="914400"/>
            <a:ext cx="3017520" cy="5172892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3962400" y="3886200"/>
            <a:ext cx="5181600" cy="2209800"/>
            <a:chOff x="4114800" y="3810000"/>
            <a:chExt cx="5181600" cy="2209800"/>
          </a:xfrm>
        </p:grpSpPr>
        <p:pic>
          <p:nvPicPr>
            <p:cNvPr id="8" name="Picture 7" descr="199.jpg"/>
            <p:cNvPicPr>
              <a:picLocks noChangeAspect="1"/>
            </p:cNvPicPr>
            <p:nvPr/>
          </p:nvPicPr>
          <p:blipFill>
            <a:blip r:embed="rId5"/>
            <a:srcRect l="5207" t="10309" r="-2764" b="7216"/>
            <a:stretch>
              <a:fillRect/>
            </a:stretch>
          </p:blipFill>
          <p:spPr>
            <a:xfrm>
              <a:off x="4114800" y="3810000"/>
              <a:ext cx="5181600" cy="220980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172200" y="3962400"/>
              <a:ext cx="3094117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600" b="1" dirty="0">
                  <a:solidFill>
                    <a:srgbClr val="2D1AB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橡胶分子</a:t>
              </a:r>
              <a:endParaRPr lang="en-US" altLang="zh-CN" sz="26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zh-CN" altLang="en-US" sz="26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聚</a:t>
              </a:r>
              <a:r>
                <a:rPr lang="en-US" altLang="zh-CN" sz="26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2-</a:t>
              </a:r>
              <a:r>
                <a:rPr lang="zh-CN" altLang="en-US" sz="26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甲基</a:t>
              </a:r>
              <a:r>
                <a:rPr lang="en-US" altLang="zh-CN" sz="26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-1,3-</a:t>
              </a:r>
              <a:r>
                <a:rPr lang="zh-CN" altLang="en-US" sz="26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丁二烯</a:t>
              </a:r>
              <a:endParaRPr lang="en-US" sz="26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" name="Oval 10"/>
          <p:cNvSpPr/>
          <p:nvPr/>
        </p:nvSpPr>
        <p:spPr>
          <a:xfrm>
            <a:off x="6172200" y="5257800"/>
            <a:ext cx="609600" cy="5181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943600" y="5943600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易被氧化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 animBg="1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35.5.1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天然橡胶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8674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生胶优点：好弹性、韧性、绝缘性，不透水，不透气。</a:t>
            </a:r>
            <a:endParaRPr lang="en-US" altLang="zh-CN" sz="28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/>
              <a:t>生胶缺点：不耐热、不耐寒、易老化、抗张强度和耐磨性不大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克服缺点：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硫化橡胶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（加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去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、形成交联网状）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熟橡胶（胶皮）：比较坚实、能耐较高及较低温。</a:t>
            </a:r>
            <a:endParaRPr lang="en-US" altLang="zh-CN" sz="28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硫化剂越多、交联越多、弹性差、硬度大。</a:t>
            </a:r>
            <a:endParaRPr lang="en-US" altLang="zh-CN" sz="28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endParaRPr lang="en-US" altLang="zh-CN" sz="2800" dirty="0"/>
          </a:p>
          <a:p>
            <a:pPr>
              <a:spcBef>
                <a:spcPts val="600"/>
              </a:spcBef>
              <a:buNone/>
            </a:pPr>
            <a:endParaRPr lang="en-US" altLang="zh-CN" sz="2800" u="sng" dirty="0"/>
          </a:p>
        </p:txBody>
      </p:sp>
      <p:pic>
        <p:nvPicPr>
          <p:cNvPr id="13" name="Picture 12" descr="193.jpg"/>
          <p:cNvPicPr>
            <a:picLocks noChangeAspect="1"/>
          </p:cNvPicPr>
          <p:nvPr/>
        </p:nvPicPr>
        <p:blipFill>
          <a:blip r:embed="rId3">
            <a:lum bright="-10000" contrast="-10000"/>
          </a:blip>
          <a:stretch>
            <a:fillRect/>
          </a:stretch>
        </p:blipFill>
        <p:spPr>
          <a:xfrm>
            <a:off x="762000" y="3505200"/>
            <a:ext cx="7848600" cy="305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35.5.1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天然橡胶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839200" cy="5257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提高橡胶的机械强度和耐磨性：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加入炭黑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提高橡胶的抗老化性能，延长使用寿命：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防老剂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经加工的橡胶：制造轮胎、水管、胶鞋等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/>
              <a:t>未加工的胶液：制造手术手套、气球、枕头、褥垫等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优点：耐摩擦性、散热性好，比人造橡胶更适合制造轮胎。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pg195</a:t>
            </a:r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u="sng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35.5.2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合成橡胶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8392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2800" u="sng" dirty="0"/>
              <a:t>顺丁橡胶</a:t>
            </a: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单体：</a:t>
            </a:r>
            <a:r>
              <a:rPr lang="en-US" altLang="zh-CN" sz="2800" dirty="0"/>
              <a:t>1,3-</a:t>
            </a:r>
            <a:r>
              <a:rPr lang="zh-CN" altLang="en-US" sz="2800" dirty="0"/>
              <a:t>丁二烯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反应式：</a:t>
            </a:r>
            <a:r>
              <a:rPr lang="en-US" altLang="zh-CN" sz="2800" dirty="0"/>
              <a:t>n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=CH-CH=CH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		-[-CH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-CH=CH-CH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-]- </a:t>
            </a:r>
            <a:r>
              <a:rPr lang="en-US" altLang="zh-CN" sz="2800" baseline="-25000" dirty="0"/>
              <a:t>n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类型：加成聚合物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性质：耐磨性、耐热性好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用途：制造轮胎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</p:txBody>
      </p:sp>
      <p:grpSp>
        <p:nvGrpSpPr>
          <p:cNvPr id="6" name="Group 47"/>
          <p:cNvGrpSpPr/>
          <p:nvPr/>
        </p:nvGrpSpPr>
        <p:grpSpPr>
          <a:xfrm>
            <a:off x="4419600" y="2057400"/>
            <a:ext cx="1524000" cy="369332"/>
            <a:chOff x="2941320" y="5936158"/>
            <a:chExt cx="1524000" cy="369332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971800" y="6246812"/>
              <a:ext cx="13716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941320" y="5936158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齐格勒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</a:t>
              </a:r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纳塔</a:t>
              </a:r>
              <a:endPara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9" name="Curved Down Arrow 8"/>
          <p:cNvSpPr/>
          <p:nvPr/>
        </p:nvSpPr>
        <p:spPr>
          <a:xfrm>
            <a:off x="3810000" y="20574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urved Down Arrow 9"/>
          <p:cNvSpPr/>
          <p:nvPr/>
        </p:nvSpPr>
        <p:spPr>
          <a:xfrm flipH="1">
            <a:off x="1981200" y="2057400"/>
            <a:ext cx="73152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Down Arrow 10"/>
          <p:cNvSpPr/>
          <p:nvPr/>
        </p:nvSpPr>
        <p:spPr>
          <a:xfrm>
            <a:off x="2712720" y="20574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 flipH="1">
            <a:off x="3261360" y="20574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Down Arrow 12"/>
          <p:cNvSpPr/>
          <p:nvPr/>
        </p:nvSpPr>
        <p:spPr>
          <a:xfrm>
            <a:off x="7315200" y="1981200"/>
            <a:ext cx="54864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Down Arrow 13"/>
          <p:cNvSpPr/>
          <p:nvPr/>
        </p:nvSpPr>
        <p:spPr>
          <a:xfrm flipH="1">
            <a:off x="6766560" y="1981200"/>
            <a:ext cx="54864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/>
        </p:nvSpPr>
        <p:spPr>
          <a:xfrm>
            <a:off x="6019800" y="1981200"/>
            <a:ext cx="73152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urved Down Arrow 15"/>
          <p:cNvSpPr/>
          <p:nvPr/>
        </p:nvSpPr>
        <p:spPr>
          <a:xfrm flipH="1">
            <a:off x="7848600" y="1981200"/>
            <a:ext cx="73152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35.5.2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合成橡胶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9916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2800" u="sng" dirty="0"/>
              <a:t>丁苯橡胶</a:t>
            </a: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单体：</a:t>
            </a:r>
            <a:r>
              <a:rPr lang="en-US" altLang="zh-CN" sz="2800" dirty="0"/>
              <a:t>1,3-</a:t>
            </a:r>
            <a:r>
              <a:rPr lang="zh-CN" altLang="en-US" sz="2800" dirty="0"/>
              <a:t>丁二烯和苯乙烯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反应式：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n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=CH-CH=CH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+ nCH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=CH    </a:t>
            </a:r>
            <a:r>
              <a:rPr lang="en-US" altLang="zh-CN" sz="2800" dirty="0">
                <a:sym typeface="Wingdings" pitchFamily="2" charset="2"/>
              </a:rPr>
              <a:t>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		</a:t>
            </a:r>
            <a:r>
              <a:rPr lang="en-US" altLang="zh-CN" sz="2800" dirty="0"/>
              <a:t>	        -[-CH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-CH=CH-CH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-CH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-CH-]- </a:t>
            </a:r>
            <a:r>
              <a:rPr lang="en-US" altLang="zh-CN" sz="2800" baseline="-25000" dirty="0"/>
              <a:t>n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类型：加成聚合物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性质：硫化后耐磨性最好的一种橡胶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用途：胶轮工业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</p:txBody>
      </p:sp>
      <p:pic>
        <p:nvPicPr>
          <p:cNvPr id="9" name="Picture 8" descr="187.png"/>
          <p:cNvPicPr>
            <a:picLocks noChangeAspect="1"/>
          </p:cNvPicPr>
          <p:nvPr/>
        </p:nvPicPr>
        <p:blipFill>
          <a:blip r:embed="rId3"/>
          <a:srcRect l="21333" r="34303" b="41899"/>
          <a:stretch>
            <a:fillRect/>
          </a:stretch>
        </p:blipFill>
        <p:spPr>
          <a:xfrm rot="10800000">
            <a:off x="3794760" y="3135442"/>
            <a:ext cx="548640" cy="857438"/>
          </a:xfrm>
          <a:prstGeom prst="rect">
            <a:avLst/>
          </a:prstGeom>
        </p:spPr>
      </p:pic>
      <p:pic>
        <p:nvPicPr>
          <p:cNvPr id="10" name="Picture 9" descr="187.png"/>
          <p:cNvPicPr>
            <a:picLocks noChangeAspect="1"/>
          </p:cNvPicPr>
          <p:nvPr/>
        </p:nvPicPr>
        <p:blipFill>
          <a:blip r:embed="rId3"/>
          <a:srcRect l="21333" r="34303" b="41899"/>
          <a:stretch>
            <a:fillRect/>
          </a:stretch>
        </p:blipFill>
        <p:spPr>
          <a:xfrm rot="10800000">
            <a:off x="7696200" y="3790762"/>
            <a:ext cx="548640" cy="857438"/>
          </a:xfrm>
          <a:prstGeom prst="rect">
            <a:avLst/>
          </a:prstGeom>
        </p:spPr>
      </p:pic>
      <p:sp>
        <p:nvSpPr>
          <p:cNvPr id="11" name="Curved Down Arrow 10"/>
          <p:cNvSpPr/>
          <p:nvPr/>
        </p:nvSpPr>
        <p:spPr>
          <a:xfrm>
            <a:off x="2209800" y="25908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 flipH="1">
            <a:off x="381000" y="2590800"/>
            <a:ext cx="73152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Down Arrow 12"/>
          <p:cNvSpPr/>
          <p:nvPr/>
        </p:nvSpPr>
        <p:spPr>
          <a:xfrm>
            <a:off x="1112520" y="25908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Down Arrow 13"/>
          <p:cNvSpPr/>
          <p:nvPr/>
        </p:nvSpPr>
        <p:spPr>
          <a:xfrm flipH="1">
            <a:off x="1661160" y="25908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/>
        </p:nvSpPr>
        <p:spPr>
          <a:xfrm>
            <a:off x="3901440" y="25908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urved Down Arrow 15"/>
          <p:cNvSpPr/>
          <p:nvPr/>
        </p:nvSpPr>
        <p:spPr>
          <a:xfrm flipH="1">
            <a:off x="3352800" y="25908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Down Arrow 16"/>
          <p:cNvSpPr/>
          <p:nvPr/>
        </p:nvSpPr>
        <p:spPr>
          <a:xfrm>
            <a:off x="5943600" y="3154680"/>
            <a:ext cx="54864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Down Arrow 17"/>
          <p:cNvSpPr/>
          <p:nvPr/>
        </p:nvSpPr>
        <p:spPr>
          <a:xfrm flipH="1">
            <a:off x="5394960" y="3154680"/>
            <a:ext cx="54864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Down Arrow 18"/>
          <p:cNvSpPr/>
          <p:nvPr/>
        </p:nvSpPr>
        <p:spPr>
          <a:xfrm>
            <a:off x="4648200" y="3154680"/>
            <a:ext cx="73152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Curved Down Arrow 19"/>
          <p:cNvSpPr/>
          <p:nvPr/>
        </p:nvSpPr>
        <p:spPr>
          <a:xfrm flipH="1">
            <a:off x="6477000" y="3154680"/>
            <a:ext cx="64008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Curved Down Arrow 20"/>
          <p:cNvSpPr/>
          <p:nvPr/>
        </p:nvSpPr>
        <p:spPr>
          <a:xfrm>
            <a:off x="7132320" y="3154680"/>
            <a:ext cx="64008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urved Down Arrow 21"/>
          <p:cNvSpPr/>
          <p:nvPr/>
        </p:nvSpPr>
        <p:spPr>
          <a:xfrm flipH="1">
            <a:off x="7741920" y="3154680"/>
            <a:ext cx="64008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117080" y="3048000"/>
            <a:ext cx="45720" cy="914400"/>
          </a:xfrm>
          <a:prstGeom prst="rect">
            <a:avLst/>
          </a:prstGeom>
          <a:solidFill>
            <a:srgbClr val="FF00FF"/>
          </a:solidFill>
          <a:ln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35.5.2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合成橡胶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8392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2800" u="sng" dirty="0"/>
              <a:t>氯丁橡胶</a:t>
            </a: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单体：</a:t>
            </a:r>
            <a:r>
              <a:rPr lang="en-US" altLang="zh-CN" sz="2800" dirty="0"/>
              <a:t>2-</a:t>
            </a:r>
            <a:r>
              <a:rPr lang="zh-CN" altLang="en-US" sz="2800" dirty="0"/>
              <a:t>氯</a:t>
            </a:r>
            <a:r>
              <a:rPr lang="en-US" altLang="zh-CN" sz="2800" dirty="0"/>
              <a:t>-1,3-</a:t>
            </a:r>
            <a:r>
              <a:rPr lang="zh-CN" altLang="en-US" sz="2800" dirty="0"/>
              <a:t>丁二烯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反应式</a:t>
            </a:r>
            <a:r>
              <a:rPr lang="en-US" altLang="zh-CN" sz="2800" dirty="0"/>
              <a:t>: nCH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=CH-</a:t>
            </a:r>
            <a:r>
              <a:rPr lang="en-US" altLang="zh-CN" sz="2800" dirty="0" err="1"/>
              <a:t>CCl</a:t>
            </a:r>
            <a:r>
              <a:rPr lang="en-US" altLang="zh-CN" sz="2800" dirty="0"/>
              <a:t>=CH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en-US" altLang="zh-CN" sz="2800" dirty="0"/>
              <a:t>  -[-CH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-CH=CCl-CH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-]- </a:t>
            </a:r>
            <a:r>
              <a:rPr lang="en-US" altLang="zh-CN" sz="2800" baseline="-25000" dirty="0"/>
              <a:t>n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类型：加成聚合物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性质：耐油、耐热、耐化学药品侵蚀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用途：第一种广泛应用的人造胶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</p:txBody>
      </p:sp>
      <p:sp>
        <p:nvSpPr>
          <p:cNvPr id="9" name="Curved Down Arrow 8"/>
          <p:cNvSpPr/>
          <p:nvPr/>
        </p:nvSpPr>
        <p:spPr>
          <a:xfrm>
            <a:off x="3566160" y="20574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urved Down Arrow 9"/>
          <p:cNvSpPr/>
          <p:nvPr/>
        </p:nvSpPr>
        <p:spPr>
          <a:xfrm flipH="1">
            <a:off x="1737360" y="2057400"/>
            <a:ext cx="73152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Down Arrow 10"/>
          <p:cNvSpPr/>
          <p:nvPr/>
        </p:nvSpPr>
        <p:spPr>
          <a:xfrm>
            <a:off x="2468880" y="20574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 flipH="1">
            <a:off x="3017520" y="20574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Down Arrow 12"/>
          <p:cNvSpPr/>
          <p:nvPr/>
        </p:nvSpPr>
        <p:spPr>
          <a:xfrm>
            <a:off x="6217920" y="1981200"/>
            <a:ext cx="64008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Down Arrow 13"/>
          <p:cNvSpPr/>
          <p:nvPr/>
        </p:nvSpPr>
        <p:spPr>
          <a:xfrm flipH="1">
            <a:off x="5654040" y="1981200"/>
            <a:ext cx="54864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/>
        </p:nvSpPr>
        <p:spPr>
          <a:xfrm>
            <a:off x="4907280" y="1981200"/>
            <a:ext cx="73152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urved Down Arrow 15"/>
          <p:cNvSpPr/>
          <p:nvPr/>
        </p:nvSpPr>
        <p:spPr>
          <a:xfrm flipH="1">
            <a:off x="6888480" y="1981200"/>
            <a:ext cx="64008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35.5.2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合成橡胶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9916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2800" u="sng" dirty="0"/>
              <a:t>丁腈橡胶</a:t>
            </a: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单体：</a:t>
            </a:r>
            <a:r>
              <a:rPr lang="en-US" altLang="zh-CN" sz="2800" dirty="0"/>
              <a:t>1,3-</a:t>
            </a:r>
            <a:r>
              <a:rPr lang="zh-CN" altLang="en-US" sz="2800" dirty="0"/>
              <a:t>丁二烯和丙烯腈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反应式：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n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=CH-CH=CH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+ nCH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=CH    </a:t>
            </a:r>
            <a:r>
              <a:rPr lang="en-US" altLang="zh-CN" sz="2800" dirty="0">
                <a:sym typeface="Wingdings" pitchFamily="2" charset="2"/>
              </a:rPr>
              <a:t>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		</a:t>
            </a:r>
            <a:r>
              <a:rPr lang="en-US" altLang="zh-CN" sz="2800" dirty="0"/>
              <a:t>	        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				       -[-CH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-CH=CH-CH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-CH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-CH-]- </a:t>
            </a:r>
            <a:r>
              <a:rPr lang="en-US" altLang="zh-CN" sz="2800" baseline="-25000" dirty="0"/>
              <a:t>n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类型：加成聚合物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性质：抗油性好，机械强度高，透气性小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zh-CN" altLang="en-US" sz="2800" dirty="0"/>
              <a:t>用途：制造油管、油箱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</p:txBody>
      </p:sp>
      <p:sp>
        <p:nvSpPr>
          <p:cNvPr id="7" name="Rectangle 6"/>
          <p:cNvSpPr/>
          <p:nvPr/>
        </p:nvSpPr>
        <p:spPr>
          <a:xfrm>
            <a:off x="7772400" y="4191000"/>
            <a:ext cx="5469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l</a:t>
            </a:r>
          </a:p>
          <a:p>
            <a:r>
              <a:rPr lang="en-US" altLang="zh-CN" sz="2400" dirty="0"/>
              <a:t>CN</a:t>
            </a:r>
            <a:endParaRPr lang="en-US" sz="2400" dirty="0"/>
          </a:p>
        </p:txBody>
      </p:sp>
      <p:sp>
        <p:nvSpPr>
          <p:cNvPr id="8" name="Curved Down Arrow 7"/>
          <p:cNvSpPr/>
          <p:nvPr/>
        </p:nvSpPr>
        <p:spPr>
          <a:xfrm>
            <a:off x="2209800" y="25908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Down Arrow 10"/>
          <p:cNvSpPr/>
          <p:nvPr/>
        </p:nvSpPr>
        <p:spPr>
          <a:xfrm flipH="1">
            <a:off x="381000" y="2590800"/>
            <a:ext cx="73152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>
            <a:off x="1112520" y="25908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Down Arrow 12"/>
          <p:cNvSpPr/>
          <p:nvPr/>
        </p:nvSpPr>
        <p:spPr>
          <a:xfrm flipH="1">
            <a:off x="1661160" y="2590800"/>
            <a:ext cx="54864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Down Arrow 13"/>
          <p:cNvSpPr/>
          <p:nvPr/>
        </p:nvSpPr>
        <p:spPr>
          <a:xfrm>
            <a:off x="3825240" y="2590800"/>
            <a:ext cx="73152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/>
        </p:nvSpPr>
        <p:spPr>
          <a:xfrm flipH="1">
            <a:off x="3048000" y="2590800"/>
            <a:ext cx="822960" cy="2286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948855" y="3048000"/>
            <a:ext cx="5469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l</a:t>
            </a:r>
          </a:p>
          <a:p>
            <a:r>
              <a:rPr lang="en-US" altLang="zh-CN" sz="2400" dirty="0"/>
              <a:t>CN</a:t>
            </a:r>
            <a:endParaRPr lang="en-US" sz="2400" dirty="0"/>
          </a:p>
        </p:txBody>
      </p:sp>
      <p:sp>
        <p:nvSpPr>
          <p:cNvPr id="17" name="Curved Down Arrow 16"/>
          <p:cNvSpPr/>
          <p:nvPr/>
        </p:nvSpPr>
        <p:spPr>
          <a:xfrm>
            <a:off x="5867400" y="3764280"/>
            <a:ext cx="54864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Down Arrow 17"/>
          <p:cNvSpPr/>
          <p:nvPr/>
        </p:nvSpPr>
        <p:spPr>
          <a:xfrm flipH="1">
            <a:off x="5318760" y="3764280"/>
            <a:ext cx="54864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Down Arrow 18"/>
          <p:cNvSpPr/>
          <p:nvPr/>
        </p:nvSpPr>
        <p:spPr>
          <a:xfrm>
            <a:off x="4572000" y="3764280"/>
            <a:ext cx="73152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Curved Down Arrow 19"/>
          <p:cNvSpPr/>
          <p:nvPr/>
        </p:nvSpPr>
        <p:spPr>
          <a:xfrm flipH="1">
            <a:off x="6400800" y="3764280"/>
            <a:ext cx="64008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Curved Down Arrow 20"/>
          <p:cNvSpPr/>
          <p:nvPr/>
        </p:nvSpPr>
        <p:spPr>
          <a:xfrm>
            <a:off x="7056120" y="3764280"/>
            <a:ext cx="64008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urved Down Arrow 21"/>
          <p:cNvSpPr/>
          <p:nvPr/>
        </p:nvSpPr>
        <p:spPr>
          <a:xfrm flipH="1">
            <a:off x="7665720" y="3764280"/>
            <a:ext cx="64008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40880" y="3657600"/>
            <a:ext cx="45720" cy="914400"/>
          </a:xfrm>
          <a:prstGeom prst="rect">
            <a:avLst/>
          </a:prstGeom>
          <a:solidFill>
            <a:srgbClr val="FF00FF"/>
          </a:solidFill>
          <a:ln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35.6 </a:t>
            </a:r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石油和合成高分子化合物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839200" cy="5257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塑料、合成纤维、合成橡胶的原料都来自石油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废塑料带来“白色污染”等严重问题</a:t>
            </a:r>
            <a:endParaRPr lang="en-MY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/>
              <a:t>废塑料的</a:t>
            </a:r>
            <a:r>
              <a:rPr lang="en-MY" altLang="zh-CN" sz="2800" dirty="0"/>
              <a:t>3R(reduce</a:t>
            </a:r>
            <a:r>
              <a:rPr lang="zh-CN" altLang="en-US" sz="2800" dirty="0"/>
              <a:t>、</a:t>
            </a:r>
            <a:r>
              <a:rPr lang="en-MY" altLang="zh-CN" sz="2800" dirty="0"/>
              <a:t>reuse</a:t>
            </a:r>
            <a:r>
              <a:rPr lang="zh-CN" altLang="en-US" sz="2800" dirty="0"/>
              <a:t>、</a:t>
            </a:r>
            <a:r>
              <a:rPr lang="en-MY" altLang="zh-CN" sz="2800" dirty="0"/>
              <a:t>recycle)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28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5278DE-55F5-4422-B79A-B02D4D2D09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7" t="4163" r="8613" b="4733"/>
          <a:stretch/>
        </p:blipFill>
        <p:spPr>
          <a:xfrm>
            <a:off x="152400" y="148214"/>
            <a:ext cx="8839200" cy="64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318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选择题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2800" dirty="0"/>
              <a:t>B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2800" dirty="0"/>
              <a:t>B</a:t>
            </a:r>
            <a:r>
              <a:rPr lang="zh-CN" altLang="en-US" sz="2800" dirty="0"/>
              <a:t>（有</a:t>
            </a:r>
            <a:r>
              <a:rPr lang="en-US" altLang="zh-CN" sz="2800" dirty="0"/>
              <a:t>C=C</a:t>
            </a:r>
            <a:r>
              <a:rPr lang="zh-CN" altLang="en-US" sz="2800" dirty="0"/>
              <a:t>双键）</a:t>
            </a:r>
            <a:endParaRPr lang="en-US" altLang="zh-CN" sz="28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2800" dirty="0"/>
              <a:t>D	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2800" dirty="0"/>
              <a:t>B </a:t>
            </a:r>
            <a:r>
              <a:rPr lang="zh-CN" altLang="en-US" sz="2800" dirty="0"/>
              <a:t>需含有两个官能团</a:t>
            </a:r>
            <a:endParaRPr lang="en-US" altLang="zh-CN" sz="2800" dirty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2800" dirty="0"/>
              <a:t>D</a:t>
            </a:r>
          </a:p>
          <a:p>
            <a:pPr marL="914400" lvl="1" indent="-514350">
              <a:spcBef>
                <a:spcPts val="1200"/>
              </a:spcBef>
              <a:buNone/>
            </a:pPr>
            <a:endParaRPr lang="en-US" altLang="zh-CN" sz="2400" dirty="0"/>
          </a:p>
          <a:p>
            <a:pPr marL="514350" indent="-514350">
              <a:spcBef>
                <a:spcPts val="1200"/>
              </a:spcBef>
              <a:buFont typeface="Arial" pitchFamily="34" charset="0"/>
              <a:buAutoNum type="arabicPeriod"/>
            </a:pPr>
            <a:r>
              <a:rPr lang="en-US" altLang="zh-CN" sz="2800" dirty="0"/>
              <a:t>C 	</a:t>
            </a:r>
            <a:r>
              <a:rPr lang="zh-CN" altLang="en-US" sz="2800" dirty="0"/>
              <a:t>热固性塑料：电木、电玉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</p:txBody>
      </p:sp>
      <p:pic>
        <p:nvPicPr>
          <p:cNvPr id="6" name="Picture 5" descr="188.jpg"/>
          <p:cNvPicPr>
            <a:picLocks noChangeAspect="1"/>
          </p:cNvPicPr>
          <p:nvPr/>
        </p:nvPicPr>
        <p:blipFill>
          <a:blip r:embed="rId3"/>
          <a:srcRect l="44186" t="21178" b="47649"/>
          <a:stretch>
            <a:fillRect/>
          </a:stretch>
        </p:blipFill>
        <p:spPr>
          <a:xfrm>
            <a:off x="1600200" y="3276600"/>
            <a:ext cx="17526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选择题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6106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7. 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B 2- </a:t>
            </a:r>
            <a:r>
              <a:rPr lang="zh-CN" altLang="en-US" sz="2800" dirty="0"/>
              <a:t>甲基</a:t>
            </a:r>
            <a:r>
              <a:rPr lang="en-US" altLang="zh-CN" sz="2800" dirty="0"/>
              <a:t>-1</a:t>
            </a:r>
            <a:r>
              <a:rPr lang="zh-CN" altLang="en-US" sz="2800" dirty="0"/>
              <a:t>，</a:t>
            </a:r>
            <a:r>
              <a:rPr lang="en-US" altLang="zh-CN" sz="2800" dirty="0"/>
              <a:t>3-</a:t>
            </a:r>
            <a:r>
              <a:rPr lang="zh-CN" altLang="en-US" sz="2800" dirty="0"/>
              <a:t>丁二烯</a:t>
            </a:r>
            <a:endParaRPr lang="en-US" altLang="zh-CN" sz="2800" dirty="0"/>
          </a:p>
          <a:p>
            <a:pPr marL="514350" indent="-514350">
              <a:lnSpc>
                <a:spcPct val="200000"/>
              </a:lnSpc>
              <a:spcBef>
                <a:spcPts val="1200"/>
              </a:spcBef>
              <a:buAutoNum type="arabicPeriod" startAt="8"/>
            </a:pPr>
            <a:r>
              <a:rPr lang="en-US" altLang="zh-CN" sz="2800" dirty="0"/>
              <a:t>-[-CH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– CH(CH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)—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—CH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-]-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 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	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CH-CH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和 </a:t>
            </a:r>
            <a:r>
              <a:rPr lang="en-US" altLang="zh-CN" sz="2800" dirty="0"/>
              <a:t>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 err="1"/>
              <a:t>Ans</a:t>
            </a:r>
            <a:r>
              <a:rPr lang="zh-CN" altLang="en-US" sz="2800" dirty="0"/>
              <a:t>： </a:t>
            </a:r>
            <a:r>
              <a:rPr lang="en-US" altLang="zh-CN" sz="2800" dirty="0"/>
              <a:t>D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9.  D</a:t>
            </a:r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</p:txBody>
      </p:sp>
      <p:pic>
        <p:nvPicPr>
          <p:cNvPr id="8" name="Picture 7" descr="199.jpg"/>
          <p:cNvPicPr>
            <a:picLocks noChangeAspect="1"/>
          </p:cNvPicPr>
          <p:nvPr/>
        </p:nvPicPr>
        <p:blipFill>
          <a:blip r:embed="rId3"/>
          <a:srcRect l="5207" t="10309" r="4409" b="7216"/>
          <a:stretch>
            <a:fillRect/>
          </a:stretch>
        </p:blipFill>
        <p:spPr>
          <a:xfrm>
            <a:off x="1600200" y="990600"/>
            <a:ext cx="4800600" cy="2209800"/>
          </a:xfrm>
          <a:prstGeom prst="rect">
            <a:avLst/>
          </a:prstGeom>
        </p:spPr>
      </p:pic>
      <p:sp>
        <p:nvSpPr>
          <p:cNvPr id="10" name="Curved Down Arrow 9"/>
          <p:cNvSpPr/>
          <p:nvPr/>
        </p:nvSpPr>
        <p:spPr>
          <a:xfrm>
            <a:off x="4175760" y="2133600"/>
            <a:ext cx="82296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Down Arrow 10"/>
          <p:cNvSpPr/>
          <p:nvPr/>
        </p:nvSpPr>
        <p:spPr>
          <a:xfrm flipH="1">
            <a:off x="2971800" y="2133600"/>
            <a:ext cx="109728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>
            <a:off x="1905000" y="2133600"/>
            <a:ext cx="100584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Down Arrow 12"/>
          <p:cNvSpPr/>
          <p:nvPr/>
        </p:nvSpPr>
        <p:spPr>
          <a:xfrm flipH="1">
            <a:off x="5074920" y="2133600"/>
            <a:ext cx="109728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/>
        </p:nvSpPr>
        <p:spPr>
          <a:xfrm>
            <a:off x="3429000" y="3840480"/>
            <a:ext cx="91440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urved Down Arrow 15"/>
          <p:cNvSpPr/>
          <p:nvPr/>
        </p:nvSpPr>
        <p:spPr>
          <a:xfrm flipH="1">
            <a:off x="1905000" y="3840480"/>
            <a:ext cx="146304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Down Arrow 16"/>
          <p:cNvSpPr/>
          <p:nvPr/>
        </p:nvSpPr>
        <p:spPr>
          <a:xfrm>
            <a:off x="990600" y="3840480"/>
            <a:ext cx="91440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Down Arrow 17"/>
          <p:cNvSpPr/>
          <p:nvPr/>
        </p:nvSpPr>
        <p:spPr>
          <a:xfrm flipH="1">
            <a:off x="4419600" y="3840480"/>
            <a:ext cx="914400" cy="274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52800" y="3733800"/>
            <a:ext cx="45720" cy="914400"/>
          </a:xfrm>
          <a:prstGeom prst="rect">
            <a:avLst/>
          </a:prstGeom>
          <a:solidFill>
            <a:srgbClr val="FF00FF"/>
          </a:solidFill>
          <a:ln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作答题  </a:t>
            </a:r>
            <a:r>
              <a:rPr lang="en-MY" altLang="zh-CN" sz="4000" b="1" dirty="0">
                <a:ln>
                  <a:solidFill>
                    <a:srgbClr val="7030A0"/>
                  </a:solidFill>
                </a:ln>
                <a:latin typeface="+mn-ea"/>
              </a:rPr>
              <a:t>1,3(1)(2),4,5(2)(3),6,8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1.	(1) </a:t>
            </a:r>
            <a:r>
              <a:rPr lang="zh-CN" altLang="en-US" sz="2800" dirty="0"/>
              <a:t>单体：用来合成高分子化合物（聚合物）的低分子化合物。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(2) </a:t>
            </a:r>
            <a:r>
              <a:rPr lang="zh-CN" altLang="en-US" sz="2800" dirty="0"/>
              <a:t>聚合物：由许多低分子化合物（单体）发生聚合反应或缩合反应而形成分子非常大的化合物。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(3) </a:t>
            </a:r>
            <a:r>
              <a:rPr lang="zh-CN" altLang="en-US" sz="2800" dirty="0"/>
              <a:t>聚合反应：由小分子的单体连接成聚合物的过程。</a:t>
            </a:r>
            <a:endParaRPr lang="en-US" altLang="zh-CN" sz="28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略</a:t>
            </a:r>
            <a:endParaRPr lang="en-US" altLang="zh-CN" sz="28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3. 	(1)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 CHCN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	(2)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 CHCOOCH</a:t>
            </a:r>
            <a:r>
              <a:rPr lang="en-US" altLang="zh-CN" sz="2800" baseline="-25000" dirty="0"/>
              <a:t>3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baseline="-25000" dirty="0"/>
              <a:t>	</a:t>
            </a:r>
            <a:r>
              <a:rPr lang="en-US" altLang="zh-CN" sz="2800" dirty="0"/>
              <a:t>(3)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 CCl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	(4) CF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 CF</a:t>
            </a:r>
            <a:r>
              <a:rPr lang="en-US" altLang="zh-CN" sz="2800" baseline="-25000" dirty="0"/>
              <a:t>2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作答题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3340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4.	(1)  -[- CR –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-]- </a:t>
            </a:r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(2) 	RC=CH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(3) </a:t>
            </a:r>
            <a:r>
              <a:rPr lang="zh-CN" altLang="en-US" sz="2800" dirty="0"/>
              <a:t>加成聚合物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(4) </a:t>
            </a:r>
            <a:r>
              <a:rPr lang="zh-CN" altLang="en-US" sz="2800" dirty="0"/>
              <a:t>答案提示：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) </a:t>
            </a:r>
            <a:r>
              <a:rPr lang="zh-CN" altLang="en-US" sz="2800" dirty="0"/>
              <a:t>不饱和脂肪酸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饱和脂肪酸酸；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Ni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	     ii) </a:t>
            </a:r>
            <a:r>
              <a:rPr lang="zh-CN" altLang="en-US" sz="2800" dirty="0">
                <a:sym typeface="Wingdings" pitchFamily="2" charset="2"/>
              </a:rPr>
              <a:t>酯化反应生成不饱和的酯类；</a:t>
            </a: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浓硫酸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	     iii) </a:t>
            </a:r>
            <a:r>
              <a:rPr lang="zh-CN" altLang="en-US" sz="2800" dirty="0">
                <a:sym typeface="Wingdings" pitchFamily="2" charset="2"/>
              </a:rPr>
              <a:t>生成不饱和羧酸钠</a:t>
            </a:r>
            <a:r>
              <a:rPr lang="en-US" altLang="zh-CN" sz="2800" dirty="0">
                <a:sym typeface="Wingdings" pitchFamily="2" charset="2"/>
              </a:rPr>
              <a:t>+ </a:t>
            </a:r>
            <a:r>
              <a:rPr lang="zh-CN" altLang="en-US" sz="2800" dirty="0">
                <a:sym typeface="Wingdings" pitchFamily="2" charset="2"/>
              </a:rPr>
              <a:t>氢气</a:t>
            </a:r>
            <a:endParaRPr lang="en-US" altLang="zh-CN" sz="2800" dirty="0"/>
          </a:p>
        </p:txBody>
      </p:sp>
      <p:sp>
        <p:nvSpPr>
          <p:cNvPr id="6" name="Rectangle 5"/>
          <p:cNvSpPr/>
          <p:nvPr/>
        </p:nvSpPr>
        <p:spPr>
          <a:xfrm>
            <a:off x="1524000" y="1630740"/>
            <a:ext cx="1219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l </a:t>
            </a:r>
          </a:p>
          <a:p>
            <a:r>
              <a:rPr lang="en-US" altLang="zh-CN" sz="2400" dirty="0"/>
              <a:t>COOH</a:t>
            </a:r>
            <a:endParaRPr lang="en-US" altLang="zh-CN" sz="2400" baseline="-250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7" name="Rectangle 6"/>
          <p:cNvSpPr/>
          <p:nvPr/>
        </p:nvSpPr>
        <p:spPr>
          <a:xfrm>
            <a:off x="1447800" y="3352800"/>
            <a:ext cx="1219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l </a:t>
            </a:r>
          </a:p>
          <a:p>
            <a:r>
              <a:rPr lang="en-US" altLang="zh-CN" sz="2400" dirty="0"/>
              <a:t>COOH</a:t>
            </a:r>
            <a:endParaRPr lang="en-US" altLang="zh-CN" sz="2400" baseline="-250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作答题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5. 	(1)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 CHOH				</a:t>
            </a:r>
            <a:r>
              <a:rPr lang="zh-CN" altLang="en-US" sz="2800" dirty="0"/>
              <a:t>加成聚合反应</a:t>
            </a:r>
            <a:endParaRPr lang="en-US" altLang="zh-CN" sz="28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	(2)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 CHCH=CH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和</a:t>
            </a:r>
            <a:r>
              <a:rPr lang="en-US" altLang="zh-CN" sz="2800" dirty="0"/>
              <a:t>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 CHCN 	</a:t>
            </a:r>
            <a:r>
              <a:rPr lang="zh-CN" altLang="en-US" sz="2800" dirty="0"/>
              <a:t>加成聚合反应</a:t>
            </a:r>
            <a:endParaRPr lang="en-US" altLang="zh-CN" sz="2800" baseline="-25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baseline="-25000" dirty="0"/>
              <a:t>	</a:t>
            </a:r>
            <a:r>
              <a:rPr lang="en-US" altLang="zh-CN" sz="2800" dirty="0"/>
              <a:t>(3) NH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</a:t>
            </a:r>
            <a:r>
              <a:rPr lang="en-US" altLang="zh-CN" sz="2800" baseline="-25000" dirty="0"/>
              <a:t>10</a:t>
            </a:r>
            <a:r>
              <a:rPr lang="en-US" altLang="zh-CN" sz="2800" dirty="0"/>
              <a:t> NH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和 </a:t>
            </a:r>
            <a:r>
              <a:rPr lang="en-US" altLang="zh-CN" sz="2800" dirty="0"/>
              <a:t>HOOC(CH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</a:t>
            </a:r>
            <a:r>
              <a:rPr lang="en-US" altLang="zh-CN" sz="2800" baseline="-25000" dirty="0"/>
              <a:t>8</a:t>
            </a:r>
            <a:r>
              <a:rPr lang="en-US" altLang="zh-CN" sz="2800" dirty="0"/>
              <a:t>COOH </a:t>
            </a:r>
            <a:r>
              <a:rPr lang="zh-CN" altLang="en-US" sz="2800" dirty="0"/>
              <a:t>缩合聚合反应</a:t>
            </a:r>
            <a:endParaRPr lang="en-US" altLang="zh-CN" sz="28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	(4)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 </a:t>
            </a:r>
            <a:r>
              <a:rPr lang="en-US" altLang="zh-CN" sz="2800" dirty="0" err="1"/>
              <a:t>CCl</a:t>
            </a:r>
            <a:r>
              <a:rPr lang="en-US" altLang="zh-CN" sz="2800" dirty="0"/>
              <a:t>-CH=CH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			</a:t>
            </a:r>
            <a:r>
              <a:rPr lang="zh-CN" altLang="en-US" sz="2800" dirty="0"/>
              <a:t>加成聚合反应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作答题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6. (1) n(H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O) : n(CO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 0.72/18  </a:t>
            </a:r>
            <a:r>
              <a:rPr lang="zh-CN" altLang="en-US" sz="2800" dirty="0"/>
              <a:t>： </a:t>
            </a:r>
            <a:r>
              <a:rPr lang="en-US" altLang="zh-CN" sz="2800" dirty="0"/>
              <a:t>2.2/44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			     = 4</a:t>
            </a:r>
            <a:r>
              <a:rPr lang="zh-CN" altLang="en-US" sz="2800" dirty="0"/>
              <a:t>：</a:t>
            </a:r>
            <a:r>
              <a:rPr lang="en-US" altLang="zh-CN" sz="2800" dirty="0"/>
              <a:t>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	n(H)</a:t>
            </a:r>
            <a:r>
              <a:rPr lang="zh-CN" altLang="en-US" sz="2800" dirty="0"/>
              <a:t>：</a:t>
            </a:r>
            <a:r>
              <a:rPr lang="en-US" altLang="zh-CN" sz="2800" dirty="0"/>
              <a:t>n(C) = 8 : 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(2)  </a:t>
            </a:r>
            <a:r>
              <a:rPr lang="en-US" altLang="zh-CN" sz="2800" dirty="0" err="1"/>
              <a:t>Mr</a:t>
            </a:r>
            <a:r>
              <a:rPr lang="en-US" altLang="zh-CN" sz="2800" dirty="0"/>
              <a:t> (C</a:t>
            </a:r>
            <a:r>
              <a:rPr lang="en-US" altLang="zh-CN" sz="2800" baseline="-25000" dirty="0"/>
              <a:t>5n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8n</a:t>
            </a:r>
            <a:r>
              <a:rPr lang="en-US" altLang="zh-CN" sz="2800" dirty="0"/>
              <a:t>) = 34x2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   12x5n + 8n = 68 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		n = 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(3) n(Br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 32g/160gmol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 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   	      =0.2mol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0.1mol A +  0.2mol Br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 </a:t>
            </a:r>
            <a:r>
              <a:rPr lang="zh-CN" altLang="en-US" sz="2800" dirty="0"/>
              <a:t>即</a:t>
            </a:r>
            <a:r>
              <a:rPr lang="en-US" altLang="zh-CN" sz="2800" dirty="0"/>
              <a:t>A</a:t>
            </a:r>
            <a:r>
              <a:rPr lang="zh-CN" altLang="en-US" sz="2800" dirty="0"/>
              <a:t>含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一个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C≡C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三键</a:t>
            </a:r>
            <a:r>
              <a:rPr lang="zh-CN" altLang="en-US" sz="2800" dirty="0"/>
              <a:t>或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两个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C=C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双键</a:t>
            </a:r>
            <a:endParaRPr lang="en-US" altLang="zh-CN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(4) </a:t>
            </a:r>
            <a:r>
              <a:rPr lang="zh-CN" altLang="en-US" sz="2800" dirty="0"/>
              <a:t>确定是含有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两个</a:t>
            </a:r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分散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C=C</a:t>
            </a:r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双键，及有一个甲基</a:t>
            </a:r>
            <a:endParaRPr lang="en-US" altLang="zh-CN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5334000" y="1981200"/>
            <a:ext cx="2008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实验式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zh-CN" sz="28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</a:t>
            </a:r>
            <a:r>
              <a:rPr lang="en-US" altLang="zh-CN" sz="28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4000" y="3743980"/>
            <a:ext cx="2008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化学式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zh-CN" sz="28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altLang="zh-CN" sz="2800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</a:t>
            </a:r>
            <a:r>
              <a:rPr lang="en-US" altLang="zh-CN" sz="2800" b="1" baseline="-25000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en-US" sz="2800" b="1" dirty="0">
              <a:solidFill>
                <a:srgbClr val="2D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作答题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AutoNum type="arabicPeriod" startAt="6"/>
            </a:pPr>
            <a:r>
              <a:rPr lang="en-US" altLang="zh-CN" sz="2800" dirty="0"/>
              <a:t>① 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 C(CH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)CH=CH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		2-</a:t>
            </a:r>
            <a:r>
              <a:rPr lang="zh-CN" altLang="en-US" sz="2800" dirty="0"/>
              <a:t>甲基</a:t>
            </a:r>
            <a:r>
              <a:rPr lang="en-US" altLang="zh-CN" sz="2800" dirty="0"/>
              <a:t>-1,3-</a:t>
            </a:r>
            <a:r>
              <a:rPr lang="zh-CN" altLang="en-US" sz="2800" dirty="0"/>
              <a:t>丁二烯</a:t>
            </a:r>
            <a:endParaRPr lang="en-US" altLang="zh-CN" sz="28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	②</a:t>
            </a:r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	</a:t>
            </a:r>
            <a:r>
              <a:rPr lang="zh-CN" altLang="en-US" sz="2800" dirty="0"/>
              <a:t>聚</a:t>
            </a:r>
            <a:r>
              <a:rPr lang="en-US" altLang="zh-CN" sz="2800" dirty="0"/>
              <a:t> 2-</a:t>
            </a:r>
            <a:r>
              <a:rPr lang="zh-CN" altLang="en-US" sz="2800" dirty="0"/>
              <a:t>甲基</a:t>
            </a:r>
            <a:r>
              <a:rPr lang="en-US" altLang="zh-CN" sz="2800" dirty="0"/>
              <a:t>-1,3-</a:t>
            </a:r>
            <a:r>
              <a:rPr lang="zh-CN" altLang="en-US" sz="2800" dirty="0"/>
              <a:t>丁二烯</a:t>
            </a:r>
            <a:endParaRPr lang="en-US" altLang="zh-CN" sz="2800" dirty="0"/>
          </a:p>
        </p:txBody>
      </p:sp>
      <p:pic>
        <p:nvPicPr>
          <p:cNvPr id="7" name="Picture 6" descr="199.jpg"/>
          <p:cNvPicPr>
            <a:picLocks noChangeAspect="1"/>
          </p:cNvPicPr>
          <p:nvPr/>
        </p:nvPicPr>
        <p:blipFill>
          <a:blip r:embed="rId3"/>
          <a:srcRect l="5207" t="10309" r="4409" b="7216"/>
          <a:stretch>
            <a:fillRect/>
          </a:stretch>
        </p:blipFill>
        <p:spPr>
          <a:xfrm>
            <a:off x="2057400" y="2362200"/>
            <a:ext cx="48006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作答题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7.</a:t>
            </a:r>
            <a:r>
              <a:rPr lang="zh-CN" altLang="en-US" sz="2800" dirty="0"/>
              <a:t>橡胶的分子结构：</a:t>
            </a:r>
            <a:endParaRPr lang="en-US" altLang="zh-CN" sz="28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 </a:t>
            </a:r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28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zh-CN" altLang="en-US" sz="2800" dirty="0"/>
              <a:t>橡胶易与溴发生加成反应。</a:t>
            </a:r>
            <a:endParaRPr lang="en-US" altLang="zh-CN" sz="28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8. 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zh-CN" altLang="en-US" sz="2800" dirty="0"/>
              <a:t>答案提示</a:t>
            </a:r>
            <a:r>
              <a:rPr lang="en-US" altLang="zh-CN" sz="2800" dirty="0"/>
              <a:t>	a) 2-</a:t>
            </a:r>
            <a:r>
              <a:rPr lang="zh-CN" altLang="en-US" sz="2800" dirty="0"/>
              <a:t>甲基</a:t>
            </a:r>
            <a:r>
              <a:rPr lang="en-US" altLang="zh-CN" sz="2800" dirty="0"/>
              <a:t>-1,2-</a:t>
            </a:r>
            <a:r>
              <a:rPr lang="zh-CN" altLang="en-US" sz="2800" dirty="0"/>
              <a:t>丙二醇 </a:t>
            </a:r>
            <a:endParaRPr lang="en-US" altLang="zh-CN" sz="28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			b) 2-</a:t>
            </a:r>
            <a:r>
              <a:rPr lang="zh-CN" altLang="en-US" sz="2800" dirty="0"/>
              <a:t>甲基丙烯酸</a:t>
            </a:r>
            <a:endParaRPr lang="en-US" altLang="zh-CN" sz="28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			c) 2-</a:t>
            </a:r>
            <a:r>
              <a:rPr lang="zh-CN" altLang="en-US" sz="2800" dirty="0"/>
              <a:t>甲基丙烯酸甲酯</a:t>
            </a:r>
            <a:endParaRPr lang="en-US" altLang="zh-CN" sz="28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2800" dirty="0"/>
              <a:t>			d) </a:t>
            </a:r>
            <a:r>
              <a:rPr lang="zh-CN" altLang="en-US" sz="2800" dirty="0"/>
              <a:t>聚</a:t>
            </a:r>
            <a:r>
              <a:rPr lang="en-US" altLang="zh-CN" sz="2800" dirty="0"/>
              <a:t>2-</a:t>
            </a:r>
            <a:r>
              <a:rPr lang="zh-CN" altLang="en-US" sz="2800" dirty="0"/>
              <a:t>甲基丙烯酸甲酯</a:t>
            </a:r>
            <a:endParaRPr lang="en-US" altLang="zh-CN" sz="2800" dirty="0"/>
          </a:p>
        </p:txBody>
      </p:sp>
      <p:pic>
        <p:nvPicPr>
          <p:cNvPr id="6" name="Picture 5" descr="199.jpg"/>
          <p:cNvPicPr>
            <a:picLocks noChangeAspect="1"/>
          </p:cNvPicPr>
          <p:nvPr/>
        </p:nvPicPr>
        <p:blipFill>
          <a:blip r:embed="rId3"/>
          <a:srcRect l="5207" t="10309" r="4409" b="7216"/>
          <a:stretch>
            <a:fillRect/>
          </a:stretch>
        </p:blipFill>
        <p:spPr>
          <a:xfrm>
            <a:off x="3581401" y="990605"/>
            <a:ext cx="3774257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作答题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9.  </a:t>
            </a:r>
            <a:r>
              <a:rPr lang="zh-CN" altLang="en-US" sz="2800" u="sng" dirty="0"/>
              <a:t>答案提示</a:t>
            </a: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(1) </a:t>
            </a:r>
            <a:r>
              <a:rPr lang="zh-CN" altLang="en-US" sz="2800" dirty="0"/>
              <a:t>一种化合物单独生成缩合聚合物需有</a:t>
            </a:r>
            <a:r>
              <a:rPr lang="zh-CN" alt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两种</a:t>
            </a:r>
            <a:r>
              <a:rPr lang="zh-CN" altLang="en-US" sz="2800" dirty="0"/>
              <a:t>官能团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	E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(2) </a:t>
            </a:r>
            <a:r>
              <a:rPr lang="zh-CN" altLang="en-US" sz="2800" dirty="0"/>
              <a:t>需含有</a:t>
            </a:r>
            <a:r>
              <a:rPr lang="en-US" altLang="zh-CN" sz="2800" dirty="0"/>
              <a:t>C=C</a:t>
            </a:r>
            <a:r>
              <a:rPr lang="zh-CN" altLang="en-US" sz="2800" dirty="0"/>
              <a:t>双键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	C 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(3) </a:t>
            </a:r>
            <a:r>
              <a:rPr lang="zh-CN" altLang="en-US" sz="2800" dirty="0"/>
              <a:t>两化合物都需有两个官能团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	B</a:t>
            </a:r>
            <a:r>
              <a:rPr lang="zh-CN" altLang="en-US" sz="2800" dirty="0"/>
              <a:t>和</a:t>
            </a:r>
            <a:r>
              <a:rPr lang="en-US" altLang="zh-CN" sz="2800" dirty="0"/>
              <a:t>D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	</a:t>
            </a:r>
            <a:r>
              <a:rPr lang="zh-CN" altLang="en-US" sz="2800" dirty="0"/>
              <a:t>生成 聚戊二酸乙二醇酯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(4) </a:t>
            </a:r>
            <a:r>
              <a:rPr lang="zh-CN" altLang="en-US" sz="2800" dirty="0"/>
              <a:t>丙酸 </a:t>
            </a:r>
            <a:r>
              <a:rPr lang="en-US" altLang="zh-CN" sz="2800" dirty="0"/>
              <a:t>+ </a:t>
            </a:r>
            <a:r>
              <a:rPr lang="zh-CN" altLang="en-US" sz="2800" dirty="0"/>
              <a:t>乙醇 </a:t>
            </a:r>
            <a:r>
              <a:rPr lang="en-US" altLang="zh-CN" sz="2800" dirty="0">
                <a:sym typeface="Wingdings" pitchFamily="2" charset="2"/>
              </a:rPr>
              <a:t> </a:t>
            </a:r>
            <a:r>
              <a:rPr lang="zh-CN" altLang="en-US" sz="2800" dirty="0">
                <a:sym typeface="Wingdings" pitchFamily="2" charset="2"/>
              </a:rPr>
              <a:t>丙酸乙酯 </a:t>
            </a:r>
            <a:r>
              <a:rPr lang="en-US" altLang="zh-CN" sz="2800" dirty="0">
                <a:sym typeface="Wingdings" pitchFamily="2" charset="2"/>
              </a:rPr>
              <a:t>+ </a:t>
            </a:r>
            <a:r>
              <a:rPr lang="zh-CN" altLang="en-US" sz="2800" dirty="0">
                <a:sym typeface="Wingdings" pitchFamily="2" charset="2"/>
              </a:rPr>
              <a:t>水 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作答题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10.  </a:t>
            </a:r>
            <a:endParaRPr lang="en-US" altLang="zh-CN" sz="2800" u="sng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(1) </a:t>
            </a:r>
            <a:r>
              <a:rPr lang="zh-CN" altLang="en-US" sz="2800" dirty="0"/>
              <a:t>甲醛和尿素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(2) </a:t>
            </a:r>
            <a:r>
              <a:rPr lang="zh-CN" altLang="en-US" sz="2800" dirty="0"/>
              <a:t>氯乙烯</a:t>
            </a:r>
            <a:r>
              <a:rPr lang="en-US" altLang="zh-CN" sz="2800" dirty="0"/>
              <a:t> 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反应式： </a:t>
            </a:r>
            <a:r>
              <a:rPr lang="en-US" altLang="zh-CN" sz="2800" dirty="0"/>
              <a:t>       n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 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(3) </a:t>
            </a:r>
            <a:r>
              <a:rPr lang="zh-CN" altLang="en-US" sz="2800" dirty="0"/>
              <a:t>应用</a:t>
            </a:r>
            <a:r>
              <a:rPr lang="en-US" altLang="zh-CN" sz="2800" dirty="0"/>
              <a:t>(1)</a:t>
            </a:r>
            <a:r>
              <a:rPr lang="zh-CN" altLang="en-US" sz="2800" dirty="0"/>
              <a:t>所生成的聚合物，因为这聚合物是热固性塑料，其耐热性较</a:t>
            </a:r>
            <a:r>
              <a:rPr lang="en-US" altLang="zh-CN" sz="2800" dirty="0"/>
              <a:t>(2)</a:t>
            </a:r>
            <a:r>
              <a:rPr lang="zh-CN" altLang="en-US" sz="2800" dirty="0"/>
              <a:t>所生成的聚合物好。</a:t>
            </a:r>
            <a:endParaRPr lang="en-US" altLang="zh-CN" sz="2800" dirty="0"/>
          </a:p>
          <a:p>
            <a:pPr>
              <a:spcBef>
                <a:spcPts val="1200"/>
              </a:spcBef>
              <a:buNone/>
            </a:pPr>
            <a:r>
              <a:rPr lang="en-US" altLang="zh-CN" sz="2800" dirty="0"/>
              <a:t>	(4)</a:t>
            </a:r>
            <a:r>
              <a:rPr lang="zh-CN" altLang="en-US" sz="2800" dirty="0"/>
              <a:t>应用</a:t>
            </a:r>
            <a:r>
              <a:rPr lang="en-US" altLang="zh-CN" sz="2800" dirty="0"/>
              <a:t>(2)</a:t>
            </a:r>
            <a:r>
              <a:rPr lang="zh-CN" altLang="en-US" sz="2800" dirty="0"/>
              <a:t>所生成的聚合物，因其耐化学腐蚀性好。聚氯乙烯是热塑性塑料，因此只需把水管需要屈曲的部分加热至软化，然后把它弯曲至所需角度。</a:t>
            </a:r>
            <a:endParaRPr lang="en-US" altLang="zh-CN" sz="2800" dirty="0"/>
          </a:p>
        </p:txBody>
      </p:sp>
      <p:grpSp>
        <p:nvGrpSpPr>
          <p:cNvPr id="6" name="Group 47"/>
          <p:cNvGrpSpPr/>
          <p:nvPr/>
        </p:nvGrpSpPr>
        <p:grpSpPr>
          <a:xfrm>
            <a:off x="4953000" y="2526268"/>
            <a:ext cx="1280160" cy="372309"/>
            <a:chOff x="2819400" y="5876091"/>
            <a:chExt cx="1280160" cy="372309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0" y="6246812"/>
              <a:ext cx="128016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87609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2D1AB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聚合反应</a:t>
              </a:r>
              <a:endParaRPr lang="en-US" b="1" dirty="0">
                <a:solidFill>
                  <a:srgbClr val="2D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9" name="Picture 8" descr="178.jpg"/>
          <p:cNvPicPr>
            <a:picLocks noChangeAspect="1"/>
          </p:cNvPicPr>
          <p:nvPr/>
        </p:nvPicPr>
        <p:blipFill>
          <a:blip r:embed="rId3"/>
          <a:srcRect l="3846" t="23769" r="63462" b="41929"/>
          <a:stretch>
            <a:fillRect/>
          </a:stretch>
        </p:blipFill>
        <p:spPr>
          <a:xfrm>
            <a:off x="3048000" y="2209800"/>
            <a:ext cx="1463040" cy="1463040"/>
          </a:xfrm>
          <a:prstGeom prst="rect">
            <a:avLst/>
          </a:prstGeom>
        </p:spPr>
      </p:pic>
      <p:pic>
        <p:nvPicPr>
          <p:cNvPr id="10" name="Picture 9" descr="178.jpg"/>
          <p:cNvPicPr>
            <a:picLocks noChangeAspect="1"/>
          </p:cNvPicPr>
          <p:nvPr/>
        </p:nvPicPr>
        <p:blipFill>
          <a:blip r:embed="rId3"/>
          <a:srcRect l="59615" t="23769" r="9615" b="41929"/>
          <a:stretch>
            <a:fillRect/>
          </a:stretch>
        </p:blipFill>
        <p:spPr>
          <a:xfrm>
            <a:off x="6400800" y="2286000"/>
            <a:ext cx="1376979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" y="0"/>
            <a:ext cx="9149891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ln>
                  <a:solidFill>
                    <a:srgbClr val="7030A0"/>
                  </a:solidFill>
                </a:ln>
                <a:latin typeface="+mn-ea"/>
              </a:rPr>
              <a:t>作答题</a:t>
            </a:r>
            <a:endParaRPr lang="en-US" sz="4000" b="1" dirty="0">
              <a:ln>
                <a:solidFill>
                  <a:srgbClr val="7030A0"/>
                </a:solidFill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11. </a:t>
            </a:r>
            <a:r>
              <a:rPr lang="en-MY" altLang="zh-CN" sz="3000" dirty="0"/>
              <a:t>(1)5</a:t>
            </a:r>
            <a:r>
              <a:rPr lang="zh-CN" altLang="en-US" sz="3000" dirty="0"/>
              <a:t>种单体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乙二醇、乙二酸、</a:t>
            </a:r>
            <a:r>
              <a:rPr lang="en-US" altLang="zh-CN" sz="3000" dirty="0"/>
              <a:t>1</a:t>
            </a:r>
            <a:r>
              <a:rPr lang="en-MY" altLang="zh-CN" sz="3000" dirty="0"/>
              <a:t>,2</a:t>
            </a:r>
            <a:r>
              <a:rPr lang="en-US" altLang="zh-CN" sz="3000" dirty="0"/>
              <a:t>-</a:t>
            </a:r>
            <a:r>
              <a:rPr lang="zh-CN" altLang="en-US" sz="3000" dirty="0"/>
              <a:t>丙二醇、对苯二甲酸、丙二酸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式量</a:t>
            </a:r>
            <a:r>
              <a:rPr lang="en-MY" altLang="zh-CN" sz="3000" dirty="0"/>
              <a:t>:</a:t>
            </a:r>
            <a:r>
              <a:rPr lang="en-US" altLang="zh-CN" sz="3000" dirty="0"/>
              <a:t>62	90		76		166		104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(2)</a:t>
            </a:r>
            <a:r>
              <a:rPr lang="zh-CN" altLang="en-US" sz="3000" u="sng" dirty="0"/>
              <a:t>答案提示</a:t>
            </a:r>
            <a:endParaRPr lang="en-US" altLang="zh-CN" sz="3000" u="sng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n</a:t>
            </a:r>
            <a:r>
              <a:rPr lang="zh-CN" altLang="en-US" sz="3000" dirty="0"/>
              <a:t>乙二醇</a:t>
            </a:r>
            <a:r>
              <a:rPr lang="en-US" altLang="zh-CN" sz="3000" dirty="0"/>
              <a:t>+ n</a:t>
            </a:r>
            <a:r>
              <a:rPr lang="zh-CN" altLang="en-US" sz="3000" dirty="0"/>
              <a:t>对苯二甲酸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zh-CN" altLang="en-US" sz="3000" dirty="0"/>
              <a:t>聚对苯二甲酸乙二酯</a:t>
            </a:r>
            <a:r>
              <a:rPr lang="en-US" altLang="zh-CN" sz="3000" dirty="0">
                <a:sym typeface="Wingdings" pitchFamily="2" charset="2"/>
              </a:rPr>
              <a:t>+ 2n</a:t>
            </a:r>
            <a:r>
              <a:rPr lang="zh-CN" altLang="en-US" sz="3000" dirty="0">
                <a:sym typeface="Wingdings" pitchFamily="2" charset="2"/>
              </a:rPr>
              <a:t>水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(3) </a:t>
            </a:r>
            <a:r>
              <a:rPr lang="zh-CN" altLang="en-US" sz="3000" dirty="0"/>
              <a:t>物质</a:t>
            </a:r>
            <a:r>
              <a:rPr lang="en-US" altLang="zh-CN" sz="3000" dirty="0"/>
              <a:t>A</a:t>
            </a:r>
            <a:r>
              <a:rPr lang="zh-CN" altLang="en-US" sz="3000" dirty="0"/>
              <a:t>（乙二醇）</a:t>
            </a:r>
            <a:endParaRPr lang="en-MY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A</a:t>
            </a:r>
            <a:r>
              <a:rPr lang="zh-CN" altLang="en-US" sz="3000" dirty="0"/>
              <a:t>完全消去后生成物质</a:t>
            </a:r>
            <a:r>
              <a:rPr lang="en-US" altLang="zh-CN" sz="3000" dirty="0"/>
              <a:t>B</a:t>
            </a:r>
            <a:r>
              <a:rPr lang="zh-CN" altLang="en-US" sz="3000" dirty="0"/>
              <a:t>（乙炔</a:t>
            </a:r>
            <a:r>
              <a:rPr lang="en-MY" altLang="zh-CN" sz="3000" dirty="0"/>
              <a:t>, HC≡CH</a:t>
            </a:r>
            <a:r>
              <a:rPr lang="zh-CN" altLang="en-US" sz="3000" dirty="0"/>
              <a:t>）；</a:t>
            </a:r>
            <a:endParaRPr lang="en-MY" altLang="zh-CN" sz="3000" dirty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聚乙炔可以使溴水褪色（因为聚乙炔中含有</a:t>
            </a:r>
            <a:r>
              <a:rPr lang="en-US" altLang="zh-CN" sz="3000" dirty="0"/>
              <a:t>C=C</a:t>
            </a:r>
            <a:r>
              <a:rPr lang="zh-CN" altLang="en-US" sz="3000" dirty="0"/>
              <a:t>双键）</a:t>
            </a:r>
            <a:endParaRPr lang="en-MY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(4) </a:t>
            </a:r>
            <a:r>
              <a:rPr lang="zh-CN" altLang="en-US" sz="3000" dirty="0"/>
              <a:t>乙二醇和</a:t>
            </a:r>
            <a:r>
              <a:rPr lang="en-US" altLang="zh-CN" sz="3000" dirty="0"/>
              <a:t>1</a:t>
            </a:r>
            <a:r>
              <a:rPr lang="en-MY" altLang="zh-CN" sz="3000" dirty="0"/>
              <a:t>,2</a:t>
            </a:r>
            <a:r>
              <a:rPr lang="en-US" altLang="zh-CN" sz="3000" dirty="0"/>
              <a:t>-</a:t>
            </a:r>
            <a:r>
              <a:rPr lang="zh-CN" altLang="en-US" sz="3000" dirty="0"/>
              <a:t>丙二醇；乙二酸和丙二酸</a:t>
            </a:r>
            <a:endParaRPr lang="en-MY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9054780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6145409</TotalTime>
  <Words>4310</Words>
  <Application>Microsoft Office PowerPoint</Application>
  <PresentationFormat>On-screen Show (4:3)</PresentationFormat>
  <Paragraphs>428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宋体</vt:lpstr>
      <vt:lpstr>Arial</vt:lpstr>
      <vt:lpstr>Calibri</vt:lpstr>
      <vt:lpstr>Wingdings</vt:lpstr>
      <vt:lpstr>Office Theme</vt:lpstr>
      <vt:lpstr>第35章  有机高分子化合物</vt:lpstr>
      <vt:lpstr>35.1 有机高分子化合物的基本概念</vt:lpstr>
      <vt:lpstr>思考题 35a</vt:lpstr>
      <vt:lpstr>35.2 高分子化合物的结构</vt:lpstr>
      <vt:lpstr>35.2 高分子化合物的结构</vt:lpstr>
      <vt:lpstr>35.2 高分子化合物的结构</vt:lpstr>
      <vt:lpstr>35.3 高分子化合物的物理性质</vt:lpstr>
      <vt:lpstr>35.3 高分子化合物的物理性质</vt:lpstr>
      <vt:lpstr>35.3 高分子化合物的物理性质</vt:lpstr>
      <vt:lpstr>35.3 高分子化合物的物理性质</vt:lpstr>
      <vt:lpstr>35.3 高分子化合物的物理性质</vt:lpstr>
      <vt:lpstr>35.4 高分子化合物的化学性质</vt:lpstr>
      <vt:lpstr>35.4.1 加成聚合反应</vt:lpstr>
      <vt:lpstr>35.4.1 加成聚合反应</vt:lpstr>
      <vt:lpstr>35.4.1 加成聚合反应</vt:lpstr>
      <vt:lpstr>35.4.1 加成聚合反应</vt:lpstr>
      <vt:lpstr>35.4.2 缩合聚合反应</vt:lpstr>
      <vt:lpstr>35.4.2 缩合聚合反应</vt:lpstr>
      <vt:lpstr>35.4.2 缩合聚合反应</vt:lpstr>
      <vt:lpstr>35.4.2 缩合聚合反应</vt:lpstr>
      <vt:lpstr>35.4.2 缩合聚合反应</vt:lpstr>
      <vt:lpstr>35.4.2 缩合聚合反应</vt:lpstr>
      <vt:lpstr>35.4.2 缩合聚合反应</vt:lpstr>
      <vt:lpstr>35.4.2 缩合聚合反应</vt:lpstr>
      <vt:lpstr>35.4.2 缩合聚合反应</vt:lpstr>
      <vt:lpstr>35.4.2 缩合聚合反应</vt:lpstr>
      <vt:lpstr>35.4.2 缩合聚合反应</vt:lpstr>
      <vt:lpstr>35.5 天然橡胶和合成橡胶</vt:lpstr>
      <vt:lpstr>35.5.1 天然橡胶</vt:lpstr>
      <vt:lpstr>35.5.1 天然橡胶</vt:lpstr>
      <vt:lpstr>35.5.2 合成橡胶</vt:lpstr>
      <vt:lpstr>35.5.2 合成橡胶</vt:lpstr>
      <vt:lpstr>35.5.2 合成橡胶</vt:lpstr>
      <vt:lpstr>35.5.2 合成橡胶</vt:lpstr>
      <vt:lpstr>35.6 石油和合成高分子化合物</vt:lpstr>
      <vt:lpstr>选择题</vt:lpstr>
      <vt:lpstr>选择题</vt:lpstr>
      <vt:lpstr>作答题  1,3(1)(2),4,5(2)(3),6,8</vt:lpstr>
      <vt:lpstr>作答题</vt:lpstr>
      <vt:lpstr>作答题</vt:lpstr>
      <vt:lpstr>作答题</vt:lpstr>
      <vt:lpstr>作答题</vt:lpstr>
      <vt:lpstr>作答题</vt:lpstr>
      <vt:lpstr>作答题</vt:lpstr>
      <vt:lpstr>作答题</vt:lpstr>
      <vt:lpstr>作答题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795</cp:revision>
  <dcterms:created xsi:type="dcterms:W3CDTF">2018-09-03T09:52:37Z</dcterms:created>
  <dcterms:modified xsi:type="dcterms:W3CDTF">2020-03-30T08:31:23Z</dcterms:modified>
</cp:coreProperties>
</file>